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5.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5"/>
  </p:notesMasterIdLst>
  <p:sldIdLst>
    <p:sldId id="503" r:id="rId2"/>
    <p:sldId id="523" r:id="rId3"/>
    <p:sldId id="472" r:id="rId4"/>
    <p:sldId id="698" r:id="rId5"/>
    <p:sldId id="724" r:id="rId6"/>
    <p:sldId id="696" r:id="rId7"/>
    <p:sldId id="629" r:id="rId8"/>
    <p:sldId id="725" r:id="rId9"/>
    <p:sldId id="754" r:id="rId10"/>
    <p:sldId id="751" r:id="rId11"/>
    <p:sldId id="752" r:id="rId12"/>
    <p:sldId id="610" r:id="rId13"/>
    <p:sldId id="630" r:id="rId14"/>
    <p:sldId id="699" r:id="rId15"/>
    <p:sldId id="626" r:id="rId16"/>
    <p:sldId id="723" r:id="rId17"/>
    <p:sldId id="632" r:id="rId18"/>
    <p:sldId id="722" r:id="rId19"/>
    <p:sldId id="633" r:id="rId20"/>
    <p:sldId id="634" r:id="rId21"/>
    <p:sldId id="635" r:id="rId22"/>
    <p:sldId id="636" r:id="rId23"/>
    <p:sldId id="637" r:id="rId24"/>
    <p:sldId id="612" r:id="rId25"/>
    <p:sldId id="758" r:id="rId26"/>
    <p:sldId id="759" r:id="rId27"/>
    <p:sldId id="516" r:id="rId28"/>
    <p:sldId id="638" r:id="rId29"/>
    <p:sldId id="760" r:id="rId30"/>
    <p:sldId id="761" r:id="rId31"/>
    <p:sldId id="744" r:id="rId32"/>
    <p:sldId id="645" r:id="rId33"/>
    <p:sldId id="509" r:id="rId34"/>
    <p:sldId id="613" r:id="rId35"/>
    <p:sldId id="640" r:id="rId36"/>
    <p:sldId id="525" r:id="rId37"/>
    <p:sldId id="726" r:id="rId38"/>
    <p:sldId id="642" r:id="rId39"/>
    <p:sldId id="656" r:id="rId40"/>
    <p:sldId id="728" r:id="rId41"/>
    <p:sldId id="755" r:id="rId42"/>
    <p:sldId id="563" r:id="rId43"/>
    <p:sldId id="617" r:id="rId44"/>
    <p:sldId id="756" r:id="rId45"/>
    <p:sldId id="757" r:id="rId46"/>
    <p:sldId id="641" r:id="rId47"/>
    <p:sldId id="653" r:id="rId48"/>
    <p:sldId id="659" r:id="rId49"/>
    <p:sldId id="750" r:id="rId50"/>
    <p:sldId id="522" r:id="rId51"/>
    <p:sldId id="524" r:id="rId52"/>
    <p:sldId id="753" r:id="rId53"/>
    <p:sldId id="564" r:id="rId54"/>
    <p:sldId id="534" r:id="rId55"/>
    <p:sldId id="646" r:id="rId56"/>
    <p:sldId id="647" r:id="rId57"/>
    <p:sldId id="611" r:id="rId58"/>
    <p:sldId id="648" r:id="rId59"/>
    <p:sldId id="762" r:id="rId60"/>
    <p:sldId id="649" r:id="rId61"/>
    <p:sldId id="650" r:id="rId62"/>
    <p:sldId id="651" r:id="rId63"/>
    <p:sldId id="68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FFF"/>
    <a:srgbClr val="F4F3FF"/>
    <a:srgbClr val="FAD7FF"/>
    <a:srgbClr val="FFD9E6"/>
    <a:srgbClr val="FFDE7B"/>
    <a:srgbClr val="D4FFE3"/>
    <a:srgbClr val="BC1605"/>
    <a:srgbClr val="FFFDD0"/>
    <a:srgbClr val="C15BFF"/>
    <a:srgbClr val="313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6"/>
    <p:restoredTop sz="65358"/>
  </p:normalViewPr>
  <p:slideViewPr>
    <p:cSldViewPr snapToGrid="0" snapToObjects="1">
      <p:cViewPr>
        <p:scale>
          <a:sx n="76" d="100"/>
          <a:sy n="76" d="100"/>
        </p:scale>
        <p:origin x="512" y="256"/>
      </p:cViewPr>
      <p:guideLst/>
    </p:cSldViewPr>
  </p:slideViewPr>
  <p:outlineViewPr>
    <p:cViewPr>
      <p:scale>
        <a:sx n="33" d="100"/>
        <a:sy n="33" d="100"/>
      </p:scale>
      <p:origin x="0" y="0"/>
    </p:cViewPr>
  </p:outlineViewPr>
  <p:notesTextViewPr>
    <p:cViewPr>
      <p:scale>
        <a:sx n="185" d="100"/>
        <a:sy n="185" d="100"/>
      </p:scale>
      <p:origin x="0" y="0"/>
    </p:cViewPr>
  </p:notesTextViewPr>
  <p:sorterViewPr>
    <p:cViewPr>
      <p:scale>
        <a:sx n="66" d="100"/>
        <a:sy n="66" d="100"/>
      </p:scale>
      <p:origin x="0" y="0"/>
    </p:cViewPr>
  </p:sorterViewPr>
  <p:notesViewPr>
    <p:cSldViewPr snapToGrid="0" snapToObjects="1">
      <p:cViewPr varScale="1">
        <p:scale>
          <a:sx n="92" d="100"/>
          <a:sy n="92" d="100"/>
        </p:scale>
        <p:origin x="2336"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5.xml.rels><?xml version="1.0" encoding="UTF-8" standalone="yes"?>
<Relationships xmlns="http://schemas.openxmlformats.org/package/2006/relationships"><Relationship Id="rId3" Type="http://schemas.openxmlformats.org/officeDocument/2006/relationships/image" Target="../media/image12200.png"/><Relationship Id="rId2" Type="http://schemas.openxmlformats.org/officeDocument/2006/relationships/image" Target="../media/image1200.png"/><Relationship Id="rId1" Type="http://schemas.openxmlformats.org/officeDocument/2006/relationships/image" Target="../media/image1191.png"/><Relationship Id="rId4" Type="http://schemas.openxmlformats.org/officeDocument/2006/relationships/image" Target="../media/image1231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BD6411-6FA3-7845-886B-09F983AE3D66}" type="doc">
      <dgm:prSet loTypeId="urn:microsoft.com/office/officeart/2005/8/layout/lProcess3" loCatId="process" qsTypeId="urn:microsoft.com/office/officeart/2005/8/quickstyle/simple1" qsCatId="simple" csTypeId="urn:microsoft.com/office/officeart/2005/8/colors/colorful3" csCatId="colorful" phldr="1"/>
      <dgm:spPr/>
      <dgm:t>
        <a:bodyPr/>
        <a:lstStyle/>
        <a:p>
          <a:endParaRPr lang="en-US"/>
        </a:p>
      </dgm:t>
    </dgm:pt>
    <dgm:pt modelId="{F5A57D5B-D38F-3344-9AEB-B26746D85129}">
      <dgm:prSet/>
      <dgm:spPr/>
      <dgm:t>
        <a:bodyPr/>
        <a:lstStyle/>
        <a:p>
          <a:r>
            <a:rPr lang="en-US" dirty="0" err="1"/>
            <a:t>matehematical</a:t>
          </a:r>
          <a:r>
            <a:rPr lang="en-US" dirty="0"/>
            <a:t> unit of processing</a:t>
          </a:r>
        </a:p>
      </dgm:t>
    </dgm:pt>
    <dgm:pt modelId="{07368294-972C-4241-BB1A-981FD51E5C02}" type="parTrans" cxnId="{1F1936DF-471C-B34B-9111-49680F006100}">
      <dgm:prSet/>
      <dgm:spPr/>
      <dgm:t>
        <a:bodyPr/>
        <a:lstStyle/>
        <a:p>
          <a:endParaRPr lang="en-US"/>
        </a:p>
      </dgm:t>
    </dgm:pt>
    <dgm:pt modelId="{D16CFCC2-2E29-8A40-B322-749D3D4C2D7D}" type="sibTrans" cxnId="{1F1936DF-471C-B34B-9111-49680F006100}">
      <dgm:prSet/>
      <dgm:spPr/>
      <dgm:t>
        <a:bodyPr/>
        <a:lstStyle/>
        <a:p>
          <a:endParaRPr lang="en-US"/>
        </a:p>
      </dgm:t>
    </dgm:pt>
    <dgm:pt modelId="{8F012C2E-FBD7-7342-809E-61D66F0ADA8F}">
      <dgm:prSet/>
      <dgm:spPr/>
      <dgm:t>
        <a:bodyPr/>
        <a:lstStyle/>
        <a:p>
          <a:r>
            <a:rPr lang="en-US" dirty="0"/>
            <a:t>matrix-vector multiplication</a:t>
          </a:r>
        </a:p>
      </dgm:t>
    </dgm:pt>
    <dgm:pt modelId="{4529DC3B-0617-7B49-B605-5CC2241113F4}" type="parTrans" cxnId="{E8A570B6-2121-A344-BD73-C19385FA3F35}">
      <dgm:prSet/>
      <dgm:spPr/>
      <dgm:t>
        <a:bodyPr/>
        <a:lstStyle/>
        <a:p>
          <a:endParaRPr lang="en-US"/>
        </a:p>
      </dgm:t>
    </dgm:pt>
    <dgm:pt modelId="{1FBA673C-467B-6444-9645-5262536AAE78}" type="sibTrans" cxnId="{E8A570B6-2121-A344-BD73-C19385FA3F35}">
      <dgm:prSet/>
      <dgm:spPr/>
      <dgm:t>
        <a:bodyPr/>
        <a:lstStyle/>
        <a:p>
          <a:endParaRPr lang="en-US"/>
        </a:p>
      </dgm:t>
    </dgm:pt>
    <dgm:pt modelId="{160A1DCA-DDD1-3C40-BD61-4BAC6D770983}">
      <dgm:prSet/>
      <dgm:spPr/>
      <dgm:t>
        <a:bodyPr/>
        <a:lstStyle/>
        <a:p>
          <a:r>
            <a:rPr lang="en-US" dirty="0"/>
            <a:t>unit of data</a:t>
          </a:r>
        </a:p>
      </dgm:t>
    </dgm:pt>
    <dgm:pt modelId="{A54A716F-39B9-F247-AC3B-35E09EDD05C8}" type="parTrans" cxnId="{3B4C0282-845C-7F42-B349-BBECBB3D4531}">
      <dgm:prSet/>
      <dgm:spPr/>
      <dgm:t>
        <a:bodyPr/>
        <a:lstStyle/>
        <a:p>
          <a:endParaRPr lang="en-US"/>
        </a:p>
      </dgm:t>
    </dgm:pt>
    <dgm:pt modelId="{F4D4CD18-37F6-0844-84B6-409FD528DCD2}" type="sibTrans" cxnId="{3B4C0282-845C-7F42-B349-BBECBB3D4531}">
      <dgm:prSet/>
      <dgm:spPr/>
      <dgm:t>
        <a:bodyPr/>
        <a:lstStyle/>
        <a:p>
          <a:endParaRPr lang="en-US"/>
        </a:p>
      </dgm:t>
    </dgm:pt>
    <dgm:pt modelId="{E7275480-C98A-4E4A-AB69-88AAFD0E0267}">
      <dgm:prSet/>
      <dgm:spPr/>
      <dgm:t>
        <a:bodyPr/>
        <a:lstStyle/>
        <a:p>
          <a:r>
            <a:rPr lang="en-US" dirty="0"/>
            <a:t>qubit/vector</a:t>
          </a:r>
        </a:p>
      </dgm:t>
    </dgm:pt>
    <dgm:pt modelId="{77D60A77-FF27-A24C-8601-02131AC42963}" type="parTrans" cxnId="{637C5D95-DE4C-154B-8595-B3D2D5C1599A}">
      <dgm:prSet/>
      <dgm:spPr/>
      <dgm:t>
        <a:bodyPr/>
        <a:lstStyle/>
        <a:p>
          <a:endParaRPr lang="en-US"/>
        </a:p>
      </dgm:t>
    </dgm:pt>
    <dgm:pt modelId="{32321B6E-009C-D04F-81E8-4E7E1208D595}" type="sibTrans" cxnId="{637C5D95-DE4C-154B-8595-B3D2D5C1599A}">
      <dgm:prSet/>
      <dgm:spPr/>
      <dgm:t>
        <a:bodyPr/>
        <a:lstStyle/>
        <a:p>
          <a:endParaRPr lang="en-US"/>
        </a:p>
      </dgm:t>
    </dgm:pt>
    <dgm:pt modelId="{75558DDB-B135-8F4A-8257-A165A0389A4C}">
      <dgm:prSet/>
      <dgm:spPr/>
      <dgm:t>
        <a:bodyPr/>
        <a:lstStyle/>
        <a:p>
          <a:r>
            <a:rPr lang="en-US" dirty="0"/>
            <a:t>unit of processing</a:t>
          </a:r>
        </a:p>
      </dgm:t>
    </dgm:pt>
    <dgm:pt modelId="{E8B56C1E-FA75-5940-A8C4-30A551B1DA75}" type="parTrans" cxnId="{C6057E35-D143-2146-8F5F-D3A3BCA52EBE}">
      <dgm:prSet/>
      <dgm:spPr/>
      <dgm:t>
        <a:bodyPr/>
        <a:lstStyle/>
        <a:p>
          <a:endParaRPr lang="en-US"/>
        </a:p>
      </dgm:t>
    </dgm:pt>
    <dgm:pt modelId="{628207E4-5F9E-954B-BEDC-C47C2A82E45E}" type="sibTrans" cxnId="{C6057E35-D143-2146-8F5F-D3A3BCA52EBE}">
      <dgm:prSet/>
      <dgm:spPr/>
      <dgm:t>
        <a:bodyPr/>
        <a:lstStyle/>
        <a:p>
          <a:endParaRPr lang="en-US"/>
        </a:p>
      </dgm:t>
    </dgm:pt>
    <dgm:pt modelId="{CF3486DF-6C01-104F-AECF-A0D54829799B}">
      <dgm:prSet/>
      <dgm:spPr/>
      <dgm:t>
        <a:bodyPr/>
        <a:lstStyle/>
        <a:p>
          <a:r>
            <a:rPr lang="en-US" dirty="0"/>
            <a:t>quantum gate/matrix</a:t>
          </a:r>
        </a:p>
      </dgm:t>
    </dgm:pt>
    <dgm:pt modelId="{6F52E02A-2CB2-584C-B929-E1AEEBA4FB49}" type="parTrans" cxnId="{E070675B-445C-AD43-9C5D-BF74254A28A2}">
      <dgm:prSet/>
      <dgm:spPr/>
      <dgm:t>
        <a:bodyPr/>
        <a:lstStyle/>
        <a:p>
          <a:endParaRPr lang="en-US"/>
        </a:p>
      </dgm:t>
    </dgm:pt>
    <dgm:pt modelId="{8B4D8B82-B6CD-7F47-B70D-35D3914F6AD2}" type="sibTrans" cxnId="{E070675B-445C-AD43-9C5D-BF74254A28A2}">
      <dgm:prSet/>
      <dgm:spPr/>
      <dgm:t>
        <a:bodyPr/>
        <a:lstStyle/>
        <a:p>
          <a:endParaRPr lang="en-US"/>
        </a:p>
      </dgm:t>
    </dgm:pt>
    <dgm:pt modelId="{C476B5AD-DCC3-FC4A-A3DD-AC3C01611B18}">
      <dgm:prSet/>
      <dgm:spPr/>
      <dgm:t>
        <a:bodyPr/>
        <a:lstStyle/>
        <a:p>
          <a:r>
            <a:rPr lang="en-US" dirty="0"/>
            <a:t>algorithm</a:t>
          </a:r>
        </a:p>
      </dgm:t>
    </dgm:pt>
    <dgm:pt modelId="{F12B458E-FA9D-834A-ADE7-97C5B25E7650}" type="parTrans" cxnId="{47A42DD2-C002-D84F-A5F5-E110B421C37E}">
      <dgm:prSet/>
      <dgm:spPr/>
      <dgm:t>
        <a:bodyPr/>
        <a:lstStyle/>
        <a:p>
          <a:endParaRPr lang="en-US"/>
        </a:p>
      </dgm:t>
    </dgm:pt>
    <dgm:pt modelId="{15AEF5A1-4B03-8142-8884-21C8BC4F33B5}" type="sibTrans" cxnId="{47A42DD2-C002-D84F-A5F5-E110B421C37E}">
      <dgm:prSet/>
      <dgm:spPr/>
      <dgm:t>
        <a:bodyPr/>
        <a:lstStyle/>
        <a:p>
          <a:endParaRPr lang="en-US"/>
        </a:p>
      </dgm:t>
    </dgm:pt>
    <dgm:pt modelId="{6398241F-4CD0-7443-8E0D-FBA0EAD87C82}">
      <dgm:prSet/>
      <dgm:spPr/>
      <dgm:t>
        <a:bodyPr/>
        <a:lstStyle/>
        <a:p>
          <a:r>
            <a:rPr lang="en-US" dirty="0"/>
            <a:t>quantum circuit</a:t>
          </a:r>
        </a:p>
      </dgm:t>
    </dgm:pt>
    <dgm:pt modelId="{FBA2582D-B6F9-2644-B0EA-709AC9511843}" type="parTrans" cxnId="{3BE0D627-C422-4140-8958-E1874639BF42}">
      <dgm:prSet/>
      <dgm:spPr/>
      <dgm:t>
        <a:bodyPr/>
        <a:lstStyle/>
        <a:p>
          <a:endParaRPr lang="en-US"/>
        </a:p>
      </dgm:t>
    </dgm:pt>
    <dgm:pt modelId="{985EC99E-67DA-AE47-BB5E-868DA3CC4D51}" type="sibTrans" cxnId="{3BE0D627-C422-4140-8958-E1874639BF42}">
      <dgm:prSet/>
      <dgm:spPr/>
      <dgm:t>
        <a:bodyPr/>
        <a:lstStyle/>
        <a:p>
          <a:endParaRPr lang="en-US"/>
        </a:p>
      </dgm:t>
    </dgm:pt>
    <dgm:pt modelId="{4BDA77BC-E14B-8245-A88A-13FAE10523F5}">
      <dgm:prSet/>
      <dgm:spPr>
        <a:solidFill>
          <a:schemeClr val="accent6">
            <a:lumMod val="75000"/>
          </a:schemeClr>
        </a:solidFill>
      </dgm:spPr>
      <dgm:t>
        <a:bodyPr/>
        <a:lstStyle/>
        <a:p>
          <a:r>
            <a:rPr lang="en-US" dirty="0"/>
            <a:t>   program</a:t>
          </a:r>
        </a:p>
      </dgm:t>
    </dgm:pt>
    <dgm:pt modelId="{9669BA5D-3107-EE45-A40C-5CACCC3B2B0E}" type="parTrans" cxnId="{DDBF15B0-25AE-C543-8F4C-C5A261D9C88C}">
      <dgm:prSet/>
      <dgm:spPr/>
      <dgm:t>
        <a:bodyPr/>
        <a:lstStyle/>
        <a:p>
          <a:endParaRPr lang="en-US"/>
        </a:p>
      </dgm:t>
    </dgm:pt>
    <dgm:pt modelId="{24E25589-BCD9-6941-BB69-9752AA45F3C7}" type="sibTrans" cxnId="{DDBF15B0-25AE-C543-8F4C-C5A261D9C88C}">
      <dgm:prSet/>
      <dgm:spPr/>
      <dgm:t>
        <a:bodyPr/>
        <a:lstStyle/>
        <a:p>
          <a:endParaRPr lang="en-US"/>
        </a:p>
      </dgm:t>
    </dgm:pt>
    <dgm:pt modelId="{397B0026-6C06-A24C-AC71-DA2CB6F7829B}">
      <dgm:prSet/>
      <dgm:spPr>
        <a:solidFill>
          <a:schemeClr val="accent6">
            <a:lumMod val="40000"/>
            <a:lumOff val="60000"/>
            <a:alpha val="90000"/>
          </a:schemeClr>
        </a:solidFill>
      </dgm:spPr>
      <dgm:t>
        <a:bodyPr/>
        <a:lstStyle/>
        <a:p>
          <a:r>
            <a:rPr lang="en-US" dirty="0"/>
            <a:t>quantum circuit </a:t>
          </a:r>
          <a:r>
            <a:rPr lang="en-US" dirty="0" err="1"/>
            <a:t>desciption</a:t>
          </a:r>
          <a:endParaRPr lang="en-US" dirty="0"/>
        </a:p>
      </dgm:t>
    </dgm:pt>
    <dgm:pt modelId="{B17646FB-44FB-6D4F-A2FE-EDE762969FF8}" type="parTrans" cxnId="{20A1DB7A-245E-7B47-B0A8-D0F7FA5AE104}">
      <dgm:prSet/>
      <dgm:spPr/>
      <dgm:t>
        <a:bodyPr/>
        <a:lstStyle/>
        <a:p>
          <a:endParaRPr lang="en-US"/>
        </a:p>
      </dgm:t>
    </dgm:pt>
    <dgm:pt modelId="{45DD26EC-10C7-FA45-8984-599011A3BEC4}" type="sibTrans" cxnId="{20A1DB7A-245E-7B47-B0A8-D0F7FA5AE104}">
      <dgm:prSet/>
      <dgm:spPr/>
      <dgm:t>
        <a:bodyPr/>
        <a:lstStyle/>
        <a:p>
          <a:endParaRPr lang="en-US"/>
        </a:p>
      </dgm:t>
    </dgm:pt>
    <dgm:pt modelId="{6FEF738C-2EC1-E641-B51A-36787E6B815D}" type="pres">
      <dgm:prSet presAssocID="{4FBD6411-6FA3-7845-886B-09F983AE3D66}" presName="Name0" presStyleCnt="0">
        <dgm:presLayoutVars>
          <dgm:chPref val="3"/>
          <dgm:dir/>
          <dgm:animLvl val="lvl"/>
          <dgm:resizeHandles/>
        </dgm:presLayoutVars>
      </dgm:prSet>
      <dgm:spPr/>
    </dgm:pt>
    <dgm:pt modelId="{42F9EBDB-B792-7743-BBF3-3A57E3293F87}" type="pres">
      <dgm:prSet presAssocID="{160A1DCA-DDD1-3C40-BD61-4BAC6D770983}" presName="horFlow" presStyleCnt="0"/>
      <dgm:spPr/>
    </dgm:pt>
    <dgm:pt modelId="{BC1F68B1-384F-884E-85F2-687846E08432}" type="pres">
      <dgm:prSet presAssocID="{160A1DCA-DDD1-3C40-BD61-4BAC6D770983}" presName="bigChev" presStyleLbl="node1" presStyleIdx="0" presStyleCnt="5" custScaleX="143216"/>
      <dgm:spPr/>
    </dgm:pt>
    <dgm:pt modelId="{05ECDEE6-A71D-2845-B76F-6EFC48BA8DD6}" type="pres">
      <dgm:prSet presAssocID="{77D60A77-FF27-A24C-8601-02131AC42963}" presName="parTrans" presStyleCnt="0"/>
      <dgm:spPr/>
    </dgm:pt>
    <dgm:pt modelId="{589CEB27-68EC-8C44-AE2F-CCCE5077B7DD}" type="pres">
      <dgm:prSet presAssocID="{E7275480-C98A-4E4A-AB69-88AAFD0E0267}" presName="node" presStyleLbl="alignAccFollowNode1" presStyleIdx="0" presStyleCnt="5" custScaleX="115752">
        <dgm:presLayoutVars>
          <dgm:bulletEnabled val="1"/>
        </dgm:presLayoutVars>
      </dgm:prSet>
      <dgm:spPr/>
    </dgm:pt>
    <dgm:pt modelId="{D2C5389B-8744-0B47-B305-A6454ED4134C}" type="pres">
      <dgm:prSet presAssocID="{160A1DCA-DDD1-3C40-BD61-4BAC6D770983}" presName="vSp" presStyleCnt="0"/>
      <dgm:spPr/>
    </dgm:pt>
    <dgm:pt modelId="{74445CD6-E25E-C240-BE60-9A45B7B25C5C}" type="pres">
      <dgm:prSet presAssocID="{75558DDB-B135-8F4A-8257-A165A0389A4C}" presName="horFlow" presStyleCnt="0"/>
      <dgm:spPr/>
    </dgm:pt>
    <dgm:pt modelId="{AC12D99E-FB7E-0741-8161-C77DE0409CB8}" type="pres">
      <dgm:prSet presAssocID="{75558DDB-B135-8F4A-8257-A165A0389A4C}" presName="bigChev" presStyleLbl="node1" presStyleIdx="1" presStyleCnt="5" custScaleX="143216"/>
      <dgm:spPr/>
    </dgm:pt>
    <dgm:pt modelId="{3F7E8E6F-6509-404E-B3F2-D39A334B2DDA}" type="pres">
      <dgm:prSet presAssocID="{6F52E02A-2CB2-584C-B929-E1AEEBA4FB49}" presName="parTrans" presStyleCnt="0"/>
      <dgm:spPr/>
    </dgm:pt>
    <dgm:pt modelId="{8762CD98-6B6D-F945-9F8A-143998E383B8}" type="pres">
      <dgm:prSet presAssocID="{CF3486DF-6C01-104F-AECF-A0D54829799B}" presName="node" presStyleLbl="alignAccFollowNode1" presStyleIdx="1" presStyleCnt="5" custScaleX="115752">
        <dgm:presLayoutVars>
          <dgm:bulletEnabled val="1"/>
        </dgm:presLayoutVars>
      </dgm:prSet>
      <dgm:spPr/>
    </dgm:pt>
    <dgm:pt modelId="{038D8EA8-5999-1446-81FA-0BB39BA0BC61}" type="pres">
      <dgm:prSet presAssocID="{75558DDB-B135-8F4A-8257-A165A0389A4C}" presName="vSp" presStyleCnt="0"/>
      <dgm:spPr/>
    </dgm:pt>
    <dgm:pt modelId="{B6FA550A-E55B-F647-8837-269C5F2B45CA}" type="pres">
      <dgm:prSet presAssocID="{F5A57D5B-D38F-3344-9AEB-B26746D85129}" presName="horFlow" presStyleCnt="0"/>
      <dgm:spPr/>
    </dgm:pt>
    <dgm:pt modelId="{5640E65B-7044-844F-9EB5-48CE7C5F451B}" type="pres">
      <dgm:prSet presAssocID="{F5A57D5B-D38F-3344-9AEB-B26746D85129}" presName="bigChev" presStyleLbl="node1" presStyleIdx="2" presStyleCnt="5" custScaleX="143216"/>
      <dgm:spPr/>
    </dgm:pt>
    <dgm:pt modelId="{082B47EC-2459-F145-AB5A-00E5E8E0E6B6}" type="pres">
      <dgm:prSet presAssocID="{4529DC3B-0617-7B49-B605-5CC2241113F4}" presName="parTrans" presStyleCnt="0"/>
      <dgm:spPr/>
    </dgm:pt>
    <dgm:pt modelId="{E7AF8E55-35D4-EE43-84F0-EB1EE3C4089C}" type="pres">
      <dgm:prSet presAssocID="{8F012C2E-FBD7-7342-809E-61D66F0ADA8F}" presName="node" presStyleLbl="alignAccFollowNode1" presStyleIdx="2" presStyleCnt="5" custScaleX="115752">
        <dgm:presLayoutVars>
          <dgm:bulletEnabled val="1"/>
        </dgm:presLayoutVars>
      </dgm:prSet>
      <dgm:spPr/>
    </dgm:pt>
    <dgm:pt modelId="{5811418B-F0A5-9846-9D84-2FCF3A1E0C85}" type="pres">
      <dgm:prSet presAssocID="{F5A57D5B-D38F-3344-9AEB-B26746D85129}" presName="vSp" presStyleCnt="0"/>
      <dgm:spPr/>
    </dgm:pt>
    <dgm:pt modelId="{C6432E75-451D-C04E-B974-85A83CC24E61}" type="pres">
      <dgm:prSet presAssocID="{C476B5AD-DCC3-FC4A-A3DD-AC3C01611B18}" presName="horFlow" presStyleCnt="0"/>
      <dgm:spPr/>
    </dgm:pt>
    <dgm:pt modelId="{11900ED1-072B-FE45-8087-917F279E1854}" type="pres">
      <dgm:prSet presAssocID="{C476B5AD-DCC3-FC4A-A3DD-AC3C01611B18}" presName="bigChev" presStyleLbl="node1" presStyleIdx="3" presStyleCnt="5" custScaleX="143216"/>
      <dgm:spPr/>
    </dgm:pt>
    <dgm:pt modelId="{1CD7A641-D2C6-6D44-9821-969E062E8052}" type="pres">
      <dgm:prSet presAssocID="{FBA2582D-B6F9-2644-B0EA-709AC9511843}" presName="parTrans" presStyleCnt="0"/>
      <dgm:spPr/>
    </dgm:pt>
    <dgm:pt modelId="{8BCC3C3D-DEEA-0241-A450-84AB07AF83EE}" type="pres">
      <dgm:prSet presAssocID="{6398241F-4CD0-7443-8E0D-FBA0EAD87C82}" presName="node" presStyleLbl="alignAccFollowNode1" presStyleIdx="3" presStyleCnt="5" custScaleX="115752" custLinFactNeighborX="0">
        <dgm:presLayoutVars>
          <dgm:bulletEnabled val="1"/>
        </dgm:presLayoutVars>
      </dgm:prSet>
      <dgm:spPr/>
    </dgm:pt>
    <dgm:pt modelId="{1D0209CC-4DAD-BC49-8FFF-5B1A3AD7C8AC}" type="pres">
      <dgm:prSet presAssocID="{C476B5AD-DCC3-FC4A-A3DD-AC3C01611B18}" presName="vSp" presStyleCnt="0"/>
      <dgm:spPr/>
    </dgm:pt>
    <dgm:pt modelId="{E841F784-B451-0C4B-9417-AABFB4527209}" type="pres">
      <dgm:prSet presAssocID="{4BDA77BC-E14B-8245-A88A-13FAE10523F5}" presName="horFlow" presStyleCnt="0"/>
      <dgm:spPr/>
    </dgm:pt>
    <dgm:pt modelId="{96B99780-81A6-4C41-BF29-ECA058D08E7B}" type="pres">
      <dgm:prSet presAssocID="{4BDA77BC-E14B-8245-A88A-13FAE10523F5}" presName="bigChev" presStyleLbl="node1" presStyleIdx="4" presStyleCnt="5" custScaleX="139012" custLinFactNeighborX="11076"/>
      <dgm:spPr/>
    </dgm:pt>
    <dgm:pt modelId="{EB80123E-E06B-0344-8B98-C77BE803B9A0}" type="pres">
      <dgm:prSet presAssocID="{B17646FB-44FB-6D4F-A2FE-EDE762969FF8}" presName="parTrans" presStyleCnt="0"/>
      <dgm:spPr/>
    </dgm:pt>
    <dgm:pt modelId="{C442239F-A10C-D54C-B093-8FD13A00035F}" type="pres">
      <dgm:prSet presAssocID="{397B0026-6C06-A24C-AC71-DA2CB6F7829B}" presName="node" presStyleLbl="alignAccFollowNode1" presStyleIdx="4" presStyleCnt="5" custScaleX="123130">
        <dgm:presLayoutVars>
          <dgm:bulletEnabled val="1"/>
        </dgm:presLayoutVars>
      </dgm:prSet>
      <dgm:spPr/>
    </dgm:pt>
  </dgm:ptLst>
  <dgm:cxnLst>
    <dgm:cxn modelId="{6373D519-2788-B541-B311-6B6C3DE6DC52}" type="presOf" srcId="{4BDA77BC-E14B-8245-A88A-13FAE10523F5}" destId="{96B99780-81A6-4C41-BF29-ECA058D08E7B}" srcOrd="0" destOrd="0" presId="urn:microsoft.com/office/officeart/2005/8/layout/lProcess3"/>
    <dgm:cxn modelId="{3BE0D627-C422-4140-8958-E1874639BF42}" srcId="{C476B5AD-DCC3-FC4A-A3DD-AC3C01611B18}" destId="{6398241F-4CD0-7443-8E0D-FBA0EAD87C82}" srcOrd="0" destOrd="0" parTransId="{FBA2582D-B6F9-2644-B0EA-709AC9511843}" sibTransId="{985EC99E-67DA-AE47-BB5E-868DA3CC4D51}"/>
    <dgm:cxn modelId="{C6057E35-D143-2146-8F5F-D3A3BCA52EBE}" srcId="{4FBD6411-6FA3-7845-886B-09F983AE3D66}" destId="{75558DDB-B135-8F4A-8257-A165A0389A4C}" srcOrd="1" destOrd="0" parTransId="{E8B56C1E-FA75-5940-A8C4-30A551B1DA75}" sibTransId="{628207E4-5F9E-954B-BEDC-C47C2A82E45E}"/>
    <dgm:cxn modelId="{306C9C4B-78DD-C54F-AA0E-2DF3FD3890CE}" type="presOf" srcId="{8F012C2E-FBD7-7342-809E-61D66F0ADA8F}" destId="{E7AF8E55-35D4-EE43-84F0-EB1EE3C4089C}" srcOrd="0" destOrd="0" presId="urn:microsoft.com/office/officeart/2005/8/layout/lProcess3"/>
    <dgm:cxn modelId="{86E87358-B747-E645-B031-3AE9E79B9B20}" type="presOf" srcId="{4FBD6411-6FA3-7845-886B-09F983AE3D66}" destId="{6FEF738C-2EC1-E641-B51A-36787E6B815D}" srcOrd="0" destOrd="0" presId="urn:microsoft.com/office/officeart/2005/8/layout/lProcess3"/>
    <dgm:cxn modelId="{E070675B-445C-AD43-9C5D-BF74254A28A2}" srcId="{75558DDB-B135-8F4A-8257-A165A0389A4C}" destId="{CF3486DF-6C01-104F-AECF-A0D54829799B}" srcOrd="0" destOrd="0" parTransId="{6F52E02A-2CB2-584C-B929-E1AEEBA4FB49}" sibTransId="{8B4D8B82-B6CD-7F47-B70D-35D3914F6AD2}"/>
    <dgm:cxn modelId="{C817F579-3D7F-AE41-9C77-80D70786EC6F}" type="presOf" srcId="{F5A57D5B-D38F-3344-9AEB-B26746D85129}" destId="{5640E65B-7044-844F-9EB5-48CE7C5F451B}" srcOrd="0" destOrd="0" presId="urn:microsoft.com/office/officeart/2005/8/layout/lProcess3"/>
    <dgm:cxn modelId="{20A1DB7A-245E-7B47-B0A8-D0F7FA5AE104}" srcId="{4BDA77BC-E14B-8245-A88A-13FAE10523F5}" destId="{397B0026-6C06-A24C-AC71-DA2CB6F7829B}" srcOrd="0" destOrd="0" parTransId="{B17646FB-44FB-6D4F-A2FE-EDE762969FF8}" sibTransId="{45DD26EC-10C7-FA45-8984-599011A3BEC4}"/>
    <dgm:cxn modelId="{3B4C0282-845C-7F42-B349-BBECBB3D4531}" srcId="{4FBD6411-6FA3-7845-886B-09F983AE3D66}" destId="{160A1DCA-DDD1-3C40-BD61-4BAC6D770983}" srcOrd="0" destOrd="0" parTransId="{A54A716F-39B9-F247-AC3B-35E09EDD05C8}" sibTransId="{F4D4CD18-37F6-0844-84B6-409FD528DCD2}"/>
    <dgm:cxn modelId="{637C5D95-DE4C-154B-8595-B3D2D5C1599A}" srcId="{160A1DCA-DDD1-3C40-BD61-4BAC6D770983}" destId="{E7275480-C98A-4E4A-AB69-88AAFD0E0267}" srcOrd="0" destOrd="0" parTransId="{77D60A77-FF27-A24C-8601-02131AC42963}" sibTransId="{32321B6E-009C-D04F-81E8-4E7E1208D595}"/>
    <dgm:cxn modelId="{41EDF0A6-AA9A-4045-A58A-D3898DE91BD6}" type="presOf" srcId="{C476B5AD-DCC3-FC4A-A3DD-AC3C01611B18}" destId="{11900ED1-072B-FE45-8087-917F279E1854}" srcOrd="0" destOrd="0" presId="urn:microsoft.com/office/officeart/2005/8/layout/lProcess3"/>
    <dgm:cxn modelId="{7C9F59AB-6AEF-9A4A-8F5D-CC91706C4CAB}" type="presOf" srcId="{75558DDB-B135-8F4A-8257-A165A0389A4C}" destId="{AC12D99E-FB7E-0741-8161-C77DE0409CB8}" srcOrd="0" destOrd="0" presId="urn:microsoft.com/office/officeart/2005/8/layout/lProcess3"/>
    <dgm:cxn modelId="{DDBF15B0-25AE-C543-8F4C-C5A261D9C88C}" srcId="{4FBD6411-6FA3-7845-886B-09F983AE3D66}" destId="{4BDA77BC-E14B-8245-A88A-13FAE10523F5}" srcOrd="4" destOrd="0" parTransId="{9669BA5D-3107-EE45-A40C-5CACCC3B2B0E}" sibTransId="{24E25589-BCD9-6941-BB69-9752AA45F3C7}"/>
    <dgm:cxn modelId="{1364E0B2-AD7F-7748-A952-1E3575C09943}" type="presOf" srcId="{6398241F-4CD0-7443-8E0D-FBA0EAD87C82}" destId="{8BCC3C3D-DEEA-0241-A450-84AB07AF83EE}" srcOrd="0" destOrd="0" presId="urn:microsoft.com/office/officeart/2005/8/layout/lProcess3"/>
    <dgm:cxn modelId="{F1381DB4-ABE6-3A4C-904B-E1B35688F50E}" type="presOf" srcId="{E7275480-C98A-4E4A-AB69-88AAFD0E0267}" destId="{589CEB27-68EC-8C44-AE2F-CCCE5077B7DD}" srcOrd="0" destOrd="0" presId="urn:microsoft.com/office/officeart/2005/8/layout/lProcess3"/>
    <dgm:cxn modelId="{E8A570B6-2121-A344-BD73-C19385FA3F35}" srcId="{F5A57D5B-D38F-3344-9AEB-B26746D85129}" destId="{8F012C2E-FBD7-7342-809E-61D66F0ADA8F}" srcOrd="0" destOrd="0" parTransId="{4529DC3B-0617-7B49-B605-5CC2241113F4}" sibTransId="{1FBA673C-467B-6444-9645-5262536AAE78}"/>
    <dgm:cxn modelId="{3BD20EBB-DDF6-5447-AB63-01659E9DEE8D}" type="presOf" srcId="{160A1DCA-DDD1-3C40-BD61-4BAC6D770983}" destId="{BC1F68B1-384F-884E-85F2-687846E08432}" srcOrd="0" destOrd="0" presId="urn:microsoft.com/office/officeart/2005/8/layout/lProcess3"/>
    <dgm:cxn modelId="{47A42DD2-C002-D84F-A5F5-E110B421C37E}" srcId="{4FBD6411-6FA3-7845-886B-09F983AE3D66}" destId="{C476B5AD-DCC3-FC4A-A3DD-AC3C01611B18}" srcOrd="3" destOrd="0" parTransId="{F12B458E-FA9D-834A-ADE7-97C5B25E7650}" sibTransId="{15AEF5A1-4B03-8142-8884-21C8BC4F33B5}"/>
    <dgm:cxn modelId="{1F1936DF-471C-B34B-9111-49680F006100}" srcId="{4FBD6411-6FA3-7845-886B-09F983AE3D66}" destId="{F5A57D5B-D38F-3344-9AEB-B26746D85129}" srcOrd="2" destOrd="0" parTransId="{07368294-972C-4241-BB1A-981FD51E5C02}" sibTransId="{D16CFCC2-2E29-8A40-B322-749D3D4C2D7D}"/>
    <dgm:cxn modelId="{0703D0EE-B38F-0143-A7A6-1C4CB4DCF536}" type="presOf" srcId="{CF3486DF-6C01-104F-AECF-A0D54829799B}" destId="{8762CD98-6B6D-F945-9F8A-143998E383B8}" srcOrd="0" destOrd="0" presId="urn:microsoft.com/office/officeart/2005/8/layout/lProcess3"/>
    <dgm:cxn modelId="{2E6BCEFD-716E-C94B-A552-B3407B2B54AA}" type="presOf" srcId="{397B0026-6C06-A24C-AC71-DA2CB6F7829B}" destId="{C442239F-A10C-D54C-B093-8FD13A00035F}" srcOrd="0" destOrd="0" presId="urn:microsoft.com/office/officeart/2005/8/layout/lProcess3"/>
    <dgm:cxn modelId="{30375657-BD54-A641-9EBC-F44F91EF81CB}" type="presParOf" srcId="{6FEF738C-2EC1-E641-B51A-36787E6B815D}" destId="{42F9EBDB-B792-7743-BBF3-3A57E3293F87}" srcOrd="0" destOrd="0" presId="urn:microsoft.com/office/officeart/2005/8/layout/lProcess3"/>
    <dgm:cxn modelId="{3DE5F85C-EC6D-604B-AC33-D456E0E01822}" type="presParOf" srcId="{42F9EBDB-B792-7743-BBF3-3A57E3293F87}" destId="{BC1F68B1-384F-884E-85F2-687846E08432}" srcOrd="0" destOrd="0" presId="urn:microsoft.com/office/officeart/2005/8/layout/lProcess3"/>
    <dgm:cxn modelId="{2F93A8DF-8BDE-3440-906A-9D2550AA98A4}" type="presParOf" srcId="{42F9EBDB-B792-7743-BBF3-3A57E3293F87}" destId="{05ECDEE6-A71D-2845-B76F-6EFC48BA8DD6}" srcOrd="1" destOrd="0" presId="urn:microsoft.com/office/officeart/2005/8/layout/lProcess3"/>
    <dgm:cxn modelId="{6B6C5CED-71FD-1741-BAAD-26FF0A8DEF5A}" type="presParOf" srcId="{42F9EBDB-B792-7743-BBF3-3A57E3293F87}" destId="{589CEB27-68EC-8C44-AE2F-CCCE5077B7DD}" srcOrd="2" destOrd="0" presId="urn:microsoft.com/office/officeart/2005/8/layout/lProcess3"/>
    <dgm:cxn modelId="{147FF670-C82C-C445-858C-9273D8308622}" type="presParOf" srcId="{6FEF738C-2EC1-E641-B51A-36787E6B815D}" destId="{D2C5389B-8744-0B47-B305-A6454ED4134C}" srcOrd="1" destOrd="0" presId="urn:microsoft.com/office/officeart/2005/8/layout/lProcess3"/>
    <dgm:cxn modelId="{6A68D92C-2470-B84A-A55B-37D0DCE90244}" type="presParOf" srcId="{6FEF738C-2EC1-E641-B51A-36787E6B815D}" destId="{74445CD6-E25E-C240-BE60-9A45B7B25C5C}" srcOrd="2" destOrd="0" presId="urn:microsoft.com/office/officeart/2005/8/layout/lProcess3"/>
    <dgm:cxn modelId="{2E98D35D-7E03-2B4A-8823-2397AA1F179F}" type="presParOf" srcId="{74445CD6-E25E-C240-BE60-9A45B7B25C5C}" destId="{AC12D99E-FB7E-0741-8161-C77DE0409CB8}" srcOrd="0" destOrd="0" presId="urn:microsoft.com/office/officeart/2005/8/layout/lProcess3"/>
    <dgm:cxn modelId="{1CE88BCE-45A9-BE45-A988-27E5AC57CFF5}" type="presParOf" srcId="{74445CD6-E25E-C240-BE60-9A45B7B25C5C}" destId="{3F7E8E6F-6509-404E-B3F2-D39A334B2DDA}" srcOrd="1" destOrd="0" presId="urn:microsoft.com/office/officeart/2005/8/layout/lProcess3"/>
    <dgm:cxn modelId="{BCD2ED9E-6138-E745-AD0D-39F86A0062E8}" type="presParOf" srcId="{74445CD6-E25E-C240-BE60-9A45B7B25C5C}" destId="{8762CD98-6B6D-F945-9F8A-143998E383B8}" srcOrd="2" destOrd="0" presId="urn:microsoft.com/office/officeart/2005/8/layout/lProcess3"/>
    <dgm:cxn modelId="{9BE32A7F-BA15-0042-B0F7-8710335FB83B}" type="presParOf" srcId="{6FEF738C-2EC1-E641-B51A-36787E6B815D}" destId="{038D8EA8-5999-1446-81FA-0BB39BA0BC61}" srcOrd="3" destOrd="0" presId="urn:microsoft.com/office/officeart/2005/8/layout/lProcess3"/>
    <dgm:cxn modelId="{9F7B9657-5086-F446-AADA-9D822EE9DE4E}" type="presParOf" srcId="{6FEF738C-2EC1-E641-B51A-36787E6B815D}" destId="{B6FA550A-E55B-F647-8837-269C5F2B45CA}" srcOrd="4" destOrd="0" presId="urn:microsoft.com/office/officeart/2005/8/layout/lProcess3"/>
    <dgm:cxn modelId="{1170CBEF-9640-1C47-BF8B-9C911C77090C}" type="presParOf" srcId="{B6FA550A-E55B-F647-8837-269C5F2B45CA}" destId="{5640E65B-7044-844F-9EB5-48CE7C5F451B}" srcOrd="0" destOrd="0" presId="urn:microsoft.com/office/officeart/2005/8/layout/lProcess3"/>
    <dgm:cxn modelId="{7B2F8D94-151A-8445-9531-6018A4123B4E}" type="presParOf" srcId="{B6FA550A-E55B-F647-8837-269C5F2B45CA}" destId="{082B47EC-2459-F145-AB5A-00E5E8E0E6B6}" srcOrd="1" destOrd="0" presId="urn:microsoft.com/office/officeart/2005/8/layout/lProcess3"/>
    <dgm:cxn modelId="{218D6C5A-A347-5644-8591-845BCB81BA1E}" type="presParOf" srcId="{B6FA550A-E55B-F647-8837-269C5F2B45CA}" destId="{E7AF8E55-35D4-EE43-84F0-EB1EE3C4089C}" srcOrd="2" destOrd="0" presId="urn:microsoft.com/office/officeart/2005/8/layout/lProcess3"/>
    <dgm:cxn modelId="{23DFD0DC-703E-C742-9D0C-FBEEED8D1933}" type="presParOf" srcId="{6FEF738C-2EC1-E641-B51A-36787E6B815D}" destId="{5811418B-F0A5-9846-9D84-2FCF3A1E0C85}" srcOrd="5" destOrd="0" presId="urn:microsoft.com/office/officeart/2005/8/layout/lProcess3"/>
    <dgm:cxn modelId="{99059B04-79E0-6047-A9BB-5B25B3B0A5B9}" type="presParOf" srcId="{6FEF738C-2EC1-E641-B51A-36787E6B815D}" destId="{C6432E75-451D-C04E-B974-85A83CC24E61}" srcOrd="6" destOrd="0" presId="urn:microsoft.com/office/officeart/2005/8/layout/lProcess3"/>
    <dgm:cxn modelId="{DC23A82E-FAC5-2649-8C47-C9C4C2BACD0D}" type="presParOf" srcId="{C6432E75-451D-C04E-B974-85A83CC24E61}" destId="{11900ED1-072B-FE45-8087-917F279E1854}" srcOrd="0" destOrd="0" presId="urn:microsoft.com/office/officeart/2005/8/layout/lProcess3"/>
    <dgm:cxn modelId="{F55577DB-4E22-8F47-AD7C-6D58D79D6343}" type="presParOf" srcId="{C6432E75-451D-C04E-B974-85A83CC24E61}" destId="{1CD7A641-D2C6-6D44-9821-969E062E8052}" srcOrd="1" destOrd="0" presId="urn:microsoft.com/office/officeart/2005/8/layout/lProcess3"/>
    <dgm:cxn modelId="{0CEF3DE8-3FB4-1A47-A939-300F527B68A0}" type="presParOf" srcId="{C6432E75-451D-C04E-B974-85A83CC24E61}" destId="{8BCC3C3D-DEEA-0241-A450-84AB07AF83EE}" srcOrd="2" destOrd="0" presId="urn:microsoft.com/office/officeart/2005/8/layout/lProcess3"/>
    <dgm:cxn modelId="{C5155326-BA3E-5F43-9035-1CA3CD79C485}" type="presParOf" srcId="{6FEF738C-2EC1-E641-B51A-36787E6B815D}" destId="{1D0209CC-4DAD-BC49-8FFF-5B1A3AD7C8AC}" srcOrd="7" destOrd="0" presId="urn:microsoft.com/office/officeart/2005/8/layout/lProcess3"/>
    <dgm:cxn modelId="{0E854899-2904-874C-A4E9-8BFF30310A95}" type="presParOf" srcId="{6FEF738C-2EC1-E641-B51A-36787E6B815D}" destId="{E841F784-B451-0C4B-9417-AABFB4527209}" srcOrd="8" destOrd="0" presId="urn:microsoft.com/office/officeart/2005/8/layout/lProcess3"/>
    <dgm:cxn modelId="{91457D9A-F676-E84B-B6AA-DC7649C6D3ED}" type="presParOf" srcId="{E841F784-B451-0C4B-9417-AABFB4527209}" destId="{96B99780-81A6-4C41-BF29-ECA058D08E7B}" srcOrd="0" destOrd="0" presId="urn:microsoft.com/office/officeart/2005/8/layout/lProcess3"/>
    <dgm:cxn modelId="{A86BDCF0-CF40-A947-951D-CC7B1B178493}" type="presParOf" srcId="{E841F784-B451-0C4B-9417-AABFB4527209}" destId="{EB80123E-E06B-0344-8B98-C77BE803B9A0}" srcOrd="1" destOrd="0" presId="urn:microsoft.com/office/officeart/2005/8/layout/lProcess3"/>
    <dgm:cxn modelId="{725B842F-6840-E945-9298-66AF4CD0563C}" type="presParOf" srcId="{E841F784-B451-0C4B-9417-AABFB4527209}" destId="{C442239F-A10C-D54C-B093-8FD13A00035F}"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solidFill>
          <a:srgbClr val="FFFDD0"/>
        </a:solidFill>
      </dgm:spPr>
      <dgm:t>
        <a:bodyPr/>
        <a:lstStyle/>
        <a:p>
          <a:pPr algn="l">
            <a:buNone/>
          </a:pPr>
          <a:r>
            <a:rPr lang="en-ZA" sz="2800" b="0" dirty="0">
              <a:solidFill>
                <a:schemeClr val="tx1"/>
              </a:solidFill>
            </a:rPr>
            <a:t>Identity Matrix</a:t>
          </a:r>
          <a:endParaRPr lang="en-US" sz="2800" dirty="0">
            <a:solidFill>
              <a:schemeClr val="tx1"/>
            </a:solidFill>
          </a:endParaRP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mc:AlternateContent xmlns:mc="http://schemas.openxmlformats.org/markup-compatibility/2006" xmlns:a14="http://schemas.microsoft.com/office/drawing/2010/main">
      <mc:Choice Requires="a14">
        <dgm:pt modelId="{1E464050-1747-3244-9B57-3FD157FF1855}">
          <dgm:prSet phldrT="[Text]" custT="1"/>
          <dgm:spPr>
            <a:solidFill>
              <a:srgbClr val="FFFDD0"/>
            </a:solidFill>
          </dgm:spPr>
          <dgm:t>
            <a:bodyPr/>
            <a:lstStyle/>
            <a:p>
              <a:pPr algn="l">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𝐼</m:t>
                    </m:r>
                    <m:r>
                      <a:rPr lang="en-US" sz="2400" b="0" i="1" smtClean="0">
                        <a:solidFill>
                          <a:schemeClr val="tx1"/>
                        </a:solidFill>
                        <a:latin typeface="Cambria Math" panose="02040503050406030204" pitchFamily="18" charset="0"/>
                      </a:rPr>
                      <m:t>=</m:t>
                    </m:r>
                    <m:d>
                      <m:dPr>
                        <m:ctrlPr>
                          <a:rPr lang="en-US" sz="2400" i="1" smtClean="0">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a:rPr lang="en-US" sz="2400">
                                  <a:solidFill>
                                    <a:schemeClr val="tx1"/>
                                  </a:solidFill>
                                  <a:latin typeface="Cambria Math" panose="02040503050406030204" pitchFamily="18" charset="0"/>
                                </a:rPr>
                                <m:t>1</m:t>
                              </m:r>
                            </m:e>
                            <m:e>
                              <m:r>
                                <a:rPr lang="en-US" sz="2400">
                                  <a:solidFill>
                                    <a:schemeClr val="tx1"/>
                                  </a:solidFill>
                                  <a:latin typeface="Cambria Math" panose="02040503050406030204" pitchFamily="18" charset="0"/>
                                </a:rPr>
                                <m:t>0</m:t>
                              </m:r>
                            </m:e>
                          </m:mr>
                          <m:mr>
                            <m:e>
                              <m:r>
                                <a:rPr lang="en-US" sz="2400">
                                  <a:solidFill>
                                    <a:schemeClr val="tx1"/>
                                  </a:solidFill>
                                  <a:latin typeface="Cambria Math" panose="02040503050406030204" pitchFamily="18" charset="0"/>
                                </a:rPr>
                                <m:t>0</m:t>
                              </m:r>
                            </m:e>
                            <m:e>
                              <m:r>
                                <a:rPr lang="en-US" sz="2400">
                                  <a:solidFill>
                                    <a:schemeClr val="tx1"/>
                                  </a:solidFill>
                                  <a:latin typeface="Cambria Math" panose="02040503050406030204" pitchFamily="18" charset="0"/>
                                </a:rPr>
                                <m:t>1</m:t>
                              </m:r>
                            </m:e>
                          </m:mr>
                        </m:m>
                      </m:e>
                    </m:d>
                  </m:oMath>
                </m:oMathPara>
              </a14:m>
              <a:endParaRPr lang="en-US" sz="2400" dirty="0">
                <a:solidFill>
                  <a:schemeClr val="tx1"/>
                </a:solidFill>
              </a:endParaRPr>
            </a:p>
          </dgm:t>
        </dgm:pt>
      </mc:Choice>
      <mc:Fallback xmlns="">
        <dgm:pt modelId="{1E464050-1747-3244-9B57-3FD157FF1855}">
          <dgm:prSet phldrT="[Text]" custT="1"/>
          <dgm:spPr>
            <a:solidFill>
              <a:srgbClr val="FFFDD0"/>
            </a:solidFill>
          </dgm:spPr>
          <dgm:t>
            <a:bodyPr/>
            <a:lstStyle/>
            <a:p>
              <a:pPr algn="l">
                <a:buNone/>
              </a:pPr>
              <a:r>
                <a:rPr lang="en-US" sz="2400" b="0" i="0">
                  <a:solidFill>
                    <a:schemeClr val="tx1"/>
                  </a:solidFill>
                  <a:latin typeface="Cambria Math" panose="02040503050406030204" pitchFamily="18" charset="0"/>
                </a:rPr>
                <a:t>𝐼=</a:t>
              </a:r>
              <a:r>
                <a:rPr lang="en-US" sz="2400" i="0">
                  <a:solidFill>
                    <a:schemeClr val="tx1"/>
                  </a:solidFill>
                  <a:latin typeface="Cambria Math" panose="02040503050406030204" pitchFamily="18" charset="0"/>
                </a:rPr>
                <a:t>(■(1&amp;0@0&amp;1))</a:t>
              </a:r>
              <a:endParaRPr lang="en-US" sz="2400" dirty="0">
                <a:solidFill>
                  <a:schemeClr val="tx1"/>
                </a:solidFill>
              </a:endParaRPr>
            </a:p>
          </dgm:t>
        </dgm:pt>
      </mc:Fallback>
    </mc:AlternateConten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solidFill>
          <a:schemeClr val="bg1">
            <a:lumMod val="95000"/>
          </a:schemeClr>
        </a:solidFill>
      </dgm:spPr>
      <dgm:t>
        <a:bodyPr/>
        <a:lstStyle/>
        <a:p>
          <a:pPr algn="l">
            <a:buNone/>
          </a:pPr>
          <a:r>
            <a:rPr lang="en-ZA" sz="3000" b="0" dirty="0">
              <a:solidFill>
                <a:schemeClr val="tx1"/>
              </a:solidFill>
            </a:rPr>
            <a:t>Orthogonal Matrix</a:t>
          </a:r>
          <a:endParaRPr lang="en-US" sz="3000" dirty="0">
            <a:solidFill>
              <a:schemeClr val="tx1"/>
            </a:solidFill>
          </a:endParaRP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pPr algn="just"/>
          <a:r>
            <a:rPr lang="en-US" sz="2300" dirty="0">
              <a:solidFill>
                <a:schemeClr val="tx1"/>
              </a:solidFill>
            </a:rPr>
            <a:t>A square matrix which, when multiplied by its transpose, results in the identity matrix.</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pPr algn="just">
            <a:buFont typeface="Arial" panose="020B0604020202020204" pitchFamily="34" charset="0"/>
            <a:buChar char="•"/>
          </a:pPr>
          <a:r>
            <a:rPr lang="en-US" sz="2300" dirty="0">
              <a:solidFill>
                <a:schemeClr val="tx1"/>
              </a:solidFill>
            </a:rPr>
            <a:t>A square matrix with ones on the main diagonal and zeros elsewhere</a:t>
          </a:r>
          <a:r>
            <a:rPr lang="en-ZA" sz="2300" dirty="0">
              <a:solidFill>
                <a:schemeClr val="tx1"/>
              </a:solidFill>
            </a:rPr>
            <a:t>. </a:t>
          </a:r>
          <a:endParaRPr lang="en-US" sz="2200" dirty="0">
            <a:solidFill>
              <a:schemeClr val="tx1"/>
            </a:solidFill>
          </a:endParaRP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mc:AlternateContent xmlns:mc="http://schemas.openxmlformats.org/markup-compatibility/2006" xmlns:a14="http://schemas.microsoft.com/office/drawing/2010/main">
      <mc:Choice Requires="a14">
        <dgm:pt modelId="{A7F12DDC-AFF2-504D-A40A-16CC592BCD4A}">
          <dgm:prSet phldrT="[Text]" custT="1"/>
          <dgm:spPr>
            <a:solidFill>
              <a:schemeClr val="bg1">
                <a:lumMod val="95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A7F12DDC-AFF2-504D-A40A-16CC592BCD4A}">
          <dgm:prSet phldrT="[Text]" custT="1"/>
          <dgm:spPr>
            <a:solidFill>
              <a:schemeClr val="bg1">
                <a:lumMod val="95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 𝐴=𝐼</a:t>
              </a:r>
              <a:endParaRPr lang="en-US" sz="2400" dirty="0">
                <a:solidFill>
                  <a:schemeClr val="tx1"/>
                </a:solidFill>
              </a:endParaRPr>
            </a:p>
          </dgm:t>
        </dgm:pt>
      </mc:Fallback>
    </mc:AlternateConten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solidFill>
          <a:schemeClr val="accent2">
            <a:lumMod val="20000"/>
            <a:lumOff val="80000"/>
          </a:schemeClr>
        </a:solidFill>
      </dgm:spPr>
      <dgm:t>
        <a:bodyPr/>
        <a:lstStyle/>
        <a:p>
          <a:pPr algn="l">
            <a:buNone/>
          </a:pPr>
          <a:r>
            <a:rPr lang="en-ZA" sz="3000" b="0" dirty="0">
              <a:solidFill>
                <a:schemeClr val="tx1"/>
              </a:solidFill>
            </a:rPr>
            <a:t>Hermitian Matrix</a:t>
          </a:r>
          <a:endParaRPr lang="en-US" sz="3000" dirty="0">
            <a:solidFill>
              <a:schemeClr val="tx1"/>
            </a:solidFill>
          </a:endParaRP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pPr algn="just"/>
          <a:r>
            <a:rPr lang="en-US" sz="2300" dirty="0">
              <a:solidFill>
                <a:schemeClr val="tx1"/>
              </a:solidFill>
            </a:rPr>
            <a:t>A square matrix that is equal to its conjugate transpose</a:t>
          </a:r>
          <a:r>
            <a:rPr lang="en-ZA" sz="2300" dirty="0">
              <a:solidFill>
                <a:schemeClr val="tx1"/>
              </a:solidFill>
            </a:rPr>
            <a:t>.</a:t>
          </a:r>
          <a:endParaRPr lang="en-US" sz="2300" dirty="0">
            <a:solidFill>
              <a:schemeClr val="tx1"/>
            </a:solidFill>
          </a:endParaRP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mc:AlternateContent xmlns:mc="http://schemas.openxmlformats.org/markup-compatibility/2006" xmlns:a14="http://schemas.microsoft.com/office/drawing/2010/main">
      <mc:Choice Requires="a14">
        <dgm:pt modelId="{0CEAF519-1C3B-3C43-95FD-B4C9F87D1E60}">
          <dgm:prSet phldrT="[Text]" custT="1"/>
          <dgm:spPr>
            <a:solidFill>
              <a:schemeClr val="accent2">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oMath>
                </m:oMathPara>
              </a14:m>
              <a:endParaRPr lang="en-US" sz="2400" dirty="0">
                <a:solidFill>
                  <a:schemeClr val="tx1"/>
                </a:solidFill>
              </a:endParaRPr>
            </a:p>
          </dgm:t>
        </dgm:pt>
      </mc:Choice>
      <mc:Fallback xmlns="">
        <dgm:pt modelId="{0CEAF519-1C3B-3C43-95FD-B4C9F87D1E60}">
          <dgm:prSet phldrT="[Text]" custT="1"/>
          <dgm:spPr>
            <a:solidFill>
              <a:schemeClr val="accent2">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endParaRPr lang="en-US" sz="2400" dirty="0">
                <a:solidFill>
                  <a:schemeClr val="tx1"/>
                </a:solidFill>
              </a:endParaRPr>
            </a:p>
          </dgm:t>
        </dgm:pt>
      </mc:Fallback>
    </mc:AlternateConten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solidFill>
          <a:schemeClr val="accent5">
            <a:lumMod val="20000"/>
            <a:lumOff val="80000"/>
          </a:schemeClr>
        </a:solidFill>
      </dgm:spPr>
      <dgm:t>
        <a:bodyPr/>
        <a:lstStyle/>
        <a:p>
          <a:pPr algn="l">
            <a:buNone/>
          </a:pPr>
          <a:r>
            <a:rPr lang="en-ZA" sz="2700" b="0" dirty="0">
              <a:solidFill>
                <a:schemeClr val="tx1"/>
              </a:solidFill>
            </a:rPr>
            <a:t>Unitary Matrix</a:t>
          </a:r>
          <a:endParaRPr lang="en-US" sz="2700" dirty="0">
            <a:solidFill>
              <a:schemeClr val="tx1"/>
            </a:solidFill>
          </a:endParaRP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mc:AlternateContent xmlns:mc="http://schemas.openxmlformats.org/markup-compatibility/2006" xmlns:a14="http://schemas.microsoft.com/office/drawing/2010/main">
      <mc:Choice Requires="a14">
        <dgm:pt modelId="{81B4A25D-E7DD-D741-BE4B-998FEE9C5058}">
          <dgm:prSet custT="1"/>
          <dgm:spPr>
            <a:solidFill>
              <a:schemeClr val="accent5">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81B4A25D-E7DD-D741-BE4B-998FEE9C5058}">
          <dgm:prSet custT="1"/>
          <dgm:spPr>
            <a:solidFill>
              <a:schemeClr val="accent5">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 𝐴=𝐼</a:t>
              </a:r>
              <a:endParaRPr lang="en-US" sz="2400" dirty="0">
                <a:solidFill>
                  <a:schemeClr val="tx1"/>
                </a:solidFill>
              </a:endParaRPr>
            </a:p>
          </dgm:t>
        </dgm:pt>
      </mc:Fallback>
    </mc:AlternateConten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pPr algn="just"/>
          <a:r>
            <a:rPr lang="en-US" sz="2300" dirty="0">
              <a:solidFill>
                <a:schemeClr val="tx1"/>
              </a:solidFill>
            </a:rPr>
            <a:t>A square matrix which, when multiplied by its conjugate transpose, results in the identity matrix.</a:t>
          </a:r>
          <a:endParaRPr lang="en-US" sz="1000" dirty="0">
            <a:solidFill>
              <a:schemeClr val="tx1"/>
            </a:solidFill>
          </a:endParaRP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pPr algn="just">
            <a:buFont typeface="Arial" panose="020B0604020202020204" pitchFamily="34" charset="0"/>
            <a:buChar char="•"/>
          </a:pPr>
          <a:endParaRPr lang="en-US" sz="1000" dirty="0">
            <a:solidFill>
              <a:schemeClr val="tx1"/>
            </a:solidFill>
          </a:endParaRP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pPr algn="just"/>
          <a:endParaRPr lang="en-US" sz="1000" dirty="0">
            <a:solidFill>
              <a:schemeClr val="tx1"/>
            </a:solidFill>
          </a:endParaRP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pPr algn="just">
            <a:buNone/>
          </a:pPr>
          <a:endParaRPr lang="en-US" sz="1000" dirty="0">
            <a:solidFill>
              <a:schemeClr val="tx1"/>
            </a:solidFill>
          </a:endParaRP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pPr algn="just">
            <a:buNone/>
          </a:pPr>
          <a:endParaRPr lang="en-US" sz="1800" dirty="0">
            <a:solidFill>
              <a:schemeClr val="tx1"/>
            </a:solidFill>
          </a:endParaRP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blipFill>
          <a:blip xmlns:r="http://schemas.openxmlformats.org/officeDocument/2006/relationships" r:embed="rId1"/>
          <a:stretch>
            <a:fillRect l="-2890" t="-2885" r="-1734"/>
          </a:stretch>
        </a:blipFill>
      </dgm:spPr>
      <dgm:t>
        <a:bodyPr/>
        <a:lstStyle/>
        <a:p>
          <a:r>
            <a:rPr lang="en-US">
              <a:noFill/>
            </a:rPr>
            <a:t> </a:t>
          </a: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dgm:pt modelId="{1E464050-1747-3244-9B57-3FD157FF1855}">
      <dgm:prSet phldrT="[Text]" custT="1"/>
      <dgm:spPr>
        <a:solidFill>
          <a:srgbClr val="FFFDD0"/>
        </a:solidFill>
      </dgm:spPr>
      <dgm:t>
        <a:bodyPr/>
        <a:lstStyle/>
        <a:p>
          <a:r>
            <a:rPr lang="en-US">
              <a:noFill/>
            </a:rPr>
            <a:t> </a:t>
          </a:r>
        </a:p>
      </dgm:t>
    </dgm:p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blipFill>
          <a:blip xmlns:r="http://schemas.openxmlformats.org/officeDocument/2006/relationships" r:embed="rId2"/>
          <a:stretch>
            <a:fillRect l="-3179" t="-2885" r="-1734"/>
          </a:stretch>
        </a:blipFill>
      </dgm:spPr>
      <dgm:t>
        <a:bodyPr/>
        <a:lstStyle/>
        <a:p>
          <a:r>
            <a:rPr lang="en-US">
              <a:noFill/>
            </a:rPr>
            <a:t> </a:t>
          </a: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r>
            <a:rPr lang="en-US">
              <a:noFill/>
            </a:rPr>
            <a:t> </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r>
            <a:rPr lang="en-US">
              <a:noFill/>
            </a:rPr>
            <a:t> </a:t>
          </a: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dgm:pt modelId="{A7F12DDC-AFF2-504D-A40A-16CC592BCD4A}">
      <dgm:prSet phldrT="[Text]" custT="1"/>
      <dgm:spPr>
        <a:solidFill>
          <a:schemeClr val="bg1">
            <a:lumMod val="95000"/>
          </a:schemeClr>
        </a:solidFill>
      </dgm:spPr>
      <dgm:t>
        <a:bodyPr/>
        <a:lstStyle/>
        <a:p>
          <a:r>
            <a:rPr lang="en-US">
              <a:noFill/>
            </a:rPr>
            <a:t> </a:t>
          </a:r>
        </a:p>
      </dgm:t>
    </dgm:p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blipFill>
          <a:blip xmlns:r="http://schemas.openxmlformats.org/officeDocument/2006/relationships" r:embed="rId3"/>
          <a:stretch>
            <a:fillRect l="-3179" t="-3365" r="-1734"/>
          </a:stretch>
        </a:blipFill>
      </dgm:spPr>
      <dgm:t>
        <a:bodyPr/>
        <a:lstStyle/>
        <a:p>
          <a:r>
            <a:rPr lang="en-US">
              <a:noFill/>
            </a:rPr>
            <a:t> </a:t>
          </a: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r>
            <a:rPr lang="en-US">
              <a:noFill/>
            </a:rPr>
            <a:t> </a:t>
          </a: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dgm:pt modelId="{0CEAF519-1C3B-3C43-95FD-B4C9F87D1E60}">
      <dgm:prSet phldrT="[Text]" custT="1"/>
      <dgm:spPr>
        <a:solidFill>
          <a:schemeClr val="accent2">
            <a:lumMod val="20000"/>
            <a:lumOff val="80000"/>
          </a:schemeClr>
        </a:solidFill>
      </dgm:spPr>
      <dgm:t>
        <a:bodyPr/>
        <a:lstStyle/>
        <a:p>
          <a:r>
            <a:rPr lang="en-US">
              <a:noFill/>
            </a:rPr>
            <a:t> </a:t>
          </a:r>
        </a:p>
      </dgm:t>
    </dgm:p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blipFill>
          <a:blip xmlns:r="http://schemas.openxmlformats.org/officeDocument/2006/relationships" r:embed="rId4"/>
          <a:stretch>
            <a:fillRect l="-2601" t="-2885" r="-1734"/>
          </a:stretch>
        </a:blipFill>
      </dgm:spPr>
      <dgm:t>
        <a:bodyPr/>
        <a:lstStyle/>
        <a:p>
          <a:r>
            <a:rPr lang="en-US">
              <a:noFill/>
            </a:rPr>
            <a:t> </a:t>
          </a: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dgm:pt modelId="{81B4A25D-E7DD-D741-BE4B-998FEE9C5058}">
      <dgm:prSet custT="1"/>
      <dgm:spPr>
        <a:solidFill>
          <a:schemeClr val="accent5">
            <a:lumMod val="20000"/>
            <a:lumOff val="80000"/>
          </a:schemeClr>
        </a:solidFill>
      </dgm:spPr>
      <dgm:t>
        <a:bodyPr/>
        <a:lstStyle/>
        <a:p>
          <a:r>
            <a:rPr lang="en-US">
              <a:noFill/>
            </a:rPr>
            <a:t> </a:t>
          </a:r>
        </a:p>
      </dgm:t>
    </dgm:p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r>
            <a:rPr lang="en-US">
              <a:noFill/>
            </a:rPr>
            <a:t> </a:t>
          </a: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r>
            <a:rPr lang="en-US">
              <a:noFill/>
            </a:rPr>
            <a:t> </a:t>
          </a: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r>
            <a:rPr lang="en-US">
              <a:noFill/>
            </a:rPr>
            <a:t> </a:t>
          </a: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r>
            <a:rPr lang="en-US">
              <a:noFill/>
            </a:rPr>
            <a:t> </a:t>
          </a: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r>
            <a:rPr lang="en-US">
              <a:noFill/>
            </a:rPr>
            <a:t> </a:t>
          </a: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F68B1-384F-884E-85F2-687846E08432}">
      <dsp:nvSpPr>
        <dsp:cNvPr id="0" name=""/>
        <dsp:cNvSpPr/>
      </dsp:nvSpPr>
      <dsp:spPr>
        <a:xfrm>
          <a:off x="397115" y="1956"/>
          <a:ext cx="3410877" cy="9526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data</a:t>
          </a:r>
        </a:p>
      </dsp:txBody>
      <dsp:txXfrm>
        <a:off x="873441" y="1956"/>
        <a:ext cx="2458225" cy="952652"/>
      </dsp:txXfrm>
    </dsp:sp>
    <dsp:sp modelId="{589CEB27-68EC-8C44-AE2F-CCCE5077B7DD}">
      <dsp:nvSpPr>
        <dsp:cNvPr id="0" name=""/>
        <dsp:cNvSpPr/>
      </dsp:nvSpPr>
      <dsp:spPr>
        <a:xfrm>
          <a:off x="3498380" y="82932"/>
          <a:ext cx="2288132" cy="790701"/>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qubit/vector</a:t>
          </a:r>
        </a:p>
      </dsp:txBody>
      <dsp:txXfrm>
        <a:off x="3893731" y="82932"/>
        <a:ext cx="1497431" cy="790701"/>
      </dsp:txXfrm>
    </dsp:sp>
    <dsp:sp modelId="{AC12D99E-FB7E-0741-8161-C77DE0409CB8}">
      <dsp:nvSpPr>
        <dsp:cNvPr id="0" name=""/>
        <dsp:cNvSpPr/>
      </dsp:nvSpPr>
      <dsp:spPr>
        <a:xfrm>
          <a:off x="397115" y="1087980"/>
          <a:ext cx="3410877" cy="952652"/>
        </a:xfrm>
        <a:prstGeom prst="chevron">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processing</a:t>
          </a:r>
        </a:p>
      </dsp:txBody>
      <dsp:txXfrm>
        <a:off x="873441" y="1087980"/>
        <a:ext cx="2458225" cy="952652"/>
      </dsp:txXfrm>
    </dsp:sp>
    <dsp:sp modelId="{8762CD98-6B6D-F945-9F8A-143998E383B8}">
      <dsp:nvSpPr>
        <dsp:cNvPr id="0" name=""/>
        <dsp:cNvSpPr/>
      </dsp:nvSpPr>
      <dsp:spPr>
        <a:xfrm>
          <a:off x="3498380" y="1168956"/>
          <a:ext cx="2288132" cy="790701"/>
        </a:xfrm>
        <a:prstGeom prst="chevron">
          <a:avLst/>
        </a:prstGeom>
        <a:solidFill>
          <a:schemeClr val="accent3">
            <a:tint val="40000"/>
            <a:alpha val="90000"/>
            <a:hueOff val="507285"/>
            <a:satOff val="25000"/>
            <a:lumOff val="445"/>
            <a:alphaOff val="0"/>
          </a:schemeClr>
        </a:solidFill>
        <a:ln w="12700" cap="flat" cmpd="sng" algn="ctr">
          <a:solidFill>
            <a:schemeClr val="accent3">
              <a:tint val="40000"/>
              <a:alpha val="90000"/>
              <a:hueOff val="507285"/>
              <a:satOff val="25000"/>
              <a:lumOff val="4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gate/matrix</a:t>
          </a:r>
        </a:p>
      </dsp:txBody>
      <dsp:txXfrm>
        <a:off x="3893731" y="1168956"/>
        <a:ext cx="1497431" cy="790701"/>
      </dsp:txXfrm>
    </dsp:sp>
    <dsp:sp modelId="{5640E65B-7044-844F-9EB5-48CE7C5F451B}">
      <dsp:nvSpPr>
        <dsp:cNvPr id="0" name=""/>
        <dsp:cNvSpPr/>
      </dsp:nvSpPr>
      <dsp:spPr>
        <a:xfrm>
          <a:off x="397115" y="2174004"/>
          <a:ext cx="3410877" cy="952652"/>
        </a:xfrm>
        <a:prstGeom prst="chevr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t>matehematical</a:t>
          </a:r>
          <a:r>
            <a:rPr lang="en-US" sz="2600" kern="1200" dirty="0"/>
            <a:t> unit of processing</a:t>
          </a:r>
        </a:p>
      </dsp:txBody>
      <dsp:txXfrm>
        <a:off x="873441" y="2174004"/>
        <a:ext cx="2458225" cy="952652"/>
      </dsp:txXfrm>
    </dsp:sp>
    <dsp:sp modelId="{E7AF8E55-35D4-EE43-84F0-EB1EE3C4089C}">
      <dsp:nvSpPr>
        <dsp:cNvPr id="0" name=""/>
        <dsp:cNvSpPr/>
      </dsp:nvSpPr>
      <dsp:spPr>
        <a:xfrm>
          <a:off x="3498380" y="2254980"/>
          <a:ext cx="2288132" cy="790701"/>
        </a:xfrm>
        <a:prstGeom prst="chevron">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matrix-vector multiplication</a:t>
          </a:r>
        </a:p>
      </dsp:txBody>
      <dsp:txXfrm>
        <a:off x="3893731" y="2254980"/>
        <a:ext cx="1497431" cy="790701"/>
      </dsp:txXfrm>
    </dsp:sp>
    <dsp:sp modelId="{11900ED1-072B-FE45-8087-917F279E1854}">
      <dsp:nvSpPr>
        <dsp:cNvPr id="0" name=""/>
        <dsp:cNvSpPr/>
      </dsp:nvSpPr>
      <dsp:spPr>
        <a:xfrm>
          <a:off x="397115" y="3260028"/>
          <a:ext cx="3410877" cy="952652"/>
        </a:xfrm>
        <a:prstGeom prst="chevron">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algorithm</a:t>
          </a:r>
        </a:p>
      </dsp:txBody>
      <dsp:txXfrm>
        <a:off x="873441" y="3260028"/>
        <a:ext cx="2458225" cy="952652"/>
      </dsp:txXfrm>
    </dsp:sp>
    <dsp:sp modelId="{8BCC3C3D-DEEA-0241-A450-84AB07AF83EE}">
      <dsp:nvSpPr>
        <dsp:cNvPr id="0" name=""/>
        <dsp:cNvSpPr/>
      </dsp:nvSpPr>
      <dsp:spPr>
        <a:xfrm>
          <a:off x="3498380" y="3341004"/>
          <a:ext cx="2288132" cy="790701"/>
        </a:xfrm>
        <a:prstGeom prst="chevron">
          <a:avLst/>
        </a:prstGeom>
        <a:solidFill>
          <a:schemeClr val="accent3">
            <a:tint val="40000"/>
            <a:alpha val="90000"/>
            <a:hueOff val="1521856"/>
            <a:satOff val="75000"/>
            <a:lumOff val="1334"/>
            <a:alphaOff val="0"/>
          </a:schemeClr>
        </a:solidFill>
        <a:ln w="12700" cap="flat" cmpd="sng" algn="ctr">
          <a:solidFill>
            <a:schemeClr val="accent3">
              <a:tint val="40000"/>
              <a:alpha val="90000"/>
              <a:hueOff val="1521856"/>
              <a:satOff val="75000"/>
              <a:lumOff val="13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a:t>
          </a:r>
        </a:p>
      </dsp:txBody>
      <dsp:txXfrm>
        <a:off x="3893731" y="3341004"/>
        <a:ext cx="1497431" cy="790701"/>
      </dsp:txXfrm>
    </dsp:sp>
    <dsp:sp modelId="{96B99780-81A6-4C41-BF29-ECA058D08E7B}">
      <dsp:nvSpPr>
        <dsp:cNvPr id="0" name=""/>
        <dsp:cNvSpPr/>
      </dsp:nvSpPr>
      <dsp:spPr>
        <a:xfrm>
          <a:off x="431408" y="4346052"/>
          <a:ext cx="3310753" cy="952652"/>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   program</a:t>
          </a:r>
        </a:p>
      </dsp:txBody>
      <dsp:txXfrm>
        <a:off x="907734" y="4346052"/>
        <a:ext cx="2358101" cy="952652"/>
      </dsp:txXfrm>
    </dsp:sp>
    <dsp:sp modelId="{C442239F-A10C-D54C-B093-8FD13A00035F}">
      <dsp:nvSpPr>
        <dsp:cNvPr id="0" name=""/>
        <dsp:cNvSpPr/>
      </dsp:nvSpPr>
      <dsp:spPr>
        <a:xfrm>
          <a:off x="3398257" y="4427028"/>
          <a:ext cx="2433977" cy="790701"/>
        </a:xfrm>
        <a:prstGeom prst="chevron">
          <a:avLst/>
        </a:prstGeom>
        <a:solidFill>
          <a:schemeClr val="accent6">
            <a:lumMod val="40000"/>
            <a:lumOff val="60000"/>
            <a:alpha val="9000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 </a:t>
          </a:r>
          <a:r>
            <a:rPr lang="en-US" sz="1900" kern="1200" dirty="0" err="1"/>
            <a:t>desciption</a:t>
          </a:r>
          <a:endParaRPr lang="en-US" sz="1900" kern="1200" dirty="0"/>
        </a:p>
      </dsp:txBody>
      <dsp:txXfrm>
        <a:off x="3793608" y="4427028"/>
        <a:ext cx="1643276" cy="7907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831A5-711D-4D4A-B56F-A4F6D63D6C13}">
      <dsp:nvSpPr>
        <dsp:cNvPr id="0" name=""/>
        <dsp:cNvSpPr/>
      </dsp:nvSpPr>
      <dsp:spPr>
        <a:xfrm>
          <a:off x="1457337" y="1187"/>
          <a:ext cx="4366112" cy="2619667"/>
        </a:xfrm>
        <a:prstGeom prst="rect">
          <a:avLst/>
        </a:prstGeom>
        <a:solidFill>
          <a:srgbClr val="FFFDD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44600">
            <a:lnSpc>
              <a:spcPct val="90000"/>
            </a:lnSpc>
            <a:spcBef>
              <a:spcPct val="0"/>
            </a:spcBef>
            <a:spcAft>
              <a:spcPct val="35000"/>
            </a:spcAft>
            <a:buNone/>
          </a:pPr>
          <a:r>
            <a:rPr lang="en-ZA" sz="2800" b="0" kern="1200" dirty="0">
              <a:solidFill>
                <a:schemeClr val="tx1"/>
              </a:solidFill>
            </a:rPr>
            <a:t>Identity Matrix</a:t>
          </a:r>
          <a:endParaRPr lang="en-US" sz="2800" kern="1200" dirty="0">
            <a:solidFill>
              <a:schemeClr val="tx1"/>
            </a:solidFill>
          </a:endParaRPr>
        </a:p>
        <a:p>
          <a:pPr marL="228600" lvl="1" indent="-228600" algn="just" defTabSz="1022350">
            <a:lnSpc>
              <a:spcPct val="90000"/>
            </a:lnSpc>
            <a:spcBef>
              <a:spcPct val="0"/>
            </a:spcBef>
            <a:spcAft>
              <a:spcPct val="15000"/>
            </a:spcAft>
            <a:buFont typeface="Arial" panose="020B0604020202020204" pitchFamily="34" charset="0"/>
            <a:buChar char="•"/>
          </a:pPr>
          <a:r>
            <a:rPr lang="en-US" sz="2300" kern="1200" dirty="0">
              <a:solidFill>
                <a:schemeClr val="tx1"/>
              </a:solidFill>
            </a:rPr>
            <a:t>A square matrix with ones on the main diagonal and zeros elsewhere</a:t>
          </a:r>
          <a:r>
            <a:rPr lang="en-ZA" sz="2300" kern="1200" dirty="0">
              <a:solidFill>
                <a:schemeClr val="tx1"/>
              </a:solidFill>
            </a:rPr>
            <a:t>. </a:t>
          </a:r>
          <a:endParaRPr lang="en-US" sz="2200" kern="1200" dirty="0">
            <a:solidFill>
              <a:schemeClr val="tx1"/>
            </a:solidFill>
          </a:endParaRPr>
        </a:p>
        <a:p>
          <a:pPr marL="57150" lvl="1" indent="-57150" algn="just" defTabSz="444500">
            <a:lnSpc>
              <a:spcPct val="90000"/>
            </a:lnSpc>
            <a:spcBef>
              <a:spcPct val="0"/>
            </a:spcBef>
            <a:spcAft>
              <a:spcPct val="15000"/>
            </a:spcAft>
            <a:buFont typeface="Arial" panose="020B0604020202020204" pitchFamily="34" charset="0"/>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2400" b="0" i="1" kern="1200" smtClean="0">
                    <a:solidFill>
                      <a:schemeClr val="tx1"/>
                    </a:solidFill>
                    <a:latin typeface="Cambria Math" panose="02040503050406030204" pitchFamily="18" charset="0"/>
                  </a:rPr>
                  <m:t>𝐼</m:t>
                </m:r>
                <m:r>
                  <a:rPr lang="en-US" sz="2400" b="0" i="1" kern="1200" smtClean="0">
                    <a:solidFill>
                      <a:schemeClr val="tx1"/>
                    </a:solidFill>
                    <a:latin typeface="Cambria Math" panose="02040503050406030204" pitchFamily="18" charset="0"/>
                  </a:rPr>
                  <m:t>=</m:t>
                </m:r>
                <m:d>
                  <m:dPr>
                    <m:ctrlPr>
                      <a:rPr lang="en-US" sz="2400" i="1" kern="1200" smtClean="0">
                        <a:solidFill>
                          <a:schemeClr val="tx1"/>
                        </a:solidFill>
                        <a:latin typeface="Cambria Math" panose="02040503050406030204" pitchFamily="18" charset="0"/>
                      </a:rPr>
                    </m:ctrlPr>
                  </m:dPr>
                  <m:e>
                    <m:m>
                      <m:mPr>
                        <m:plcHide m:val="on"/>
                        <m:mcs>
                          <m:mc>
                            <m:mcPr>
                              <m:count m:val="2"/>
                              <m:mcJc m:val="center"/>
                            </m:mcPr>
                          </m:mc>
                        </m:mcs>
                        <m:ctrlPr>
                          <a:rPr lang="en-US" sz="2400" i="1" kern="1200">
                            <a:solidFill>
                              <a:schemeClr val="tx1"/>
                            </a:solidFill>
                            <a:latin typeface="Cambria Math" panose="02040503050406030204" pitchFamily="18" charset="0"/>
                          </a:rPr>
                        </m:ctrlPr>
                      </m:mPr>
                      <m:mr>
                        <m:e>
                          <m:r>
                            <a:rPr lang="en-US" sz="2400" kern="1200">
                              <a:solidFill>
                                <a:schemeClr val="tx1"/>
                              </a:solidFill>
                              <a:latin typeface="Cambria Math" panose="02040503050406030204" pitchFamily="18" charset="0"/>
                            </a:rPr>
                            <m:t>1</m:t>
                          </m:r>
                        </m:e>
                        <m:e>
                          <m:r>
                            <a:rPr lang="en-US" sz="2400" kern="1200">
                              <a:solidFill>
                                <a:schemeClr val="tx1"/>
                              </a:solidFill>
                              <a:latin typeface="Cambria Math" panose="02040503050406030204" pitchFamily="18" charset="0"/>
                            </a:rPr>
                            <m:t>0</m:t>
                          </m:r>
                        </m:e>
                      </m:mr>
                      <m:mr>
                        <m:e>
                          <m:r>
                            <a:rPr lang="en-US" sz="2400" kern="1200">
                              <a:solidFill>
                                <a:schemeClr val="tx1"/>
                              </a:solidFill>
                              <a:latin typeface="Cambria Math" panose="02040503050406030204" pitchFamily="18" charset="0"/>
                            </a:rPr>
                            <m:t>0</m:t>
                          </m:r>
                        </m:e>
                        <m:e>
                          <m:r>
                            <a:rPr lang="en-US" sz="2400" kern="1200">
                              <a:solidFill>
                                <a:schemeClr val="tx1"/>
                              </a:solidFill>
                              <a:latin typeface="Cambria Math" panose="02040503050406030204" pitchFamily="18" charset="0"/>
                            </a:rPr>
                            <m:t>1</m:t>
                          </m:r>
                        </m:e>
                      </m:mr>
                    </m:m>
                  </m:e>
                </m:d>
              </m:oMath>
            </m:oMathPara>
          </a14:m>
          <a:endParaRPr lang="en-US" sz="2400" kern="1200" dirty="0">
            <a:solidFill>
              <a:schemeClr val="tx1"/>
            </a:solidFill>
          </a:endParaRPr>
        </a:p>
      </dsp:txBody>
      <dsp:txXfrm>
        <a:off x="1457337" y="1187"/>
        <a:ext cx="4366112" cy="2619667"/>
      </dsp:txXfrm>
    </dsp:sp>
    <dsp:sp modelId="{230E0ECE-F143-B24C-9E4D-62F109CAC925}">
      <dsp:nvSpPr>
        <dsp:cNvPr id="0" name=""/>
        <dsp:cNvSpPr/>
      </dsp:nvSpPr>
      <dsp:spPr>
        <a:xfrm>
          <a:off x="6260061" y="1187"/>
          <a:ext cx="4366112" cy="2619667"/>
        </a:xfrm>
        <a:prstGeom prst="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Orthogonal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which, when multiplied by its transpose, results in the identity matrix.</a:t>
          </a:r>
        </a:p>
        <a:p>
          <a:pPr marL="57150" lvl="1" indent="-57150" algn="just" defTabSz="444500">
            <a:lnSpc>
              <a:spcPct val="90000"/>
            </a:lnSpc>
            <a:spcBef>
              <a:spcPct val="0"/>
            </a:spcBef>
            <a:spcAft>
              <a:spcPct val="15000"/>
            </a:spcAft>
            <a:buNone/>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1187"/>
        <a:ext cx="4366112" cy="2619667"/>
      </dsp:txXfrm>
    </dsp:sp>
    <dsp:sp modelId="{C9378457-7A05-FD4D-B796-355BBEAF5417}">
      <dsp:nvSpPr>
        <dsp:cNvPr id="0" name=""/>
        <dsp:cNvSpPr/>
      </dsp:nvSpPr>
      <dsp:spPr>
        <a:xfrm>
          <a:off x="1457337" y="3057466"/>
          <a:ext cx="4366112" cy="2619667"/>
        </a:xfrm>
        <a:prstGeom prst="rect">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Hermitian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that is equal to its conjugate transpose</a:t>
          </a:r>
          <a:r>
            <a:rPr lang="en-ZA" sz="2300" kern="1200" dirty="0">
              <a:solidFill>
                <a:schemeClr val="tx1"/>
              </a:solidFill>
            </a:rPr>
            <a:t>.</a:t>
          </a:r>
          <a:endParaRPr lang="en-US" sz="2300" kern="1200" dirty="0">
            <a:solidFill>
              <a:schemeClr val="tx1"/>
            </a:solidFill>
          </a:endParaRPr>
        </a:p>
        <a:p>
          <a:pPr marL="171450" lvl="1" indent="-171450" algn="just" defTabSz="800100">
            <a:lnSpc>
              <a:spcPct val="90000"/>
            </a:lnSpc>
            <a:spcBef>
              <a:spcPct val="0"/>
            </a:spcBef>
            <a:spcAft>
              <a:spcPct val="15000"/>
            </a:spcAft>
            <a:buNone/>
          </a:pPr>
          <a:endParaRPr lang="en-US" sz="18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oMath>
            </m:oMathPara>
          </a14:m>
          <a:endParaRPr lang="en-US" sz="2400" kern="1200" dirty="0">
            <a:solidFill>
              <a:schemeClr val="tx1"/>
            </a:solidFill>
          </a:endParaRPr>
        </a:p>
      </dsp:txBody>
      <dsp:txXfrm>
        <a:off x="1457337" y="3057466"/>
        <a:ext cx="4366112" cy="2619667"/>
      </dsp:txXfrm>
    </dsp:sp>
    <dsp:sp modelId="{F2A1F630-CF8F-124E-B501-DC33C45612C6}">
      <dsp:nvSpPr>
        <dsp:cNvPr id="0" name=""/>
        <dsp:cNvSpPr/>
      </dsp:nvSpPr>
      <dsp:spPr>
        <a:xfrm>
          <a:off x="6260061" y="3057466"/>
          <a:ext cx="4366112" cy="2619667"/>
        </a:xfrm>
        <a:prstGeom prst="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00150">
            <a:lnSpc>
              <a:spcPct val="90000"/>
            </a:lnSpc>
            <a:spcBef>
              <a:spcPct val="0"/>
            </a:spcBef>
            <a:spcAft>
              <a:spcPct val="35000"/>
            </a:spcAft>
            <a:buNone/>
          </a:pPr>
          <a:r>
            <a:rPr lang="en-ZA" sz="2700" b="0" kern="1200" dirty="0">
              <a:solidFill>
                <a:schemeClr val="tx1"/>
              </a:solidFill>
            </a:rPr>
            <a:t>Unitary Matrix</a:t>
          </a:r>
          <a:endParaRPr lang="en-US" sz="27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which, when multiplied by its conjugate transpose, results in the identity matrix.</a:t>
          </a:r>
          <a:endParaRPr lang="en-US" sz="1000" kern="1200" dirty="0">
            <a:solidFill>
              <a:schemeClr val="tx1"/>
            </a:solidFill>
          </a:endParaRPr>
        </a:p>
        <a:p>
          <a:pPr marL="57150" lvl="1" indent="-57150" algn="just" defTabSz="444500">
            <a:lnSpc>
              <a:spcPct val="90000"/>
            </a:lnSpc>
            <a:spcBef>
              <a:spcPct val="0"/>
            </a:spcBef>
            <a:spcAft>
              <a:spcPct val="15000"/>
            </a:spcAft>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3057466"/>
        <a:ext cx="4366112" cy="261966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10/14/26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1687602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just">
              <a:buFont typeface="+mj-lt"/>
              <a:buAutoNum type="arabicPeriod"/>
            </a:pPr>
            <a:r>
              <a:rPr lang="en-ZA" dirty="0"/>
              <a:t>The basic unit of quantum information is the quantum bit, or qubit. Mathematically, a qubit is represented by a two-dimensional state vector. </a:t>
            </a:r>
            <a:endParaRPr lang="en-ZA" sz="1200" dirty="0">
              <a:latin typeface="+mn-lt"/>
            </a:endParaRPr>
          </a:p>
          <a:p>
            <a:pPr marL="228600" indent="-228600" algn="just">
              <a:buFont typeface="+mj-lt"/>
              <a:buAutoNum type="arabicPeriod"/>
            </a:pPr>
            <a:endParaRPr lang="en-US" sz="500" dirty="0">
              <a:latin typeface="+mn-lt"/>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The basic unit of quantum processing is the quantum gate. Mathematically, a quantum gate is represented by a unitary matrix.</a:t>
            </a:r>
            <a:endParaRPr lang="en-ZA" dirty="0"/>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Quantum computation consists of successive transformations of the qubit state. Geometrically, these transformations can be visualized as rotations of the vector. Mathematically, they are represented by multiplying the qubit state vector by the matrix corresponding to a quantum gate, producing a new quantum state.</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A quantum algorithm is commonly represented as a quantum circuit. Although the term "quantum circuit" might suggest a hardware circuit, it is actually a flowchart-like diagram that shows the sequence of quantum gates applied to the qubits during program execution.</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Finally, a quantum program is a description of a quantum circuit written in a programming language, typically Python or a quantum assembly language such as </a:t>
            </a:r>
            <a:r>
              <a:rPr lang="en-ZA" dirty="0" err="1"/>
              <a:t>OpenQASM</a:t>
            </a:r>
            <a:r>
              <a:rPr lang="en-ZA" dirty="0"/>
              <a:t>.</a:t>
            </a:r>
            <a:endParaRPr lang="en-US" sz="120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3061415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In a classical computer, the basic unit of </a:t>
            </a:r>
            <a:r>
              <a:rPr lang="en-ZA" sz="1200" dirty="0"/>
              <a:t>information</a:t>
            </a:r>
            <a:r>
              <a:rPr lang="en-ZA" b="0" dirty="0"/>
              <a:t> is a bit. </a:t>
            </a:r>
            <a:r>
              <a:rPr lang="en-ZA" i="0" dirty="0"/>
              <a:t>At the machine level, a bit is typically represented by an electrical voltage controlled by a transistor-based circuit called a flip-flop. A high voltage represents bit 1, and a low voltage represents bit 0.</a:t>
            </a:r>
          </a:p>
          <a:p>
            <a:pPr marL="171450" indent="-171450" algn="just">
              <a:buFont typeface="Arial" panose="020B0604020202020204" pitchFamily="34" charset="0"/>
              <a:buChar char="•"/>
            </a:pPr>
            <a:endParaRPr lang="en-ZA" b="0" i="0" dirty="0"/>
          </a:p>
          <a:p>
            <a:pPr marL="171450" indent="-171450" algn="just">
              <a:buFont typeface="Arial" panose="020B0604020202020204" pitchFamily="34" charset="0"/>
              <a:buChar char="•"/>
            </a:pPr>
            <a:r>
              <a:rPr lang="en-ZA" b="0" dirty="0"/>
              <a:t>A logical bit can be either 0 or 1.</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quantum computing, the basic unit of quantum </a:t>
            </a:r>
            <a:r>
              <a:rPr lang="en-ZA" sz="1200" dirty="0"/>
              <a:t>information</a:t>
            </a:r>
            <a:r>
              <a:rPr lang="en-ZA" b="0" dirty="0"/>
              <a:t> is a quantum bit or qubit.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 physical qubit is a quantum object, such as a superconducting circuit, an atom, or a photon.</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A logical qubit is described by a state vector, or ket vector, on the unit sphere, with basis states ∣0⟩ and ∣1⟩ corresponding to the two possible classical bit values.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1608807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A complex number is an ordered pair of real numbers, for example, </a:t>
                </a:r>
                <a14:m>
                  <m:oMath xmlns:m="http://schemas.openxmlformats.org/officeDocument/2006/math">
                    <m:r>
                      <a:rPr lang="en-US" sz="1200" i="1" smtClean="0">
                        <a:latin typeface="Cambria Math" panose="02040503050406030204" pitchFamily="18" charset="0"/>
                      </a:rPr>
                      <m:t>𝑥</m:t>
                    </m:r>
                  </m:oMath>
                </a14:m>
                <a:r>
                  <a:rPr lang="en-ZA" b="0" dirty="0"/>
                  <a:t> and </a:t>
                </a:r>
                <a14:m>
                  <m:oMath xmlns:m="http://schemas.openxmlformats.org/officeDocument/2006/math">
                    <m:r>
                      <a:rPr lang="en-US" sz="1200" b="0" i="1" smtClean="0">
                        <a:latin typeface="Cambria Math" panose="02040503050406030204" pitchFamily="18" charset="0"/>
                      </a:rPr>
                      <m:t>𝑦</m:t>
                    </m:r>
                  </m:oMath>
                </a14:m>
                <a:r>
                  <a:rPr lang="en-ZA" b="0" dirty="0"/>
                  <a:t>, written in algebraic form as: </a:t>
                </a:r>
                <a:r>
                  <a:rPr lang="en-US" sz="1200" b="0" i="1" baseline="0" dirty="0">
                    <a:latin typeface="Cambria Math" panose="02040503050406030204" pitchFamily="18" charset="0"/>
                  </a:rPr>
                  <a:t> </a:t>
                </a:r>
                <a14:m>
                  <m:oMath xmlns:m="http://schemas.openxmlformats.org/officeDocument/2006/math">
                    <m:r>
                      <a:rPr lang="en-US" sz="1200" i="1" smtClean="0">
                        <a:latin typeface="Cambria Math" panose="02040503050406030204" pitchFamily="18" charset="0"/>
                      </a:rPr>
                      <m:t>𝑧</m:t>
                    </m:r>
                    <m:r>
                      <a:rPr lang="en-US" sz="1200" i="1" smtClean="0">
                        <a:latin typeface="Cambria Math" panose="02040503050406030204" pitchFamily="18" charset="0"/>
                      </a:rPr>
                      <m:t>=</m:t>
                    </m:r>
                    <m:r>
                      <a:rPr lang="en-US" sz="1200" i="1" smtClean="0">
                        <a:latin typeface="Cambria Math" panose="02040503050406030204" pitchFamily="18" charset="0"/>
                      </a:rPr>
                      <m:t>𝑥</m:t>
                    </m:r>
                    <m:r>
                      <a:rPr lang="en-US" sz="1200" i="1" smtClean="0">
                        <a:latin typeface="Cambria Math" panose="02040503050406030204" pitchFamily="18" charset="0"/>
                      </a:rPr>
                      <m:t>+</m:t>
                    </m:r>
                    <m:r>
                      <a:rPr lang="en-US" sz="1200" i="1" smtClean="0">
                        <a:latin typeface="Cambria Math" panose="02040503050406030204" pitchFamily="18" charset="0"/>
                      </a:rPr>
                      <m:t>𝑖𝑦</m:t>
                    </m:r>
                  </m:oMath>
                </a14:m>
                <a:r>
                  <a:rPr lang="en-ZA" b="0" dirty="0"/>
                  <a:t>.</a:t>
                </a:r>
                <a:r>
                  <a:rPr lang="en-ZA" b="0" baseline="0" dirty="0"/>
                  <a:t> </a:t>
                </a:r>
                <a:r>
                  <a:rPr lang="en-ZA" b="0" dirty="0"/>
                  <a:t>The set of all complex numbers is denoted by the double-struck letter </a:t>
                </a:r>
                <a14:m>
                  <m:oMath xmlns:m="http://schemas.openxmlformats.org/officeDocument/2006/math">
                    <m:r>
                      <a:rPr lang="en-US" sz="1200" b="0" i="1" smtClean="0">
                        <a:latin typeface="Cambria Math" panose="02040503050406030204" pitchFamily="18" charset="0"/>
                        <a:ea typeface="Cambria Math" panose="02040503050406030204" pitchFamily="18" charset="0"/>
                      </a:rPr>
                      <m:t>ℂ</m:t>
                    </m:r>
                  </m:oMath>
                </a14:m>
                <a:r>
                  <a:rPr lang="en-ZA" b="0" dirty="0"/>
                  <a:t>.</a:t>
                </a:r>
              </a:p>
              <a:p>
                <a:pPr algn="just"/>
                <a:endParaRPr lang="en-ZA" b="0" dirty="0"/>
              </a:p>
              <a:p>
                <a:pPr marL="628650" lvl="1" indent="-171450" algn="just">
                  <a:buFont typeface="Arial" panose="020B0604020202020204" pitchFamily="34" charset="0"/>
                  <a:buChar char="•"/>
                </a:pPr>
                <a:r>
                  <a:rPr lang="en-ZA" b="0" dirty="0"/>
                  <a:t>    </a:t>
                </a:r>
                <a14:m>
                  <m:oMath xmlns:m="http://schemas.openxmlformats.org/officeDocument/2006/math">
                    <m:r>
                      <a:rPr lang="en-US" sz="1200" i="1" smtClean="0">
                        <a:latin typeface="Cambria Math" panose="02040503050406030204" pitchFamily="18" charset="0"/>
                      </a:rPr>
                      <m:t>𝑥</m:t>
                    </m:r>
                  </m:oMath>
                </a14:m>
                <a:r>
                  <a:rPr lang="en-ZA" b="0" dirty="0"/>
                  <a:t> is the real part, and </a:t>
                </a:r>
                <a14:m>
                  <m:oMath xmlns:m="http://schemas.openxmlformats.org/officeDocument/2006/math">
                    <m:r>
                      <a:rPr lang="en-US" sz="1200" b="0" i="1" smtClean="0">
                        <a:latin typeface="Cambria Math" panose="02040503050406030204" pitchFamily="18" charset="0"/>
                      </a:rPr>
                      <m:t>𝑦</m:t>
                    </m:r>
                  </m:oMath>
                </a14:m>
                <a:r>
                  <a:rPr lang="en-ZA" b="0" dirty="0"/>
                  <a:t> is the imaginary part of the complex number </a:t>
                </a:r>
                <a14:m>
                  <m:oMath xmlns:m="http://schemas.openxmlformats.org/officeDocument/2006/math">
                    <m:r>
                      <a:rPr lang="en-US" sz="1200" b="0" i="1" smtClean="0">
                        <a:latin typeface="Cambria Math" panose="02040503050406030204" pitchFamily="18" charset="0"/>
                      </a:rPr>
                      <m:t>𝑧</m:t>
                    </m:r>
                  </m:oMath>
                </a14:m>
                <a:r>
                  <a:rPr lang="en-ZA" b="0" dirty="0"/>
                  <a:t>.</a:t>
                </a:r>
              </a:p>
              <a:p>
                <a:pPr marL="628650" lvl="1" indent="-171450" algn="just">
                  <a:buFont typeface="Arial" panose="020B0604020202020204" pitchFamily="34" charset="0"/>
                  <a:buChar char="•"/>
                </a:pPr>
                <a:r>
                  <a:rPr lang="en-ZA" b="0" dirty="0"/>
                  <a:t>    </a:t>
                </a:r>
                <a14:m>
                  <m:oMath xmlns:m="http://schemas.openxmlformats.org/officeDocument/2006/math">
                    <m:r>
                      <a:rPr lang="en-US" sz="1200" b="0" i="1" smtClean="0">
                        <a:latin typeface="Cambria Math" panose="02040503050406030204" pitchFamily="18" charset="0"/>
                      </a:rPr>
                      <m:t>𝑖</m:t>
                    </m:r>
                  </m:oMath>
                </a14:m>
                <a:r>
                  <a:rPr lang="en-ZA" b="0" dirty="0"/>
                  <a:t> is the imaginary unit, defined as</a:t>
                </a:r>
                <a:r>
                  <a:rPr lang="en-ZA" b="0" baseline="0" dirty="0"/>
                  <a:t> </a:t>
                </a:r>
                <a14:m>
                  <m:oMath xmlns:m="http://schemas.openxmlformats.org/officeDocument/2006/math">
                    <m:r>
                      <a:rPr lang="en-US" sz="1200" b="0" i="1" smtClean="0">
                        <a:latin typeface="Cambria Math" panose="02040503050406030204" pitchFamily="18" charset="0"/>
                      </a:rPr>
                      <m:t>𝑖</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i="1">
                            <a:latin typeface="Cambria Math" panose="02040503050406030204" pitchFamily="18" charset="0"/>
                          </a:rPr>
                          <m:t>−1</m:t>
                        </m:r>
                      </m:e>
                    </m:rad>
                  </m:oMath>
                </a14:m>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14:m>
                  <m:oMath xmlns:m="http://schemas.openxmlformats.org/officeDocument/2006/math">
                    <m:sSup>
                      <m:sSupPr>
                        <m:ctrlPr>
                          <a:rPr lang="en-US" sz="1200" i="1" smtClean="0">
                            <a:latin typeface="Cambria Math" panose="02040503050406030204" pitchFamily="18" charset="0"/>
                          </a:rPr>
                        </m:ctrlPr>
                      </m:sSupPr>
                      <m:e>
                        <m:r>
                          <a:rPr lang="en-US" sz="1200" b="0" i="1">
                            <a:latin typeface="Cambria Math" panose="02040503050406030204" pitchFamily="18" charset="0"/>
                          </a:rPr>
                          <m:t>𝑧</m:t>
                        </m:r>
                      </m:e>
                      <m:sup>
                        <m:r>
                          <a:rPr lang="en-US" sz="1200" b="0" i="1">
                            <a:latin typeface="Cambria Math" panose="02040503050406030204" pitchFamily="18" charset="0"/>
                          </a:rPr>
                          <m:t>∗</m:t>
                        </m:r>
                      </m:sup>
                    </m:sSup>
                  </m:oMath>
                </a14:m>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14:m>
                  <m:oMath xmlns:m="http://schemas.openxmlformats.org/officeDocument/2006/math">
                    <m:r>
                      <a:rPr lang="en-US" sz="1200" i="1" smtClean="0">
                        <a:latin typeface="Cambria Math" panose="02040503050406030204" pitchFamily="18" charset="0"/>
                      </a:rPr>
                      <m:t>𝑥</m:t>
                    </m:r>
                  </m:oMath>
                </a14:m>
                <a:r>
                  <a:rPr lang="en-ZA" b="0" dirty="0"/>
                  <a:t> and </a:t>
                </a:r>
                <a14:m>
                  <m:oMath xmlns:m="http://schemas.openxmlformats.org/officeDocument/2006/math">
                    <m:r>
                      <a:rPr lang="en-US" sz="1200" b="0" i="1" smtClean="0">
                        <a:latin typeface="Cambria Math" panose="02040503050406030204" pitchFamily="18" charset="0"/>
                      </a:rPr>
                      <m:t>𝑦</m:t>
                    </m:r>
                  </m:oMath>
                </a14:m>
                <a:r>
                  <a:rPr lang="en-ZA" b="0" dirty="0"/>
                  <a:t>:</a:t>
                </a:r>
              </a:p>
              <a:p>
                <a:pPr marL="628650" lvl="1" indent="-171450" algn="just">
                  <a:buFont typeface="Arial" panose="020B0604020202020204" pitchFamily="34" charset="0"/>
                  <a:buChar char="•"/>
                </a:pPr>
                <a14:m>
                  <m:oMath xmlns:m="http://schemas.openxmlformats.org/officeDocument/2006/math">
                    <m:r>
                      <a:rPr lang="en-US" sz="1200" i="1" smtClean="0">
                        <a:latin typeface="Cambria Math" panose="02040503050406030204" pitchFamily="18" charset="0"/>
                      </a:rPr>
                      <m:t>𝑥</m:t>
                    </m:r>
                  </m:oMath>
                </a14:m>
                <a:r>
                  <a:rPr lang="en-ZA" b="0" dirty="0"/>
                  <a:t> lies on the horizontal (real) axis.</a:t>
                </a:r>
              </a:p>
              <a:p>
                <a:pPr marL="628650" lvl="1" indent="-171450" algn="just">
                  <a:buFont typeface="Arial" panose="020B0604020202020204" pitchFamily="34" charset="0"/>
                  <a:buChar char="•"/>
                </a:pPr>
                <a14:m>
                  <m:oMath xmlns:m="http://schemas.openxmlformats.org/officeDocument/2006/math">
                    <m:r>
                      <a:rPr lang="en-US" sz="1200" b="0" i="1" smtClean="0">
                        <a:latin typeface="Cambria Math" panose="02040503050406030204" pitchFamily="18" charset="0"/>
                      </a:rPr>
                      <m:t>𝑦</m:t>
                    </m:r>
                  </m:oMath>
                </a14:m>
                <a:r>
                  <a:rPr lang="en-ZA" b="0" dirty="0"/>
                  <a:t> lies on the vertical (imaginary) axis.</a:t>
                </a:r>
              </a:p>
              <a:p>
                <a:pPr algn="just"/>
                <a:endParaRPr lang="en-ZA" b="0" dirty="0"/>
              </a:p>
              <a:p>
                <a:pPr lvl="1" algn="just"/>
                <a:r>
                  <a:rPr lang="en-ZA" dirty="0"/>
                  <a:t>A vector drawn from the origin to this point is called the position vector, or radius vector, of the complex number. </a:t>
                </a:r>
                <a:r>
                  <a:rPr lang="en-ZA" b="0" dirty="0"/>
                  <a:t>The length of this vector equals the modulus of the complex number.</a:t>
                </a:r>
              </a:p>
              <a:p>
                <a:pPr lvl="1" algn="just"/>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The example shows a complex number: </a:t>
                </a:r>
                <a14:m>
                  <m:oMath xmlns:m="http://schemas.openxmlformats.org/officeDocument/2006/math">
                    <m:r>
                      <m:rPr>
                        <m:sty m:val="p"/>
                      </m:rPr>
                      <a:rPr lang="en-US" sz="1200" i="0" smtClean="0">
                        <a:latin typeface="Cambria Math" panose="02040503050406030204" pitchFamily="18" charset="0"/>
                      </a:rPr>
                      <m:t>z</m:t>
                    </m:r>
                    <m:r>
                      <a:rPr lang="en-US" sz="1200" i="0" smtClean="0">
                        <a:latin typeface="Cambria Math" panose="02040503050406030204" pitchFamily="18" charset="0"/>
                      </a:rPr>
                      <m:t>=0.3+</m:t>
                    </m:r>
                    <m:r>
                      <m:rPr>
                        <m:sty m:val="p"/>
                      </m:rPr>
                      <a:rPr lang="en-US" sz="1200" b="0" i="0" smtClean="0">
                        <a:latin typeface="Cambria Math" panose="02040503050406030204" pitchFamily="18" charset="0"/>
                      </a:rPr>
                      <m:t>i</m:t>
                    </m:r>
                    <m:r>
                      <a:rPr lang="en-US" sz="1200" b="0" i="0" smtClean="0">
                        <a:latin typeface="Cambria Math" panose="02040503050406030204" pitchFamily="18" charset="0"/>
                      </a:rPr>
                      <m:t> 0.2</m:t>
                    </m:r>
                  </m:oMath>
                </a14:m>
                <a:r>
                  <a:rPr lang="en-ZA" sz="1200" b="0" i="0" dirty="0">
                    <a:latin typeface="Cambria Math" panose="02040503050406030204" pitchFamily="18" charset="0"/>
                  </a:rPr>
                  <a:t>, its conjugate </a:t>
                </a:r>
                <a:br>
                  <a:rPr lang="en-US" sz="1200" i="1" dirty="0">
                    <a:latin typeface="Cambria Math" panose="02040503050406030204" pitchFamily="18" charset="0"/>
                  </a:rPr>
                </a:br>
                <a14:m>
                  <m:oMath xmlns:m="http://schemas.openxmlformats.org/officeDocument/2006/math">
                    <m:sSup>
                      <m:sSupPr>
                        <m:ctrlPr>
                          <a:rPr lang="en-US" sz="1200" i="1" smtClean="0">
                            <a:latin typeface="Cambria Math" panose="02040503050406030204" pitchFamily="18" charset="0"/>
                          </a:rPr>
                        </m:ctrlPr>
                      </m:sSupPr>
                      <m:e>
                        <m:r>
                          <m:rPr>
                            <m:sty m:val="p"/>
                          </m:rPr>
                          <a:rPr lang="en-US" sz="1200" i="0">
                            <a:latin typeface="Cambria Math" panose="02040503050406030204" pitchFamily="18" charset="0"/>
                          </a:rPr>
                          <m:t>z</m:t>
                        </m:r>
                      </m:e>
                      <m:sup>
                        <m:r>
                          <a:rPr lang="en-US" sz="1200" i="0">
                            <a:latin typeface="Cambria Math" panose="02040503050406030204" pitchFamily="18" charset="0"/>
                          </a:rPr>
                          <m:t>∗</m:t>
                        </m:r>
                      </m:sup>
                    </m:sSup>
                    <m:r>
                      <a:rPr lang="en-US" sz="1200" b="1" i="0">
                        <a:latin typeface="Cambria Math" panose="02040503050406030204" pitchFamily="18" charset="0"/>
                      </a:rPr>
                      <m:t> </m:t>
                    </m:r>
                    <m:r>
                      <a:rPr lang="en-US" sz="1200" i="0">
                        <a:latin typeface="Cambria Math" panose="02040503050406030204" pitchFamily="18" charset="0"/>
                      </a:rPr>
                      <m:t>=0.3</m:t>
                    </m:r>
                    <m:r>
                      <a:rPr lang="en-US" sz="1200" b="0" i="0" smtClean="0">
                        <a:latin typeface="Cambria Math" panose="02040503050406030204" pitchFamily="18" charset="0"/>
                      </a:rPr>
                      <m:t>−</m:t>
                    </m:r>
                    <m:r>
                      <m:rPr>
                        <m:sty m:val="p"/>
                      </m:rPr>
                      <a:rPr lang="en-US" sz="1200" i="0">
                        <a:latin typeface="Cambria Math" panose="02040503050406030204" pitchFamily="18" charset="0"/>
                      </a:rPr>
                      <m:t>i</m:t>
                    </m:r>
                    <m:r>
                      <a:rPr lang="en-US" sz="1200" i="0">
                        <a:latin typeface="Cambria Math" panose="02040503050406030204" pitchFamily="18" charset="0"/>
                      </a:rPr>
                      <m:t> 0.2</m:t>
                    </m:r>
                  </m:oMath>
                </a14:m>
                <a:r>
                  <a:rPr lang="en-US" sz="1200" b="0" i="0" dirty="0">
                    <a:latin typeface="Cambria Math" panose="02040503050406030204" pitchFamily="18" charset="0"/>
                  </a:rPr>
                  <a:t> and it modulus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𝑧</m:t>
                        </m:r>
                      </m:e>
                    </m:d>
                  </m:oMath>
                </a14:m>
                <a:r>
                  <a:rPr lang="en-US" sz="1200" b="0" i="0" dirty="0">
                    <a:latin typeface="Cambria Math" panose="02040503050406030204" pitchFamily="18" charset="0"/>
                  </a:rPr>
                  <a:t>.</a:t>
                </a:r>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651402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l">
                  <a:buFont typeface="+mj-lt"/>
                  <a:buAutoNum type="arabicPeriod"/>
                </a:pPr>
                <a:r>
                  <a:rPr lang="en-ZA" sz="1200" dirty="0"/>
                  <a:t>A </a:t>
                </a:r>
                <a:r>
                  <a:rPr lang="en-ZA" sz="1200" b="1" dirty="0"/>
                  <a:t>vector</a:t>
                </a:r>
                <a:r>
                  <a:rPr lang="en-ZA" sz="1200" dirty="0"/>
                  <a:t> is an ordered list of numbers called its </a:t>
                </a:r>
                <a:r>
                  <a:rPr lang="en-ZA" sz="1200" b="1" dirty="0"/>
                  <a:t>components</a:t>
                </a:r>
                <a:r>
                  <a:rPr lang="en-ZA" sz="1200" dirty="0"/>
                  <a:t>, commonly arranged in a column and therefore represented as a </a:t>
                </a:r>
                <a:r>
                  <a:rPr lang="en-ZA" sz="1200" b="1" dirty="0"/>
                  <a:t>column vector</a:t>
                </a:r>
                <a:r>
                  <a:rPr lang="en-ZA" sz="1200" dirty="0"/>
                  <a:t>. The number of components determines its dimension. For example, a two-dimensional vector has two components,</a:t>
                </a:r>
                <a:br>
                  <a:rPr lang="en-ZA" sz="1200" dirty="0"/>
                </a:br>
                <a14:m>
                  <m:oMath xmlns:m="http://schemas.openxmlformats.org/officeDocument/2006/math">
                    <m:r>
                      <a:rPr lang="en-US" sz="1200" b="1" i="1" smtClean="0">
                        <a:latin typeface="Cambria Math" panose="02040503050406030204" pitchFamily="18" charset="0"/>
                      </a:rPr>
                      <m:t>𝒙</m:t>
                    </m:r>
                    <m:r>
                      <a:rPr lang="sr-Latn-RS" sz="1200" i="1">
                        <a:latin typeface="Cambria Math" panose="02040503050406030204" pitchFamily="18" charset="0"/>
                      </a:rPr>
                      <m:t>=</m:t>
                    </m:r>
                    <m:d>
                      <m:dPr>
                        <m:ctrlPr>
                          <a:rPr lang="en-ZA" sz="1200" i="1">
                            <a:latin typeface="Cambria Math" panose="02040503050406030204" pitchFamily="18" charset="0"/>
                          </a:rPr>
                        </m:ctrlPr>
                      </m:dPr>
                      <m:e>
                        <m:m>
                          <m:mPr>
                            <m:mcs>
                              <m:mc>
                                <m:mcPr>
                                  <m:count m:val="1"/>
                                  <m:mcJc m:val="center"/>
                                </m:mcPr>
                              </m:mc>
                            </m:mcs>
                            <m:ctrlPr>
                              <a:rPr lang="en-ZA" sz="1200" i="1">
                                <a:latin typeface="Cambria Math" panose="02040503050406030204" pitchFamily="18" charset="0"/>
                              </a:rPr>
                            </m:ctrlPr>
                          </m:mPr>
                          <m:mr>
                            <m:e>
                              <m:r>
                                <a:rPr lang="en-US" sz="1200" b="0" i="1" smtClean="0">
                                  <a:latin typeface="Cambria Math" panose="02040503050406030204" pitchFamily="18" charset="0"/>
                                </a:rPr>
                                <m:t>𝑎</m:t>
                              </m:r>
                            </m:e>
                          </m:mr>
                          <m:mr>
                            <m:e>
                              <m:r>
                                <a:rPr lang="en-US" sz="1200" i="1" smtClean="0">
                                  <a:latin typeface="Cambria Math" panose="02040503050406030204" pitchFamily="18" charset="0"/>
                                </a:rPr>
                                <m:t>𝑏</m:t>
                              </m:r>
                            </m:e>
                          </m:mr>
                        </m:m>
                      </m:e>
                    </m:d>
                  </m:oMath>
                </a14:m>
                <a:br>
                  <a:rPr lang="en-US" sz="1200" b="0" dirty="0"/>
                </a:br>
                <a14:m>
                  <m:oMath xmlns:m="http://schemas.openxmlformats.org/officeDocument/2006/math">
                    <a:fld id="{78805EDA-D1F8-9C4B-9E05-E00C1586D24D}" type="mathplaceholder">
                      <a:rPr lang="en-US" sz="1200" b="0" i="1" smtClean="0">
                        <a:latin typeface="Cambria Math" panose="02040503050406030204" pitchFamily="18" charset="0"/>
                      </a:rPr>
                      <a:t>Type equation here.</a:t>
                    </a:fld>
                  </m:oMath>
                </a14:m>
                <a:r>
                  <a:rPr lang="en-ZA" sz="1200" dirty="0"/>
                  <a:t>When the components are real numbers, a two-dimensional vector can be visualized as an arrow from the origin to the point </a:t>
                </a:r>
                <a14:m>
                  <m:oMath xmlns:m="http://schemas.openxmlformats.org/officeDocument/2006/math">
                    <m:d>
                      <m:dPr>
                        <m:ctrlPr>
                          <a:rPr lang="sr-Latn-RS" sz="1200" i="1" smtClean="0">
                            <a:latin typeface="Cambria Math" panose="02040503050406030204" pitchFamily="18" charset="0"/>
                          </a:rPr>
                        </m:ctrlPr>
                      </m:dPr>
                      <m:e>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i="1" smtClean="0">
                            <a:latin typeface="Cambria Math" panose="02040503050406030204" pitchFamily="18" charset="0"/>
                          </a:rPr>
                          <m:t>𝑏</m:t>
                        </m:r>
                      </m:e>
                    </m:d>
                  </m:oMath>
                </a14:m>
                <a:r>
                  <a:rPr lang="en-ZA" sz="1200" dirty="0"/>
                  <a:t>.</a:t>
                </a:r>
              </a:p>
              <a:p>
                <a:pPr marL="228600" indent="-228600" algn="l">
                  <a:buFont typeface="+mj-lt"/>
                  <a:buAutoNum type="arabicPeriod"/>
                </a:pPr>
                <a:endParaRPr lang="en-ZA" b="0" dirty="0"/>
              </a:p>
              <a:p>
                <a:pPr marL="228600" indent="-228600" algn="l">
                  <a:buFont typeface="+mj-lt"/>
                  <a:buAutoNum type="arabicPeriod"/>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In quantum computing, a vector representing the state of a quantum system is called a </a:t>
                </a:r>
                <a:r>
                  <a:rPr lang="en-ZA" i="1" dirty="0"/>
                  <a:t>state vector</a:t>
                </a:r>
                <a:r>
                  <a:rPr lang="en-ZA" dirty="0"/>
                  <a:t>. State vectors are usually written in bra-ket, or </a:t>
                </a:r>
                <a:r>
                  <a:rPr lang="en-ZA" i="1" dirty="0"/>
                  <a:t>Dirac notation</a:t>
                </a:r>
                <a:r>
                  <a:rPr lang="en-ZA" dirty="0"/>
                  <a:t>, named after physicist Paul Dirac. A column vector is written as ∣x⟩, pronounced “ket x,”. </a:t>
                </a:r>
                <a:r>
                  <a:rPr lang="en-ZA" sz="1200" dirty="0"/>
                  <a:t>Taking the </a:t>
                </a:r>
                <a:r>
                  <a:rPr lang="en-ZA" sz="1200" b="1" dirty="0"/>
                  <a:t>conjugate transpose</a:t>
                </a:r>
                <a:r>
                  <a:rPr lang="en-ZA" sz="1200" dirty="0"/>
                  <a:t> of a ket, which means transposing the column vector into a row vector and taking the complex conjugate of each component, gives the corresponding </a:t>
                </a:r>
                <a:r>
                  <a:rPr lang="en-ZA" sz="1200" b="1" dirty="0"/>
                  <a:t>bra</a:t>
                </a:r>
                <a:r>
                  <a:rPr lang="en-ZA" dirty="0"/>
                  <a:t>.</a:t>
                </a:r>
              </a:p>
              <a:p>
                <a:pPr marL="228600" indent="-228600" algn="l">
                  <a:buFont typeface="+mj-lt"/>
                  <a:buAutoNum type="arabicPeriod"/>
                </a:pPr>
                <a:endParaRPr lang="en-ZA" b="0" dirty="0"/>
              </a:p>
              <a:p>
                <a:pPr marL="228600" indent="-228600" algn="l">
                  <a:buFont typeface="+mj-lt"/>
                  <a:buAutoNum type="arabicPeriod"/>
                </a:pPr>
                <a:r>
                  <a:rPr lang="en-ZA" b="0" dirty="0"/>
                  <a:t>Another property of a state vector is that it always has length, or norm, equal to 1. A vector of length 1 is called a unit vector. We also say that the vector is normalized.</a:t>
                </a:r>
              </a:p>
              <a:p>
                <a:pPr marL="228600" indent="-228600" algn="l">
                  <a:buFont typeface="+mj-lt"/>
                  <a:buAutoNum type="arabicPeriod"/>
                </a:pPr>
                <a:endParaRPr lang="en-ZA" b="0" dirty="0"/>
              </a:p>
              <a:p>
                <a:pPr marL="228600" indent="-228600" algn="l">
                  <a:buFont typeface="+mj-lt"/>
                  <a:buAutoNum type="arabicPeriod"/>
                </a:pPr>
                <a:r>
                  <a:rPr lang="en-ZA" b="0" dirty="0"/>
                  <a:t>There are two special vectors, ∣0⟩ with coordinates (1,0) and ∣1⟩ with coordinates (0,1). These vectors are called basis vectors. The binary labels ∣0⟩ and ∣1⟩ serve only as identifiers. They are simply names for the vectors and are not typically used for binary operations.</a:t>
                </a:r>
              </a:p>
              <a:p>
                <a:pPr marL="228600" indent="-228600" algn="l">
                  <a:buFont typeface="+mj-lt"/>
                  <a:buAutoNum type="arabicPeriod"/>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0" dirty="0"/>
                  <a:t>The 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oMath>
                </a14:m>
                <a:r>
                  <a:rPr lang="en-ZA" b="0" dirty="0"/>
                  <a:t> can be expressed as a linear combination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d>
                      <m:dPr>
                        <m:begChr m:val="|"/>
                        <m:endChr m:val="⟩"/>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0</m:t>
                        </m:r>
                      </m:e>
                    </m:d>
                    <m:r>
                      <a:rPr lang="en-US" sz="1200" b="0" i="1" smtClean="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1</m:t>
                        </m:r>
                      </m:e>
                    </m:d>
                  </m:oMath>
                </a14:m>
                <a:r>
                  <a:rPr lang="en-ZA" b="0" dirty="0"/>
                  <a:t>. A linear combination is formed by multiplying vectors by coefficients and then adding them together. Here, </a:t>
                </a:r>
                <a14:m>
                  <m:oMath xmlns:m="http://schemas.openxmlformats.org/officeDocument/2006/math">
                    <m:r>
                      <a:rPr lang="en-US" sz="1200" b="0" i="1" smtClean="0">
                        <a:solidFill>
                          <a:schemeClr val="tx1"/>
                        </a:solidFill>
                        <a:latin typeface="Cambria Math" panose="02040503050406030204" pitchFamily="18" charset="0"/>
                      </a:rPr>
                      <m:t>𝑎</m:t>
                    </m:r>
                  </m:oMath>
                </a14:m>
                <a:r>
                  <a:rPr lang="en-ZA" b="0" dirty="0"/>
                  <a:t> and </a:t>
                </a:r>
                <a14:m>
                  <m:oMath xmlns:m="http://schemas.openxmlformats.org/officeDocument/2006/math">
                    <m:r>
                      <a:rPr lang="en-US" sz="1200" b="0" i="1" smtClean="0">
                        <a:solidFill>
                          <a:schemeClr val="tx1"/>
                        </a:solidFill>
                        <a:latin typeface="Cambria Math" panose="02040503050406030204" pitchFamily="18" charset="0"/>
                      </a:rPr>
                      <m:t>𝑏</m:t>
                    </m:r>
                  </m:oMath>
                </a14:m>
                <a:r>
                  <a:rPr lang="en-ZA" b="0" dirty="0"/>
                  <a:t> are weights that determine the contributions of the basis vectors ∣0⟩ and ∣1⟩.</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ZA" b="0" dirty="0"/>
              </a:p>
              <a:p>
                <a:pPr marL="228600" indent="-228600" algn="l">
                  <a:buFont typeface="+mj-lt"/>
                  <a:buAutoNum type="arabicPeriod"/>
                </a:pPr>
                <a:r>
                  <a:rPr lang="en-ZA" dirty="0"/>
                  <a:t>By choosing different real values of the coefficients</a:t>
                </a:r>
                <a:r>
                  <a:rPr lang="en-ZA" b="0" dirty="0"/>
                  <a:t> </a:t>
                </a:r>
                <a14:m>
                  <m:oMath xmlns:m="http://schemas.openxmlformats.org/officeDocument/2006/math">
                    <m:r>
                      <a:rPr lang="en-US" b="0" i="1" smtClean="0">
                        <a:latin typeface="Cambria Math" panose="02040503050406030204" pitchFamily="18" charset="0"/>
                      </a:rPr>
                      <m:t>𝑎</m:t>
                    </m:r>
                  </m:oMath>
                </a14:m>
                <a:r>
                  <a:rPr lang="en-ZA" b="0" dirty="0"/>
                  <a:t> and </a:t>
                </a:r>
                <a14:m>
                  <m:oMath xmlns:m="http://schemas.openxmlformats.org/officeDocument/2006/math">
                    <m:r>
                      <a:rPr lang="en-US" b="0" i="1" smtClean="0">
                        <a:latin typeface="Cambria Math" panose="02040503050406030204" pitchFamily="18" charset="0"/>
                      </a:rPr>
                      <m:t>𝑏</m:t>
                    </m:r>
                  </m:oMath>
                </a14:m>
                <a:r>
                  <a:rPr lang="en-ZA" b="0" dirty="0"/>
                  <a:t>, </a:t>
                </a:r>
                <a:r>
                  <a:rPr lang="en-ZA" dirty="0"/>
                  <a:t>infinitely many vectors can be created. Together, these vectors form a vector space.</a:t>
                </a:r>
                <a:endParaRPr lang="en-ZA" b="0" dirty="0"/>
              </a:p>
              <a:p>
                <a:pPr marL="228600" indent="-228600" algn="l">
                  <a:buFont typeface="+mj-lt"/>
                  <a:buAutoNum type="arabicPeriod"/>
                </a:pPr>
                <a:endParaRPr lang="en-ZA" b="0" dirty="0"/>
              </a:p>
              <a:p>
                <a:pPr marL="228600" indent="-228600" algn="l">
                  <a:buFont typeface="+mj-lt"/>
                  <a:buAutoNum type="arabicPeriod"/>
                </a:pPr>
                <a:r>
                  <a:rPr lang="en-ZA" dirty="0"/>
                  <a:t>A vector space is a collection of vectors in which adding two vectors or multiplying a vector by a scalar always produces another vector in the same space.</a:t>
                </a:r>
                <a:endParaRPr lang="en-ZA" b="0" dirty="0"/>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1111952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sz="1200" dirty="0"/>
                  <a:t>A qubit state can be represented both geometrically and algebraically as a vector. Geometrically, it is represented as a directed line segment, while algebraically it is represented as a column vector.</a:t>
                </a:r>
              </a:p>
              <a:p>
                <a:pPr algn="just"/>
                <a:endParaRPr lang="en-ZA" sz="1200" dirty="0"/>
              </a:p>
              <a:p>
                <a:pPr algn="just"/>
                <a:r>
                  <a:rPr lang="en-ZA" sz="1200" dirty="0"/>
                  <a:t>For a single qubit, the unit vectors</a:t>
                </a:r>
              </a:p>
              <a:p>
                <a:pPr algn="just"/>
                <a:endParaRPr lang="en-US" sz="500" dirty="0"/>
              </a:p>
              <a:p>
                <a:pPr algn="just"/>
                <a14:m>
                  <m:oMathPara xmlns:m="http://schemas.openxmlformats.org/officeDocument/2006/math">
                    <m:oMathParaPr>
                      <m:jc m:val="centerGroup"/>
                    </m:oMathParaPr>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d>
                        <m:dPr>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1</m:t>
                                </m:r>
                              </m:e>
                            </m:mr>
                            <m:mr>
                              <m:e>
                                <m:r>
                                  <a:rPr lang="en-US" sz="1200" b="0" i="1" smtClean="0">
                                    <a:latin typeface="Cambria Math" panose="02040503050406030204" pitchFamily="18" charset="0"/>
                                  </a:rPr>
                                  <m:t>0</m:t>
                                </m:r>
                              </m:e>
                            </m:mr>
                          </m:m>
                        </m:e>
                      </m:d>
                      <m:r>
                        <a:rPr lang="en-US" sz="1200" b="0" i="0" smtClean="0">
                          <a:latin typeface="Cambria Math" panose="02040503050406030204" pitchFamily="18" charset="0"/>
                        </a:rPr>
                        <m:t>,  </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m:t>
                      </m:r>
                      <m:d>
                        <m:dPr>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0</m:t>
                                </m:r>
                              </m:e>
                            </m:mr>
                            <m:mr>
                              <m:e>
                                <m:r>
                                  <a:rPr lang="en-US" sz="1200" b="0" i="1" smtClean="0">
                                    <a:latin typeface="Cambria Math" panose="02040503050406030204" pitchFamily="18" charset="0"/>
                                  </a:rPr>
                                  <m:t>1</m:t>
                                </m:r>
                              </m:e>
                            </m:mr>
                          </m:m>
                        </m:e>
                      </m:d>
                    </m:oMath>
                  </m:oMathPara>
                </a14:m>
                <a:endParaRPr lang="en-ZA" sz="1200" dirty="0"/>
              </a:p>
              <a:p>
                <a:pPr algn="just"/>
                <a:endParaRPr lang="en-ZA" sz="500" dirty="0"/>
              </a:p>
              <a:p>
                <a:pPr algn="just"/>
                <a:r>
                  <a:rPr lang="en-ZA" sz="1200" dirty="0"/>
                  <a:t>form a set of </a:t>
                </a:r>
                <a:r>
                  <a:rPr lang="en-ZA" sz="1200" b="1" dirty="0"/>
                  <a:t>basis vectors</a:t>
                </a:r>
                <a:r>
                  <a:rPr lang="en-ZA" sz="1200" dirty="0"/>
                  <a:t>. Their algebraic representations, </a:t>
                </a:r>
                <a14:m>
                  <m:oMath xmlns:m="http://schemas.openxmlformats.org/officeDocument/2006/math">
                    <m:d>
                      <m:dPr>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1</m:t>
                              </m:r>
                            </m:e>
                          </m:mr>
                          <m:mr>
                            <m:e>
                              <m:r>
                                <a:rPr lang="en-US" sz="1200" b="0" i="1" smtClean="0">
                                  <a:latin typeface="Cambria Math" panose="02040503050406030204" pitchFamily="18" charset="0"/>
                                </a:rPr>
                                <m:t>0</m:t>
                              </m:r>
                            </m:e>
                          </m:mr>
                        </m:m>
                      </m:e>
                    </m:d>
                  </m:oMath>
                </a14:m>
                <a:r>
                  <a:rPr lang="en-ZA" sz="1200" dirty="0"/>
                  <a:t> and </a:t>
                </a:r>
                <a14:m>
                  <m:oMath xmlns:m="http://schemas.openxmlformats.org/officeDocument/2006/math">
                    <m:d>
                      <m:dPr>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0</m:t>
                              </m:r>
                            </m:e>
                          </m:mr>
                          <m:mr>
                            <m:e>
                              <m:r>
                                <a:rPr lang="en-US" sz="1200" b="0" i="1" smtClean="0">
                                  <a:latin typeface="Cambria Math" panose="02040503050406030204" pitchFamily="18" charset="0"/>
                                </a:rPr>
                                <m:t>1</m:t>
                              </m:r>
                            </m:e>
                          </m:mr>
                        </m:m>
                      </m:e>
                    </m:d>
                  </m:oMath>
                </a14:m>
                <a:r>
                  <a:rPr lang="en-ZA" sz="1200" dirty="0"/>
                  <a:t> are called </a:t>
                </a:r>
                <a:r>
                  <a:rPr lang="en-ZA" sz="1200" b="1" dirty="0"/>
                  <a:t>column vector</a:t>
                </a:r>
                <a:r>
                  <a:rPr lang="en-ZA" sz="1200" dirty="0"/>
                  <a:t>s. Every qubit state can be expressed as a weighted sum, or </a:t>
                </a:r>
                <a:r>
                  <a:rPr lang="en-ZA" sz="1200" b="1" dirty="0"/>
                  <a:t>linear combination</a:t>
                </a:r>
                <a:r>
                  <a:rPr lang="en-ZA" sz="1200" dirty="0"/>
                  <a:t>, of these basis vectors. :</a:t>
                </a:r>
              </a:p>
              <a:p>
                <a:pPr algn="just"/>
                <a:endParaRPr lang="en-ZA" sz="500" dirty="0"/>
              </a:p>
              <a:p>
                <a:pPr algn="just"/>
                <a14:m>
                  <m:oMathPara xmlns:m="http://schemas.openxmlformats.org/officeDocument/2006/math">
                    <m:oMathParaPr>
                      <m:jc m:val="centerGroup"/>
                    </m:oMathParaPr>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𝑆</m:t>
                          </m:r>
                        </m:e>
                      </m:d>
                      <m:r>
                        <a:rPr lang="en-US" sz="1200" b="0" i="1" smtClean="0">
                          <a:latin typeface="Cambria Math" panose="02040503050406030204" pitchFamily="18" charset="0"/>
                        </a:rPr>
                        <m:t>=</m:t>
                      </m:r>
                      <m:d>
                        <m:dPr>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𝑎</m:t>
                                </m:r>
                              </m:e>
                            </m:mr>
                            <m:mr>
                              <m:e>
                                <m:r>
                                  <a:rPr lang="en-US" sz="1200" b="0" i="1" smtClean="0">
                                    <a:latin typeface="Cambria Math" panose="02040503050406030204" pitchFamily="18" charset="0"/>
                                  </a:rPr>
                                  <m:t>𝑏</m:t>
                                </m:r>
                              </m:e>
                            </m:mr>
                          </m:m>
                        </m:e>
                      </m:d>
                      <m:r>
                        <a:rPr lang="en-US" sz="1200" b="0" i="1" smtClean="0">
                          <a:latin typeface="Cambria Math" panose="02040503050406030204" pitchFamily="18" charset="0"/>
                        </a:rPr>
                        <m:t>=</m:t>
                      </m:r>
                      <m:r>
                        <a:rPr lang="en-US" sz="1200" b="0" i="1" smtClean="0">
                          <a:latin typeface="Cambria Math" panose="02040503050406030204" pitchFamily="18" charset="0"/>
                        </a:rPr>
                        <m:t>𝑎</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r>
                        <a:rPr lang="en-US" sz="1200" b="0" i="1" smtClean="0">
                          <a:latin typeface="Cambria Math" panose="02040503050406030204" pitchFamily="18" charset="0"/>
                        </a:rPr>
                        <m:t>𝑏</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oMath>
                  </m:oMathPara>
                </a14:m>
                <a:endParaRPr lang="en-ZA" sz="1200" dirty="0"/>
              </a:p>
              <a:p>
                <a:pPr algn="just"/>
                <a:endParaRPr lang="en-ZA" sz="1200" dirty="0"/>
              </a:p>
              <a:p>
                <a:pPr algn="just"/>
                <a:r>
                  <a:rPr lang="en-ZA" sz="1200" dirty="0"/>
                  <a:t>The coefficients </a:t>
                </a:r>
                <a14:m>
                  <m:oMath xmlns:m="http://schemas.openxmlformats.org/officeDocument/2006/math">
                    <m:r>
                      <m:rPr>
                        <m:brk m:alnAt="7"/>
                      </m:rPr>
                      <a:rPr lang="en-US" sz="1200" i="1">
                        <a:latin typeface="Cambria Math" panose="02040503050406030204" pitchFamily="18" charset="0"/>
                      </a:rPr>
                      <m:t>𝑎</m:t>
                    </m:r>
                  </m:oMath>
                </a14:m>
                <a:r>
                  <a:rPr lang="en-ZA" sz="1200" dirty="0"/>
                  <a:t> and </a:t>
                </a:r>
                <a14:m>
                  <m:oMath xmlns:m="http://schemas.openxmlformats.org/officeDocument/2006/math">
                    <m:r>
                      <a:rPr lang="en-US" sz="1200" b="0" i="1" smtClean="0">
                        <a:latin typeface="Cambria Math" panose="02040503050406030204" pitchFamily="18" charset="0"/>
                      </a:rPr>
                      <m:t>𝑏</m:t>
                    </m:r>
                  </m:oMath>
                </a14:m>
                <a:r>
                  <a:rPr lang="en-ZA" sz="1200" dirty="0"/>
                  <a:t> determine the contribution of each basis vector to the resulting state vector. This linear combination of basis vectors is called a </a:t>
                </a:r>
                <a:r>
                  <a:rPr lang="en-ZA" sz="1200" b="1" dirty="0"/>
                  <a:t>superposition</a:t>
                </a:r>
                <a:r>
                  <a:rPr lang="en-ZA" sz="1200" dirty="0"/>
                  <a:t>.</a:t>
                </a:r>
              </a:p>
              <a:p>
                <a:pPr algn="just"/>
                <a:endParaRPr lang="en-ZA" sz="500" dirty="0"/>
              </a:p>
              <a:p>
                <a:pPr algn="just"/>
                <a:r>
                  <a:rPr lang="en-ZA" sz="1200" dirty="0"/>
                  <a:t>Geometrically, the linear combination can be viewed as vector addition: the resulting vector is the diagonal of the parallelogram formed by the two scaled basis vectors </a:t>
                </a:r>
                <a14:m>
                  <m:oMath xmlns:m="http://schemas.openxmlformats.org/officeDocument/2006/math">
                    <m:r>
                      <a:rPr lang="en-US" sz="1200" i="1">
                        <a:latin typeface="Cambria Math" panose="02040503050406030204" pitchFamily="18" charset="0"/>
                      </a:rPr>
                      <m:t>𝑎</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oMath>
                </a14:m>
                <a:r>
                  <a:rPr lang="en-ZA" sz="1200" dirty="0"/>
                  <a:t> and </a:t>
                </a:r>
                <a14:m>
                  <m:oMath xmlns:m="http://schemas.openxmlformats.org/officeDocument/2006/math">
                    <m:r>
                      <a:rPr lang="en-US" sz="1200" i="1">
                        <a:latin typeface="Cambria Math" panose="02040503050406030204" pitchFamily="18" charset="0"/>
                      </a:rPr>
                      <m:t>𝑏</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oMath>
                </a14:m>
                <a:r>
                  <a:rPr lang="en-ZA" sz="1200" dirty="0"/>
                  <a:t>.</a:t>
                </a:r>
              </a:p>
              <a:p>
                <a:pPr algn="just"/>
                <a:endParaRPr lang="en-ZA" sz="500" dirty="0"/>
              </a:p>
              <a:p>
                <a:pPr algn="just"/>
                <a:r>
                  <a:rPr lang="en-ZA" sz="1200" dirty="0"/>
                  <a:t>A valid qubit state must have unit length. Applying the Pythagorean theorem gives</a:t>
                </a:r>
              </a:p>
              <a:p>
                <a:pPr algn="just"/>
                <a:endParaRPr lang="en-ZA" sz="500" dirty="0"/>
              </a:p>
              <a:p>
                <a:pPr algn="just"/>
                <a14:m>
                  <m:oMathPara xmlns:m="http://schemas.openxmlformats.org/officeDocument/2006/math">
                    <m:oMathParaPr>
                      <m:jc m:val="centerGroup"/>
                    </m:oMathParaPr>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m:t>
                          </m:r>
                          <m:r>
                            <a:rPr lang="en-US" sz="1200" i="1">
                              <a:latin typeface="Cambria Math" panose="02040503050406030204" pitchFamily="18" charset="0"/>
                            </a:rPr>
                            <m:t>𝑎</m:t>
                          </m:r>
                          <m:r>
                            <a:rPr lang="en-US" sz="1200" i="1">
                              <a:latin typeface="Cambria Math" panose="02040503050406030204" pitchFamily="18" charset="0"/>
                            </a:rPr>
                            <m:t>|</m:t>
                          </m:r>
                        </m:e>
                        <m:sup>
                          <m:r>
                            <a:rPr lang="en-US" sz="1200" i="1">
                              <a:latin typeface="Cambria Math" panose="02040503050406030204" pitchFamily="18" charset="0"/>
                            </a:rPr>
                            <m:t>2</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𝑏</m:t>
                          </m:r>
                          <m:r>
                            <a:rPr lang="en-US" sz="1200" i="1">
                              <a:latin typeface="Cambria Math" panose="02040503050406030204" pitchFamily="18" charset="0"/>
                            </a:rPr>
                            <m:t>|</m:t>
                          </m:r>
                        </m:e>
                        <m:sup>
                          <m:r>
                            <a:rPr lang="en-US" sz="1200" i="1">
                              <a:latin typeface="Cambria Math" panose="02040503050406030204" pitchFamily="18" charset="0"/>
                            </a:rPr>
                            <m:t>2</m:t>
                          </m:r>
                        </m:sup>
                      </m:sSup>
                      <m:r>
                        <a:rPr lang="en-US" sz="1200" i="1">
                          <a:latin typeface="Cambria Math" panose="02040503050406030204" pitchFamily="18" charset="0"/>
                        </a:rPr>
                        <m:t>=1</m:t>
                      </m:r>
                    </m:oMath>
                  </m:oMathPara>
                </a14:m>
                <a:endParaRPr lang="en-ZA" sz="1200" dirty="0"/>
              </a:p>
              <a:p>
                <a:pPr algn="just"/>
                <a:endParaRPr lang="en-ZA" sz="500" dirty="0"/>
              </a:p>
              <a:p>
                <a:pPr algn="just"/>
                <a:r>
                  <a:rPr lang="en-ZA" sz="1200" dirty="0"/>
                  <a:t>This is called the </a:t>
                </a:r>
                <a:r>
                  <a:rPr lang="en-ZA" sz="1200" b="1" dirty="0"/>
                  <a:t>normalization condition</a:t>
                </a:r>
                <a:r>
                  <a:rPr lang="en-ZA" sz="1200" dirty="0"/>
                  <a:t>. In the current two-dimensional geometric representation, all normalized state vectors lie on the unit circle.</a:t>
                </a:r>
              </a:p>
            </p:txBody>
          </p:sp>
        </mc:Choice>
        <mc:Fallback xmlns="">
          <p:sp>
            <p:nvSpPr>
              <p:cNvPr id="3" name="Notes Placeholder 2"/>
              <p:cNvSpPr>
                <a:spLocks noGrp="1"/>
              </p:cNvSpPr>
              <p:nvPr>
                <p:ph type="body" idx="1"/>
              </p:nvPr>
            </p:nvSpPr>
            <p:spPr/>
            <p:txBody>
              <a:bodyPr/>
              <a:lstStyle/>
              <a:p>
                <a:pPr algn="just"/>
                <a:r>
                  <a:rPr lang="en-ZA" b="0" dirty="0"/>
                  <a:t>Any vector on the unit circle can be represented as a weighted sum of basis vectors because they define position in two perpendicular directions. The weights (</a:t>
                </a:r>
                <a:r>
                  <a:rPr lang="sr-Latn-RS" sz="1200" i="0">
                    <a:solidFill>
                      <a:schemeClr val="tx1"/>
                    </a:solidFill>
                    <a:latin typeface="Cambria Math" panose="02040503050406030204" pitchFamily="18" charset="0"/>
                    <a:ea typeface="Cambria Math" panose="02040503050406030204" pitchFamily="18" charset="0"/>
                  </a:rPr>
                  <a:t>𝑎</a:t>
                </a:r>
                <a:r>
                  <a:rPr lang="en-ZA" b="0" dirty="0"/>
                  <a:t> and </a:t>
                </a:r>
                <a:r>
                  <a:rPr lang="en-US" sz="1200" b="0" i="0">
                    <a:solidFill>
                      <a:schemeClr val="tx1"/>
                    </a:solidFill>
                    <a:latin typeface="Cambria Math" panose="02040503050406030204" pitchFamily="18" charset="0"/>
                    <a:ea typeface="Cambria Math" panose="02040503050406030204" pitchFamily="18" charset="0"/>
                  </a:rPr>
                  <a:t>𝑏</a:t>
                </a:r>
                <a:r>
                  <a:rPr lang="en-ZA" b="0" dirty="0"/>
                  <a:t>) determine how much each basis vector contributes to the final vector. By adjusting these weights, any point on the circle can be reached. Geometrically, this corresponds to vector addition, where the resulting vector is the diagonal of the rectangle formed by the two scaled basis vectors.</a:t>
                </a:r>
              </a:p>
              <a:p>
                <a:pPr algn="just"/>
                <a:endParaRPr lang="en-ZA" b="0" dirty="0"/>
              </a:p>
              <a:p>
                <a:pPr algn="just"/>
                <a:r>
                  <a:rPr lang="en-ZA" b="0" dirty="0"/>
                  <a:t>Algebraically, this weighted sum is called a linear combination, which describes a superposition of the basis vectors.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i="0">
                    <a:solidFill>
                      <a:schemeClr val="tx1"/>
                    </a:solidFill>
                    <a:latin typeface="Cambria Math" panose="02040503050406030204" pitchFamily="18" charset="0"/>
                    <a:ea typeface="Cambria Math" panose="02040503050406030204" pitchFamily="18" charset="0"/>
                  </a:rPr>
                  <a:t>|</a:t>
                </a:r>
                <a:r>
                  <a:rPr lang="sr-Latn-RS" sz="1200" i="0">
                    <a:solidFill>
                      <a:schemeClr val="tx1"/>
                    </a:solidFill>
                    <a:latin typeface="Cambria Math" panose="02040503050406030204" pitchFamily="18" charset="0"/>
                    <a:ea typeface="Cambria Math" panose="02040503050406030204" pitchFamily="18" charset="0"/>
                  </a:rPr>
                  <a:t>"S"  ⟩=𝑎</a:t>
                </a:r>
                <a:r>
                  <a:rPr lang="en-US" sz="1200" i="0">
                    <a:solidFill>
                      <a:schemeClr val="tx1"/>
                    </a:solidFill>
                    <a:latin typeface="Cambria Math" panose="02040503050406030204" pitchFamily="18" charset="0"/>
                    <a:ea typeface="Cambria Math" panose="02040503050406030204" pitchFamily="18" charset="0"/>
                  </a:rPr>
                  <a:t>|"0" ⟩</a:t>
                </a:r>
                <a:r>
                  <a:rPr lang="sr-Latn-RS" sz="1200" i="0">
                    <a:solidFill>
                      <a:schemeClr val="tx1"/>
                    </a:solidFill>
                    <a:latin typeface="Cambria Math" panose="02040503050406030204" pitchFamily="18" charset="0"/>
                    <a:ea typeface="Cambria Math" panose="02040503050406030204" pitchFamily="18" charset="0"/>
                  </a:rPr>
                  <a:t>+𝑏</a:t>
                </a:r>
                <a:r>
                  <a:rPr lang="en-US" sz="1200" i="0">
                    <a:solidFill>
                      <a:schemeClr val="tx1"/>
                    </a:solidFill>
                    <a:latin typeface="Cambria Math" panose="02040503050406030204" pitchFamily="18" charset="0"/>
                    <a:ea typeface="Cambria Math" panose="02040503050406030204" pitchFamily="18" charset="0"/>
                  </a:rPr>
                  <a:t>|</a:t>
                </a:r>
                <a:r>
                  <a:rPr lang="sr-Latn-RS" sz="1200" i="0">
                    <a:solidFill>
                      <a:schemeClr val="tx1"/>
                    </a:solidFill>
                    <a:latin typeface="Cambria Math" panose="02040503050406030204" pitchFamily="18" charset="0"/>
                    <a:ea typeface="Cambria Math" panose="02040503050406030204" pitchFamily="18" charset="0"/>
                  </a:rPr>
                  <a:t>"1" ⟩</a:t>
                </a:r>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dirty="0"/>
                  <a:t>According to the Pythagorean theorem, the length of the state vector is given by</a:t>
                </a:r>
                <a:r>
                  <a:rPr lang="en-ZA" b="0" baseline="0" dirty="0"/>
                  <a:t> </a:t>
                </a:r>
                <a:r>
                  <a:rPr lang="en-US" sz="1200" b="0" i="0">
                    <a:latin typeface="Cambria Math" panose="02040503050406030204" pitchFamily="18" charset="0"/>
                  </a:rPr>
                  <a:t>𝑎^2+𝑏^</a:t>
                </a:r>
                <a:r>
                  <a:rPr lang="en-US" sz="1200" i="0">
                    <a:latin typeface="Cambria Math" panose="02040503050406030204" pitchFamily="18" charset="0"/>
                  </a:rPr>
                  <a:t>2</a:t>
                </a:r>
                <a:r>
                  <a:rPr lang="en-US" sz="1200" b="0" i="0">
                    <a:latin typeface="Cambria Math" panose="02040503050406030204" pitchFamily="18" charset="0"/>
                  </a:rPr>
                  <a:t>=1</a:t>
                </a:r>
                <a:r>
                  <a:rPr lang="en-ZA" b="0" dirty="0"/>
                  <a:t>. </a:t>
                </a:r>
                <a:r>
                  <a:rPr lang="en-ZA" dirty="0"/>
                  <a:t>This equation is known as the normalization condition, which states that all vectors representing a qubit state must have a unit length.</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863330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latin typeface="+mn-lt"/>
                  </a:rPr>
                  <a:t>The linear combination</a:t>
                </a:r>
                <a:r>
                  <a:rPr lang="en-ZA" b="0" baseline="0" dirty="0">
                    <a:solidFill>
                      <a:schemeClr val="tx1"/>
                    </a:solidFill>
                    <a:latin typeface="+mn-lt"/>
                  </a:rPr>
                  <a:t>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sr-Latn-RS" sz="1200" b="0" i="1" smtClean="0">
                            <a:solidFill>
                              <a:schemeClr val="tx1"/>
                            </a:solidFill>
                            <a:latin typeface="Cambria Math" panose="02040503050406030204" pitchFamily="18" charset="0"/>
                            <a:ea typeface="Cambria Math" panose="02040503050406030204" pitchFamily="18" charset="0"/>
                          </a:rPr>
                          <m:t>S</m:t>
                        </m:r>
                        <m:r>
                          <a:rPr lang="sr-Latn-RS" sz="1200" b="0" i="1" smtClean="0">
                            <a:solidFill>
                              <a:schemeClr val="tx1"/>
                            </a:solidFill>
                            <a:latin typeface="Cambria Math" panose="02040503050406030204" pitchFamily="18" charset="0"/>
                            <a:ea typeface="Cambria Math" panose="02040503050406030204" pitchFamily="18" charset="0"/>
                          </a:rPr>
                          <m:t> </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i="1" smtClean="0">
                        <a:solidFill>
                          <a:schemeClr val="tx1"/>
                        </a:solidFill>
                        <a:latin typeface="Cambria Math" panose="02040503050406030204" pitchFamily="18" charset="0"/>
                        <a:ea typeface="Cambria Math" panose="02040503050406030204" pitchFamily="18" charset="0"/>
                      </a:rPr>
                      <m:t>𝑎</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en-US" sz="1200">
                            <a:solidFill>
                              <a:schemeClr val="tx1"/>
                            </a:solidFill>
                            <a:latin typeface="Cambria Math" panose="02040503050406030204" pitchFamily="18" charset="0"/>
                            <a:ea typeface="Cambria Math" panose="02040503050406030204" pitchFamily="18" charset="0"/>
                          </a:rPr>
                          <m:t>0</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b="0" i="1" smtClean="0">
                        <a:solidFill>
                          <a:schemeClr val="tx1"/>
                        </a:solidFill>
                        <a:latin typeface="Cambria Math" panose="02040503050406030204" pitchFamily="18" charset="0"/>
                        <a:ea typeface="Cambria Math" panose="02040503050406030204" pitchFamily="18" charset="0"/>
                      </a:rPr>
                      <m:t>𝑏</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sr-Latn-RS" sz="1200" b="0" i="0" smtClean="0">
                            <a:solidFill>
                              <a:schemeClr val="tx1"/>
                            </a:solidFill>
                            <a:latin typeface="Cambria Math" panose="02040503050406030204" pitchFamily="18" charset="0"/>
                            <a:ea typeface="Cambria Math" panose="02040503050406030204" pitchFamily="18" charset="0"/>
                          </a:rPr>
                          <m:t>1</m:t>
                        </m:r>
                      </m:e>
                    </m:d>
                  </m:oMath>
                </a14:m>
                <a:r>
                  <a:rPr lang="en-ZA" b="0" dirty="0">
                    <a:solidFill>
                      <a:schemeClr val="tx1"/>
                    </a:solidFill>
                    <a:latin typeface="+mn-lt"/>
                  </a:rPr>
                  <a:t> </a:t>
                </a:r>
                <a:r>
                  <a:rPr lang="en-ZA" dirty="0">
                    <a:solidFill>
                      <a:schemeClr val="tx1"/>
                    </a:solidFill>
                  </a:rPr>
                  <a:t>is fundamental in quantum computing, as it describes a qubit's state in superposition.</a:t>
                </a:r>
                <a:r>
                  <a:rPr lang="en-US" sz="1200" b="0" baseline="0" dirty="0">
                    <a:solidFill>
                      <a:schemeClr val="tx1"/>
                    </a:solidFill>
                    <a:latin typeface="+mn-lt"/>
                  </a:rPr>
                  <a:t> </a:t>
                </a:r>
                <a:r>
                  <a:rPr lang="en-ZA" dirty="0">
                    <a:solidFill>
                      <a:schemeClr val="tx1"/>
                    </a:solidFill>
                  </a:rPr>
                  <a:t>In this course, we will label a general state vector as</a:t>
                </a:r>
                <a:r>
                  <a:rPr lang="en-US" sz="1200" b="0" i="0" dirty="0">
                    <a:solidFill>
                      <a:schemeClr val="tx1"/>
                    </a:solidFill>
                    <a:latin typeface="+mn-lt"/>
                    <a:ea typeface="Cambria Math" panose="02040503050406030204" pitchFamily="18" charset="0"/>
                  </a:rPr>
                  <a:t>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sr-Latn-RS" sz="1200" b="0" i="1" smtClean="0">
                            <a:solidFill>
                              <a:schemeClr val="tx1"/>
                            </a:solidFill>
                            <a:latin typeface="Cambria Math" panose="02040503050406030204" pitchFamily="18" charset="0"/>
                            <a:ea typeface="Cambria Math" panose="02040503050406030204" pitchFamily="18" charset="0"/>
                          </a:rPr>
                          <m:t>S</m:t>
                        </m:r>
                        <m:r>
                          <a:rPr lang="sr-Latn-RS" sz="1200" b="0" i="1" smtClean="0">
                            <a:solidFill>
                              <a:schemeClr val="tx1"/>
                            </a:solidFill>
                            <a:latin typeface="Cambria Math" panose="02040503050406030204" pitchFamily="18" charset="0"/>
                            <a:ea typeface="Cambria Math" panose="02040503050406030204" pitchFamily="18" charset="0"/>
                          </a:rPr>
                          <m:t> </m:t>
                        </m:r>
                      </m:e>
                    </m:d>
                  </m:oMath>
                </a14:m>
                <a:r>
                  <a:rPr lang="en-US" sz="1200" b="0" i="0" dirty="0">
                    <a:solidFill>
                      <a:schemeClr val="tx1"/>
                    </a:solidFill>
                    <a:latin typeface="+mn-lt"/>
                    <a:ea typeface="Cambria Math" panose="02040503050406030204" pitchFamily="18" charset="0"/>
                  </a:rPr>
                  <a:t>. </a:t>
                </a:r>
                <a:r>
                  <a:rPr lang="en-ZA" dirty="0">
                    <a:solidFill>
                      <a:schemeClr val="tx1"/>
                    </a:solidFill>
                  </a:rPr>
                  <a:t>Greek letters such as</a:t>
                </a:r>
                <a:r>
                  <a:rPr lang="en-ZA" b="0" dirty="0">
                    <a:solidFill>
                      <a:schemeClr val="tx1"/>
                    </a:solidFill>
                    <a:latin typeface="+mn-lt"/>
                  </a:rPr>
                  <a:t> </a:t>
                </a:r>
                <a14:m>
                  <m:oMath xmlns:m="http://schemas.openxmlformats.org/officeDocument/2006/math">
                    <m:r>
                      <m:rPr>
                        <m:sty m:val="p"/>
                      </m:rPr>
                      <a:rPr lang="el-GR" b="0" i="1" dirty="0" smtClean="0">
                        <a:solidFill>
                          <a:schemeClr val="tx1"/>
                        </a:solidFill>
                        <a:latin typeface="Cambria Math" panose="02040503050406030204" pitchFamily="18" charset="0"/>
                        <a:ea typeface="Cambria Math" panose="02040503050406030204" pitchFamily="18" charset="0"/>
                      </a:rPr>
                      <m:t>ψ</m:t>
                    </m:r>
                    <m:r>
                      <a:rPr lang="en-US" b="0" i="0" dirty="0" smtClean="0">
                        <a:solidFill>
                          <a:schemeClr val="tx1"/>
                        </a:solidFill>
                        <a:latin typeface="Cambria Math" panose="02040503050406030204" pitchFamily="18" charset="0"/>
                        <a:ea typeface="Cambria Math" panose="02040503050406030204" pitchFamily="18" charset="0"/>
                      </a:rPr>
                      <m:t>, </m:t>
                    </m:r>
                    <m:r>
                      <a:rPr lang="el-GR" b="0" i="1" dirty="0" smtClean="0">
                        <a:solidFill>
                          <a:schemeClr val="tx1"/>
                        </a:solidFill>
                        <a:latin typeface="Cambria Math" panose="02040503050406030204" pitchFamily="18" charset="0"/>
                        <a:ea typeface="Cambria Math" panose="02040503050406030204" pitchFamily="18" charset="0"/>
                      </a:rPr>
                      <m:t>𝜙</m:t>
                    </m:r>
                    <m:r>
                      <a:rPr lang="en-US" b="0" i="1" dirty="0" smtClean="0">
                        <a:solidFill>
                          <a:schemeClr val="tx1"/>
                        </a:solidFill>
                        <a:latin typeface="Cambria Math" panose="02040503050406030204" pitchFamily="18" charset="0"/>
                        <a:ea typeface="Cambria Math" panose="02040503050406030204" pitchFamily="18" charset="0"/>
                      </a:rPr>
                      <m:t>,</m:t>
                    </m:r>
                    <m:r>
                      <a:rPr lang="sr-Latn-RS" sz="1200" i="1" smtClean="0">
                        <a:solidFill>
                          <a:schemeClr val="tx1"/>
                        </a:solidFill>
                        <a:latin typeface="Cambria Math" panose="02040503050406030204" pitchFamily="18" charset="0"/>
                        <a:ea typeface="Cambria Math" panose="02040503050406030204" pitchFamily="18" charset="0"/>
                      </a:rPr>
                      <m:t>𝛼</m:t>
                    </m:r>
                    <m:r>
                      <a:rPr lang="en-US" sz="1200" b="0" i="1" smtClean="0">
                        <a:solidFill>
                          <a:schemeClr val="tx1"/>
                        </a:solidFill>
                        <a:latin typeface="Cambria Math" panose="02040503050406030204" pitchFamily="18" charset="0"/>
                        <a:ea typeface="Cambria Math" panose="02040503050406030204" pitchFamily="18" charset="0"/>
                      </a:rPr>
                      <m:t>,</m:t>
                    </m:r>
                    <m:r>
                      <a:rPr lang="sr-Latn-RS" sz="1200" b="0" i="1" smtClean="0">
                        <a:solidFill>
                          <a:schemeClr val="tx1"/>
                        </a:solidFill>
                        <a:latin typeface="Cambria Math" panose="02040503050406030204" pitchFamily="18" charset="0"/>
                        <a:ea typeface="Cambria Math" panose="02040503050406030204" pitchFamily="18" charset="0"/>
                      </a:rPr>
                      <m:t>𝛽</m:t>
                    </m:r>
                  </m:oMath>
                </a14:m>
                <a:r>
                  <a:rPr lang="en-ZA" dirty="0">
                    <a:solidFill>
                      <a:schemeClr val="tx1"/>
                    </a:solidFill>
                  </a:rPr>
                  <a:t> are also commonly used in scientific literature</a:t>
                </a:r>
                <a:r>
                  <a:rPr lang="en-ZA" b="0" baseline="0" dirty="0">
                    <a:solidFill>
                      <a:schemeClr val="tx1"/>
                    </a:solidFill>
                    <a:latin typeface="+mn-lt"/>
                  </a:rPr>
                  <a:t> e.g.,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sty m:val="p"/>
                          </m:rPr>
                          <a:rPr lang="el-GR" b="0" i="1" dirty="0" smtClean="0">
                            <a:solidFill>
                              <a:schemeClr val="tx1"/>
                            </a:solidFill>
                            <a:latin typeface="Cambria Math" panose="02040503050406030204" pitchFamily="18" charset="0"/>
                            <a:ea typeface="Cambria Math" panose="02040503050406030204" pitchFamily="18" charset="0"/>
                          </a:rPr>
                          <m:t>ψ</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i="1" smtClean="0">
                        <a:solidFill>
                          <a:schemeClr val="tx1"/>
                        </a:solidFill>
                        <a:latin typeface="Cambria Math" panose="02040503050406030204" pitchFamily="18" charset="0"/>
                        <a:ea typeface="Cambria Math" panose="02040503050406030204" pitchFamily="18" charset="0"/>
                      </a:rPr>
                      <m:t>𝛼</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en-US" sz="1200">
                            <a:solidFill>
                              <a:schemeClr val="tx1"/>
                            </a:solidFill>
                            <a:latin typeface="Cambria Math" panose="02040503050406030204" pitchFamily="18" charset="0"/>
                            <a:ea typeface="Cambria Math" panose="02040503050406030204" pitchFamily="18" charset="0"/>
                          </a:rPr>
                          <m:t>0</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b="0" i="1" smtClean="0">
                        <a:solidFill>
                          <a:schemeClr val="tx1"/>
                        </a:solidFill>
                        <a:latin typeface="Cambria Math" panose="02040503050406030204" pitchFamily="18" charset="0"/>
                        <a:ea typeface="Cambria Math" panose="02040503050406030204" pitchFamily="18" charset="0"/>
                      </a:rPr>
                      <m:t>𝛽</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m:rPr>
                            <m:nor/>
                          </m:rPr>
                          <a:rPr lang="sr-Latn-RS" sz="1200" b="0" i="0" smtClean="0">
                            <a:solidFill>
                              <a:schemeClr val="tx1"/>
                            </a:solidFill>
                            <a:latin typeface="Cambria Math" panose="02040503050406030204" pitchFamily="18" charset="0"/>
                            <a:ea typeface="Cambria Math" panose="02040503050406030204" pitchFamily="18" charset="0"/>
                          </a:rPr>
                          <m:t>1</m:t>
                        </m:r>
                      </m:e>
                    </m:d>
                  </m:oMath>
                </a14:m>
                <a:r>
                  <a:rPr lang="en-ZA" b="0" dirty="0">
                    <a:solidFill>
                      <a:schemeClr val="tx1"/>
                    </a:solidFill>
                    <a:latin typeface="+mn-lt"/>
                  </a:rPr>
                  <a:t>.</a:t>
                </a:r>
              </a:p>
              <a:p>
                <a:pPr algn="just"/>
                <a:endParaRPr lang="en-ZA" b="0" dirty="0">
                  <a:solidFill>
                    <a:schemeClr val="tx1"/>
                  </a:solidFill>
                  <a:latin typeface="+mn-lt"/>
                </a:endParaRPr>
              </a:p>
              <a:p>
                <a:pPr algn="just"/>
                <a:r>
                  <a:rPr lang="en-ZA" b="0" dirty="0">
                    <a:solidFill>
                      <a:schemeClr val="tx1"/>
                    </a:solidFill>
                    <a:latin typeface="+mn-lt"/>
                  </a:rPr>
                  <a:t>The coefficients </a:t>
                </a:r>
                <a14:m>
                  <m:oMath xmlns:m="http://schemas.openxmlformats.org/officeDocument/2006/math">
                    <m:r>
                      <a:rPr lang="sr-Latn-RS" sz="1200" i="1" smtClean="0">
                        <a:solidFill>
                          <a:schemeClr val="tx1"/>
                        </a:solidFill>
                        <a:latin typeface="Cambria Math" panose="02040503050406030204" pitchFamily="18" charset="0"/>
                        <a:ea typeface="Cambria Math" panose="02040503050406030204" pitchFamily="18" charset="0"/>
                      </a:rPr>
                      <m:t>𝑎</m:t>
                    </m:r>
                  </m:oMath>
                </a14:m>
                <a:r>
                  <a:rPr lang="en-ZA" b="0" dirty="0">
                    <a:solidFill>
                      <a:schemeClr val="tx1"/>
                    </a:solidFill>
                    <a:latin typeface="+mn-lt"/>
                  </a:rPr>
                  <a:t> and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𝑏</m:t>
                    </m:r>
                  </m:oMath>
                </a14:m>
                <a:r>
                  <a:rPr lang="en-ZA" b="0" dirty="0">
                    <a:solidFill>
                      <a:schemeClr val="tx1"/>
                    </a:solidFill>
                    <a:latin typeface="+mn-lt"/>
                  </a:rPr>
                  <a:t>, </a:t>
                </a:r>
                <a:r>
                  <a:rPr lang="en-ZA" dirty="0">
                    <a:solidFill>
                      <a:schemeClr val="tx1"/>
                    </a:solidFill>
                  </a:rPr>
                  <a:t>which we visualized as the state vector’s coordinates, are generally complex numbers known as probability amplitudes.</a:t>
                </a:r>
                <a:endParaRPr lang="en-ZA" b="0" dirty="0">
                  <a:solidFill>
                    <a:schemeClr val="tx1"/>
                  </a:solidFill>
                  <a:latin typeface="+mn-lt"/>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baseline="0" dirty="0">
                  <a:solidFill>
                    <a:schemeClr val="tx1"/>
                  </a:solidFill>
                  <a:latin typeface="+mn-lt"/>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baseline="0" dirty="0">
                  <a:solidFill>
                    <a:schemeClr val="tx1"/>
                  </a:solidFill>
                  <a:latin typeface="+mn-lt"/>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Ključni </a:t>
                </a:r>
                <a:r>
                  <a:rPr lang="en-US" dirty="0" err="1"/>
                  <a:t>izraz</a:t>
                </a:r>
                <a:r>
                  <a:rPr lang="en-US" dirty="0"/>
                  <a:t> u </a:t>
                </a:r>
                <a:r>
                  <a:rPr lang="en-US" dirty="0" err="1"/>
                  <a:t>kvantnom</a:t>
                </a:r>
                <a:r>
                  <a:rPr lang="en-US" dirty="0"/>
                  <a:t> </a:t>
                </a:r>
                <a:r>
                  <a:rPr lang="en-US" dirty="0" err="1"/>
                  <a:t>računarstvu</a:t>
                </a:r>
                <a:r>
                  <a:rPr lang="en-US" dirty="0"/>
                  <a:t> </a:t>
                </a:r>
                <a:r>
                  <a:rPr lang="en-US" dirty="0" err="1"/>
                  <a:t>je</a:t>
                </a:r>
                <a:r>
                  <a:rPr lang="en-US" dirty="0"/>
                  <a:t> </a:t>
                </a:r>
                <a:r>
                  <a:rPr lang="en-US" dirty="0" err="1"/>
                  <a:t>izraz</a:t>
                </a:r>
                <a:r>
                  <a:rPr lang="en-US" dirty="0"/>
                  <a:t> </a:t>
                </a:r>
                <a:r>
                  <a:rPr lang="en-US" dirty="0" err="1"/>
                  <a:t>koji</a:t>
                </a:r>
                <a:r>
                  <a:rPr lang="en-US" dirty="0"/>
                  <a:t> </a:t>
                </a:r>
                <a:r>
                  <a:rPr lang="en-US" dirty="0" err="1"/>
                  <a:t>opisuje</a:t>
                </a:r>
                <a:r>
                  <a:rPr lang="en-US" dirty="0"/>
                  <a:t> </a:t>
                </a:r>
                <a:r>
                  <a:rPr lang="en-US" dirty="0" err="1"/>
                  <a:t>stanje</a:t>
                </a:r>
                <a:r>
                  <a:rPr lang="en-US" dirty="0"/>
                  <a:t> kubita u </a:t>
                </a:r>
                <a:r>
                  <a:rPr lang="en-US" dirty="0" err="1"/>
                  <a:t>superpoziciji</a:t>
                </a:r>
                <a:r>
                  <a:rPr lang="en-US" dirty="0"/>
                  <a:t> </a:t>
                </a:r>
                <a:r>
                  <a:rPr lang="en-US" dirty="0" err="1"/>
                  <a:t>kao</a:t>
                </a:r>
                <a:r>
                  <a:rPr lang="en-US" dirty="0"/>
                  <a:t> </a:t>
                </a:r>
                <a:r>
                  <a:rPr lang="en-US" dirty="0" err="1"/>
                  <a:t>linearnu</a:t>
                </a:r>
                <a:r>
                  <a:rPr lang="en-US" dirty="0"/>
                  <a:t> </a:t>
                </a:r>
                <a:r>
                  <a:rPr lang="en-US" dirty="0" err="1"/>
                  <a:t>kombinaciju</a:t>
                </a:r>
                <a:r>
                  <a:rPr lang="en-US" baseline="0" dirty="0"/>
                  <a:t> </a:t>
                </a: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"S" ⟩</a:t>
                </a:r>
                <a:r>
                  <a:rPr lang="sr-Latn-RS" sz="1200" b="0" i="0">
                    <a:latin typeface="Cambria Math" panose="02040503050406030204" pitchFamily="18" charset="0"/>
                    <a:ea typeface="Cambria Math" panose="02040503050406030204" pitchFamily="18" charset="0"/>
                  </a:rPr>
                  <a:t>=</a:t>
                </a:r>
                <a:r>
                  <a:rPr lang="sr-Latn-RS" sz="1200" i="0">
                    <a:solidFill>
                      <a:srgbClr val="0000FF"/>
                    </a:solidFill>
                    <a:latin typeface="Cambria Math" panose="02040503050406030204" pitchFamily="18" charset="0"/>
                    <a:ea typeface="Cambria Math" panose="02040503050406030204" pitchFamily="18" charset="0"/>
                  </a:rPr>
                  <a:t>𝑎</a:t>
                </a:r>
                <a:r>
                  <a:rPr lang="en-US" sz="1200" i="0">
                    <a:solidFill>
                      <a:schemeClr val="accent6">
                        <a:lumMod val="50000"/>
                      </a:schemeClr>
                    </a:solidFill>
                    <a:latin typeface="Cambria Math" panose="02040503050406030204" pitchFamily="18" charset="0"/>
                    <a:ea typeface="Cambria Math" panose="02040503050406030204" pitchFamily="18" charset="0"/>
                  </a:rPr>
                  <a:t>|"0" ⟩</a:t>
                </a:r>
                <a:r>
                  <a:rPr lang="sr-Latn-RS" sz="1200" b="0" i="0">
                    <a:latin typeface="Cambria Math" panose="02040503050406030204" pitchFamily="18" charset="0"/>
                    <a:ea typeface="Cambria Math" panose="02040503050406030204" pitchFamily="18" charset="0"/>
                  </a:rPr>
                  <a:t>+</a:t>
                </a:r>
                <a:r>
                  <a:rPr lang="sr-Latn-RS" sz="1200" b="0" i="0">
                    <a:solidFill>
                      <a:srgbClr val="0000FF"/>
                    </a:solidFill>
                    <a:latin typeface="Cambria Math" panose="02040503050406030204" pitchFamily="18" charset="0"/>
                    <a:ea typeface="Cambria Math" panose="02040503050406030204" pitchFamily="18" charset="0"/>
                  </a:rPr>
                  <a:t>𝑏</a:t>
                </a:r>
                <a:r>
                  <a:rPr lang="en-US" sz="1200" i="0">
                    <a:solidFill>
                      <a:schemeClr val="accent6">
                        <a:lumMod val="50000"/>
                      </a:schemeClr>
                    </a:solidFill>
                    <a:latin typeface="Cambria Math" panose="02040503050406030204" pitchFamily="18" charset="0"/>
                    <a:ea typeface="Cambria Math" panose="02040503050406030204" pitchFamily="18" charset="0"/>
                  </a:rPr>
                  <a:t>|</a:t>
                </a:r>
                <a:r>
                  <a:rPr lang="sr-Latn-RS" sz="1200" b="0" i="0">
                    <a:solidFill>
                      <a:schemeClr val="accent6">
                        <a:lumMod val="50000"/>
                      </a:schemeClr>
                    </a:solidFill>
                    <a:latin typeface="Cambria Math" panose="02040503050406030204" pitchFamily="18" charset="0"/>
                    <a:ea typeface="Cambria Math" panose="02040503050406030204" pitchFamily="18" charset="0"/>
                  </a:rPr>
                  <a:t>"1" ⟩</a:t>
                </a:r>
                <a:r>
                  <a:rPr lang="en-US" sz="1200" dirty="0"/>
                  <a:t>. </a:t>
                </a:r>
                <a:endParaRPr lang="sr-Latn-RS" sz="1200" i="1" dirty="0">
                  <a:solidFill>
                    <a:srgbClr val="C00000"/>
                  </a:solidFill>
                  <a:latin typeface="Cambria Math" panose="02040503050406030204" pitchFamily="18" charset="0"/>
                  <a:ea typeface="Cambria Math" panose="020405030504060302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"S" ⟩</a:t>
                </a:r>
                <a:r>
                  <a:rPr lang="en-US" sz="1200" dirty="0"/>
                  <a:t> </a:t>
                </a:r>
                <a:r>
                  <a:rPr lang="en-US" sz="1200" dirty="0" err="1"/>
                  <a:t>je</a:t>
                </a:r>
                <a:r>
                  <a:rPr lang="en-US" sz="1200" dirty="0"/>
                  <a:t> </a:t>
                </a:r>
                <a:r>
                  <a:rPr lang="en-US" sz="1200" dirty="0" err="1"/>
                  <a:t>vektor</a:t>
                </a:r>
                <a:r>
                  <a:rPr lang="en-US" sz="1200" dirty="0"/>
                  <a:t> </a:t>
                </a:r>
                <a:r>
                  <a:rPr lang="en-US" sz="1200" dirty="0" err="1"/>
                  <a:t>kvantnog</a:t>
                </a:r>
                <a:r>
                  <a:rPr lang="en-US" sz="1200" dirty="0"/>
                  <a:t> </a:t>
                </a:r>
                <a:r>
                  <a:rPr lang="en-US" sz="1200" dirty="0" err="1"/>
                  <a:t>stanja</a:t>
                </a:r>
                <a:r>
                  <a:rPr lang="en-US" sz="1200" dirty="0"/>
                  <a:t> kubita. U </a:t>
                </a:r>
                <a:r>
                  <a:rPr lang="en-US" sz="1200" dirty="0" err="1"/>
                  <a:t>ovom</a:t>
                </a:r>
                <a:r>
                  <a:rPr lang="en-US" sz="1200" dirty="0"/>
                  <a:t> </a:t>
                </a:r>
                <a:r>
                  <a:rPr lang="en-US" sz="1200" dirty="0" err="1"/>
                  <a:t>kursu</a:t>
                </a:r>
                <a:r>
                  <a:rPr lang="en-US" sz="1200" dirty="0"/>
                  <a:t> </a:t>
                </a:r>
                <a:r>
                  <a:rPr lang="en-US" sz="1200" dirty="0" err="1"/>
                  <a:t>koristićemo</a:t>
                </a:r>
                <a:r>
                  <a:rPr lang="en-US" sz="1200" dirty="0"/>
                  <a:t> </a:t>
                </a:r>
                <a:r>
                  <a:rPr lang="en-US" sz="1200" dirty="0" err="1"/>
                  <a:t>slovo</a:t>
                </a:r>
                <a:r>
                  <a:rPr lang="en-US" sz="1200" dirty="0"/>
                  <a:t> S </a:t>
                </a:r>
                <a:r>
                  <a:rPr lang="en-US" sz="1200" dirty="0" err="1"/>
                  <a:t>za</a:t>
                </a:r>
                <a:r>
                  <a:rPr lang="en-US" sz="1200" dirty="0"/>
                  <a:t> </a:t>
                </a:r>
                <a:r>
                  <a:rPr lang="en-US" sz="1200" dirty="0" err="1"/>
                  <a:t>njegovo</a:t>
                </a:r>
                <a:r>
                  <a:rPr lang="en-US" sz="1200" dirty="0"/>
                  <a:t> </a:t>
                </a:r>
                <a:r>
                  <a:rPr lang="en-US" sz="1200" dirty="0" err="1"/>
                  <a:t>označavanje</a:t>
                </a:r>
                <a:r>
                  <a:rPr lang="en-US" sz="1200" dirty="0"/>
                  <a:t>. U </a:t>
                </a:r>
                <a:r>
                  <a:rPr lang="en-US" sz="1200" dirty="0" err="1"/>
                  <a:t>literaturi</a:t>
                </a:r>
                <a:r>
                  <a:rPr lang="en-US" sz="1200" baseline="0" dirty="0"/>
                  <a:t> se </a:t>
                </a:r>
                <a:r>
                  <a:rPr lang="en-US" sz="1200" baseline="0" dirty="0" err="1"/>
                  <a:t>koriste</a:t>
                </a:r>
                <a:r>
                  <a:rPr lang="en-US" sz="1200" baseline="0" dirty="0"/>
                  <a:t> </a:t>
                </a:r>
                <a:r>
                  <a:rPr lang="en-US" sz="1200" baseline="0" dirty="0" err="1"/>
                  <a:t>i</a:t>
                </a:r>
                <a:r>
                  <a:rPr lang="en-US" sz="1200" baseline="0" dirty="0"/>
                  <a:t> </a:t>
                </a:r>
                <a:r>
                  <a:rPr lang="en-US" sz="1200" baseline="0" dirty="0" err="1"/>
                  <a:t>velika</a:t>
                </a:r>
                <a:r>
                  <a:rPr lang="en-US" sz="1200" baseline="0" dirty="0"/>
                  <a:t> </a:t>
                </a:r>
                <a:r>
                  <a:rPr lang="en-US" sz="1200" baseline="0" dirty="0" err="1"/>
                  <a:t>grčka</a:t>
                </a:r>
                <a:r>
                  <a:rPr lang="en-US" sz="1200" baseline="0" dirty="0"/>
                  <a:t> </a:t>
                </a:r>
                <a:r>
                  <a:rPr lang="en-US" sz="1200" baseline="0" dirty="0" err="1"/>
                  <a:t>slova</a:t>
                </a:r>
                <a:r>
                  <a:rPr lang="en-US" sz="1200" baseline="0" dirty="0"/>
                  <a:t> </a:t>
                </a:r>
                <a:r>
                  <a:rPr lang="el-GR" sz="1200" b="0" i="0">
                    <a:solidFill>
                      <a:schemeClr val="accent6">
                        <a:lumMod val="50000"/>
                      </a:schemeClr>
                    </a:solidFill>
                    <a:latin typeface="Cambria Math" panose="02040503050406030204" pitchFamily="18" charset="0"/>
                    <a:ea typeface="Cambria Math" panose="02040503050406030204" pitchFamily="18" charset="0"/>
                  </a:rPr>
                  <a:t>𝛹</a:t>
                </a:r>
                <a:r>
                  <a:rPr lang="sr-Latn-RS" sz="1200" b="0" i="0">
                    <a:solidFill>
                      <a:schemeClr val="accent6">
                        <a:lumMod val="50000"/>
                      </a:schemeClr>
                    </a:solidFill>
                    <a:latin typeface="Cambria Math" panose="02040503050406030204" pitchFamily="18" charset="0"/>
                    <a:ea typeface="Cambria Math" panose="02040503050406030204" pitchFamily="18" charset="0"/>
                  </a:rPr>
                  <a:t>,</a:t>
                </a:r>
                <a:r>
                  <a:rPr lang="el-GR" sz="1200" b="0" i="0">
                    <a:solidFill>
                      <a:schemeClr val="accent6">
                        <a:lumMod val="50000"/>
                      </a:schemeClr>
                    </a:solidFill>
                    <a:latin typeface="Cambria Math" panose="02040503050406030204" pitchFamily="18" charset="0"/>
                    <a:ea typeface="Cambria Math" panose="02040503050406030204" pitchFamily="18" charset="0"/>
                  </a:rPr>
                  <a:t>𝜙</a:t>
                </a:r>
                <a:r>
                  <a:rPr lang="en-US" sz="1200" dirty="0"/>
                  <a:t>. </a:t>
                </a:r>
                <a:r>
                  <a:rPr lang="en-US" sz="1200" dirty="0" err="1"/>
                  <a:t>Ovaj</a:t>
                </a:r>
                <a:r>
                  <a:rPr lang="en-US" sz="1200" dirty="0"/>
                  <a:t> </a:t>
                </a:r>
                <a:r>
                  <a:rPr lang="en-US" sz="1200" dirty="0" err="1"/>
                  <a:t>vektor</a:t>
                </a:r>
                <a:r>
                  <a:rPr lang="en-US" sz="1200" dirty="0"/>
                  <a:t> </a:t>
                </a:r>
                <a:r>
                  <a:rPr lang="en-US" sz="1200" dirty="0" err="1"/>
                  <a:t>je</a:t>
                </a:r>
                <a:r>
                  <a:rPr lang="en-US" sz="1200" dirty="0"/>
                  <a:t> </a:t>
                </a:r>
                <a:r>
                  <a:rPr lang="en-US" sz="1200" dirty="0" err="1"/>
                  <a:t>apstrakcija</a:t>
                </a:r>
                <a:r>
                  <a:rPr lang="en-US" sz="1200" dirty="0"/>
                  <a:t> </a:t>
                </a:r>
                <a:r>
                  <a:rPr lang="en-US" sz="1200" dirty="0" err="1"/>
                  <a:t>fizičkog</a:t>
                </a:r>
                <a:r>
                  <a:rPr lang="en-US" sz="1200" dirty="0"/>
                  <a:t> </a:t>
                </a:r>
                <a:r>
                  <a:rPr lang="en-US" sz="1200" dirty="0" err="1"/>
                  <a:t>stanja</a:t>
                </a:r>
                <a:r>
                  <a:rPr lang="en-US" sz="1200" dirty="0"/>
                  <a:t> kubita, </a:t>
                </a:r>
                <a:r>
                  <a:rPr lang="en-US" sz="1200" dirty="0" err="1"/>
                  <a:t>na</a:t>
                </a:r>
                <a:r>
                  <a:rPr lang="en-US" sz="1200" dirty="0"/>
                  <a:t> primer </a:t>
                </a:r>
                <a:r>
                  <a:rPr lang="en-US" sz="1200" dirty="0" err="1"/>
                  <a:t>energije</a:t>
                </a:r>
                <a:r>
                  <a:rPr lang="en-US" sz="1200" dirty="0"/>
                  <a:t> </a:t>
                </a:r>
                <a:r>
                  <a:rPr lang="en-US" sz="1200" dirty="0" err="1"/>
                  <a:t>atoma</a:t>
                </a:r>
                <a:r>
                  <a:rPr lang="en-US" sz="1200" dirty="0"/>
                  <a:t> </a:t>
                </a:r>
                <a:r>
                  <a:rPr lang="en-US" sz="1200" dirty="0" err="1"/>
                  <a:t>ili</a:t>
                </a:r>
                <a:r>
                  <a:rPr lang="en-US" sz="1200" dirty="0"/>
                  <a:t> </a:t>
                </a:r>
                <a:r>
                  <a:rPr lang="en-US" sz="1200" dirty="0" err="1"/>
                  <a:t>polarizacije</a:t>
                </a:r>
                <a:r>
                  <a:rPr lang="en-US" sz="1200" dirty="0"/>
                  <a:t> </a:t>
                </a:r>
                <a:r>
                  <a:rPr lang="en-US" sz="1200" dirty="0" err="1"/>
                  <a:t>svetlosti</a:t>
                </a:r>
                <a:r>
                  <a:rPr lang="en-US" sz="1200"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"0" ⟩</a:t>
                </a:r>
                <a:r>
                  <a:rPr lang="en-US" sz="1200" dirty="0"/>
                  <a:t> i </a:t>
                </a: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"1" ⟩</a:t>
                </a:r>
                <a:r>
                  <a:rPr lang="en-US" sz="1200" dirty="0"/>
                  <a:t> </a:t>
                </a:r>
                <a:r>
                  <a:rPr lang="en-US" sz="1200" dirty="0" err="1"/>
                  <a:t>su</a:t>
                </a:r>
                <a:r>
                  <a:rPr lang="en-US" sz="1200" dirty="0"/>
                  <a:t> </a:t>
                </a:r>
                <a:r>
                  <a:rPr lang="en-US" sz="1200" dirty="0" err="1"/>
                  <a:t>vektori</a:t>
                </a:r>
                <a:r>
                  <a:rPr lang="en-US" sz="1200" dirty="0"/>
                  <a:t> </a:t>
                </a:r>
                <a:r>
                  <a:rPr lang="en-US" sz="1200" dirty="0" err="1"/>
                  <a:t>takozvane</a:t>
                </a:r>
                <a:r>
                  <a:rPr lang="en-US" sz="1200" baseline="0" dirty="0"/>
                  <a:t> </a:t>
                </a:r>
                <a:r>
                  <a:rPr lang="en-US" sz="1200" baseline="0" dirty="0" err="1"/>
                  <a:t>standardne</a:t>
                </a:r>
                <a:r>
                  <a:rPr lang="en-US" sz="1200" baseline="0" dirty="0"/>
                  <a:t> </a:t>
                </a:r>
                <a:r>
                  <a:rPr lang="en-US" sz="1200" baseline="0" dirty="0" err="1"/>
                  <a:t>baze</a:t>
                </a:r>
                <a:r>
                  <a:rPr lang="en-US" sz="1200" baseline="0" dirty="0"/>
                  <a:t>. </a:t>
                </a:r>
                <a:r>
                  <a:rPr lang="en-US" sz="1200" baseline="0" dirty="0" err="1"/>
                  <a:t>Standardnu</a:t>
                </a:r>
                <a:r>
                  <a:rPr lang="en-US" sz="1200" baseline="0" dirty="0"/>
                  <a:t> </a:t>
                </a:r>
                <a:r>
                  <a:rPr lang="en-US" sz="1200" baseline="0" dirty="0" err="1"/>
                  <a:t>bazu</a:t>
                </a:r>
                <a:r>
                  <a:rPr lang="en-US" sz="1200" baseline="0" dirty="0"/>
                  <a:t> </a:t>
                </a:r>
                <a:r>
                  <a:rPr lang="en-US" sz="1200" baseline="0" dirty="0" err="1"/>
                  <a:t>čine</a:t>
                </a:r>
                <a:r>
                  <a:rPr lang="en-US" sz="1200" baseline="0" dirty="0"/>
                  <a:t> </a:t>
                </a:r>
                <a:r>
                  <a:rPr lang="en-US" sz="1200" baseline="0" dirty="0" err="1"/>
                  <a:t>dva</a:t>
                </a:r>
                <a:r>
                  <a:rPr lang="en-US" sz="1200" baseline="0" dirty="0"/>
                  <a:t> </a:t>
                </a:r>
                <a:r>
                  <a:rPr lang="en-US" sz="1200" baseline="0" dirty="0" err="1"/>
                  <a:t>ortonormalna</a:t>
                </a:r>
                <a:r>
                  <a:rPr lang="en-US" sz="1200" baseline="0" dirty="0"/>
                  <a:t> </a:t>
                </a:r>
                <a:r>
                  <a:rPr lang="en-US" sz="1200" baseline="0" dirty="0" err="1"/>
                  <a:t>vektora</a:t>
                </a:r>
                <a:r>
                  <a:rPr lang="en-US" sz="1200" baseline="0" dirty="0"/>
                  <a:t> </a:t>
                </a:r>
                <a:r>
                  <a:rPr lang="en-US" sz="1200" baseline="0" dirty="0" err="1"/>
                  <a:t>koja</a:t>
                </a:r>
                <a:r>
                  <a:rPr lang="en-US" sz="1200" baseline="0" dirty="0"/>
                  <a:t> se </a:t>
                </a:r>
                <a:r>
                  <a:rPr lang="en-US" sz="1200" baseline="0" dirty="0" err="1"/>
                  <a:t>nalze</a:t>
                </a:r>
                <a:r>
                  <a:rPr lang="en-US" sz="1200" baseline="0" dirty="0"/>
                  <a:t> </a:t>
                </a:r>
                <a:r>
                  <a:rPr lang="en-US" sz="1200" baseline="0" dirty="0" err="1"/>
                  <a:t>duž</a:t>
                </a:r>
                <a:r>
                  <a:rPr lang="en-US" sz="1200" baseline="0" dirty="0"/>
                  <a:t> </a:t>
                </a:r>
                <a:r>
                  <a:rPr lang="sr-Latn-RS" sz="1200" b="0" i="0">
                    <a:solidFill>
                      <a:srgbClr val="0000FF"/>
                    </a:solidFill>
                    <a:latin typeface="Cambria Math" panose="02040503050406030204" pitchFamily="18" charset="0"/>
                    <a:ea typeface="Cambria Math" panose="02040503050406030204" pitchFamily="18" charset="0"/>
                  </a:rPr>
                  <a:t>𝑥</a:t>
                </a:r>
                <a:r>
                  <a:rPr lang="en-US" sz="1200" baseline="0" dirty="0"/>
                  <a:t> i </a:t>
                </a:r>
                <a:r>
                  <a:rPr lang="sr-Latn-RS" sz="1200" b="0" i="0">
                    <a:solidFill>
                      <a:srgbClr val="0000FF"/>
                    </a:solidFill>
                    <a:latin typeface="Cambria Math" panose="02040503050406030204" pitchFamily="18" charset="0"/>
                    <a:ea typeface="Cambria Math" panose="02040503050406030204" pitchFamily="18" charset="0"/>
                  </a:rPr>
                  <a:t>𝑦</a:t>
                </a:r>
                <a:r>
                  <a:rPr lang="en-US" sz="1200" baseline="0" dirty="0"/>
                  <a:t> </a:t>
                </a:r>
                <a:r>
                  <a:rPr lang="en-US" sz="1200" baseline="0" dirty="0" err="1"/>
                  <a:t>ose</a:t>
                </a:r>
                <a:r>
                  <a:rPr lang="en-US" sz="1200" baseline="0" dirty="0"/>
                  <a:t> u </a:t>
                </a:r>
                <a:r>
                  <a:rPr lang="en-US" sz="1200" baseline="0" dirty="0" err="1"/>
                  <a:t>dvodimenzionalnom</a:t>
                </a:r>
                <a:r>
                  <a:rPr lang="en-US" sz="1200" baseline="0" dirty="0"/>
                  <a:t> </a:t>
                </a:r>
                <a:r>
                  <a:rPr lang="en-US" sz="1200" baseline="0" dirty="0" err="1"/>
                  <a:t>prikazu</a:t>
                </a:r>
                <a:r>
                  <a:rPr lang="en-US" sz="1200" baseline="0" dirty="0"/>
                  <a:t> kubita. </a:t>
                </a:r>
                <a:r>
                  <a:rPr lang="en-US" sz="1200" baseline="0" dirty="0" err="1"/>
                  <a:t>Uočavamo</a:t>
                </a:r>
                <a:r>
                  <a:rPr lang="en-US" sz="1200" baseline="0" dirty="0"/>
                  <a:t> da </a:t>
                </a:r>
                <a:r>
                  <a:rPr lang="en-US" sz="1200" baseline="0" dirty="0" err="1"/>
                  <a:t>je</a:t>
                </a:r>
                <a:r>
                  <a:rPr lang="en-US" sz="1200" baseline="0" dirty="0"/>
                  <a:t> </a:t>
                </a:r>
                <a:r>
                  <a:rPr lang="en-US" sz="1200" baseline="0" dirty="0" err="1"/>
                  <a:t>ime</a:t>
                </a:r>
                <a:r>
                  <a:rPr lang="en-US" sz="1200" baseline="0" dirty="0"/>
                  <a:t> </a:t>
                </a:r>
                <a:r>
                  <a:rPr lang="en-US" sz="1200" baseline="0" dirty="0" err="1"/>
                  <a:t>vektora</a:t>
                </a:r>
                <a:r>
                  <a:rPr lang="en-US" sz="1200" baseline="0" dirty="0"/>
                  <a:t> </a:t>
                </a:r>
                <a:r>
                  <a:rPr lang="en-US" sz="1200" baseline="0" dirty="0" err="1"/>
                  <a:t>binarna</a:t>
                </a:r>
                <a:r>
                  <a:rPr lang="en-US" sz="1200" baseline="0" dirty="0"/>
                  <a:t> </a:t>
                </a:r>
                <a:r>
                  <a:rPr lang="en-US" sz="1200" baseline="0" dirty="0" err="1"/>
                  <a:t>cifra</a:t>
                </a:r>
                <a:r>
                  <a:rPr lang="en-US" sz="1200" baseline="0" dirty="0"/>
                  <a:t>, a ne </a:t>
                </a:r>
                <a:r>
                  <a:rPr lang="en-US" sz="1200" baseline="0" dirty="0" err="1"/>
                  <a:t>slovo</a:t>
                </a:r>
                <a:r>
                  <a:rPr lang="en-US" sz="1200" baseline="0" dirty="0"/>
                  <a:t> </a:t>
                </a:r>
                <a:r>
                  <a:rPr lang="en-US" sz="1200" baseline="0" dirty="0" err="1"/>
                  <a:t>kao</a:t>
                </a:r>
                <a:r>
                  <a:rPr lang="en-US" sz="1200" baseline="0" dirty="0"/>
                  <a:t> u </a:t>
                </a:r>
                <a:r>
                  <a:rPr lang="en-US" sz="1200" baseline="0" dirty="0" err="1"/>
                  <a:t>matematici</a:t>
                </a:r>
                <a:r>
                  <a:rPr lang="en-US" sz="1200" baseline="0" dirty="0"/>
                  <a:t>. </a:t>
                </a:r>
                <a:r>
                  <a:rPr lang="en-US" sz="1200" baseline="0" dirty="0" err="1"/>
                  <a:t>Kako</a:t>
                </a:r>
                <a:r>
                  <a:rPr lang="en-US" sz="1200" baseline="0" dirty="0"/>
                  <a:t> </a:t>
                </a:r>
                <a:r>
                  <a:rPr lang="en-US" sz="1200" baseline="0" dirty="0" err="1"/>
                  <a:t>ćemo</a:t>
                </a:r>
                <a:r>
                  <a:rPr lang="en-US" sz="1200" baseline="0" dirty="0"/>
                  <a:t> </a:t>
                </a:r>
                <a:r>
                  <a:rPr lang="en-US" sz="1200" baseline="0" dirty="0" err="1"/>
                  <a:t>kasnije</a:t>
                </a:r>
                <a:r>
                  <a:rPr lang="en-US" sz="1200" baseline="0" dirty="0"/>
                  <a:t> </a:t>
                </a:r>
                <a:r>
                  <a:rPr lang="en-US" sz="1200" baseline="0" dirty="0" err="1"/>
                  <a:t>videti</a:t>
                </a:r>
                <a:r>
                  <a:rPr lang="en-US" sz="1200" baseline="0" dirty="0"/>
                  <a:t>, </a:t>
                </a:r>
                <a:r>
                  <a:rPr lang="en-US" sz="1200" baseline="0" dirty="0" err="1"/>
                  <a:t>ovo</a:t>
                </a:r>
                <a:r>
                  <a:rPr lang="en-US" sz="1200" baseline="0" dirty="0"/>
                  <a:t> </a:t>
                </a:r>
                <a:r>
                  <a:rPr lang="en-US" sz="1200" baseline="0" dirty="0" err="1"/>
                  <a:t>je</a:t>
                </a:r>
                <a:r>
                  <a:rPr lang="en-US" sz="1200" baseline="0" dirty="0"/>
                  <a:t> </a:t>
                </a:r>
                <a:r>
                  <a:rPr lang="en-US" sz="1200" baseline="0" dirty="0" err="1"/>
                  <a:t>stoga</a:t>
                </a:r>
                <a:r>
                  <a:rPr lang="en-US" sz="1200" baseline="0" dirty="0"/>
                  <a:t> </a:t>
                </a:r>
                <a:r>
                  <a:rPr lang="en-US" sz="1200" baseline="0" dirty="0" err="1"/>
                  <a:t>što</a:t>
                </a:r>
                <a:r>
                  <a:rPr lang="en-US" sz="1200" baseline="0" dirty="0"/>
                  <a:t> se </a:t>
                </a:r>
                <a:r>
                  <a:rPr lang="en-US" sz="1200" baseline="0" dirty="0" err="1"/>
                  <a:t>kao</a:t>
                </a:r>
                <a:r>
                  <a:rPr lang="en-US" sz="1200" baseline="0" dirty="0"/>
                  <a:t> </a:t>
                </a:r>
                <a:r>
                  <a:rPr lang="en-US" sz="1200" baseline="0" dirty="0" err="1"/>
                  <a:t>ime</a:t>
                </a:r>
                <a:r>
                  <a:rPr lang="en-US" sz="1200" baseline="0" dirty="0"/>
                  <a:t> </a:t>
                </a:r>
                <a:r>
                  <a:rPr lang="en-US" sz="1200" baseline="0" dirty="0" err="1"/>
                  <a:t>može</a:t>
                </a:r>
                <a:r>
                  <a:rPr lang="en-US" sz="1200" baseline="0" dirty="0"/>
                  <a:t> </a:t>
                </a:r>
                <a:r>
                  <a:rPr lang="en-US" sz="1200" baseline="0" dirty="0" err="1"/>
                  <a:t>koristiti</a:t>
                </a:r>
                <a:r>
                  <a:rPr lang="en-US" sz="1200" baseline="0" dirty="0"/>
                  <a:t> </a:t>
                </a:r>
                <a:r>
                  <a:rPr lang="en-US" sz="1200" baseline="0" dirty="0" err="1"/>
                  <a:t>više</a:t>
                </a:r>
                <a:r>
                  <a:rPr lang="en-US" sz="1200" baseline="0" dirty="0"/>
                  <a:t> </a:t>
                </a:r>
                <a:r>
                  <a:rPr lang="en-US" sz="1200" baseline="0" dirty="0" err="1"/>
                  <a:t>binarnih</a:t>
                </a:r>
                <a:r>
                  <a:rPr lang="en-US" sz="1200" baseline="0" dirty="0"/>
                  <a:t> </a:t>
                </a:r>
                <a:r>
                  <a:rPr lang="en-US" sz="1200" baseline="0" dirty="0" err="1"/>
                  <a:t>cifara</a:t>
                </a:r>
                <a:r>
                  <a:rPr lang="en-US" sz="1200" baseline="0" dirty="0"/>
                  <a:t> </a:t>
                </a:r>
                <a:r>
                  <a:rPr lang="en-US" sz="1200" baseline="0" dirty="0" err="1"/>
                  <a:t>koje</a:t>
                </a:r>
                <a:r>
                  <a:rPr lang="en-US" sz="1200" baseline="0" dirty="0"/>
                  <a:t> </a:t>
                </a:r>
                <a:r>
                  <a:rPr lang="en-US" sz="1200" baseline="0" dirty="0" err="1"/>
                  <a:t>kodiraju</a:t>
                </a:r>
                <a:r>
                  <a:rPr lang="en-US" sz="1200" baseline="0" dirty="0"/>
                  <a:t> </a:t>
                </a:r>
                <a:r>
                  <a:rPr lang="en-US" sz="1200" baseline="0" dirty="0" err="1"/>
                  <a:t>neku</a:t>
                </a:r>
                <a:r>
                  <a:rPr lang="en-US" sz="1200" baseline="0" dirty="0"/>
                  <a:t> </a:t>
                </a:r>
                <a:r>
                  <a:rPr lang="en-US" sz="1200" baseline="0" dirty="0" err="1"/>
                  <a:t>vrednost</a:t>
                </a:r>
                <a:r>
                  <a:rPr lang="en-US" sz="1200" baseline="0" dirty="0"/>
                  <a:t>. </a:t>
                </a:r>
                <a:r>
                  <a:rPr lang="en-US" sz="1200" baseline="0" dirty="0" err="1"/>
                  <a:t>Vektori</a:t>
                </a:r>
                <a:r>
                  <a:rPr lang="en-US" sz="1200" baseline="0" dirty="0"/>
                  <a:t> </a:t>
                </a: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"0" ⟩</a:t>
                </a:r>
                <a:r>
                  <a:rPr lang="en-US" sz="1200" dirty="0"/>
                  <a:t> i </a:t>
                </a:r>
                <a:r>
                  <a:rPr lang="en-US" sz="1200" i="0">
                    <a:solidFill>
                      <a:srgbClr val="C00000"/>
                    </a:solidFill>
                    <a:latin typeface="Cambria Math" panose="02040503050406030204" pitchFamily="18" charset="0"/>
                    <a:ea typeface="Cambria Math" panose="02040503050406030204" pitchFamily="18" charset="0"/>
                  </a:rPr>
                  <a:t>|</a:t>
                </a:r>
                <a:r>
                  <a:rPr lang="sr-Latn-RS" sz="1200" b="0" i="0">
                    <a:solidFill>
                      <a:srgbClr val="C00000"/>
                    </a:solidFill>
                    <a:latin typeface="Cambria Math" panose="02040503050406030204" pitchFamily="18" charset="0"/>
                    <a:ea typeface="Cambria Math" panose="02040503050406030204" pitchFamily="18" charset="0"/>
                  </a:rPr>
                  <a:t>"1" ⟩</a:t>
                </a:r>
                <a:r>
                  <a:rPr lang="en-US" sz="1200" dirty="0"/>
                  <a:t> </a:t>
                </a:r>
                <a:r>
                  <a:rPr lang="en-US" sz="1200" dirty="0" err="1"/>
                  <a:t>su</a:t>
                </a:r>
                <a:r>
                  <a:rPr lang="en-US" sz="1200" dirty="0"/>
                  <a:t> </a:t>
                </a:r>
                <a:r>
                  <a:rPr lang="en-US" sz="1200" dirty="0" err="1"/>
                  <a:t>apstrakcija</a:t>
                </a:r>
                <a:r>
                  <a:rPr lang="en-US" sz="1200" dirty="0"/>
                  <a:t> </a:t>
                </a:r>
                <a:r>
                  <a:rPr lang="en-US" sz="1200" dirty="0" err="1"/>
                  <a:t>fizičkog</a:t>
                </a:r>
                <a:r>
                  <a:rPr lang="en-US" sz="1200" dirty="0"/>
                  <a:t> kubita u </a:t>
                </a:r>
                <a:r>
                  <a:rPr lang="en-US" sz="1200" dirty="0" err="1"/>
                  <a:t>dva</a:t>
                </a:r>
                <a:r>
                  <a:rPr lang="en-US" sz="1200" dirty="0"/>
                  <a:t> </a:t>
                </a:r>
                <a:r>
                  <a:rPr lang="en-US" sz="1200" dirty="0" err="1"/>
                  <a:t>osnovna</a:t>
                </a:r>
                <a:r>
                  <a:rPr lang="en-US" sz="1200" dirty="0"/>
                  <a:t> </a:t>
                </a:r>
                <a:r>
                  <a:rPr lang="en-US" sz="1200" dirty="0" err="1"/>
                  <a:t>stanja</a:t>
                </a:r>
                <a:r>
                  <a:rPr lang="en-US" sz="1200" dirty="0"/>
                  <a:t>, </a:t>
                </a:r>
                <a:r>
                  <a:rPr lang="en-US" sz="1200" dirty="0" err="1"/>
                  <a:t>na</a:t>
                </a:r>
                <a:r>
                  <a:rPr lang="en-US" sz="1200" dirty="0"/>
                  <a:t> primer u </a:t>
                </a:r>
                <a:r>
                  <a:rPr lang="en-US" sz="1200" dirty="0" err="1"/>
                  <a:t>stanju</a:t>
                </a:r>
                <a:r>
                  <a:rPr lang="en-US" sz="1200" dirty="0"/>
                  <a:t> </a:t>
                </a:r>
                <a:r>
                  <a:rPr lang="en-US" sz="1200" dirty="0" err="1"/>
                  <a:t>niže</a:t>
                </a:r>
                <a:r>
                  <a:rPr lang="en-US" sz="1200" dirty="0"/>
                  <a:t>  </a:t>
                </a:r>
                <a:r>
                  <a:rPr lang="en-US" sz="1200" dirty="0" err="1"/>
                  <a:t>i</a:t>
                </a:r>
                <a:r>
                  <a:rPr lang="en-US" sz="1200" dirty="0"/>
                  <a:t> u </a:t>
                </a:r>
                <a:r>
                  <a:rPr lang="en-US" sz="1200" dirty="0" err="1"/>
                  <a:t>stanju</a:t>
                </a:r>
                <a:r>
                  <a:rPr lang="en-US" sz="1200" dirty="0"/>
                  <a:t> </a:t>
                </a:r>
                <a:r>
                  <a:rPr lang="en-US" sz="1200" dirty="0" err="1"/>
                  <a:t>više</a:t>
                </a:r>
                <a:r>
                  <a:rPr lang="en-US" sz="1200" dirty="0"/>
                  <a:t> </a:t>
                </a:r>
                <a:r>
                  <a:rPr lang="en-US" sz="1200" dirty="0" err="1"/>
                  <a:t>energije</a:t>
                </a:r>
                <a:r>
                  <a:rPr lang="en-US" sz="1200" dirty="0"/>
                  <a:t>,</a:t>
                </a:r>
                <a:r>
                  <a:rPr lang="en-US" sz="1200" baseline="0" dirty="0"/>
                  <a:t> </a:t>
                </a:r>
                <a:r>
                  <a:rPr lang="en-US" sz="1200" baseline="0" dirty="0" err="1"/>
                  <a:t>slično</a:t>
                </a:r>
                <a:r>
                  <a:rPr lang="en-US" sz="1200" baseline="0" dirty="0"/>
                  <a:t> </a:t>
                </a:r>
                <a:r>
                  <a:rPr lang="en-US" sz="1200" baseline="0" dirty="0" err="1"/>
                  <a:t>kao</a:t>
                </a:r>
                <a:r>
                  <a:rPr lang="en-US" sz="1200" baseline="0" dirty="0"/>
                  <a:t> </a:t>
                </a:r>
                <a:r>
                  <a:rPr lang="en-US" sz="1200" baseline="0" dirty="0" err="1"/>
                  <a:t>što</a:t>
                </a:r>
                <a:r>
                  <a:rPr lang="en-US" sz="1200" baseline="0" dirty="0"/>
                  <a:t> </a:t>
                </a:r>
                <a:r>
                  <a:rPr lang="en-US" sz="1200" baseline="0" dirty="0" err="1"/>
                  <a:t>su</a:t>
                </a:r>
                <a:r>
                  <a:rPr lang="en-US" sz="1200" baseline="0" dirty="0"/>
                  <a:t> u </a:t>
                </a:r>
                <a:r>
                  <a:rPr lang="en-US" sz="1200" baseline="0" dirty="0" err="1"/>
                  <a:t>klasičnom</a:t>
                </a:r>
                <a:r>
                  <a:rPr lang="en-US" sz="1200" baseline="0" dirty="0"/>
                  <a:t> </a:t>
                </a:r>
                <a:r>
                  <a:rPr lang="en-US" sz="1200" baseline="0" dirty="0" err="1"/>
                  <a:t>računarstvu</a:t>
                </a:r>
                <a:r>
                  <a:rPr lang="en-US" sz="1200" baseline="0" dirty="0"/>
                  <a:t> </a:t>
                </a:r>
                <a:r>
                  <a:rPr lang="en-US" sz="1200" baseline="0" dirty="0" err="1"/>
                  <a:t>bitovi</a:t>
                </a:r>
                <a:r>
                  <a:rPr lang="en-US" sz="1200" baseline="0" dirty="0"/>
                  <a:t> 0 </a:t>
                </a:r>
                <a:r>
                  <a:rPr lang="en-US" sz="1200" baseline="0" dirty="0" err="1"/>
                  <a:t>i</a:t>
                </a:r>
                <a:r>
                  <a:rPr lang="en-US" sz="1200" baseline="0" dirty="0"/>
                  <a:t> 1 </a:t>
                </a:r>
                <a:r>
                  <a:rPr lang="en-US" sz="1200" baseline="0" dirty="0" err="1"/>
                  <a:t>apstrakcija</a:t>
                </a:r>
                <a:r>
                  <a:rPr lang="en-US" sz="1200" baseline="0" dirty="0"/>
                  <a:t> </a:t>
                </a:r>
                <a:r>
                  <a:rPr lang="en-US" sz="1200" baseline="0" dirty="0" err="1"/>
                  <a:t>fizičkog</a:t>
                </a:r>
                <a:r>
                  <a:rPr lang="en-US" sz="1200" baseline="0" dirty="0"/>
                  <a:t> </a:t>
                </a:r>
                <a:r>
                  <a:rPr lang="en-US" sz="1200" baseline="0" dirty="0" err="1"/>
                  <a:t>stanja</a:t>
                </a:r>
                <a:r>
                  <a:rPr lang="en-US" sz="1200" baseline="0" dirty="0"/>
                  <a:t> </a:t>
                </a:r>
                <a:r>
                  <a:rPr lang="en-US" sz="1200" baseline="0" dirty="0" err="1"/>
                  <a:t>elektronskog</a:t>
                </a:r>
                <a:r>
                  <a:rPr lang="en-US" sz="1200" baseline="0" dirty="0"/>
                  <a:t> kola.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i="0">
                    <a:solidFill>
                      <a:srgbClr val="0000FF"/>
                    </a:solidFill>
                    <a:latin typeface="Cambria Math" panose="02040503050406030204" pitchFamily="18" charset="0"/>
                    <a:ea typeface="Cambria Math" panose="02040503050406030204" pitchFamily="18" charset="0"/>
                  </a:rPr>
                  <a:t>𝑎</a:t>
                </a:r>
                <a:r>
                  <a:rPr lang="en-US" dirty="0"/>
                  <a:t> i </a:t>
                </a:r>
                <a:r>
                  <a:rPr lang="sr-Latn-RS" sz="1200" b="0" i="0">
                    <a:solidFill>
                      <a:srgbClr val="0000FF"/>
                    </a:solidFill>
                    <a:latin typeface="Cambria Math" panose="02040503050406030204" pitchFamily="18" charset="0"/>
                    <a:ea typeface="Cambria Math" panose="02040503050406030204" pitchFamily="18" charset="0"/>
                  </a:rPr>
                  <a:t>𝑏</a:t>
                </a:r>
                <a:r>
                  <a:rPr lang="en-US" dirty="0"/>
                  <a:t> </a:t>
                </a:r>
                <a:r>
                  <a:rPr lang="en-US" dirty="0" err="1"/>
                  <a:t>su</a:t>
                </a:r>
                <a:r>
                  <a:rPr lang="en-US" baseline="0" dirty="0"/>
                  <a:t> </a:t>
                </a:r>
                <a:r>
                  <a:rPr lang="en-US" baseline="0" dirty="0" err="1"/>
                  <a:t>kompleksni</a:t>
                </a:r>
                <a:r>
                  <a:rPr lang="en-US" baseline="0" dirty="0"/>
                  <a:t> </a:t>
                </a:r>
                <a:r>
                  <a:rPr lang="en-US" baseline="0" dirty="0" err="1"/>
                  <a:t>koeficijenti</a:t>
                </a:r>
                <a:r>
                  <a:rPr lang="en-US" baseline="0" dirty="0"/>
                  <a:t> </a:t>
                </a:r>
                <a:r>
                  <a:rPr lang="en-US" baseline="0" dirty="0" err="1"/>
                  <a:t>koji</a:t>
                </a:r>
                <a:r>
                  <a:rPr lang="en-US" baseline="0" dirty="0"/>
                  <a:t> se </a:t>
                </a:r>
                <a:r>
                  <a:rPr lang="en-US" baseline="0" dirty="0" err="1"/>
                  <a:t>nazivaju</a:t>
                </a:r>
                <a:r>
                  <a:rPr lang="en-US" baseline="0" dirty="0"/>
                  <a:t> amplitude </a:t>
                </a:r>
                <a:r>
                  <a:rPr lang="en-US" baseline="0" dirty="0" err="1"/>
                  <a:t>verovatnoća</a:t>
                </a:r>
                <a:r>
                  <a:rPr lang="en-US" baseline="0" dirty="0"/>
                  <a:t> </a:t>
                </a:r>
                <a:r>
                  <a:rPr lang="en-US" baseline="0" dirty="0" err="1"/>
                  <a:t>iz</a:t>
                </a:r>
                <a:r>
                  <a:rPr lang="en-US" baseline="0" dirty="0"/>
                  <a:t> </a:t>
                </a:r>
                <a:r>
                  <a:rPr lang="en-US" baseline="0" dirty="0" err="1"/>
                  <a:t>razloga</a:t>
                </a:r>
                <a:r>
                  <a:rPr lang="en-US" baseline="0" dirty="0"/>
                  <a:t> </a:t>
                </a:r>
                <a:r>
                  <a:rPr lang="en-US" baseline="0" dirty="0" err="1"/>
                  <a:t>koji</a:t>
                </a:r>
                <a:r>
                  <a:rPr lang="en-US" baseline="0" dirty="0"/>
                  <a:t> </a:t>
                </a:r>
                <a:r>
                  <a:rPr lang="en-US" baseline="0" dirty="0" err="1"/>
                  <a:t>ćemo</a:t>
                </a:r>
                <a:r>
                  <a:rPr lang="en-US" baseline="0" dirty="0"/>
                  <a:t> videte </a:t>
                </a:r>
                <a:r>
                  <a:rPr lang="en-US" baseline="0" dirty="0" err="1"/>
                  <a:t>nešto</a:t>
                </a:r>
                <a:r>
                  <a:rPr lang="en-US" baseline="0" dirty="0"/>
                  <a:t> </a:t>
                </a:r>
                <a:r>
                  <a:rPr lang="en-US" baseline="0" dirty="0" err="1"/>
                  <a:t>kasnije</a:t>
                </a:r>
                <a:r>
                  <a:rPr lang="en-US" baseline="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aseline="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421724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dirty="0"/>
                  <a:t>The Kronecker delta, named after Leopold Kronecker, is a mathematical function of two indices, usually integers.</a:t>
                </a:r>
                <a:r>
                  <a:rPr lang="en-ZA" sz="1200" baseline="0" dirty="0"/>
                  <a:t> </a:t>
                </a:r>
                <a:r>
                  <a:rPr lang="en-ZA" sz="1200" dirty="0"/>
                  <a:t>It equals 1 when the indices are equal and 0 otherwise. It is denoted by </a:t>
                </a:r>
                <a14:m>
                  <m:oMath xmlns:m="http://schemas.openxmlformats.org/officeDocument/2006/math">
                    <m:sSub>
                      <m:sSubPr>
                        <m:ctrlPr>
                          <a:rPr lang="en-ZA" sz="1200" i="1">
                            <a:latin typeface="Cambria Math" panose="02040503050406030204" pitchFamily="18" charset="0"/>
                          </a:rPr>
                        </m:ctrlPr>
                      </m:sSubPr>
                      <m:e>
                        <m:r>
                          <a:rPr lang="sr-Latn-RS" sz="1200" i="1">
                            <a:latin typeface="Cambria Math" panose="02040503050406030204" pitchFamily="18" charset="0"/>
                          </a:rPr>
                          <m:t>𝛿</m:t>
                        </m:r>
                      </m:e>
                      <m:sub>
                        <m:r>
                          <a:rPr lang="en-US" sz="1200" i="1">
                            <a:latin typeface="Cambria Math" panose="02040503050406030204" pitchFamily="18" charset="0"/>
                          </a:rPr>
                          <m:t>𝑖𝑗</m:t>
                        </m:r>
                      </m:sub>
                    </m:sSub>
                  </m:oMath>
                </a14:m>
                <a:r>
                  <a:rPr lang="en-US" sz="1200" dirty="0"/>
                  <a:t>.</a:t>
                </a:r>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3881543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inner product is one of the fundamental mathematical operations used to describe quantum states and their properties.</a:t>
                </a:r>
              </a:p>
              <a:p>
                <a:pPr algn="just"/>
                <a:endParaRPr lang="en-ZA" b="0" dirty="0"/>
              </a:p>
              <a:p>
                <a:pPr algn="just"/>
                <a:r>
                  <a:rPr lang="en-ZA" b="0" dirty="0"/>
                  <a:t>The geometric interpretation of the inner product is based on vector projection. It is defined as the length of vector </a:t>
                </a:r>
                <a14:m>
                  <m:oMath xmlns:m="http://schemas.openxmlformats.org/officeDocument/2006/math">
                    <m:r>
                      <a:rPr lang="sr-Latn-RS" sz="1200" b="0" i="1" smtClean="0">
                        <a:latin typeface="Cambria Math" panose="02040503050406030204" pitchFamily="18" charset="0"/>
                      </a:rPr>
                      <m:t>𝑏</m:t>
                    </m:r>
                  </m:oMath>
                </a14:m>
                <a:r>
                  <a:rPr lang="en-ZA" b="0" dirty="0"/>
                  <a:t> multiplied by the length of the projection of vector </a:t>
                </a:r>
                <a14:m>
                  <m:oMath xmlns:m="http://schemas.openxmlformats.org/officeDocument/2006/math">
                    <m:r>
                      <a:rPr lang="en-US" sz="1200" b="0" i="1" smtClean="0">
                        <a:latin typeface="Cambria Math" panose="02040503050406030204" pitchFamily="18" charset="0"/>
                      </a:rPr>
                      <m:t>𝑎</m:t>
                    </m:r>
                  </m:oMath>
                </a14:m>
                <a:r>
                  <a:rPr lang="en-ZA" b="0" dirty="0"/>
                  <a:t> onto the direction </a:t>
                </a:r>
                <a14:m>
                  <m:oMath xmlns:m="http://schemas.openxmlformats.org/officeDocument/2006/math">
                    <m:r>
                      <a:rPr lang="sr-Latn-RS" sz="1200" b="0" i="1" smtClean="0">
                        <a:latin typeface="Cambria Math" panose="02040503050406030204" pitchFamily="18" charset="0"/>
                      </a:rPr>
                      <m:t>𝑏</m:t>
                    </m:r>
                  </m:oMath>
                </a14:m>
                <a:r>
                  <a:rPr lang="en-ZA" b="0" dirty="0"/>
                  <a:t>:</a:t>
                </a:r>
              </a:p>
              <a:p>
                <a:pPr algn="just"/>
                <a:endParaRPr lang="en-ZA" sz="1200" b="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d>
                        <m:dPr>
                          <m:begChr m:val="⟨"/>
                          <m:endChr m:val="⟩"/>
                          <m:ctrlPr>
                            <a:rPr lang="sr-Latn-RS" sz="1200" b="0" i="1" smtClean="0">
                              <a:latin typeface="Cambria Math" panose="02040503050406030204" pitchFamily="18" charset="0"/>
                            </a:rPr>
                          </m:ctrlPr>
                        </m:dPr>
                        <m:e>
                          <m:r>
                            <a:rPr lang="en-US" sz="1200" b="0" i="1" smtClean="0">
                              <a:latin typeface="Cambria Math" panose="02040503050406030204" pitchFamily="18" charset="0"/>
                            </a:rPr>
                            <m:t>𝑎</m:t>
                          </m:r>
                        </m:e>
                        <m:e>
                          <m:r>
                            <a:rPr lang="en-US" sz="1200" b="0" i="1" smtClean="0">
                              <a:latin typeface="Cambria Math" panose="02040503050406030204" pitchFamily="18" charset="0"/>
                            </a:rPr>
                            <m:t>𝑏</m:t>
                          </m:r>
                        </m:e>
                      </m:d>
                      <m:r>
                        <a:rPr lang="sr-Latn-RS" sz="1200" b="0" i="1" smtClean="0">
                          <a:latin typeface="Cambria Math" panose="02040503050406030204" pitchFamily="18" charset="0"/>
                        </a:rPr>
                        <m:t>=</m:t>
                      </m:r>
                      <m:d>
                        <m:dPr>
                          <m:begChr m:val="‖"/>
                          <m:endChr m:val=""/>
                          <m:ctrlPr>
                            <a:rPr lang="en-ZA" sz="1200" b="0" i="1">
                              <a:latin typeface="Cambria Math" panose="02040503050406030204" pitchFamily="18" charset="0"/>
                            </a:rPr>
                          </m:ctrlPr>
                        </m:dPr>
                        <m:e>
                          <m:d>
                            <m:dPr>
                              <m:begChr m:val=""/>
                              <m:endChr m:val="‖"/>
                              <m:ctrlPr>
                                <a:rPr lang="en-ZA" sz="1200" b="0" i="1">
                                  <a:latin typeface="Cambria Math" panose="02040503050406030204" pitchFamily="18" charset="0"/>
                                </a:rPr>
                              </m:ctrlPr>
                            </m:dPr>
                            <m:e>
                              <m:r>
                                <a:rPr lang="sr-Latn-RS" sz="1200" b="0" i="1" smtClean="0">
                                  <a:latin typeface="Cambria Math" panose="02040503050406030204" pitchFamily="18" charset="0"/>
                                </a:rPr>
                                <m:t>𝑏</m:t>
                              </m:r>
                            </m:e>
                          </m:d>
                        </m:e>
                      </m:d>
                      <m:r>
                        <a:rPr lang="sr-Latn-RS" sz="1200" b="0" i="1" smtClean="0">
                          <a:latin typeface="Cambria Math" panose="02040503050406030204" pitchFamily="18" charset="0"/>
                        </a:rPr>
                        <m:t> </m:t>
                      </m:r>
                      <m:d>
                        <m:dPr>
                          <m:ctrlPr>
                            <a:rPr lang="en-ZA" sz="1200" b="0" i="1">
                              <a:latin typeface="Cambria Math" panose="02040503050406030204" pitchFamily="18" charset="0"/>
                            </a:rPr>
                          </m:ctrlPr>
                        </m:dPr>
                        <m:e>
                          <m:d>
                            <m:dPr>
                              <m:begChr m:val="‖"/>
                              <m:endChr m:val=""/>
                              <m:ctrlPr>
                                <a:rPr lang="en-ZA" sz="1200" b="0" i="1">
                                  <a:latin typeface="Cambria Math" panose="02040503050406030204" pitchFamily="18" charset="0"/>
                                </a:rPr>
                              </m:ctrlPr>
                            </m:dPr>
                            <m:e>
                              <m:d>
                                <m:dPr>
                                  <m:begChr m:val=""/>
                                  <m:endChr m:val="‖"/>
                                  <m:ctrlPr>
                                    <a:rPr lang="en-ZA" sz="1200" b="0" i="1">
                                      <a:latin typeface="Cambria Math" panose="02040503050406030204" pitchFamily="18" charset="0"/>
                                    </a:rPr>
                                  </m:ctrlPr>
                                </m:dPr>
                                <m:e>
                                  <m:r>
                                    <a:rPr lang="sr-Latn-RS" sz="1200" b="0" i="1" smtClean="0">
                                      <a:latin typeface="Cambria Math" panose="02040503050406030204" pitchFamily="18" charset="0"/>
                                    </a:rPr>
                                    <m:t>𝑎</m:t>
                                  </m:r>
                                </m:e>
                              </m:d>
                            </m:e>
                          </m:d>
                          <m:func>
                            <m:funcPr>
                              <m:ctrlPr>
                                <a:rPr lang="en-ZA" sz="1200" b="0" i="1">
                                  <a:latin typeface="Cambria Math" panose="02040503050406030204" pitchFamily="18" charset="0"/>
                                </a:rPr>
                              </m:ctrlPr>
                            </m:funcPr>
                            <m:fName>
                              <m:r>
                                <m:rPr>
                                  <m:sty m:val="p"/>
                                </m:rPr>
                                <a:rPr lang="sr-Latn-RS" sz="1200" b="0" i="0" smtClean="0">
                                  <a:latin typeface="Cambria Math" panose="02040503050406030204" pitchFamily="18" charset="0"/>
                                </a:rPr>
                                <m:t>cos</m:t>
                              </m:r>
                            </m:fName>
                            <m:e>
                              <m:r>
                                <a:rPr lang="sr-Latn-RS" sz="1200" b="0" i="1" smtClean="0">
                                  <a:latin typeface="Cambria Math" panose="02040503050406030204" pitchFamily="18" charset="0"/>
                                </a:rPr>
                                <m:t>𝜃</m:t>
                              </m:r>
                            </m:e>
                          </m:func>
                        </m:e>
                      </m:d>
                      <m:r>
                        <a:rPr lang="sr-Latn-RS" sz="1200" b="0" i="1" smtClean="0">
                          <a:latin typeface="Cambria Math" panose="02040503050406030204" pitchFamily="18" charset="0"/>
                        </a:rPr>
                        <m:t>=</m:t>
                      </m:r>
                      <m:d>
                        <m:dPr>
                          <m:begChr m:val="‖"/>
                          <m:endChr m:val=""/>
                          <m:ctrlPr>
                            <a:rPr lang="en-ZA" sz="1200" b="0" i="1">
                              <a:latin typeface="Cambria Math" panose="02040503050406030204" pitchFamily="18" charset="0"/>
                            </a:rPr>
                          </m:ctrlPr>
                        </m:dPr>
                        <m:e>
                          <m:d>
                            <m:dPr>
                              <m:begChr m:val=""/>
                              <m:endChr m:val="‖"/>
                              <m:ctrlPr>
                                <a:rPr lang="en-ZA" sz="1200" b="0" i="1">
                                  <a:latin typeface="Cambria Math" panose="02040503050406030204" pitchFamily="18" charset="0"/>
                                </a:rPr>
                              </m:ctrlPr>
                            </m:dPr>
                            <m:e>
                              <m:r>
                                <a:rPr lang="sr-Latn-RS" sz="1200" b="0" i="1" smtClean="0">
                                  <a:latin typeface="Cambria Math" panose="02040503050406030204" pitchFamily="18" charset="0"/>
                                </a:rPr>
                                <m:t>𝑎</m:t>
                              </m:r>
                            </m:e>
                          </m:d>
                        </m:e>
                      </m:d>
                      <m:r>
                        <a:rPr lang="sr-Latn-RS" sz="1200" b="0" i="1" smtClean="0">
                          <a:latin typeface="Cambria Math" panose="02040503050406030204" pitchFamily="18" charset="0"/>
                        </a:rPr>
                        <m:t> </m:t>
                      </m:r>
                      <m:d>
                        <m:dPr>
                          <m:begChr m:val="‖"/>
                          <m:endChr m:val=""/>
                          <m:ctrlPr>
                            <a:rPr lang="en-ZA" sz="1200" b="0" i="1">
                              <a:latin typeface="Cambria Math" panose="02040503050406030204" pitchFamily="18" charset="0"/>
                            </a:rPr>
                          </m:ctrlPr>
                        </m:dPr>
                        <m:e>
                          <m:d>
                            <m:dPr>
                              <m:begChr m:val=""/>
                              <m:endChr m:val="‖"/>
                              <m:ctrlPr>
                                <a:rPr lang="en-ZA" sz="1200" b="0" i="1">
                                  <a:latin typeface="Cambria Math" panose="02040503050406030204" pitchFamily="18" charset="0"/>
                                </a:rPr>
                              </m:ctrlPr>
                            </m:dPr>
                            <m:e>
                              <m:r>
                                <a:rPr lang="sr-Latn-RS" sz="1200" b="0" i="1" smtClean="0">
                                  <a:latin typeface="Cambria Math" panose="02040503050406030204" pitchFamily="18" charset="0"/>
                                </a:rPr>
                                <m:t>𝑏</m:t>
                              </m:r>
                            </m:e>
                          </m:d>
                        </m:e>
                      </m:d>
                      <m:func>
                        <m:funcPr>
                          <m:ctrlPr>
                            <a:rPr lang="en-US" sz="1200" b="0" i="1" smtClean="0">
                              <a:latin typeface="Cambria Math" panose="02040503050406030204" pitchFamily="18" charset="0"/>
                            </a:rPr>
                          </m:ctrlPr>
                        </m:funcPr>
                        <m:fName>
                          <m:r>
                            <m:rPr>
                              <m:sty m:val="p"/>
                            </m:rPr>
                            <a:rPr lang="sr-Latn-RS" sz="1200" b="0" i="0" smtClean="0">
                              <a:latin typeface="Cambria Math" panose="02040503050406030204" pitchFamily="18" charset="0"/>
                            </a:rPr>
                            <m:t>cos</m:t>
                          </m:r>
                        </m:fName>
                        <m:e>
                          <m:r>
                            <a:rPr lang="sr-Latn-RS" sz="1200" b="0" i="1" smtClean="0">
                              <a:latin typeface="Cambria Math" panose="02040503050406030204" pitchFamily="18" charset="0"/>
                            </a:rPr>
                            <m:t>𝜃</m:t>
                          </m:r>
                        </m:e>
                      </m:func>
                    </m:oMath>
                  </m:oMathPara>
                </a14:m>
                <a:endParaRPr lang="en-US" sz="1200" b="0" dirty="0"/>
              </a:p>
              <a:p>
                <a:pPr algn="just"/>
                <a:endParaRPr lang="en-US" sz="1200" b="0" dirty="0"/>
              </a:p>
              <a:p>
                <a:pPr marL="171450" indent="-171450" algn="just">
                  <a:buFont typeface="Arial" panose="020B0604020202020204" pitchFamily="34" charset="0"/>
                  <a:buChar char="•"/>
                </a:pPr>
                <a:r>
                  <a:rPr lang="en-ZA" b="0" dirty="0"/>
                  <a:t>In quantum computing, vectors may have many dimensions and their components can be complex numbers. In this case, the inner product is defined algebraically as the bra–ket product </a:t>
                </a:r>
                <a14:m>
                  <m:oMath xmlns:m="http://schemas.openxmlformats.org/officeDocument/2006/math">
                    <m:d>
                      <m:dPr>
                        <m:begChr m:val="⟨"/>
                        <m:endChr m:val="⟩"/>
                        <m:ctrlPr>
                          <a:rPr lang="sr-Latn-RS" sz="1200" b="0" i="1" smtClean="0">
                            <a:latin typeface="Cambria Math" panose="02040503050406030204" pitchFamily="18" charset="0"/>
                          </a:rPr>
                        </m:ctrlPr>
                      </m:dPr>
                      <m:e>
                        <m:r>
                          <a:rPr lang="sr-Latn-RS" sz="1200" b="0" i="1" smtClean="0">
                            <a:latin typeface="Cambria Math" panose="02040503050406030204" pitchFamily="18" charset="0"/>
                            <a:ea typeface="Cambria Math" panose="02040503050406030204" pitchFamily="18" charset="0"/>
                          </a:rPr>
                          <m:t>∙</m:t>
                        </m:r>
                      </m:e>
                      <m:e>
                        <m:r>
                          <a:rPr lang="sr-Latn-RS" sz="1200" b="0" i="1" smtClean="0">
                            <a:latin typeface="Cambria Math" panose="02040503050406030204" pitchFamily="18" charset="0"/>
                            <a:ea typeface="Cambria Math" panose="02040503050406030204" pitchFamily="18" charset="0"/>
                          </a:rPr>
                          <m:t>∙</m:t>
                        </m:r>
                      </m:e>
                    </m:d>
                  </m:oMath>
                </a14:m>
                <a:r>
                  <a:rPr lang="en-ZA" b="0" dirty="0"/>
                  <a:t>.</a:t>
                </a:r>
              </a:p>
              <a:p>
                <a:pPr marL="171450" indent="-171450" algn="just">
                  <a:buFont typeface="Arial" panose="020B0604020202020204" pitchFamily="34" charset="0"/>
                  <a:buChar char="•"/>
                </a:pPr>
                <a:endParaRPr lang="en-ZA" b="0" dirty="0"/>
              </a:p>
              <a:p>
                <a:pPr marL="0" indent="0" algn="just">
                  <a:buFont typeface="Arial" panose="020B0604020202020204" pitchFamily="34" charset="0"/>
                  <a:buNone/>
                </a:pPr>
                <a:r>
                  <a:rPr lang="en-ZA" b="0" dirty="0"/>
                  <a:t>Two properties of the inner product are used throughout quantum computing.</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First, the inner product of a unit vector with itself is 1. Geometrically, this follows because the angle between a vector and itself is 0°, and </a:t>
                </a:r>
                <a:r>
                  <a:rPr lang="en-US" sz="1200" b="0" dirty="0"/>
                  <a:t>cos(0)=1.</a:t>
                </a:r>
              </a:p>
              <a:p>
                <a:pPr marL="171450" indent="-171450" algn="just">
                  <a:buFont typeface="Arial" panose="020B0604020202020204" pitchFamily="34" charset="0"/>
                  <a:buChar char="•"/>
                </a:pPr>
                <a:endParaRPr lang="en-US" sz="1200" b="0" dirty="0"/>
              </a:p>
              <a:p>
                <a:pPr marL="171450" indent="-171450" algn="just">
                  <a:buFont typeface="Arial" panose="020B0604020202020204" pitchFamily="34" charset="0"/>
                  <a:buChar char="•"/>
                </a:pPr>
                <a:r>
                  <a:rPr lang="en-ZA" b="0" dirty="0"/>
                  <a:t>Second, the inner product of two orthogonal unit vectors is 0. Geometrically, this follows because the angle between orthogonal vectors is </a:t>
                </a:r>
                <a:r>
                  <a:rPr lang="en-US" sz="1200" b="0" dirty="0"/>
                  <a:t>90</a:t>
                </a:r>
                <a:r>
                  <a:rPr lang="en-ZA" b="0" dirty="0"/>
                  <a:t>°</a:t>
                </a:r>
                <a:r>
                  <a:rPr lang="en-US" sz="1200" b="0" dirty="0"/>
                  <a:t>,</a:t>
                </a:r>
                <a:r>
                  <a:rPr lang="en-ZA" b="0" dirty="0"/>
                  <a:t> and </a:t>
                </a:r>
                <a:r>
                  <a:rPr lang="en-US" sz="1200" b="0" dirty="0"/>
                  <a:t>cos(</a:t>
                </a:r>
                <a:r>
                  <a:rPr lang="el-GR" b="0" dirty="0"/>
                  <a:t>π</a:t>
                </a:r>
                <a:r>
                  <a:rPr lang="en-US" b="0" dirty="0"/>
                  <a:t>/2</a:t>
                </a:r>
                <a:r>
                  <a:rPr lang="en-US" sz="1200" b="0" dirty="0"/>
                  <a:t>)=0.</a:t>
                </a:r>
              </a:p>
              <a:p>
                <a:pPr marL="171450" indent="-171450" algn="just">
                  <a:buFont typeface="Arial" panose="020B0604020202020204" pitchFamily="34" charset="0"/>
                  <a:buChar char="•"/>
                </a:pPr>
                <a:endParaRPr lang="en-US" sz="1200" b="0" dirty="0"/>
              </a:p>
              <a:p>
                <a:pPr marL="171450" indent="-171450" algn="just">
                  <a:buFont typeface="Arial" panose="020B0604020202020204" pitchFamily="34" charset="0"/>
                  <a:buChar char="•"/>
                </a:pPr>
                <a:r>
                  <a:rPr lang="en-ZA" b="0" dirty="0"/>
                  <a:t>When two vectors are both unit vectors and orthogonal to each other, they are called orthonormal vectors. A set of vectors </a:t>
                </a:r>
                <a14:m>
                  <m:oMath xmlns:m="http://schemas.openxmlformats.org/officeDocument/2006/math">
                    <m:d>
                      <m:dPr>
                        <m:begChr m:val="{"/>
                        <m:endChr m:val="}"/>
                        <m:ctrlPr>
                          <a:rPr lang="en-ZA" b="0" i="1" smtClean="0">
                            <a:latin typeface="Cambria Math" panose="02040503050406030204" pitchFamily="18" charset="0"/>
                          </a:rPr>
                        </m:ctrlPr>
                      </m:dPr>
                      <m:e>
                        <m:d>
                          <m:dPr>
                            <m:begChr m:val="|"/>
                            <m:endChr m:val="⟩"/>
                            <m:ctrlPr>
                              <a:rPr lang="en-ZA" b="0" i="1">
                                <a:latin typeface="Cambria Math" panose="02040503050406030204" pitchFamily="18" charset="0"/>
                              </a:rPr>
                            </m:ctrlPr>
                          </m:dPr>
                          <m:e>
                            <m:sSub>
                              <m:sSubPr>
                                <m:ctrlPr>
                                  <a:rPr lang="en-ZA" b="0" i="1">
                                    <a:latin typeface="Cambria Math" panose="02040503050406030204" pitchFamily="18" charset="0"/>
                                  </a:rPr>
                                </m:ctrlPr>
                              </m:sSubPr>
                              <m:e>
                                <m:r>
                                  <a:rPr lang="en-US" b="0" i="1" smtClean="0">
                                    <a:latin typeface="Cambria Math" panose="02040503050406030204" pitchFamily="18" charset="0"/>
                                  </a:rPr>
                                  <m:t>𝑎</m:t>
                                </m:r>
                              </m:e>
                              <m:sub>
                                <m:r>
                                  <a:rPr lang="sr-Latn-RS" b="0" i="1" smtClean="0">
                                    <a:latin typeface="Cambria Math" panose="02040503050406030204" pitchFamily="18" charset="0"/>
                                  </a:rPr>
                                  <m:t>1</m:t>
                                </m:r>
                              </m:sub>
                            </m:sSub>
                          </m:e>
                        </m:d>
                        <m:r>
                          <a:rPr lang="sr-Latn-RS" b="0" i="1" smtClean="0">
                            <a:latin typeface="Cambria Math" panose="02040503050406030204" pitchFamily="18" charset="0"/>
                          </a:rPr>
                          <m:t>, </m:t>
                        </m:r>
                        <m:d>
                          <m:dPr>
                            <m:begChr m:val="|"/>
                            <m:endChr m:val="⟩"/>
                            <m:ctrlPr>
                              <a:rPr lang="en-ZA" b="0" i="1">
                                <a:latin typeface="Cambria Math" panose="02040503050406030204" pitchFamily="18" charset="0"/>
                              </a:rPr>
                            </m:ctrlPr>
                          </m:dPr>
                          <m:e>
                            <m:sSub>
                              <m:sSubPr>
                                <m:ctrlPr>
                                  <a:rPr lang="en-ZA" b="0" i="1">
                                    <a:latin typeface="Cambria Math" panose="02040503050406030204" pitchFamily="18" charset="0"/>
                                  </a:rPr>
                                </m:ctrlPr>
                              </m:sSubPr>
                              <m:e>
                                <m:r>
                                  <a:rPr lang="en-US" b="0" i="1" smtClean="0">
                                    <a:latin typeface="Cambria Math" panose="02040503050406030204" pitchFamily="18" charset="0"/>
                                  </a:rPr>
                                  <m:t>𝑎</m:t>
                                </m:r>
                              </m:e>
                              <m:sub>
                                <m:r>
                                  <a:rPr lang="sr-Latn-RS" b="0" i="1" smtClean="0">
                                    <a:latin typeface="Cambria Math" panose="02040503050406030204" pitchFamily="18" charset="0"/>
                                  </a:rPr>
                                  <m:t>2</m:t>
                                </m:r>
                              </m:sub>
                            </m:sSub>
                          </m:e>
                        </m:d>
                        <m:r>
                          <a:rPr lang="sr-Latn-RS" b="0" i="1" smtClean="0">
                            <a:latin typeface="Cambria Math" panose="02040503050406030204" pitchFamily="18" charset="0"/>
                          </a:rPr>
                          <m:t>, ⋯, </m:t>
                        </m:r>
                        <m:d>
                          <m:dPr>
                            <m:begChr m:val="|"/>
                            <m:endChr m:val="⟩"/>
                            <m:ctrlPr>
                              <a:rPr lang="en-ZA" b="0" i="1">
                                <a:latin typeface="Cambria Math" panose="02040503050406030204" pitchFamily="18" charset="0"/>
                              </a:rPr>
                            </m:ctrlPr>
                          </m:dPr>
                          <m:e>
                            <m:sSub>
                              <m:sSubPr>
                                <m:ctrlPr>
                                  <a:rPr lang="en-ZA" b="0" i="1">
                                    <a:latin typeface="Cambria Math" panose="02040503050406030204" pitchFamily="18" charset="0"/>
                                  </a:rPr>
                                </m:ctrlPr>
                              </m:sSubPr>
                              <m:e>
                                <m:r>
                                  <a:rPr lang="en-US" b="0" i="1" smtClean="0">
                                    <a:latin typeface="Cambria Math" panose="02040503050406030204" pitchFamily="18" charset="0"/>
                                  </a:rPr>
                                  <m:t>𝑎</m:t>
                                </m:r>
                              </m:e>
                              <m:sub>
                                <m:r>
                                  <a:rPr lang="sr-Latn-RS" b="0" i="1" smtClean="0">
                                    <a:latin typeface="Cambria Math" panose="02040503050406030204" pitchFamily="18" charset="0"/>
                                  </a:rPr>
                                  <m:t>𝑛</m:t>
                                </m:r>
                              </m:sub>
                            </m:sSub>
                          </m:e>
                        </m:d>
                      </m:e>
                    </m:d>
                  </m:oMath>
                </a14:m>
                <a:r>
                  <a:rPr lang="en-US" sz="1200" b="0" dirty="0"/>
                  <a:t> </a:t>
                </a:r>
                <a:r>
                  <a:rPr lang="en-ZA" b="0" dirty="0"/>
                  <a:t>is orthonormal if </a:t>
                </a:r>
                <a14:m>
                  <m:oMath xmlns:m="http://schemas.openxmlformats.org/officeDocument/2006/math">
                    <m:r>
                      <a:rPr lang="sr-Latn-RS" b="0" smtClean="0">
                        <a:latin typeface="Cambria Math" panose="02040503050406030204" pitchFamily="18" charset="0"/>
                      </a:rPr>
                      <m:t>⟨</m:t>
                    </m:r>
                    <m:sSub>
                      <m:sSubPr>
                        <m:ctrlPr>
                          <a:rPr lang="en-ZA" b="0" i="1">
                            <a:latin typeface="Cambria Math" panose="02040503050406030204" pitchFamily="18" charset="0"/>
                          </a:rPr>
                        </m:ctrlPr>
                      </m:sSubPr>
                      <m:e>
                        <m:r>
                          <a:rPr lang="en-US" b="0" i="1" smtClean="0">
                            <a:latin typeface="Cambria Math" panose="02040503050406030204" pitchFamily="18" charset="0"/>
                          </a:rPr>
                          <m:t>𝑎</m:t>
                        </m:r>
                      </m:e>
                      <m:sub>
                        <m:r>
                          <a:rPr lang="sr-Latn-RS" b="0" i="1" smtClean="0">
                            <a:latin typeface="Cambria Math" panose="02040503050406030204" pitchFamily="18" charset="0"/>
                          </a:rPr>
                          <m:t>𝑖</m:t>
                        </m:r>
                      </m:sub>
                    </m:sSub>
                    <m:d>
                      <m:dPr>
                        <m:begChr m:val="|"/>
                        <m:endChr m:val="⟩"/>
                        <m:ctrlPr>
                          <a:rPr lang="en-ZA" b="0" i="1">
                            <a:latin typeface="Cambria Math" panose="02040503050406030204" pitchFamily="18" charset="0"/>
                          </a:rPr>
                        </m:ctrlPr>
                      </m:dPr>
                      <m:e>
                        <m:sSub>
                          <m:sSubPr>
                            <m:ctrlPr>
                              <a:rPr lang="en-ZA" b="0" i="1">
                                <a:latin typeface="Cambria Math" panose="02040503050406030204" pitchFamily="18" charset="0"/>
                              </a:rPr>
                            </m:ctrlPr>
                          </m:sSubPr>
                          <m:e>
                            <m:r>
                              <a:rPr lang="en-US" b="0" i="1" smtClean="0">
                                <a:latin typeface="Cambria Math" panose="02040503050406030204" pitchFamily="18" charset="0"/>
                              </a:rPr>
                              <m:t>𝑎</m:t>
                            </m:r>
                          </m:e>
                          <m:sub>
                            <m:r>
                              <a:rPr lang="sr-Latn-RS" b="0" i="1" smtClean="0">
                                <a:latin typeface="Cambria Math" panose="02040503050406030204" pitchFamily="18" charset="0"/>
                              </a:rPr>
                              <m:t>𝑗</m:t>
                            </m:r>
                          </m:sub>
                        </m:sSub>
                      </m:e>
                    </m:d>
                    <m:r>
                      <a:rPr lang="sr-Latn-RS" b="0" i="1" smtClean="0">
                        <a:latin typeface="Cambria Math" panose="02040503050406030204" pitchFamily="18" charset="0"/>
                      </a:rPr>
                      <m:t>=</m:t>
                    </m:r>
                    <m:sSub>
                      <m:sSubPr>
                        <m:ctrlPr>
                          <a:rPr lang="en-ZA" b="0" i="1">
                            <a:latin typeface="Cambria Math" panose="02040503050406030204" pitchFamily="18" charset="0"/>
                          </a:rPr>
                        </m:ctrlPr>
                      </m:sSubPr>
                      <m:e>
                        <m:r>
                          <a:rPr lang="sr-Latn-RS" b="0" i="1" smtClean="0">
                            <a:latin typeface="Cambria Math" panose="02040503050406030204" pitchFamily="18" charset="0"/>
                          </a:rPr>
                          <m:t>𝛿</m:t>
                        </m:r>
                      </m:e>
                      <m:sub>
                        <m:r>
                          <a:rPr lang="sr-Latn-RS" b="0" i="1" smtClean="0">
                            <a:latin typeface="Cambria Math" panose="02040503050406030204" pitchFamily="18" charset="0"/>
                          </a:rPr>
                          <m:t>𝑖𝑗</m:t>
                        </m:r>
                      </m:sub>
                    </m:sSub>
                  </m:oMath>
                </a14:m>
                <a:r>
                  <a:rPr lang="en-US" sz="1200" b="0" dirty="0"/>
                  <a:t> </a:t>
                </a:r>
                <a:r>
                  <a:rPr lang="en-ZA" b="0" dirty="0"/>
                  <a:t>where </a:t>
                </a:r>
                <a14:m>
                  <m:oMath xmlns:m="http://schemas.openxmlformats.org/officeDocument/2006/math">
                    <m:sSub>
                      <m:sSubPr>
                        <m:ctrlPr>
                          <a:rPr lang="en-ZA" b="0" i="1" smtClean="0">
                            <a:latin typeface="Cambria Math" panose="02040503050406030204" pitchFamily="18" charset="0"/>
                          </a:rPr>
                        </m:ctrlPr>
                      </m:sSubPr>
                      <m:e>
                        <m:r>
                          <a:rPr lang="sr-Latn-RS" b="0" i="1" smtClean="0">
                            <a:latin typeface="Cambria Math" panose="02040503050406030204" pitchFamily="18" charset="0"/>
                          </a:rPr>
                          <m:t>𝛿</m:t>
                        </m:r>
                      </m:e>
                      <m:sub>
                        <m:r>
                          <a:rPr lang="sr-Latn-RS" b="0" i="1" smtClean="0">
                            <a:latin typeface="Cambria Math" panose="02040503050406030204" pitchFamily="18" charset="0"/>
                          </a:rPr>
                          <m:t>𝑖𝑗</m:t>
                        </m:r>
                      </m:sub>
                    </m:sSub>
                  </m:oMath>
                </a14:m>
                <a:r>
                  <a:rPr lang="en-US" sz="1200" b="0" dirty="0"/>
                  <a:t> </a:t>
                </a:r>
                <a:r>
                  <a:rPr lang="en-ZA" b="0" dirty="0"/>
                  <a:t>is the Kronecker delta</a:t>
                </a:r>
                <a:endParaRPr lang="en-US" sz="1200" b="0" dirty="0"/>
              </a:p>
              <a:p>
                <a:pPr marL="0" indent="0" algn="just">
                  <a:buFont typeface="Arial" panose="020B0604020202020204" pitchFamily="34" charset="0"/>
                  <a:buNone/>
                </a:pPr>
                <a:endParaRPr lang="en-US" b="0" dirty="0"/>
              </a:p>
              <a:p>
                <a:pPr algn="just"/>
                <a:endParaRPr lang="en-US" sz="1200" b="0" dirty="0"/>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3820016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dirty="0"/>
                  <a:t>A complex vector space equipped with an inner product and an additional mathematical property called </a:t>
                </a:r>
                <a:r>
                  <a:rPr lang="en-ZA" sz="1200" b="1" dirty="0"/>
                  <a:t>completeness</a:t>
                </a:r>
                <a:r>
                  <a:rPr lang="en-ZA" sz="1200" dirty="0"/>
                  <a:t> is known as a </a:t>
                </a:r>
                <a:r>
                  <a:rPr lang="en-ZA" sz="1200" b="1" dirty="0"/>
                  <a:t>Hilbert space</a:t>
                </a:r>
                <a:r>
                  <a:rPr lang="en-ZA" sz="1200" dirty="0"/>
                  <a:t>, named after mathematician David Hilbert and commonly denoted by </a:t>
                </a:r>
                <a14:m>
                  <m:oMath xmlns:m="http://schemas.openxmlformats.org/officeDocument/2006/math">
                    <m:r>
                      <a:rPr lang="en-US" sz="1200" i="1" smtClean="0">
                        <a:latin typeface="Cambria Math" panose="02040503050406030204" pitchFamily="18" charset="0"/>
                        <a:ea typeface="Cambria Math" panose="02040503050406030204" pitchFamily="18" charset="0"/>
                      </a:rPr>
                      <m:t>ℋ</m:t>
                    </m:r>
                  </m:oMath>
                </a14:m>
                <a:r>
                  <a:rPr lang="en-ZA" sz="1200" dirty="0"/>
                  <a:t>. The inner product allows lengths and angles between vectors to be defined, while completeness ensures that limits of converging sequences of vectors remain within the space. Completeness is automatically satisfied in finite-dimensional vector spaces, such as the two-dimensional space used to describe a single qubit.</a:t>
                </a:r>
              </a:p>
              <a:p>
                <a:pPr algn="just"/>
                <a:endParaRPr lang="en-ZA" sz="1200" dirty="0"/>
              </a:p>
              <a:p>
                <a:pPr algn="just"/>
                <a:r>
                  <a:rPr lang="en-ZA" sz="1200" dirty="0"/>
                  <a:t>Hilbert space provides the mathematical framework for describing quantum systems. Quantum states are represented by vectors in a Hilbert space, while the inner product describes relationships between these states and plays a central role in calculating measurement probabilities.</a:t>
                </a:r>
              </a:p>
            </p:txBody>
          </p:sp>
        </mc:Choice>
        <mc:Fallback xmlns="">
          <p:sp>
            <p:nvSpPr>
              <p:cNvPr id="3" name="Notes Placeholder 2"/>
              <p:cNvSpPr>
                <a:spLocks noGrp="1"/>
              </p:cNvSpPr>
              <p:nvPr>
                <p:ph type="body" idx="1"/>
              </p:nvPr>
            </p:nvSpPr>
            <p:spPr/>
            <p:txBody>
              <a:bodyPr/>
              <a:lstStyle/>
              <a:p>
                <a:pPr algn="just"/>
                <a:r>
                  <a:rPr lang="en-ZA" sz="1200" dirty="0"/>
                  <a:t>A complex vector space equipped with an inner product and an additional mathematical property called </a:t>
                </a:r>
                <a:r>
                  <a:rPr lang="en-ZA" sz="1200" b="1" dirty="0"/>
                  <a:t>completeness</a:t>
                </a:r>
                <a:r>
                  <a:rPr lang="en-ZA" sz="1200" dirty="0"/>
                  <a:t> is known as a </a:t>
                </a:r>
                <a:r>
                  <a:rPr lang="en-ZA" sz="1200" b="1" dirty="0"/>
                  <a:t>Hilbert space</a:t>
                </a:r>
                <a:r>
                  <a:rPr lang="en-ZA" sz="1200" dirty="0"/>
                  <a:t>, named after mathematician David Hilbert and commonly denoted by </a:t>
                </a:r>
                <a:r>
                  <a:rPr lang="en-US" sz="1200" i="0">
                    <a:latin typeface="Cambria Math" panose="02040503050406030204" pitchFamily="18" charset="0"/>
                    <a:ea typeface="Cambria Math" panose="02040503050406030204" pitchFamily="18" charset="0"/>
                  </a:rPr>
                  <a:t>ℋ</a:t>
                </a:r>
                <a:r>
                  <a:rPr lang="en-ZA" sz="1200" dirty="0"/>
                  <a:t>. The inner product allows lengths and angles between vectors to be defined, while completeness ensures that limits of converging sequences of vectors remain within the space. Completeness is automatically satisfied in finite-dimensional vector spaces, such as the two-dimensional space used to describe a single qubit.</a:t>
                </a:r>
              </a:p>
              <a:p>
                <a:pPr algn="just"/>
                <a:endParaRPr lang="en-ZA" sz="1200" dirty="0"/>
              </a:p>
              <a:p>
                <a:pPr algn="just"/>
                <a:r>
                  <a:rPr lang="en-ZA" sz="1200" dirty="0"/>
                  <a:t>Hilbert space provides the mathematical framework for describing quantum systems. Quantum states are represented by vectors in a Hilbert space, while the inner product describes relationships between these states and plays a central role in calculating measurement probabilities.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88099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Having introduced complex numbers, inner products, and Hilbert spaces, we now have the mathematical tools needed to state the first postulate of quantum mechanics.</a:t>
                </a:r>
              </a:p>
              <a:p>
                <a:pPr algn="just"/>
                <a:br>
                  <a:rPr lang="en-ZA" b="0" dirty="0"/>
                </a:br>
                <a:r>
                  <a:rPr lang="en-ZA" sz="1200" dirty="0"/>
                  <a:t>The postulates of quantum mechanics describe the fundamental principles governing physical systems at the quantum level. The first postulate, known as the quantum state postulate, states that: </a:t>
                </a:r>
              </a:p>
              <a:p>
                <a:pPr algn="just"/>
                <a:endParaRPr lang="en-ZA" sz="12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sz="1200" i="1" dirty="0"/>
                  <a:t>A pure quantum state of an isolated quantum system is represented by a unit vector in a complex Hilbert space.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dirty="0"/>
              </a:p>
              <a:p>
                <a:pPr algn="just"/>
                <a:r>
                  <a:rPr lang="en-ZA" sz="1200" dirty="0"/>
                  <a:t>This state vector can be written as a linear combination of the basis vectors of the Hilbert space where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𝑘</m:t>
                        </m:r>
                      </m:sub>
                    </m:sSub>
                  </m:oMath>
                </a14:m>
                <a:r>
                  <a:rPr lang="en-ZA" sz="1200" dirty="0"/>
                  <a:t> is a complex probability amplitude,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𝑘</m:t>
                        </m:r>
                      </m:e>
                    </m:d>
                  </m:oMath>
                </a14:m>
                <a:r>
                  <a:rPr lang="en-ZA" sz="1200" dirty="0"/>
                  <a:t> is a basis vector of the Hilbert space, </a:t>
                </a:r>
                <a14:m>
                  <m:oMath xmlns:m="http://schemas.openxmlformats.org/officeDocument/2006/math">
                    <m:r>
                      <a:rPr lang="en-US" sz="1200" i="1">
                        <a:latin typeface="Cambria Math" panose="02040503050406030204" pitchFamily="18" charset="0"/>
                      </a:rPr>
                      <m:t>𝑛</m:t>
                    </m:r>
                  </m:oMath>
                </a14:m>
                <a:r>
                  <a:rPr lang="en-ZA" sz="1200" dirty="0"/>
                  <a:t> is the dimension of the space. The expression </a:t>
                </a:r>
                <a14:m>
                  <m:oMath xmlns:m="http://schemas.openxmlformats.org/officeDocument/2006/math">
                    <m:nary>
                      <m:naryPr>
                        <m:chr m:val="∑"/>
                        <m:limLoc m:val="undOvr"/>
                        <m:ctrlPr>
                          <a:rPr lang="en-ZA" sz="1200" i="1" smtClean="0">
                            <a:latin typeface="Cambria Math" panose="02040503050406030204" pitchFamily="18" charset="0"/>
                          </a:rPr>
                        </m:ctrlPr>
                      </m:naryPr>
                      <m:sub>
                        <m:r>
                          <a:rPr lang="sr-Latn-RS" sz="1200" i="1">
                            <a:latin typeface="Cambria Math" panose="02040503050406030204" pitchFamily="18" charset="0"/>
                          </a:rPr>
                          <m:t>𝑘</m:t>
                        </m:r>
                        <m:r>
                          <a:rPr lang="sr-Latn-RS" sz="1200" i="1">
                            <a:latin typeface="Cambria Math" panose="02040503050406030204" pitchFamily="18" charset="0"/>
                          </a:rPr>
                          <m:t>=0</m:t>
                        </m:r>
                      </m:sub>
                      <m:sup>
                        <m:r>
                          <a:rPr lang="en-US" sz="1200" i="1">
                            <a:latin typeface="Cambria Math" panose="02040503050406030204" pitchFamily="18" charset="0"/>
                          </a:rPr>
                          <m:t>1</m:t>
                        </m:r>
                      </m:sup>
                      <m:e>
                        <m:sSup>
                          <m:sSupPr>
                            <m:ctrlPr>
                              <a:rPr lang="en-ZA" sz="1200" i="1">
                                <a:latin typeface="Cambria Math" panose="02040503050406030204" pitchFamily="18" charset="0"/>
                              </a:rPr>
                            </m:ctrlPr>
                          </m:sSupPr>
                          <m:e>
                            <m:d>
                              <m:dPr>
                                <m:begChr m:val="|"/>
                                <m:endChr m:val="|"/>
                                <m:ctrlPr>
                                  <a:rPr lang="en-ZA" sz="1200" i="1">
                                    <a:latin typeface="Cambria Math" panose="02040503050406030204" pitchFamily="18" charset="0"/>
                                  </a:rPr>
                                </m:ctrlPr>
                              </m:dPr>
                              <m:e>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𝑘</m:t>
                                    </m:r>
                                  </m:sub>
                                </m:sSub>
                              </m:e>
                            </m:d>
                          </m:e>
                          <m:sup>
                            <m:r>
                              <a:rPr lang="sr-Latn-RS" sz="1200" i="1">
                                <a:latin typeface="Cambria Math" panose="02040503050406030204" pitchFamily="18" charset="0"/>
                              </a:rPr>
                              <m:t>2</m:t>
                            </m:r>
                          </m:sup>
                        </m:sSup>
                        <m:r>
                          <a:rPr lang="sr-Latn-RS" sz="1200" i="1">
                            <a:latin typeface="Cambria Math" panose="02040503050406030204" pitchFamily="18" charset="0"/>
                          </a:rPr>
                          <m:t>=1</m:t>
                        </m:r>
                      </m:e>
                    </m:nary>
                  </m:oMath>
                </a14:m>
                <a:r>
                  <a:rPr lang="en-ZA" sz="1200" dirty="0"/>
                  <a:t> is the normalization condition.</a:t>
                </a:r>
              </a:p>
              <a:p>
                <a:pPr algn="just"/>
                <a:endParaRPr lang="en-ZA" sz="500" dirty="0"/>
              </a:p>
              <a:p>
                <a:pPr marL="171450" indent="-171450" algn="just">
                  <a:buFont typeface="Arial" panose="020B0604020202020204" pitchFamily="34" charset="0"/>
                  <a:buChar char="•"/>
                </a:pPr>
                <a:r>
                  <a:rPr lang="en-ZA" sz="1200" dirty="0"/>
                  <a:t>For a single qubit </a:t>
                </a:r>
                <a14:m>
                  <m:oMath xmlns:m="http://schemas.openxmlformats.org/officeDocument/2006/math">
                    <m:r>
                      <a:rPr lang="en-US" sz="1200" i="1">
                        <a:latin typeface="Cambria Math" panose="02040503050406030204" pitchFamily="18" charset="0"/>
                      </a:rPr>
                      <m:t>𝑛</m:t>
                    </m:r>
                    <m:r>
                      <a:rPr lang="en-US" sz="1200" b="0" i="1" smtClean="0">
                        <a:latin typeface="Cambria Math" panose="02040503050406030204" pitchFamily="18" charset="0"/>
                      </a:rPr>
                      <m:t>=2</m:t>
                    </m:r>
                  </m:oMath>
                </a14:m>
                <a:r>
                  <a:rPr lang="en-ZA" sz="1200" dirty="0"/>
                  <a:t>, and the expression becomes the familiar </a:t>
                </a:r>
                <a14:m>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𝑆</m:t>
                        </m:r>
                      </m:e>
                    </m:d>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0</m:t>
                        </m:r>
                      </m:sub>
                    </m:sSub>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1</m:t>
                        </m:r>
                      </m:sub>
                    </m:sSub>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oMath>
                </a14:m>
                <a:endParaRPr lang="en-ZA" sz="500" dirty="0"/>
              </a:p>
              <a:p>
                <a:pPr marL="171450" indent="-171450">
                  <a:buFont typeface="Arial" panose="020B0604020202020204" pitchFamily="34" charset="0"/>
                  <a:buChar char="•"/>
                </a:pPr>
                <a:r>
                  <a:rPr lang="en-ZA" sz="1200" dirty="0"/>
                  <a:t>For an </a:t>
                </a:r>
                <a14:m>
                  <m:oMath xmlns:m="http://schemas.openxmlformats.org/officeDocument/2006/math">
                    <m:r>
                      <a:rPr lang="en-US" sz="1200" i="1">
                        <a:latin typeface="Cambria Math" panose="02040503050406030204" pitchFamily="18" charset="0"/>
                      </a:rPr>
                      <m:t>𝑛</m:t>
                    </m:r>
                    <m:r>
                      <a:rPr lang="en-US" sz="1200" i="1">
                        <a:latin typeface="Cambria Math" panose="02040503050406030204" pitchFamily="18" charset="0"/>
                      </a:rPr>
                      <m:t> </m:t>
                    </m:r>
                  </m:oMath>
                </a14:m>
                <a:r>
                  <a:rPr lang="en-ZA" sz="1200" dirty="0"/>
                  <a:t>-qubit system, the Hilbert space has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𝑛</m:t>
                        </m:r>
                      </m:sup>
                    </m:sSup>
                  </m:oMath>
                </a14:m>
                <a:r>
                  <a:rPr lang="en-ZA" sz="1200" dirty="0"/>
                  <a:t> basis vectors, meaning that it is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𝑛</m:t>
                        </m:r>
                      </m:sup>
                    </m:sSup>
                  </m:oMath>
                </a14:m>
                <a:r>
                  <a:rPr lang="en-ZA" sz="1200" dirty="0"/>
                  <a:t>-dimensional, and the state can be written as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a:latin typeface="Cambria Math" panose="02040503050406030204" pitchFamily="18" charset="0"/>
                      </a:rPr>
                      <m:t>=</m:t>
                    </m:r>
                    <m:nary>
                      <m:naryPr>
                        <m:chr m:val="∑"/>
                        <m:limLoc m:val="undOvr"/>
                        <m:ctrlPr>
                          <a:rPr lang="en-US" sz="1200" i="1">
                            <a:latin typeface="Cambria Math" panose="02040503050406030204" pitchFamily="18" charset="0"/>
                          </a:rPr>
                        </m:ctrlPr>
                      </m:naryPr>
                      <m:sub>
                        <m:r>
                          <a:rPr lang="en-US" sz="1200" i="1">
                            <a:latin typeface="Cambria Math" panose="02040503050406030204" pitchFamily="18" charset="0"/>
                          </a:rPr>
                          <m:t>𝑘</m:t>
                        </m:r>
                        <m:r>
                          <a:rPr lang="en-US" sz="1200">
                            <a:latin typeface="Cambria Math" panose="02040503050406030204" pitchFamily="18" charset="0"/>
                          </a:rPr>
                          <m:t>=</m:t>
                        </m:r>
                        <m:r>
                          <a:rPr lang="en-US" sz="1200" i="1">
                            <a:latin typeface="Cambria Math" panose="02040503050406030204" pitchFamily="18" charset="0"/>
                          </a:rPr>
                          <m:t>0</m:t>
                        </m:r>
                      </m:sub>
                      <m:sup>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𝑛</m:t>
                            </m:r>
                          </m:sup>
                        </m:sSup>
                        <m:r>
                          <a:rPr lang="en-US" sz="1200" b="0" i="1" smtClean="0">
                            <a:latin typeface="Cambria Math" panose="02040503050406030204" pitchFamily="18" charset="0"/>
                          </a:rPr>
                          <m:t>−1</m:t>
                        </m:r>
                      </m:sup>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𝑘</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𝑘</m:t>
                            </m:r>
                          </m:e>
                        </m:d>
                      </m:e>
                    </m:nary>
                  </m:oMath>
                </a14:m>
                <a:endParaRPr lang="en-ZA" sz="1200" dirty="0"/>
              </a:p>
              <a:p>
                <a:endParaRPr lang="en-ZA" sz="500" dirty="0"/>
              </a:p>
              <a:p>
                <a:r>
                  <a:rPr lang="en-ZA" sz="1200" dirty="0"/>
                  <a:t>A single qubit lives in a 2-dimensional space, two qubits in a 4-dimensional space, and </a:t>
                </a:r>
                <a14:m>
                  <m:oMath xmlns:m="http://schemas.openxmlformats.org/officeDocument/2006/math">
                    <m:r>
                      <a:rPr lang="en-US" sz="1200" i="1">
                        <a:latin typeface="Cambria Math" panose="02040503050406030204" pitchFamily="18" charset="0"/>
                      </a:rPr>
                      <m:t>𝑛</m:t>
                    </m:r>
                  </m:oMath>
                </a14:m>
                <a:r>
                  <a:rPr lang="en-ZA" sz="1200" dirty="0"/>
                  <a:t> qubits in a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𝑛</m:t>
                        </m:r>
                      </m:sup>
                    </m:sSup>
                  </m:oMath>
                </a14:m>
                <a:r>
                  <a:rPr lang="en-ZA" sz="1200" dirty="0"/>
                  <a:t>-dimensional space. In this representation, regardless of the number of qubits, their combined state is described by a single unit vector in the corresponding Hilbert space.</a:t>
                </a:r>
                <a:endParaRPr lang="en-US" sz="1200" dirty="0"/>
              </a:p>
              <a:p>
                <a:pPr algn="just"/>
                <a:endParaRPr lang="en-ZA" sz="1200" dirty="0"/>
              </a:p>
            </p:txBody>
          </p:sp>
        </mc:Choice>
        <mc:Fallback xmlns="">
          <p:sp>
            <p:nvSpPr>
              <p:cNvPr id="3" name="Notes Placeholder 2"/>
              <p:cNvSpPr>
                <a:spLocks noGrp="1"/>
              </p:cNvSpPr>
              <p:nvPr>
                <p:ph type="body" idx="1"/>
              </p:nvPr>
            </p:nvSpPr>
            <p:spPr/>
            <p:txBody>
              <a:bodyPr/>
              <a:lstStyle/>
              <a:p>
                <a:pPr algn="just"/>
                <a:r>
                  <a:rPr lang="sr-Latn-RS" sz="1200" kern="1200" dirty="0">
                    <a:solidFill>
                      <a:schemeClr val="tx1"/>
                    </a:solidFill>
                    <a:effectLst/>
                    <a:latin typeface="+mn-lt"/>
                    <a:ea typeface="+mn-ea"/>
                    <a:cs typeface="+mn-cs"/>
                  </a:rPr>
                  <a:t>Postulati kvantne mehanike opisuju osnovne principe koji upravljaju ponašanjem fizičkih sistema na kvantnom nivou. Kao prvi postulat, definisaćemo postulat o stanju kvantnog sistema.  U kvantnom računarstvu to je jedan ili više kubita.</a:t>
                </a:r>
              </a:p>
              <a:p>
                <a:pPr algn="just"/>
                <a:endParaRPr lang="en-US" dirty="0"/>
              </a:p>
              <a:p>
                <a:pPr algn="just"/>
                <a:r>
                  <a:rPr lang="en-US" dirty="0" err="1"/>
                  <a:t>Postulat</a:t>
                </a:r>
                <a:r>
                  <a:rPr lang="en-US" dirty="0"/>
                  <a:t> o </a:t>
                </a:r>
                <a:r>
                  <a:rPr lang="en-US" dirty="0" err="1"/>
                  <a:t>stanju</a:t>
                </a:r>
                <a:r>
                  <a:rPr lang="en-US" dirty="0"/>
                  <a:t>. </a:t>
                </a:r>
                <a:r>
                  <a:rPr lang="en-US" dirty="0" err="1"/>
                  <a:t>Čisto</a:t>
                </a:r>
                <a:r>
                  <a:rPr lang="en-US" dirty="0"/>
                  <a:t> </a:t>
                </a:r>
                <a:r>
                  <a:rPr lang="en-US" dirty="0" err="1"/>
                  <a:t>kvantno</a:t>
                </a:r>
                <a:r>
                  <a:rPr lang="en-US" dirty="0"/>
                  <a:t> </a:t>
                </a:r>
                <a:r>
                  <a:rPr lang="en-US" dirty="0" err="1"/>
                  <a:t>stanje</a:t>
                </a:r>
                <a:r>
                  <a:rPr lang="en-US" dirty="0"/>
                  <a:t> </a:t>
                </a:r>
                <a:r>
                  <a:rPr lang="en-US" dirty="0" err="1"/>
                  <a:t>izolovanog</a:t>
                </a:r>
                <a:r>
                  <a:rPr lang="en-US" dirty="0"/>
                  <a:t> </a:t>
                </a:r>
                <a:r>
                  <a:rPr lang="en-US" dirty="0" err="1"/>
                  <a:t>kvantnog</a:t>
                </a:r>
                <a:r>
                  <a:rPr lang="en-US" dirty="0"/>
                  <a:t> </a:t>
                </a:r>
                <a:r>
                  <a:rPr lang="en-US" dirty="0" err="1"/>
                  <a:t>sistema</a:t>
                </a:r>
                <a:r>
                  <a:rPr lang="en-US" dirty="0"/>
                  <a:t> </a:t>
                </a:r>
                <a:r>
                  <a:rPr lang="en-US" dirty="0" err="1"/>
                  <a:t>predstavlja</a:t>
                </a:r>
                <a:r>
                  <a:rPr lang="en-US" dirty="0"/>
                  <a:t> se </a:t>
                </a:r>
                <a:r>
                  <a:rPr lang="en-US" dirty="0" err="1"/>
                  <a:t>jediničnim</a:t>
                </a:r>
                <a:r>
                  <a:rPr lang="en-US" dirty="0"/>
                  <a:t> ket </a:t>
                </a:r>
                <a:r>
                  <a:rPr lang="en-US" dirty="0" err="1"/>
                  <a:t>vektorom</a:t>
                </a:r>
                <a:r>
                  <a:rPr lang="en-US" dirty="0"/>
                  <a:t> u </a:t>
                </a:r>
                <a:r>
                  <a:rPr lang="en-US" dirty="0" err="1"/>
                  <a:t>kompleksnom</a:t>
                </a:r>
                <a:r>
                  <a:rPr lang="en-US" dirty="0"/>
                  <a:t> </a:t>
                </a:r>
                <a:r>
                  <a:rPr lang="en-US" dirty="0" err="1"/>
                  <a:t>Hilbertovom</a:t>
                </a:r>
                <a:r>
                  <a:rPr lang="en-US" dirty="0"/>
                  <a:t> </a:t>
                </a:r>
                <a:r>
                  <a:rPr lang="en-US" dirty="0" err="1"/>
                  <a:t>prostoru</a:t>
                </a:r>
                <a:r>
                  <a:rPr lang="en-US" dirty="0"/>
                  <a:t>. </a:t>
                </a:r>
                <a:r>
                  <a:rPr lang="en-US" dirty="0" err="1"/>
                  <a:t>Ovaj</a:t>
                </a:r>
                <a:r>
                  <a:rPr lang="en-US" dirty="0"/>
                  <a:t> se </a:t>
                </a:r>
                <a:r>
                  <a:rPr lang="en-US" dirty="0" err="1"/>
                  <a:t>prostor</a:t>
                </a:r>
                <a:r>
                  <a:rPr lang="en-US" dirty="0"/>
                  <a:t> </a:t>
                </a:r>
                <a:r>
                  <a:rPr lang="en-US" dirty="0" err="1"/>
                  <a:t>naziva</a:t>
                </a:r>
                <a:r>
                  <a:rPr lang="en-US" dirty="0"/>
                  <a:t> </a:t>
                </a:r>
                <a:r>
                  <a:rPr lang="en-US" dirty="0" err="1"/>
                  <a:t>prostor</a:t>
                </a:r>
                <a:r>
                  <a:rPr lang="en-US" dirty="0"/>
                  <a:t> </a:t>
                </a:r>
                <a:r>
                  <a:rPr lang="en-US" dirty="0" err="1"/>
                  <a:t>stanja</a:t>
                </a:r>
                <a:r>
                  <a:rPr lang="en-US" dirty="0"/>
                  <a:t> </a:t>
                </a:r>
                <a:r>
                  <a:rPr lang="en-US" dirty="0" err="1"/>
                  <a:t>sistema</a:t>
                </a:r>
                <a:r>
                  <a:rPr lang="en-US" dirty="0"/>
                  <a:t>. </a:t>
                </a:r>
              </a:p>
              <a:p>
                <a:pPr algn="just"/>
                <a:endParaRPr lang="en-US" dirty="0"/>
              </a:p>
              <a:p>
                <a:pPr algn="just"/>
                <a:r>
                  <a:rPr lang="sr-Latn-RS" sz="1200" kern="1200" dirty="0">
                    <a:solidFill>
                      <a:schemeClr val="tx1"/>
                    </a:solidFill>
                    <a:effectLst/>
                    <a:latin typeface="+mn-lt"/>
                    <a:ea typeface="+mn-ea"/>
                    <a:cs typeface="+mn-cs"/>
                  </a:rPr>
                  <a:t>Vektor stanja sistema u </a:t>
                </a:r>
                <a:r>
                  <a:rPr lang="sr-Latn-RS" sz="1200" kern="1200" dirty="0" err="1">
                    <a:solidFill>
                      <a:schemeClr val="tx1"/>
                    </a:solidFill>
                    <a:effectLst/>
                    <a:latin typeface="+mn-lt"/>
                    <a:ea typeface="+mn-ea"/>
                    <a:cs typeface="+mn-cs"/>
                  </a:rPr>
                  <a:t>n-dimenzionalnom</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Hilbertovom</a:t>
                </a:r>
                <a:r>
                  <a:rPr lang="sr-Latn-RS" sz="1200" kern="1200" dirty="0">
                    <a:solidFill>
                      <a:schemeClr val="tx1"/>
                    </a:solidFill>
                    <a:effectLst/>
                    <a:latin typeface="+mn-lt"/>
                    <a:ea typeface="+mn-ea"/>
                    <a:cs typeface="+mn-cs"/>
                  </a:rPr>
                  <a:t> prostoru predstavlja se linearnom kombinacijom</a:t>
                </a:r>
                <a:endParaRPr lang="en-US" sz="1200" i="1" dirty="0">
                  <a:latin typeface="Cambria Math" panose="02040503050406030204" pitchFamily="18" charset="0"/>
                </a:endParaRPr>
              </a:p>
              <a:p>
                <a:pPr algn="just"/>
                <a:r>
                  <a:rPr lang="en-US" sz="1200" i="0">
                    <a:latin typeface="Cambria Math" panose="02040503050406030204" pitchFamily="18" charset="0"/>
                  </a:rPr>
                  <a:t>|𝑆⟩=∑1_(𝑘=0)^(</a:t>
                </a:r>
                <a:r>
                  <a:rPr lang="en-US" sz="1200" b="0" i="0">
                    <a:latin typeface="Cambria Math" panose="02040503050406030204" pitchFamily="18" charset="0"/>
                  </a:rPr>
                  <a:t>𝑛−1)▒〖</a:t>
                </a:r>
                <a:r>
                  <a:rPr lang="en-US" sz="1200" i="0">
                    <a:latin typeface="Cambria Math" panose="02040503050406030204" pitchFamily="18" charset="0"/>
                  </a:rPr>
                  <a:t>𝑎_𝑘 |𝑘⟩ 〗</a:t>
                </a:r>
                <a:endParaRPr lang="en-US" sz="1200" dirty="0">
                  <a:latin typeface="+mn-lt"/>
                </a:endParaRP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gde su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 vektori baze </a:t>
                </a:r>
                <a:r>
                  <a:rPr lang="sr-Latn-RS" sz="1200" kern="1200" dirty="0" err="1">
                    <a:solidFill>
                      <a:schemeClr val="tx1"/>
                    </a:solidFill>
                    <a:effectLst/>
                    <a:latin typeface="+mn-lt"/>
                    <a:ea typeface="+mn-ea"/>
                    <a:cs typeface="+mn-cs"/>
                  </a:rPr>
                  <a:t>Hilbertovog</a:t>
                </a:r>
                <a:r>
                  <a:rPr lang="sr-Latn-RS" sz="1200" kern="1200" dirty="0">
                    <a:solidFill>
                      <a:schemeClr val="tx1"/>
                    </a:solidFill>
                    <a:effectLst/>
                    <a:latin typeface="+mn-lt"/>
                    <a:ea typeface="+mn-ea"/>
                    <a:cs typeface="+mn-cs"/>
                  </a:rPr>
                  <a:t> prostora, a </a:t>
                </a:r>
                <a:r>
                  <a:rPr lang="sr-Latn-RS" sz="1200" i="0" kern="1200">
                    <a:solidFill>
                      <a:schemeClr val="tx1"/>
                    </a:solidFill>
                    <a:effectLst/>
                    <a:latin typeface="+mn-lt"/>
                    <a:ea typeface="+mn-ea"/>
                    <a:cs typeface="+mn-cs"/>
                  </a:rPr>
                  <a:t>𝑎</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kompleksne amplitude verovatnoća.</a:t>
                </a: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Za amplitude verovatnoća važi uslov normalizacije</a:t>
                </a:r>
                <a:r>
                  <a:rPr lang="en-ZA" sz="1200" kern="1200" baseline="0" dirty="0">
                    <a:solidFill>
                      <a:schemeClr val="tx1"/>
                    </a:solidFill>
                    <a:effectLst/>
                    <a:latin typeface="+mn-lt"/>
                    <a:ea typeface="+mn-ea"/>
                    <a:cs typeface="+mn-cs"/>
                  </a:rPr>
                  <a:t> </a:t>
                </a:r>
              </a:p>
              <a:p>
                <a:pPr algn="just"/>
                <a:r>
                  <a:rPr lang="en-ZA" sz="1200" i="0">
                    <a:latin typeface="Cambria Math" panose="02040503050406030204" pitchFamily="18" charset="0"/>
                  </a:rPr>
                  <a:t>∑1</a:t>
                </a:r>
                <a:r>
                  <a:rPr lang="sr-Latn-RS" sz="1200" i="0">
                    <a:latin typeface="Cambria Math" panose="02040503050406030204" pitchFamily="18" charset="0"/>
                  </a:rPr>
                  <a:t>_</a:t>
                </a:r>
                <a:r>
                  <a:rPr lang="en-ZA" sz="1200" i="0">
                    <a:latin typeface="Cambria Math" panose="02040503050406030204" pitchFamily="18" charset="0"/>
                  </a:rPr>
                  <a:t>(</a:t>
                </a:r>
                <a:r>
                  <a:rPr lang="sr-Latn-RS" sz="1200" i="0">
                    <a:latin typeface="Cambria Math" panose="02040503050406030204" pitchFamily="18" charset="0"/>
                  </a:rPr>
                  <a:t>𝑘=0</a:t>
                </a:r>
                <a:r>
                  <a:rPr lang="en-ZA" sz="1200" i="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US" sz="1200" b="0" i="0">
                    <a:latin typeface="Cambria Math" panose="02040503050406030204" pitchFamily="18" charset="0"/>
                  </a:rPr>
                  <a:t>〖</a:t>
                </a:r>
                <a:r>
                  <a:rPr lang="en-ZA" sz="1200" b="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𝑘 |</a:t>
                </a:r>
                <a:r>
                  <a:rPr lang="en-ZA" sz="1200" i="0">
                    <a:latin typeface="Cambria Math" panose="02040503050406030204" pitchFamily="18" charset="0"/>
                  </a:rPr>
                  <a:t>^</a:t>
                </a:r>
                <a:r>
                  <a:rPr lang="sr-Latn-RS" sz="1200" i="0">
                    <a:latin typeface="Cambria Math" panose="02040503050406030204" pitchFamily="18" charset="0"/>
                  </a:rPr>
                  <a:t>2=1</a:t>
                </a:r>
                <a:r>
                  <a:rPr lang="en-US" sz="1200" i="0">
                    <a:latin typeface="Cambria Math" panose="02040503050406030204" pitchFamily="18" charset="0"/>
                  </a:rPr>
                  <a:t>〗</a:t>
                </a:r>
                <a:r>
                  <a:rPr lang="en-US" sz="1200" b="0" i="0">
                    <a:latin typeface="Cambria Math" panose="02040503050406030204" pitchFamily="18" charset="0"/>
                  </a:rPr>
                  <a:t>     ili </a:t>
                </a:r>
                <a:r>
                  <a:rPr lang="sr-Latn-RS" sz="1200" i="0" kern="1200">
                    <a:solidFill>
                      <a:schemeClr val="tx1"/>
                    </a:solidFill>
                    <a:effectLst/>
                    <a:latin typeface="+mn-lt"/>
                    <a:ea typeface="+mn-ea"/>
                    <a:cs typeface="+mn-cs"/>
                  </a:rPr>
                  <a:t>ekivalentno,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𝑆│𝑆⟩=1</a:t>
                </a:r>
                <a:r>
                  <a:rPr lang="en-US" sz="1200" b="0" i="0" kern="1200">
                    <a:solidFill>
                      <a:schemeClr val="tx1"/>
                    </a:solidFill>
                    <a:effectLst/>
                    <a:latin typeface="Cambria Math" panose="02040503050406030204" pitchFamily="18" charset="0"/>
                    <a:ea typeface="+mn-ea"/>
                    <a:cs typeface="+mn-cs"/>
                  </a:rPr>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2410327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Another useful representation of the quantum state of a single qubit is the Bloch sphere.</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a:latin typeface="+mn-lt"/>
                  </a:rPr>
                  <a:t>Dvodimenzionali</a:t>
                </a:r>
                <a:r>
                  <a:rPr lang="en-US" sz="1200" dirty="0">
                    <a:latin typeface="+mn-lt"/>
                  </a:rPr>
                  <a:t> </a:t>
                </a:r>
                <a:r>
                  <a:rPr lang="en-US" sz="1200" dirty="0" err="1">
                    <a:latin typeface="+mn-lt"/>
                  </a:rPr>
                  <a:t>prikaz</a:t>
                </a:r>
                <a:r>
                  <a:rPr lang="en-US" sz="1200" dirty="0">
                    <a:latin typeface="+mn-lt"/>
                  </a:rPr>
                  <a:t> kubita </a:t>
                </a:r>
                <a:r>
                  <a:rPr lang="en-US" sz="1200" dirty="0" err="1">
                    <a:latin typeface="+mn-lt"/>
                  </a:rPr>
                  <a:t>je</a:t>
                </a:r>
                <a:r>
                  <a:rPr lang="en-US" sz="1200" dirty="0">
                    <a:latin typeface="+mn-lt"/>
                  </a:rPr>
                  <a:t> </a:t>
                </a:r>
                <a:r>
                  <a:rPr lang="en-US" sz="1200" dirty="0" err="1">
                    <a:latin typeface="+mn-lt"/>
                  </a:rPr>
                  <a:t>primenljiv</a:t>
                </a:r>
                <a:r>
                  <a:rPr lang="en-US" sz="1200" dirty="0">
                    <a:latin typeface="+mn-lt"/>
                  </a:rPr>
                  <a:t> </a:t>
                </a:r>
                <a:r>
                  <a:rPr lang="en-US" sz="1200" dirty="0" err="1">
                    <a:latin typeface="+mn-lt"/>
                  </a:rPr>
                  <a:t>samo</a:t>
                </a:r>
                <a:r>
                  <a:rPr lang="en-US" sz="1200" dirty="0">
                    <a:latin typeface="+mn-lt"/>
                  </a:rPr>
                  <a:t> </a:t>
                </a:r>
                <a:r>
                  <a:rPr lang="en-US" sz="1200" dirty="0" err="1">
                    <a:latin typeface="+mn-lt"/>
                  </a:rPr>
                  <a:t>ako</a:t>
                </a:r>
                <a:r>
                  <a:rPr lang="en-US" sz="1200" dirty="0">
                    <a:latin typeface="+mn-lt"/>
                  </a:rPr>
                  <a:t> </a:t>
                </a:r>
                <a:r>
                  <a:rPr lang="en-US" sz="1200" dirty="0" err="1">
                    <a:latin typeface="+mn-lt"/>
                  </a:rPr>
                  <a:t>su</a:t>
                </a:r>
                <a:r>
                  <a:rPr lang="en-US" sz="1200" dirty="0">
                    <a:latin typeface="+mn-lt"/>
                  </a:rPr>
                  <a:t> </a:t>
                </a:r>
                <a:r>
                  <a:rPr lang="en-US" sz="1200" dirty="0" err="1">
                    <a:latin typeface="+mn-lt"/>
                  </a:rPr>
                  <a:t>koeficijenti</a:t>
                </a:r>
                <a:r>
                  <a:rPr lang="en-US" sz="1200" dirty="0">
                    <a:latin typeface="+mn-lt"/>
                  </a:rPr>
                  <a:t> </a:t>
                </a:r>
                <a:r>
                  <a:rPr lang="sr-Latn-RS" sz="1200" i="0">
                    <a:solidFill>
                      <a:srgbClr val="0000FF"/>
                    </a:solidFill>
                    <a:latin typeface="Cambria Math" panose="02040503050406030204" pitchFamily="18" charset="0"/>
                    <a:ea typeface="Cambria Math" panose="02040503050406030204" pitchFamily="18" charset="0"/>
                  </a:rPr>
                  <a:t>𝑎</a:t>
                </a:r>
                <a:r>
                  <a:rPr lang="en-US" dirty="0">
                    <a:latin typeface="+mn-lt"/>
                  </a:rPr>
                  <a:t> i </a:t>
                </a:r>
                <a:r>
                  <a:rPr lang="sr-Latn-RS" sz="1200" b="0" i="0">
                    <a:solidFill>
                      <a:srgbClr val="0000FF"/>
                    </a:solidFill>
                    <a:latin typeface="Cambria Math" panose="02040503050406030204" pitchFamily="18" charset="0"/>
                    <a:ea typeface="Cambria Math" panose="02040503050406030204" pitchFamily="18" charset="0"/>
                  </a:rPr>
                  <a:t>𝑏</a:t>
                </a:r>
                <a:r>
                  <a:rPr lang="en-US" sz="1200" dirty="0">
                    <a:latin typeface="+mn-lt"/>
                  </a:rPr>
                  <a:t> </a:t>
                </a:r>
                <a:r>
                  <a:rPr lang="en-US" sz="1200" dirty="0" err="1">
                    <a:latin typeface="+mn-lt"/>
                  </a:rPr>
                  <a:t>realni</a:t>
                </a:r>
                <a:r>
                  <a:rPr lang="en-US" sz="1200" dirty="0">
                    <a:latin typeface="+mn-lt"/>
                  </a:rPr>
                  <a:t> </a:t>
                </a:r>
                <a:r>
                  <a:rPr lang="en-US" sz="1200" dirty="0" err="1">
                    <a:latin typeface="+mn-lt"/>
                  </a:rPr>
                  <a:t>brojevi</a:t>
                </a:r>
                <a:r>
                  <a:rPr lang="en-US" sz="1200" dirty="0">
                    <a:latin typeface="+mn-lt"/>
                  </a:rPr>
                  <a:t>. </a:t>
                </a:r>
                <a:r>
                  <a:rPr lang="en-US" sz="1200" dirty="0" err="1">
                    <a:latin typeface="+mn-lt"/>
                  </a:rPr>
                  <a:t>Za</a:t>
                </a:r>
                <a:r>
                  <a:rPr lang="en-US" sz="1200" dirty="0">
                    <a:latin typeface="+mn-lt"/>
                  </a:rPr>
                  <a:t> </a:t>
                </a:r>
                <a:r>
                  <a:rPr lang="en-US" sz="1200" dirty="0" err="1">
                    <a:latin typeface="+mn-lt"/>
                  </a:rPr>
                  <a:t>predstavljanje</a:t>
                </a:r>
                <a:r>
                  <a:rPr lang="en-US" sz="1200" dirty="0">
                    <a:latin typeface="+mn-lt"/>
                  </a:rPr>
                  <a:t> </a:t>
                </a:r>
                <a:r>
                  <a:rPr lang="en-US" sz="1200" dirty="0" err="1">
                    <a:latin typeface="+mn-lt"/>
                  </a:rPr>
                  <a:t>kompleksnih</a:t>
                </a:r>
                <a:r>
                  <a:rPr lang="en-US" sz="1200" dirty="0">
                    <a:latin typeface="+mn-lt"/>
                  </a:rPr>
                  <a:t> </a:t>
                </a:r>
                <a:r>
                  <a:rPr lang="en-US" sz="1200" dirty="0" err="1">
                    <a:latin typeface="+mn-lt"/>
                  </a:rPr>
                  <a:t>koeficijenata</a:t>
                </a:r>
                <a:r>
                  <a:rPr lang="en-US" sz="1200" dirty="0">
                    <a:latin typeface="+mn-lt"/>
                  </a:rPr>
                  <a:t> </a:t>
                </a:r>
                <a:r>
                  <a:rPr lang="en-US" sz="1200" dirty="0" err="1">
                    <a:latin typeface="+mn-lt"/>
                  </a:rPr>
                  <a:t>potrebno</a:t>
                </a:r>
                <a:r>
                  <a:rPr lang="en-US" sz="1200" dirty="0">
                    <a:latin typeface="+mn-lt"/>
                  </a:rPr>
                  <a:t> </a:t>
                </a:r>
                <a:r>
                  <a:rPr lang="en-US" sz="1200" dirty="0" err="1">
                    <a:latin typeface="+mn-lt"/>
                  </a:rPr>
                  <a:t>je</a:t>
                </a:r>
                <a:r>
                  <a:rPr lang="en-US" sz="1200" dirty="0">
                    <a:latin typeface="+mn-lt"/>
                  </a:rPr>
                  <a:t> </a:t>
                </a:r>
                <a:r>
                  <a:rPr lang="en-US" sz="1200" dirty="0" err="1">
                    <a:latin typeface="+mn-lt"/>
                  </a:rPr>
                  <a:t>uvesti</a:t>
                </a:r>
                <a:r>
                  <a:rPr lang="en-US" sz="1200" dirty="0">
                    <a:latin typeface="+mn-lt"/>
                  </a:rPr>
                  <a:t> </a:t>
                </a:r>
                <a:r>
                  <a:rPr lang="en-US" sz="1200" dirty="0" err="1">
                    <a:latin typeface="+mn-lt"/>
                  </a:rPr>
                  <a:t>još</a:t>
                </a:r>
                <a:r>
                  <a:rPr lang="en-US" sz="1200" dirty="0">
                    <a:latin typeface="+mn-lt"/>
                  </a:rPr>
                  <a:t> </a:t>
                </a:r>
                <a:r>
                  <a:rPr lang="en-US" sz="1200" dirty="0" err="1">
                    <a:latin typeface="+mn-lt"/>
                  </a:rPr>
                  <a:t>jednu</a:t>
                </a:r>
                <a:r>
                  <a:rPr lang="en-US" sz="1200" dirty="0">
                    <a:latin typeface="+mn-lt"/>
                  </a:rPr>
                  <a:t> </a:t>
                </a:r>
                <a:r>
                  <a:rPr lang="en-US" sz="1200" dirty="0" err="1">
                    <a:latin typeface="+mn-lt"/>
                  </a:rPr>
                  <a:t>dimenziju</a:t>
                </a:r>
                <a:r>
                  <a:rPr lang="en-US" sz="1200" dirty="0">
                    <a:latin typeface="+mn-lt"/>
                  </a:rPr>
                  <a:t>. To se </a:t>
                </a:r>
                <a:r>
                  <a:rPr lang="en-US" sz="1200" dirty="0" err="1">
                    <a:latin typeface="+mn-lt"/>
                  </a:rPr>
                  <a:t>postiže</a:t>
                </a:r>
                <a:r>
                  <a:rPr lang="en-US" sz="1200" dirty="0">
                    <a:latin typeface="+mn-lt"/>
                  </a:rPr>
                  <a:t> </a:t>
                </a:r>
                <a:r>
                  <a:rPr lang="en-US" sz="1200" dirty="0" err="1">
                    <a:latin typeface="+mn-lt"/>
                  </a:rPr>
                  <a:t>upotrebom</a:t>
                </a:r>
                <a:r>
                  <a:rPr lang="en-US" sz="1200" dirty="0">
                    <a:latin typeface="+mn-lt"/>
                  </a:rPr>
                  <a:t> </a:t>
                </a:r>
                <a:r>
                  <a:rPr lang="en-US" sz="1200" dirty="0" err="1">
                    <a:latin typeface="+mn-lt"/>
                  </a:rPr>
                  <a:t>Blohove</a:t>
                </a:r>
                <a:r>
                  <a:rPr lang="en-US" sz="1200" dirty="0">
                    <a:latin typeface="+mn-lt"/>
                  </a:rPr>
                  <a:t> </a:t>
                </a:r>
                <a:r>
                  <a:rPr lang="en-US" sz="1200" dirty="0" err="1">
                    <a:latin typeface="+mn-lt"/>
                  </a:rPr>
                  <a:t>sfere</a:t>
                </a:r>
                <a:r>
                  <a:rPr lang="en-US" sz="1200" dirty="0">
                    <a:latin typeface="+mn-lt"/>
                  </a:rPr>
                  <a:t>.</a:t>
                </a:r>
              </a:p>
              <a:p>
                <a:endParaRPr lang="en-US" sz="120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3697366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Bloch sphere is named after physicist Felix Bloch, who developed this representation to visualize the states of two-level quantum systems.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Bloch sphere is a geometric representation of the quantum state of a single qubit. </a:t>
                </a:r>
                <a:r>
                  <a:rPr lang="en-ZA" b="0" dirty="0"/>
                  <a:t>Each pure quantum state is represented by a point on the surface of the sphere and the corresponding vector from the </a:t>
                </a:r>
                <a:r>
                  <a:rPr lang="en-ZA" b="0" dirty="0" err="1"/>
                  <a:t>center</a:t>
                </a:r>
                <a:r>
                  <a:rPr lang="en-ZA" b="0" dirty="0"/>
                  <a:t> of the sphere.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The basis vectors ∣0⟩ and ∣1⟩ are represented by points at the poles of the sphere. All other points correspond to qubit states that are in a superposition of these two basis states. </a:t>
                </a:r>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4290587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Before introducing the Bloch sphere, it is useful to first unders</a:t>
                </a:r>
                <a:r>
                  <a:rPr lang="en-ZA" b="0" dirty="0"/>
                  <a:t>tand the phase factor.</a:t>
                </a:r>
              </a:p>
              <a:p>
                <a:pPr algn="just"/>
                <a:endParaRPr lang="en-ZA" b="0" dirty="0"/>
              </a:p>
              <a:p>
                <a:pPr algn="just"/>
                <a:r>
                  <a:rPr lang="en-ZA" dirty="0"/>
                  <a:t>Consider the unit complex number and its associated vector shown in the figure. Its real part is </a:t>
                </a:r>
                <a14:m>
                  <m:oMath xmlns:m="http://schemas.openxmlformats.org/officeDocument/2006/math">
                    <m:func>
                      <m:funcPr>
                        <m:ctrlPr>
                          <a:rPr lang="en-ZA" sz="1200" i="1" smtClean="0">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𝜑</m:t>
                        </m:r>
                      </m:e>
                    </m:func>
                  </m:oMath>
                </a14:m>
                <a:r>
                  <a:rPr lang="en-ZA" b="0" dirty="0"/>
                  <a:t>, and its imaginary part is </a:t>
                </a:r>
                <a14:m>
                  <m:oMath xmlns:m="http://schemas.openxmlformats.org/officeDocument/2006/math">
                    <m:func>
                      <m:funcPr>
                        <m:ctrlPr>
                          <a:rPr lang="en-ZA" b="0" i="1" smtClean="0">
                            <a:latin typeface="Cambria Math" panose="02040503050406030204" pitchFamily="18" charset="0"/>
                          </a:rPr>
                        </m:ctrlPr>
                      </m:funcPr>
                      <m:fName>
                        <m:r>
                          <m:rPr>
                            <m:sty m:val="p"/>
                          </m:rPr>
                          <a:rPr lang="sr-Latn-RS" b="0" smtClean="0">
                            <a:latin typeface="Cambria Math" panose="02040503050406030204" pitchFamily="18" charset="0"/>
                          </a:rPr>
                          <m:t>sin</m:t>
                        </m:r>
                      </m:fName>
                      <m:e>
                        <m:r>
                          <a:rPr lang="sr-Latn-RS" b="0" i="1" smtClean="0">
                            <a:latin typeface="Cambria Math" panose="02040503050406030204" pitchFamily="18" charset="0"/>
                            <a:ea typeface="Cambria Math" panose="02040503050406030204" pitchFamily="18" charset="0"/>
                          </a:rPr>
                          <m:t>𝜑</m:t>
                        </m:r>
                      </m:e>
                    </m:func>
                  </m:oMath>
                </a14:m>
                <a:r>
                  <a:rPr lang="en-ZA" b="0" dirty="0"/>
                  <a:t>. </a:t>
                </a:r>
                <a:r>
                  <a:rPr lang="en-ZA" dirty="0"/>
                  <a:t>This means that the complex number can be written as</a:t>
                </a:r>
                <a:r>
                  <a:rPr lang="en-ZA" b="0" baseline="0" dirty="0"/>
                  <a:t> </a:t>
                </a:r>
                <a14:m>
                  <m:oMath xmlns:m="http://schemas.openxmlformats.org/officeDocument/2006/math">
                    <m:func>
                      <m:funcPr>
                        <m:ctrlPr>
                          <a:rPr lang="en-ZA" sz="1200" i="1" smtClean="0">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𝜑</m:t>
                        </m:r>
                      </m:e>
                    </m:func>
                    <m:r>
                      <a:rPr lang="en-US" sz="1200" b="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ea typeface="Cambria Math" panose="02040503050406030204" pitchFamily="18" charset="0"/>
                          </a:rPr>
                          <m:t>𝜑</m:t>
                        </m:r>
                      </m:e>
                    </m:func>
                  </m:oMath>
                </a14:m>
                <a:r>
                  <a:rPr lang="en-ZA" b="0" dirty="0"/>
                  <a:t>. Euler's formula shows that the same complex number can be written more compactly as </a:t>
                </a:r>
                <a:r>
                  <a:rPr lang="en-ZA" b="0" baseline="0" dirty="0"/>
                  <a:t>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ea typeface="Cambria Math" panose="02040503050406030204" pitchFamily="18" charset="0"/>
                          </a:rPr>
                          <m:t>𝜑</m:t>
                        </m:r>
                      </m:sup>
                    </m:sSup>
                    <m:r>
                      <a:rPr lang="sr-Latn-RS" sz="1200" i="1">
                        <a:latin typeface="Cambria Math" panose="02040503050406030204" pitchFamily="18" charset="0"/>
                      </a:rPr>
                      <m:t>=</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𝜑</m:t>
                        </m:r>
                      </m:e>
                    </m:func>
                    <m:r>
                      <a:rPr lang="en-US" sz="1200" b="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ea typeface="Cambria Math" panose="02040503050406030204" pitchFamily="18" charset="0"/>
                          </a:rPr>
                          <m:t>𝜑</m:t>
                        </m:r>
                      </m:e>
                    </m:func>
                  </m:oMath>
                </a14:m>
                <a:r>
                  <a:rPr lang="en-ZA" b="0" dirty="0"/>
                  <a:t>, where </a:t>
                </a:r>
              </a:p>
              <a:p>
                <a:pPr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lang="en-US" sz="1200" b="0" i="1" smtClean="0">
                        <a:latin typeface="Cambria Math" panose="02040503050406030204" pitchFamily="18" charset="0"/>
                      </a:rPr>
                      <m:t>𝑒</m:t>
                    </m:r>
                    <m:r>
                      <a:rPr lang="en-US" sz="1200" b="0" i="1" smtClean="0">
                        <a:latin typeface="Cambria Math" panose="02040503050406030204" pitchFamily="18" charset="0"/>
                        <a:ea typeface="Cambria Math" panose="02040503050406030204" pitchFamily="18" charset="0"/>
                      </a:rPr>
                      <m:t>≈2.71</m:t>
                    </m:r>
                  </m:oMath>
                </a14:m>
                <a:r>
                  <a:rPr lang="en-ZA" b="0" dirty="0"/>
                  <a:t>  is Euler’s number.</a:t>
                </a:r>
              </a:p>
              <a:p>
                <a:pPr marL="171450" indent="-171450" algn="just">
                  <a:buFont typeface="Arial" panose="020B0604020202020204" pitchFamily="34" charset="0"/>
                  <a:buChar char="•"/>
                </a:pP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b="0" dirty="0"/>
                  <a:t> </a:t>
                </a:r>
                <a:r>
                  <a:rPr lang="en-ZA" b="0" dirty="0"/>
                  <a:t>is the phase angle,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n-ZA" dirty="0"/>
                  <a:t> is called a phase factor and it has </a:t>
                </a:r>
                <a:r>
                  <a:rPr lang="en-ZA" b="0" dirty="0"/>
                  <a:t>modulus</a:t>
                </a:r>
                <a:r>
                  <a:rPr lang="en-ZA" dirty="0"/>
                  <a:t> 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Although </a:t>
                </a:r>
                <a14:m>
                  <m:oMath xmlns:m="http://schemas.openxmlformats.org/officeDocument/2006/math">
                    <m:r>
                      <a:rPr lang="en-US" sz="1200" b="0" i="1" smtClean="0">
                        <a:latin typeface="Cambria Math" panose="02040503050406030204" pitchFamily="18" charset="0"/>
                      </a:rPr>
                      <m:t>𝑒</m:t>
                    </m:r>
                  </m:oMath>
                </a14:m>
                <a:r>
                  <a:rPr lang="en-ZA" dirty="0"/>
                  <a:t> is usually associated with exponential growth, Euler's formula shows that an imaginary exponent transforms exponential functions into rotations on the unit circle.</a:t>
                </a:r>
                <a:r>
                  <a:rPr lang="en-ZA" b="0" baseline="0" dirty="0"/>
                  <a:t> </a:t>
                </a:r>
                <a:r>
                  <a:rPr lang="en-ZA" dirty="0"/>
                  <a:t>As the angle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dirty="0"/>
                  <a:t> </a:t>
                </a:r>
                <a:r>
                  <a:rPr lang="en-ZA" dirty="0"/>
                  <a:t>increases, the complex number and its associated vector rotate around the origin. Since this rotation is captured by the </a:t>
                </a:r>
                <a:r>
                  <a:rPr lang="en-ZA" b="0" dirty="0"/>
                  <a:t>phase factor </a:t>
                </a: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l-GR" dirty="0"/>
                  <a:t>, </a:t>
                </a:r>
                <a:r>
                  <a:rPr lang="en-ZA" dirty="0"/>
                  <a:t>multiplying any complex number by </a:t>
                </a:r>
                <a:r>
                  <a:rPr lang="en-ZA" b="0" baseline="0" dirty="0"/>
                  <a:t> </a:t>
                </a: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l-GR" dirty="0"/>
                  <a:t> </a:t>
                </a:r>
                <a:r>
                  <a:rPr lang="en-ZA" dirty="0"/>
                  <a:t>rotates it by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dirty="0"/>
                  <a:t> </a:t>
                </a:r>
                <a:r>
                  <a:rPr lang="en-ZA" dirty="0"/>
                  <a:t>around the origin.</a:t>
                </a:r>
                <a:endParaRPr lang="en-ZA" b="0" dirty="0"/>
              </a:p>
            </p:txBody>
          </p:sp>
        </mc:Choice>
        <mc:Fallback xmlns="">
          <p:sp>
            <p:nvSpPr>
              <p:cNvPr id="3" name="Notes Placeholder 2"/>
              <p:cNvSpPr>
                <a:spLocks noGrp="1"/>
              </p:cNvSpPr>
              <p:nvPr>
                <p:ph type="body" idx="1"/>
              </p:nvPr>
            </p:nvSpPr>
            <p:spPr/>
            <p:txBody>
              <a:bodyPr/>
              <a:lstStyle/>
              <a:p>
                <a:pPr algn="just"/>
                <a:r>
                  <a:rPr lang="en-ZA" b="0" dirty="0"/>
                  <a:t>Take a look at the geometric interpretation of a complex unit vector with length </a:t>
                </a:r>
                <a:r>
                  <a:rPr lang="en-US" b="0" i="0">
                    <a:latin typeface="Cambria Math" panose="02040503050406030204" pitchFamily="18" charset="0"/>
                  </a:rPr>
                  <a:t>|𝑧|=1</a:t>
                </a:r>
                <a:r>
                  <a:rPr lang="en-ZA" b="0" dirty="0"/>
                  <a:t>, making an angle </a:t>
                </a:r>
                <a:r>
                  <a:rPr lang="sr-Latn-RS" b="0" i="0">
                    <a:latin typeface="Cambria Math" panose="02040503050406030204" pitchFamily="18" charset="0"/>
                    <a:ea typeface="Cambria Math" panose="02040503050406030204" pitchFamily="18" charset="0"/>
                  </a:rPr>
                  <a:t>𝜑</a:t>
                </a:r>
                <a:r>
                  <a:rPr lang="el-GR" b="0" dirty="0"/>
                  <a:t> </a:t>
                </a:r>
                <a:r>
                  <a:rPr lang="en-ZA" b="0" dirty="0"/>
                  <a:t>with the real axis. </a:t>
                </a:r>
              </a:p>
              <a:p>
                <a:pPr algn="just"/>
                <a:endParaRPr lang="en-ZA" b="0" dirty="0"/>
              </a:p>
              <a:p>
                <a:pPr algn="just"/>
                <a:r>
                  <a:rPr lang="en-ZA" b="0" dirty="0"/>
                  <a:t>The horizontal component is </a:t>
                </a:r>
                <a:r>
                  <a:rPr lang="sr-Latn-RS" b="0" i="0">
                    <a:latin typeface="Cambria Math" panose="02040503050406030204" pitchFamily="18" charset="0"/>
                  </a:rPr>
                  <a:t>cos</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l-GR" b="0" dirty="0"/>
                  <a:t>, </a:t>
                </a:r>
                <a:r>
                  <a:rPr lang="en-ZA" b="0" dirty="0"/>
                  <a:t>and the vertical component is</a:t>
                </a:r>
                <a:r>
                  <a:rPr lang="en-ZA" b="0" baseline="0" dirty="0"/>
                  <a:t> </a:t>
                </a:r>
                <a:r>
                  <a:rPr lang="sr-Latn-RS" b="0" i="0">
                    <a:latin typeface="Cambria Math" panose="02040503050406030204" pitchFamily="18" charset="0"/>
                  </a:rPr>
                  <a:t>𝑖 sin</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n-US" b="0" dirty="0"/>
                  <a:t>.</a:t>
                </a:r>
                <a:r>
                  <a:rPr lang="el-GR" b="0" dirty="0"/>
                  <a:t> </a:t>
                </a:r>
                <a:r>
                  <a:rPr lang="en-ZA" b="0" dirty="0"/>
                  <a:t>According to Euler’s formula, their sum equals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where:</a:t>
                </a:r>
              </a:p>
              <a:p>
                <a:pPr algn="just"/>
                <a:endParaRPr lang="en-ZA" b="0" dirty="0"/>
              </a:p>
              <a:p>
                <a:pPr algn="just"/>
                <a:r>
                  <a:rPr lang="sr-Latn-RS" sz="1200" b="0" i="0">
                    <a:latin typeface="Cambria Math" panose="02040503050406030204" pitchFamily="18" charset="0"/>
                    <a:ea typeface="Cambria Math" panose="02040503050406030204" pitchFamily="18" charset="0"/>
                  </a:rPr>
                  <a:t>𝜑</a:t>
                </a:r>
                <a:r>
                  <a:rPr lang="el-GR" b="0" dirty="0"/>
                  <a:t> </a:t>
                </a:r>
                <a:r>
                  <a:rPr lang="en-ZA" b="0" dirty="0"/>
                  <a:t>is the phase angle,</a:t>
                </a:r>
              </a:p>
              <a:p>
                <a:pPr algn="just"/>
                <a:r>
                  <a:rPr lang="en-US" sz="1200" b="0" i="0">
                    <a:latin typeface="Cambria Math" panose="02040503050406030204" pitchFamily="18" charset="0"/>
                  </a:rPr>
                  <a:t>𝑒</a:t>
                </a:r>
                <a:r>
                  <a:rPr lang="en-US" sz="1200" b="0" i="0">
                    <a:latin typeface="Cambria Math" panose="02040503050406030204" pitchFamily="18" charset="0"/>
                    <a:ea typeface="Cambria Math" panose="02040503050406030204" pitchFamily="18" charset="0"/>
                  </a:rPr>
                  <a:t>≈2.71</a:t>
                </a:r>
                <a:r>
                  <a:rPr lang="en-ZA" b="0" dirty="0"/>
                  <a:t> is the Euler’s </a:t>
                </a:r>
                <a:r>
                  <a:rPr lang="en-ZA" b="0" dirty="0" err="1"/>
                  <a:t>num</a:t>
                </a:r>
                <a:r>
                  <a:rPr lang="en-ZA" b="0" dirty="0"/>
                  <a:t>      </a:t>
                </a:r>
                <a:r>
                  <a:rPr lang="en-ZA" b="0" dirty="0" err="1"/>
                  <a:t>ber</a:t>
                </a:r>
                <a:r>
                  <a:rPr lang="en-ZA" b="0" dirty="0"/>
                  <a:t>,</a:t>
                </a:r>
              </a:p>
              <a:p>
                <a:pPr algn="just"/>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represents the phase.</a:t>
                </a:r>
              </a:p>
              <a:p>
                <a:pPr algn="just"/>
                <a:endParaRPr lang="en-ZA" b="0" dirty="0"/>
              </a:p>
              <a:p>
                <a:pPr algn="just"/>
                <a:r>
                  <a:rPr lang="en-ZA" b="0" dirty="0"/>
                  <a:t>This example illustrates the </a:t>
                </a:r>
                <a:r>
                  <a:rPr lang="en-ZA" b="0" dirty="0" err="1"/>
                  <a:t>counterclockwise</a:t>
                </a:r>
                <a:r>
                  <a:rPr lang="en-ZA" b="0" dirty="0"/>
                  <a:t> rotation of a complex vector around the origin as the phase angle </a:t>
                </a:r>
                <a:r>
                  <a:rPr lang="sr-Latn-RS" sz="1200" b="0" i="0">
                    <a:latin typeface="Cambria Math" panose="02040503050406030204" pitchFamily="18" charset="0"/>
                    <a:ea typeface="Cambria Math" panose="02040503050406030204" pitchFamily="18" charset="0"/>
                  </a:rPr>
                  <a:t>𝜑</a:t>
                </a:r>
                <a:r>
                  <a:rPr lang="en-ZA" b="0" dirty="0"/>
                  <a:t> increases. This rotation is encoded in the phase factor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multiplying a complex number by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rotates it by angle </a:t>
                </a:r>
                <a:r>
                  <a:rPr lang="sr-Latn-RS" sz="1200" b="0" i="0">
                    <a:latin typeface="Cambria Math" panose="02040503050406030204" pitchFamily="18" charset="0"/>
                    <a:ea typeface="Cambria Math" panose="02040503050406030204" pitchFamily="18" charset="0"/>
                  </a:rPr>
                  <a:t>𝜑</a:t>
                </a:r>
                <a:r>
                  <a:rPr lang="el-GR" b="0" dirty="0"/>
                  <a:t> </a:t>
                </a:r>
                <a:r>
                  <a:rPr lang="en-ZA" b="0" dirty="0"/>
                  <a:t>around the origin.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748683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the two-dimensional model, the qubit state vector moves along the unit circle, with real probability amplitudes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𝑎</m:t>
                        </m:r>
                      </m:e>
                      <m:sub>
                        <m:r>
                          <a:rPr lang="en-US" sz="1200" b="0" i="1" smtClean="0">
                            <a:latin typeface="Cambria Math" panose="02040503050406030204" pitchFamily="18" charset="0"/>
                            <a:ea typeface="Cambria Math" panose="02040503050406030204" pitchFamily="18" charset="0"/>
                          </a:rPr>
                          <m:t>0</m:t>
                        </m:r>
                      </m:sub>
                    </m:sSub>
                  </m:oMath>
                </a14:m>
                <a:r>
                  <a:rPr lang="en-ZA" b="0" dirty="0"/>
                  <a:t> and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𝑎</m:t>
                        </m:r>
                      </m:e>
                      <m:sub>
                        <m:r>
                          <a:rPr lang="en-US" sz="1200" b="0" i="1" smtClean="0">
                            <a:latin typeface="Cambria Math" panose="02040503050406030204" pitchFamily="18" charset="0"/>
                            <a:ea typeface="Cambria Math" panose="02040503050406030204" pitchFamily="18" charset="0"/>
                          </a:rPr>
                          <m:t>1</m:t>
                        </m:r>
                      </m:sub>
                    </m:sSub>
                  </m:oMath>
                </a14:m>
                <a:r>
                  <a:rPr lang="en-ZA" b="0" dirty="0"/>
                  <a:t> as its coordinates. The basis vectors ∣0⟩ and ∣1⟩ are orthonormal and aligned along the horizontal</a:t>
                </a:r>
                <a:r>
                  <a:rPr lang="en-ZA" b="0" baseline="0" dirty="0"/>
                  <a:t> and </a:t>
                </a:r>
                <a:r>
                  <a:rPr lang="en-ZA" b="0" baseline="0" dirty="0" err="1"/>
                  <a:t>verical</a:t>
                </a:r>
                <a:r>
                  <a:rPr lang="en-ZA" b="0" baseline="0" dirty="0"/>
                  <a:t> </a:t>
                </a:r>
                <a:r>
                  <a:rPr lang="en-ZA" b="0" dirty="0"/>
                  <a:t>axes, respectively. The image shows a qubit in an equal superposition of basis vectors, with probability amplitudes of </a:t>
                </a:r>
                <a14:m>
                  <m:oMath xmlns:m="http://schemas.openxmlformats.org/officeDocument/2006/math">
                    <m:f>
                      <m:fPr>
                        <m:type m:val="lin"/>
                        <m:ctrlPr>
                          <a:rPr lang="sr-Latn-RS" sz="1200" i="1" smtClean="0">
                            <a:latin typeface="Cambria Math" panose="02040503050406030204" pitchFamily="18" charset="0"/>
                            <a:ea typeface="Cambria Math" panose="02040503050406030204" pitchFamily="18" charset="0"/>
                          </a:rPr>
                        </m:ctrlPr>
                      </m:fPr>
                      <m:num>
                        <m:r>
                          <a:rPr lang="sr-Latn-RS" sz="1200" i="1">
                            <a:latin typeface="Cambria Math" panose="02040503050406030204" pitchFamily="18" charset="0"/>
                            <a:ea typeface="Cambria Math" panose="02040503050406030204" pitchFamily="18" charset="0"/>
                          </a:rPr>
                          <m:t>1</m:t>
                        </m:r>
                      </m:num>
                      <m:den>
                        <m:rad>
                          <m:radPr>
                            <m:degHide m:val="on"/>
                            <m:ctrlPr>
                              <a:rPr lang="sr-Latn-RS" sz="1200" i="1">
                                <a:latin typeface="Cambria Math" panose="02040503050406030204" pitchFamily="18" charset="0"/>
                                <a:ea typeface="Cambria Math" panose="02040503050406030204" pitchFamily="18" charset="0"/>
                              </a:rPr>
                            </m:ctrlPr>
                          </m:radPr>
                          <m:deg/>
                          <m:e>
                            <m:r>
                              <a:rPr lang="sr-Latn-RS" sz="1200" i="1">
                                <a:latin typeface="Cambria Math" panose="02040503050406030204" pitchFamily="18" charset="0"/>
                                <a:ea typeface="Cambria Math" panose="02040503050406030204" pitchFamily="18" charset="0"/>
                              </a:rPr>
                              <m:t>2</m:t>
                            </m:r>
                          </m:e>
                        </m:rad>
                      </m:den>
                    </m:f>
                  </m:oMath>
                </a14:m>
                <a:r>
                  <a:rPr lang="en-ZA" b="0" dirty="0"/>
                  <a:t>. The normalization condition is automatically satisfied because all qubit state vectors end on the unit circle.</a:t>
                </a:r>
              </a:p>
              <a:p>
                <a:pPr algn="just"/>
                <a:endParaRPr lang="en-US" sz="1200" dirty="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b="0" dirty="0"/>
                  <a:t>In the Bloch sphere representation, a qubit state is represented by a vector whose direction is determined by the polar angle </a:t>
                </a:r>
                <a:r>
                  <a:rPr lang="el-GR" b="0" dirty="0"/>
                  <a:t>θ</a:t>
                </a:r>
                <a:r>
                  <a:rPr lang="en-US" b="0" dirty="0"/>
                  <a:t> </a:t>
                </a:r>
                <a:r>
                  <a:rPr lang="en-ZA" b="0" dirty="0"/>
                  <a:t>and the phase angle </a:t>
                </a:r>
                <a14:m>
                  <m:oMath xmlns:m="http://schemas.openxmlformats.org/officeDocument/2006/math">
                    <m:r>
                      <a:rPr lang="el-GR" sz="1200" i="1" smtClean="0">
                        <a:latin typeface="Cambria Math" panose="02040503050406030204" pitchFamily="18" charset="0"/>
                        <a:ea typeface="Cambria Math" panose="02040503050406030204" pitchFamily="18" charset="0"/>
                      </a:rPr>
                      <m:t>𝜑</m:t>
                    </m:r>
                  </m:oMath>
                </a14:m>
                <a:r>
                  <a:rPr lang="el-GR" b="0" dirty="0"/>
                  <a:t>. </a:t>
                </a:r>
                <a:r>
                  <a:rPr lang="en-ZA" b="0" dirty="0"/>
                  <a:t>The angle </a:t>
                </a:r>
                <a:r>
                  <a:rPr lang="el-GR" b="0" dirty="0"/>
                  <a:t>θ, </a:t>
                </a:r>
                <a:r>
                  <a:rPr lang="en-ZA" b="0" dirty="0"/>
                  <a:t>measured from the positive z-axis, determines the position of the vector between the North Pole (∣0⟩) and the South Pole (∣1⟩). The phase angle </a:t>
                </a:r>
                <a14:m>
                  <m:oMath xmlns:m="http://schemas.openxmlformats.org/officeDocument/2006/math">
                    <m:r>
                      <a:rPr lang="el-GR" sz="1200" i="1" smtClean="0">
                        <a:latin typeface="Cambria Math" panose="02040503050406030204" pitchFamily="18" charset="0"/>
                        <a:ea typeface="Cambria Math" panose="02040503050406030204" pitchFamily="18" charset="0"/>
                      </a:rPr>
                      <m:t>𝜑</m:t>
                    </m:r>
                  </m:oMath>
                </a14:m>
                <a:r>
                  <a:rPr lang="el-GR" b="0" dirty="0"/>
                  <a:t> </a:t>
                </a:r>
                <a:r>
                  <a:rPr lang="en-ZA" b="0" dirty="0"/>
                  <a:t>determines the rotation of the vector around the z-axis and corresponds to the relative phase factor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ea typeface="Cambria Math" panose="02040503050406030204" pitchFamily="18" charset="0"/>
                          </a:rPr>
                          <m:t>𝜑</m:t>
                        </m:r>
                      </m:sup>
                    </m:sSup>
                  </m:oMath>
                </a14:m>
                <a:r>
                  <a:rPr lang="el-GR" b="0" dirty="0"/>
                  <a:t> </a:t>
                </a:r>
                <a:r>
                  <a:rPr lang="en-ZA" b="0" dirty="0"/>
                  <a:t>in the qubit state.</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b="0" dirty="0"/>
              </a:p>
              <a:p>
                <a:pPr marL="0" indent="0" algn="just">
                  <a:buFont typeface="+mj-lt"/>
                  <a:buNone/>
                </a:pPr>
                <a:r>
                  <a:rPr lang="en-ZA" dirty="0"/>
                  <a:t>For </a:t>
                </a:r>
                <a14:m>
                  <m:oMath xmlns:m="http://schemas.openxmlformats.org/officeDocument/2006/math">
                    <m:r>
                      <a:rPr lang="el-GR" sz="120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=0</m:t>
                    </m:r>
                  </m:oMath>
                </a14:m>
                <a:r>
                  <a:rPr lang="en-ZA" dirty="0"/>
                  <a:t> or </a:t>
                </a:r>
                <a14:m>
                  <m:oMath xmlns:m="http://schemas.openxmlformats.org/officeDocument/2006/math">
                    <m:r>
                      <a:rPr lang="el-GR" sz="120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oMath>
                </a14:m>
                <a:r>
                  <a:rPr lang="el-GR" dirty="0"/>
                  <a:t>, </a:t>
                </a:r>
                <a:r>
                  <a:rPr lang="en-ZA" dirty="0"/>
                  <a:t>the Bloch vector lies in the </a:t>
                </a:r>
                <a:r>
                  <a:rPr lang="en-ZA" dirty="0" err="1"/>
                  <a:t>xz</a:t>
                </a:r>
                <a:r>
                  <a:rPr lang="en-ZA" dirty="0"/>
                  <a:t>-plane, and the qubit state has only real probability amplitudes. This plane is highlighted in green in the figure. For all other values of </a:t>
                </a:r>
                <a14:m>
                  <m:oMath xmlns:m="http://schemas.openxmlformats.org/officeDocument/2006/math">
                    <m:r>
                      <a:rPr lang="el-GR" sz="1200" i="1" smtClean="0">
                        <a:latin typeface="Cambria Math" panose="02040503050406030204" pitchFamily="18" charset="0"/>
                        <a:ea typeface="Cambria Math" panose="02040503050406030204" pitchFamily="18" charset="0"/>
                      </a:rPr>
                      <m:t>𝜑</m:t>
                    </m:r>
                  </m:oMath>
                </a14:m>
                <a:r>
                  <a:rPr lang="el-GR" dirty="0"/>
                  <a:t>, </a:t>
                </a:r>
                <a:r>
                  <a:rPr lang="en-ZA" dirty="0"/>
                  <a:t>the qubit state has complex probability amplitudes.</a:t>
                </a:r>
                <a:endParaRPr lang="en-ZA" b="0" dirty="0"/>
              </a:p>
              <a:p>
                <a:pPr marL="0" indent="0" algn="just">
                  <a:spcAft>
                    <a:spcPts val="1000"/>
                  </a:spcAft>
                  <a:buFont typeface="Arial" panose="020B0604020202020204" pitchFamily="34" charset="0"/>
                  <a:buNone/>
                </a:pPr>
                <a:endParaRPr lang="en-US" sz="1200" dirty="0">
                  <a:ea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latin typeface="Cambria" panose="02040503050406030204" pitchFamily="18" charset="0"/>
                    <a:ea typeface="Times New Roman" panose="02020603050405020304" pitchFamily="18" charset="0"/>
                    <a:cs typeface="Times New Roman" panose="02020603050405020304" pitchFamily="18" charset="0"/>
                  </a:rPr>
                  <a:t>A basic unit of data in computing is a </a:t>
                </a:r>
                <a:r>
                  <a:rPr lang="en-US" sz="2000" b="1" dirty="0">
                    <a:latin typeface="Cambria" panose="02040503050406030204" pitchFamily="18" charset="0"/>
                    <a:ea typeface="Times New Roman" panose="02020603050405020304" pitchFamily="18" charset="0"/>
                    <a:cs typeface="Times New Roman" panose="02020603050405020304" pitchFamily="18" charset="0"/>
                  </a:rPr>
                  <a:t>bi</a:t>
                </a:r>
                <a:r>
                  <a:rPr lang="en-US" sz="2000" dirty="0">
                    <a:latin typeface="Cambria" panose="02040503050406030204" pitchFamily="18" charset="0"/>
                    <a:ea typeface="Times New Roman" panose="02020603050405020304" pitchFamily="18" charset="0"/>
                    <a:cs typeface="Times New Roman" panose="02020603050405020304" pitchFamily="18" charset="0"/>
                  </a:rPr>
                  <a:t>nary digi</a:t>
                </a:r>
                <a:r>
                  <a:rPr lang="en-US" sz="2000" b="1" dirty="0">
                    <a:latin typeface="Cambria" panose="02040503050406030204" pitchFamily="18" charset="0"/>
                    <a:ea typeface="Times New Roman" panose="02020603050405020304" pitchFamily="18" charset="0"/>
                    <a:cs typeface="Times New Roman" panose="02020603050405020304" pitchFamily="18" charset="0"/>
                  </a:rPr>
                  <a:t>t</a:t>
                </a:r>
                <a:r>
                  <a:rPr lang="en-US" sz="2000" dirty="0">
                    <a:latin typeface="Cambria" panose="02040503050406030204" pitchFamily="18" charset="0"/>
                    <a:ea typeface="Times New Roman" panose="02020603050405020304" pitchFamily="18" charset="0"/>
                    <a:cs typeface="Times New Roman" panose="02020603050405020304" pitchFamily="18" charset="0"/>
                  </a:rPr>
                  <a:t> or a bit. A bit holds one of two values: 0 or 1. Inside a computer, bit is represented by an electrical voltage or current pulse, or by the electrical state of a two-state, so called flip-flop circuit.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kern="1200" dirty="0">
                    <a:solidFill>
                      <a:schemeClr val="tx1"/>
                    </a:solidFill>
                    <a:effectLst/>
                    <a:latin typeface="+mn-lt"/>
                    <a:ea typeface="+mn-ea"/>
                    <a:cs typeface="+mn-cs"/>
                  </a:rPr>
                  <a:t>Any data, for example, video, sound, graphics or numbers is represented as a string of 0s and 1s</a:t>
                </a:r>
                <a:r>
                  <a:rPr lang="en-US" sz="2000" kern="1200" baseline="0" dirty="0">
                    <a:solidFill>
                      <a:schemeClr val="tx1"/>
                    </a:solidFill>
                    <a:effectLst/>
                    <a:latin typeface="+mn-lt"/>
                    <a:ea typeface="+mn-ea"/>
                    <a:cs typeface="+mn-cs"/>
                  </a:rPr>
                  <a:t>, which is called binary data. </a:t>
                </a:r>
                <a:r>
                  <a:rPr lang="en-US" sz="2000" kern="1200" dirty="0">
                    <a:solidFill>
                      <a:schemeClr val="tx1"/>
                    </a:solidFill>
                    <a:effectLst/>
                    <a:latin typeface="+mn-lt"/>
                    <a:ea typeface="+mn-ea"/>
                    <a:cs typeface="+mn-cs"/>
                  </a:rPr>
                  <a:t>When binary data represent a whole number</a:t>
                </a:r>
                <a:r>
                  <a:rPr lang="en-US" sz="2000" kern="1200" baseline="0" dirty="0">
                    <a:solidFill>
                      <a:schemeClr val="tx1"/>
                    </a:solidFill>
                    <a:effectLst/>
                    <a:latin typeface="Cambria" panose="02040503050406030204" pitchFamily="18" charset="0"/>
                    <a:ea typeface="+mn-ea"/>
                    <a:cs typeface="Times New Roman" panose="02020603050405020304" pitchFamily="18" charset="0"/>
                  </a:rPr>
                  <a:t> e</a:t>
                </a:r>
                <a:r>
                  <a:rPr lang="en-US" sz="2000" kern="1200" dirty="0">
                    <a:solidFill>
                      <a:schemeClr val="tx1"/>
                    </a:solidFill>
                    <a:effectLst/>
                    <a:latin typeface="+mn-lt"/>
                    <a:ea typeface="+mn-ea"/>
                    <a:cs typeface="+mn-cs"/>
                  </a:rPr>
                  <a:t>ach bit position in a binary string is associated with a weight. given as </a:t>
                </a:r>
                <a:r>
                  <a:rPr lang="en-US" sz="2000" i="0" kern="1200">
                    <a:solidFill>
                      <a:schemeClr val="tx1"/>
                    </a:solidFill>
                    <a:effectLst/>
                    <a:latin typeface="+mn-lt"/>
                    <a:ea typeface="+mn-ea"/>
                    <a:cs typeface="+mn-cs"/>
                  </a:rPr>
                  <a:t>2^𝑝𝑜𝑠𝑖𝑡𝑜𝑛</a:t>
                </a:r>
                <a:r>
                  <a:rPr lang="en-US" sz="2000" dirty="0">
                    <a:effectLst/>
                  </a:rPr>
                  <a:t> .</a:t>
                </a:r>
                <a:r>
                  <a:rPr lang="en-US" sz="2000" baseline="0" dirty="0">
                    <a:effectLst/>
                  </a:rPr>
                  <a:t> </a:t>
                </a:r>
                <a:r>
                  <a:rPr lang="en-US" sz="2000" kern="1200" dirty="0">
                    <a:solidFill>
                      <a:schemeClr val="tx1"/>
                    </a:solidFill>
                    <a:effectLst/>
                    <a:latin typeface="+mn-lt"/>
                    <a:ea typeface="+mn-ea"/>
                    <a:cs typeface="+mn-cs"/>
                  </a:rPr>
                  <a:t>The position count starts from 0,</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from the rightmost bit called the least significant bit.</a:t>
                </a:r>
                <a:r>
                  <a:rPr lang="en-US" sz="2000" kern="1200" baseline="0" dirty="0">
                    <a:solidFill>
                      <a:schemeClr val="tx1"/>
                    </a:solidFill>
                    <a:effectLst/>
                    <a:latin typeface="+mn-lt"/>
                    <a:ea typeface="+mn-ea"/>
                    <a:cs typeface="+mn-cs"/>
                  </a:rPr>
                  <a:t> </a:t>
                </a:r>
                <a:r>
                  <a:rPr lang="en-US" sz="2000" dirty="0">
                    <a:effectLst/>
                  </a:rPr>
                  <a:t> </a:t>
                </a:r>
                <a:r>
                  <a:rPr lang="en-US" sz="2000" kern="1200" dirty="0">
                    <a:solidFill>
                      <a:schemeClr val="tx1"/>
                    </a:solidFill>
                    <a:effectLst/>
                    <a:latin typeface="+mn-lt"/>
                    <a:ea typeface="+mn-ea"/>
                    <a:cs typeface="+mn-cs"/>
                  </a:rPr>
                  <a:t>To convert a binary to a decimal number, all digits that are 1 in the binary sequence are multiplied by their weights and the results summed up.</a:t>
                </a:r>
              </a:p>
              <a:p>
                <a:pPr marL="342900" indent="-3429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188402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1" dirty="0"/>
                  <a:t>1. Two-Dimensional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To derive the Bloch-sphere representation, we start with a simplified geometric model in the </a:t>
                </a:r>
                <a14:m>
                  <m:oMath xmlns:m="http://schemas.openxmlformats.org/officeDocument/2006/math">
                    <m:r>
                      <a:rPr lang="sr-Latn-RS" b="0" i="1" smtClean="0">
                        <a:latin typeface="Cambria Math" panose="02040503050406030204" pitchFamily="18" charset="0"/>
                      </a:rPr>
                      <m:t>𝑥</m:t>
                    </m:r>
                    <m:r>
                      <a:rPr lang="en-US" b="0" i="1" smtClean="0">
                        <a:latin typeface="Cambria Math" panose="02040503050406030204" pitchFamily="18" charset="0"/>
                      </a:rPr>
                      <m:t>𝑧</m:t>
                    </m:r>
                  </m:oMath>
                </a14:m>
                <a:r>
                  <a:rPr lang="en-ZA" dirty="0"/>
                  <a:t>-plane, where the state vector is </a:t>
                </a:r>
                <a:endParaRPr lang="en-US" sz="1200"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200" i="1" smtClean="0">
                              <a:latin typeface="Cambria Math" panose="02040503050406030204" pitchFamily="18" charset="0"/>
                            </a:rPr>
                          </m:ctrlPr>
                        </m:funcPr>
                        <m:fNa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r>
                            <a:rPr lang="en-US" sz="1200" i="1">
                              <a:latin typeface="Cambria Math" panose="02040503050406030204" pitchFamily="18" charset="0"/>
                            </a:rPr>
                            <m:t>𝑐𝑜𝑠</m:t>
                          </m:r>
                        </m:fName>
                        <m:e>
                          <m:r>
                            <a:rPr lang="en-US" sz="1200" i="1" smtClean="0">
                              <a:latin typeface="Cambria Math" panose="02040503050406030204" pitchFamily="18" charset="0"/>
                              <a:ea typeface="Cambria Math" panose="02040503050406030204" pitchFamily="18" charset="0"/>
                            </a:rPr>
                            <m:t>𝛼</m:t>
                          </m:r>
                        </m:e>
                      </m:func>
                      <m:d>
                        <m:dPr>
                          <m:begChr m:val="|"/>
                          <m:endChr m:val="⟩"/>
                          <m:ctrlPr>
                            <a:rPr lang="en-US" sz="1200" i="1">
                              <a:latin typeface="Cambria Math" panose="02040503050406030204" pitchFamily="18" charset="0"/>
                            </a:rPr>
                          </m:ctrlPr>
                        </m:dPr>
                        <m:e>
                          <m:r>
                            <a:rPr lang="en-US" sz="1200">
                              <a:latin typeface="Cambria Math" panose="02040503050406030204" pitchFamily="18" charset="0"/>
                            </a:rPr>
                            <m:t>0</m:t>
                          </m:r>
                        </m:e>
                      </m:d>
                      <m:r>
                        <a:rPr lang="en-US" sz="1200">
                          <a:latin typeface="Cambria Math" panose="02040503050406030204" pitchFamily="18" charset="0"/>
                        </a:rPr>
                        <m:t>+</m:t>
                      </m:r>
                      <m:func>
                        <m:funcPr>
                          <m:ctrlPr>
                            <a:rPr lang="en-US" sz="1200" i="1">
                              <a:latin typeface="Cambria Math" panose="02040503050406030204" pitchFamily="18" charset="0"/>
                            </a:rPr>
                          </m:ctrlPr>
                        </m:funcPr>
                        <m:fName>
                          <m:r>
                            <a:rPr lang="en-US" sz="1200" i="1">
                              <a:latin typeface="Cambria Math" panose="02040503050406030204" pitchFamily="18" charset="0"/>
                            </a:rPr>
                            <m:t> </m:t>
                          </m:r>
                          <m:r>
                            <a:rPr lang="en-US" sz="1200" i="1">
                              <a:latin typeface="Cambria Math" panose="02040503050406030204" pitchFamily="18" charset="0"/>
                            </a:rPr>
                            <m:t>𝑠𝑖𝑛</m:t>
                          </m:r>
                        </m:fName>
                        <m:e>
                          <m:r>
                            <a:rPr lang="en-US" sz="1200" i="1" smtClean="0">
                              <a:latin typeface="Cambria Math" panose="02040503050406030204" pitchFamily="18" charset="0"/>
                              <a:ea typeface="Cambria Math" panose="02040503050406030204" pitchFamily="18" charset="0"/>
                            </a:rPr>
                            <m:t>𝛼</m:t>
                          </m:r>
                        </m:e>
                      </m:func>
                      <m:d>
                        <m:dPr>
                          <m:begChr m:val="|"/>
                          <m:endChr m:val="⟩"/>
                          <m:ctrlPr>
                            <a:rPr lang="en-US" sz="1200" i="1">
                              <a:latin typeface="Cambria Math" panose="02040503050406030204" pitchFamily="18" charset="0"/>
                            </a:rPr>
                          </m:ctrlPr>
                        </m:dPr>
                        <m:e>
                          <m:r>
                            <a:rPr lang="en-US" sz="1200">
                              <a:latin typeface="Cambria Math" panose="02040503050406030204" pitchFamily="18" charset="0"/>
                            </a:rPr>
                            <m:t>1</m:t>
                          </m:r>
                        </m:e>
                      </m:d>
                    </m:oMath>
                  </m:oMathPara>
                </a14:m>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Here,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oMath>
                </a14:m>
                <a:r>
                  <a:rPr lang="en-ZA" dirty="0"/>
                  <a:t> is the angle between the state vector and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𝑧</m:t>
                    </m:r>
                  </m:oMath>
                </a14:m>
                <a:r>
                  <a:rPr lang="en-ZA" dirty="0"/>
                  <a:t>-axis, which represents the ∣0⟩ direction. For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r>
                      <a:rPr lang="sr-Latn-RS" sz="1200" b="0" i="1" smtClean="0">
                        <a:latin typeface="Cambria Math" panose="02040503050406030204" pitchFamily="18" charset="0"/>
                      </a:rPr>
                      <m:t>=0</m:t>
                    </m:r>
                  </m:oMath>
                </a14:m>
                <a:r>
                  <a:rPr lang="en-US" baseline="0" dirty="0"/>
                  <a:t>, </a:t>
                </a:r>
                <a14:m>
                  <m:oMath xmlns:m="http://schemas.openxmlformats.org/officeDocument/2006/math">
                    <m:func>
                      <m:funcPr>
                        <m:ctrlPr>
                          <a:rPr lang="en-US" sz="1200" i="1" smtClean="0">
                            <a:latin typeface="Cambria Math" panose="02040503050406030204" pitchFamily="18" charset="0"/>
                          </a:rPr>
                        </m:ctrlPr>
                      </m:funcPr>
                      <m:fNa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fName>
                      <m:e>
                        <m:d>
                          <m:dPr>
                            <m:begChr m:val="|"/>
                            <m:endChr m:val="⟩"/>
                            <m:ctrlPr>
                              <a:rPr lang="en-US" sz="1200" i="1" smtClean="0">
                                <a:latin typeface="Cambria Math" panose="02040503050406030204" pitchFamily="18" charset="0"/>
                              </a:rPr>
                            </m:ctrlPr>
                          </m:dPr>
                          <m:e>
                            <m:r>
                              <a:rPr lang="sr-Latn-RS" sz="1200" b="0" i="1" smtClean="0">
                                <a:latin typeface="Cambria Math" panose="02040503050406030204" pitchFamily="18" charset="0"/>
                              </a:rPr>
                              <m:t>0</m:t>
                            </m:r>
                          </m:e>
                        </m:d>
                      </m:e>
                    </m:func>
                  </m:oMath>
                </a14:m>
                <a:r>
                  <a:rPr lang="en-US" baseline="0" dirty="0"/>
                  <a:t>, </a:t>
                </a:r>
                <a:r>
                  <a:rPr lang="en-ZA" dirty="0"/>
                  <a:t>while for</a:t>
                </a:r>
                <a:r>
                  <a:rPr lang="en-US" baseline="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r>
                      <a:rPr lang="sr-Latn-RS" sz="1200" b="0" i="1" smtClean="0">
                        <a:latin typeface="Cambria Math" panose="02040503050406030204" pitchFamily="18" charset="0"/>
                      </a:rPr>
                      <m:t>=</m:t>
                    </m:r>
                    <m:r>
                      <a:rPr lang="en-US" sz="1200" i="1" smtClean="0">
                        <a:solidFill>
                          <a:schemeClr val="tx1"/>
                        </a:solidFill>
                        <a:latin typeface="Cambria Math" panose="02040503050406030204" pitchFamily="18" charset="0"/>
                      </a:rPr>
                      <m:t>𝜋</m:t>
                    </m:r>
                    <m:r>
                      <a:rPr lang="sr-Latn-RS" sz="1200" b="0" i="1" smtClean="0">
                        <a:solidFill>
                          <a:schemeClr val="tx1"/>
                        </a:solidFill>
                        <a:latin typeface="Cambria Math" panose="02040503050406030204" pitchFamily="18" charset="0"/>
                      </a:rPr>
                      <m:t>/2</m:t>
                    </m:r>
                  </m:oMath>
                </a14:m>
                <a:r>
                  <a:rPr lang="en-US" baseline="0" dirty="0"/>
                  <a:t>, </a:t>
                </a:r>
                <a14:m>
                  <m:oMath xmlns:m="http://schemas.openxmlformats.org/officeDocument/2006/math">
                    <m:func>
                      <m:funcPr>
                        <m:ctrlPr>
                          <a:rPr lang="en-US" sz="1200" i="1" smtClean="0">
                            <a:latin typeface="Cambria Math" panose="02040503050406030204" pitchFamily="18" charset="0"/>
                          </a:rPr>
                        </m:ctrlPr>
                      </m:funcPr>
                      <m:fNa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fName>
                      <m:e>
                        <m:d>
                          <m:dPr>
                            <m:begChr m:val="|"/>
                            <m:endChr m:val="⟩"/>
                            <m:ctrlPr>
                              <a:rPr lang="en-US" sz="1200" i="1" smtClean="0">
                                <a:latin typeface="Cambria Math" panose="02040503050406030204" pitchFamily="18" charset="0"/>
                              </a:rPr>
                            </m:ctrlPr>
                          </m:dPr>
                          <m:e>
                            <m:r>
                              <a:rPr lang="sr-Latn-RS" sz="1200" b="0" i="1" smtClean="0">
                                <a:latin typeface="Cambria Math" panose="02040503050406030204" pitchFamily="18" charset="0"/>
                              </a:rPr>
                              <m:t>1</m:t>
                            </m:r>
                          </m:e>
                        </m:d>
                      </m:e>
                    </m:func>
                  </m:oMath>
                </a14:m>
                <a:r>
                  <a:rPr lang="en-ZA" dirty="0"/>
                  <a:t>. With real amplitudes, the state vector is restricted to the unit circle in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𝑥𝑧</m:t>
                    </m:r>
                  </m:oMath>
                </a14:m>
                <a:r>
                  <a:rPr lang="en-ZA" dirty="0"/>
                  <a:t>-plane.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r>
                  <a:rPr lang="en-ZA" b="1" dirty="0"/>
                  <a:t>2. Introducing the Relative Phase</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To include the relative phase, the amplitude of the ∣1⟩ component is multiplied by the phase factor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oMath>
                </a14:m>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200" i="1" smtClean="0">
                              <a:latin typeface="Cambria Math" panose="02040503050406030204" pitchFamily="18" charset="0"/>
                            </a:rPr>
                          </m:ctrlPr>
                        </m:funcPr>
                        <m:fNa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r>
                            <a:rPr lang="en-US" sz="1200" i="1">
                              <a:latin typeface="Cambria Math" panose="02040503050406030204" pitchFamily="18" charset="0"/>
                            </a:rPr>
                            <m:t>𝑐𝑜𝑠</m:t>
                          </m:r>
                        </m:fName>
                        <m:e>
                          <m:r>
                            <a:rPr lang="en-US" sz="1200" i="1" smtClean="0">
                              <a:latin typeface="Cambria Math" panose="02040503050406030204" pitchFamily="18" charset="0"/>
                              <a:ea typeface="Cambria Math" panose="02040503050406030204" pitchFamily="18" charset="0"/>
                            </a:rPr>
                            <m:t>𝛼</m:t>
                          </m:r>
                        </m:e>
                      </m:func>
                      <m:d>
                        <m:dPr>
                          <m:begChr m:val="|"/>
                          <m:endChr m:val="⟩"/>
                          <m:ctrlPr>
                            <a:rPr lang="en-US" sz="1200" i="1">
                              <a:latin typeface="Cambria Math" panose="02040503050406030204" pitchFamily="18" charset="0"/>
                            </a:rPr>
                          </m:ctrlPr>
                        </m:dPr>
                        <m:e>
                          <m:r>
                            <a:rPr lang="en-US" sz="1200">
                              <a:latin typeface="Cambria Math" panose="02040503050406030204" pitchFamily="18" charset="0"/>
                            </a:rPr>
                            <m:t>0</m:t>
                          </m:r>
                        </m:e>
                      </m:d>
                      <m:r>
                        <a:rPr lang="en-US" sz="1200">
                          <a:latin typeface="Cambria Math" panose="02040503050406030204" pitchFamily="18" charset="0"/>
                        </a:rPr>
                        <m:t>+</m:t>
                      </m:r>
                      <m:func>
                        <m:funcPr>
                          <m:ctrlPr>
                            <a:rPr lang="en-US" sz="1200" i="1">
                              <a:latin typeface="Cambria Math" panose="02040503050406030204" pitchFamily="18" charset="0"/>
                            </a:rPr>
                          </m:ctrlPr>
                        </m:funcPr>
                        <m:fName>
                          <m:sSup>
                            <m:sSupPr>
                              <m:ctrlPr>
                                <a:rPr lang="en-US" sz="1200" i="1">
                                  <a:latin typeface="Cambria Math" panose="02040503050406030204" pitchFamily="18" charset="0"/>
                                </a:rPr>
                              </m:ctrlPr>
                            </m:sSupPr>
                            <m:e>
                              <m:r>
                                <a:rPr lang="en-US" sz="1200" i="1">
                                  <a:latin typeface="Cambria Math" panose="02040503050406030204" pitchFamily="18" charset="0"/>
                                </a:rPr>
                                <m:t> </m:t>
                              </m:r>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r>
                            <a:rPr lang="en-US" sz="1200" i="1">
                              <a:latin typeface="Cambria Math" panose="02040503050406030204" pitchFamily="18" charset="0"/>
                            </a:rPr>
                            <m:t>𝑠𝑖𝑛</m:t>
                          </m:r>
                        </m:fName>
                        <m:e>
                          <m:r>
                            <a:rPr lang="en-US" sz="1200" i="1" smtClean="0">
                              <a:latin typeface="Cambria Math" panose="02040503050406030204" pitchFamily="18" charset="0"/>
                              <a:ea typeface="Cambria Math" panose="02040503050406030204" pitchFamily="18" charset="0"/>
                            </a:rPr>
                            <m:t>𝛼</m:t>
                          </m:r>
                        </m:e>
                      </m:func>
                      <m:d>
                        <m:dPr>
                          <m:begChr m:val="|"/>
                          <m:endChr m:val="⟩"/>
                          <m:ctrlPr>
                            <a:rPr lang="en-US" sz="1200" i="1">
                              <a:latin typeface="Cambria Math" panose="02040503050406030204" pitchFamily="18" charset="0"/>
                            </a:rPr>
                          </m:ctrlPr>
                        </m:dPr>
                        <m:e>
                          <m:r>
                            <a:rPr lang="en-US" sz="1200">
                              <a:latin typeface="Cambria Math" panose="02040503050406030204" pitchFamily="18" charset="0"/>
                            </a:rPr>
                            <m:t>1</m:t>
                          </m:r>
                        </m:e>
                      </m:d>
                    </m:oMath>
                  </m:oMathPara>
                </a14:m>
                <a:endParaRPr lang="en-ZA" dirty="0"/>
              </a:p>
              <a:p>
                <a:r>
                  <a:rPr lang="en-ZA" dirty="0"/>
                  <a:t>Geometrically, changing </a:t>
                </a:r>
                <a14:m>
                  <m:oMath xmlns:m="http://schemas.openxmlformats.org/officeDocument/2006/math">
                    <m:r>
                      <a:rPr lang="en-US" sz="1200" i="1" smtClean="0">
                        <a:latin typeface="Cambria Math" panose="02040503050406030204" pitchFamily="18" charset="0"/>
                      </a:rPr>
                      <m:t>𝜑</m:t>
                    </m:r>
                  </m:oMath>
                </a14:m>
                <a:r>
                  <a:rPr lang="en-ZA" dirty="0"/>
                  <a:t> can be visualized as rotating the state vector about the </a:t>
                </a:r>
                <a14:m>
                  <m:oMath xmlns:m="http://schemas.openxmlformats.org/officeDocument/2006/math">
                    <m:r>
                      <a:rPr lang="en-US" sz="1200" b="0" i="1" smtClean="0">
                        <a:latin typeface="Cambria Math" panose="02040503050406030204" pitchFamily="18" charset="0"/>
                      </a:rPr>
                      <m:t>𝑧</m:t>
                    </m:r>
                  </m:oMath>
                </a14:m>
                <a:r>
                  <a:rPr lang="en-ZA" dirty="0"/>
                  <a:t>-axis, extending the initial circular representation over a sphere. The phase of the ∣0⟩ amplitude is chosen as the reference and set to zero, while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i="1">
                            <a:solidFill>
                              <a:schemeClr val="tx1"/>
                            </a:solidFill>
                            <a:latin typeface="Cambria Math" panose="02040503050406030204" pitchFamily="18" charset="0"/>
                          </a:rPr>
                          <m:t>𝑒</m:t>
                        </m:r>
                      </m:e>
                      <m:sup>
                        <m:r>
                          <a:rPr lang="en-US" sz="1200" i="1">
                            <a:solidFill>
                              <a:schemeClr val="tx1"/>
                            </a:solidFill>
                            <a:latin typeface="Cambria Math" panose="02040503050406030204" pitchFamily="18" charset="0"/>
                          </a:rPr>
                          <m:t>𝑖</m:t>
                        </m:r>
                        <m:r>
                          <a:rPr lang="en-US" sz="1200" i="1">
                            <a:solidFill>
                              <a:schemeClr val="tx1"/>
                            </a:solidFill>
                            <a:latin typeface="Cambria Math" panose="02040503050406030204" pitchFamily="18" charset="0"/>
                          </a:rPr>
                          <m:t>𝜑</m:t>
                        </m:r>
                      </m:sup>
                    </m:sSup>
                  </m:oMath>
                </a14:m>
                <a:r>
                  <a:rPr lang="en-ZA" dirty="0"/>
                  <a:t> represents the relative phase of the ∣1⟩ amplitude.</a:t>
                </a:r>
              </a:p>
              <a:p>
                <a:endParaRPr lang="en-ZA" dirty="0"/>
              </a:p>
              <a:p>
                <a:r>
                  <a:rPr lang="en-ZA" b="1" dirty="0"/>
                  <a:t>3. Bloch-Sphere Representation</a:t>
                </a:r>
              </a:p>
              <a:p>
                <a:r>
                  <a:rPr lang="en-ZA" dirty="0"/>
                  <a:t>On the Bloch sphere, the orthogonal states ∣0⟩ and ∣1⟩ are represented by antipodal points at the north and south poles. The transition from ∣0⟩ to ∣1⟩ therefore corresponds to a change in the polar angle </a:t>
                </a:r>
                <a14:m>
                  <m:oMath xmlns:m="http://schemas.openxmlformats.org/officeDocument/2006/math">
                    <m:r>
                      <a:rPr lang="en-US" i="1" smtClean="0">
                        <a:latin typeface="Cambria Math" panose="02040503050406030204" pitchFamily="18" charset="0"/>
                      </a:rPr>
                      <m:t>𝜃</m:t>
                    </m:r>
                  </m:oMath>
                </a14:m>
                <a:r>
                  <a:rPr lang="en-ZA" dirty="0"/>
                  <a:t> from 0 to </a:t>
                </a:r>
                <a14:m>
                  <m:oMath xmlns:m="http://schemas.openxmlformats.org/officeDocument/2006/math">
                    <m:r>
                      <a:rPr lang="en-US" sz="1200" i="1" smtClean="0">
                        <a:solidFill>
                          <a:schemeClr val="tx1"/>
                        </a:solidFill>
                        <a:latin typeface="Cambria Math" panose="02040503050406030204" pitchFamily="18" charset="0"/>
                      </a:rPr>
                      <m:t>𝜋</m:t>
                    </m:r>
                  </m:oMath>
                </a14:m>
                <a:r>
                  <a:rPr lang="en-ZA" dirty="0"/>
                  <a:t>, whereas in the initial model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oMath>
                </a14:m>
                <a:r>
                  <a:rPr lang="en-ZA" dirty="0"/>
                  <a:t> changes from </a:t>
                </a:r>
                <a14:m>
                  <m:oMath xmlns:m="http://schemas.openxmlformats.org/officeDocument/2006/math">
                    <m:r>
                      <a:rPr lang="en-US" sz="1200" b="0" i="1" smtClean="0">
                        <a:solidFill>
                          <a:schemeClr val="tx1"/>
                        </a:solidFill>
                        <a:latin typeface="Cambria Math" panose="02040503050406030204" pitchFamily="18" charset="0"/>
                      </a:rPr>
                      <m:t>0</m:t>
                    </m:r>
                  </m:oMath>
                </a14:m>
                <a:r>
                  <a:rPr lang="en-ZA" dirty="0"/>
                  <a:t> to </a:t>
                </a:r>
                <a14:m>
                  <m:oMath xmlns:m="http://schemas.openxmlformats.org/officeDocument/2006/math">
                    <m:r>
                      <a:rPr lang="en-US" sz="120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/2</m:t>
                    </m:r>
                  </m:oMath>
                </a14:m>
                <a:r>
                  <a:rPr lang="en-ZA" dirty="0"/>
                  <a:t>. Thus,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r>
                      <a:rPr lang="sr-Latn-RS" sz="1200" b="0" i="1" smtClean="0">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rPr>
                      <m:t>𝜃</m:t>
                    </m:r>
                    <m:r>
                      <a:rPr lang="sr-Latn-RS" sz="1200" b="0" i="1" smtClean="0">
                        <a:latin typeface="Cambria Math" panose="02040503050406030204" pitchFamily="18" charset="0"/>
                      </a:rPr>
                      <m:t>/2</m:t>
                    </m:r>
                  </m:oMath>
                </a14:m>
                <a:r>
                  <a:rPr lang="en-ZA" dirty="0"/>
                  <a:t>. The general pure state of a qubit can therefore be written as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𝑆</m:t>
                          </m:r>
                        </m:e>
                      </m:d>
                      <m:r>
                        <a:rPr lang="en-US" i="0">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d>
                        <m:dPr>
                          <m:begChr m:val="|"/>
                          <m:endChr m:val="⟩"/>
                          <m:ctrlPr>
                            <a:rPr lang="en-US" i="1">
                              <a:latin typeface="Cambria Math" panose="02040503050406030204" pitchFamily="18" charset="0"/>
                            </a:rPr>
                          </m:ctrlPr>
                        </m:dPr>
                        <m:e>
                          <m:r>
                            <a:rPr lang="en-US" i="0">
                              <a:latin typeface="Cambria Math" panose="02040503050406030204" pitchFamily="18" charset="0"/>
                            </a:rPr>
                            <m:t>0</m:t>
                          </m:r>
                        </m:e>
                      </m:d>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func>
                        <m:funcPr>
                          <m:ctrlPr>
                            <a:rPr lang="en-US" i="1">
                              <a:latin typeface="Cambria Math" panose="02040503050406030204" pitchFamily="18" charset="0"/>
                            </a:rPr>
                          </m:ctrlPr>
                        </m:funcPr>
                        <m:fName>
                          <m:r>
                            <a:rPr lang="en-US" i="1">
                              <a:latin typeface="Cambria Math" panose="02040503050406030204" pitchFamily="18" charset="0"/>
                            </a:rPr>
                            <m:t>𝑠𝑖𝑛</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d>
                        <m:dPr>
                          <m:begChr m:val="|"/>
                          <m:endChr m:val="⟩"/>
                          <m:ctrlPr>
                            <a:rPr lang="en-US" i="1">
                              <a:latin typeface="Cambria Math" panose="02040503050406030204" pitchFamily="18" charset="0"/>
                            </a:rPr>
                          </m:ctrlPr>
                        </m:dPr>
                        <m:e>
                          <m:r>
                            <a:rPr lang="en-US" i="0">
                              <a:latin typeface="Cambria Math" panose="02040503050406030204" pitchFamily="18" charset="0"/>
                            </a:rPr>
                            <m:t>1</m:t>
                          </m:r>
                        </m:e>
                      </m:d>
                    </m:oMath>
                  </m:oMathPara>
                </a14:m>
                <a:endParaRPr lang="en-ZA" dirty="0"/>
              </a:p>
              <a:p>
                <a:r>
                  <a:rPr lang="en-ZA" dirty="0"/>
                  <a:t>Here, </a:t>
                </a:r>
                <a14:m>
                  <m:oMath xmlns:m="http://schemas.openxmlformats.org/officeDocument/2006/math">
                    <m:r>
                      <a:rPr lang="en-US" i="1" smtClean="0">
                        <a:latin typeface="Cambria Math" panose="02040503050406030204" pitchFamily="18" charset="0"/>
                      </a:rPr>
                      <m:t>𝜃</m:t>
                    </m:r>
                  </m:oMath>
                </a14:m>
                <a:r>
                  <a:rPr lang="en-ZA" dirty="0"/>
                  <a:t> determines the position between the north and south poles, while </a:t>
                </a:r>
                <a14:m>
                  <m:oMath xmlns:m="http://schemas.openxmlformats.org/officeDocument/2006/math">
                    <m:r>
                      <a:rPr lang="en-US" i="1" smtClean="0">
                        <a:latin typeface="Cambria Math" panose="02040503050406030204" pitchFamily="18" charset="0"/>
                      </a:rPr>
                      <m:t>𝜑</m:t>
                    </m:r>
                  </m:oMath>
                </a14:m>
                <a:r>
                  <a:rPr lang="en-ZA" dirty="0"/>
                  <a:t> determines the rotation around the </a:t>
                </a:r>
                <a14:m>
                  <m:oMath xmlns:m="http://schemas.openxmlformats.org/officeDocument/2006/math">
                    <m:r>
                      <a:rPr lang="en-US" b="0" i="1" smtClean="0">
                        <a:latin typeface="Cambria Math" panose="02040503050406030204" pitchFamily="18" charset="0"/>
                      </a:rPr>
                      <m:t>𝑧</m:t>
                    </m:r>
                  </m:oMath>
                </a14:m>
                <a:r>
                  <a:rPr lang="en-ZA" dirty="0"/>
                  <a:t>-axis.</a:t>
                </a:r>
              </a:p>
              <a:p>
                <a:pPr marL="0" indent="0">
                  <a:buFont typeface="+mj-lt"/>
                  <a:buNone/>
                </a:pPr>
                <a:endParaRPr lang="en-ZA" dirty="0"/>
              </a:p>
              <a:p>
                <a:pPr marL="0" indent="0">
                  <a:buFont typeface="+mj-lt"/>
                  <a:buNone/>
                </a:pPr>
                <a:endParaRPr lang="en-ZA" dirty="0"/>
              </a:p>
              <a:p>
                <a:pPr marL="0" indent="0">
                  <a:buFont typeface="+mj-lt"/>
                  <a:buNone/>
                </a:pPr>
                <a:endParaRPr lang="en-ZA" dirty="0"/>
              </a:p>
              <a:p>
                <a:pPr marL="0" indent="0">
                  <a:buFont typeface="+mj-lt"/>
                  <a:buNone/>
                </a:pPr>
                <a:endParaRPr lang="en-ZA" dirty="0"/>
              </a:p>
              <a:p>
                <a:pPr marL="0" indent="0">
                  <a:buFont typeface="+mj-lt"/>
                  <a:buNone/>
                </a:pPr>
                <a:endParaRPr lang="en-ZA" dirty="0"/>
              </a:p>
              <a:p>
                <a:pPr marL="0" indent="0">
                  <a:buFont typeface="+mj-lt"/>
                  <a:buNone/>
                </a:pPr>
                <a:r>
                  <a:rPr lang="en-ZA" dirty="0"/>
                  <a:t>----</a:t>
                </a:r>
              </a:p>
              <a:p>
                <a:pPr marL="0" indent="0">
                  <a:buFont typeface="+mj-lt"/>
                  <a:buNone/>
                </a:pPr>
                <a:r>
                  <a:rPr lang="en-ZA" dirty="0"/>
                  <a:t>To understand the Bloch sphere, we begin with a simplified geometric model and then extend it to the standard Bloch sphere representation.</a:t>
                </a:r>
              </a:p>
              <a:p>
                <a:pPr marL="228600" indent="-228600">
                  <a:buFont typeface="+mj-lt"/>
                  <a:buAutoNum type="arabicPeriod"/>
                </a:pPr>
                <a:endParaRPr lang="en-ZA" dirty="0"/>
              </a:p>
              <a:p>
                <a:pPr marL="228600" indent="-228600">
                  <a:buFont typeface="+mj-lt"/>
                  <a:buAutoNum type="arabicPeriod"/>
                </a:pPr>
                <a:r>
                  <a:rPr lang="en-ZA" dirty="0"/>
                  <a:t>Consider a unit vector ∣S⟩ drawn from the </a:t>
                </a:r>
                <a:r>
                  <a:rPr lang="en-ZA" dirty="0" err="1"/>
                  <a:t>center</a:t>
                </a:r>
                <a:r>
                  <a:rPr lang="en-ZA" dirty="0"/>
                  <a:t> of a unit sphere to a point on its surface. Let the vector initially lie in the </a:t>
                </a:r>
                <a:r>
                  <a:rPr lang="en-ZA" dirty="0" err="1"/>
                  <a:t>xz</a:t>
                </a:r>
                <a:r>
                  <a:rPr lang="en-ZA" dirty="0"/>
                  <a:t>-plane and make an angle </a:t>
                </a:r>
                <a:r>
                  <a:rPr lang="el-GR" dirty="0"/>
                  <a:t>θ </a:t>
                </a:r>
                <a:r>
                  <a:rPr lang="en-ZA" dirty="0"/>
                  <a:t>with the positive z-axis. The basis vectors are ∣0⟩, aligned with the z-axis, and ∣1⟩, aligned with the x-axis. We can now represent ∣S⟩  as ∣S⟩=cos</a:t>
                </a:r>
                <a:r>
                  <a:rPr lang="el-GR" dirty="0"/>
                  <a:t>θ ∣0⟩+</a:t>
                </a:r>
                <a:r>
                  <a:rPr lang="en-ZA" dirty="0"/>
                  <a:t>sin</a:t>
                </a:r>
                <a:r>
                  <a:rPr lang="el-GR" dirty="0"/>
                  <a:t>θ </a:t>
                </a:r>
                <a:r>
                  <a:rPr lang="en-US" dirty="0"/>
                  <a:t> </a:t>
                </a:r>
                <a:r>
                  <a:rPr lang="el-GR" dirty="0"/>
                  <a:t>∣1⟩.</a:t>
                </a:r>
                <a:endParaRPr lang="en-US" dirty="0"/>
              </a:p>
              <a:p>
                <a:pPr marL="228600" indent="-228600">
                  <a:buFont typeface="+mj-lt"/>
                  <a:buAutoNum type="arabicPeriod"/>
                </a:pPr>
                <a:endParaRPr 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If the vector ∣S⟩ is now rotated by an angle </a:t>
                </a:r>
                <a14:m>
                  <m:oMath xmlns:m="http://schemas.openxmlformats.org/officeDocument/2006/math">
                    <m:r>
                      <a:rPr lang="en-US" i="1" smtClean="0">
                        <a:latin typeface="Cambria Math" panose="02040503050406030204" pitchFamily="18" charset="0"/>
                      </a:rPr>
                      <m:t>𝜑</m:t>
                    </m:r>
                  </m:oMath>
                </a14:m>
                <a:r>
                  <a:rPr lang="el-GR" dirty="0"/>
                  <a:t> </a:t>
                </a:r>
                <a:r>
                  <a:rPr lang="en-ZA" dirty="0"/>
                  <a:t>in the </a:t>
                </a:r>
                <a:r>
                  <a:rPr lang="en-ZA" dirty="0" err="1"/>
                  <a:t>xy</a:t>
                </a:r>
                <a:r>
                  <a:rPr lang="en-ZA" dirty="0"/>
                  <a:t> plane, the component sin</a:t>
                </a:r>
                <a:r>
                  <a:rPr lang="el-GR" dirty="0"/>
                  <a:t>θ ∣1⟩ </a:t>
                </a:r>
                <a:r>
                  <a:rPr lang="en-ZA" dirty="0"/>
                  <a:t>acquires a phase factor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oMath>
                </a14:m>
                <a:r>
                  <a:rPr lang="el-GR" dirty="0"/>
                  <a:t>. </a:t>
                </a:r>
                <a:r>
                  <a:rPr lang="en-ZA" dirty="0"/>
                  <a:t>The state becomes</a:t>
                </a:r>
                <a:r>
                  <a:rPr lang="en-ZA" baseline="0" dirty="0"/>
                  <a:t> </a:t>
                </a:r>
                <a:r>
                  <a:rPr lang="en-ZA" dirty="0"/>
                  <a:t>∣S⟩=cos</a:t>
                </a:r>
                <a:r>
                  <a:rPr lang="el-GR" dirty="0"/>
                  <a:t>θ ∣0⟩+</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oMath>
                </a14:m>
                <a:r>
                  <a:rPr lang="en-ZA" dirty="0"/>
                  <a:t>sin</a:t>
                </a:r>
                <a:r>
                  <a:rPr lang="el-GR" dirty="0"/>
                  <a:t>θ ∣1⟩. </a:t>
                </a:r>
                <a:r>
                  <a:rPr lang="en-ZA" dirty="0"/>
                  <a:t>The factor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oMath>
                </a14:m>
                <a:r>
                  <a:rPr lang="el-GR" dirty="0"/>
                  <a:t> </a:t>
                </a:r>
                <a:r>
                  <a:rPr lang="en-ZA" dirty="0"/>
                  <a:t>is called the </a:t>
                </a:r>
                <a:r>
                  <a:rPr lang="en-ZA" b="1" dirty="0"/>
                  <a:t>relative phase</a:t>
                </a:r>
                <a:r>
                  <a:rPr lang="en-ZA" dirty="0"/>
                  <a:t> because it affects only one component of the state.</a:t>
                </a:r>
                <a:br>
                  <a:rPr lang="en-ZA" dirty="0"/>
                </a:br>
                <a:r>
                  <a:rPr lang="en-ZA" b="0" dirty="0"/>
                  <a:t>In this model, for </a:t>
                </a:r>
                <a:r>
                  <a:rPr lang="el-GR" b="0" dirty="0"/>
                  <a:t>θ=0 </a:t>
                </a:r>
                <a:r>
                  <a:rPr lang="en-ZA" b="0" dirty="0"/>
                  <a:t>the state is ∣0⟩, for </a:t>
                </a:r>
                <a:r>
                  <a:rPr lang="el-GR" b="0" dirty="0"/>
                  <a:t>θ=π/2 </a:t>
                </a:r>
                <a:r>
                  <a:rPr lang="en-ZA" b="0" dirty="0"/>
                  <a:t>it becomes ∣1⟩, and for </a:t>
                </a:r>
                <a:r>
                  <a:rPr lang="el-GR" b="0" dirty="0"/>
                  <a:t>θ=π</a:t>
                </a:r>
                <a:r>
                  <a:rPr lang="en-US" b="0" baseline="0" dirty="0"/>
                  <a:t> </a:t>
                </a:r>
                <a:r>
                  <a:rPr lang="el-GR" b="0" dirty="0"/>
                  <a:t> </a:t>
                </a:r>
                <a:r>
                  <a:rPr lang="en-ZA" b="0" dirty="0"/>
                  <a:t>it becomes −∣0⟩. Thus, the transition from ∣0⟩ to ∣1⟩ is completed halfway through the sphere, leaving the remaining half without introducing new physical states.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ZA"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To use the entire sphere, we replace </a:t>
                </a:r>
                <a:r>
                  <a:rPr lang="el-GR" dirty="0"/>
                  <a:t>θ</a:t>
                </a:r>
                <a:r>
                  <a:rPr lang="en-US" dirty="0"/>
                  <a:t> with </a:t>
                </a:r>
                <a:r>
                  <a:rPr lang="el-GR" dirty="0"/>
                  <a:t>θ/2. </a:t>
                </a:r>
                <a:r>
                  <a:rPr lang="en-ZA" dirty="0"/>
                  <a:t>This ensures that the full range from 0 to </a:t>
                </a:r>
                <a:r>
                  <a:rPr lang="el-GR" dirty="0"/>
                  <a:t>π</a:t>
                </a:r>
                <a:r>
                  <a:rPr lang="en-US" dirty="0"/>
                  <a:t> </a:t>
                </a:r>
                <a:r>
                  <a:rPr lang="en-ZA" dirty="0"/>
                  <a:t>corresponds to the transition from ∣0⟩ at the North Pole to ∣1⟩ at the South Pole, rather than reaching ∣1⟩ at the equator. This leads to the standard Bloch sphere representation of a qubit state:</a:t>
                </a:r>
              </a:p>
              <a:p>
                <a:pPr marL="0" marR="0" lvl="0" indent="0" algn="l" defTabSz="914400"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𝑆</m:t>
                          </m:r>
                        </m:e>
                      </m:d>
                      <m:r>
                        <a:rPr lang="en-US" i="0">
                          <a:latin typeface="Cambria Math" panose="02040503050406030204" pitchFamily="18" charset="0"/>
                        </a:rPr>
                        <m:t>=</m:t>
                      </m:r>
                      <m:d>
                        <m:dPr>
                          <m:ctrlPr>
                            <a:rPr lang="en-US" i="1">
                              <a:latin typeface="Cambria Math" panose="02040503050406030204" pitchFamily="18" charset="0"/>
                            </a:rPr>
                          </m:ctrlPr>
                        </m:dPr>
                        <m:e>
                          <m:m>
                            <m:mPr>
                              <m:plcHide m:val="on"/>
                              <m:mcs>
                                <m:mc>
                                  <m:mcPr>
                                    <m:count m:val="1"/>
                                    <m:mcJc m:val="center"/>
                                  </m:mcPr>
                                </m:mc>
                              </m:mcs>
                              <m:ctrlPr>
                                <a:rPr lang="en-US" i="1">
                                  <a:latin typeface="Cambria Math" panose="02040503050406030204" pitchFamily="18" charset="0"/>
                                </a:rPr>
                              </m:ctrlPr>
                            </m:mPr>
                            <m:mr>
                              <m:e>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e>
                            </m:mr>
                            <m:mr>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func>
                                  <m:funcPr>
                                    <m:ctrlPr>
                                      <a:rPr lang="en-US" i="1">
                                        <a:latin typeface="Cambria Math" panose="02040503050406030204" pitchFamily="18" charset="0"/>
                                      </a:rPr>
                                    </m:ctrlPr>
                                  </m:funcPr>
                                  <m:fName>
                                    <m:r>
                                      <a:rPr lang="en-US" i="1">
                                        <a:latin typeface="Cambria Math" panose="02040503050406030204" pitchFamily="18" charset="0"/>
                                      </a:rPr>
                                      <m:t>𝑠𝑖𝑛</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e>
                            </m:mr>
                          </m:m>
                        </m:e>
                      </m:d>
                    </m:oMath>
                  </m:oMathPara>
                </a14:m>
                <a:endParaRPr lang="en-ZA"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ZA" dirty="0"/>
              </a:p>
            </p:txBody>
          </p:sp>
        </mc:Choice>
        <mc:Fallback xmlns="">
          <p:sp>
            <p:nvSpPr>
              <p:cNvPr id="3" name="Notes Placeholder 2"/>
              <p:cNvSpPr>
                <a:spLocks noGrp="1"/>
              </p:cNvSpPr>
              <p:nvPr>
                <p:ph type="body" idx="1"/>
              </p:nvPr>
            </p:nvSpPr>
            <p:spPr/>
            <p:txBody>
              <a:bodyPr/>
              <a:lstStyle/>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a:solidFill>
                      <a:schemeClr val="tx1"/>
                    </a:solidFill>
                    <a:effectLst/>
                    <a:latin typeface="+mn-lt"/>
                    <a:ea typeface="+mn-ea"/>
                    <a:cs typeface="+mn-cs"/>
                  </a:rPr>
                  <a:t>Neka </a:t>
                </a:r>
                <a:r>
                  <a:rPr lang="en-US" sz="1200" kern="1200" baseline="0" dirty="0" err="1">
                    <a:solidFill>
                      <a:schemeClr val="tx1"/>
                    </a:solidFill>
                    <a:effectLst/>
                    <a:latin typeface="+mn-lt"/>
                    <a:ea typeface="+mn-ea"/>
                    <a:cs typeface="+mn-cs"/>
                  </a:rPr>
                  <a:t>je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dat</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normirani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vektorski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prostor</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dakle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prostor</a:t>
                </a:r>
                <a:r>
                  <a:rPr lang="en-US" sz="1200" kern="1200" baseline="0" dirty="0">
                    <a:solidFill>
                      <a:schemeClr val="tx1"/>
                    </a:solidFill>
                    <a:effectLst/>
                    <a:latin typeface="+mn-lt"/>
                    <a:ea typeface="+mn-ea"/>
                    <a:cs typeface="+mn-cs"/>
                  </a:rPr>
                  <a:t> u </a:t>
                </a:r>
                <a:r>
                  <a:rPr lang="en-US" sz="1200" kern="1200" baseline="0" dirty="0" err="1">
                    <a:solidFill>
                      <a:schemeClr val="tx1"/>
                    </a:solidFill>
                    <a:effectLst/>
                    <a:latin typeface="+mn-lt"/>
                    <a:ea typeface="+mn-ea"/>
                    <a:cs typeface="+mn-cs"/>
                  </a:rPr>
                  <a:t>kojem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svi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vektori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jedinične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dužine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vektorima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baze</a:t>
                </a:r>
                <a:r>
                  <a:rPr lang="en-US" sz="1200" kern="1200" baseline="0" dirty="0">
                    <a:solidFill>
                      <a:schemeClr val="tx1"/>
                    </a:solidFill>
                    <a:effectLst/>
                    <a:latin typeface="+mn-lt"/>
                    <a:ea typeface="+mn-ea"/>
                    <a:cs typeface="+mn-cs"/>
                  </a:rPr>
                  <a:t> |0⟩, </a:t>
                </a:r>
                <a:r>
                  <a:rPr lang="en-US" sz="1200" kern="1200" baseline="0" dirty="0" err="1">
                    <a:solidFill>
                      <a:schemeClr val="tx1"/>
                    </a:solidFill>
                    <a:effectLst/>
                    <a:latin typeface="+mn-lt"/>
                    <a:ea typeface="+mn-ea"/>
                    <a:cs typeface="+mn-cs"/>
                  </a:rPr>
                  <a:t>koji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leži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duž</a:t>
                </a:r>
                <a:r>
                  <a:rPr lang="en-US" sz="1200" kern="1200" baseline="0" dirty="0">
                    <a:solidFill>
                      <a:schemeClr val="tx1"/>
                    </a:solidFill>
                    <a:effectLst/>
                    <a:latin typeface="+mn-lt"/>
                    <a:ea typeface="+mn-ea"/>
                    <a:cs typeface="+mn-cs"/>
                  </a:rPr>
                  <a:t> z-</a:t>
                </a:r>
                <a:r>
                  <a:rPr lang="en-US" sz="1200" kern="1200" baseline="0" dirty="0" err="1">
                    <a:solidFill>
                      <a:schemeClr val="tx1"/>
                    </a:solidFill>
                    <a:effectLst/>
                    <a:latin typeface="+mn-lt"/>
                    <a:ea typeface="+mn-ea"/>
                    <a:cs typeface="+mn-cs"/>
                  </a:rPr>
                  <a:t>ose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a:t>
                </a:r>
                <a:r>
                  <a:rPr lang="en-US" sz="1200" kern="1200" baseline="0" dirty="0">
                    <a:solidFill>
                      <a:schemeClr val="tx1"/>
                    </a:solidFill>
                    <a:effectLst/>
                    <a:latin typeface="+mn-lt"/>
                    <a:ea typeface="+mn-ea"/>
                    <a:cs typeface="+mn-cs"/>
                  </a:rPr>
                  <a:t> |1⟩ </a:t>
                </a:r>
                <a:r>
                  <a:rPr lang="en-US" sz="1200" kern="1200" baseline="0" dirty="0" err="1">
                    <a:solidFill>
                      <a:schemeClr val="tx1"/>
                    </a:solidFill>
                    <a:effectLst/>
                    <a:latin typeface="+mn-lt"/>
                    <a:ea typeface="+mn-ea"/>
                    <a:cs typeface="+mn-cs"/>
                  </a:rPr>
                  <a:t>koji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leži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duž</a:t>
                </a:r>
                <a:r>
                  <a:rPr lang="en-US" sz="1200" kern="1200" baseline="0" dirty="0">
                    <a:solidFill>
                      <a:schemeClr val="tx1"/>
                    </a:solidFill>
                    <a:effectLst/>
                    <a:latin typeface="+mn-lt"/>
                    <a:ea typeface="+mn-ea"/>
                    <a:cs typeface="+mn-cs"/>
                  </a:rPr>
                  <a:t> x-</a:t>
                </a:r>
                <a:r>
                  <a:rPr lang="en-US" sz="1200" kern="1200" baseline="0" dirty="0" err="1">
                    <a:solidFill>
                      <a:schemeClr val="tx1"/>
                    </a:solidFill>
                    <a:effectLst/>
                    <a:latin typeface="+mn-lt"/>
                    <a:ea typeface="+mn-ea"/>
                    <a:cs typeface="+mn-cs"/>
                  </a:rPr>
                  <a:t>ose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sferičnog</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koordinatnog</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sistema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Neka</a:t>
                </a:r>
                <a:r>
                  <a:rPr lang="en-US" sz="1200" kern="1200" baseline="0" dirty="0">
                    <a:solidFill>
                      <a:schemeClr val="tx1"/>
                    </a:solidFill>
                    <a:effectLst/>
                    <a:latin typeface="+mn-lt"/>
                    <a:ea typeface="+mn-ea"/>
                    <a:cs typeface="+mn-cs"/>
                  </a:rPr>
                  <a:t> se </a:t>
                </a:r>
                <a:r>
                  <a:rPr lang="en-US" sz="1200" kern="1200" baseline="0" dirty="0" err="1">
                    <a:solidFill>
                      <a:schemeClr val="tx1"/>
                    </a:solidFill>
                    <a:effectLst/>
                    <a:latin typeface="+mn-lt"/>
                    <a:ea typeface="+mn-ea"/>
                    <a:cs typeface="+mn-cs"/>
                  </a:rPr>
                  <a:t>vektor</a:t>
                </a:r>
                <a:r>
                  <a:rPr lang="en-US" sz="1200" kern="1200" baseline="0" dirty="0">
                    <a:solidFill>
                      <a:schemeClr val="tx1"/>
                    </a:solidFill>
                    <a:effectLst/>
                    <a:latin typeface="+mn-lt"/>
                    <a:ea typeface="+mn-ea"/>
                    <a:cs typeface="+mn-cs"/>
                  </a:rPr>
                  <a:t> </a:t>
                </a:r>
                <a:r>
                  <a:rPr lang="en-US" i="0">
                    <a:latin typeface="Cambria Math" panose="02040503050406030204" pitchFamily="18" charset="0"/>
                    <a:ea typeface="Cambria Math" panose="02040503050406030204" pitchFamily="18" charset="0"/>
                  </a:rPr>
                  <a:t>|𝑆⟩</a:t>
                </a:r>
                <a:r>
                  <a:rPr lang="en-US" dirty="0"/>
                  <a:t> </a:t>
                </a:r>
                <a:r>
                  <a:rPr lang="en-US" dirty="0" err="1"/>
                  <a:t>koji</a:t>
                </a:r>
                <a:r>
                  <a:rPr lang="en-US" dirty="0"/>
                  <a:t> </a:t>
                </a:r>
                <a:r>
                  <a:rPr lang="en-US" dirty="0" err="1"/>
                  <a:t>predstavlja</a:t>
                </a:r>
                <a:r>
                  <a:rPr lang="en-US" dirty="0"/>
                  <a:t> </a:t>
                </a:r>
                <a:r>
                  <a:rPr lang="en-US" dirty="0" err="1"/>
                  <a:t>stanje</a:t>
                </a:r>
                <a:r>
                  <a:rPr lang="en-US" dirty="0"/>
                  <a:t> kubita </a:t>
                </a:r>
                <a:r>
                  <a:rPr lang="en-US" baseline="0" dirty="0" err="1"/>
                  <a:t>nalazi</a:t>
                </a:r>
                <a:r>
                  <a:rPr lang="en-US" baseline="0" dirty="0"/>
                  <a:t> </a:t>
                </a:r>
                <a:r>
                  <a:rPr lang="en-US" baseline="0" dirty="0" err="1"/>
                  <a:t>na</a:t>
                </a:r>
                <a:r>
                  <a:rPr lang="en-US" baseline="0" dirty="0"/>
                  <a:t> </a:t>
                </a:r>
                <a:r>
                  <a:rPr lang="en-US" baseline="0" dirty="0" err="1"/>
                  <a:t>realnoj</a:t>
                </a:r>
                <a:r>
                  <a:rPr lang="en-US" baseline="0" dirty="0"/>
                  <a:t> x-z </a:t>
                </a:r>
                <a:r>
                  <a:rPr lang="en-US" baseline="0" dirty="0" err="1"/>
                  <a:t>ravni</a:t>
                </a:r>
                <a:r>
                  <a:rPr lang="en-US" baseline="0" dirty="0"/>
                  <a:t>. </a:t>
                </a:r>
                <a:r>
                  <a:rPr lang="en-US" baseline="0" dirty="0" err="1"/>
                  <a:t>Ovaj</a:t>
                </a:r>
                <a:r>
                  <a:rPr lang="en-US" baseline="0" dirty="0"/>
                  <a:t> se </a:t>
                </a:r>
                <a:r>
                  <a:rPr lang="en-US" baseline="0" dirty="0" err="1"/>
                  <a:t>vektor</a:t>
                </a:r>
                <a:r>
                  <a:rPr lang="en-US" baseline="0" dirty="0"/>
                  <a:t> </a:t>
                </a:r>
                <a:r>
                  <a:rPr lang="en-US" baseline="0" dirty="0" err="1"/>
                  <a:t>onda</a:t>
                </a:r>
                <a:r>
                  <a:rPr lang="en-US" baseline="0" dirty="0"/>
                  <a:t> </a:t>
                </a:r>
                <a:r>
                  <a:rPr lang="en-US" baseline="0" dirty="0" err="1"/>
                  <a:t>može</a:t>
                </a:r>
                <a:r>
                  <a:rPr lang="en-US" baseline="0" dirty="0"/>
                  <a:t> </a:t>
                </a:r>
                <a:r>
                  <a:rPr lang="en-US" baseline="0" dirty="0" err="1"/>
                  <a:t>opisati</a:t>
                </a:r>
                <a:r>
                  <a:rPr lang="en-US" baseline="0" dirty="0"/>
                  <a:t> </a:t>
                </a:r>
                <a:r>
                  <a:rPr lang="en-US" baseline="0" dirty="0" err="1"/>
                  <a:t>linearnom</a:t>
                </a:r>
                <a:r>
                  <a:rPr lang="en-US" baseline="0" dirty="0"/>
                  <a:t> </a:t>
                </a:r>
                <a:r>
                  <a:rPr lang="en-US" baseline="0" dirty="0" err="1"/>
                  <a:t>kombinacijom</a:t>
                </a:r>
                <a:r>
                  <a:rPr lang="en-US" baseline="0" dirty="0"/>
                  <a:t> </a:t>
                </a:r>
                <a:r>
                  <a:rPr lang="en-US" sz="1200" i="0">
                    <a:latin typeface="Cambria Math" panose="02040503050406030204" pitchFamily="18" charset="0"/>
                  </a:rPr>
                  <a:t>〖|𝑆⟩=𝑐𝑜𝑠〗⁡𝜃 |0⟩+〖 𝑠𝑖𝑛〗⁡𝜃 |1⟩</a:t>
                </a:r>
                <a:r>
                  <a:rPr lang="en-US" sz="1200" dirty="0"/>
                  <a:t> </a:t>
                </a:r>
                <a:r>
                  <a:rPr lang="en-US" sz="1200" dirty="0" err="1"/>
                  <a:t>gde</a:t>
                </a:r>
                <a:r>
                  <a:rPr lang="en-US" sz="1200" dirty="0"/>
                  <a:t> </a:t>
                </a:r>
                <a:r>
                  <a:rPr lang="en-US" sz="1200" dirty="0" err="1"/>
                  <a:t>je</a:t>
                </a:r>
                <a:r>
                  <a:rPr lang="en-US" sz="1200" dirty="0"/>
                  <a:t> </a:t>
                </a:r>
                <a:r>
                  <a:rPr lang="en-US" sz="1200" i="0">
                    <a:latin typeface="Cambria Math" panose="02040503050406030204" pitchFamily="18" charset="0"/>
                  </a:rPr>
                  <a:t>𝜃</a:t>
                </a:r>
                <a:r>
                  <a:rPr lang="en-US" dirty="0"/>
                  <a:t> </a:t>
                </a:r>
                <a:r>
                  <a:rPr lang="en-US" dirty="0" err="1"/>
                  <a:t>ugao</a:t>
                </a:r>
                <a:r>
                  <a:rPr lang="en-US" dirty="0"/>
                  <a:t> </a:t>
                </a:r>
                <a:r>
                  <a:rPr lang="en-US" dirty="0" err="1"/>
                  <a:t>koji</a:t>
                </a:r>
                <a:r>
                  <a:rPr lang="en-US" dirty="0"/>
                  <a:t> </a:t>
                </a:r>
                <a:r>
                  <a:rPr lang="en-US" dirty="0" err="1"/>
                  <a:t>ovaj</a:t>
                </a:r>
                <a:r>
                  <a:rPr lang="en-US" dirty="0"/>
                  <a:t> vector</a:t>
                </a:r>
                <a:r>
                  <a:rPr lang="en-US" baseline="0" dirty="0"/>
                  <a:t> </a:t>
                </a:r>
                <a:r>
                  <a:rPr lang="en-US" baseline="0" dirty="0" err="1"/>
                  <a:t>zaklapa</a:t>
                </a:r>
                <a:r>
                  <a:rPr lang="en-US" baseline="0" dirty="0"/>
                  <a:t> </a:t>
                </a:r>
                <a:r>
                  <a:rPr lang="en-US" baseline="0" dirty="0" err="1"/>
                  <a:t>sa</a:t>
                </a:r>
                <a:r>
                  <a:rPr lang="en-US" baseline="0" dirty="0"/>
                  <a:t> z </a:t>
                </a:r>
                <a:r>
                  <a:rPr lang="en-US" baseline="0" dirty="0" err="1"/>
                  <a:t>osom</a:t>
                </a:r>
                <a:r>
                  <a:rPr lang="en-US" baseline="0" dirty="0"/>
                  <a:t>. Sa </a:t>
                </a:r>
                <a:r>
                  <a:rPr lang="en-US" baseline="0" dirty="0" err="1"/>
                  <a:t>slike</a:t>
                </a:r>
                <a:r>
                  <a:rPr lang="en-US" baseline="0" dirty="0"/>
                  <a:t> se </a:t>
                </a:r>
                <a:r>
                  <a:rPr lang="en-US" baseline="0" dirty="0" err="1"/>
                  <a:t>vidi</a:t>
                </a:r>
                <a:r>
                  <a:rPr lang="en-US" baseline="0" dirty="0"/>
                  <a:t> da </a:t>
                </a:r>
                <a:r>
                  <a:rPr lang="en-US" i="0">
                    <a:latin typeface="Cambria Math" panose="02040503050406030204" pitchFamily="18" charset="0"/>
                  </a:rPr>
                  <a:t>𝜃</a:t>
                </a:r>
                <a:r>
                  <a:rPr lang="en-US" baseline="0" dirty="0"/>
                  <a:t> </a:t>
                </a:r>
                <a:r>
                  <a:rPr lang="en-US" baseline="0" dirty="0" err="1"/>
                  <a:t>uzima</a:t>
                </a:r>
                <a:r>
                  <a:rPr lang="en-US" baseline="0" dirty="0"/>
                  <a:t> </a:t>
                </a:r>
                <a:r>
                  <a:rPr lang="en-US" baseline="0" dirty="0" err="1"/>
                  <a:t>vrednosti</a:t>
                </a:r>
                <a:r>
                  <a:rPr lang="en-US" baseline="0" dirty="0"/>
                  <a:t> </a:t>
                </a:r>
                <a:r>
                  <a:rPr lang="en-US" baseline="0" dirty="0" err="1"/>
                  <a:t>između</a:t>
                </a:r>
                <a:r>
                  <a:rPr lang="en-US" baseline="0" dirty="0"/>
                  <a:t>  </a:t>
                </a:r>
                <a:r>
                  <a:rPr lang="en-US" b="0" i="0">
                    <a:latin typeface="Cambria Math" panose="02040503050406030204" pitchFamily="18" charset="0"/>
                  </a:rPr>
                  <a:t>0</a:t>
                </a:r>
                <a:r>
                  <a:rPr lang="en-US" baseline="0" dirty="0"/>
                  <a:t> i </a:t>
                </a:r>
                <a:r>
                  <a:rPr lang="en-US" i="0">
                    <a:latin typeface="Cambria Math" panose="02040503050406030204" pitchFamily="18" charset="0"/>
                  </a:rPr>
                  <a:t>𝜋</a:t>
                </a:r>
                <a:r>
                  <a:rPr lang="en-US" baseline="0" dirty="0"/>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baseline="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baseline="0" dirty="0" err="1"/>
                  <a:t>Neka</a:t>
                </a:r>
                <a:r>
                  <a:rPr lang="en-US" baseline="0" dirty="0"/>
                  <a:t> se </a:t>
                </a:r>
                <a:r>
                  <a:rPr lang="en-US" baseline="0" dirty="0" err="1"/>
                  <a:t>ovaj</a:t>
                </a:r>
                <a:r>
                  <a:rPr lang="en-US" baseline="0" dirty="0"/>
                  <a:t> vector </a:t>
                </a:r>
                <a:r>
                  <a:rPr lang="en-US" baseline="0" dirty="0" err="1"/>
                  <a:t>zarotira</a:t>
                </a:r>
                <a:r>
                  <a:rPr lang="en-US" baseline="0" dirty="0"/>
                  <a:t> </a:t>
                </a:r>
                <a:r>
                  <a:rPr lang="en-US" baseline="0" dirty="0" err="1"/>
                  <a:t>za</a:t>
                </a:r>
                <a:r>
                  <a:rPr lang="en-US" baseline="0" dirty="0"/>
                  <a:t> </a:t>
                </a:r>
                <a:r>
                  <a:rPr lang="en-US" baseline="0" dirty="0" err="1"/>
                  <a:t>ugao</a:t>
                </a:r>
                <a:r>
                  <a:rPr lang="en-US" baseline="0" dirty="0"/>
                  <a:t> </a:t>
                </a:r>
                <a:r>
                  <a:rPr lang="en-US" i="0">
                    <a:latin typeface="Cambria Math" panose="02040503050406030204" pitchFamily="18" charset="0"/>
                  </a:rPr>
                  <a:t>𝜑</a:t>
                </a:r>
                <a:r>
                  <a:rPr lang="en-US" dirty="0"/>
                  <a:t> u </a:t>
                </a:r>
                <a:r>
                  <a:rPr lang="en-US" dirty="0" err="1"/>
                  <a:t>kompleksnoj</a:t>
                </a:r>
                <a:r>
                  <a:rPr lang="en-US" baseline="0" dirty="0"/>
                  <a:t> x-y </a:t>
                </a:r>
                <a:r>
                  <a:rPr lang="en-US" baseline="0" dirty="0" err="1"/>
                  <a:t>ravni</a:t>
                </a:r>
                <a:r>
                  <a:rPr lang="en-US" baseline="0" dirty="0"/>
                  <a:t>. O</a:t>
                </a:r>
                <a:r>
                  <a:rPr lang="en-US" dirty="0"/>
                  <a:t>va</a:t>
                </a:r>
                <a:r>
                  <a:rPr lang="en-US" baseline="0" dirty="0"/>
                  <a:t> </a:t>
                </a:r>
                <a:r>
                  <a:rPr lang="en-US" baseline="0" dirty="0" err="1"/>
                  <a:t>rotacija</a:t>
                </a:r>
                <a:r>
                  <a:rPr lang="en-US" dirty="0"/>
                  <a:t> </a:t>
                </a:r>
                <a:r>
                  <a:rPr lang="en-US" dirty="0" err="1"/>
                  <a:t>odgovara</a:t>
                </a:r>
                <a:r>
                  <a:rPr lang="en-US" dirty="0"/>
                  <a:t> </a:t>
                </a:r>
                <a:r>
                  <a:rPr lang="en-US" dirty="0" err="1"/>
                  <a:t>množenju</a:t>
                </a:r>
                <a:r>
                  <a:rPr lang="en-US" dirty="0"/>
                  <a:t> </a:t>
                </a:r>
                <a:r>
                  <a:rPr lang="en-US" dirty="0" err="1"/>
                  <a:t>komponente</a:t>
                </a:r>
                <a:r>
                  <a:rPr lang="en-US" sz="1200" i="0">
                    <a:latin typeface="Cambria Math" panose="02040503050406030204" pitchFamily="18" charset="0"/>
                  </a:rPr>
                  <a:t>〖 𝑠𝑖𝑛〗⁡𝜃 |1⟩</a:t>
                </a:r>
                <a:r>
                  <a:rPr lang="en-US" dirty="0"/>
                  <a:t> </a:t>
                </a:r>
                <a:r>
                  <a:rPr lang="en-US" dirty="0" err="1"/>
                  <a:t>sa</a:t>
                </a:r>
                <a:r>
                  <a:rPr lang="en-US" dirty="0"/>
                  <a:t> </a:t>
                </a:r>
                <a:r>
                  <a:rPr lang="en-US" baseline="0" dirty="0"/>
                  <a:t> </a:t>
                </a:r>
                <a:r>
                  <a:rPr lang="en-US" baseline="0" dirty="0" err="1"/>
                  <a:t>faznim</a:t>
                </a:r>
                <a:r>
                  <a:rPr lang="en-US" baseline="0" dirty="0"/>
                  <a:t> </a:t>
                </a:r>
                <a:r>
                  <a:rPr lang="en-US" baseline="0" dirty="0" err="1"/>
                  <a:t>faktorom</a:t>
                </a:r>
                <a:r>
                  <a:rPr lang="en-US" baseline="0" dirty="0"/>
                  <a:t> </a:t>
                </a:r>
                <a:r>
                  <a:rPr lang="en-US" i="0">
                    <a:latin typeface="Cambria Math" panose="02040503050406030204" pitchFamily="18" charset="0"/>
                  </a:rPr>
                  <a:t>〖 𝑒〗^𝑖𝜑</a:t>
                </a:r>
                <a:r>
                  <a:rPr lang="en-US" dirty="0"/>
                  <a:t>, </a:t>
                </a:r>
                <a:r>
                  <a:rPr lang="en-US" dirty="0" err="1"/>
                  <a:t>tako</a:t>
                </a:r>
                <a:r>
                  <a:rPr lang="en-US" dirty="0"/>
                  <a:t> da se </a:t>
                </a:r>
                <a:r>
                  <a:rPr lang="en-US" dirty="0" err="1"/>
                  <a:t>ovaj</a:t>
                </a:r>
                <a:r>
                  <a:rPr lang="en-US" dirty="0"/>
                  <a:t> </a:t>
                </a:r>
                <a:r>
                  <a:rPr lang="en-US" dirty="0" err="1"/>
                  <a:t>vektor</a:t>
                </a:r>
                <a:r>
                  <a:rPr lang="en-US" dirty="0"/>
                  <a:t> </a:t>
                </a:r>
                <a:r>
                  <a:rPr lang="en-US" dirty="0" err="1"/>
                  <a:t>opisuje</a:t>
                </a:r>
                <a:r>
                  <a:rPr lang="en-US" dirty="0"/>
                  <a:t> </a:t>
                </a:r>
                <a:r>
                  <a:rPr lang="en-US" dirty="0" err="1"/>
                  <a:t>sa</a:t>
                </a:r>
                <a:r>
                  <a:rPr lang="en-US" dirty="0"/>
                  <a:t> </a:t>
                </a:r>
                <a:r>
                  <a:rPr lang="en-US" sz="1200" i="0">
                    <a:latin typeface="Cambria Math" panose="02040503050406030204" pitchFamily="18" charset="0"/>
                  </a:rPr>
                  <a:t>〖|𝑆⟩=𝑐𝑜𝑠〗⁡𝜃 |0⟩+〖〖 𝑒〗^𝑖𝜑 𝑠𝑖𝑛〗⁡𝜃 |1⟩</a:t>
                </a:r>
                <a:r>
                  <a:rPr lang="en-US" dirty="0"/>
                  <a:t>. </a:t>
                </a:r>
                <a:r>
                  <a:rPr lang="en-US" sz="1200" kern="1200" baseline="0" dirty="0">
                    <a:solidFill>
                      <a:schemeClr val="tx1"/>
                    </a:solidFill>
                    <a:effectLst/>
                    <a:latin typeface="+mn-lt"/>
                    <a:ea typeface="+mn-ea"/>
                    <a:cs typeface="+mn-cs"/>
                  </a:rPr>
                  <a:t>Član </a:t>
                </a:r>
                <a:r>
                  <a:rPr lang="en-US" sz="1200" i="0">
                    <a:solidFill>
                      <a:schemeClr val="tx1"/>
                    </a:solidFill>
                    <a:latin typeface="Cambria Math" panose="02040503050406030204" pitchFamily="18" charset="0"/>
                  </a:rPr>
                  <a:t>𝑒^𝑖𝜑</a:t>
                </a:r>
                <a:r>
                  <a:rPr lang="en-US" sz="1200" kern="1200" baseline="0" dirty="0">
                    <a:solidFill>
                      <a:schemeClr val="tx1"/>
                    </a:solidFill>
                    <a:effectLst/>
                    <a:latin typeface="+mn-lt"/>
                    <a:ea typeface="+mn-ea"/>
                    <a:cs typeface="+mn-cs"/>
                  </a:rPr>
                  <a:t> se </a:t>
                </a:r>
                <a:r>
                  <a:rPr lang="en-US" sz="1200" kern="1200" baseline="0" dirty="0" err="1">
                    <a:solidFill>
                      <a:schemeClr val="tx1"/>
                    </a:solidFill>
                    <a:effectLst/>
                    <a:latin typeface="+mn-lt"/>
                    <a:ea typeface="+mn-ea"/>
                    <a:cs typeface="+mn-cs"/>
                  </a:rPr>
                  <a:t>naziva</a:t>
                </a:r>
                <a:r>
                  <a:rPr lang="en-US" sz="1200"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relativna</a:t>
                </a:r>
                <a:r>
                  <a:rPr lang="en-US" sz="1200" b="1" kern="1200" baseline="0" dirty="0">
                    <a:solidFill>
                      <a:schemeClr val="tx1"/>
                    </a:solidFill>
                    <a:effectLst/>
                    <a:latin typeface="+mn-lt"/>
                    <a:ea typeface="+mn-ea"/>
                    <a:cs typeface="+mn-cs"/>
                  </a:rPr>
                  <a:t> </a:t>
                </a:r>
                <a:r>
                  <a:rPr lang="en-US" sz="1200" b="1" kern="1200" baseline="0" dirty="0" err="1">
                    <a:solidFill>
                      <a:schemeClr val="tx1"/>
                    </a:solidFill>
                    <a:effectLst/>
                    <a:latin typeface="+mn-lt"/>
                    <a:ea typeface="+mn-ea"/>
                    <a:cs typeface="+mn-cs"/>
                  </a:rPr>
                  <a:t>faza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jer</a:t>
                </a:r>
                <a:r>
                  <a:rPr lang="en-US" sz="1200" kern="1200" baseline="0" dirty="0">
                    <a:solidFill>
                      <a:schemeClr val="tx1"/>
                    </a:solidFill>
                    <a:effectLst/>
                    <a:latin typeface="+mn-lt"/>
                    <a:ea typeface="+mn-ea"/>
                    <a:cs typeface="+mn-cs"/>
                  </a:rPr>
                  <a:t> se </a:t>
                </a:r>
                <a:r>
                  <a:rPr lang="en-US" sz="1200" kern="1200" baseline="0" dirty="0" err="1">
                    <a:solidFill>
                      <a:schemeClr val="tx1"/>
                    </a:solidFill>
                    <a:effectLst/>
                    <a:latin typeface="+mn-lt"/>
                    <a:ea typeface="+mn-ea"/>
                    <a:cs typeface="+mn-cs"/>
                  </a:rPr>
                  <a:t>odnosi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samo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jednu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komponentu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vektora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stanja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Iz</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izraza</a:t>
                </a:r>
                <a:r>
                  <a:rPr lang="en-US" sz="1200" kern="1200" baseline="0" dirty="0">
                    <a:solidFill>
                      <a:schemeClr val="tx1"/>
                    </a:solidFill>
                    <a:effectLst/>
                    <a:latin typeface="+mn-lt"/>
                    <a:ea typeface="+mn-ea"/>
                    <a:cs typeface="+mn-cs"/>
                  </a:rPr>
                  <a:t> se </a:t>
                </a:r>
                <a:r>
                  <a:rPr lang="en-US" sz="1200" kern="1200" baseline="0" dirty="0" err="1">
                    <a:solidFill>
                      <a:schemeClr val="tx1"/>
                    </a:solidFill>
                    <a:effectLst/>
                    <a:latin typeface="+mn-lt"/>
                    <a:ea typeface="+mn-ea"/>
                    <a:cs typeface="+mn-cs"/>
                  </a:rPr>
                  <a:t>vidi</a:t>
                </a:r>
                <a:r>
                  <a:rPr lang="en-US" sz="1200" kern="1200" baseline="0" dirty="0">
                    <a:solidFill>
                      <a:schemeClr val="tx1"/>
                    </a:solidFill>
                    <a:effectLst/>
                    <a:latin typeface="+mn-lt"/>
                    <a:ea typeface="+mn-ea"/>
                    <a:cs typeface="+mn-cs"/>
                  </a:rPr>
                  <a:t> da </a:t>
                </a:r>
                <a:r>
                  <a:rPr lang="en-US" sz="1200" kern="1200" baseline="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a:t>
                </a:r>
                <a:r>
                  <a:rPr lang="en-US" sz="1200" i="0">
                    <a:latin typeface="Cambria Math" panose="02040503050406030204" pitchFamily="18" charset="0"/>
                  </a:rPr>
                  <a:t>𝜃</a:t>
                </a:r>
                <a:r>
                  <a:rPr lang="sr-Latn-RS" sz="1200" b="0" i="0">
                    <a:latin typeface="Cambria Math" panose="02040503050406030204" pitchFamily="18" charset="0"/>
                  </a:rPr>
                  <a:t>=</a:t>
                </a:r>
                <a:r>
                  <a:rPr lang="sr-Latn-RS" sz="1200" i="0">
                    <a:solidFill>
                      <a:schemeClr val="tx1"/>
                    </a:solidFill>
                    <a:latin typeface="Cambria Math" panose="02040503050406030204" pitchFamily="18" charset="0"/>
                  </a:rPr>
                  <a:t>0</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vektor</a:t>
                </a:r>
                <a:r>
                  <a:rPr lang="en-US" sz="1200" kern="1200" baseline="0" dirty="0">
                    <a:solidFill>
                      <a:schemeClr val="tx1"/>
                    </a:solidFill>
                    <a:effectLst/>
                    <a:latin typeface="+mn-lt"/>
                    <a:ea typeface="+mn-ea"/>
                    <a:cs typeface="+mn-cs"/>
                  </a:rPr>
                  <a:t> </a:t>
                </a:r>
                <a:r>
                  <a:rPr lang="en-US" sz="1200" i="0">
                    <a:latin typeface="Cambria Math" panose="02040503050406030204" pitchFamily="18" charset="0"/>
                  </a:rPr>
                  <a:t>|𝑆⟩</a:t>
                </a:r>
                <a:r>
                  <a:rPr lang="en-US" sz="1200" kern="1200" baseline="0" dirty="0">
                    <a:solidFill>
                      <a:schemeClr val="tx1"/>
                    </a:solidFill>
                    <a:effectLst/>
                    <a:latin typeface="+mn-lt"/>
                    <a:ea typeface="+mn-ea"/>
                    <a:cs typeface="+mn-cs"/>
                  </a:rPr>
                  <a:t> postaje </a:t>
                </a:r>
                <a:r>
                  <a:rPr lang="en-US" sz="1200" i="0">
                    <a:latin typeface="Cambria Math" panose="02040503050406030204" pitchFamily="18" charset="0"/>
                  </a:rPr>
                  <a:t>|</a:t>
                </a:r>
                <a:r>
                  <a:rPr lang="sr-Latn-RS" sz="1200" b="0" i="0">
                    <a:latin typeface="Cambria Math" panose="02040503050406030204" pitchFamily="18" charset="0"/>
                  </a:rPr>
                  <a:t>0</a:t>
                </a:r>
                <a:r>
                  <a:rPr lang="en-US" sz="1200" b="0" i="0">
                    <a:latin typeface="Cambria Math" panose="02040503050406030204" pitchFamily="18" charset="0"/>
                  </a:rPr>
                  <a:t>⟩</a:t>
                </a:r>
                <a:r>
                  <a:rPr lang="en-US" sz="1200" kern="1200" baseline="0" dirty="0">
                    <a:solidFill>
                      <a:schemeClr val="tx1"/>
                    </a:solidFill>
                    <a:effectLst/>
                    <a:latin typeface="+mn-lt"/>
                    <a:ea typeface="+mn-ea"/>
                    <a:cs typeface="+mn-cs"/>
                  </a:rPr>
                  <a:t>, a </a:t>
                </a:r>
                <a:r>
                  <a:rPr lang="en-US" sz="1200" kern="1200" baseline="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a:t>
                </a:r>
                <a:r>
                  <a:rPr lang="en-US" sz="1200" i="0">
                    <a:latin typeface="Cambria Math" panose="02040503050406030204" pitchFamily="18" charset="0"/>
                  </a:rPr>
                  <a:t>𝜃</a:t>
                </a:r>
                <a:r>
                  <a:rPr lang="sr-Latn-RS" sz="1200" b="0" i="0">
                    <a:latin typeface="Cambria Math" panose="02040503050406030204" pitchFamily="18" charset="0"/>
                  </a:rPr>
                  <a:t>=</a:t>
                </a:r>
                <a:r>
                  <a:rPr lang="en-US" sz="1200" i="0">
                    <a:solidFill>
                      <a:schemeClr val="tx1"/>
                    </a:solidFill>
                    <a:latin typeface="Cambria Math" panose="02040503050406030204" pitchFamily="18" charset="0"/>
                  </a:rPr>
                  <a:t>𝜋</a:t>
                </a:r>
                <a:r>
                  <a:rPr lang="sr-Latn-RS" sz="1200" b="0" i="0">
                    <a:solidFill>
                      <a:schemeClr val="tx1"/>
                    </a:solidFill>
                    <a:latin typeface="Cambria Math" panose="02040503050406030204" pitchFamily="18" charset="0"/>
                  </a:rPr>
                  <a:t>/2</a:t>
                </a:r>
                <a:r>
                  <a:rPr lang="en-US" sz="1200" kern="1200" baseline="0" dirty="0">
                    <a:solidFill>
                      <a:schemeClr val="tx1"/>
                    </a:solidFill>
                    <a:effectLst/>
                    <a:latin typeface="+mn-lt"/>
                    <a:ea typeface="+mn-ea"/>
                    <a:cs typeface="+mn-cs"/>
                  </a:rPr>
                  <a:t> postaje </a:t>
                </a:r>
                <a:r>
                  <a:rPr lang="en-US" sz="1200" i="0">
                    <a:latin typeface="Cambria Math" panose="02040503050406030204" pitchFamily="18" charset="0"/>
                  </a:rPr>
                  <a:t>|</a:t>
                </a:r>
                <a:r>
                  <a:rPr lang="sr-Latn-RS" sz="1200" b="0" i="0">
                    <a:latin typeface="Cambria Math" panose="02040503050406030204" pitchFamily="18" charset="0"/>
                  </a:rPr>
                  <a:t>1</a:t>
                </a:r>
                <a:r>
                  <a:rPr lang="en-US" sz="1200" b="0" i="0">
                    <a:latin typeface="Cambria Math" panose="02040503050406030204" pitchFamily="18" charset="0"/>
                  </a:rPr>
                  <a:t>⟩</a:t>
                </a:r>
                <a:r>
                  <a:rPr lang="en-US" sz="1200" kern="1200" baseline="0" dirty="0">
                    <a:solidFill>
                      <a:schemeClr val="tx1"/>
                    </a:solidFill>
                    <a:effectLst/>
                    <a:latin typeface="+mn-lt"/>
                    <a:ea typeface="+mn-ea"/>
                    <a:cs typeface="+mn-cs"/>
                  </a:rPr>
                  <a:t>. Sa </a:t>
                </a:r>
                <a:r>
                  <a:rPr lang="en-US" sz="1200" kern="1200" baseline="0" dirty="0" err="1">
                    <a:solidFill>
                      <a:schemeClr val="tx1"/>
                    </a:solidFill>
                    <a:effectLst/>
                    <a:latin typeface="+mn-lt"/>
                    <a:ea typeface="+mn-ea"/>
                    <a:cs typeface="+mn-cs"/>
                  </a:rPr>
                  <a:t>povećanjem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ugla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odnos</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amplituda</a:t>
                </a:r>
                <a:r>
                  <a:rPr lang="en-US" sz="1200" kern="1200" baseline="0" dirty="0">
                    <a:solidFill>
                      <a:schemeClr val="tx1"/>
                    </a:solidFill>
                    <a:effectLst/>
                    <a:latin typeface="+mn-lt"/>
                    <a:ea typeface="+mn-ea"/>
                    <a:cs typeface="+mn-cs"/>
                  </a:rPr>
                  <a:t> se </a:t>
                </a:r>
                <a:r>
                  <a:rPr lang="en-US" sz="1200" kern="1200" baseline="0" dirty="0" err="1">
                    <a:solidFill>
                      <a:schemeClr val="tx1"/>
                    </a:solidFill>
                    <a:effectLst/>
                    <a:latin typeface="+mn-lt"/>
                    <a:ea typeface="+mn-ea"/>
                    <a:cs typeface="+mn-cs"/>
                  </a:rPr>
                  <a:t>kreće</a:t>
                </a:r>
                <a:r>
                  <a:rPr lang="en-US" sz="1200" kern="1200" baseline="0" dirty="0">
                    <a:solidFill>
                      <a:schemeClr val="tx1"/>
                    </a:solidFill>
                    <a:effectLst/>
                    <a:latin typeface="+mn-lt"/>
                    <a:ea typeface="+mn-ea"/>
                    <a:cs typeface="+mn-cs"/>
                  </a:rPr>
                  <a:t> u </a:t>
                </a:r>
                <a:r>
                  <a:rPr lang="en-US" sz="1200" kern="1200" baseline="0" dirty="0" err="1">
                    <a:solidFill>
                      <a:schemeClr val="tx1"/>
                    </a:solidFill>
                    <a:effectLst/>
                    <a:latin typeface="+mn-lt"/>
                    <a:ea typeface="+mn-ea"/>
                    <a:cs typeface="+mn-cs"/>
                  </a:rPr>
                  <a:t>suprotom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smeru</a:t>
                </a:r>
                <a:r>
                  <a:rPr lang="en-US" sz="1200" kern="1200" baseline="0" dirty="0">
                    <a:solidFill>
                      <a:schemeClr val="tx1"/>
                    </a:solidFill>
                    <a:effectLst/>
                    <a:latin typeface="+mn-lt"/>
                    <a:ea typeface="+mn-ea"/>
                    <a:cs typeface="+mn-cs"/>
                  </a:rPr>
                  <a:t> da bi </a:t>
                </a:r>
                <a:r>
                  <a:rPr lang="en-US" sz="1200" kern="1200" baseline="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a:t>
                </a:r>
                <a:r>
                  <a:rPr lang="en-US" sz="1200" i="0">
                    <a:latin typeface="Cambria Math" panose="02040503050406030204" pitchFamily="18" charset="0"/>
                  </a:rPr>
                  <a:t>𝜃</a:t>
                </a:r>
                <a:r>
                  <a:rPr lang="sr-Latn-RS" sz="1200" b="0" i="0">
                    <a:latin typeface="Cambria Math" panose="02040503050406030204" pitchFamily="18" charset="0"/>
                  </a:rPr>
                  <a:t>=</a:t>
                </a:r>
                <a:r>
                  <a:rPr lang="en-US" sz="1200" i="0">
                    <a:solidFill>
                      <a:schemeClr val="tx1"/>
                    </a:solidFill>
                    <a:latin typeface="Cambria Math" panose="02040503050406030204" pitchFamily="18" charset="0"/>
                  </a:rPr>
                  <a:t>𝜋</a:t>
                </a:r>
                <a:r>
                  <a:rPr lang="en-US" sz="1200" kern="1200" baseline="0" dirty="0">
                    <a:solidFill>
                      <a:schemeClr val="tx1"/>
                    </a:solidFill>
                    <a:effectLst/>
                    <a:latin typeface="+mn-lt"/>
                    <a:ea typeface="+mn-ea"/>
                    <a:cs typeface="+mn-cs"/>
                  </a:rPr>
                  <a:t> vector </a:t>
                </a:r>
                <a:r>
                  <a:rPr lang="en-US" sz="1200" i="0">
                    <a:latin typeface="Cambria Math" panose="02040503050406030204" pitchFamily="18" charset="0"/>
                  </a:rPr>
                  <a:t>|𝑆⟩</a:t>
                </a:r>
                <a:r>
                  <a:rPr lang="en-US" sz="1200" kern="1200" baseline="0" dirty="0">
                    <a:solidFill>
                      <a:schemeClr val="tx1"/>
                    </a:solidFill>
                    <a:effectLst/>
                    <a:latin typeface="+mn-lt"/>
                    <a:ea typeface="+mn-ea"/>
                    <a:cs typeface="+mn-cs"/>
                  </a:rPr>
                  <a:t> postao </a:t>
                </a:r>
                <a:r>
                  <a:rPr lang="sr-Latn-RS" sz="1200" b="0" i="0">
                    <a:latin typeface="Cambria Math" panose="02040503050406030204" pitchFamily="18" charset="0"/>
                  </a:rPr>
                  <a:t>−</a:t>
                </a:r>
                <a:r>
                  <a:rPr lang="en-US" sz="1200" i="0">
                    <a:latin typeface="Cambria Math" panose="02040503050406030204" pitchFamily="18" charset="0"/>
                  </a:rPr>
                  <a:t>|</a:t>
                </a:r>
                <a:r>
                  <a:rPr lang="sr-Latn-RS" sz="1200" b="0" i="0">
                    <a:latin typeface="Cambria Math" panose="02040503050406030204" pitchFamily="18" charset="0"/>
                  </a:rPr>
                  <a:t>0⟩</a:t>
                </a:r>
                <a:r>
                  <a:rPr lang="en-US" sz="1200" kern="1200" baseline="0" dirty="0">
                    <a:solidFill>
                      <a:schemeClr val="tx1"/>
                    </a:solidFill>
                    <a:effectLst/>
                    <a:latin typeface="+mn-lt"/>
                    <a:ea typeface="+mn-ea"/>
                    <a:cs typeface="+mn-cs"/>
                  </a:rPr>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sz="1200" kern="1200" baseline="0" dirty="0">
                  <a:solidFill>
                    <a:schemeClr val="tx1"/>
                  </a:solidFill>
                  <a:effectLst/>
                  <a:latin typeface="+mn-lt"/>
                  <a:ea typeface="+mn-ea"/>
                  <a:cs typeface="+mn-cs"/>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baseline="0" dirty="0" err="1">
                    <a:solidFill>
                      <a:schemeClr val="tx1"/>
                    </a:solidFill>
                    <a:effectLst/>
                    <a:latin typeface="+mn-lt"/>
                    <a:ea typeface="+mn-ea"/>
                    <a:cs typeface="+mn-cs"/>
                  </a:rPr>
                  <a:t>Ako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želimo</a:t>
                </a:r>
                <a:r>
                  <a:rPr lang="en-US" sz="1200" kern="1200" baseline="0" dirty="0">
                    <a:solidFill>
                      <a:schemeClr val="tx1"/>
                    </a:solidFill>
                    <a:effectLst/>
                    <a:latin typeface="+mn-lt"/>
                    <a:ea typeface="+mn-ea"/>
                    <a:cs typeface="+mn-cs"/>
                  </a:rPr>
                  <a:t> da </a:t>
                </a:r>
                <a:r>
                  <a:rPr lang="en-US" sz="1200" kern="1200" baseline="0" dirty="0" err="1">
                    <a:solidFill>
                      <a:schemeClr val="tx1"/>
                    </a:solidFill>
                    <a:effectLst/>
                    <a:latin typeface="+mn-lt"/>
                    <a:ea typeface="+mn-ea"/>
                    <a:cs typeface="+mn-cs"/>
                  </a:rPr>
                  <a:t>iskoristimo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donju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polovinu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sfere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zamenjujemo</a:t>
                </a:r>
                <a:r>
                  <a:rPr lang="en-US" sz="1200" kern="1200" baseline="0" dirty="0">
                    <a:solidFill>
                      <a:schemeClr val="tx1"/>
                    </a:solidFill>
                    <a:effectLst/>
                    <a:latin typeface="+mn-lt"/>
                    <a:ea typeface="+mn-ea"/>
                    <a:cs typeface="+mn-cs"/>
                  </a:rPr>
                  <a:t> </a:t>
                </a:r>
                <a:r>
                  <a:rPr lang="en-US" sz="1200" i="0">
                    <a:latin typeface="Cambria Math" panose="02040503050406030204" pitchFamily="18" charset="0"/>
                  </a:rPr>
                  <a:t>𝜃</a:t>
                </a:r>
                <a:r>
                  <a:rPr lang="en-US" sz="1200" kern="1200" baseline="0" dirty="0">
                    <a:solidFill>
                      <a:schemeClr val="tx1"/>
                    </a:solidFill>
                    <a:effectLst/>
                    <a:latin typeface="+mn-lt"/>
                    <a:ea typeface="+mn-ea"/>
                    <a:cs typeface="+mn-cs"/>
                  </a:rPr>
                  <a:t> sa </a:t>
                </a:r>
                <a:r>
                  <a:rPr lang="en-US" sz="1200" i="0">
                    <a:latin typeface="Cambria Math" panose="02040503050406030204" pitchFamily="18" charset="0"/>
                  </a:rPr>
                  <a:t>𝜃</a:t>
                </a:r>
                <a:r>
                  <a:rPr lang="sr-Latn-RS" sz="1200" b="0" i="0">
                    <a:latin typeface="Cambria Math" panose="02040503050406030204" pitchFamily="18" charset="0"/>
                  </a:rPr>
                  <a:t>/2</a:t>
                </a:r>
                <a:r>
                  <a:rPr lang="en-US" sz="1200" kern="1200" baseline="0" dirty="0">
                    <a:solidFill>
                      <a:schemeClr val="tx1"/>
                    </a:solidFill>
                    <a:effectLst/>
                    <a:latin typeface="+mn-lt"/>
                    <a:ea typeface="+mn-ea"/>
                    <a:cs typeface="+mn-cs"/>
                  </a:rPr>
                  <a:t> a </a:t>
                </a:r>
                <a:r>
                  <a:rPr lang="en-US" sz="1200" i="0">
                    <a:latin typeface="Cambria Math" panose="02040503050406030204" pitchFamily="18" charset="0"/>
                  </a:rPr>
                  <a:t>|</a:t>
                </a:r>
                <a:r>
                  <a:rPr lang="sr-Latn-RS" sz="1200" b="0" i="0">
                    <a:latin typeface="Cambria Math" panose="02040503050406030204" pitchFamily="18" charset="0"/>
                  </a:rPr>
                  <a:t>1⟩</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usmeravamo</a:t>
                </a:r>
                <a:r>
                  <a:rPr lang="en-US" sz="1200" kern="1200" baseline="0" dirty="0">
                    <a:solidFill>
                      <a:schemeClr val="tx1"/>
                    </a:solidFill>
                    <a:effectLst/>
                    <a:latin typeface="+mn-lt"/>
                    <a:ea typeface="+mn-ea"/>
                    <a:cs typeface="+mn-cs"/>
                  </a:rPr>
                  <a:t> ka </a:t>
                </a:r>
                <a:r>
                  <a:rPr lang="en-US" sz="1200" kern="1200" baseline="0" dirty="0" err="1">
                    <a:solidFill>
                      <a:schemeClr val="tx1"/>
                    </a:solidFill>
                    <a:effectLst/>
                    <a:latin typeface="+mn-lt"/>
                    <a:ea typeface="+mn-ea"/>
                    <a:cs typeface="+mn-cs"/>
                  </a:rPr>
                  <a:t>južnom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polu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Drugim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rečima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faktor</a:t>
                </a:r>
                <a:r>
                  <a:rPr lang="en-US" sz="1200" kern="1200" baseline="0" dirty="0">
                    <a:solidFill>
                      <a:schemeClr val="tx1"/>
                    </a:solidFill>
                    <a:effectLst/>
                    <a:latin typeface="+mn-lt"/>
                    <a:ea typeface="+mn-ea"/>
                    <a:cs typeface="+mn-cs"/>
                  </a:rPr>
                  <a:t> 1/2 </a:t>
                </a:r>
                <a:r>
                  <a:rPr lang="en-US" sz="1200" kern="1200" baseline="0" dirty="0" err="1">
                    <a:solidFill>
                      <a:schemeClr val="tx1"/>
                    </a:solidFill>
                    <a:effectLst/>
                    <a:latin typeface="+mn-lt"/>
                    <a:ea typeface="+mn-ea"/>
                    <a:cs typeface="+mn-cs"/>
                  </a:rPr>
                  <a:t>obezbeđuje</a:t>
                </a:r>
                <a:r>
                  <a:rPr lang="en-US" sz="1200" kern="1200" baseline="0" dirty="0">
                    <a:solidFill>
                      <a:schemeClr val="tx1"/>
                    </a:solidFill>
                    <a:effectLst/>
                    <a:latin typeface="+mn-lt"/>
                    <a:ea typeface="+mn-ea"/>
                    <a:cs typeface="+mn-cs"/>
                  </a:rPr>
                  <a:t> da se </a:t>
                </a:r>
                <a:r>
                  <a:rPr lang="en-US" sz="1200" kern="1200" baseline="0" dirty="0" err="1">
                    <a:solidFill>
                      <a:schemeClr val="tx1"/>
                    </a:solidFill>
                    <a:effectLst/>
                    <a:latin typeface="+mn-lt"/>
                    <a:ea typeface="+mn-ea"/>
                    <a:cs typeface="+mn-cs"/>
                  </a:rPr>
                  <a:t>ceo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raspon</a:t>
                </a:r>
                <a:r>
                  <a:rPr lang="en-US" sz="1200" kern="1200" baseline="0" dirty="0">
                    <a:solidFill>
                      <a:schemeClr val="tx1"/>
                    </a:solidFill>
                    <a:effectLst/>
                    <a:latin typeface="+mn-lt"/>
                    <a:ea typeface="+mn-ea"/>
                    <a:cs typeface="+mn-cs"/>
                  </a:rPr>
                  <a:t> od 0 do 𝜋 </a:t>
                </a:r>
                <a:r>
                  <a:rPr lang="en-US" sz="1200" kern="1200" baseline="0" dirty="0" err="1">
                    <a:solidFill>
                      <a:schemeClr val="tx1"/>
                    </a:solidFill>
                    <a:effectLst/>
                    <a:latin typeface="+mn-lt"/>
                    <a:ea typeface="+mn-ea"/>
                    <a:cs typeface="+mn-cs"/>
                  </a:rPr>
                  <a:t>na</a:t>
                </a:r>
                <a:r>
                  <a:rPr lang="en-US" sz="1200" kern="1200" baseline="0" dirty="0">
                    <a:solidFill>
                      <a:schemeClr val="tx1"/>
                    </a:solidFill>
                    <a:effectLst/>
                    <a:latin typeface="+mn-lt"/>
                    <a:ea typeface="+mn-ea"/>
                    <a:cs typeface="+mn-cs"/>
                  </a:rPr>
                  <a:t> Blohovoj </a:t>
                </a:r>
                <a:r>
                  <a:rPr lang="en-US" sz="1200" kern="1200" baseline="0" dirty="0" err="1">
                    <a:solidFill>
                      <a:schemeClr val="tx1"/>
                    </a:solidFill>
                    <a:effectLst/>
                    <a:latin typeface="+mn-lt"/>
                    <a:ea typeface="+mn-ea"/>
                    <a:cs typeface="+mn-cs"/>
                  </a:rPr>
                  <a:t>sferi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iskoristi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prelazak</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između</a:t>
                </a:r>
                <a:r>
                  <a:rPr lang="en-US" sz="1200" kern="1200" baseline="0" dirty="0">
                    <a:solidFill>
                      <a:schemeClr val="tx1"/>
                    </a:solidFill>
                    <a:effectLst/>
                    <a:latin typeface="+mn-lt"/>
                    <a:ea typeface="+mn-ea"/>
                    <a:cs typeface="+mn-cs"/>
                  </a:rPr>
                  <a:t> ova </a:t>
                </a:r>
                <a:r>
                  <a:rPr lang="en-US" sz="1200" kern="1200" baseline="0" dirty="0" err="1">
                    <a:solidFill>
                      <a:schemeClr val="tx1"/>
                    </a:solidFill>
                    <a:effectLst/>
                    <a:latin typeface="+mn-lt"/>
                    <a:ea typeface="+mn-ea"/>
                    <a:cs typeface="+mn-cs"/>
                  </a:rPr>
                  <a:t>dva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osnovna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stanja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umesto</a:t>
                </a:r>
                <a:r>
                  <a:rPr lang="en-US" sz="1200" kern="1200" baseline="0" dirty="0">
                    <a:solidFill>
                      <a:schemeClr val="tx1"/>
                    </a:solidFill>
                    <a:effectLst/>
                    <a:latin typeface="+mn-lt"/>
                    <a:ea typeface="+mn-ea"/>
                    <a:cs typeface="+mn-cs"/>
                  </a:rPr>
                  <a:t> da se </a:t>
                </a:r>
                <a:r>
                  <a:rPr lang="en-US" sz="1200" kern="1200" baseline="0" dirty="0" err="1">
                    <a:solidFill>
                      <a:schemeClr val="tx1"/>
                    </a:solidFill>
                    <a:effectLst/>
                    <a:latin typeface="+mn-lt"/>
                    <a:ea typeface="+mn-ea"/>
                    <a:cs typeface="+mn-cs"/>
                  </a:rPr>
                  <a:t>prelazak</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završi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već</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na</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polovini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sfere</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𝜃 = 𝜋/2).</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3611578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We can now compare the two representations of a qubit state.</a:t>
                </a:r>
              </a:p>
              <a:p>
                <a:pPr algn="just"/>
                <a:endParaRPr lang="en-ZA" b="0" dirty="0"/>
              </a:p>
              <a:p>
                <a:pPr algn="just"/>
                <a:r>
                  <a:rPr lang="en-ZA" b="0" dirty="0"/>
                  <a:t>In the first equation, the qubit state is expressed as a linear combination of the basis vectors ∣0⟩ and ∣1⟩, with complex probability amplitudes </a:t>
                </a:r>
                <a14:m>
                  <m:oMath xmlns:m="http://schemas.openxmlformats.org/officeDocument/2006/math">
                    <m:sSub>
                      <m:sSubPr>
                        <m:ctrlPr>
                          <a:rPr lang="sr-Latn-R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0</m:t>
                        </m:r>
                      </m:sub>
                    </m:sSub>
                  </m:oMath>
                </a14:m>
                <a:r>
                  <a:rPr lang="en-ZA" b="0" dirty="0"/>
                  <a:t>​ and </a:t>
                </a:r>
                <a14:m>
                  <m:oMath xmlns:m="http://schemas.openxmlformats.org/officeDocument/2006/math">
                    <m:sSub>
                      <m:sSubPr>
                        <m:ctrlPr>
                          <a:rPr lang="sr-Latn-R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1</m:t>
                        </m:r>
                      </m:sub>
                    </m:sSub>
                  </m:oMath>
                </a14:m>
                <a:r>
                  <a:rPr lang="en-ZA" b="0" dirty="0"/>
                  <a:t>.</a:t>
                </a:r>
              </a:p>
              <a:p>
                <a:pPr algn="just"/>
                <a:endParaRPr lang="en-ZA" b="0" dirty="0"/>
              </a:p>
              <a:p>
                <a:pPr algn="just"/>
                <a:r>
                  <a:rPr lang="en-ZA" b="0" dirty="0"/>
                  <a:t>In the second equation, the same state is expressed in Bloch sphere form, where the probability amplitudes are parameterized by the polar angle </a:t>
                </a:r>
                <a14:m>
                  <m:oMath xmlns:m="http://schemas.openxmlformats.org/officeDocument/2006/math">
                    <m:r>
                      <a:rPr lang="en-US" sz="1200" i="1" smtClean="0">
                        <a:latin typeface="Cambria Math" panose="02040503050406030204" pitchFamily="18" charset="0"/>
                      </a:rPr>
                      <m:t>𝜃</m:t>
                    </m:r>
                  </m:oMath>
                </a14:m>
                <a:r>
                  <a:rPr lang="el-GR" b="0" dirty="0"/>
                  <a:t> </a:t>
                </a:r>
                <a:r>
                  <a:rPr lang="en-ZA" b="0" dirty="0"/>
                  <a:t>and the phase angle </a:t>
                </a:r>
                <a14:m>
                  <m:oMath xmlns:m="http://schemas.openxmlformats.org/officeDocument/2006/math">
                    <m:r>
                      <a:rPr lang="en-US" sz="1200" i="1" smtClean="0">
                        <a:latin typeface="Cambria Math" panose="02040503050406030204" pitchFamily="18" charset="0"/>
                      </a:rPr>
                      <m:t>𝜑</m:t>
                    </m:r>
                  </m:oMath>
                </a14:m>
                <a:r>
                  <a:rPr lang="el-GR" b="0" dirty="0"/>
                  <a:t>.</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aseline="0" dirty="0"/>
                  <a:t>Dve </a:t>
                </a:r>
                <a:r>
                  <a:rPr lang="en-US" baseline="0" dirty="0" err="1"/>
                  <a:t>formule</a:t>
                </a:r>
                <a:r>
                  <a:rPr lang="en-US" baseline="0" dirty="0"/>
                  <a:t> </a:t>
                </a:r>
                <a:r>
                  <a:rPr lang="en-US" baseline="0" dirty="0" err="1"/>
                  <a:t>za</a:t>
                </a:r>
                <a:r>
                  <a:rPr lang="en-US" baseline="0" dirty="0"/>
                  <a:t> </a:t>
                </a:r>
                <a:r>
                  <a:rPr lang="en-US" baseline="0" dirty="0" err="1"/>
                  <a:t>opisivanje</a:t>
                </a:r>
                <a:r>
                  <a:rPr lang="en-US" baseline="0" dirty="0"/>
                  <a:t> </a:t>
                </a:r>
                <a:r>
                  <a:rPr lang="en-US" baseline="0" dirty="0" err="1"/>
                  <a:t>vektor</a:t>
                </a:r>
                <a:r>
                  <a:rPr lang="en-US" baseline="0" dirty="0"/>
                  <a:t> </a:t>
                </a:r>
                <a:r>
                  <a:rPr lang="en-US" baseline="0" dirty="0" err="1"/>
                  <a:t>stanja</a:t>
                </a:r>
                <a:r>
                  <a:rPr lang="en-US" baseline="0" dirty="0"/>
                  <a:t> kubita:</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aseline="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U </a:t>
                </a:r>
                <a:r>
                  <a:rPr lang="en-US" baseline="0" dirty="0" err="1"/>
                  <a:t>prvoj</a:t>
                </a:r>
                <a:r>
                  <a:rPr lang="en-US" baseline="0" dirty="0"/>
                  <a:t> </a:t>
                </a:r>
                <a:r>
                  <a:rPr lang="en-US" baseline="0" dirty="0" err="1"/>
                  <a:t>formuli</a:t>
                </a:r>
                <a:r>
                  <a:rPr lang="en-US" baseline="0" dirty="0"/>
                  <a:t> </a:t>
                </a:r>
                <a:r>
                  <a:rPr lang="en-US" baseline="0" dirty="0" err="1"/>
                  <a:t>stanje</a:t>
                </a:r>
                <a:r>
                  <a:rPr lang="en-US" baseline="0" dirty="0"/>
                  <a:t> kubita </a:t>
                </a:r>
                <a:r>
                  <a:rPr lang="en-US" baseline="0" dirty="0" err="1"/>
                  <a:t>je</a:t>
                </a:r>
                <a:r>
                  <a:rPr lang="en-US" baseline="0" dirty="0"/>
                  <a:t> </a:t>
                </a:r>
                <a:r>
                  <a:rPr lang="en-US" baseline="0" dirty="0" err="1"/>
                  <a:t>dato</a:t>
                </a:r>
                <a:r>
                  <a:rPr lang="en-US" baseline="0" dirty="0"/>
                  <a:t> </a:t>
                </a:r>
                <a:r>
                  <a:rPr lang="en-US" baseline="0" dirty="0" err="1"/>
                  <a:t>kao</a:t>
                </a:r>
                <a:r>
                  <a:rPr lang="en-US" baseline="0" dirty="0"/>
                  <a:t> </a:t>
                </a:r>
                <a:r>
                  <a:rPr lang="en-US" baseline="0" dirty="0" err="1"/>
                  <a:t>linearna</a:t>
                </a:r>
                <a:r>
                  <a:rPr lang="en-US" baseline="0" dirty="0"/>
                  <a:t> </a:t>
                </a:r>
                <a:r>
                  <a:rPr lang="en-US" baseline="0" dirty="0" err="1"/>
                  <a:t>kombinacija</a:t>
                </a:r>
                <a:r>
                  <a:rPr lang="en-US" baseline="0" dirty="0"/>
                  <a:t> </a:t>
                </a:r>
                <a:r>
                  <a:rPr lang="en-US" baseline="0" dirty="0" err="1"/>
                  <a:t>vektora</a:t>
                </a:r>
                <a:r>
                  <a:rPr lang="en-US" baseline="0" dirty="0"/>
                  <a:t> </a:t>
                </a:r>
                <a:r>
                  <a:rPr lang="en-US" baseline="0" dirty="0" err="1"/>
                  <a:t>baze</a:t>
                </a:r>
                <a:r>
                  <a:rPr lang="en-US" baseline="0" dirty="0"/>
                  <a:t>, </a:t>
                </a:r>
                <a:r>
                  <a:rPr lang="en-US" baseline="0" dirty="0" err="1"/>
                  <a:t>gde</a:t>
                </a:r>
                <a:r>
                  <a:rPr lang="en-US" baseline="0" dirty="0"/>
                  <a:t> su</a:t>
                </a:r>
                <a:r>
                  <a:rPr lang="en-US" sz="1200" kern="1200" baseline="0" dirty="0">
                    <a:solidFill>
                      <a:schemeClr val="tx1"/>
                    </a:solidFill>
                    <a:effectLst/>
                    <a:latin typeface="+mn-lt"/>
                    <a:ea typeface="+mn-ea"/>
                    <a:cs typeface="+mn-cs"/>
                  </a:rPr>
                  <a:t>|0⟩ I |1⟩ </a:t>
                </a:r>
                <a:r>
                  <a:rPr lang="en-US" sz="1200" kern="1200" baseline="0" dirty="0" err="1">
                    <a:solidFill>
                      <a:schemeClr val="tx1"/>
                    </a:solidFill>
                    <a:effectLst/>
                    <a:latin typeface="+mn-lt"/>
                    <a:ea typeface="+mn-ea"/>
                    <a:cs typeface="+mn-cs"/>
                  </a:rPr>
                  <a:t>vektori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baze</a:t>
                </a:r>
                <a:r>
                  <a:rPr lang="en-US" sz="1200" kern="1200" baseline="0" dirty="0">
                    <a:solidFill>
                      <a:schemeClr val="tx1"/>
                    </a:solidFill>
                    <a:effectLst/>
                    <a:latin typeface="+mn-lt"/>
                    <a:ea typeface="+mn-ea"/>
                    <a:cs typeface="+mn-cs"/>
                  </a:rPr>
                  <a:t>, a ‘</a:t>
                </a:r>
                <a:r>
                  <a:rPr lang="en-US" sz="1200" b="0" i="0">
                    <a:solidFill>
                      <a:schemeClr val="tx1"/>
                    </a:solidFill>
                    <a:latin typeface="Cambria Math" panose="02040503050406030204" pitchFamily="18" charset="0"/>
                    <a:ea typeface="Cambria Math" panose="02040503050406030204" pitchFamily="18" charset="0"/>
                  </a:rPr>
                  <a:t>𝑎</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i</a:t>
                </a:r>
                <a:r>
                  <a:rPr lang="en-US" sz="1200" kern="1200" baseline="0" dirty="0">
                    <a:solidFill>
                      <a:schemeClr val="tx1"/>
                    </a:solidFill>
                    <a:effectLst/>
                    <a:latin typeface="+mn-lt"/>
                    <a:ea typeface="+mn-ea"/>
                    <a:cs typeface="+mn-cs"/>
                  </a:rPr>
                  <a:t> '</a:t>
                </a:r>
                <a:r>
                  <a:rPr lang="sr-Latn-RS" sz="1200" b="0" i="0">
                    <a:solidFill>
                      <a:schemeClr val="tx1"/>
                    </a:solidFill>
                    <a:latin typeface="Cambria Math" panose="02040503050406030204" pitchFamily="18" charset="0"/>
                    <a:ea typeface="Cambria Math" panose="02040503050406030204" pitchFamily="18" charset="0"/>
                  </a:rPr>
                  <a:t>𝑏</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su</a:t>
                </a:r>
                <a:r>
                  <a:rPr lang="en-US" sz="1200" kern="1200" baseline="0" dirty="0">
                    <a:solidFill>
                      <a:schemeClr val="tx1"/>
                    </a:solidFill>
                    <a:effectLst/>
                    <a:latin typeface="+mn-lt"/>
                    <a:ea typeface="+mn-ea"/>
                    <a:cs typeface="+mn-cs"/>
                  </a:rPr>
                  <a:t> amplitude </a:t>
                </a:r>
                <a:r>
                  <a:rPr lang="en-US" sz="1200" kern="1200" baseline="0" dirty="0" err="1">
                    <a:solidFill>
                      <a:schemeClr val="tx1"/>
                    </a:solidFill>
                    <a:effectLst/>
                    <a:latin typeface="+mn-lt"/>
                    <a:ea typeface="+mn-ea"/>
                    <a:cs typeface="+mn-cs"/>
                  </a:rPr>
                  <a:t>verovatnoća</a:t>
                </a:r>
                <a:r>
                  <a:rPr lang="en-US" sz="1200" kern="1200" baseline="0" dirty="0">
                    <a:solidFill>
                      <a:schemeClr val="tx1"/>
                    </a:solidFill>
                    <a:effectLst/>
                    <a:latin typeface="+mn-lt"/>
                    <a:ea typeface="+mn-ea"/>
                    <a:cs typeface="+mn-cs"/>
                  </a:rPr>
                  <a:t>.</a:t>
                </a:r>
                <a:endParaRPr lang="en-US" baseline="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aseline="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U </a:t>
                </a:r>
                <a:r>
                  <a:rPr lang="en-US" baseline="0" dirty="0" err="1"/>
                  <a:t>drugoj</a:t>
                </a:r>
                <a:r>
                  <a:rPr lang="en-US" baseline="0" dirty="0"/>
                  <a:t> </a:t>
                </a:r>
                <a:r>
                  <a:rPr lang="en-US" baseline="0" dirty="0" err="1"/>
                  <a:t>formuli</a:t>
                </a:r>
                <a:r>
                  <a:rPr lang="en-US" baseline="0" dirty="0"/>
                  <a:t> </a:t>
                </a:r>
                <a:r>
                  <a:rPr lang="en-US" baseline="0" dirty="0" err="1"/>
                  <a:t>stanje</a:t>
                </a:r>
                <a:r>
                  <a:rPr lang="en-US" baseline="0" dirty="0"/>
                  <a:t> kubita </a:t>
                </a:r>
                <a:r>
                  <a:rPr lang="en-US" baseline="0" dirty="0" err="1"/>
                  <a:t>je</a:t>
                </a:r>
                <a:r>
                  <a:rPr lang="en-US" baseline="0" dirty="0"/>
                  <a:t> </a:t>
                </a:r>
                <a:r>
                  <a:rPr lang="en-US" baseline="0" dirty="0" err="1"/>
                  <a:t>takođe</a:t>
                </a:r>
                <a:r>
                  <a:rPr lang="en-US" baseline="0" dirty="0"/>
                  <a:t> </a:t>
                </a:r>
                <a:r>
                  <a:rPr lang="en-US" baseline="0" dirty="0" err="1"/>
                  <a:t>predstavljeno</a:t>
                </a:r>
                <a:r>
                  <a:rPr lang="en-US" baseline="0" dirty="0"/>
                  <a:t> </a:t>
                </a:r>
                <a:r>
                  <a:rPr lang="en-US" baseline="0" dirty="0" err="1"/>
                  <a:t>kao</a:t>
                </a:r>
                <a:r>
                  <a:rPr lang="en-US" baseline="0" dirty="0"/>
                  <a:t> </a:t>
                </a:r>
                <a:r>
                  <a:rPr lang="en-US" baseline="0" dirty="0" err="1"/>
                  <a:t>linearna</a:t>
                </a:r>
                <a:r>
                  <a:rPr lang="en-US" baseline="0" dirty="0"/>
                  <a:t> </a:t>
                </a:r>
                <a:r>
                  <a:rPr lang="en-US" baseline="0" dirty="0" err="1"/>
                  <a:t>kombinacija</a:t>
                </a:r>
                <a:r>
                  <a:rPr lang="en-US" baseline="0" dirty="0"/>
                  <a:t> </a:t>
                </a:r>
                <a:r>
                  <a:rPr lang="en-US" baseline="0" dirty="0" err="1"/>
                  <a:t>vektora</a:t>
                </a:r>
                <a:r>
                  <a:rPr lang="en-US" baseline="0" dirty="0"/>
                  <a:t> </a:t>
                </a:r>
                <a:r>
                  <a:rPr lang="en-US" baseline="0" dirty="0" err="1"/>
                  <a:t>baza</a:t>
                </a:r>
                <a:r>
                  <a:rPr lang="en-US" baseline="0" dirty="0"/>
                  <a:t>, </a:t>
                </a:r>
                <a:r>
                  <a:rPr lang="en-US" baseline="0" dirty="0" err="1"/>
                  <a:t>sa</a:t>
                </a:r>
                <a:r>
                  <a:rPr lang="en-US" baseline="0" dirty="0"/>
                  <a:t> </a:t>
                </a:r>
                <a:r>
                  <a:rPr lang="en-US" baseline="0" dirty="0" err="1"/>
                  <a:t>amplitudama</a:t>
                </a:r>
                <a:r>
                  <a:rPr lang="en-US" baseline="0" dirty="0"/>
                  <a:t> </a:t>
                </a:r>
                <a:r>
                  <a:rPr lang="en-US" baseline="0" dirty="0" err="1"/>
                  <a:t>verovatnoća</a:t>
                </a:r>
                <a:r>
                  <a:rPr lang="en-US" baseline="0" dirty="0"/>
                  <a:t> </a:t>
                </a:r>
                <a:r>
                  <a:rPr lang="en-US" baseline="0" dirty="0" err="1"/>
                  <a:t>izraženim</a:t>
                </a:r>
                <a:r>
                  <a:rPr lang="en-US" baseline="0" dirty="0"/>
                  <a:t> </a:t>
                </a:r>
                <a:r>
                  <a:rPr lang="en-US" baseline="0" dirty="0" err="1"/>
                  <a:t>preko</a:t>
                </a:r>
                <a:r>
                  <a:rPr lang="en-US" baseline="0" dirty="0"/>
                  <a:t> </a:t>
                </a:r>
                <a:r>
                  <a:rPr lang="en-US" baseline="0" dirty="0" err="1"/>
                  <a:t>polarnog</a:t>
                </a:r>
                <a:r>
                  <a:rPr lang="en-US" baseline="0" dirty="0"/>
                  <a:t> </a:t>
                </a:r>
                <a:r>
                  <a:rPr lang="en-US" baseline="0" dirty="0" err="1"/>
                  <a:t>i</a:t>
                </a:r>
                <a:r>
                  <a:rPr lang="en-US" baseline="0" dirty="0"/>
                  <a:t> </a:t>
                </a:r>
                <a:r>
                  <a:rPr lang="en-US" baseline="0" dirty="0" err="1"/>
                  <a:t>faznog</a:t>
                </a:r>
                <a:r>
                  <a:rPr lang="en-US" baseline="0" dirty="0"/>
                  <a:t> </a:t>
                </a:r>
                <a:r>
                  <a:rPr lang="en-US" baseline="0" dirty="0" err="1"/>
                  <a:t>ugla</a:t>
                </a:r>
                <a:r>
                  <a:rPr lang="en-US" baseline="0" dirty="0"/>
                  <a:t> u Blohovoj </a:t>
                </a:r>
                <a:r>
                  <a:rPr lang="en-US" baseline="0" dirty="0" err="1"/>
                  <a:t>sferi</a:t>
                </a:r>
                <a:r>
                  <a:rPr lang="en-US" baseline="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4044095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A state vector is not tied to a unique basis of the Hilbert space. It can be equally well described in any orthonormal basis. Changing the basis changes only the coefficients used to represent the state, not the state itself.</a:t>
                </a:r>
              </a:p>
              <a:p>
                <a:endParaRPr lang="en-ZA" dirty="0"/>
              </a:p>
              <a:p>
                <a:r>
                  <a:rPr lang="en-ZA" dirty="0"/>
                  <a:t>The figure shows a state vector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𝑆</m:t>
                        </m:r>
                      </m:e>
                    </m:d>
                  </m:oMath>
                </a14:m>
                <a:r>
                  <a:rPr lang="en-ZA" dirty="0"/>
                  <a:t> expressed in the basis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sr-Latn-RS" sz="1200" b="0" i="1" smtClean="0">
                                    <a:solidFill>
                                      <a:schemeClr val="tx1"/>
                                    </a:solidFill>
                                    <a:latin typeface="Cambria Math" panose="02040503050406030204" pitchFamily="18" charset="0"/>
                                    <a:ea typeface="Cambria Math" panose="02040503050406030204" pitchFamily="18" charset="0"/>
                                  </a:rPr>
                                  <m:t>𝑒</m:t>
                                </m:r>
                              </m:e>
                              <m:sub>
                                <m:r>
                                  <a:rPr lang="sr-Latn-RS" sz="1200" b="0" i="1" smtClean="0">
                                    <a:solidFill>
                                      <a:schemeClr val="tx1"/>
                                    </a:solidFill>
                                    <a:latin typeface="Cambria Math" panose="02040503050406030204" pitchFamily="18" charset="0"/>
                                    <a:ea typeface="Cambria Math" panose="02040503050406030204" pitchFamily="18" charset="0"/>
                                  </a:rPr>
                                  <m:t>0</m:t>
                                </m:r>
                              </m:sub>
                            </m:sSub>
                          </m:e>
                        </m:d>
                        <m:r>
                          <a:rPr lang="en-US"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sr-Latn-RS" sz="1200" b="0" i="1" smtClean="0">
                                    <a:solidFill>
                                      <a:schemeClr val="tx1"/>
                                    </a:solidFill>
                                    <a:latin typeface="Cambria Math" panose="02040503050406030204" pitchFamily="18" charset="0"/>
                                    <a:ea typeface="Cambria Math" panose="02040503050406030204" pitchFamily="18" charset="0"/>
                                  </a:rPr>
                                  <m:t>𝑒</m:t>
                                </m:r>
                              </m:e>
                              <m:sub>
                                <m:r>
                                  <a:rPr lang="sr-Latn-RS" sz="1200" b="0" i="1" smtClean="0">
                                    <a:solidFill>
                                      <a:schemeClr val="tx1"/>
                                    </a:solidFill>
                                    <a:latin typeface="Cambria Math" panose="02040503050406030204" pitchFamily="18" charset="0"/>
                                    <a:ea typeface="Cambria Math" panose="02040503050406030204" pitchFamily="18" charset="0"/>
                                  </a:rPr>
                                  <m:t>1</m:t>
                                </m:r>
                              </m:sub>
                            </m:sSub>
                          </m:e>
                        </m:d>
                      </m:e>
                    </m:d>
                  </m:oMath>
                </a14:m>
                <a:r>
                  <a:rPr lang="en-ZA" dirty="0"/>
                  <a:t>, and the same vector expressed in the basis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𝑓</m:t>
                                </m:r>
                              </m:e>
                              <m:sub>
                                <m:r>
                                  <a:rPr lang="sr-Latn-RS" sz="1200" b="0" i="1" smtClean="0">
                                    <a:solidFill>
                                      <a:schemeClr val="tx1"/>
                                    </a:solidFill>
                                    <a:latin typeface="Cambria Math" panose="02040503050406030204" pitchFamily="18" charset="0"/>
                                    <a:ea typeface="Cambria Math" panose="02040503050406030204" pitchFamily="18" charset="0"/>
                                  </a:rPr>
                                  <m:t>0</m:t>
                                </m:r>
                              </m:sub>
                            </m:sSub>
                          </m:e>
                        </m:d>
                        <m:r>
                          <a:rPr lang="en-US"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𝑓</m:t>
                                </m:r>
                              </m:e>
                              <m:sub>
                                <m:r>
                                  <a:rPr lang="sr-Latn-RS" sz="1200" b="0" i="1" smtClean="0">
                                    <a:solidFill>
                                      <a:schemeClr val="tx1"/>
                                    </a:solidFill>
                                    <a:latin typeface="Cambria Math" panose="02040503050406030204" pitchFamily="18" charset="0"/>
                                    <a:ea typeface="Cambria Math" panose="02040503050406030204" pitchFamily="18" charset="0"/>
                                  </a:rPr>
                                  <m:t>1</m:t>
                                </m:r>
                              </m:sub>
                            </m:sSub>
                          </m:e>
                        </m:d>
                      </m:e>
                    </m:d>
                  </m:oMath>
                </a14:m>
                <a:r>
                  <a:rPr lang="en-ZA" dirty="0"/>
                  <a:t>, which is rotated by </a:t>
                </a:r>
                <a14:m>
                  <m:oMath xmlns:m="http://schemas.openxmlformats.org/officeDocument/2006/math">
                    <m:r>
                      <a:rPr lang="en-US" sz="1200" b="0" i="0" smtClean="0">
                        <a:solidFill>
                          <a:schemeClr val="tx1"/>
                        </a:solidFill>
                        <a:latin typeface="Cambria Math" panose="02040503050406030204" pitchFamily="18" charset="0"/>
                      </a:rPr>
                      <m:t>−</m:t>
                    </m:r>
                    <m:r>
                      <a:rPr lang="en-US" sz="120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0" smtClean="0">
                        <a:solidFill>
                          <a:schemeClr val="tx1"/>
                        </a:solidFill>
                        <a:latin typeface="Cambria Math" panose="02040503050406030204" pitchFamily="18" charset="0"/>
                      </a:rPr>
                      <m:t>4</m:t>
                    </m:r>
                  </m:oMath>
                </a14:m>
                <a:r>
                  <a:rPr lang="en-ZA" dirty="0"/>
                  <a:t>.</a:t>
                </a:r>
              </a:p>
              <a:p>
                <a:endParaRPr lang="en-ZA" dirty="0"/>
              </a:p>
              <a:p>
                <a:r>
                  <a:rPr lang="en-ZA" dirty="0"/>
                  <a:t>The vector remains unchanged; only the coordinate system used to describe it changes.</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solidFill>
                      <a:schemeClr val="tx1"/>
                    </a:solidFill>
                  </a:rPr>
                  <a:t>Vektor </a:t>
                </a:r>
                <a:r>
                  <a:rPr lang="en-ZA" dirty="0" err="1">
                    <a:solidFill>
                      <a:schemeClr val="tx1"/>
                    </a:solidFill>
                  </a:rPr>
                  <a:t>stanja</a:t>
                </a:r>
                <a:r>
                  <a:rPr lang="en-ZA" dirty="0">
                    <a:solidFill>
                      <a:schemeClr val="tx1"/>
                    </a:solidFill>
                  </a:rPr>
                  <a:t> </a:t>
                </a:r>
                <a:r>
                  <a:rPr lang="en-ZA" dirty="0" err="1">
                    <a:solidFill>
                      <a:schemeClr val="tx1"/>
                    </a:solidFill>
                  </a:rPr>
                  <a:t>nije</a:t>
                </a:r>
                <a:r>
                  <a:rPr lang="en-ZA" dirty="0">
                    <a:solidFill>
                      <a:schemeClr val="tx1"/>
                    </a:solidFill>
                  </a:rPr>
                  <a:t> </a:t>
                </a:r>
                <a:r>
                  <a:rPr lang="en-ZA" dirty="0" err="1">
                    <a:solidFill>
                      <a:schemeClr val="tx1"/>
                    </a:solidFill>
                  </a:rPr>
                  <a:t>vezan</a:t>
                </a:r>
                <a:r>
                  <a:rPr lang="en-ZA" dirty="0">
                    <a:solidFill>
                      <a:schemeClr val="tx1"/>
                    </a:solidFill>
                  </a:rPr>
                  <a:t> </a:t>
                </a:r>
                <a:r>
                  <a:rPr lang="en-ZA" dirty="0" err="1">
                    <a:solidFill>
                      <a:schemeClr val="tx1"/>
                    </a:solidFill>
                  </a:rPr>
                  <a:t>za</a:t>
                </a:r>
                <a:r>
                  <a:rPr lang="en-ZA" dirty="0">
                    <a:solidFill>
                      <a:schemeClr val="tx1"/>
                    </a:solidFill>
                  </a:rPr>
                  <a:t> </a:t>
                </a:r>
                <a:r>
                  <a:rPr lang="en-ZA" dirty="0" err="1">
                    <a:solidFill>
                      <a:schemeClr val="tx1"/>
                    </a:solidFill>
                  </a:rPr>
                  <a:t>jedinstvenu</a:t>
                </a:r>
                <a:r>
                  <a:rPr lang="en-ZA" dirty="0">
                    <a:solidFill>
                      <a:schemeClr val="tx1"/>
                    </a:solidFill>
                  </a:rPr>
                  <a:t> </a:t>
                </a:r>
                <a:r>
                  <a:rPr lang="en-ZA" dirty="0" err="1">
                    <a:solidFill>
                      <a:schemeClr val="tx1"/>
                    </a:solidFill>
                  </a:rPr>
                  <a:t>bazu</a:t>
                </a:r>
                <a:r>
                  <a:rPr lang="en-ZA" dirty="0">
                    <a:solidFill>
                      <a:schemeClr val="tx1"/>
                    </a:solidFill>
                  </a:rPr>
                  <a:t> </a:t>
                </a:r>
                <a:r>
                  <a:rPr lang="en-ZA" dirty="0" err="1">
                    <a:solidFill>
                      <a:schemeClr val="tx1"/>
                    </a:solidFill>
                  </a:rPr>
                  <a:t>Hilbertovog</a:t>
                </a:r>
                <a:r>
                  <a:rPr lang="en-ZA" dirty="0">
                    <a:solidFill>
                      <a:schemeClr val="tx1"/>
                    </a:solidFill>
                  </a:rPr>
                  <a:t> </a:t>
                </a:r>
                <a:r>
                  <a:rPr lang="en-ZA" dirty="0" err="1">
                    <a:solidFill>
                      <a:schemeClr val="tx1"/>
                    </a:solidFill>
                  </a:rPr>
                  <a:t>prostora</a:t>
                </a:r>
                <a:r>
                  <a:rPr lang="en-ZA" dirty="0">
                    <a:solidFill>
                      <a:schemeClr val="tx1"/>
                    </a:solidFill>
                  </a:rPr>
                  <a:t>. On se </a:t>
                </a:r>
                <a:r>
                  <a:rPr lang="en-ZA" dirty="0" err="1">
                    <a:solidFill>
                      <a:schemeClr val="tx1"/>
                    </a:solidFill>
                  </a:rPr>
                  <a:t>može</a:t>
                </a:r>
                <a:r>
                  <a:rPr lang="en-ZA" dirty="0">
                    <a:solidFill>
                      <a:schemeClr val="tx1"/>
                    </a:solidFill>
                  </a:rPr>
                  <a:t> </a:t>
                </a:r>
                <a:r>
                  <a:rPr lang="en-ZA" dirty="0" err="1">
                    <a:solidFill>
                      <a:schemeClr val="tx1"/>
                    </a:solidFill>
                  </a:rPr>
                  <a:t>jednako</a:t>
                </a:r>
                <a:r>
                  <a:rPr lang="en-ZA" dirty="0">
                    <a:solidFill>
                      <a:schemeClr val="tx1"/>
                    </a:solidFill>
                  </a:rPr>
                  <a:t> dobro </a:t>
                </a:r>
                <a:r>
                  <a:rPr lang="en-ZA" dirty="0" err="1">
                    <a:solidFill>
                      <a:schemeClr val="tx1"/>
                    </a:solidFill>
                  </a:rPr>
                  <a:t>opisati</a:t>
                </a:r>
                <a:r>
                  <a:rPr lang="en-ZA" dirty="0">
                    <a:solidFill>
                      <a:schemeClr val="tx1"/>
                    </a:solidFill>
                  </a:rPr>
                  <a:t> u </a:t>
                </a:r>
                <a:r>
                  <a:rPr lang="en-ZA" dirty="0" err="1">
                    <a:solidFill>
                      <a:schemeClr val="tx1"/>
                    </a:solidFill>
                  </a:rPr>
                  <a:t>bilo</a:t>
                </a:r>
                <a:r>
                  <a:rPr lang="en-ZA" dirty="0">
                    <a:solidFill>
                      <a:schemeClr val="tx1"/>
                    </a:solidFill>
                  </a:rPr>
                  <a:t> </a:t>
                </a:r>
                <a:r>
                  <a:rPr lang="en-ZA" dirty="0" err="1">
                    <a:solidFill>
                      <a:schemeClr val="tx1"/>
                    </a:solidFill>
                  </a:rPr>
                  <a:t>kojoj</a:t>
                </a:r>
                <a:r>
                  <a:rPr lang="en-ZA" dirty="0">
                    <a:solidFill>
                      <a:schemeClr val="tx1"/>
                    </a:solidFill>
                  </a:rPr>
                  <a:t> </a:t>
                </a:r>
                <a:r>
                  <a:rPr lang="en-ZA" dirty="0" err="1">
                    <a:solidFill>
                      <a:schemeClr val="tx1"/>
                    </a:solidFill>
                  </a:rPr>
                  <a:t>ortonormiranoj</a:t>
                </a:r>
                <a:r>
                  <a:rPr lang="en-ZA" dirty="0">
                    <a:solidFill>
                      <a:schemeClr val="tx1"/>
                    </a:solidFill>
                  </a:rPr>
                  <a:t> </a:t>
                </a:r>
                <a:r>
                  <a:rPr lang="en-ZA" dirty="0" err="1">
                    <a:solidFill>
                      <a:schemeClr val="tx1"/>
                    </a:solidFill>
                  </a:rPr>
                  <a:t>bazi</a:t>
                </a:r>
                <a:r>
                  <a:rPr lang="en-ZA" dirty="0">
                    <a:solidFill>
                      <a:schemeClr val="tx1"/>
                    </a:solidFill>
                  </a:rPr>
                  <a:t>, </a:t>
                </a:r>
                <a:r>
                  <a:rPr lang="en-ZA" dirty="0" err="1">
                    <a:solidFill>
                      <a:schemeClr val="tx1"/>
                    </a:solidFill>
                  </a:rPr>
                  <a:t>pri</a:t>
                </a:r>
                <a:r>
                  <a:rPr lang="en-ZA" dirty="0">
                    <a:solidFill>
                      <a:schemeClr val="tx1"/>
                    </a:solidFill>
                  </a:rPr>
                  <a:t> </a:t>
                </a:r>
                <a:r>
                  <a:rPr lang="en-ZA" dirty="0" err="1">
                    <a:solidFill>
                      <a:schemeClr val="tx1"/>
                    </a:solidFill>
                  </a:rPr>
                  <a:t>čemu</a:t>
                </a:r>
                <a:r>
                  <a:rPr lang="en-ZA" dirty="0">
                    <a:solidFill>
                      <a:schemeClr val="tx1"/>
                    </a:solidFill>
                  </a:rPr>
                  <a:t> </a:t>
                </a:r>
                <a:r>
                  <a:rPr lang="en-ZA" dirty="0" err="1">
                    <a:solidFill>
                      <a:schemeClr val="tx1"/>
                    </a:solidFill>
                  </a:rPr>
                  <a:t>promena</a:t>
                </a:r>
                <a:r>
                  <a:rPr lang="en-ZA" dirty="0">
                    <a:solidFill>
                      <a:schemeClr val="tx1"/>
                    </a:solidFill>
                  </a:rPr>
                  <a:t> </a:t>
                </a:r>
                <a:r>
                  <a:rPr lang="en-ZA" dirty="0" err="1">
                    <a:solidFill>
                      <a:schemeClr val="tx1"/>
                    </a:solidFill>
                  </a:rPr>
                  <a:t>baze</a:t>
                </a:r>
                <a:r>
                  <a:rPr lang="en-ZA" dirty="0">
                    <a:solidFill>
                      <a:schemeClr val="tx1"/>
                    </a:solidFill>
                  </a:rPr>
                  <a:t> </a:t>
                </a:r>
                <a:r>
                  <a:rPr lang="en-ZA" dirty="0" err="1">
                    <a:solidFill>
                      <a:schemeClr val="tx1"/>
                    </a:solidFill>
                  </a:rPr>
                  <a:t>menja</a:t>
                </a:r>
                <a:r>
                  <a:rPr lang="en-ZA" dirty="0">
                    <a:solidFill>
                      <a:schemeClr val="tx1"/>
                    </a:solidFill>
                  </a:rPr>
                  <a:t> </a:t>
                </a:r>
                <a:r>
                  <a:rPr lang="en-ZA" dirty="0" err="1">
                    <a:solidFill>
                      <a:schemeClr val="tx1"/>
                    </a:solidFill>
                  </a:rPr>
                  <a:t>samo</a:t>
                </a:r>
                <a:r>
                  <a:rPr lang="en-ZA" dirty="0">
                    <a:solidFill>
                      <a:schemeClr val="tx1"/>
                    </a:solidFill>
                  </a:rPr>
                  <a:t> </a:t>
                </a:r>
                <a:r>
                  <a:rPr lang="en-ZA" dirty="0" err="1">
                    <a:solidFill>
                      <a:schemeClr val="tx1"/>
                    </a:solidFill>
                  </a:rPr>
                  <a:t>koeficijente</a:t>
                </a:r>
                <a:r>
                  <a:rPr lang="en-ZA" dirty="0">
                    <a:solidFill>
                      <a:schemeClr val="tx1"/>
                    </a:solidFill>
                  </a:rPr>
                  <a:t> </a:t>
                </a:r>
                <a:r>
                  <a:rPr lang="en-ZA" dirty="0" err="1">
                    <a:solidFill>
                      <a:schemeClr val="tx1"/>
                    </a:solidFill>
                  </a:rPr>
                  <a:t>zapisa</a:t>
                </a:r>
                <a:r>
                  <a:rPr lang="en-ZA" dirty="0">
                    <a:solidFill>
                      <a:schemeClr val="tx1"/>
                    </a:solidFill>
                  </a:rPr>
                  <a:t>, </a:t>
                </a:r>
                <a:r>
                  <a:rPr lang="en-ZA" dirty="0" err="1">
                    <a:solidFill>
                      <a:schemeClr val="tx1"/>
                    </a:solidFill>
                  </a:rPr>
                  <a:t>ali</a:t>
                </a:r>
                <a:r>
                  <a:rPr lang="en-ZA" dirty="0">
                    <a:solidFill>
                      <a:schemeClr val="tx1"/>
                    </a:solidFill>
                  </a:rPr>
                  <a:t> ne </a:t>
                </a:r>
                <a:r>
                  <a:rPr lang="en-ZA" dirty="0" err="1">
                    <a:solidFill>
                      <a:schemeClr val="tx1"/>
                    </a:solidFill>
                  </a:rPr>
                  <a:t>i</a:t>
                </a:r>
                <a:r>
                  <a:rPr lang="en-ZA" dirty="0">
                    <a:solidFill>
                      <a:schemeClr val="tx1"/>
                    </a:solidFill>
                  </a:rPr>
                  <a:t> </a:t>
                </a:r>
                <a:r>
                  <a:rPr lang="en-ZA" dirty="0" err="1">
                    <a:solidFill>
                      <a:schemeClr val="tx1"/>
                    </a:solidFill>
                  </a:rPr>
                  <a:t>stanje</a:t>
                </a:r>
                <a:r>
                  <a:rPr lang="en-ZA" dirty="0">
                    <a:solidFill>
                      <a:schemeClr val="tx1"/>
                    </a:solidFill>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err="1">
                    <a:solidFill>
                      <a:schemeClr val="tx1"/>
                    </a:solidFill>
                  </a:rPr>
                  <a:t>Slika</a:t>
                </a:r>
                <a:r>
                  <a:rPr lang="en-ZA" dirty="0">
                    <a:solidFill>
                      <a:schemeClr val="tx1"/>
                    </a:solidFill>
                  </a:rPr>
                  <a:t> </a:t>
                </a:r>
                <a:r>
                  <a:rPr lang="en-ZA" dirty="0" err="1">
                    <a:solidFill>
                      <a:schemeClr val="tx1"/>
                    </a:solidFill>
                  </a:rPr>
                  <a:t>prikazuje</a:t>
                </a:r>
                <a:r>
                  <a:rPr lang="en-ZA" dirty="0">
                    <a:solidFill>
                      <a:schemeClr val="tx1"/>
                    </a:solidFill>
                  </a:rPr>
                  <a:t> </a:t>
                </a:r>
                <a:r>
                  <a:rPr lang="en-ZA" dirty="0" err="1">
                    <a:solidFill>
                      <a:schemeClr val="tx1"/>
                    </a:solidFill>
                  </a:rPr>
                  <a:t>neki</a:t>
                </a:r>
                <a:r>
                  <a:rPr lang="en-ZA" dirty="0">
                    <a:solidFill>
                      <a:schemeClr val="tx1"/>
                    </a:solidFill>
                  </a:rPr>
                  <a:t> </a:t>
                </a:r>
                <a:r>
                  <a:rPr lang="en-ZA" dirty="0" err="1">
                    <a:solidFill>
                      <a:schemeClr val="tx1"/>
                    </a:solidFill>
                  </a:rPr>
                  <a:t>vektor</a:t>
                </a:r>
                <a:r>
                  <a:rPr lang="en-ZA"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|𝑆⟩</a:t>
                </a:r>
                <a:r>
                  <a:rPr lang="en-ZA" dirty="0">
                    <a:solidFill>
                      <a:schemeClr val="tx1"/>
                    </a:solidFill>
                  </a:rPr>
                  <a:t> </a:t>
                </a:r>
                <a:r>
                  <a:rPr lang="en-ZA" dirty="0" err="1">
                    <a:solidFill>
                      <a:schemeClr val="tx1"/>
                    </a:solidFill>
                  </a:rPr>
                  <a:t>opisan</a:t>
                </a:r>
                <a:r>
                  <a:rPr lang="en-ZA" baseline="0" dirty="0">
                    <a:solidFill>
                      <a:schemeClr val="tx1"/>
                    </a:solidFill>
                  </a:rPr>
                  <a:t> u </a:t>
                </a:r>
                <a:r>
                  <a:rPr lang="en-ZA" baseline="0" dirty="0" err="1">
                    <a:solidFill>
                      <a:schemeClr val="tx1"/>
                    </a:solidFill>
                  </a:rPr>
                  <a:t>bazi</a:t>
                </a:r>
                <a:r>
                  <a:rPr lang="en-ZA" baseline="0"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a:t>
                </a:r>
                <a:r>
                  <a:rPr lang="sr-Latn-RS" sz="1200" b="0" i="0">
                    <a:solidFill>
                      <a:schemeClr val="tx1"/>
                    </a:solidFill>
                    <a:latin typeface="Cambria Math" panose="02040503050406030204" pitchFamily="18" charset="0"/>
                    <a:ea typeface="Cambria Math" panose="02040503050406030204" pitchFamily="18" charset="0"/>
                  </a:rPr>
                  <a:t>𝑒</a:t>
                </a:r>
                <a:r>
                  <a:rPr lang="en-US" sz="1200" b="0" i="0">
                    <a:solidFill>
                      <a:schemeClr val="tx1"/>
                    </a:solidFill>
                    <a:latin typeface="Cambria Math" panose="02040503050406030204" pitchFamily="18" charset="0"/>
                    <a:ea typeface="Cambria Math" panose="02040503050406030204" pitchFamily="18" charset="0"/>
                  </a:rPr>
                  <a:t>_</a:t>
                </a:r>
                <a:r>
                  <a:rPr lang="sr-Latn-RS" sz="1200" b="0" i="0">
                    <a:solidFill>
                      <a:schemeClr val="tx1"/>
                    </a:solidFill>
                    <a:latin typeface="Cambria Math" panose="02040503050406030204" pitchFamily="18" charset="0"/>
                    <a:ea typeface="Cambria Math" panose="02040503050406030204" pitchFamily="18" charset="0"/>
                  </a:rPr>
                  <a:t>0 ⟩</a:t>
                </a:r>
                <a:r>
                  <a:rPr lang="en-US" sz="1200" b="0" i="0">
                    <a:solidFill>
                      <a:schemeClr val="tx1"/>
                    </a:solidFill>
                    <a:latin typeface="Cambria Math" panose="02040503050406030204" pitchFamily="18" charset="0"/>
                    <a:ea typeface="Cambria Math" panose="02040503050406030204" pitchFamily="18" charset="0"/>
                  </a:rPr>
                  <a:t>,├|</a:t>
                </a:r>
                <a:r>
                  <a:rPr lang="sr-Latn-RS" sz="1200" b="0" i="0">
                    <a:solidFill>
                      <a:schemeClr val="tx1"/>
                    </a:solidFill>
                    <a:latin typeface="Cambria Math" panose="02040503050406030204" pitchFamily="18" charset="0"/>
                    <a:ea typeface="Cambria Math" panose="02040503050406030204" pitchFamily="18" charset="0"/>
                  </a:rPr>
                  <a:t>𝑒</a:t>
                </a:r>
                <a:r>
                  <a:rPr lang="en-US" sz="1200" b="0" i="0">
                    <a:solidFill>
                      <a:schemeClr val="tx1"/>
                    </a:solidFill>
                    <a:latin typeface="Cambria Math" panose="02040503050406030204" pitchFamily="18" charset="0"/>
                    <a:ea typeface="Cambria Math" panose="02040503050406030204" pitchFamily="18" charset="0"/>
                  </a:rPr>
                  <a:t>_</a:t>
                </a:r>
                <a:r>
                  <a:rPr lang="sr-Latn-RS" sz="1200" b="0" i="0">
                    <a:solidFill>
                      <a:schemeClr val="tx1"/>
                    </a:solidFill>
                    <a:latin typeface="Cambria Math" panose="02040503050406030204" pitchFamily="18" charset="0"/>
                    <a:ea typeface="Cambria Math" panose="02040503050406030204" pitchFamily="18" charset="0"/>
                  </a:rPr>
                  <a:t>1 ⟩}</a:t>
                </a:r>
                <a:r>
                  <a:rPr lang="en-US" sz="1200" dirty="0">
                    <a:solidFill>
                      <a:schemeClr val="tx1"/>
                    </a:solidFill>
                  </a:rPr>
                  <a:t> i </a:t>
                </a:r>
                <a:r>
                  <a:rPr lang="en-US" sz="1200" dirty="0" err="1">
                    <a:solidFill>
                      <a:schemeClr val="tx1"/>
                    </a:solidFill>
                  </a:rPr>
                  <a:t>isti</a:t>
                </a:r>
                <a:r>
                  <a:rPr lang="en-US" sz="1200" dirty="0">
                    <a:solidFill>
                      <a:schemeClr val="tx1"/>
                    </a:solidFill>
                  </a:rPr>
                  <a:t> </a:t>
                </a:r>
                <a:r>
                  <a:rPr lang="en-US" sz="1200" dirty="0" err="1">
                    <a:solidFill>
                      <a:schemeClr val="tx1"/>
                    </a:solidFill>
                  </a:rPr>
                  <a:t>taj</a:t>
                </a:r>
                <a:r>
                  <a:rPr lang="en-US" sz="1200" dirty="0">
                    <a:solidFill>
                      <a:schemeClr val="tx1"/>
                    </a:solidFill>
                  </a:rPr>
                  <a:t> vector </a:t>
                </a:r>
                <a:r>
                  <a:rPr lang="en-US" sz="1200" dirty="0" err="1">
                    <a:solidFill>
                      <a:schemeClr val="tx1"/>
                    </a:solidFill>
                  </a:rPr>
                  <a:t>izražen</a:t>
                </a:r>
                <a:r>
                  <a:rPr lang="en-US" sz="1200" baseline="0" dirty="0">
                    <a:solidFill>
                      <a:schemeClr val="tx1"/>
                    </a:solidFill>
                  </a:rPr>
                  <a:t> u</a:t>
                </a:r>
                <a:r>
                  <a:rPr lang="en-US" sz="1200" dirty="0">
                    <a:solidFill>
                      <a:schemeClr val="tx1"/>
                    </a:solidFill>
                  </a:rPr>
                  <a:t> </a:t>
                </a:r>
                <a:r>
                  <a:rPr lang="en-US" sz="1200" dirty="0" err="1">
                    <a:solidFill>
                      <a:schemeClr val="tx1"/>
                    </a:solidFill>
                  </a:rPr>
                  <a:t>bazi</a:t>
                </a:r>
                <a:r>
                  <a:rPr lang="en-US" sz="1200"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a:t>
                </a:r>
                <a:r>
                  <a:rPr lang="sr-Latn-RS" sz="1200" b="0" i="0">
                    <a:solidFill>
                      <a:schemeClr val="tx1"/>
                    </a:solidFill>
                    <a:latin typeface="Cambria Math" panose="02040503050406030204" pitchFamily="18" charset="0"/>
                    <a:ea typeface="Cambria Math" panose="02040503050406030204" pitchFamily="18" charset="0"/>
                  </a:rPr>
                  <a:t>𝑓</a:t>
                </a:r>
                <a:r>
                  <a:rPr lang="en-US" sz="1200" b="0" i="0">
                    <a:solidFill>
                      <a:schemeClr val="tx1"/>
                    </a:solidFill>
                    <a:latin typeface="Cambria Math" panose="02040503050406030204" pitchFamily="18" charset="0"/>
                    <a:ea typeface="Cambria Math" panose="02040503050406030204" pitchFamily="18" charset="0"/>
                  </a:rPr>
                  <a:t>_</a:t>
                </a:r>
                <a:r>
                  <a:rPr lang="sr-Latn-RS" sz="1200" b="0" i="0">
                    <a:solidFill>
                      <a:schemeClr val="tx1"/>
                    </a:solidFill>
                    <a:latin typeface="Cambria Math" panose="02040503050406030204" pitchFamily="18" charset="0"/>
                    <a:ea typeface="Cambria Math" panose="02040503050406030204" pitchFamily="18" charset="0"/>
                  </a:rPr>
                  <a:t>0 ⟩</a:t>
                </a:r>
                <a:r>
                  <a:rPr lang="en-US" sz="1200" b="0" i="0">
                    <a:solidFill>
                      <a:schemeClr val="tx1"/>
                    </a:solidFill>
                    <a:latin typeface="Cambria Math" panose="02040503050406030204" pitchFamily="18" charset="0"/>
                    <a:ea typeface="Cambria Math" panose="02040503050406030204" pitchFamily="18" charset="0"/>
                  </a:rPr>
                  <a:t>,├|</a:t>
                </a:r>
                <a:r>
                  <a:rPr lang="sr-Latn-RS" sz="1200" b="0" i="0">
                    <a:solidFill>
                      <a:schemeClr val="tx1"/>
                    </a:solidFill>
                    <a:latin typeface="Cambria Math" panose="02040503050406030204" pitchFamily="18" charset="0"/>
                    <a:ea typeface="Cambria Math" panose="02040503050406030204" pitchFamily="18" charset="0"/>
                  </a:rPr>
                  <a:t>𝑓</a:t>
                </a:r>
                <a:r>
                  <a:rPr lang="en-US" sz="1200" b="0" i="0">
                    <a:solidFill>
                      <a:schemeClr val="tx1"/>
                    </a:solidFill>
                    <a:latin typeface="Cambria Math" panose="02040503050406030204" pitchFamily="18" charset="0"/>
                    <a:ea typeface="Cambria Math" panose="02040503050406030204" pitchFamily="18" charset="0"/>
                  </a:rPr>
                  <a:t>_</a:t>
                </a:r>
                <a:r>
                  <a:rPr lang="sr-Latn-RS" sz="1200" b="0" i="0">
                    <a:solidFill>
                      <a:schemeClr val="tx1"/>
                    </a:solidFill>
                    <a:latin typeface="Cambria Math" panose="02040503050406030204" pitchFamily="18" charset="0"/>
                    <a:ea typeface="Cambria Math" panose="02040503050406030204" pitchFamily="18" charset="0"/>
                  </a:rPr>
                  <a:t>1 ⟩}</a:t>
                </a:r>
                <a:r>
                  <a:rPr lang="en-US" sz="1200" dirty="0">
                    <a:solidFill>
                      <a:schemeClr val="tx1"/>
                    </a:solidFill>
                  </a:rPr>
                  <a:t> </a:t>
                </a:r>
                <a:r>
                  <a:rPr lang="en-US" sz="1200" dirty="0" err="1">
                    <a:solidFill>
                      <a:schemeClr val="tx1"/>
                    </a:solidFill>
                  </a:rPr>
                  <a:t>rotirane</a:t>
                </a:r>
                <a:r>
                  <a:rPr lang="en-US" sz="1200" baseline="0" dirty="0">
                    <a:solidFill>
                      <a:schemeClr val="tx1"/>
                    </a:solidFill>
                  </a:rPr>
                  <a:t> </a:t>
                </a:r>
                <a:r>
                  <a:rPr lang="en-US" sz="1200" baseline="0" dirty="0" err="1">
                    <a:solidFill>
                      <a:schemeClr val="tx1"/>
                    </a:solidFill>
                  </a:rPr>
                  <a:t>za</a:t>
                </a:r>
                <a:r>
                  <a:rPr lang="en-US" sz="1200" baseline="0" dirty="0">
                    <a:solidFill>
                      <a:schemeClr val="tx1"/>
                    </a:solidFill>
                  </a:rPr>
                  <a:t> </a:t>
                </a:r>
                <a:r>
                  <a:rPr lang="en-US" sz="1200" b="0"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𝜋</a:t>
                </a:r>
                <a:r>
                  <a:rPr lang="en-US" sz="1200" b="0" i="0">
                    <a:solidFill>
                      <a:schemeClr val="tx1"/>
                    </a:solidFill>
                    <a:latin typeface="Cambria Math" panose="02040503050406030204" pitchFamily="18" charset="0"/>
                  </a:rPr>
                  <a:t>/4.</a:t>
                </a:r>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solidFill>
                    <a:schemeClr val="tx1"/>
                  </a:solidFill>
                </a:endParaRPr>
              </a:p>
              <a:p>
                <a:pPr algn="just"/>
                <a:r>
                  <a:rPr lang="en-ZA" dirty="0" err="1"/>
                  <a:t>Vektor</a:t>
                </a:r>
                <a:r>
                  <a:rPr lang="en-ZA" dirty="0"/>
                  <a:t> se ne </a:t>
                </a:r>
                <a:r>
                  <a:rPr lang="en-ZA" dirty="0" err="1"/>
                  <a:t>menja</a:t>
                </a:r>
                <a:r>
                  <a:rPr lang="en-ZA" dirty="0"/>
                  <a:t>,  </a:t>
                </a:r>
                <a:r>
                  <a:rPr lang="en-ZA" dirty="0" err="1"/>
                  <a:t>menja</a:t>
                </a:r>
                <a:r>
                  <a:rPr lang="en-ZA" dirty="0"/>
                  <a:t> se </a:t>
                </a:r>
                <a:r>
                  <a:rPr lang="en-ZA" dirty="0" err="1"/>
                  <a:t>samo</a:t>
                </a:r>
                <a:r>
                  <a:rPr lang="en-ZA" dirty="0"/>
                  <a:t> </a:t>
                </a:r>
                <a:r>
                  <a:rPr lang="en-ZA" dirty="0" err="1"/>
                  <a:t>sistem</a:t>
                </a:r>
                <a:r>
                  <a:rPr lang="en-ZA" dirty="0"/>
                  <a:t> </a:t>
                </a:r>
                <a:r>
                  <a:rPr lang="en-ZA" dirty="0" err="1"/>
                  <a:t>koordinata</a:t>
                </a:r>
                <a:r>
                  <a:rPr lang="en-ZA" dirty="0"/>
                  <a:t> u </a:t>
                </a:r>
                <a:r>
                  <a:rPr lang="en-ZA" dirty="0" err="1"/>
                  <a:t>kome</a:t>
                </a:r>
                <a:r>
                  <a:rPr lang="en-ZA" dirty="0"/>
                  <a:t> </a:t>
                </a:r>
                <a:r>
                  <a:rPr lang="en-ZA" dirty="0" err="1"/>
                  <a:t>ga</a:t>
                </a:r>
                <a:r>
                  <a:rPr lang="en-ZA" dirty="0"/>
                  <a:t> </a:t>
                </a:r>
                <a:r>
                  <a:rPr lang="en-ZA" dirty="0" err="1"/>
                  <a:t>izražavamo</a:t>
                </a:r>
                <a:r>
                  <a:rPr lang="en-ZA" dirty="0"/>
                  <a:t>.</a:t>
                </a:r>
                <a:endParaRPr lang="en-US"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347085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By varying the parameters </a:t>
                </a:r>
                <a:r>
                  <a:rPr lang="el-GR" dirty="0"/>
                  <a:t>θ </a:t>
                </a:r>
                <a:r>
                  <a:rPr lang="en-ZA" dirty="0"/>
                  <a:t>and </a:t>
                </a:r>
                <a:r>
                  <a:rPr lang="el-GR" dirty="0"/>
                  <a:t>φ, </a:t>
                </a:r>
                <a:r>
                  <a:rPr lang="en-ZA" dirty="0"/>
                  <a:t>different orthonormal bases of the qubit's Hilbert space can be defined. Any vector in this space can be expressed as a linear combination of the chosen basis vectors.</a:t>
                </a:r>
              </a:p>
              <a:p>
                <a:endParaRPr lang="en-ZA" dirty="0"/>
              </a:p>
              <a:p>
                <a:r>
                  <a:rPr lang="en-ZA" dirty="0"/>
                  <a:t>Thus, the pair </a:t>
                </a:r>
                <a14:m>
                  <m:oMath xmlns:m="http://schemas.openxmlformats.org/officeDocument/2006/math">
                    <m:r>
                      <a:rPr lang="en-US"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sr-Latn-R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oMath>
                </a14:m>
                <a:r>
                  <a:rPr lang="en-ZA" dirty="0"/>
                  <a:t> forms the </a:t>
                </a:r>
                <a:r>
                  <a:rPr lang="en-ZA" b="1" dirty="0"/>
                  <a:t>standard computational basis</a:t>
                </a:r>
                <a:r>
                  <a:rPr lang="en-ZA" dirty="0"/>
                  <a:t>, aligned with the z-axis of the Bloch sphere. These basis vectors correspond to the polar angles </a:t>
                </a:r>
                <a14:m>
                  <m:oMath xmlns:m="http://schemas.openxmlformats.org/officeDocument/2006/math">
                    <m:r>
                      <a:rPr lang="en-US" sz="1200" i="1" smtClean="0">
                        <a:latin typeface="Cambria Math" panose="02040503050406030204" pitchFamily="18" charset="0"/>
                      </a:rPr>
                      <m:t>𝜃</m:t>
                    </m:r>
                    <m:r>
                      <a:rPr lang="en-US" sz="1200" i="0">
                        <a:latin typeface="Cambria Math" panose="02040503050406030204" pitchFamily="18" charset="0"/>
                      </a:rPr>
                      <m:t>=0</m:t>
                    </m:r>
                  </m:oMath>
                </a14:m>
                <a:r>
                  <a:rPr lang="en-ZA" dirty="0"/>
                  <a:t> and </a:t>
                </a:r>
                <a14:m>
                  <m:oMath xmlns:m="http://schemas.openxmlformats.org/officeDocument/2006/math">
                    <m:r>
                      <a:rPr lang="en-US" sz="1200" i="1" smtClean="0">
                        <a:latin typeface="Cambria Math" panose="02040503050406030204" pitchFamily="18" charset="0"/>
                      </a:rPr>
                      <m:t>𝜃</m:t>
                    </m:r>
                    <m:r>
                      <a:rPr lang="en-US" sz="1200" i="0">
                        <a:latin typeface="Cambria Math" panose="02040503050406030204" pitchFamily="18" charset="0"/>
                      </a:rPr>
                      <m:t>=</m:t>
                    </m:r>
                    <m:r>
                      <a:rPr lang="en-US" sz="1200" i="1">
                        <a:latin typeface="Cambria Math" panose="02040503050406030204" pitchFamily="18" charset="0"/>
                      </a:rPr>
                      <m:t>𝜋</m:t>
                    </m:r>
                  </m:oMath>
                </a14:m>
                <a:r>
                  <a:rPr lang="en-ZA" dirty="0"/>
                  <a:t>, respectively.</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Menjajući</a:t>
                </a:r>
                <a:r>
                  <a:rPr lang="en-US" sz="1200" baseline="0" dirty="0"/>
                  <a:t> </a:t>
                </a:r>
                <a:r>
                  <a:rPr lang="en-US" sz="1200" baseline="0" dirty="0" err="1"/>
                  <a:t>parametre</a:t>
                </a:r>
                <a:r>
                  <a:rPr lang="en-US" sz="1200" baseline="0" dirty="0"/>
                  <a:t> </a:t>
                </a:r>
                <a:r>
                  <a:rPr lang="en-US" sz="1200" i="0">
                    <a:latin typeface="Cambria Math" panose="02040503050406030204" pitchFamily="18" charset="0"/>
                  </a:rPr>
                  <a:t>𝜃</a:t>
                </a:r>
                <a:r>
                  <a:rPr lang="en-US" dirty="0"/>
                  <a:t> i </a:t>
                </a:r>
                <a:r>
                  <a:rPr lang="en-US" sz="1200" i="0">
                    <a:latin typeface="Cambria Math" panose="02040503050406030204" pitchFamily="18" charset="0"/>
                  </a:rPr>
                  <a:t>𝜑</a:t>
                </a:r>
                <a:r>
                  <a:rPr lang="en-US" dirty="0"/>
                  <a:t> </a:t>
                </a:r>
                <a:r>
                  <a:rPr lang="en-US" dirty="0" err="1"/>
                  <a:t>mogu</a:t>
                </a:r>
                <a:r>
                  <a:rPr lang="en-US" dirty="0"/>
                  <a:t> se </a:t>
                </a:r>
                <a:r>
                  <a:rPr lang="en-US" dirty="0" err="1"/>
                  <a:t>definisati</a:t>
                </a:r>
                <a:r>
                  <a:rPr lang="en-US" dirty="0"/>
                  <a:t> </a:t>
                </a:r>
                <a:r>
                  <a:rPr lang="en-US" dirty="0" err="1"/>
                  <a:t>različiti</a:t>
                </a:r>
                <a:r>
                  <a:rPr lang="en-US" dirty="0"/>
                  <a:t> </a:t>
                </a:r>
                <a:r>
                  <a:rPr lang="en-US" dirty="0" err="1"/>
                  <a:t>vektori</a:t>
                </a:r>
                <a:r>
                  <a:rPr lang="en-US" dirty="0"/>
                  <a:t> </a:t>
                </a:r>
                <a:r>
                  <a:rPr lang="en-US" dirty="0" err="1"/>
                  <a:t>baze</a:t>
                </a:r>
                <a:r>
                  <a:rPr lang="en-US" dirty="0"/>
                  <a:t> u </a:t>
                </a:r>
                <a:r>
                  <a:rPr lang="en-US" dirty="0" err="1"/>
                  <a:t>odnosu</a:t>
                </a:r>
                <a:r>
                  <a:rPr lang="en-US" dirty="0"/>
                  <a:t> </a:t>
                </a:r>
                <a:r>
                  <a:rPr lang="en-US" dirty="0" err="1"/>
                  <a:t>na</a:t>
                </a:r>
                <a:r>
                  <a:rPr lang="en-US" dirty="0"/>
                  <a:t> </a:t>
                </a:r>
                <a:r>
                  <a:rPr lang="en-US" dirty="0" err="1"/>
                  <a:t>koje</a:t>
                </a:r>
                <a:r>
                  <a:rPr lang="en-US" dirty="0"/>
                  <a:t> </a:t>
                </a:r>
                <a:r>
                  <a:rPr lang="en-US" dirty="0" err="1"/>
                  <a:t>će</a:t>
                </a:r>
                <a:r>
                  <a:rPr lang="en-US" dirty="0"/>
                  <a:t> se </a:t>
                </a:r>
                <a:r>
                  <a:rPr lang="en-US" dirty="0" err="1"/>
                  <a:t>definisati</a:t>
                </a:r>
                <a:r>
                  <a:rPr lang="en-US" dirty="0"/>
                  <a:t> </a:t>
                </a:r>
                <a:r>
                  <a:rPr lang="en-US" dirty="0" err="1"/>
                  <a:t>svi</a:t>
                </a:r>
                <a:r>
                  <a:rPr lang="en-US" dirty="0"/>
                  <a:t> </a:t>
                </a:r>
                <a:r>
                  <a:rPr lang="en-US" dirty="0" err="1"/>
                  <a:t>ostali</a:t>
                </a:r>
                <a:r>
                  <a:rPr lang="en-US" dirty="0"/>
                  <a:t> </a:t>
                </a:r>
                <a:r>
                  <a:rPr lang="en-US" dirty="0" err="1"/>
                  <a:t>vektori</a:t>
                </a:r>
                <a:r>
                  <a:rPr lang="en-US" dirty="0"/>
                  <a:t> u </a:t>
                </a:r>
                <a:r>
                  <a:rPr lang="en-US" dirty="0" err="1"/>
                  <a:t>Hilbertovom</a:t>
                </a:r>
                <a:r>
                  <a:rPr lang="en-US" dirty="0"/>
                  <a:t> </a:t>
                </a:r>
                <a:r>
                  <a:rPr lang="en-US" dirty="0" err="1"/>
                  <a:t>prostoru</a:t>
                </a:r>
                <a:r>
                  <a:rPr lang="en-US" dirty="0"/>
                  <a:t> kubita.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Vektorski</a:t>
                </a:r>
                <a:r>
                  <a:rPr lang="en-US" dirty="0"/>
                  <a:t> par </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sr-Latn-RS" sz="1200" b="0" i="0">
                    <a:latin typeface="Cambria Math" panose="02040503050406030204" pitchFamily="18" charset="0"/>
                    <a:ea typeface="Cambria Math" panose="02040503050406030204" pitchFamily="18" charset="0"/>
                  </a:rPr>
                  <a:t>0⟩</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1</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dirty="0"/>
                  <a:t> </a:t>
                </a:r>
                <a:r>
                  <a:rPr lang="en-US" sz="1200" dirty="0" err="1"/>
                  <a:t>čini</a:t>
                </a:r>
                <a:r>
                  <a:rPr lang="en-US" sz="1200" baseline="0" dirty="0"/>
                  <a:t> </a:t>
                </a:r>
                <a:r>
                  <a:rPr lang="en-US" sz="1200" b="1" baseline="0" dirty="0" err="1"/>
                  <a:t>standardnu</a:t>
                </a:r>
                <a:r>
                  <a:rPr lang="en-US" sz="1200" b="1" baseline="0" dirty="0"/>
                  <a:t> </a:t>
                </a:r>
                <a:r>
                  <a:rPr lang="en-US" sz="1200" b="1" baseline="0" dirty="0" err="1"/>
                  <a:t>bazu</a:t>
                </a:r>
                <a:r>
                  <a:rPr lang="en-US" sz="1200" b="0" baseline="0" dirty="0"/>
                  <a:t> </a:t>
                </a:r>
                <a:r>
                  <a:rPr lang="en-US" sz="1200" b="0" baseline="0" dirty="0" err="1"/>
                  <a:t>duž</a:t>
                </a:r>
                <a:r>
                  <a:rPr lang="en-US" sz="1200" b="0" baseline="0" dirty="0"/>
                  <a:t> </a:t>
                </a:r>
                <a:r>
                  <a:rPr lang="sr-Latn-RS" sz="1200" b="0" i="0">
                    <a:latin typeface="Cambria Math" panose="02040503050406030204" pitchFamily="18" charset="0"/>
                  </a:rPr>
                  <a:t>𝑧</a:t>
                </a:r>
                <a:r>
                  <a:rPr lang="en-US" sz="1200" b="0" baseline="0" dirty="0"/>
                  <a:t> ose</a:t>
                </a:r>
                <a:r>
                  <a:rPr lang="en-US" sz="1200" baseline="0" dirty="0"/>
                  <a:t>. </a:t>
                </a:r>
                <a:r>
                  <a:rPr lang="en-US" sz="1200" baseline="0" dirty="0" err="1"/>
                  <a:t>Izraženi</a:t>
                </a:r>
                <a:r>
                  <a:rPr lang="en-US" sz="1200" baseline="0" dirty="0"/>
                  <a:t> </a:t>
                </a:r>
                <a:r>
                  <a:rPr lang="en-US" sz="1200" baseline="0" dirty="0" err="1"/>
                  <a:t>preko</a:t>
                </a:r>
                <a:r>
                  <a:rPr lang="en-US" sz="1200" baseline="0" dirty="0"/>
                  <a:t> </a:t>
                </a:r>
                <a:r>
                  <a:rPr lang="en-US" sz="1200" baseline="0" dirty="0" err="1"/>
                  <a:t>jednačine</a:t>
                </a:r>
                <a:r>
                  <a:rPr lang="en-US" sz="1200" baseline="0" dirty="0"/>
                  <a:t> </a:t>
                </a:r>
                <a:r>
                  <a:rPr lang="en-US" sz="1200" baseline="0" dirty="0" err="1"/>
                  <a:t>Blohove</a:t>
                </a:r>
                <a:r>
                  <a:rPr lang="en-US" sz="1200" baseline="0" dirty="0"/>
                  <a:t> </a:t>
                </a:r>
                <a:r>
                  <a:rPr lang="en-US" sz="1200" baseline="0" dirty="0" err="1"/>
                  <a:t>sfere</a:t>
                </a:r>
                <a:r>
                  <a:rPr lang="en-US" sz="1200" baseline="0" dirty="0"/>
                  <a:t>, </a:t>
                </a:r>
                <a:r>
                  <a:rPr lang="en-US" sz="1200" baseline="0" dirty="0" err="1"/>
                  <a:t>ovi</a:t>
                </a:r>
                <a:r>
                  <a:rPr lang="en-US" sz="1200" baseline="0" dirty="0"/>
                  <a:t> se </a:t>
                </a:r>
                <a:r>
                  <a:rPr lang="en-US" sz="1200" baseline="0" dirty="0" err="1"/>
                  <a:t>vektori</a:t>
                </a:r>
                <a:r>
                  <a:rPr lang="en-US" sz="1200" baseline="0" dirty="0"/>
                  <a:t> </a:t>
                </a:r>
                <a:r>
                  <a:rPr lang="en-US" sz="1200" baseline="0" dirty="0" err="1"/>
                  <a:t>dobijaju</a:t>
                </a:r>
                <a:r>
                  <a:rPr lang="en-US" sz="1200" baseline="0" dirty="0"/>
                  <a:t> </a:t>
                </a:r>
                <a:r>
                  <a:rPr lang="en-US" sz="1200" baseline="0" dirty="0" err="1"/>
                  <a:t>za</a:t>
                </a:r>
                <a:r>
                  <a:rPr lang="en-US" sz="1200" baseline="0" dirty="0"/>
                  <a:t> </a:t>
                </a:r>
                <a:r>
                  <a:rPr lang="en-US" sz="1200" i="0">
                    <a:latin typeface="Cambria Math" panose="02040503050406030204" pitchFamily="18" charset="0"/>
                  </a:rPr>
                  <a:t>𝜃=0</a:t>
                </a:r>
                <a:r>
                  <a:rPr lang="en-US" sz="1200" baseline="0" dirty="0"/>
                  <a:t>, </a:t>
                </a:r>
                <a:r>
                  <a:rPr lang="en-US" sz="1200" i="0">
                    <a:latin typeface="Cambria Math" panose="02040503050406030204" pitchFamily="18" charset="0"/>
                  </a:rPr>
                  <a:t>𝜑=0</a:t>
                </a:r>
                <a:r>
                  <a:rPr lang="en-US" sz="1200" dirty="0"/>
                  <a:t>, I </a:t>
                </a:r>
                <a:r>
                  <a:rPr lang="en-US" sz="1200" i="0">
                    <a:latin typeface="Cambria Math" panose="02040503050406030204" pitchFamily="18" charset="0"/>
                  </a:rPr>
                  <a:t>𝜃=𝜋</a:t>
                </a:r>
                <a:r>
                  <a:rPr lang="en-US" sz="1200" dirty="0"/>
                  <a:t>, </a:t>
                </a:r>
                <a:r>
                  <a:rPr lang="en-US" sz="1200" i="0">
                    <a:latin typeface="Cambria Math" panose="02040503050406030204" pitchFamily="18" charset="0"/>
                  </a:rPr>
                  <a:t>𝜑=0</a:t>
                </a:r>
                <a:r>
                  <a:rPr lang="en-US"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3212210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vector pair </a:t>
                </a:r>
                <a14:m>
                  <m:oMath xmlns:m="http://schemas.openxmlformats.org/officeDocument/2006/math">
                    <m:r>
                      <a:rPr lang="en-US" sz="1200" b="0" i="0"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r>
                      <a:rPr lang="en-US" sz="1200" b="0" i="1" smtClean="0">
                        <a:latin typeface="Cambria Math" panose="02040503050406030204" pitchFamily="18" charset="0"/>
                        <a:ea typeface="Cambria Math" panose="02040503050406030204" pitchFamily="18" charset="0"/>
                      </a:rPr>
                      <m:t>}</m:t>
                    </m:r>
                  </m:oMath>
                </a14:m>
                <a:r>
                  <a:rPr lang="en-ZA" b="0" dirty="0"/>
                  <a:t> forms the diagonal basis, associated with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b="0" dirty="0"/>
                  <a:t>-axis, where</a:t>
                </a:r>
              </a:p>
              <a:p>
                <a:endParaRPr lang="en-ZA" b="0" dirty="0"/>
              </a:p>
              <a:p>
                <a:pPr/>
                <a14:m>
                  <m:oMathPara xmlns:m="http://schemas.openxmlformats.org/officeDocument/2006/math">
                    <m:oMathParaPr>
                      <m:jc m:val="centerGroup"/>
                    </m:oMathParaPr>
                    <m:oMath xmlns:m="http://schemas.openxmlformats.org/officeDocument/2006/math">
                      <m:d>
                        <m:dPr>
                          <m:begChr m:val="|"/>
                          <m:endChr m:val="⟩"/>
                          <m:ctrlPr>
                            <a:rPr lang="en-ZA" sz="1200" b="0" i="1" smtClean="0">
                              <a:latin typeface="Cambria Math" panose="02040503050406030204" pitchFamily="18" charset="0"/>
                            </a:rPr>
                          </m:ctrlPr>
                        </m:dPr>
                        <m:e>
                          <m:r>
                            <a:rPr lang="sr-Latn-RS" sz="1200" b="0" i="1">
                              <a:latin typeface="Cambria Math" panose="02040503050406030204" pitchFamily="18" charset="0"/>
                            </a:rPr>
                            <m:t>+</m:t>
                          </m:r>
                        </m:e>
                      </m:d>
                      <m:r>
                        <a:rPr lang="en-US" sz="1200" b="0" i="1" smtClean="0">
                          <a:latin typeface="Cambria Math" panose="02040503050406030204" pitchFamily="18" charset="0"/>
                        </a:rPr>
                        <m:t>=</m:t>
                      </m:r>
                      <m:f>
                        <m:fPr>
                          <m:ctrlPr>
                            <a:rPr lang="en-ZA" sz="1200" b="0" i="1" smtClean="0">
                              <a:latin typeface="Cambria Math" panose="02040503050406030204" pitchFamily="18" charset="0"/>
                            </a:rPr>
                          </m:ctrlPr>
                        </m:fPr>
                        <m:num>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0</m:t>
                              </m:r>
                            </m:e>
                          </m:d>
                          <m:r>
                            <a:rPr lang="sr-Latn-RS" sz="1200" b="0" i="1">
                              <a:latin typeface="Cambria Math" panose="02040503050406030204" pitchFamily="18" charset="0"/>
                            </a:rPr>
                            <m:t>+</m:t>
                          </m:r>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1</m:t>
                              </m:r>
                            </m:e>
                          </m:d>
                        </m:num>
                        <m:den>
                          <m:rad>
                            <m:radPr>
                              <m:degHide m:val="on"/>
                              <m:ctrlPr>
                                <a:rPr lang="en-ZA" sz="1200" b="0" i="1">
                                  <a:latin typeface="Cambria Math" panose="02040503050406030204" pitchFamily="18" charset="0"/>
                                </a:rPr>
                              </m:ctrlPr>
                            </m:radPr>
                            <m:deg/>
                            <m:e>
                              <m:r>
                                <a:rPr lang="sr-Latn-RS" sz="1200" b="0" i="1">
                                  <a:latin typeface="Cambria Math" panose="02040503050406030204" pitchFamily="18" charset="0"/>
                                </a:rPr>
                                <m:t>2</m:t>
                              </m:r>
                            </m:e>
                          </m:rad>
                        </m:den>
                      </m:f>
                      <m:r>
                        <a:rPr lang="en-US" sz="1200" b="0" i="1" smtClean="0">
                          <a:latin typeface="Cambria Math" panose="02040503050406030204" pitchFamily="18" charset="0"/>
                        </a:rPr>
                        <m:t>,  </m:t>
                      </m:r>
                      <m:d>
                        <m:dPr>
                          <m:begChr m:val="|"/>
                          <m:endChr m:val="⟩"/>
                          <m:ctrlPr>
                            <a:rPr lang="en-ZA" sz="1200" b="0" i="1" smtClean="0">
                              <a:latin typeface="Cambria Math" panose="02040503050406030204" pitchFamily="18" charset="0"/>
                            </a:rPr>
                          </m:ctrlPr>
                        </m:dPr>
                        <m:e>
                          <m:r>
                            <a:rPr lang="en-US" sz="1200" b="0" i="1" smtClean="0">
                              <a:latin typeface="Cambria Math" panose="02040503050406030204" pitchFamily="18" charset="0"/>
                            </a:rPr>
                            <m:t>−</m:t>
                          </m:r>
                        </m:e>
                      </m:d>
                      <m:r>
                        <a:rPr lang="en-US" sz="1200" b="0" i="1" smtClean="0">
                          <a:latin typeface="Cambria Math" panose="02040503050406030204" pitchFamily="18" charset="0"/>
                        </a:rPr>
                        <m:t>=</m:t>
                      </m:r>
                      <m:f>
                        <m:fPr>
                          <m:ctrlPr>
                            <a:rPr lang="en-ZA" sz="1200" b="0" i="1" smtClean="0">
                              <a:latin typeface="Cambria Math" panose="02040503050406030204" pitchFamily="18" charset="0"/>
                            </a:rPr>
                          </m:ctrlPr>
                        </m:fPr>
                        <m:num>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1</m:t>
                              </m:r>
                            </m:e>
                          </m:d>
                        </m:num>
                        <m:den>
                          <m:rad>
                            <m:radPr>
                              <m:degHide m:val="on"/>
                              <m:ctrlPr>
                                <a:rPr lang="en-ZA" sz="1200" b="0" i="1">
                                  <a:latin typeface="Cambria Math" panose="02040503050406030204" pitchFamily="18" charset="0"/>
                                </a:rPr>
                              </m:ctrlPr>
                            </m:radPr>
                            <m:deg/>
                            <m:e>
                              <m:r>
                                <a:rPr lang="sr-Latn-RS" sz="1200" b="0" i="1">
                                  <a:latin typeface="Cambria Math" panose="02040503050406030204" pitchFamily="18" charset="0"/>
                                </a:rPr>
                                <m:t>2</m:t>
                              </m:r>
                            </m:e>
                          </m:rad>
                        </m:den>
                      </m:f>
                    </m:oMath>
                  </m:oMathPara>
                </a14:m>
                <a:endParaRPr lang="en-ZA" b="0" dirty="0"/>
              </a:p>
              <a:p>
                <a:endParaRPr lang="en-ZA" b="0" dirty="0"/>
              </a:p>
              <a:p>
                <a:r>
                  <a:rPr lang="en-ZA" b="0" dirty="0"/>
                  <a:t>T</a:t>
                </a:r>
                <a:r>
                  <a:rPr lang="en-ZA" dirty="0"/>
                  <a:t>hese vectors correspond to the Bloch sphere angles</a:t>
                </a:r>
                <a:r>
                  <a:rPr lang="en-ZA" b="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=0</m:t>
                    </m:r>
                  </m:oMath>
                </a14:m>
                <a:r>
                  <a:rPr lang="en-ZA" b="0" dirty="0"/>
                  <a:t> for </a:t>
                </a:r>
                <a14:m>
                  <m:oMath xmlns:m="http://schemas.openxmlformats.org/officeDocument/2006/math">
                    <m:d>
                      <m:dPr>
                        <m:begChr m:val="|"/>
                        <m:endChr m:val="⟩"/>
                        <m:ctrlPr>
                          <a:rPr lang="en-ZA" sz="1200" b="0" i="1" smtClean="0">
                            <a:latin typeface="Cambria Math" panose="02040503050406030204" pitchFamily="18" charset="0"/>
                          </a:rPr>
                        </m:ctrlPr>
                      </m:dPr>
                      <m:e>
                        <m:r>
                          <a:rPr lang="sr-Latn-RS" sz="1200" b="0" i="1">
                            <a:latin typeface="Cambria Math" panose="02040503050406030204" pitchFamily="18" charset="0"/>
                          </a:rPr>
                          <m:t>+</m:t>
                        </m:r>
                      </m:e>
                    </m:d>
                  </m:oMath>
                </a14:m>
                <a:r>
                  <a:rPr lang="en-ZA" b="0" dirty="0"/>
                  <a:t> and </a:t>
                </a:r>
                <a14:m>
                  <m:oMath xmlns:m="http://schemas.openxmlformats.org/officeDocument/2006/math">
                    <m:r>
                      <a:rPr lang="en-US" sz="1200" b="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oMath>
                </a14:m>
                <a:r>
                  <a:rPr lang="en-ZA" b="0" dirty="0"/>
                  <a:t> for </a:t>
                </a:r>
                <a14:m>
                  <m:oMath xmlns:m="http://schemas.openxmlformats.org/officeDocument/2006/math">
                    <m:d>
                      <m:dPr>
                        <m:begChr m:val="|"/>
                        <m:endChr m:val="⟩"/>
                        <m:ctrlPr>
                          <a:rPr lang="en-ZA" sz="1200" b="0" i="1" smtClean="0">
                            <a:latin typeface="Cambria Math" panose="02040503050406030204" pitchFamily="18" charset="0"/>
                          </a:rPr>
                        </m:ctrlPr>
                      </m:dPr>
                      <m:e>
                        <m:r>
                          <a:rPr lang="en-US" sz="1200" b="0" i="1" smtClean="0">
                            <a:latin typeface="Cambria Math" panose="02040503050406030204" pitchFamily="18" charset="0"/>
                          </a:rPr>
                          <m:t>−</m:t>
                        </m:r>
                      </m:e>
                    </m:d>
                  </m:oMath>
                </a14:m>
                <a:r>
                  <a:rPr lang="en-ZA" b="0" dirty="0"/>
                  <a:t>. </a:t>
                </a:r>
                <a:endParaRPr lang="en-US"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Vektorski par </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dirty="0"/>
                  <a:t> </a:t>
                </a:r>
                <a:r>
                  <a:rPr lang="en-US" sz="1200" dirty="0" err="1"/>
                  <a:t>čini</a:t>
                </a:r>
                <a:r>
                  <a:rPr lang="en-US" sz="1200" baseline="0" dirty="0"/>
                  <a:t> </a:t>
                </a:r>
                <a:r>
                  <a:rPr lang="en-US" sz="1200" b="1" baseline="0" dirty="0" err="1"/>
                  <a:t>dijagonalnu</a:t>
                </a:r>
                <a:r>
                  <a:rPr lang="en-US" sz="1200" baseline="0" dirty="0"/>
                  <a:t> </a:t>
                </a:r>
                <a:r>
                  <a:rPr lang="en-US" sz="1200" baseline="0" dirty="0" err="1"/>
                  <a:t>ili</a:t>
                </a:r>
                <a:r>
                  <a:rPr lang="en-US" sz="1200" baseline="0" dirty="0"/>
                  <a:t> </a:t>
                </a:r>
                <a:r>
                  <a:rPr lang="en-US" sz="1200" b="1" baseline="0" dirty="0" err="1"/>
                  <a:t>Adamarovu</a:t>
                </a:r>
                <a:r>
                  <a:rPr lang="en-US" sz="1200" baseline="0" dirty="0"/>
                  <a:t> </a:t>
                </a:r>
                <a:r>
                  <a:rPr lang="en-US" sz="1200" baseline="0" dirty="0" err="1"/>
                  <a:t>bazu</a:t>
                </a:r>
                <a:r>
                  <a:rPr lang="en-US" sz="1200" b="0" baseline="0" dirty="0"/>
                  <a:t> </a:t>
                </a:r>
                <a:r>
                  <a:rPr lang="en-US" sz="1200" b="0" baseline="0" dirty="0" err="1"/>
                  <a:t>duž</a:t>
                </a:r>
                <a:r>
                  <a:rPr lang="en-US" sz="1200" b="0" baseline="0" dirty="0"/>
                  <a:t> </a:t>
                </a:r>
                <a:r>
                  <a:rPr lang="sr-Latn-RS" sz="1200" b="0" i="0">
                    <a:latin typeface="Cambria Math" panose="02040503050406030204" pitchFamily="18" charset="0"/>
                  </a:rPr>
                  <a:t>𝑥</a:t>
                </a:r>
                <a:r>
                  <a:rPr lang="en-US" sz="1200" b="0" baseline="0" dirty="0"/>
                  <a:t> ose</a:t>
                </a:r>
                <a:r>
                  <a:rPr lang="en-US" sz="1200" baseline="0" dirty="0"/>
                  <a:t>. </a:t>
                </a:r>
                <a:r>
                  <a:rPr lang="en-US" sz="1200" baseline="0" dirty="0" err="1"/>
                  <a:t>Izraženi</a:t>
                </a:r>
                <a:r>
                  <a:rPr lang="en-US" sz="1200" baseline="0" dirty="0"/>
                  <a:t> </a:t>
                </a:r>
                <a:r>
                  <a:rPr lang="en-US" sz="1200" baseline="0" dirty="0" err="1"/>
                  <a:t>preko</a:t>
                </a:r>
                <a:r>
                  <a:rPr lang="en-US" sz="1200" baseline="0" dirty="0"/>
                  <a:t> </a:t>
                </a:r>
                <a:r>
                  <a:rPr lang="en-US" sz="1200" baseline="0" dirty="0" err="1"/>
                  <a:t>jednačine</a:t>
                </a:r>
                <a:r>
                  <a:rPr lang="en-US" sz="1200" baseline="0" dirty="0"/>
                  <a:t> </a:t>
                </a:r>
                <a:r>
                  <a:rPr lang="en-US" sz="1200" baseline="0" dirty="0" err="1"/>
                  <a:t>Blohove</a:t>
                </a:r>
                <a:r>
                  <a:rPr lang="en-US" sz="1200" baseline="0" dirty="0"/>
                  <a:t> </a:t>
                </a:r>
                <a:r>
                  <a:rPr lang="en-US" sz="1200" baseline="0" dirty="0" err="1"/>
                  <a:t>sfere</a:t>
                </a:r>
                <a:r>
                  <a:rPr lang="en-US" sz="1200" baseline="0" dirty="0"/>
                  <a:t>, </a:t>
                </a:r>
                <a:r>
                  <a:rPr lang="en-US" sz="1200" baseline="0" dirty="0" err="1"/>
                  <a:t>ovi</a:t>
                </a:r>
                <a:r>
                  <a:rPr lang="en-US" sz="1200" baseline="0" dirty="0"/>
                  <a:t> se </a:t>
                </a:r>
                <a:r>
                  <a:rPr lang="en-US" sz="1200" baseline="0" dirty="0" err="1"/>
                  <a:t>vektori</a:t>
                </a:r>
                <a:r>
                  <a:rPr lang="en-US" sz="1200" baseline="0" dirty="0"/>
                  <a:t> </a:t>
                </a:r>
                <a:r>
                  <a:rPr lang="en-US" sz="1200" baseline="0" dirty="0" err="1"/>
                  <a:t>dobijaju</a:t>
                </a:r>
                <a:r>
                  <a:rPr lang="en-US" sz="1200" baseline="0" dirty="0"/>
                  <a:t> </a:t>
                </a:r>
                <a:r>
                  <a:rPr lang="en-US" sz="1200" baseline="0" dirty="0" err="1"/>
                  <a:t>za</a:t>
                </a:r>
                <a:r>
                  <a:rPr lang="en-US" sz="1200" baseline="0" dirty="0"/>
                  <a:t> </a:t>
                </a:r>
                <a:r>
                  <a:rPr lang="en-US" sz="1200" i="0">
                    <a:latin typeface="Cambria Math" panose="02040503050406030204" pitchFamily="18" charset="0"/>
                  </a:rPr>
                  <a:t>𝜃=𝜋</a:t>
                </a:r>
                <a:r>
                  <a:rPr lang="en-US" sz="1200" b="0" i="0">
                    <a:latin typeface="Cambria Math" panose="02040503050406030204" pitchFamily="18" charset="0"/>
                  </a:rPr>
                  <a:t>/2</a:t>
                </a:r>
                <a:r>
                  <a:rPr lang="en-US" sz="1200" baseline="0" dirty="0"/>
                  <a:t>, </a:t>
                </a:r>
                <a:r>
                  <a:rPr lang="en-US" sz="1200" i="0">
                    <a:latin typeface="Cambria Math" panose="02040503050406030204" pitchFamily="18" charset="0"/>
                  </a:rPr>
                  <a:t>𝜑=0</a:t>
                </a:r>
                <a:r>
                  <a:rPr lang="en-US" sz="1200" dirty="0"/>
                  <a:t>,  </a:t>
                </a:r>
                <a:r>
                  <a:rPr lang="en-US" sz="1200" dirty="0" err="1"/>
                  <a:t>i</a:t>
                </a:r>
                <a:r>
                  <a:rPr lang="en-US" sz="1200" dirty="0"/>
                  <a:t> </a:t>
                </a:r>
                <a:r>
                  <a:rPr lang="en-US" sz="1200" i="0">
                    <a:latin typeface="Cambria Math" panose="02040503050406030204" pitchFamily="18" charset="0"/>
                  </a:rPr>
                  <a:t>𝜃=𝜋</a:t>
                </a:r>
                <a:r>
                  <a:rPr lang="en-US" sz="1200" b="0" i="0">
                    <a:latin typeface="Cambria Math" panose="02040503050406030204" pitchFamily="18" charset="0"/>
                  </a:rPr>
                  <a:t>/2</a:t>
                </a:r>
                <a:r>
                  <a:rPr lang="en-US" sz="1200" dirty="0"/>
                  <a:t>, </a:t>
                </a:r>
                <a:r>
                  <a:rPr lang="en-US" sz="1200" i="0">
                    <a:latin typeface="Cambria Math" panose="02040503050406030204" pitchFamily="18" charset="0"/>
                  </a:rPr>
                  <a:t>𝜑=𝜋</a:t>
                </a:r>
                <a:r>
                  <a:rPr lang="sr-Latn-RS" sz="1200" b="0" i="0">
                    <a:latin typeface="Cambria Math" panose="02040503050406030204" pitchFamily="18" charset="0"/>
                  </a:rPr>
                  <a:t>,</a:t>
                </a:r>
                <a:r>
                  <a:rPr lang="en-US"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2622487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vector pair </a:t>
                </a:r>
                <a14:m>
                  <m:oMath xmlns:m="http://schemas.openxmlformats.org/officeDocument/2006/math">
                    <m:r>
                      <a:rPr lang="en-US" sz="1200" b="0" i="0"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e>
                    </m:d>
                    <m:r>
                      <a:rPr lang="en-US" sz="1200" b="0" i="1" smtClean="0">
                        <a:latin typeface="Cambria Math" panose="02040503050406030204" pitchFamily="18" charset="0"/>
                        <a:ea typeface="Cambria Math" panose="02040503050406030204" pitchFamily="18" charset="0"/>
                      </a:rPr>
                      <m:t>}</m:t>
                    </m:r>
                  </m:oMath>
                </a14:m>
                <a:r>
                  <a:rPr lang="en-ZA" b="0" dirty="0"/>
                  <a:t> forms the circular basis, associated with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𝑦</m:t>
                    </m:r>
                  </m:oMath>
                </a14:m>
                <a:r>
                  <a:rPr lang="en-ZA" b="0" dirty="0"/>
                  <a:t>-axis, where</a:t>
                </a:r>
              </a:p>
              <a:p>
                <a:endParaRPr lang="en-ZA" b="0" dirty="0"/>
              </a:p>
              <a:p>
                <a:pPr/>
                <a14:m>
                  <m:oMathPara xmlns:m="http://schemas.openxmlformats.org/officeDocument/2006/math">
                    <m:oMathParaPr>
                      <m:jc m:val="centerGroup"/>
                    </m:oMathParaPr>
                    <m:oMath xmlns:m="http://schemas.openxmlformats.org/officeDocument/2006/math">
                      <m:d>
                        <m:dPr>
                          <m:begChr m:val="|"/>
                          <m:endChr m:val="⟩"/>
                          <m:ctrlPr>
                            <a:rPr lang="en-ZA" sz="1200" b="0" i="1" smtClean="0">
                              <a:latin typeface="Cambria Math" panose="02040503050406030204" pitchFamily="18" charset="0"/>
                            </a:rPr>
                          </m:ctrlPr>
                        </m:dPr>
                        <m:e>
                          <m:r>
                            <a:rPr lang="sr-Latn-RS" sz="1200" b="0" i="1">
                              <a:latin typeface="Cambria Math" panose="02040503050406030204" pitchFamily="18" charset="0"/>
                            </a:rPr>
                            <m:t>+</m:t>
                          </m:r>
                          <m:r>
                            <a:rPr lang="en-US" sz="1200" b="0" i="1" smtClean="0">
                              <a:latin typeface="Cambria Math" panose="02040503050406030204" pitchFamily="18" charset="0"/>
                            </a:rPr>
                            <m:t>𝑖</m:t>
                          </m:r>
                        </m:e>
                      </m:d>
                      <m:r>
                        <a:rPr lang="en-US" sz="1200" b="0" i="1" smtClean="0">
                          <a:latin typeface="Cambria Math" panose="02040503050406030204" pitchFamily="18" charset="0"/>
                        </a:rPr>
                        <m:t>=</m:t>
                      </m:r>
                      <m:f>
                        <m:fPr>
                          <m:ctrlPr>
                            <a:rPr lang="en-ZA" sz="1200" b="0" i="1" smtClean="0">
                              <a:latin typeface="Cambria Math" panose="02040503050406030204" pitchFamily="18" charset="0"/>
                            </a:rPr>
                          </m:ctrlPr>
                        </m:fPr>
                        <m:num>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0</m:t>
                              </m:r>
                            </m:e>
                          </m:d>
                          <m:r>
                            <a:rPr lang="sr-Latn-RS" sz="1200" b="0" i="1">
                              <a:latin typeface="Cambria Math" panose="02040503050406030204" pitchFamily="18" charset="0"/>
                            </a:rPr>
                            <m:t>+</m:t>
                          </m:r>
                          <m:r>
                            <a:rPr lang="en-US" sz="1200" b="0" i="1" smtClean="0">
                              <a:latin typeface="Cambria Math" panose="02040503050406030204" pitchFamily="18" charset="0"/>
                            </a:rPr>
                            <m:t>𝑖</m:t>
                          </m:r>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1</m:t>
                              </m:r>
                            </m:e>
                          </m:d>
                        </m:num>
                        <m:den>
                          <m:rad>
                            <m:radPr>
                              <m:degHide m:val="on"/>
                              <m:ctrlPr>
                                <a:rPr lang="en-ZA" sz="1200" b="0" i="1">
                                  <a:latin typeface="Cambria Math" panose="02040503050406030204" pitchFamily="18" charset="0"/>
                                </a:rPr>
                              </m:ctrlPr>
                            </m:radPr>
                            <m:deg/>
                            <m:e>
                              <m:r>
                                <a:rPr lang="sr-Latn-RS" sz="1200" b="0" i="1">
                                  <a:latin typeface="Cambria Math" panose="02040503050406030204" pitchFamily="18" charset="0"/>
                                </a:rPr>
                                <m:t>2</m:t>
                              </m:r>
                            </m:e>
                          </m:rad>
                        </m:den>
                      </m:f>
                      <m:r>
                        <a:rPr lang="en-US" sz="1200" b="0" i="1" smtClean="0">
                          <a:latin typeface="Cambria Math" panose="02040503050406030204" pitchFamily="18" charset="0"/>
                        </a:rPr>
                        <m:t>,  </m:t>
                      </m:r>
                      <m:d>
                        <m:dPr>
                          <m:begChr m:val="|"/>
                          <m:endChr m:val="⟩"/>
                          <m:ctrlPr>
                            <a:rPr lang="en-ZA" sz="1200" b="0" i="1" smtClean="0">
                              <a:latin typeface="Cambria Math" panose="02040503050406030204" pitchFamily="18" charset="0"/>
                            </a:rPr>
                          </m:ctrlPr>
                        </m:dPr>
                        <m:e>
                          <m:r>
                            <a:rPr lang="en-US" sz="1200" b="0" i="1" smtClean="0">
                              <a:latin typeface="Cambria Math" panose="02040503050406030204" pitchFamily="18" charset="0"/>
                            </a:rPr>
                            <m:t>−</m:t>
                          </m:r>
                          <m:r>
                            <a:rPr lang="en-US" sz="1200" b="0" i="1" smtClean="0">
                              <a:latin typeface="Cambria Math" panose="02040503050406030204" pitchFamily="18" charset="0"/>
                            </a:rPr>
                            <m:t>𝑖</m:t>
                          </m:r>
                        </m:e>
                      </m:d>
                      <m:r>
                        <a:rPr lang="en-US" sz="1200" b="0" i="1" smtClean="0">
                          <a:latin typeface="Cambria Math" panose="02040503050406030204" pitchFamily="18" charset="0"/>
                        </a:rPr>
                        <m:t>=</m:t>
                      </m:r>
                      <m:f>
                        <m:fPr>
                          <m:ctrlPr>
                            <a:rPr lang="en-ZA" sz="1200" b="0" i="1" smtClean="0">
                              <a:latin typeface="Cambria Math" panose="02040503050406030204" pitchFamily="18" charset="0"/>
                            </a:rPr>
                          </m:ctrlPr>
                        </m:fPr>
                        <m:num>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0</m:t>
                              </m:r>
                            </m:e>
                          </m:d>
                          <m:r>
                            <a:rPr lang="en-US" sz="1200" b="0" i="1" smtClean="0">
                              <a:latin typeface="Cambria Math" panose="02040503050406030204" pitchFamily="18" charset="0"/>
                            </a:rPr>
                            <m:t>−</m:t>
                          </m:r>
                          <m:r>
                            <a:rPr lang="en-US" sz="1200" b="0" i="1" smtClean="0">
                              <a:latin typeface="Cambria Math" panose="02040503050406030204" pitchFamily="18" charset="0"/>
                            </a:rPr>
                            <m:t>𝑖</m:t>
                          </m:r>
                          <m:d>
                            <m:dPr>
                              <m:begChr m:val="|"/>
                              <m:endChr m:val="⟩"/>
                              <m:ctrlPr>
                                <a:rPr lang="en-ZA" sz="1200" b="0" i="1">
                                  <a:latin typeface="Cambria Math" panose="02040503050406030204" pitchFamily="18" charset="0"/>
                                </a:rPr>
                              </m:ctrlPr>
                            </m:dPr>
                            <m:e>
                              <m:r>
                                <a:rPr lang="sr-Latn-RS" sz="1200" b="0" i="1">
                                  <a:latin typeface="Cambria Math" panose="02040503050406030204" pitchFamily="18" charset="0"/>
                                </a:rPr>
                                <m:t>1</m:t>
                              </m:r>
                            </m:e>
                          </m:d>
                        </m:num>
                        <m:den>
                          <m:rad>
                            <m:radPr>
                              <m:degHide m:val="on"/>
                              <m:ctrlPr>
                                <a:rPr lang="en-ZA" sz="1200" b="0" i="1">
                                  <a:latin typeface="Cambria Math" panose="02040503050406030204" pitchFamily="18" charset="0"/>
                                </a:rPr>
                              </m:ctrlPr>
                            </m:radPr>
                            <m:deg/>
                            <m:e>
                              <m:r>
                                <a:rPr lang="sr-Latn-RS" sz="1200" b="0" i="1">
                                  <a:latin typeface="Cambria Math" panose="02040503050406030204" pitchFamily="18" charset="0"/>
                                </a:rPr>
                                <m:t>2</m:t>
                              </m:r>
                            </m:e>
                          </m:rad>
                        </m:den>
                      </m:f>
                    </m:oMath>
                  </m:oMathPara>
                </a14:m>
                <a:endParaRPr lang="en-ZA" b="0" dirty="0"/>
              </a:p>
              <a:p>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These vectors correspond to the Bloch sphere angles </a:t>
                </a:r>
                <a14:m>
                  <m:oMath xmlns:m="http://schemas.openxmlformats.org/officeDocument/2006/math">
                    <m:r>
                      <a:rPr lang="en-US" sz="1200" b="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for </a:t>
                </a:r>
                <a14:m>
                  <m:oMath xmlns:m="http://schemas.openxmlformats.org/officeDocument/2006/math">
                    <m:d>
                      <m:dPr>
                        <m:begChr m:val="|"/>
                        <m:endChr m:val="⟩"/>
                        <m:ctrlPr>
                          <a:rPr lang="en-ZA" sz="1200" b="0" i="1" smtClean="0">
                            <a:latin typeface="Cambria Math" panose="02040503050406030204" pitchFamily="18" charset="0"/>
                          </a:rPr>
                        </m:ctrlPr>
                      </m:dPr>
                      <m:e>
                        <m:r>
                          <a:rPr lang="sr-Latn-RS" sz="1200" b="0" i="1">
                            <a:latin typeface="Cambria Math" panose="02040503050406030204" pitchFamily="18" charset="0"/>
                          </a:rPr>
                          <m:t>+</m:t>
                        </m:r>
                        <m:r>
                          <a:rPr lang="en-US" sz="1200" b="0" i="1" smtClean="0">
                            <a:latin typeface="Cambria Math" panose="02040503050406030204" pitchFamily="18" charset="0"/>
                          </a:rPr>
                          <m:t>𝑖</m:t>
                        </m:r>
                      </m:e>
                    </m:d>
                  </m:oMath>
                </a14:m>
                <a:r>
                  <a:rPr lang="en-ZA" b="0" dirty="0"/>
                  <a:t> and </a:t>
                </a:r>
                <a14:m>
                  <m:oMath xmlns:m="http://schemas.openxmlformats.org/officeDocument/2006/math">
                    <m:r>
                      <a:rPr lang="en-US" sz="1200" b="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=3</m:t>
                    </m:r>
                    <m:r>
                      <a:rPr lang="en-US" sz="1200" b="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for </a:t>
                </a:r>
                <a14:m>
                  <m:oMath xmlns:m="http://schemas.openxmlformats.org/officeDocument/2006/math">
                    <m:d>
                      <m:dPr>
                        <m:begChr m:val="|"/>
                        <m:endChr m:val="⟩"/>
                        <m:ctrlPr>
                          <a:rPr lang="en-ZA" sz="1200" b="0" i="1" smtClean="0">
                            <a:latin typeface="Cambria Math" panose="02040503050406030204" pitchFamily="18" charset="0"/>
                          </a:rPr>
                        </m:ctrlPr>
                      </m:dPr>
                      <m:e>
                        <m:r>
                          <a:rPr lang="en-US" sz="1200" b="0" i="1" smtClean="0">
                            <a:latin typeface="Cambria Math" panose="02040503050406030204" pitchFamily="18" charset="0"/>
                          </a:rPr>
                          <m:t>−</m:t>
                        </m:r>
                      </m:e>
                    </m:d>
                  </m:oMath>
                </a14:m>
                <a:r>
                  <a:rPr lang="en-ZA" b="0" dirty="0"/>
                  <a:t>. </a:t>
                </a:r>
                <a:endParaRPr lang="en-US"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Vektorski par </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dirty="0"/>
                  <a:t> </a:t>
                </a:r>
                <a:r>
                  <a:rPr lang="en-US" sz="1200" dirty="0" err="1"/>
                  <a:t>čini</a:t>
                </a:r>
                <a:r>
                  <a:rPr lang="en-US" sz="1200" baseline="0" dirty="0"/>
                  <a:t> </a:t>
                </a:r>
                <a:r>
                  <a:rPr lang="en-US" sz="1200" b="1" baseline="0" dirty="0" err="1"/>
                  <a:t>cirkulanu</a:t>
                </a:r>
                <a:r>
                  <a:rPr lang="en-US" sz="1200" b="1" baseline="0" dirty="0"/>
                  <a:t> </a:t>
                </a:r>
                <a:r>
                  <a:rPr lang="en-US" sz="1200" b="1" baseline="0" dirty="0" err="1"/>
                  <a:t>bazu</a:t>
                </a:r>
                <a:r>
                  <a:rPr lang="en-US" sz="1200" baseline="0" dirty="0"/>
                  <a:t> </a:t>
                </a:r>
                <a:r>
                  <a:rPr lang="en-US" sz="1200" b="0" baseline="0" dirty="0"/>
                  <a:t> </a:t>
                </a:r>
                <a:r>
                  <a:rPr lang="en-US" sz="1200" b="0" baseline="0" dirty="0" err="1"/>
                  <a:t>duž</a:t>
                </a:r>
                <a:r>
                  <a:rPr lang="en-US" sz="1200" b="0" baseline="0" dirty="0"/>
                  <a:t> </a:t>
                </a:r>
                <a:r>
                  <a:rPr lang="sr-Latn-RS" sz="1200" b="0" i="0">
                    <a:latin typeface="Cambria Math" panose="02040503050406030204" pitchFamily="18" charset="0"/>
                  </a:rPr>
                  <a:t>𝑦</a:t>
                </a:r>
                <a:r>
                  <a:rPr lang="en-US" sz="1200" b="0" baseline="0" dirty="0"/>
                  <a:t> ose</a:t>
                </a:r>
                <a:r>
                  <a:rPr lang="en-US" sz="1200" baseline="0" dirty="0"/>
                  <a:t>. </a:t>
                </a:r>
                <a:r>
                  <a:rPr lang="en-US" sz="1200" baseline="0" dirty="0" err="1"/>
                  <a:t>Izraženi</a:t>
                </a:r>
                <a:r>
                  <a:rPr lang="en-US" sz="1200" baseline="0" dirty="0"/>
                  <a:t> </a:t>
                </a:r>
                <a:r>
                  <a:rPr lang="en-US" sz="1200" baseline="0" dirty="0" err="1"/>
                  <a:t>preko</a:t>
                </a:r>
                <a:r>
                  <a:rPr lang="en-US" sz="1200" baseline="0" dirty="0"/>
                  <a:t> </a:t>
                </a:r>
                <a:r>
                  <a:rPr lang="en-US" sz="1200" baseline="0" dirty="0" err="1"/>
                  <a:t>jednačine</a:t>
                </a:r>
                <a:r>
                  <a:rPr lang="en-US" sz="1200" baseline="0" dirty="0"/>
                  <a:t> </a:t>
                </a:r>
                <a:r>
                  <a:rPr lang="en-US" sz="1200" baseline="0" dirty="0" err="1"/>
                  <a:t>Blohove</a:t>
                </a:r>
                <a:r>
                  <a:rPr lang="en-US" sz="1200" baseline="0" dirty="0"/>
                  <a:t> </a:t>
                </a:r>
                <a:r>
                  <a:rPr lang="en-US" sz="1200" baseline="0" dirty="0" err="1"/>
                  <a:t>sfere</a:t>
                </a:r>
                <a:r>
                  <a:rPr lang="en-US" sz="1200" baseline="0" dirty="0"/>
                  <a:t>, </a:t>
                </a:r>
                <a:r>
                  <a:rPr lang="en-US" sz="1200" baseline="0" dirty="0" err="1"/>
                  <a:t>ovi</a:t>
                </a:r>
                <a:r>
                  <a:rPr lang="en-US" sz="1200" baseline="0" dirty="0"/>
                  <a:t> se </a:t>
                </a:r>
                <a:r>
                  <a:rPr lang="en-US" sz="1200" baseline="0" dirty="0" err="1"/>
                  <a:t>vektori</a:t>
                </a:r>
                <a:r>
                  <a:rPr lang="en-US" sz="1200" baseline="0" dirty="0"/>
                  <a:t> </a:t>
                </a:r>
                <a:r>
                  <a:rPr lang="en-US" sz="1200" baseline="0" dirty="0" err="1"/>
                  <a:t>dobijaju</a:t>
                </a:r>
                <a:r>
                  <a:rPr lang="en-US" sz="1200" baseline="0" dirty="0"/>
                  <a:t> </a:t>
                </a:r>
                <a:r>
                  <a:rPr lang="en-US" sz="1200" baseline="0" dirty="0" err="1"/>
                  <a:t>za</a:t>
                </a:r>
                <a:r>
                  <a:rPr lang="en-US" sz="1200" baseline="0" dirty="0"/>
                  <a:t> </a:t>
                </a:r>
                <a:r>
                  <a:rPr lang="en-US" sz="1200" i="0">
                    <a:latin typeface="Cambria Math" panose="02040503050406030204" pitchFamily="18" charset="0"/>
                  </a:rPr>
                  <a:t>𝜃=𝜋</a:t>
                </a:r>
                <a:r>
                  <a:rPr lang="en-US" sz="1200" b="0" i="0">
                    <a:latin typeface="Cambria Math" panose="02040503050406030204" pitchFamily="18" charset="0"/>
                  </a:rPr>
                  <a:t>/2</a:t>
                </a:r>
                <a:r>
                  <a:rPr lang="en-US" sz="1200" dirty="0"/>
                  <a:t>, </a:t>
                </a:r>
                <a:r>
                  <a:rPr lang="en-US" sz="1200" baseline="0" dirty="0"/>
                  <a:t> </a:t>
                </a:r>
                <a:r>
                  <a:rPr lang="en-US" sz="1200" i="0">
                    <a:latin typeface="Cambria Math" panose="02040503050406030204" pitchFamily="18" charset="0"/>
                  </a:rPr>
                  <a:t>𝜑=𝜋</a:t>
                </a:r>
                <a:r>
                  <a:rPr lang="en-US" sz="1200" b="0" i="0">
                    <a:latin typeface="Cambria Math" panose="02040503050406030204" pitchFamily="18" charset="0"/>
                  </a:rPr>
                  <a:t>/2</a:t>
                </a:r>
                <a:r>
                  <a:rPr lang="en-US" sz="1200" dirty="0"/>
                  <a:t>, I </a:t>
                </a:r>
                <a:r>
                  <a:rPr lang="en-US" sz="1200" i="0">
                    <a:latin typeface="Cambria Math" panose="02040503050406030204" pitchFamily="18" charset="0"/>
                  </a:rPr>
                  <a:t>𝜃=𝜋</a:t>
                </a:r>
                <a:r>
                  <a:rPr lang="en-US" sz="1200" b="0" i="0">
                    <a:latin typeface="Cambria Math" panose="02040503050406030204" pitchFamily="18" charset="0"/>
                  </a:rPr>
                  <a:t>/2</a:t>
                </a:r>
                <a:r>
                  <a:rPr lang="en-US" sz="1200" dirty="0"/>
                  <a:t>, </a:t>
                </a:r>
                <a:r>
                  <a:rPr lang="en-US" sz="1200" i="0">
                    <a:latin typeface="Cambria Math" panose="02040503050406030204" pitchFamily="18" charset="0"/>
                  </a:rPr>
                  <a:t>𝜑=</a:t>
                </a:r>
                <a:r>
                  <a:rPr lang="en-US" sz="1200" b="0" i="0">
                    <a:latin typeface="Cambria Math" panose="02040503050406030204" pitchFamily="18" charset="0"/>
                  </a:rPr>
                  <a:t>3</a:t>
                </a:r>
                <a:r>
                  <a:rPr lang="en-US" sz="1200" i="0">
                    <a:latin typeface="Cambria Math" panose="02040503050406030204" pitchFamily="18" charset="0"/>
                  </a:rPr>
                  <a:t>𝜋</a:t>
                </a:r>
                <a:r>
                  <a:rPr lang="en-US" sz="1200" b="0" i="0">
                    <a:latin typeface="Cambria Math" panose="02040503050406030204" pitchFamily="18" charset="0"/>
                  </a:rPr>
                  <a:t>/2</a:t>
                </a:r>
                <a:r>
                  <a:rPr lang="en-US"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4156355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Breitbart bases, also known as intermediate bases, refer to sets of basis states that lie between the computational basis </a:t>
                </a:r>
                <a14:m>
                  <m:oMath xmlns:m="http://schemas.openxmlformats.org/officeDocument/2006/math">
                    <m:r>
                      <a:rPr lang="en-US" sz="1200" b="0" i="0"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sr-Latn-RS" sz="1200" b="0" i="1">
                            <a:latin typeface="Cambria Math" panose="02040503050406030204" pitchFamily="18" charset="0"/>
                            <a:ea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e>
                    </m:d>
                    <m:r>
                      <a:rPr lang="en-US" sz="1200" b="0" i="1" smtClean="0">
                        <a:latin typeface="Cambria Math" panose="02040503050406030204" pitchFamily="18" charset="0"/>
                        <a:ea typeface="Cambria Math" panose="02040503050406030204" pitchFamily="18" charset="0"/>
                      </a:rPr>
                      <m:t>}</m:t>
                    </m:r>
                  </m:oMath>
                </a14:m>
                <a:r>
                  <a:rPr lang="en-ZA" b="0" dirty="0"/>
                  <a:t>, the diagonal basis </a:t>
                </a:r>
                <a14:m>
                  <m:oMath xmlns:m="http://schemas.openxmlformats.org/officeDocument/2006/math">
                    <m:r>
                      <a:rPr lang="en-US" sz="1200" b="0" i="0"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r>
                      <a:rPr lang="en-US" sz="1200" b="0" i="1" smtClean="0">
                        <a:latin typeface="Cambria Math" panose="02040503050406030204" pitchFamily="18" charset="0"/>
                        <a:ea typeface="Cambria Math" panose="02040503050406030204" pitchFamily="18" charset="0"/>
                      </a:rPr>
                      <m:t>}</m:t>
                    </m:r>
                  </m:oMath>
                </a14:m>
                <a:r>
                  <a:rPr lang="en-ZA" b="0" dirty="0"/>
                  <a:t>. </a:t>
                </a:r>
              </a:p>
              <a:p>
                <a:pPr algn="just"/>
                <a:endParaRPr lang="en-ZA" b="0" dirty="0"/>
              </a:p>
              <a:p>
                <a:pPr lvl="0" algn="just">
                  <a:defRPr/>
                </a:pPr>
                <a:r>
                  <a:rPr lang="en-ZA" b="0" dirty="0"/>
                  <a:t>The Breitbart basis consists of real vectors in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𝑥𝑧</m:t>
                    </m:r>
                  </m:oMath>
                </a14:m>
                <a:r>
                  <a:rPr lang="en-ZA" b="0" dirty="0"/>
                  <a:t>-plane of the Bloch sphere. </a:t>
                </a:r>
                <a:r>
                  <a:rPr lang="en-ZA" sz="1200" dirty="0"/>
                  <a:t>The vector pair </a:t>
                </a:r>
                <a14:m>
                  <m:oMath xmlns:m="http://schemas.openxmlformats.org/officeDocument/2006/math">
                    <m:d>
                      <m:dPr>
                        <m:begChr m:val="{"/>
                        <m:endChr m:val="}"/>
                        <m:ctrlPr>
                          <a:rPr lang="en-US" sz="1200" i="1">
                            <a:latin typeface="Cambria Math" panose="02040503050406030204" pitchFamily="18" charset="0"/>
                          </a:rPr>
                        </m:ctrlPr>
                      </m:dPr>
                      <m:e>
                        <m:d>
                          <m:dPr>
                            <m:begChr m:val="|"/>
                            <m:endChr m:val="⟩"/>
                            <m:ctrlPr>
                              <a:rPr lang="en-US" sz="1200" i="1">
                                <a:latin typeface="Cambria Math" panose="02040503050406030204" pitchFamily="18" charset="0"/>
                              </a:rPr>
                            </m:ctrlPr>
                          </m:dPr>
                          <m:e>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0</m:t>
                                </m:r>
                              </m:sub>
                            </m:sSub>
                          </m:e>
                        </m:d>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𝑏</m:t>
                                    </m:r>
                                  </m:e>
                                  <m:sub>
                                    <m:r>
                                      <a:rPr lang="en-US" sz="1200" b="0" i="1" smtClean="0">
                                        <a:latin typeface="Cambria Math" panose="02040503050406030204" pitchFamily="18" charset="0"/>
                                      </a:rPr>
                                      <m:t>1</m:t>
                                    </m:r>
                                  </m:sub>
                                </m:sSub>
                              </m:e>
                            </m:d>
                          </m:e>
                        </m:d>
                      </m:e>
                    </m:d>
                  </m:oMath>
                </a14:m>
                <a:r>
                  <a:rPr lang="en-ZA" sz="1200" dirty="0"/>
                  <a:t> and </a:t>
                </a:r>
                <a14:m>
                  <m:oMath xmlns:m="http://schemas.openxmlformats.org/officeDocument/2006/math">
                    <m:d>
                      <m:dPr>
                        <m:begChr m:val="{"/>
                        <m:endChr m:val="}"/>
                        <m:ctrlPr>
                          <a:rPr lang="en-US" sz="1200" i="1">
                            <a:latin typeface="Cambria Math" panose="02040503050406030204" pitchFamily="18" charset="0"/>
                          </a:rPr>
                        </m:ctrlPr>
                      </m:dPr>
                      <m:e>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𝑏</m:t>
                                </m:r>
                                <m:r>
                                  <a:rPr lang="en-US" sz="1200" b="0" i="1" smtClean="0">
                                    <a:latin typeface="Cambria Math" panose="02040503050406030204" pitchFamily="18" charset="0"/>
                                  </a:rPr>
                                  <m:t>′</m:t>
                                </m:r>
                              </m:e>
                              <m:sub>
                                <m:r>
                                  <a:rPr lang="en-US" sz="1200" i="1">
                                    <a:latin typeface="Cambria Math" panose="02040503050406030204" pitchFamily="18" charset="0"/>
                                  </a:rPr>
                                  <m:t>0</m:t>
                                </m:r>
                              </m:sub>
                            </m:sSub>
                          </m:e>
                        </m:d>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𝑏</m:t>
                                    </m:r>
                                    <m:r>
                                      <a:rPr lang="en-US" sz="1200" b="0" i="1" smtClean="0">
                                        <a:latin typeface="Cambria Math" panose="02040503050406030204" pitchFamily="18" charset="0"/>
                                      </a:rPr>
                                      <m:t>′</m:t>
                                    </m:r>
                                  </m:e>
                                  <m:sub>
                                    <m:r>
                                      <a:rPr lang="en-US" sz="1200" i="1">
                                        <a:latin typeface="Cambria Math" panose="02040503050406030204" pitchFamily="18" charset="0"/>
                                      </a:rPr>
                                      <m:t>1</m:t>
                                    </m:r>
                                  </m:sub>
                                </m:sSub>
                              </m:e>
                            </m:d>
                          </m:e>
                        </m:d>
                      </m:e>
                    </m:d>
                    <m:r>
                      <a:rPr lang="en-US" sz="1200" i="1">
                        <a:latin typeface="Cambria Math" panose="02040503050406030204" pitchFamily="18" charset="0"/>
                      </a:rPr>
                      <m:t> </m:t>
                    </m:r>
                  </m:oMath>
                </a14:m>
                <a:r>
                  <a:rPr lang="en-ZA" sz="1200" dirty="0"/>
                  <a:t>form the two Breidbart bases. For the first pair, the vectors can be represented by the Bloch sphere angles </a:t>
                </a:r>
                <a14:m>
                  <m:oMath xmlns:m="http://schemas.openxmlformats.org/officeDocument/2006/math">
                    <m:d>
                      <m:dPr>
                        <m:ctrlPr>
                          <a:rPr lang="en-US" sz="1200" i="1" smtClean="0">
                            <a:latin typeface="Cambria Math" panose="02040503050406030204" pitchFamily="18" charset="0"/>
                          </a:rPr>
                        </m:ctrlPr>
                      </m:dPr>
                      <m:e>
                        <m:r>
                          <a:rPr lang="en-US" sz="1200" i="1">
                            <a:latin typeface="Cambria Math" panose="02040503050406030204" pitchFamily="18" charset="0"/>
                          </a:rPr>
                          <m:t>𝜃</m:t>
                        </m:r>
                        <m:r>
                          <a:rPr lang="en-US" sz="1200" b="0" i="1" smtClean="0">
                            <a:latin typeface="Cambria Math" panose="02040503050406030204" pitchFamily="18" charset="0"/>
                          </a:rPr>
                          <m:t>,</m:t>
                        </m:r>
                        <m:r>
                          <a:rPr lang="en-US" sz="1200" i="1">
                            <a:latin typeface="Cambria Math" panose="02040503050406030204" pitchFamily="18" charset="0"/>
                          </a:rPr>
                          <m:t>𝜑</m:t>
                        </m:r>
                      </m:e>
                    </m:d>
                    <m:r>
                      <a:rPr lang="en-US" sz="1200" b="0" i="1" smtClean="0">
                        <a:latin typeface="Cambria Math" panose="02040503050406030204" pitchFamily="18" charset="0"/>
                      </a:rPr>
                      <m:t>=</m:t>
                    </m:r>
                    <m:d>
                      <m:dPr>
                        <m:ctrlPr>
                          <a:rPr lang="en-US" sz="1200" i="1">
                            <a:latin typeface="Cambria Math" panose="02040503050406030204" pitchFamily="18" charset="0"/>
                          </a:rPr>
                        </m:ctrlPr>
                      </m:dPr>
                      <m:e>
                        <m:r>
                          <a:rPr lang="sr-Latn-RS" sz="1200" i="1">
                            <a:latin typeface="Cambria Math" panose="02040503050406030204" pitchFamily="18" charset="0"/>
                          </a:rPr>
                          <m:t>𝜋</m:t>
                        </m:r>
                        <m:r>
                          <a:rPr lang="en-US" sz="1200" i="1">
                            <a:latin typeface="Cambria Math" panose="02040503050406030204" pitchFamily="18" charset="0"/>
                          </a:rPr>
                          <m:t>/4,</m:t>
                        </m:r>
                        <m:r>
                          <a:rPr lang="en-US" sz="1200" b="0" i="1" smtClean="0">
                            <a:latin typeface="Cambria Math" panose="02040503050406030204" pitchFamily="18" charset="0"/>
                          </a:rPr>
                          <m:t>0</m:t>
                        </m:r>
                      </m:e>
                    </m:d>
                  </m:oMath>
                </a14:m>
                <a:r>
                  <a:rPr lang="en-ZA" sz="1200" dirty="0"/>
                  <a:t> and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𝜃</m:t>
                        </m:r>
                        <m:r>
                          <a:rPr lang="en-US" sz="1200" i="1">
                            <a:latin typeface="Cambria Math" panose="02040503050406030204" pitchFamily="18" charset="0"/>
                          </a:rPr>
                          <m:t>,</m:t>
                        </m:r>
                        <m:r>
                          <a:rPr lang="en-US" sz="1200" i="1">
                            <a:latin typeface="Cambria Math" panose="02040503050406030204" pitchFamily="18" charset="0"/>
                          </a:rPr>
                          <m:t>𝜑</m:t>
                        </m:r>
                      </m:e>
                    </m:d>
                    <m:r>
                      <a:rPr lang="en-US" sz="1200" i="1">
                        <a:latin typeface="Cambria Math" panose="02040503050406030204" pitchFamily="18" charset="0"/>
                      </a:rPr>
                      <m:t>=</m:t>
                    </m:r>
                    <m:d>
                      <m:dPr>
                        <m:ctrlPr>
                          <a:rPr lang="en-US" sz="1200" i="1">
                            <a:latin typeface="Cambria Math" panose="02040503050406030204" pitchFamily="18" charset="0"/>
                          </a:rPr>
                        </m:ctrlPr>
                      </m:dPr>
                      <m:e>
                        <m:r>
                          <a:rPr lang="en-US" sz="1200" b="0" i="1" smtClean="0">
                            <a:latin typeface="Cambria Math" panose="02040503050406030204" pitchFamily="18" charset="0"/>
                          </a:rPr>
                          <m:t>3</m:t>
                        </m:r>
                        <m:r>
                          <a:rPr lang="sr-Latn-RS" sz="1200" i="1">
                            <a:latin typeface="Cambria Math" panose="02040503050406030204" pitchFamily="18" charset="0"/>
                          </a:rPr>
                          <m:t>𝜋</m:t>
                        </m:r>
                        <m:r>
                          <a:rPr lang="en-US" sz="1200" i="1">
                            <a:latin typeface="Cambria Math" panose="02040503050406030204" pitchFamily="18" charset="0"/>
                          </a:rPr>
                          <m:t>/</m:t>
                        </m:r>
                        <m:r>
                          <a:rPr lang="en-US" sz="1200" b="0" i="1" smtClean="0">
                            <a:latin typeface="Cambria Math" panose="02040503050406030204" pitchFamily="18" charset="0"/>
                          </a:rPr>
                          <m:t>4,</m:t>
                        </m:r>
                        <m:r>
                          <a:rPr lang="sr-Latn-RS" sz="1200" i="1">
                            <a:latin typeface="Cambria Math" panose="02040503050406030204" pitchFamily="18" charset="0"/>
                          </a:rPr>
                          <m:t>𝜋</m:t>
                        </m:r>
                      </m:e>
                    </m:d>
                  </m:oMath>
                </a14:m>
                <a:r>
                  <a:rPr lang="en-ZA" sz="1200" dirty="0"/>
                  <a:t>, respectively:</a:t>
                </a:r>
              </a:p>
              <a:p>
                <a:pPr algn="just"/>
                <a:endParaRPr lang="en-ZA" b="0" dirty="0"/>
              </a:p>
              <a:p>
                <a:pPr algn="just"/>
                <a:r>
                  <a:rPr lang="en-ZA" b="0" dirty="0"/>
                  <a:t>These bases are often used in quantum cryptography.</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Vektorski </a:t>
                </a:r>
                <a:r>
                  <a:rPr lang="en-US" dirty="0" err="1"/>
                  <a:t>parovi</a:t>
                </a:r>
                <a:r>
                  <a:rPr lang="en-ZA" i="0">
                    <a:latin typeface="Cambria Math" panose="02040503050406030204" pitchFamily="18" charset="0"/>
                  </a:rPr>
                  <a:t>{├|</a:t>
                </a:r>
                <a:r>
                  <a:rPr lang="en-US" b="0" i="0">
                    <a:latin typeface="Cambria Math" panose="02040503050406030204" pitchFamily="18" charset="0"/>
                  </a:rPr>
                  <a:t>𝑏</a:t>
                </a:r>
                <a:r>
                  <a:rPr lang="en-ZA" b="0" i="0">
                    <a:latin typeface="Cambria Math" panose="02040503050406030204" pitchFamily="18" charset="0"/>
                  </a:rPr>
                  <a:t>_</a:t>
                </a:r>
                <a:r>
                  <a:rPr lang="en-US" b="0" i="0">
                    <a:latin typeface="Cambria Math" panose="02040503050406030204" pitchFamily="18" charset="0"/>
                  </a:rPr>
                  <a:t>0 ⟩</a:t>
                </a:r>
                <a:r>
                  <a:rPr lang="sr-Latn-RS" i="0">
                    <a:latin typeface="Cambria Math" panose="02040503050406030204" pitchFamily="18" charset="0"/>
                  </a:rPr>
                  <a:t>,</a:t>
                </a:r>
                <a:r>
                  <a:rPr lang="en-ZA" i="0">
                    <a:latin typeface="Cambria Math" panose="02040503050406030204" pitchFamily="18" charset="0"/>
                  </a:rPr>
                  <a:t>├|</a:t>
                </a:r>
                <a:r>
                  <a:rPr lang="en-US" i="0">
                    <a:latin typeface="Cambria Math" panose="02040503050406030204" pitchFamily="18" charset="0"/>
                  </a:rPr>
                  <a:t>𝑏</a:t>
                </a:r>
                <a:r>
                  <a:rPr lang="en-ZA" i="0">
                    <a:latin typeface="Cambria Math" panose="02040503050406030204" pitchFamily="18" charset="0"/>
                  </a:rPr>
                  <a:t>_</a:t>
                </a:r>
                <a:r>
                  <a:rPr lang="en-US" b="0" i="0">
                    <a:latin typeface="Cambria Math" panose="02040503050406030204" pitchFamily="18" charset="0"/>
                  </a:rPr>
                  <a:t>1 ⟩},</a:t>
                </a:r>
                <a:r>
                  <a:rPr lang="en-ZA" i="0">
                    <a:latin typeface="Cambria Math" panose="02040503050406030204" pitchFamily="18" charset="0"/>
                  </a:rPr>
                  <a:t>{├|〖</a:t>
                </a:r>
                <a:r>
                  <a:rPr lang="en-US" i="0">
                    <a:latin typeface="Cambria Math" panose="02040503050406030204" pitchFamily="18" charset="0"/>
                  </a:rPr>
                  <a:t>𝑏</a:t>
                </a:r>
                <a:r>
                  <a:rPr lang="en-US" b="0" i="0">
                    <a:latin typeface="Cambria Math" panose="02040503050406030204" pitchFamily="18" charset="0"/>
                  </a:rPr>
                  <a:t>′</a:t>
                </a:r>
                <a:r>
                  <a:rPr lang="en-ZA" b="0" i="0">
                    <a:latin typeface="Cambria Math" panose="02040503050406030204" pitchFamily="18" charset="0"/>
                  </a:rPr>
                  <a:t>〗_</a:t>
                </a:r>
                <a:r>
                  <a:rPr lang="en-US" b="0" i="0">
                    <a:latin typeface="Cambria Math" panose="02040503050406030204" pitchFamily="18" charset="0"/>
                  </a:rPr>
                  <a:t>0 ⟩</a:t>
                </a:r>
                <a:r>
                  <a:rPr lang="sr-Latn-RS" i="0">
                    <a:latin typeface="Cambria Math" panose="02040503050406030204" pitchFamily="18" charset="0"/>
                  </a:rPr>
                  <a:t>,</a:t>
                </a:r>
                <a:r>
                  <a:rPr lang="en-ZA" i="0">
                    <a:latin typeface="Cambria Math" panose="02040503050406030204" pitchFamily="18" charset="0"/>
                  </a:rPr>
                  <a:t>├|〖</a:t>
                </a:r>
                <a:r>
                  <a:rPr lang="en-US" i="0">
                    <a:latin typeface="Cambria Math" panose="02040503050406030204" pitchFamily="18" charset="0"/>
                  </a:rPr>
                  <a:t>𝑏</a:t>
                </a:r>
                <a:r>
                  <a:rPr lang="en-US" b="0" i="0">
                    <a:latin typeface="Cambria Math" panose="02040503050406030204" pitchFamily="18" charset="0"/>
                  </a:rPr>
                  <a:t>′</a:t>
                </a:r>
                <a:r>
                  <a:rPr lang="en-ZA" b="0" i="0">
                    <a:latin typeface="Cambria Math" panose="02040503050406030204" pitchFamily="18" charset="0"/>
                  </a:rPr>
                  <a:t>〗_</a:t>
                </a:r>
                <a:r>
                  <a:rPr lang="en-US" b="0" i="0">
                    <a:latin typeface="Cambria Math" panose="02040503050406030204" pitchFamily="18" charset="0"/>
                  </a:rPr>
                  <a:t>1 ⟩}</a:t>
                </a:r>
                <a:r>
                  <a:rPr lang="en-US" sz="1200" dirty="0" err="1"/>
                  <a:t>čine</a:t>
                </a:r>
                <a:r>
                  <a:rPr lang="en-US" sz="1200" baseline="0" dirty="0"/>
                  <a:t> </a:t>
                </a:r>
                <a:r>
                  <a:rPr lang="en-US" sz="1200" baseline="0" dirty="0" err="1"/>
                  <a:t>dve</a:t>
                </a:r>
                <a:r>
                  <a:rPr lang="en-US" sz="1200" baseline="0" dirty="0"/>
                  <a:t> </a:t>
                </a:r>
                <a:r>
                  <a:rPr lang="en-US" sz="1200" baseline="0" dirty="0" err="1"/>
                  <a:t>Brajtbartove</a:t>
                </a:r>
                <a:r>
                  <a:rPr lang="en-US" sz="1200" baseline="0" dirty="0"/>
                  <a:t> </a:t>
                </a:r>
                <a:r>
                  <a:rPr lang="en-US" sz="1200" baseline="0" dirty="0" err="1"/>
                  <a:t>ili</a:t>
                </a:r>
                <a:r>
                  <a:rPr lang="en-US" sz="1200" baseline="0" dirty="0"/>
                  <a:t> </a:t>
                </a:r>
                <a:r>
                  <a:rPr lang="en-US" sz="1200" baseline="0" dirty="0" err="1"/>
                  <a:t>srednje</a:t>
                </a:r>
                <a:r>
                  <a:rPr lang="en-US" sz="1200" baseline="0" dirty="0"/>
                  <a:t> </a:t>
                </a:r>
                <a:r>
                  <a:rPr lang="en-US" sz="1200" baseline="0" dirty="0" err="1"/>
                  <a:t>baze</a:t>
                </a:r>
                <a:r>
                  <a:rPr lang="en-US" sz="1200" baseline="0" dirty="0"/>
                  <a:t>. </a:t>
                </a:r>
                <a:r>
                  <a:rPr lang="sr-Latn-RS" sz="1200" kern="1200" dirty="0">
                    <a:solidFill>
                      <a:schemeClr val="tx1"/>
                    </a:solidFill>
                    <a:effectLst/>
                    <a:latin typeface="+mn-lt"/>
                    <a:ea typeface="+mn-ea"/>
                    <a:cs typeface="+mn-cs"/>
                  </a:rPr>
                  <a:t>Čine ih vektori u </a:t>
                </a:r>
                <a:r>
                  <a:rPr lang="sr-Latn-RS" sz="1200" i="0" kern="1200">
                    <a:solidFill>
                      <a:schemeClr val="tx1"/>
                    </a:solidFill>
                    <a:effectLst/>
                    <a:latin typeface="+mn-lt"/>
                    <a:ea typeface="+mn-ea"/>
                    <a:cs typeface="+mn-cs"/>
                  </a:rPr>
                  <a:t>𝑥𝑧</a:t>
                </a:r>
                <a:r>
                  <a:rPr lang="sr-Latn-RS" sz="1200" kern="1200" dirty="0">
                    <a:solidFill>
                      <a:schemeClr val="tx1"/>
                    </a:solidFill>
                    <a:effectLst/>
                    <a:latin typeface="+mn-lt"/>
                    <a:ea typeface="+mn-ea"/>
                    <a:cs typeface="+mn-cs"/>
                  </a:rPr>
                  <a:t>-ravni koji su pod uglom od </a:t>
                </a:r>
                <a:r>
                  <a:rPr lang="sr-Latn-RS" sz="1200" i="0" kern="1200">
                    <a:solidFill>
                      <a:schemeClr val="tx1"/>
                    </a:solidFill>
                    <a:effectLst/>
                    <a:latin typeface="+mn-lt"/>
                    <a:ea typeface="+mn-ea"/>
                    <a:cs typeface="+mn-cs"/>
                  </a:rPr>
                  <a:t>𝜋/4</a:t>
                </a:r>
                <a:r>
                  <a:rPr lang="sr-Latn-RS" sz="1200" kern="1200" dirty="0">
                    <a:solidFill>
                      <a:schemeClr val="tx1"/>
                    </a:solidFill>
                    <a:effectLst/>
                    <a:latin typeface="+mn-lt"/>
                    <a:ea typeface="+mn-ea"/>
                    <a:cs typeface="+mn-cs"/>
                  </a:rPr>
                  <a:t> u odnosu na koordinatne ose ravni. Ova se baza često koristi u kriptografiji.</a:t>
                </a:r>
                <a:endParaRPr lang="en-ZA"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2513544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Different bases provide different representations of quantum state vectors, but the physical state of a qubit remains the same regardless of the chosen basis. This means that the same vector can be expressed in different ways, as a linear combination of the vectors of the chosen basis.</a:t>
            </a:r>
          </a:p>
          <a:p>
            <a:pPr algn="just"/>
            <a:endParaRPr lang="en-ZA" dirty="0"/>
          </a:p>
          <a:p>
            <a:pPr algn="just"/>
            <a:r>
              <a:rPr lang="en-ZA" dirty="0"/>
              <a:t>For example, by adding the vectors of the diagonal basis, ∣0⟩ can be expressed in terms of ∣+⟩ and ∣−⟩. Similarly, by subtracting these vectors, ∣1⟩ can be expressed in terms of ∣+⟩ and ∣−⟩. Calculations can be performed in any basis, and when the results are expressed in the same basis, the same state vector is obtained.</a:t>
            </a:r>
          </a:p>
          <a:p>
            <a:pPr algn="just"/>
            <a:endParaRPr lang="en-ZA" dirty="0"/>
          </a:p>
          <a:p>
            <a:pPr algn="just"/>
            <a:r>
              <a:rPr lang="en-ZA" dirty="0"/>
              <a:t>For example, the X operator performs a NOT operation on a qubit. Applied to ∣0⟩, it gives ∣1⟩. If the same operation is performed with ∣0⟩ expressed in the diagonal basis, and the result is then expressed in the standard basis, the same result is obtained.</a:t>
            </a:r>
          </a:p>
          <a:p>
            <a:pPr algn="just"/>
            <a:endParaRPr lang="en-ZA" dirty="0"/>
          </a:p>
          <a:p>
            <a:pPr algn="just"/>
            <a:r>
              <a:rPr lang="en-ZA" dirty="0"/>
              <a:t>Thus, the choice of basis does not change the physical operation or its result; the representation can be chosen according to what is most convenient for a given problem. This property is referred to as invariance under a change of basis.</a:t>
            </a:r>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908370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sz="1200" dirty="0">
                    <a:solidFill>
                      <a:schemeClr val="tx1"/>
                    </a:solidFill>
                  </a:rPr>
                  <a:t>A qubit is often visualized using a bar chart, where the horizontal axis represents the basis states </a:t>
                </a:r>
                <a14:m>
                  <m:oMath xmlns:m="http://schemas.openxmlformats.org/officeDocument/2006/math">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m:t>
                        </m:r>
                      </m:e>
                    </m:d>
                  </m:oMath>
                </a14:m>
                <a:r>
                  <a:rPr lang="en-ZA" sz="1200" dirty="0">
                    <a:solidFill>
                      <a:schemeClr val="tx1"/>
                    </a:solidFill>
                  </a:rPr>
                  <a:t> and </a:t>
                </a:r>
                <a14:m>
                  <m:oMath xmlns:m="http://schemas.openxmlformats.org/officeDocument/2006/math">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m:t>
                        </m:r>
                      </m:e>
                    </m:d>
                  </m:oMath>
                </a14:m>
                <a:r>
                  <a:rPr lang="en-ZA" sz="1200" dirty="0">
                    <a:solidFill>
                      <a:schemeClr val="tx1"/>
                    </a:solidFill>
                  </a:rPr>
                  <a:t>, and the height of each bar represents the corresponding probability amplitude. The figure on the left shows a qubit with real probability amplitudes 0.951 and −0.309.</a:t>
                </a:r>
              </a:p>
              <a:p>
                <a:endParaRPr lang="en-ZA" sz="1200" dirty="0">
                  <a:solidFill>
                    <a:schemeClr val="tx1"/>
                  </a:solidFill>
                </a:endParaRPr>
              </a:p>
              <a:p>
                <a:r>
                  <a:rPr lang="en-ZA" sz="1200" dirty="0">
                    <a:solidFill>
                      <a:schemeClr val="tx1"/>
                    </a:solidFill>
                  </a:rPr>
                  <a:t>A phase-aware bar chart is shown in the figure on the right. Here, the bar heights represent the magnitudes of the amplitudes, while the </a:t>
                </a:r>
                <a:r>
                  <a:rPr lang="en-ZA" sz="1200" dirty="0" err="1">
                    <a:solidFill>
                      <a:schemeClr val="tx1"/>
                    </a:solidFill>
                  </a:rPr>
                  <a:t>colors</a:t>
                </a:r>
                <a:r>
                  <a:rPr lang="en-ZA" sz="1200" dirty="0">
                    <a:solidFill>
                      <a:schemeClr val="tx1"/>
                    </a:solidFill>
                  </a:rPr>
                  <a:t> indicate their phase angles, as shown by the circular legend.</a:t>
                </a:r>
              </a:p>
              <a:p>
                <a:endParaRPr lang="en-ZA" sz="1200" dirty="0">
                  <a:solidFill>
                    <a:schemeClr val="tx1"/>
                  </a:solidFill>
                </a:endParaRPr>
              </a:p>
              <a:p>
                <a:r>
                  <a:rPr lang="en-ZA" sz="1200" dirty="0">
                    <a:solidFill>
                      <a:schemeClr val="tx1"/>
                    </a:solidFill>
                  </a:rPr>
                  <a:t>In this example:</a:t>
                </a:r>
              </a:p>
              <a:p>
                <a:r>
                  <a:rPr lang="en-ZA" sz="1200" dirty="0">
                    <a:solidFill>
                      <a:schemeClr val="tx1"/>
                    </a:solidFill>
                  </a:rPr>
                  <a:t>The phase angle of </a:t>
                </a:r>
                <a14:m>
                  <m:oMath xmlns:m="http://schemas.openxmlformats.org/officeDocument/2006/math">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sz="1200" dirty="0">
                    <a:solidFill>
                      <a:schemeClr val="tx1"/>
                    </a:solidFill>
                  </a:rPr>
                  <a:t> is 0, shown in blue. </a:t>
                </a:r>
              </a:p>
              <a:p>
                <a:pPr algn="just"/>
                <a:r>
                  <a:rPr lang="en-ZA" sz="1200" dirty="0">
                    <a:solidFill>
                      <a:schemeClr val="tx1"/>
                    </a:solidFill>
                  </a:rPr>
                  <a:t>The phase angle of </a:t>
                </a:r>
                <a14:m>
                  <m:oMath xmlns:m="http://schemas.openxmlformats.org/officeDocument/2006/math">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m:t>
                        </m:r>
                      </m:e>
                    </m:d>
                  </m:oMath>
                </a14:m>
                <a:r>
                  <a:rPr lang="en-ZA" sz="1200" dirty="0">
                    <a:solidFill>
                      <a:schemeClr val="tx1"/>
                    </a:solidFill>
                  </a:rPr>
                  <a:t> is </a:t>
                </a:r>
                <a14:m>
                  <m:oMath xmlns:m="http://schemas.openxmlformats.org/officeDocument/2006/math">
                    <m:r>
                      <a:rPr lang="en-US" sz="1200" i="1" dirty="0">
                        <a:solidFill>
                          <a:schemeClr val="tx1"/>
                        </a:solidFill>
                        <a:latin typeface="Cambria Math" panose="02040503050406030204" pitchFamily="18" charset="0"/>
                        <a:ea typeface="Cambria Math" panose="02040503050406030204" pitchFamily="18" charset="0"/>
                      </a:rPr>
                      <m:t>3</m:t>
                    </m:r>
                    <m:r>
                      <a:rPr lang="en-US" sz="1200" i="1" dirty="0">
                        <a:solidFill>
                          <a:schemeClr val="tx1"/>
                        </a:solidFill>
                        <a:latin typeface="Cambria Math" panose="02040503050406030204" pitchFamily="18" charset="0"/>
                        <a:ea typeface="Cambria Math" panose="02040503050406030204" pitchFamily="18" charset="0"/>
                      </a:rPr>
                      <m:t>𝜋</m:t>
                    </m:r>
                    <m:r>
                      <a:rPr lang="en-US" sz="1200" b="0" i="1" dirty="0" smtClean="0">
                        <a:solidFill>
                          <a:schemeClr val="tx1"/>
                        </a:solidFill>
                        <a:latin typeface="Cambria Math" panose="02040503050406030204" pitchFamily="18" charset="0"/>
                        <a:ea typeface="Cambria Math" panose="02040503050406030204" pitchFamily="18" charset="0"/>
                      </a:rPr>
                      <m:t>/8</m:t>
                    </m:r>
                  </m:oMath>
                </a14:m>
                <a:r>
                  <a:rPr lang="en-ZA" sz="1200" dirty="0">
                    <a:solidFill>
                      <a:schemeClr val="tx1"/>
                    </a:solidFill>
                  </a:rPr>
                  <a:t>, shown in a shade of purple.</a:t>
                </a:r>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3681435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1" dirty="0"/>
                  <a:t>Matrix</a:t>
                </a:r>
                <a:r>
                  <a:rPr lang="en-ZA" b="0" dirty="0"/>
                  <a:t>: A matrix is a rectangular arrangement of numbers, or more generally mathematical elements, organized into rows and columns. In quantum computing, matrices are used primarily to represent operations and observables.</a:t>
                </a:r>
              </a:p>
              <a:p>
                <a:endParaRPr lang="en-ZA" b="0" dirty="0"/>
              </a:p>
              <a:p>
                <a:pPr marL="171450" indent="-171450">
                  <a:buFont typeface="Arial" panose="020B0604020202020204" pitchFamily="34" charset="0"/>
                  <a:buChar char="•"/>
                </a:pPr>
                <a:r>
                  <a:rPr lang="en-ZA" b="1" dirty="0"/>
                  <a:t>Matrix elements</a:t>
                </a:r>
                <a:r>
                  <a:rPr lang="en-ZA" b="0" dirty="0"/>
                  <a:t>: The individual entries of a matrix are called matrix elements. An element is usually denoted by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i="1">
                            <a:latin typeface="Cambria Math" panose="02040503050406030204" pitchFamily="18" charset="0"/>
                          </a:rPr>
                          <m:t>𝑖𝑗</m:t>
                        </m:r>
                      </m:sub>
                    </m:sSub>
                  </m:oMath>
                </a14:m>
                <a:r>
                  <a:rPr lang="en-ZA" b="0" dirty="0"/>
                  <a:t>, where </a:t>
                </a:r>
                <a14:m>
                  <m:oMath xmlns:m="http://schemas.openxmlformats.org/officeDocument/2006/math">
                    <m:r>
                      <a:rPr lang="en-US" sz="1200" b="0" i="1" smtClean="0">
                        <a:latin typeface="Cambria Math" panose="02040503050406030204" pitchFamily="18" charset="0"/>
                      </a:rPr>
                      <m:t>𝑖</m:t>
                    </m:r>
                  </m:oMath>
                </a14:m>
                <a:r>
                  <a:rPr lang="en-ZA" b="0" dirty="0"/>
                  <a:t> specifies its row and </a:t>
                </a:r>
                <a14:m>
                  <m:oMath xmlns:m="http://schemas.openxmlformats.org/officeDocument/2006/math">
                    <m:r>
                      <a:rPr lang="en-US" sz="1200" b="0" i="1" smtClean="0">
                        <a:latin typeface="Cambria Math" panose="02040503050406030204" pitchFamily="18" charset="0"/>
                      </a:rPr>
                      <m:t>𝑗</m:t>
                    </m:r>
                  </m:oMath>
                </a14:m>
                <a:r>
                  <a:rPr lang="en-ZA" b="0" dirty="0"/>
                  <a:t> specifies its column.</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1" dirty="0"/>
                  <a:t>Matrix dimensions</a:t>
                </a:r>
                <a:r>
                  <a:rPr lang="en-ZA" b="0" dirty="0"/>
                  <a:t>: The dimensions, or size, of a matrix are specified as the number of rows × number of columns. For example, a matrix with two rows and two columns has dimension </a:t>
                </a:r>
                <a14:m>
                  <m:oMath xmlns:m="http://schemas.openxmlformats.org/officeDocument/2006/math">
                    <m:r>
                      <a:rPr lang="en-US" sz="1200" b="0" i="1" smtClean="0">
                        <a:latin typeface="Cambria Math" panose="02040503050406030204" pitchFamily="18" charset="0"/>
                        <a:ea typeface="Cambria Math" panose="02040503050406030204" pitchFamily="18" charset="0"/>
                      </a:rPr>
                      <m:t>2×2</m:t>
                    </m:r>
                  </m:oMath>
                </a14:m>
                <a:r>
                  <a:rPr lang="en-ZA" b="0" dirty="0"/>
                  <a:t>. A matrix with the same number of rows and columns is called a square matrix. Square matrices are particularly important in quantum computing, where they are commonly used to represent quantum operators.</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1" dirty="0"/>
                  <a:t>Trace</a:t>
                </a:r>
                <a:r>
                  <a:rPr lang="en-ZA" b="0" dirty="0"/>
                  <a:t>: The trace of a square matrix is the sum of the elements on its main diagonal. For a </a:t>
                </a:r>
                <a14:m>
                  <m:oMath xmlns:m="http://schemas.openxmlformats.org/officeDocument/2006/math">
                    <m:r>
                      <a:rPr lang="en-US" sz="1200" i="1" smtClean="0">
                        <a:latin typeface="Cambria Math" panose="02040503050406030204" pitchFamily="18" charset="0"/>
                        <a:ea typeface="Cambria Math" panose="02040503050406030204" pitchFamily="18" charset="0"/>
                      </a:rPr>
                      <m:t>2×2</m:t>
                    </m:r>
                  </m:oMath>
                </a14:m>
                <a:r>
                  <a:rPr lang="en-ZA" b="0" dirty="0"/>
                  <a:t> matrix, </a:t>
                </a:r>
                <a:br>
                  <a:rPr lang="en-ZA" b="0" dirty="0"/>
                </a:br>
                <a14:m>
                  <m:oMath xmlns:m="http://schemas.openxmlformats.org/officeDocument/2006/math">
                    <m:r>
                      <m:rPr>
                        <m:sty m:val="p"/>
                      </m:rPr>
                      <a:rPr lang="en-US" sz="1200" b="0" i="0" smtClean="0">
                        <a:latin typeface="Cambria Math" panose="02040503050406030204" pitchFamily="18" charset="0"/>
                      </a:rPr>
                      <m:t>Tr</m:t>
                    </m:r>
                    <m:d>
                      <m:dPr>
                        <m:ctrlPr>
                          <a:rPr lang="en-US" sz="1200" b="0" i="1" smtClean="0">
                            <a:latin typeface="Cambria Math" panose="02040503050406030204" pitchFamily="18" charset="0"/>
                          </a:rPr>
                        </m:ctrlPr>
                      </m:dPr>
                      <m:e>
                        <m:r>
                          <a:rPr lang="en-US" sz="1200" i="1">
                            <a:latin typeface="Cambria Math" panose="02040503050406030204" pitchFamily="18" charset="0"/>
                          </a:rPr>
                          <m:t>𝐴</m:t>
                        </m:r>
                      </m:e>
                    </m:d>
                    <m:r>
                      <a:rPr lang="en-US" sz="1200" b="0" i="0" smtClean="0">
                        <a:latin typeface="Cambria Math" panose="02040503050406030204" pitchFamily="18" charset="0"/>
                      </a:rPr>
                      <m:t>=</m:t>
                    </m:r>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i="1">
                            <a:latin typeface="Cambria Math" panose="02040503050406030204" pitchFamily="18" charset="0"/>
                          </a:rPr>
                          <m:t>1</m:t>
                        </m:r>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en-US" sz="1200" b="0" i="1" smtClean="0">
                            <a:latin typeface="Cambria Math" panose="02040503050406030204" pitchFamily="18" charset="0"/>
                          </a:rPr>
                          <m:t>22</m:t>
                        </m:r>
                      </m:sub>
                    </m:sSub>
                  </m:oMath>
                </a14:m>
                <a:endParaRPr lang="en-ZA" b="0" dirty="0"/>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Transpose: The transpose of a matrix is obtained by interchanging its rows and columns. Equivalently, the element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i="1">
                            <a:latin typeface="Cambria Math" panose="02040503050406030204" pitchFamily="18" charset="0"/>
                          </a:rPr>
                          <m:t>𝑖𝑗</m:t>
                        </m:r>
                      </m:sub>
                    </m:sSub>
                  </m:oMath>
                </a14:m>
                <a:r>
                  <a:rPr lang="en-ZA" b="0" dirty="0"/>
                  <a:t> becomes the element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i="1">
                            <a:latin typeface="Cambria Math" panose="02040503050406030204" pitchFamily="18" charset="0"/>
                          </a:rPr>
                          <m:t>𝑗</m:t>
                        </m:r>
                        <m:r>
                          <a:rPr lang="en-US" sz="1200" b="0" i="1" smtClean="0">
                            <a:latin typeface="Cambria Math" panose="02040503050406030204" pitchFamily="18" charset="0"/>
                          </a:rPr>
                          <m:t>𝑖</m:t>
                        </m:r>
                      </m:sub>
                    </m:sSub>
                  </m:oMath>
                </a14:m>
                <a:r>
                  <a:rPr lang="en-ZA" b="0" dirty="0"/>
                  <a:t>. The transpose of </a:t>
                </a:r>
                <a14:m>
                  <m:oMath xmlns:m="http://schemas.openxmlformats.org/officeDocument/2006/math">
                    <m:r>
                      <a:rPr lang="en-US" sz="1200" i="1" smtClean="0">
                        <a:latin typeface="Cambria Math" panose="02040503050406030204" pitchFamily="18" charset="0"/>
                      </a:rPr>
                      <m:t>𝐴</m:t>
                    </m:r>
                  </m:oMath>
                </a14:m>
                <a:r>
                  <a:rPr lang="en-ZA" b="0" dirty="0"/>
                  <a:t> is denoted by</a:t>
                </a:r>
                <a:r>
                  <a:rPr lang="en-ZA" b="0" baseline="0" dirty="0"/>
                  <a:t>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𝐴</m:t>
                        </m:r>
                      </m:e>
                      <m:sup>
                        <m:r>
                          <a:rPr lang="en-US" sz="1200" i="1">
                            <a:latin typeface="Cambria Math" panose="02040503050406030204" pitchFamily="18" charset="0"/>
                          </a:rPr>
                          <m:t>𝑇</m:t>
                        </m:r>
                      </m:sup>
                    </m:sSup>
                  </m:oMath>
                </a14:m>
                <a:r>
                  <a:rPr lang="en-ZA" b="0" dirty="0"/>
                  <a:t>.</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Conjugate transpose: The conjugate transpose is obtained by transposing the matrix and taking the complex conjugate of every element. It is denoted by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𝐴</m:t>
                        </m:r>
                      </m:e>
                      <m:sup>
                        <m:r>
                          <a:rPr lang="en-US" sz="1200" i="1">
                            <a:latin typeface="Cambria Math" panose="02040503050406030204" pitchFamily="18" charset="0"/>
                            <a:ea typeface="Cambria Math" panose="02040503050406030204" pitchFamily="18" charset="0"/>
                          </a:rPr>
                          <m:t>†</m:t>
                        </m:r>
                      </m:sup>
                    </m:sSup>
                  </m:oMath>
                </a14:m>
                <a:r>
                  <a:rPr lang="en-ZA" b="0" dirty="0"/>
                  <a:t> and is particularly important in quantum computing.</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1" dirty="0"/>
                  <a:t>Matrix</a:t>
                </a:r>
                <a:r>
                  <a:rPr lang="en-ZA" b="0" dirty="0"/>
                  <a:t>: A matrix is a rectangular arrangement of numbers, or more generally mathematical elements, organized into rows and columns. In quantum computing, matrices are used primarily to represent operations and observables.</a:t>
                </a:r>
              </a:p>
              <a:p>
                <a:endParaRPr lang="en-ZA" b="0" dirty="0"/>
              </a:p>
              <a:p>
                <a:pPr marL="171450" indent="-171450">
                  <a:buFont typeface="Arial" panose="020B0604020202020204" pitchFamily="34" charset="0"/>
                  <a:buChar char="•"/>
                </a:pPr>
                <a:r>
                  <a:rPr lang="en-ZA" b="1" dirty="0"/>
                  <a:t>Matrix elements</a:t>
                </a:r>
                <a:r>
                  <a:rPr lang="en-ZA" b="0" dirty="0"/>
                  <a:t>: The individual entries of a matrix are called matrix elements. An element is usually denoted by </a:t>
                </a:r>
                <a:r>
                  <a:rPr lang="sr-Latn-RS" sz="1200" i="0">
                    <a:latin typeface="Cambria Math" panose="02040503050406030204" pitchFamily="18" charset="0"/>
                  </a:rPr>
                  <a:t>𝑎</a:t>
                </a:r>
                <a:r>
                  <a:rPr lang="en-ZA" sz="1200" i="0">
                    <a:latin typeface="Cambria Math" panose="02040503050406030204" pitchFamily="18" charset="0"/>
                  </a:rPr>
                  <a:t>_</a:t>
                </a:r>
                <a:r>
                  <a:rPr lang="en-US" sz="1200" i="0">
                    <a:latin typeface="Cambria Math" panose="02040503050406030204" pitchFamily="18" charset="0"/>
                  </a:rPr>
                  <a:t>𝑖𝑗</a:t>
                </a:r>
                <a:r>
                  <a:rPr lang="en-ZA" b="0" dirty="0"/>
                  <a:t>, where </a:t>
                </a:r>
                <a:r>
                  <a:rPr lang="en-US" sz="1200" b="0" i="0">
                    <a:latin typeface="Cambria Math" panose="02040503050406030204" pitchFamily="18" charset="0"/>
                  </a:rPr>
                  <a:t>𝑖</a:t>
                </a:r>
                <a:r>
                  <a:rPr lang="en-ZA" b="0" dirty="0"/>
                  <a:t> specifies its row and </a:t>
                </a:r>
                <a:r>
                  <a:rPr lang="en-US" sz="1200" b="0" i="0">
                    <a:latin typeface="Cambria Math" panose="02040503050406030204" pitchFamily="18" charset="0"/>
                  </a:rPr>
                  <a:t>𝑗</a:t>
                </a:r>
                <a:r>
                  <a:rPr lang="en-ZA" b="0" dirty="0"/>
                  <a:t> specifies its column.</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1" dirty="0"/>
                  <a:t>Matrix dimensions</a:t>
                </a:r>
                <a:r>
                  <a:rPr lang="en-ZA" b="0" dirty="0"/>
                  <a:t>: The dimensions, or size, of a matrix are specified as the number of rows × number of columns. For example, a matrix with two rows and two columns has dimension </a:t>
                </a:r>
                <a:r>
                  <a:rPr lang="en-US" sz="1200" b="0" i="0">
                    <a:latin typeface="Cambria Math" panose="02040503050406030204" pitchFamily="18" charset="0"/>
                    <a:ea typeface="Cambria Math" panose="02040503050406030204" pitchFamily="18" charset="0"/>
                  </a:rPr>
                  <a:t>2×2</a:t>
                </a:r>
                <a:r>
                  <a:rPr lang="en-ZA" b="0" dirty="0"/>
                  <a:t>. A matrix with the same number of rows and columns is called a square matrix. Square matrices are particularly important in quantum computing, where they are commonly used to represent quantum operators.</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1" dirty="0"/>
                  <a:t>Trace</a:t>
                </a:r>
                <a:r>
                  <a:rPr lang="en-ZA" b="0" dirty="0"/>
                  <a:t>: The trace of a square matrix is the sum of the elements on its main diagonal. For a </a:t>
                </a:r>
                <a:r>
                  <a:rPr lang="en-US" sz="1200" i="0">
                    <a:latin typeface="Cambria Math" panose="02040503050406030204" pitchFamily="18" charset="0"/>
                    <a:ea typeface="Cambria Math" panose="02040503050406030204" pitchFamily="18" charset="0"/>
                  </a:rPr>
                  <a:t>2×2</a:t>
                </a:r>
                <a:r>
                  <a:rPr lang="en-ZA" b="0" dirty="0"/>
                  <a:t> matrix, </a:t>
                </a:r>
                <a:br>
                  <a:rPr lang="en-ZA" b="0" dirty="0"/>
                </a:br>
                <a:r>
                  <a:rPr lang="en-US" sz="1200" b="0" i="0">
                    <a:latin typeface="Cambria Math" panose="02040503050406030204" pitchFamily="18" charset="0"/>
                  </a:rPr>
                  <a:t>Tr(</a:t>
                </a:r>
                <a:r>
                  <a:rPr lang="en-US" sz="1200" i="0">
                    <a:latin typeface="Cambria Math" panose="02040503050406030204" pitchFamily="18" charset="0"/>
                  </a:rPr>
                  <a:t>𝐴)</a:t>
                </a:r>
                <a:r>
                  <a:rPr lang="en-US" sz="1200" b="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en-US" sz="1200" i="0">
                    <a:latin typeface="Cambria Math" panose="02040503050406030204" pitchFamily="18" charset="0"/>
                  </a:rPr>
                  <a:t>1</a:t>
                </a:r>
                <a:r>
                  <a:rPr lang="en-US" sz="1200" b="0" i="0">
                    <a:latin typeface="Cambria Math" panose="02040503050406030204" pitchFamily="18" charset="0"/>
                  </a:rPr>
                  <a:t>1+</a:t>
                </a:r>
                <a:r>
                  <a:rPr lang="sr-Latn-RS" sz="1200" i="0">
                    <a:latin typeface="Cambria Math" panose="02040503050406030204" pitchFamily="18" charset="0"/>
                  </a:rPr>
                  <a:t>𝑎</a:t>
                </a:r>
                <a:r>
                  <a:rPr lang="en-ZA" sz="1200" i="0">
                    <a:latin typeface="Cambria Math" panose="02040503050406030204" pitchFamily="18" charset="0"/>
                  </a:rPr>
                  <a:t>_</a:t>
                </a:r>
                <a:r>
                  <a:rPr lang="en-US" sz="1200" b="0" i="0">
                    <a:latin typeface="Cambria Math" panose="02040503050406030204" pitchFamily="18" charset="0"/>
                  </a:rPr>
                  <a:t>22</a:t>
                </a:r>
                <a:endParaRPr lang="en-ZA" b="0" dirty="0"/>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Transpose: The transpose of a matrix is obtained by interchanging its rows and columns. Equivalently, the element </a:t>
                </a:r>
                <a:r>
                  <a:rPr lang="sr-Latn-RS" sz="1200" i="0">
                    <a:latin typeface="Cambria Math" panose="02040503050406030204" pitchFamily="18" charset="0"/>
                  </a:rPr>
                  <a:t>𝑎</a:t>
                </a:r>
                <a:r>
                  <a:rPr lang="en-ZA" sz="1200" i="0">
                    <a:latin typeface="Cambria Math" panose="02040503050406030204" pitchFamily="18" charset="0"/>
                  </a:rPr>
                  <a:t>_</a:t>
                </a:r>
                <a:r>
                  <a:rPr lang="en-US" sz="1200" i="0">
                    <a:latin typeface="Cambria Math" panose="02040503050406030204" pitchFamily="18" charset="0"/>
                  </a:rPr>
                  <a:t>𝑖𝑗</a:t>
                </a:r>
                <a:r>
                  <a:rPr lang="en-ZA" b="0" dirty="0"/>
                  <a:t> becomes the element </a:t>
                </a:r>
                <a:r>
                  <a:rPr lang="sr-Latn-RS" sz="1200" i="0">
                    <a:latin typeface="Cambria Math" panose="02040503050406030204" pitchFamily="18" charset="0"/>
                  </a:rPr>
                  <a:t>𝑎</a:t>
                </a:r>
                <a:r>
                  <a:rPr lang="en-ZA" sz="1200" i="0">
                    <a:latin typeface="Cambria Math" panose="02040503050406030204" pitchFamily="18" charset="0"/>
                  </a:rPr>
                  <a:t>_</a:t>
                </a:r>
                <a:r>
                  <a:rPr lang="en-US" sz="1200" i="0">
                    <a:latin typeface="Cambria Math" panose="02040503050406030204" pitchFamily="18" charset="0"/>
                  </a:rPr>
                  <a:t>𝑗</a:t>
                </a:r>
                <a:r>
                  <a:rPr lang="en-US" sz="1200" b="0" i="0">
                    <a:latin typeface="Cambria Math" panose="02040503050406030204" pitchFamily="18" charset="0"/>
                  </a:rPr>
                  <a:t>𝑖</a:t>
                </a:r>
                <a:r>
                  <a:rPr lang="en-ZA" b="0" dirty="0"/>
                  <a:t>. The transpose of </a:t>
                </a:r>
                <a:r>
                  <a:rPr lang="en-US" sz="1200" i="0">
                    <a:latin typeface="Cambria Math" panose="02040503050406030204" pitchFamily="18" charset="0"/>
                  </a:rPr>
                  <a:t>𝐴</a:t>
                </a:r>
                <a:r>
                  <a:rPr lang="en-ZA" b="0" dirty="0"/>
                  <a:t> is denoted by</a:t>
                </a:r>
                <a:r>
                  <a:rPr lang="en-ZA" b="0" baseline="0" dirty="0"/>
                  <a:t> </a:t>
                </a:r>
                <a:r>
                  <a:rPr lang="en-US" sz="1200" i="0">
                    <a:latin typeface="Cambria Math" panose="02040503050406030204" pitchFamily="18" charset="0"/>
                  </a:rPr>
                  <a:t>𝐴^𝑇</a:t>
                </a:r>
                <a:r>
                  <a:rPr lang="en-ZA" b="0" dirty="0"/>
                  <a:t>.</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Conjugate transpose: The conjugate transpose is obtained by transposing the matrix and taking the complex conjugate of every element. It is denoted by </a:t>
                </a:r>
                <a:r>
                  <a:rPr lang="en-US" sz="1200" i="0">
                    <a:latin typeface="Cambria Math" panose="02040503050406030204" pitchFamily="18" charset="0"/>
                  </a:rPr>
                  <a:t>𝐴^</a:t>
                </a:r>
                <a:r>
                  <a:rPr lang="en-US" sz="1200" i="0">
                    <a:latin typeface="Cambria Math" panose="02040503050406030204" pitchFamily="18" charset="0"/>
                    <a:ea typeface="Cambria Math" panose="02040503050406030204" pitchFamily="18" charset="0"/>
                  </a:rPr>
                  <a:t>†</a:t>
                </a:r>
                <a:r>
                  <a:rPr lang="en-ZA" b="0" dirty="0"/>
                  <a:t> and is particularly important in quantum computing.</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2400801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a:t>
                </a:r>
                <a:r>
                  <a:rPr lang="en-ZA" b="0" dirty="0"/>
                  <a:t>outer product</a:t>
                </a:r>
                <a:r>
                  <a:rPr lang="en-ZA" dirty="0"/>
                  <a:t> is another important operation involving vectors. It is formed by multiplying a ket vector by a bra vector. Unlike the inner product, which produces a single number, the outer product produces a </a:t>
                </a:r>
                <a:r>
                  <a:rPr lang="en-ZA" b="0" dirty="0"/>
                  <a:t>matrix</a:t>
                </a:r>
                <a:r>
                  <a:rPr lang="en-ZA" dirty="0"/>
                  <a:t>.</a:t>
                </a:r>
              </a:p>
              <a:p>
                <a:pPr algn="just"/>
                <a:endParaRPr lang="en-ZA" dirty="0"/>
              </a:p>
              <a:p>
                <a:pPr algn="just"/>
                <a:r>
                  <a:rPr lang="en-ZA" dirty="0"/>
                  <a:t>For example, if the ket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oMath>
                </a14:m>
                <a:r>
                  <a:rPr lang="en-ZA" dirty="0"/>
                  <a:t> has two components,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1</m:t>
                        </m:r>
                      </m:sub>
                    </m:sSub>
                  </m:oMath>
                </a14:m>
                <a:r>
                  <a:rPr lang="en-ZA" dirty="0"/>
                  <a:t> and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b="0" i="1" smtClean="0">
                            <a:latin typeface="Cambria Math" panose="02040503050406030204" pitchFamily="18" charset="0"/>
                          </a:rPr>
                          <m:t>2</m:t>
                        </m:r>
                      </m:sub>
                    </m:sSub>
                  </m:oMath>
                </a14:m>
                <a:r>
                  <a:rPr lang="en-ZA" dirty="0"/>
                  <a:t>, and the bra </a:t>
                </a:r>
                <a14:m>
                  <m:oMath xmlns:m="http://schemas.openxmlformats.org/officeDocument/2006/math">
                    <m:r>
                      <a:rPr lang="sr-Latn-RS" sz="1200" smtClean="0">
                        <a:latin typeface="Cambria Math" panose="02040503050406030204" pitchFamily="18" charset="0"/>
                      </a:rPr>
                      <m:t>⟨</m:t>
                    </m:r>
                    <m:r>
                      <m:rPr>
                        <m:sty m:val="p"/>
                      </m:rPr>
                      <a:rPr lang="en-US" sz="1200" b="0" i="0" smtClean="0">
                        <a:latin typeface="Cambria Math" panose="02040503050406030204" pitchFamily="18" charset="0"/>
                      </a:rPr>
                      <m:t>b</m:t>
                    </m:r>
                    <m:r>
                      <a:rPr lang="sr-Latn-RS" sz="1200">
                        <a:latin typeface="Cambria Math" panose="02040503050406030204" pitchFamily="18" charset="0"/>
                      </a:rPr>
                      <m:t>|</m:t>
                    </m:r>
                  </m:oMath>
                </a14:m>
                <a:r>
                  <a:rPr lang="en-ZA" dirty="0"/>
                  <a:t> has components </a:t>
                </a:r>
                <a14:m>
                  <m:oMath xmlns:m="http://schemas.openxmlformats.org/officeDocument/2006/math">
                    <m:sSubSup>
                      <m:sSubSupPr>
                        <m:ctrlPr>
                          <a:rPr lang="en-ZA" sz="1200" i="1" smtClean="0">
                            <a:latin typeface="Cambria Math" panose="02040503050406030204" pitchFamily="18" charset="0"/>
                          </a:rPr>
                        </m:ctrlPr>
                      </m:sSubSupPr>
                      <m:e>
                        <m:r>
                          <a:rPr lang="sr-Latn-RS" sz="1200" i="1">
                            <a:latin typeface="Cambria Math" panose="02040503050406030204" pitchFamily="18" charset="0"/>
                          </a:rPr>
                          <m:t>𝑏</m:t>
                        </m:r>
                      </m:e>
                      <m:sub>
                        <m:r>
                          <a:rPr lang="sr-Latn-RS" sz="1200" i="1">
                            <a:latin typeface="Cambria Math" panose="02040503050406030204" pitchFamily="18" charset="0"/>
                          </a:rPr>
                          <m:t>1</m:t>
                        </m:r>
                      </m:sub>
                      <m:sup>
                        <m:r>
                          <a:rPr lang="sr-Latn-RS" sz="1200" i="1">
                            <a:latin typeface="Cambria Math" panose="02040503050406030204" pitchFamily="18" charset="0"/>
                          </a:rPr>
                          <m:t>∗</m:t>
                        </m:r>
                      </m:sup>
                    </m:sSubSup>
                  </m:oMath>
                </a14:m>
                <a:r>
                  <a:rPr lang="en-ZA" dirty="0"/>
                  <a:t> and </a:t>
                </a:r>
                <a14:m>
                  <m:oMath xmlns:m="http://schemas.openxmlformats.org/officeDocument/2006/math">
                    <m:sSubSup>
                      <m:sSubSupPr>
                        <m:ctrlPr>
                          <a:rPr lang="en-ZA" sz="1200" i="1" smtClean="0">
                            <a:latin typeface="Cambria Math" panose="02040503050406030204" pitchFamily="18" charset="0"/>
                          </a:rPr>
                        </m:ctrlPr>
                      </m:sSubSupPr>
                      <m:e>
                        <m:r>
                          <a:rPr lang="sr-Latn-RS" sz="1200" i="1">
                            <a:latin typeface="Cambria Math" panose="02040503050406030204" pitchFamily="18" charset="0"/>
                          </a:rPr>
                          <m:t>𝑏</m:t>
                        </m:r>
                      </m:e>
                      <m:sub>
                        <m:r>
                          <a:rPr lang="en-US" sz="1200" b="0" i="1" smtClean="0">
                            <a:latin typeface="Cambria Math" panose="02040503050406030204" pitchFamily="18" charset="0"/>
                          </a:rPr>
                          <m:t>2</m:t>
                        </m:r>
                      </m:sub>
                      <m:sup>
                        <m:r>
                          <a:rPr lang="sr-Latn-RS" sz="1200" i="1">
                            <a:latin typeface="Cambria Math" panose="02040503050406030204" pitchFamily="18" charset="0"/>
                          </a:rPr>
                          <m:t>∗</m:t>
                        </m:r>
                      </m:sup>
                    </m:sSubSup>
                  </m:oMath>
                </a14:m>
                <a:r>
                  <a:rPr lang="en-ZA" dirty="0"/>
                  <a:t>, their outer product</a:t>
                </a:r>
                <a:r>
                  <a:rPr lang="en-ZA" baseline="0" dirty="0"/>
                  <a: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r>
                      <a:rPr lang="sr-Latn-RS" sz="1200">
                        <a:latin typeface="Cambria Math" panose="02040503050406030204" pitchFamily="18" charset="0"/>
                      </a:rPr>
                      <m:t>⟨</m:t>
                    </m:r>
                    <m:r>
                      <a:rPr lang="sr-Latn-RS" sz="1200" i="1">
                        <a:latin typeface="Cambria Math" panose="02040503050406030204" pitchFamily="18" charset="0"/>
                      </a:rPr>
                      <m:t>𝑏</m:t>
                    </m:r>
                    <m:r>
                      <a:rPr lang="sr-Latn-RS" sz="1200">
                        <a:latin typeface="Cambria Math" panose="02040503050406030204" pitchFamily="18" charset="0"/>
                      </a:rPr>
                      <m:t>|</m:t>
                    </m:r>
                  </m:oMath>
                </a14:m>
                <a:r>
                  <a:rPr lang="en-ZA" dirty="0"/>
                  <a:t> produces a two-by-two matrix. Each element of the ket is multiplied by each element of the bra.</a:t>
                </a:r>
              </a:p>
              <a:p>
                <a:pPr algn="just"/>
                <a:endParaRPr lang="en-ZA" dirty="0"/>
              </a:p>
              <a:p>
                <a:pPr algn="just"/>
                <a:r>
                  <a:rPr lang="en-ZA" dirty="0"/>
                  <a:t>An especially important case in quantum mechanics occurs when a state vector is multiplied by its own bra. The outer product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r>
                      <a:rPr lang="sr-Latn-RS" sz="1200">
                        <a:latin typeface="Cambria Math" panose="02040503050406030204" pitchFamily="18" charset="0"/>
                      </a:rPr>
                      <m:t>⟨</m:t>
                    </m:r>
                    <m:r>
                      <m:rPr>
                        <m:sty m:val="p"/>
                      </m:rPr>
                      <a:rPr lang="en-US" sz="1200" b="0" i="0" smtClean="0">
                        <a:latin typeface="Cambria Math" panose="02040503050406030204" pitchFamily="18" charset="0"/>
                      </a:rPr>
                      <m:t>a</m:t>
                    </m:r>
                    <m:r>
                      <a:rPr lang="sr-Latn-RS" sz="1200">
                        <a:latin typeface="Cambria Math" panose="02040503050406030204" pitchFamily="18" charset="0"/>
                      </a:rPr>
                      <m:t>|</m:t>
                    </m:r>
                  </m:oMath>
                </a14:m>
                <a:r>
                  <a:rPr lang="en-ZA" dirty="0"/>
                  <a:t> is called the </a:t>
                </a:r>
                <a:r>
                  <a:rPr lang="en-ZA" b="0" dirty="0"/>
                  <a:t>density matrix of a pure state</a:t>
                </a:r>
                <a:r>
                  <a:rPr lang="en-ZA" dirty="0"/>
                  <a:t>, usually denoted by </a:t>
                </a:r>
                <a14:m>
                  <m:oMath xmlns:m="http://schemas.openxmlformats.org/officeDocument/2006/math">
                    <m:r>
                      <a:rPr lang="en-ZA" sz="1200" i="1" smtClean="0">
                        <a:latin typeface="Cambria Math" panose="02040503050406030204" pitchFamily="18" charset="0"/>
                        <a:ea typeface="Cambria Math" panose="02040503050406030204" pitchFamily="18" charset="0"/>
                      </a:rPr>
                      <m:t>𝜌</m:t>
                    </m:r>
                  </m:oMath>
                </a14:m>
                <a:r>
                  <a:rPr lang="en-ZA" dirty="0"/>
                  <a:t>.</a:t>
                </a:r>
              </a:p>
              <a:p>
                <a:pPr algn="just"/>
                <a:endParaRPr lang="en-ZA" dirty="0"/>
              </a:p>
              <a:p>
                <a:pPr algn="just"/>
                <a:r>
                  <a:rPr lang="en-ZA" dirty="0"/>
                  <a:t>Notice that the diagonal elements of this matrix are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smtClean="0">
                                <a:latin typeface="Cambria Math" panose="02040503050406030204" pitchFamily="18" charset="0"/>
                              </a:rPr>
                            </m:ctrlPr>
                          </m:dPr>
                          <m:e>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1</m:t>
                                </m:r>
                              </m:sub>
                            </m:sSub>
                          </m:e>
                        </m:d>
                      </m:e>
                      <m:sup>
                        <m:r>
                          <a:rPr lang="en-US" sz="1200" b="0" i="1" smtClean="0">
                            <a:latin typeface="Cambria Math" panose="02040503050406030204" pitchFamily="18" charset="0"/>
                          </a:rPr>
                          <m:t>2</m:t>
                        </m:r>
                      </m:sup>
                    </m:sSup>
                  </m:oMath>
                </a14:m>
                <a:r>
                  <a:rPr lang="en-ZA" dirty="0"/>
                  <a:t> and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smtClean="0">
                                <a:latin typeface="Cambria Math" panose="02040503050406030204" pitchFamily="18" charset="0"/>
                              </a:rPr>
                            </m:ctrlPr>
                          </m:dPr>
                          <m:e>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en-US" sz="1200" b="0" i="1" smtClean="0">
                                    <a:latin typeface="Cambria Math" panose="02040503050406030204" pitchFamily="18" charset="0"/>
                                  </a:rPr>
                                  <m:t>2</m:t>
                                </m:r>
                              </m:sub>
                            </m:sSub>
                          </m:e>
                        </m:d>
                      </m:e>
                      <m:sup>
                        <m:r>
                          <a:rPr lang="en-US" sz="1200" b="0" i="1" smtClean="0">
                            <a:latin typeface="Cambria Math" panose="02040503050406030204" pitchFamily="18" charset="0"/>
                          </a:rPr>
                          <m:t>2</m:t>
                        </m:r>
                      </m:sup>
                    </m:sSup>
                  </m:oMath>
                </a14:m>
                <a:r>
                  <a:rPr lang="en-ZA" dirty="0"/>
                  <a:t>. Their sum is the trace of the density matrix. For a normalized quantum state, this sum is equal to one. </a:t>
                </a:r>
                <a:endParaRPr lang="en-US" dirty="0"/>
              </a:p>
            </p:txBody>
          </p:sp>
        </mc:Choice>
        <mc:Fallback xmlns="">
          <p:sp>
            <p:nvSpPr>
              <p:cNvPr id="3" name="Notes Placeholder 2"/>
              <p:cNvSpPr>
                <a:spLocks noGrp="1"/>
              </p:cNvSpPr>
              <p:nvPr>
                <p:ph type="body" idx="1"/>
              </p:nvPr>
            </p:nvSpPr>
            <p:spPr/>
            <p:txBody>
              <a:bodyPr/>
              <a:lstStyle/>
              <a:p>
                <a:pPr algn="just"/>
                <a:r>
                  <a:rPr lang="en-ZA" dirty="0"/>
                  <a:t>The </a:t>
                </a:r>
                <a:r>
                  <a:rPr lang="en-ZA" b="0" dirty="0"/>
                  <a:t>outer product</a:t>
                </a:r>
                <a:r>
                  <a:rPr lang="en-ZA" dirty="0"/>
                  <a:t> is another important operation involving vectors. It is formed by multiplying a ket vector by a bra vector. Unlike the inner product, which produces a single number, the outer product produces a </a:t>
                </a:r>
                <a:r>
                  <a:rPr lang="en-ZA" b="0" dirty="0"/>
                  <a:t>matrix</a:t>
                </a:r>
                <a:r>
                  <a:rPr lang="en-ZA" dirty="0"/>
                  <a:t>.</a:t>
                </a:r>
              </a:p>
              <a:p>
                <a:pPr algn="just"/>
                <a:endParaRPr lang="en-ZA" dirty="0"/>
              </a:p>
              <a:p>
                <a:pPr algn="just"/>
                <a:r>
                  <a:rPr lang="en-ZA" dirty="0"/>
                  <a:t>For example, if the ket </a:t>
                </a:r>
                <a:r>
                  <a:rPr lang="en-ZA" sz="1200" i="0">
                    <a:latin typeface="Cambria Math" panose="02040503050406030204" pitchFamily="18" charset="0"/>
                  </a:rPr>
                  <a:t>|</a:t>
                </a:r>
                <a:r>
                  <a:rPr lang="sr-Latn-RS" sz="1200" i="0">
                    <a:latin typeface="Cambria Math" panose="02040503050406030204" pitchFamily="18" charset="0"/>
                  </a:rPr>
                  <a:t>𝑎⟩</a:t>
                </a:r>
                <a:r>
                  <a:rPr lang="en-ZA" dirty="0"/>
                  <a:t> has two components, </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1</a:t>
                </a:r>
                <a:r>
                  <a:rPr lang="en-ZA" dirty="0"/>
                  <a:t> and </a:t>
                </a:r>
                <a:r>
                  <a:rPr lang="sr-Latn-RS" sz="1200" i="0">
                    <a:latin typeface="Cambria Math" panose="02040503050406030204" pitchFamily="18" charset="0"/>
                  </a:rPr>
                  <a:t>𝑎</a:t>
                </a:r>
                <a:r>
                  <a:rPr lang="en-ZA" sz="1200" i="0">
                    <a:latin typeface="Cambria Math" panose="02040503050406030204" pitchFamily="18" charset="0"/>
                  </a:rPr>
                  <a:t>_</a:t>
                </a:r>
                <a:r>
                  <a:rPr lang="en-US" sz="1200" b="0" i="0">
                    <a:latin typeface="Cambria Math" panose="02040503050406030204" pitchFamily="18" charset="0"/>
                  </a:rPr>
                  <a:t>2</a:t>
                </a:r>
                <a:r>
                  <a:rPr lang="en-ZA" dirty="0"/>
                  <a:t>, and the bra </a:t>
                </a:r>
                <a:r>
                  <a:rPr lang="sr-Latn-RS" sz="1200" i="0">
                    <a:latin typeface="Cambria Math" panose="02040503050406030204" pitchFamily="18" charset="0"/>
                  </a:rPr>
                  <a:t>⟨</a:t>
                </a:r>
                <a:r>
                  <a:rPr lang="en-US" sz="1200" b="0" i="0">
                    <a:latin typeface="Cambria Math" panose="02040503050406030204" pitchFamily="18" charset="0"/>
                  </a:rPr>
                  <a:t>b</a:t>
                </a:r>
                <a:r>
                  <a:rPr lang="sr-Latn-RS" sz="1200" i="0">
                    <a:latin typeface="Cambria Math" panose="02040503050406030204" pitchFamily="18" charset="0"/>
                  </a:rPr>
                  <a:t>|</a:t>
                </a:r>
                <a:r>
                  <a:rPr lang="en-ZA" dirty="0"/>
                  <a:t> has components </a:t>
                </a:r>
                <a:r>
                  <a:rPr lang="sr-Latn-RS" sz="1200" i="0">
                    <a:latin typeface="Cambria Math" panose="02040503050406030204" pitchFamily="18" charset="0"/>
                  </a:rPr>
                  <a:t>𝑏</a:t>
                </a:r>
                <a:r>
                  <a:rPr lang="en-ZA" sz="1200" i="0">
                    <a:latin typeface="Cambria Math" panose="02040503050406030204" pitchFamily="18" charset="0"/>
                  </a:rPr>
                  <a:t>_</a:t>
                </a:r>
                <a:r>
                  <a:rPr lang="sr-Latn-RS" sz="1200" i="0">
                    <a:latin typeface="Cambria Math" panose="02040503050406030204" pitchFamily="18" charset="0"/>
                  </a:rPr>
                  <a:t>1^∗</a:t>
                </a:r>
                <a:r>
                  <a:rPr lang="en-ZA" dirty="0"/>
                  <a:t> and </a:t>
                </a:r>
                <a:r>
                  <a:rPr lang="sr-Latn-RS" sz="1200" i="0">
                    <a:latin typeface="Cambria Math" panose="02040503050406030204" pitchFamily="18" charset="0"/>
                  </a:rPr>
                  <a:t>𝑏</a:t>
                </a:r>
                <a:r>
                  <a:rPr lang="en-ZA" sz="1200" i="0">
                    <a:latin typeface="Cambria Math" panose="02040503050406030204" pitchFamily="18" charset="0"/>
                  </a:rPr>
                  <a:t>_</a:t>
                </a:r>
                <a:r>
                  <a:rPr lang="en-US" sz="1200" b="0" i="0">
                    <a:latin typeface="Cambria Math" panose="02040503050406030204" pitchFamily="18" charset="0"/>
                  </a:rPr>
                  <a:t>2</a:t>
                </a:r>
                <a:r>
                  <a:rPr lang="sr-Latn-RS" sz="1200" b="0" i="0">
                    <a:latin typeface="Cambria Math" panose="02040503050406030204" pitchFamily="18" charset="0"/>
                  </a:rPr>
                  <a:t>^</a:t>
                </a:r>
                <a:r>
                  <a:rPr lang="sr-Latn-RS" sz="1200" i="0">
                    <a:latin typeface="Cambria Math" panose="02040503050406030204" pitchFamily="18" charset="0"/>
                  </a:rPr>
                  <a:t>∗</a:t>
                </a:r>
                <a:r>
                  <a:rPr lang="en-ZA" dirty="0"/>
                  <a:t>, their outer product</a:t>
                </a:r>
                <a:r>
                  <a:rPr lang="en-ZA" baseline="0" dirty="0"/>
                  <a:t> </a:t>
                </a:r>
                <a:r>
                  <a:rPr lang="en-ZA" sz="1200" i="0">
                    <a:latin typeface="Cambria Math" panose="02040503050406030204" pitchFamily="18" charset="0"/>
                  </a:rPr>
                  <a:t>|</a:t>
                </a:r>
                <a:r>
                  <a:rPr lang="sr-Latn-RS" sz="1200" i="0">
                    <a:latin typeface="Cambria Math" panose="02040503050406030204" pitchFamily="18" charset="0"/>
                  </a:rPr>
                  <a:t>𝑎⟩⟨𝑏|</a:t>
                </a:r>
                <a:r>
                  <a:rPr lang="en-ZA" dirty="0"/>
                  <a:t> produces a two-by-two matrix. Each element of the ket is multiplied by each element of the bra.</a:t>
                </a:r>
              </a:p>
              <a:p>
                <a:pPr algn="just"/>
                <a:endParaRPr lang="en-ZA" dirty="0"/>
              </a:p>
              <a:p>
                <a:pPr algn="just"/>
                <a:r>
                  <a:rPr lang="en-ZA" dirty="0"/>
                  <a:t>An especially important case in quantum mechanics occurs when a state vector is multiplied by its own bra. The outer product </a:t>
                </a:r>
                <a:r>
                  <a:rPr lang="en-ZA" sz="1200" i="0">
                    <a:latin typeface="Cambria Math" panose="02040503050406030204" pitchFamily="18" charset="0"/>
                  </a:rPr>
                  <a:t>|</a:t>
                </a:r>
                <a:r>
                  <a:rPr lang="sr-Latn-RS" sz="1200" i="0">
                    <a:latin typeface="Cambria Math" panose="02040503050406030204" pitchFamily="18" charset="0"/>
                  </a:rPr>
                  <a:t>𝑎⟩⟨</a:t>
                </a:r>
                <a:r>
                  <a:rPr lang="en-US" sz="1200" b="0" i="0">
                    <a:latin typeface="Cambria Math" panose="02040503050406030204" pitchFamily="18" charset="0"/>
                  </a:rPr>
                  <a:t>a</a:t>
                </a:r>
                <a:r>
                  <a:rPr lang="sr-Latn-RS" sz="1200" i="0">
                    <a:latin typeface="Cambria Math" panose="02040503050406030204" pitchFamily="18" charset="0"/>
                  </a:rPr>
                  <a:t>|</a:t>
                </a:r>
                <a:r>
                  <a:rPr lang="en-ZA" dirty="0"/>
                  <a:t> is called the </a:t>
                </a:r>
                <a:r>
                  <a:rPr lang="en-ZA" b="0" dirty="0"/>
                  <a:t>density matrix of a pure state</a:t>
                </a:r>
                <a:r>
                  <a:rPr lang="en-ZA" dirty="0"/>
                  <a:t>, usually denoted by </a:t>
                </a:r>
                <a:r>
                  <a:rPr lang="en-ZA" sz="1200" i="0">
                    <a:latin typeface="Cambria Math" panose="02040503050406030204" pitchFamily="18" charset="0"/>
                    <a:ea typeface="Cambria Math" panose="02040503050406030204" pitchFamily="18" charset="0"/>
                  </a:rPr>
                  <a:t>𝜌</a:t>
                </a:r>
                <a:r>
                  <a:rPr lang="en-ZA" dirty="0"/>
                  <a:t>.</a:t>
                </a:r>
              </a:p>
              <a:p>
                <a:pPr algn="just"/>
                <a:endParaRPr lang="en-ZA" dirty="0"/>
              </a:p>
              <a:p>
                <a:pPr algn="just"/>
                <a:r>
                  <a:rPr lang="en-ZA" dirty="0"/>
                  <a:t>Notice that the diagonal elements of this matrix are </a:t>
                </a:r>
                <a:r>
                  <a:rPr lang="en-ZA" sz="120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1 |</a:t>
                </a:r>
                <a:r>
                  <a:rPr lang="en-ZA" sz="1200" i="0">
                    <a:latin typeface="Cambria Math" panose="02040503050406030204" pitchFamily="18" charset="0"/>
                  </a:rPr>
                  <a:t>^</a:t>
                </a:r>
                <a:r>
                  <a:rPr lang="en-US" sz="1200" b="0" i="0">
                    <a:latin typeface="Cambria Math" panose="02040503050406030204" pitchFamily="18" charset="0"/>
                  </a:rPr>
                  <a:t>2</a:t>
                </a:r>
                <a:r>
                  <a:rPr lang="en-ZA" dirty="0"/>
                  <a:t> and </a:t>
                </a:r>
                <a:r>
                  <a:rPr lang="en-ZA" sz="120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en-US" sz="1200" b="0" i="0">
                    <a:latin typeface="Cambria Math" panose="02040503050406030204" pitchFamily="18" charset="0"/>
                  </a:rPr>
                  <a:t>2</a:t>
                </a:r>
                <a:r>
                  <a:rPr lang="sr-Latn-RS" sz="1200" b="0" i="0">
                    <a:latin typeface="Cambria Math" panose="02040503050406030204" pitchFamily="18" charset="0"/>
                  </a:rPr>
                  <a:t> |</a:t>
                </a:r>
                <a:r>
                  <a:rPr lang="en-ZA" sz="1200" b="0" i="0">
                    <a:latin typeface="Cambria Math" panose="02040503050406030204" pitchFamily="18" charset="0"/>
                  </a:rPr>
                  <a:t>^</a:t>
                </a:r>
                <a:r>
                  <a:rPr lang="en-US" sz="1200" b="0" i="0">
                    <a:latin typeface="Cambria Math" panose="02040503050406030204" pitchFamily="18" charset="0"/>
                  </a:rPr>
                  <a:t>2</a:t>
                </a:r>
                <a:r>
                  <a:rPr lang="en-ZA" dirty="0"/>
                  <a:t>. Their sum is the trace of the density matrix. For a normalized quantum state, this sum is equal to one. </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10256928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 qubit can also be represented by a density matrix, defined as the outer product, or ket-bra product, of the state vector with itself. For a state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a:latin typeface="Cambria Math" panose="02040503050406030204" pitchFamily="18" charset="0"/>
                          </a:rPr>
                          <m:t>𝑆</m:t>
                        </m:r>
                      </m:e>
                    </m:d>
                  </m:oMath>
                </a14:m>
                <a:r>
                  <a:rPr lang="en-ZA" b="0" dirty="0"/>
                  <a:t>, its density matrix is  </a:t>
                </a:r>
                <a14:m>
                  <m:oMath xmlns:m="http://schemas.openxmlformats.org/officeDocument/2006/math">
                    <m:r>
                      <a:rPr lang="en-US" sz="1200" b="0" i="1" smtClean="0">
                        <a:latin typeface="Cambria Math" panose="02040503050406030204" pitchFamily="18" charset="0"/>
                      </a:rPr>
                      <m:t>𝜌</m:t>
                    </m:r>
                    <m:r>
                      <a:rPr lang="en-US" sz="1200" b="0" i="0">
                        <a:latin typeface="Cambria Math" panose="02040503050406030204" pitchFamily="18" charset="0"/>
                      </a:rPr>
                      <m:t>=</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𝑆</m:t>
                        </m:r>
                      </m:e>
                    </m:d>
                    <m:r>
                      <a:rPr lang="en-US" sz="1200" b="0" i="0">
                        <a:latin typeface="Cambria Math" panose="02040503050406030204" pitchFamily="18" charset="0"/>
                      </a:rPr>
                      <m:t>⟨</m:t>
                    </m:r>
                    <m:r>
                      <a:rPr lang="en-US" sz="1200" b="0" i="1">
                        <a:latin typeface="Cambria Math" panose="02040503050406030204" pitchFamily="18" charset="0"/>
                      </a:rPr>
                      <m:t>𝑆</m:t>
                    </m:r>
                    <m:r>
                      <a:rPr lang="en-US" sz="1200" b="0" i="0">
                        <a:latin typeface="Cambria Math" panose="02040503050406030204" pitchFamily="18" charset="0"/>
                      </a:rPr>
                      <m:t>|</m:t>
                    </m:r>
                  </m:oMath>
                </a14:m>
                <a:endParaRPr lang="en-ZA" b="0" dirty="0"/>
              </a:p>
              <a:p>
                <a:endParaRPr lang="en-ZA" b="0" dirty="0"/>
              </a:p>
              <a:p>
                <a:pPr marL="171450" indent="-171450">
                  <a:buFont typeface="Arial" panose="020B0604020202020204" pitchFamily="34" charset="0"/>
                  <a:buChar char="•"/>
                </a:pPr>
                <a:r>
                  <a:rPr lang="en-ZA" b="0" dirty="0"/>
                  <a:t>The diagonal elements of the density matrix contain the squared magnitudes of the probability amplitudes. Since their sum is one by normalization, the trace of the density matrix is also one.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The off-diagonal elements are complex conjugates of each other. They are called coherences and describe the phase relationship between the ∣0⟩ and ∣1⟩ components.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The example shows a density matrix with equal diagonal elements and complex-conjugate off-diagonal elements representing the coherences between the two basis states.</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sz="1200" b="0" dirty="0"/>
                  <a:t>In a 2D representation of the density matrix, the left square shows the real part and the right square shows the imaginary part. The intensity of each cell corresponds to the numerical value of the matrix element, with blue shades indicating positive values and red shades negative values.</a:t>
                </a:r>
              </a:p>
              <a:p>
                <a:pPr marL="171450" indent="-171450">
                  <a:buFont typeface="Arial" panose="020B0604020202020204" pitchFamily="34" charset="0"/>
                  <a:buChar char="•"/>
                </a:pP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b="0" dirty="0"/>
                  <a:t>In a 3D representation of the same matrix, the height of each bar corresponds to the value of the matrix element. </a:t>
                </a:r>
                <a:r>
                  <a:rPr lang="en-ZA" b="0" dirty="0"/>
                  <a:t>Matrix elements </a:t>
                </a:r>
                <a14:m>
                  <m:oMath xmlns:m="http://schemas.openxmlformats.org/officeDocument/2006/math">
                    <m:sSub>
                      <m:sSubPr>
                        <m:ctrlPr>
                          <a:rPr lang="sr-Latn-RS" sz="1200" b="0" i="1" smtClean="0">
                            <a:latin typeface="Cambria Math" panose="02040503050406030204" pitchFamily="18" charset="0"/>
                          </a:rPr>
                        </m:ctrlPr>
                      </m:sSubPr>
                      <m:e>
                        <m:r>
                          <a:rPr lang="sr-Latn-RS" sz="1200" b="0" i="1" smtClean="0">
                            <a:latin typeface="Cambria Math" panose="02040503050406030204" pitchFamily="18" charset="0"/>
                          </a:rPr>
                          <m:t>𝜌</m:t>
                        </m:r>
                      </m:e>
                      <m:sub>
                        <m:r>
                          <a:rPr lang="en-US" sz="1200" b="0" i="1" smtClean="0">
                            <a:latin typeface="Cambria Math" panose="02040503050406030204" pitchFamily="18" charset="0"/>
                          </a:rPr>
                          <m:t>𝑖𝑗</m:t>
                        </m:r>
                      </m:sub>
                    </m:sSub>
                  </m:oMath>
                </a14:m>
                <a:r>
                  <a:rPr lang="en-ZA" b="0" dirty="0"/>
                  <a:t> are plotted at coordinates </a:t>
                </a:r>
                <a14:m>
                  <m:oMath xmlns:m="http://schemas.openxmlformats.org/officeDocument/2006/math">
                    <m:d>
                      <m:dPr>
                        <m:ctrlPr>
                          <a:rPr lang="sr-Latn-RS" sz="1200" b="0" i="1" smtClean="0">
                            <a:latin typeface="Cambria Math" panose="02040503050406030204" pitchFamily="18" charset="0"/>
                          </a:rPr>
                        </m:ctrlPr>
                      </m:dPr>
                      <m:e>
                        <m:r>
                          <a:rPr lang="en-US" sz="1200" b="0" i="1" smtClean="0">
                            <a:latin typeface="Cambria Math" panose="02040503050406030204" pitchFamily="18" charset="0"/>
                          </a:rPr>
                          <m:t>𝑗</m:t>
                        </m:r>
                        <m:r>
                          <a:rPr lang="en-US" sz="1200" b="0" i="1" smtClean="0">
                            <a:latin typeface="Cambria Math" panose="02040503050406030204" pitchFamily="18" charset="0"/>
                          </a:rPr>
                          <m:t>,</m:t>
                        </m:r>
                        <m:r>
                          <a:rPr lang="en-US" sz="1200" b="0" i="1" smtClean="0">
                            <a:latin typeface="Cambria Math" panose="02040503050406030204" pitchFamily="18" charset="0"/>
                          </a:rPr>
                          <m:t>𝑖</m:t>
                        </m:r>
                      </m:e>
                    </m:d>
                  </m:oMath>
                </a14:m>
                <a:r>
                  <a:rPr lang="en-ZA" b="0" dirty="0"/>
                  <a:t>, since the horizontal axis represents the column index </a:t>
                </a:r>
                <a14:m>
                  <m:oMath xmlns:m="http://schemas.openxmlformats.org/officeDocument/2006/math">
                    <m:r>
                      <a:rPr lang="en-US" sz="1200" b="0" i="1" smtClean="0">
                        <a:latin typeface="Cambria Math" panose="02040503050406030204" pitchFamily="18" charset="0"/>
                      </a:rPr>
                      <m:t>𝑗</m:t>
                    </m:r>
                  </m:oMath>
                </a14:m>
                <a:r>
                  <a:rPr lang="en-ZA" b="0" dirty="0"/>
                  <a:t> and the vertical axis the row index </a:t>
                </a:r>
                <a14:m>
                  <m:oMath xmlns:m="http://schemas.openxmlformats.org/officeDocument/2006/math">
                    <m:r>
                      <a:rPr lang="en-US" sz="1200" b="0" i="1" smtClean="0">
                        <a:latin typeface="Cambria Math" panose="02040503050406030204" pitchFamily="18" charset="0"/>
                      </a:rPr>
                      <m:t>𝑖</m:t>
                    </m:r>
                  </m:oMath>
                </a14:m>
                <a:r>
                  <a:rPr lang="en-ZA" b="0" dirty="0"/>
                  <a:t>.</a:t>
                </a:r>
                <a:endParaRPr lang="en-ZA" sz="1200" b="0" dirty="0"/>
              </a:p>
              <a:p>
                <a:pPr marL="171450" indent="-171450">
                  <a:buFont typeface="Arial" panose="020B0604020202020204" pitchFamily="34" charset="0"/>
                  <a:buChar char="•"/>
                </a:pP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The density matrix, or the density operator, is an alternative and more general representation of a quantum state. </a:t>
                </a:r>
                <a:r>
                  <a:rPr lang="en-US" sz="2000" kern="1200" dirty="0">
                    <a:solidFill>
                      <a:schemeClr val="tx1"/>
                    </a:solidFill>
                    <a:latin typeface="+mn-lt"/>
                    <a:ea typeface="+mn-ea"/>
                    <a:cs typeface="+mn-cs"/>
                  </a:rPr>
                  <a:t>The density matrix or density operator, is defined as the outer product of a vector with itself. It is usually denoted by the Greek letter </a:t>
                </a:r>
                <a:r>
                  <a:rPr lang="en-US" sz="2000" i="0">
                    <a:latin typeface="Cambria Math" panose="02040503050406030204" pitchFamily="18" charset="0"/>
                  </a:rPr>
                  <a:t>𝜌</a:t>
                </a:r>
                <a:r>
                  <a:rPr lang="en-US" sz="2000" kern="1200" dirty="0">
                    <a:solidFill>
                      <a:schemeClr val="tx1"/>
                    </a:solidFill>
                    <a:latin typeface="+mn-lt"/>
                    <a:ea typeface="+mn-ea"/>
                    <a:cs typeface="+mn-cs"/>
                  </a:rPr>
                  <a:t>. You can notice that </a:t>
                </a:r>
                <a:r>
                  <a:rPr lang="en-US" sz="2000" kern="1200" dirty="0" err="1">
                    <a:solidFill>
                      <a:schemeClr val="tx1"/>
                    </a:solidFill>
                    <a:latin typeface="+mn-lt"/>
                    <a:ea typeface="+mn-ea"/>
                    <a:cs typeface="+mn-cs"/>
                  </a:rPr>
                  <a:t>ements</a:t>
                </a:r>
                <a:r>
                  <a:rPr lang="en-US" sz="2000" kern="1200" dirty="0">
                    <a:solidFill>
                      <a:schemeClr val="tx1"/>
                    </a:solidFill>
                    <a:latin typeface="+mn-lt"/>
                    <a:ea typeface="+mn-ea"/>
                    <a:cs typeface="+mn-cs"/>
                  </a:rPr>
                  <a:t> in the main diagonal (|a|^2 and |b|^2) represent the probabilities of measuring states |0⟩ and |1⟩ respectively. This means, the sum of the elements on the main diagonal is 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mn-lt"/>
                    <a:ea typeface="+mn-ea"/>
                    <a:cs typeface="+mn-cs"/>
                  </a:rPr>
                  <a:t>The example shows </a:t>
                </a:r>
                <a:r>
                  <a:rPr lang="en-US" sz="2000" kern="1200" dirty="0">
                    <a:solidFill>
                      <a:schemeClr val="tx1"/>
                    </a:solidFill>
                    <a:effectLst/>
                    <a:latin typeface="+mn-lt"/>
                    <a:ea typeface="+mn-ea"/>
                    <a:cs typeface="+mn-cs"/>
                  </a:rPr>
                  <a:t>a density matrix visualization: Real (Re) parts of matrices’ elements are in the left squares and imaginary (</a:t>
                </a:r>
                <a:r>
                  <a:rPr lang="en-US" sz="2000" kern="1200" dirty="0" err="1">
                    <a:solidFill>
                      <a:schemeClr val="tx1"/>
                    </a:solidFill>
                    <a:effectLst/>
                    <a:latin typeface="+mn-lt"/>
                    <a:ea typeface="+mn-ea"/>
                    <a:cs typeface="+mn-cs"/>
                  </a:rPr>
                  <a:t>Im</a:t>
                </a:r>
                <a:r>
                  <a:rPr lang="en-US" sz="2000" kern="1200" dirty="0">
                    <a:solidFill>
                      <a:schemeClr val="tx1"/>
                    </a:solidFill>
                    <a:effectLst/>
                    <a:latin typeface="+mn-lt"/>
                    <a:ea typeface="+mn-ea"/>
                    <a:cs typeface="+mn-cs"/>
                  </a:rPr>
                  <a:t>) parts are in the right squares. Blue indicates the positive numbers and red indicates the negative number. Each cell is colored to the height of the value of the matrix element.</a:t>
                </a:r>
                <a:r>
                  <a:rPr lang="en-US" sz="2000" dirty="0">
                    <a:effectLst/>
                  </a:rPr>
                  <a:t> </a:t>
                </a:r>
                <a:endParaRPr lang="en-US" sz="20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latin typeface="+mn-lt"/>
                  <a:ea typeface="+mn-ea"/>
                  <a:cs typeface="+mn-cs"/>
                </a:endParaRP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2312600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value of a qubit is obtained through quantum measurement. The term </a:t>
            </a:r>
            <a:r>
              <a:rPr lang="en-ZA" b="0" i="1" dirty="0"/>
              <a:t>measurement</a:t>
            </a:r>
            <a:r>
              <a:rPr lang="en-ZA" b="0" dirty="0"/>
              <a:t> comes from quantum mechanics, where it refers to the process of obtaining observable information from a quantum system.</a:t>
            </a:r>
          </a:p>
          <a:p>
            <a:pPr algn="just"/>
            <a:r>
              <a:rPr lang="en-ZA" b="0" dirty="0"/>
              <a:t>In computing, this process can be thought of as reading a qubit, although </a:t>
            </a:r>
            <a:r>
              <a:rPr lang="en-ZA" b="0" i="1" dirty="0"/>
              <a:t>measurement</a:t>
            </a:r>
            <a:r>
              <a:rPr lang="en-ZA" b="0" dirty="0"/>
              <a:t> remains the standard terminology. Before measurement, a qubit can be in a superposition of the basis states ∣0⟩ and ∣1⟩. When measured in the standard basis, however, the result is always one of the two classical values: 0 or 0.</a:t>
            </a:r>
          </a:p>
          <a:p>
            <a:pPr algn="just"/>
            <a:endParaRPr lang="en-ZA" b="0" dirty="0"/>
          </a:p>
          <a:p>
            <a:pPr algn="just"/>
            <a:r>
              <a:rPr lang="en-ZA" b="0" dirty="0"/>
              <a:t>The outcome cannot generally be predicted with certainty. Instead, each possible result has a probability determined by the state of the qubit. The rule for calculating these probabilities is known as the Born rule.</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21964267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Before introducing quantum measurement, it is useful to review several important types of matrices. These provide the mathematical framework for describing quantum operations and, in particular, for defining observables used in quantum measurement.</a:t>
            </a:r>
          </a:p>
          <a:p>
            <a:pPr algn="just"/>
            <a:endParaRPr lang="en-ZA" b="0" dirty="0"/>
          </a:p>
          <a:p>
            <a:pPr algn="just"/>
            <a:r>
              <a:rPr lang="en-ZA" b="0" dirty="0"/>
              <a:t>The most important matrix types used in quantum computing are identity, orthogonal, Hermitian, and unitary matrices.</a:t>
            </a:r>
          </a:p>
          <a:p>
            <a:pPr algn="just"/>
            <a:endParaRPr lang="en-ZA" b="0" dirty="0"/>
          </a:p>
          <a:p>
            <a:pPr marL="171450" indent="-171450" algn="just">
              <a:buFont typeface="Arial" panose="020B0604020202020204" pitchFamily="34" charset="0"/>
              <a:buChar char="•"/>
            </a:pPr>
            <a:r>
              <a:rPr lang="en-ZA" b="0" dirty="0"/>
              <a:t>Identity Matrix: A square matrix with ones on the main diagonal and zeros elsewhere. It acts as the equivalent of a </a:t>
            </a:r>
            <a:r>
              <a:rPr lang="en-ZA" b="0" i="1" dirty="0"/>
              <a:t>no-operation (NOP)</a:t>
            </a:r>
            <a:r>
              <a:rPr lang="en-ZA" b="0" dirty="0"/>
              <a:t> instruction in classical computing. </a:t>
            </a:r>
            <a:r>
              <a:rPr lang="en-ZA" dirty="0"/>
              <a:t>The identity matrix is useful because multiplying by it doesn’t change the result, but it can help organize and set up matrix transformations.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Orthogonal Matrix: </a:t>
            </a:r>
            <a:r>
              <a:rPr lang="en-ZA" dirty="0"/>
              <a:t>An orthogonal matrix is a square matrix whose transpose, when multiplied by the original, gives the identity matrix. Multiplying a vector by an orthogonal matrix can change its orientation but keeps its size the same. Multiplying it afterward by the matrix’s transpose brings the vector back to its original position. This shows that such transformations are reversible, which is an important property of quantum computing operations.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Hermitian Matrix: A square matrix that is equal to its conjugate transpose. Its diagonal elements are always real numbers, while the elements above the diagonal are complex conjugates of those below.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Unitary Matrix: </a:t>
            </a:r>
            <a:r>
              <a:rPr lang="en-ZA" dirty="0"/>
              <a:t>A unitary matrix is a square matrix whose </a:t>
            </a:r>
            <a:r>
              <a:rPr lang="en-ZA" b="0" dirty="0"/>
              <a:t>conjugate </a:t>
            </a:r>
            <a:r>
              <a:rPr lang="en-ZA" dirty="0"/>
              <a:t>transpose, when multiplied by the original, gives the identity matrix. </a:t>
            </a:r>
            <a:r>
              <a:rPr lang="en-ZA" b="0" dirty="0"/>
              <a:t>Unitary matrices can be seen as the complex extension of orthogonal matrices. While orthogonal matrices describe transformations in real space, u</a:t>
            </a:r>
            <a:r>
              <a:rPr lang="en-ZA" dirty="0"/>
              <a:t>nitary matrices describe transformations in complex space, making them fundamental tools for qubit transformations.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7131303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Among the most important matrices in quantum computing are the Pauli matrices, which are both Hermitian and unitary. Their diagonal elements are real, and in the Pauli-Y matrix, the off-diagonal elements are complex conjugates of each other.</a:t>
                </a:r>
              </a:p>
              <a:p>
                <a:pPr algn="just"/>
                <a:endParaRPr lang="en-ZA" b="0" dirty="0"/>
              </a:p>
              <a:p>
                <a:pPr algn="just"/>
                <a:r>
                  <a:rPr lang="en-ZA" b="0" dirty="0"/>
                  <a:t>The Pauli matrices are named after physicist Wolfgang Pauli. They form a set of three </a:t>
                </a:r>
                <a14:m>
                  <m:oMath xmlns:m="http://schemas.openxmlformats.org/officeDocument/2006/math">
                    <m:r>
                      <a:rPr lang="en-US" sz="1200" b="0" i="0"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r>
                      <a:rPr lang="en-US" sz="1200" b="0" i="0" smtClean="0">
                        <a:latin typeface="Cambria Math" panose="02040503050406030204" pitchFamily="18" charset="0"/>
                      </a:rPr>
                      <m:t>2</m:t>
                    </m:r>
                  </m:oMath>
                </a14:m>
                <a:r>
                  <a:rPr lang="en-ZA" b="0" dirty="0"/>
                  <a:t> matrices, often considered together with the identity matrix. In quantum physics, they are commonly denoted by the Greek letter </a:t>
                </a:r>
                <a14:m>
                  <m:oMath xmlns:m="http://schemas.openxmlformats.org/officeDocument/2006/math">
                    <m:r>
                      <a:rPr lang="en-US" sz="1200" i="1" smtClean="0">
                        <a:latin typeface="Cambria Math" panose="02040503050406030204" pitchFamily="18" charset="0"/>
                      </a:rPr>
                      <m:t>𝜎</m:t>
                    </m:r>
                  </m:oMath>
                </a14:m>
                <a:r>
                  <a:rPr lang="en-ZA" b="0" dirty="0"/>
                  <a:t>, while in quantum computing they are usually denoted by the italic capital letters </a:t>
                </a:r>
                <a:r>
                  <a:rPr lang="en-ZA" b="0" i="1" dirty="0"/>
                  <a:t>X</a:t>
                </a:r>
                <a:r>
                  <a:rPr lang="en-ZA" b="0" dirty="0"/>
                  <a:t>, </a:t>
                </a:r>
                <a:r>
                  <a:rPr lang="en-ZA" b="0" i="1" dirty="0"/>
                  <a:t>Y</a:t>
                </a:r>
                <a:r>
                  <a:rPr lang="en-ZA" b="0" dirty="0"/>
                  <a:t>, and </a:t>
                </a:r>
                <a:r>
                  <a:rPr lang="en-ZA" b="0" i="1" dirty="0"/>
                  <a:t>Z</a:t>
                </a:r>
                <a:r>
                  <a:rPr lang="en-ZA" b="0" dirty="0"/>
                  <a:t>.</a:t>
                </a:r>
              </a:p>
            </p:txBody>
          </p:sp>
        </mc:Choice>
        <mc:Fallback xmlns="">
          <p:sp>
            <p:nvSpPr>
              <p:cNvPr id="3" name="Notes Placeholder 2"/>
              <p:cNvSpPr>
                <a:spLocks noGrp="1"/>
              </p:cNvSpPr>
              <p:nvPr>
                <p:ph type="body" idx="1"/>
              </p:nvPr>
            </p:nvSpPr>
            <p:spPr/>
            <p:txBody>
              <a:bodyPr/>
              <a:lstStyle/>
              <a:p>
                <a:pPr algn="just"/>
                <a:r>
                  <a:rPr lang="en-ZA" b="0" dirty="0"/>
                  <a:t>Among the most important matrices in quantum computing are the Pauli matrices, which are both Hermitian and unitary. Their diagonal elements are real, and in the Pauli-Y matrix, the off-diagonal elements are complex conjugates of each other.</a:t>
                </a:r>
              </a:p>
              <a:p>
                <a:pPr algn="just"/>
                <a:endParaRPr lang="en-ZA" b="0" dirty="0"/>
              </a:p>
              <a:p>
                <a:pPr algn="just"/>
                <a:r>
                  <a:rPr lang="en-ZA" b="0" dirty="0"/>
                  <a:t>The Pauli matrices are named after physicist Wolfgang Pauli. They form a set of three </a:t>
                </a:r>
                <a:r>
                  <a:rPr lang="en-US" sz="1200" b="0" i="0">
                    <a:latin typeface="Cambria Math" panose="02040503050406030204" pitchFamily="18" charset="0"/>
                  </a:rPr>
                  <a:t>2</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2</a:t>
                </a:r>
                <a:r>
                  <a:rPr lang="en-ZA" b="0" dirty="0"/>
                  <a:t> matrices, often considered together with the identity matrix. In quantum physics, they are commonly denoted by the Greek letter </a:t>
                </a:r>
                <a:r>
                  <a:rPr lang="en-US" sz="1200" i="0">
                    <a:latin typeface="Cambria Math" panose="02040503050406030204" pitchFamily="18" charset="0"/>
                  </a:rPr>
                  <a:t>𝜎</a:t>
                </a:r>
                <a:r>
                  <a:rPr lang="en-ZA" b="0" dirty="0"/>
                  <a:t>, while in quantum computing they are usually denoted by the italic capital letters </a:t>
                </a:r>
                <a:r>
                  <a:rPr lang="en-ZA" b="0" i="1" dirty="0"/>
                  <a:t>X</a:t>
                </a:r>
                <a:r>
                  <a:rPr lang="en-ZA" b="0" dirty="0"/>
                  <a:t>, </a:t>
                </a:r>
                <a:r>
                  <a:rPr lang="en-ZA" b="0" i="1" dirty="0"/>
                  <a:t>Y</a:t>
                </a:r>
                <a:r>
                  <a:rPr lang="en-ZA" b="0" dirty="0"/>
                  <a:t>, and </a:t>
                </a:r>
                <a:r>
                  <a:rPr lang="en-ZA" b="0" i="1" dirty="0"/>
                  <a:t>Z</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4207435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If an operator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acts on a nonzero vector ∣x⟩ and simply scales it by a factor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without changing its direction, then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is called an </a:t>
                </a:r>
                <a:r>
                  <a:rPr lang="en-ZA" b="1" dirty="0"/>
                  <a:t>eigenvalue</a:t>
                </a:r>
                <a:r>
                  <a:rPr lang="en-ZA" dirty="0"/>
                  <a:t>, and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is called an </a:t>
                </a:r>
                <a:r>
                  <a:rPr lang="en-ZA" b="1" dirty="0"/>
                  <a:t>eigenvector</a:t>
                </a:r>
                <a:r>
                  <a:rPr lang="en-ZA" dirty="0"/>
                  <a:t>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In simple terms, applying the operator to an eigenvector has the same effect as multiplying that vector by a scalar. This is expressed by the </a:t>
                </a:r>
                <a:r>
                  <a:rPr lang="en-ZA" b="1" dirty="0"/>
                  <a:t>eigenvalue equation</a:t>
                </a:r>
              </a:p>
              <a:p>
                <a:pPr algn="just"/>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𝐴</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oMath>
                  </m:oMathPara>
                </a14:m>
                <a:endParaRPr lang="en-ZA" b="1" dirty="0"/>
              </a:p>
              <a:p>
                <a:pPr algn="just"/>
                <a:endParaRPr lang="en-ZA" dirty="0"/>
              </a:p>
              <a:p>
                <a:pPr algn="just"/>
                <a:r>
                  <a:rPr lang="en-ZA" dirty="0"/>
                  <a:t>For example, applying the identity operator </a:t>
                </a:r>
                <a14:m>
                  <m:oMath xmlns:m="http://schemas.openxmlformats.org/officeDocument/2006/math">
                    <m:r>
                      <a:rPr lang="en-US" sz="1200" b="0" i="1" smtClean="0">
                        <a:latin typeface="Cambria Math" panose="02040503050406030204" pitchFamily="18" charset="0"/>
                      </a:rPr>
                      <m:t>𝐼</m:t>
                    </m:r>
                  </m:oMath>
                </a14:m>
                <a:r>
                  <a:rPr lang="en-ZA" dirty="0"/>
                  <a:t> to any vector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gives the same vector: </a:t>
                </a:r>
              </a:p>
              <a:p>
                <a:pPr algn="just"/>
                <a14:m>
                  <m:oMath xmlns:m="http://schemas.openxmlformats.org/officeDocument/2006/math">
                    <m:r>
                      <a:rPr lang="sr-Latn-RS" sz="1200" b="0" i="1" smtClean="0">
                        <a:latin typeface="Cambria Math" panose="02040503050406030204" pitchFamily="18" charset="0"/>
                      </a:rPr>
                      <m:t>𝐼</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smtClean="0">
                        <a:latin typeface="Cambria Math" panose="02040503050406030204" pitchFamily="18" charset="0"/>
                      </a:rPr>
                      <m:t>=</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oMath>
                </a14:m>
                <a:r>
                  <a:rPr lang="en-ZA" dirty="0"/>
                  <a:t>. Therefore, the eigenvalue is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n-US" sz="1200" dirty="0"/>
                  <a:t>=1</a:t>
                </a:r>
                <a:r>
                  <a:rPr lang="el-GR" dirty="0"/>
                  <a:t>, </a:t>
                </a:r>
                <a:r>
                  <a:rPr lang="en-ZA" dirty="0"/>
                  <a:t>and every nonzero vector is an eigenvector of the identity operator.</a:t>
                </a:r>
              </a:p>
              <a:p>
                <a:pPr algn="just"/>
                <a:endParaRPr lang="en-ZA" dirty="0"/>
              </a:p>
              <a:p>
                <a:pPr algn="just"/>
                <a:r>
                  <a:rPr lang="en-ZA" b="0" dirty="0"/>
                  <a:t>Some concepts closely related to eigenvalues and eigenvectors are eigenspaces, spectra, and degeneracy.</a:t>
                </a:r>
              </a:p>
              <a:p>
                <a:pPr algn="just"/>
                <a:endParaRPr lang="en-ZA" b="0" dirty="0"/>
              </a:p>
              <a:p>
                <a:pPr marL="171450" indent="-171450" algn="just">
                  <a:buFont typeface="Arial" panose="020B0604020202020204" pitchFamily="34" charset="0"/>
                  <a:buChar char="•"/>
                </a:pPr>
                <a:r>
                  <a:rPr lang="en-ZA" b="0" dirty="0"/>
                  <a:t>The eigenspace corresponding to an eigenvalue </a:t>
                </a:r>
                <a14:m>
                  <m:oMath xmlns:m="http://schemas.openxmlformats.org/officeDocument/2006/math">
                    <m:r>
                      <a:rPr lang="en-US" sz="1200" i="1" smtClean="0">
                        <a:latin typeface="Cambria Math" panose="02040503050406030204" pitchFamily="18" charset="0"/>
                        <a:ea typeface="Cambria Math" panose="02040503050406030204" pitchFamily="18" charset="0"/>
                      </a:rPr>
                      <m:t>𝜆</m:t>
                    </m:r>
                  </m:oMath>
                </a14:m>
                <a:r>
                  <a:rPr lang="en-ZA" b="0" dirty="0"/>
                  <a:t> of an operator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m:t>
                    </m:r>
                  </m:oMath>
                </a14:m>
                <a:r>
                  <a:rPr lang="en-ZA" b="0" dirty="0"/>
                  <a:t> is the set of all vectors satisfying the eigenvalue equation for that eigenvalue, together with the zero vector.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The set of all eigenvalues of an operator is called its spectrum.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An eigenvalue </a:t>
                </a:r>
                <a14:m>
                  <m:oMath xmlns:m="http://schemas.openxmlformats.org/officeDocument/2006/math">
                    <m:r>
                      <a:rPr lang="en-US" sz="1200" i="1" smtClean="0">
                        <a:latin typeface="Cambria Math" panose="02040503050406030204" pitchFamily="18" charset="0"/>
                        <a:ea typeface="Cambria Math" panose="02040503050406030204" pitchFamily="18" charset="0"/>
                      </a:rPr>
                      <m:t>𝜆</m:t>
                    </m:r>
                  </m:oMath>
                </a14:m>
                <a:r>
                  <a:rPr lang="en-ZA" b="0" dirty="0"/>
                  <a:t> of an operator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m:t>
                    </m:r>
                  </m:oMath>
                </a14:m>
                <a:r>
                  <a:rPr lang="en-ZA" b="0" dirty="0"/>
                  <a:t> is degenerate if there are two or more linearly independent eigenvectors corresponding to the same eigenvalue.</a:t>
                </a:r>
                <a:endParaRPr lang="en-ZA" dirty="0"/>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b="0" dirty="0">
                    <a:latin typeface="+mn-lt"/>
                  </a:rPr>
                  <a:t>If a matrix </a:t>
                </a:r>
                <a:r>
                  <a:rPr lang="en-US" sz="2200" b="0" i="1" dirty="0">
                    <a:latin typeface="+mn-lt"/>
                  </a:rPr>
                  <a:t>A</a:t>
                </a:r>
                <a:r>
                  <a:rPr lang="en-US" sz="2200" b="0" dirty="0">
                    <a:latin typeface="+mn-lt"/>
                  </a:rPr>
                  <a:t> acts on vector x by stretching it, without changing its direction, then the vector x is an eigenvector for</a:t>
                </a:r>
                <a:r>
                  <a:rPr lang="en-US" sz="2200" b="0" baseline="0" dirty="0">
                    <a:latin typeface="+mn-lt"/>
                  </a:rPr>
                  <a:t> transformation A</a:t>
                </a:r>
                <a:r>
                  <a:rPr lang="en-US" sz="2200" b="0" dirty="0">
                    <a:latin typeface="+mn-lt"/>
                  </a:rPr>
                  <a:t> and scalar </a:t>
                </a:r>
                <a:r>
                  <a:rPr lang="en-US" sz="2200" b="0" i="0">
                    <a:latin typeface="+mn-lt"/>
                    <a:ea typeface="Cambria Math" panose="02040503050406030204" pitchFamily="18" charset="0"/>
                  </a:rPr>
                  <a:t>𝜆</a:t>
                </a:r>
                <a:r>
                  <a:rPr lang="en-US" sz="2200" b="0" i="0" dirty="0">
                    <a:latin typeface="+mn-lt"/>
                  </a:rPr>
                  <a:t> is an eigenvalue. Eigenvector and eigenvalue are also</a:t>
                </a:r>
                <a:r>
                  <a:rPr lang="en-US" sz="2200" b="0" i="0" baseline="0" dirty="0">
                    <a:latin typeface="+mn-lt"/>
                  </a:rPr>
                  <a:t> called characteristic vector and characteristic value since </a:t>
                </a:r>
                <a:r>
                  <a:rPr lang="en-US" sz="2200" b="0" dirty="0">
                    <a:latin typeface="+mn-lt"/>
                  </a:rPr>
                  <a:t>the German word ‘eigen’ means ‘characteristic’. </a:t>
                </a:r>
              </a:p>
              <a:p>
                <a:pPr marL="457200" indent="-457200">
                  <a:buFont typeface="+mj-lt"/>
                  <a:buAutoNum type="arabicPeriod"/>
                </a:pPr>
                <a:r>
                  <a:rPr lang="en-US" sz="2200" b="0" i="0" dirty="0">
                    <a:latin typeface="+mn-lt"/>
                  </a:rPr>
                  <a:t>For example, for the identity matrix I, vector x is an eigenvector and +1 is an eigenvalue.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30544007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spectral decomposition theorem allows an operator to be expressed in a simpler form using its eigenvalues and eigenvectors.</a:t>
                </a:r>
              </a:p>
              <a:p>
                <a:pPr algn="just"/>
                <a:endParaRPr lang="en-ZA" dirty="0"/>
              </a:p>
              <a:p>
                <a:r>
                  <a:rPr lang="en-ZA" dirty="0"/>
                  <a:t>The theorem states that a normal operator in a Hilbert space can be expressed as a sum of its eigenvalues multiplied by the corresponding projectors onto its eigenspaces.</a:t>
                </a:r>
              </a:p>
              <a:p>
                <a:endParaRPr lang="en-ZA" dirty="0"/>
              </a:p>
              <a:p>
                <a:r>
                  <a:rPr lang="en-ZA" dirty="0"/>
                  <a:t>Eigenvectors corresponding to different eigenvalues are mutually orthogonal, and normal operators satisfy the condition </a:t>
                </a:r>
                <a14:m>
                  <m:oMath xmlns:m="http://schemas.openxmlformats.org/officeDocument/2006/math">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𝐴</m:t>
                    </m:r>
                    <m:sSup>
                      <m:sSupPr>
                        <m:ctrlPr>
                          <a:rPr lang="en-ZA" sz="1200" i="1">
                            <a:latin typeface="Cambria Math" panose="02040503050406030204" pitchFamily="18" charset="0"/>
                          </a:rPr>
                        </m:ctrlPr>
                      </m:s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latin typeface="Cambria Math" panose="02040503050406030204" pitchFamily="18" charset="0"/>
                          </a:rPr>
                        </m:ctrlPr>
                      </m:s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dirty="0"/>
                  <a:t>. Thus, a normal operator commutes with its conjugate transpose and has an orthonormal basis of eigenvectors. Consequently, its action can be completely described in terms of its eigenvalues and the corresponding projectors.</a:t>
                </a:r>
              </a:p>
            </p:txBody>
          </p:sp>
        </mc:Choice>
        <mc:Fallback xmlns="">
          <p:sp>
            <p:nvSpPr>
              <p:cNvPr id="3" name="Notes Placeholder 2"/>
              <p:cNvSpPr>
                <a:spLocks noGrp="1"/>
              </p:cNvSpPr>
              <p:nvPr>
                <p:ph type="body" idx="1"/>
              </p:nvPr>
            </p:nvSpPr>
            <p:spPr/>
            <p:txBody>
              <a:bodyPr/>
              <a:lstStyle/>
              <a:p>
                <a:pPr algn="just"/>
                <a:r>
                  <a:rPr lang="sr-Latn-RS" sz="1200" b="0" kern="1200" dirty="0">
                    <a:solidFill>
                      <a:schemeClr val="tx1"/>
                    </a:solidFill>
                    <a:effectLst/>
                    <a:latin typeface="+mn-lt"/>
                    <a:ea typeface="+mn-ea"/>
                    <a:cs typeface="+mn-cs"/>
                  </a:rPr>
                  <a:t>Teorema o spektralnoj dekompoziciji omogućava predstavljanje operatora preko </a:t>
                </a:r>
                <a:r>
                  <a:rPr lang="sr-Latn-RS" sz="1200" b="0" kern="1200" dirty="0" err="1">
                    <a:solidFill>
                      <a:schemeClr val="tx1"/>
                    </a:solidFill>
                    <a:effectLst/>
                    <a:latin typeface="+mn-lt"/>
                    <a:ea typeface="+mn-ea"/>
                    <a:cs typeface="+mn-cs"/>
                  </a:rPr>
                  <a:t>spektra</a:t>
                </a:r>
                <a:r>
                  <a:rPr lang="sr-Latn-RS" sz="1200" b="0" kern="1200" dirty="0">
                    <a:solidFill>
                      <a:schemeClr val="tx1"/>
                    </a:solidFill>
                    <a:effectLst/>
                    <a:latin typeface="+mn-lt"/>
                    <a:ea typeface="+mn-ea"/>
                    <a:cs typeface="+mn-cs"/>
                  </a:rPr>
                  <a:t> sopstvenih vrednosti i sopstvenih vektora. </a:t>
                </a:r>
                <a:r>
                  <a:rPr lang="en-ZA" b="0" dirty="0" err="1">
                    <a:solidFill>
                      <a:schemeClr val="tx1"/>
                    </a:solidFill>
                  </a:rPr>
                  <a:t>Dakle</a:t>
                </a:r>
                <a:r>
                  <a:rPr lang="en-ZA" b="0" dirty="0">
                    <a:solidFill>
                      <a:schemeClr val="tx1"/>
                    </a:solidFill>
                  </a:rPr>
                  <a:t>, operator </a:t>
                </a:r>
                <a:r>
                  <a:rPr lang="en-ZA" b="0" dirty="0" err="1">
                    <a:solidFill>
                      <a:schemeClr val="tx1"/>
                    </a:solidFill>
                  </a:rPr>
                  <a:t>razlaže</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proizvode</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vrednosti</a:t>
                </a:r>
                <a:r>
                  <a:rPr lang="en-ZA" b="0" dirty="0">
                    <a:solidFill>
                      <a:schemeClr val="tx1"/>
                    </a:solidFill>
                  </a:rPr>
                  <a:t> </a:t>
                </a:r>
                <a:r>
                  <a:rPr lang="en-ZA" b="0" dirty="0" err="1">
                    <a:solidFill>
                      <a:schemeClr val="tx1"/>
                    </a:solidFill>
                  </a:rPr>
                  <a:t>i</a:t>
                </a:r>
                <a:r>
                  <a:rPr lang="en-ZA" b="0" dirty="0">
                    <a:solidFill>
                      <a:schemeClr val="tx1"/>
                    </a:solidFill>
                  </a:rPr>
                  <a:t> </a:t>
                </a:r>
                <a:r>
                  <a:rPr lang="en-ZA" b="0" dirty="0" err="1">
                    <a:solidFill>
                      <a:schemeClr val="tx1"/>
                    </a:solidFill>
                  </a:rPr>
                  <a:t>odgovarajućih</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vektora</a:t>
                </a:r>
                <a:r>
                  <a:rPr lang="en-ZA" b="0" dirty="0">
                    <a:solidFill>
                      <a:schemeClr val="tx1"/>
                    </a:solidFill>
                  </a:rPr>
                  <a:t>. </a:t>
                </a:r>
              </a:p>
              <a:p>
                <a:pPr algn="just"/>
                <a:endParaRPr lang="en-ZA" sz="1200" b="0" kern="1200" dirty="0">
                  <a:solidFill>
                    <a:schemeClr val="tx1"/>
                  </a:solidFill>
                  <a:effectLst/>
                  <a:latin typeface="+mn-lt"/>
                  <a:ea typeface="+mn-ea"/>
                  <a:cs typeface="+mn-cs"/>
                </a:endParaRPr>
              </a:p>
              <a:p>
                <a:pPr algn="just"/>
                <a:r>
                  <a:rPr lang="en-ZA" b="0" dirty="0" err="1">
                    <a:solidFill>
                      <a:schemeClr val="tx1"/>
                    </a:solidFill>
                  </a:rPr>
                  <a:t>Teorema</a:t>
                </a:r>
                <a:r>
                  <a:rPr lang="en-ZA" b="0" dirty="0">
                    <a:solidFill>
                      <a:schemeClr val="tx1"/>
                    </a:solidFill>
                  </a:rPr>
                  <a:t> </a:t>
                </a:r>
                <a:r>
                  <a:rPr lang="en-ZA" b="0" dirty="0" err="1">
                    <a:solidFill>
                      <a:schemeClr val="tx1"/>
                    </a:solidFill>
                  </a:rPr>
                  <a:t>kaže</a:t>
                </a:r>
                <a:r>
                  <a:rPr lang="en-ZA" b="0" dirty="0">
                    <a:solidFill>
                      <a:schemeClr val="tx1"/>
                    </a:solidFill>
                  </a:rPr>
                  <a:t> da se </a:t>
                </a:r>
                <a:r>
                  <a:rPr lang="en-ZA" b="0" dirty="0" err="1">
                    <a:solidFill>
                      <a:schemeClr val="tx1"/>
                    </a:solidFill>
                  </a:rPr>
                  <a:t>svaki</a:t>
                </a:r>
                <a:r>
                  <a:rPr lang="en-ZA" b="0" dirty="0">
                    <a:solidFill>
                      <a:schemeClr val="tx1"/>
                    </a:solidFill>
                  </a:rPr>
                  <a:t> operator </a:t>
                </a:r>
                <a:r>
                  <a:rPr lang="en-ZA" b="0" dirty="0" err="1">
                    <a:solidFill>
                      <a:schemeClr val="tx1"/>
                    </a:solidFill>
                  </a:rPr>
                  <a:t>predstavljen</a:t>
                </a:r>
                <a:r>
                  <a:rPr lang="en-ZA" b="0" dirty="0">
                    <a:solidFill>
                      <a:schemeClr val="tx1"/>
                    </a:solidFill>
                  </a:rPr>
                  <a:t> </a:t>
                </a:r>
                <a:r>
                  <a:rPr lang="en-ZA" b="0" dirty="0" err="1">
                    <a:solidFill>
                      <a:schemeClr val="tx1"/>
                    </a:solidFill>
                  </a:rPr>
                  <a:t>normalnom</a:t>
                </a:r>
                <a:r>
                  <a:rPr lang="en-ZA" b="0" dirty="0">
                    <a:solidFill>
                      <a:schemeClr val="tx1"/>
                    </a:solidFill>
                  </a:rPr>
                  <a:t> </a:t>
                </a:r>
                <a:r>
                  <a:rPr lang="en-ZA" b="0" dirty="0" err="1">
                    <a:solidFill>
                      <a:schemeClr val="tx1"/>
                    </a:solidFill>
                  </a:rPr>
                  <a:t>matricom</a:t>
                </a:r>
                <a:r>
                  <a:rPr lang="en-ZA" b="0" dirty="0">
                    <a:solidFill>
                      <a:schemeClr val="tx1"/>
                    </a:solidFill>
                  </a:rPr>
                  <a:t>, </a:t>
                </a:r>
                <a:r>
                  <a:rPr lang="en-ZA" b="0" dirty="0" err="1">
                    <a:solidFill>
                      <a:schemeClr val="tx1"/>
                    </a:solidFill>
                  </a:rPr>
                  <a:t>dakle</a:t>
                </a:r>
                <a:r>
                  <a:rPr lang="en-ZA" b="0" dirty="0">
                    <a:solidFill>
                      <a:schemeClr val="tx1"/>
                    </a:solidFill>
                  </a:rPr>
                  <a:t> operator </a:t>
                </a:r>
                <a:r>
                  <a:rPr lang="en-ZA" b="0" dirty="0" err="1">
                    <a:solidFill>
                      <a:schemeClr val="tx1"/>
                    </a:solidFill>
                  </a:rPr>
                  <a:t>koji</a:t>
                </a:r>
                <a:r>
                  <a:rPr lang="en-ZA" b="0" dirty="0">
                    <a:solidFill>
                      <a:schemeClr val="tx1"/>
                    </a:solidFill>
                  </a:rPr>
                  <a:t> </a:t>
                </a:r>
                <a:r>
                  <a:rPr lang="en-ZA" b="0" dirty="0" err="1">
                    <a:solidFill>
                      <a:schemeClr val="tx1"/>
                    </a:solidFill>
                  </a:rPr>
                  <a:t>zadovoljava</a:t>
                </a:r>
                <a:r>
                  <a:rPr lang="en-ZA" b="0" dirty="0">
                    <a:solidFill>
                      <a:schemeClr val="tx1"/>
                    </a:solidFill>
                  </a:rPr>
                  <a:t> </a:t>
                </a:r>
                <a:r>
                  <a:rPr lang="en-ZA" b="0" dirty="0" err="1">
                    <a:solidFill>
                      <a:schemeClr val="tx1"/>
                    </a:solidFill>
                  </a:rPr>
                  <a:t>uslov</a:t>
                </a:r>
                <a:r>
                  <a:rPr lang="en-ZA" b="0" dirty="0">
                    <a:solidFill>
                      <a:schemeClr val="tx1"/>
                    </a:solidFill>
                  </a:rPr>
                  <a:t> </a:t>
                </a:r>
                <a:r>
                  <a:rPr lang="sr-Latn-RS" sz="1200" b="0" i="0" kern="1200">
                    <a:solidFill>
                      <a:schemeClr val="tx1"/>
                    </a:solidFill>
                    <a:effectLst/>
                    <a:latin typeface="Cambria Math" panose="02040503050406030204" pitchFamily="18" charset="0"/>
                    <a:ea typeface="+mn-ea"/>
                    <a:cs typeface="+mn-cs"/>
                  </a:rPr>
                  <a:t>𝐴𝐴</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†=𝐴</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 𝐴</a:t>
                </a:r>
                <a:r>
                  <a:rPr lang="en-ZA" b="0" dirty="0">
                    <a:solidFill>
                      <a:schemeClr val="tx1"/>
                    </a:solidFill>
                  </a:rPr>
                  <a:t>, </a:t>
                </a:r>
                <a:r>
                  <a:rPr lang="en-ZA" b="0" dirty="0" err="1">
                    <a:solidFill>
                      <a:schemeClr val="tx1"/>
                    </a:solidFill>
                  </a:rPr>
                  <a:t>može</a:t>
                </a:r>
                <a:r>
                  <a:rPr lang="en-ZA" b="0" dirty="0">
                    <a:solidFill>
                      <a:schemeClr val="tx1"/>
                    </a:solidFill>
                  </a:rPr>
                  <a:t> </a:t>
                </a:r>
                <a:r>
                  <a:rPr lang="en-ZA" b="0" dirty="0" err="1">
                    <a:solidFill>
                      <a:schemeClr val="tx1"/>
                    </a:solidFill>
                  </a:rPr>
                  <a:t>razložiti</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proizvod</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vrednosti</a:t>
                </a:r>
                <a:r>
                  <a:rPr lang="en-ZA" b="0" dirty="0">
                    <a:solidFill>
                      <a:schemeClr val="tx1"/>
                    </a:solidFill>
                  </a:rPr>
                  <a:t> </a:t>
                </a:r>
                <a:r>
                  <a:rPr lang="en-ZA" b="0" dirty="0" err="1">
                    <a:solidFill>
                      <a:schemeClr val="tx1"/>
                    </a:solidFill>
                  </a:rPr>
                  <a:t>sa</a:t>
                </a:r>
                <a:r>
                  <a:rPr lang="en-ZA" b="0" dirty="0">
                    <a:solidFill>
                      <a:schemeClr val="tx1"/>
                    </a:solidFill>
                  </a:rPr>
                  <a:t> </a:t>
                </a:r>
                <a:r>
                  <a:rPr lang="en-ZA" b="0" dirty="0" err="1">
                    <a:solidFill>
                      <a:schemeClr val="tx1"/>
                    </a:solidFill>
                  </a:rPr>
                  <a:t>projekcionim</a:t>
                </a:r>
                <a:r>
                  <a:rPr lang="en-ZA" b="0" dirty="0">
                    <a:solidFill>
                      <a:schemeClr val="tx1"/>
                    </a:solidFill>
                  </a:rPr>
                  <a:t> </a:t>
                </a:r>
                <a:r>
                  <a:rPr lang="en-ZA" b="0" dirty="0" err="1">
                    <a:solidFill>
                      <a:schemeClr val="tx1"/>
                    </a:solidFill>
                  </a:rPr>
                  <a:t>operatorima</a:t>
                </a:r>
                <a:r>
                  <a:rPr lang="en-ZA" b="0" dirty="0">
                    <a:solidFill>
                      <a:schemeClr val="tx1"/>
                    </a:solidFill>
                  </a:rPr>
                  <a:t> </a:t>
                </a:r>
                <a:r>
                  <a:rPr lang="en-ZA" b="0" dirty="0" err="1">
                    <a:solidFill>
                      <a:schemeClr val="tx1"/>
                    </a:solidFill>
                  </a:rPr>
                  <a:t>koji</a:t>
                </a:r>
                <a:r>
                  <a:rPr lang="en-ZA" b="0" dirty="0">
                    <a:solidFill>
                      <a:schemeClr val="tx1"/>
                    </a:solidFill>
                  </a:rPr>
                  <a:t> </a:t>
                </a:r>
                <a:r>
                  <a:rPr lang="en-ZA" b="0" dirty="0" err="1">
                    <a:solidFill>
                      <a:schemeClr val="tx1"/>
                    </a:solidFill>
                  </a:rPr>
                  <a:t>izdvajaju</a:t>
                </a:r>
                <a:r>
                  <a:rPr lang="en-ZA" b="0" dirty="0">
                    <a:solidFill>
                      <a:schemeClr val="tx1"/>
                    </a:solidFill>
                  </a:rPr>
                  <a:t> </a:t>
                </a:r>
                <a:r>
                  <a:rPr lang="en-ZA" b="0" dirty="0" err="1">
                    <a:solidFill>
                      <a:schemeClr val="tx1"/>
                    </a:solidFill>
                  </a:rPr>
                  <a:t>komponente</a:t>
                </a:r>
                <a:r>
                  <a:rPr lang="en-ZA" b="0" dirty="0">
                    <a:solidFill>
                      <a:schemeClr val="tx1"/>
                    </a:solidFill>
                  </a:rPr>
                  <a:t> </a:t>
                </a:r>
                <a:r>
                  <a:rPr lang="en-ZA" b="0" dirty="0" err="1">
                    <a:solidFill>
                      <a:schemeClr val="tx1"/>
                    </a:solidFill>
                  </a:rPr>
                  <a:t>vektora</a:t>
                </a:r>
                <a:r>
                  <a:rPr lang="en-ZA" b="0" dirty="0">
                    <a:solidFill>
                      <a:schemeClr val="tx1"/>
                    </a:solidFill>
                  </a:rPr>
                  <a:t> u </a:t>
                </a:r>
                <a:r>
                  <a:rPr lang="en-ZA" b="0" dirty="0" err="1">
                    <a:solidFill>
                      <a:schemeClr val="tx1"/>
                    </a:solidFill>
                  </a:rPr>
                  <a:t>pravcu</a:t>
                </a:r>
                <a:r>
                  <a:rPr lang="en-ZA" b="0" dirty="0">
                    <a:solidFill>
                      <a:schemeClr val="tx1"/>
                    </a:solidFill>
                  </a:rPr>
                  <a:t> </a:t>
                </a:r>
                <a:r>
                  <a:rPr lang="en-ZA" b="0" dirty="0" err="1">
                    <a:solidFill>
                      <a:schemeClr val="tx1"/>
                    </a:solidFill>
                  </a:rPr>
                  <a:t>odgovarajućih</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vektora</a:t>
                </a:r>
                <a:r>
                  <a:rPr lang="en-ZA" b="0" dirty="0">
                    <a:solidFill>
                      <a:schemeClr val="tx1"/>
                    </a:solidFill>
                  </a:rPr>
                  <a:t>. </a:t>
                </a:r>
              </a:p>
              <a:p>
                <a:pPr algn="just"/>
                <a:endParaRPr lang="en-ZA" b="0" dirty="0">
                  <a:solidFill>
                    <a:schemeClr val="tx1"/>
                  </a:solidFill>
                </a:endParaRPr>
              </a:p>
              <a:p>
                <a:pPr algn="just"/>
                <a:r>
                  <a:rPr lang="en-ZA" b="0" dirty="0">
                    <a:solidFill>
                      <a:schemeClr val="tx1"/>
                    </a:solidFill>
                  </a:rPr>
                  <a:t>U </a:t>
                </a:r>
                <a:r>
                  <a:rPr lang="en-ZA" b="0" dirty="0" err="1">
                    <a:solidFill>
                      <a:schemeClr val="tx1"/>
                    </a:solidFill>
                  </a:rPr>
                  <a:t>suštini</a:t>
                </a:r>
                <a:r>
                  <a:rPr lang="en-ZA" b="0" dirty="0">
                    <a:solidFill>
                      <a:schemeClr val="tx1"/>
                    </a:solidFill>
                  </a:rPr>
                  <a:t>, </a:t>
                </a:r>
                <a:r>
                  <a:rPr lang="en-ZA" b="0" dirty="0" err="1">
                    <a:solidFill>
                      <a:schemeClr val="tx1"/>
                    </a:solidFill>
                  </a:rPr>
                  <a:t>teorema</a:t>
                </a:r>
                <a:r>
                  <a:rPr lang="en-ZA" b="0" dirty="0">
                    <a:solidFill>
                      <a:schemeClr val="tx1"/>
                    </a:solidFill>
                  </a:rPr>
                  <a:t> </a:t>
                </a:r>
                <a:r>
                  <a:rPr lang="en-ZA" b="0" dirty="0" err="1">
                    <a:solidFill>
                      <a:schemeClr val="tx1"/>
                    </a:solidFill>
                  </a:rPr>
                  <a:t>pomaže</a:t>
                </a:r>
                <a:r>
                  <a:rPr lang="en-ZA" b="0" dirty="0">
                    <a:solidFill>
                      <a:schemeClr val="tx1"/>
                    </a:solidFill>
                  </a:rPr>
                  <a:t> da se </a:t>
                </a:r>
                <a:r>
                  <a:rPr lang="en-ZA" b="0" dirty="0" err="1">
                    <a:solidFill>
                      <a:schemeClr val="tx1"/>
                    </a:solidFill>
                  </a:rPr>
                  <a:t>kompleksni</a:t>
                </a:r>
                <a:r>
                  <a:rPr lang="en-ZA" b="0" dirty="0">
                    <a:solidFill>
                      <a:schemeClr val="tx1"/>
                    </a:solidFill>
                  </a:rPr>
                  <a:t> </a:t>
                </a:r>
                <a:r>
                  <a:rPr lang="en-ZA" b="0" dirty="0" err="1">
                    <a:solidFill>
                      <a:schemeClr val="tx1"/>
                    </a:solidFill>
                  </a:rPr>
                  <a:t>operatori</a:t>
                </a:r>
                <a:r>
                  <a:rPr lang="en-ZA" b="0" dirty="0">
                    <a:solidFill>
                      <a:schemeClr val="tx1"/>
                    </a:solidFill>
                  </a:rPr>
                  <a:t> </a:t>
                </a:r>
                <a:r>
                  <a:rPr lang="en-ZA" b="0" dirty="0" err="1">
                    <a:solidFill>
                      <a:schemeClr val="tx1"/>
                    </a:solidFill>
                  </a:rPr>
                  <a:t>svedu</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jednostavne</a:t>
                </a:r>
                <a:r>
                  <a:rPr lang="en-ZA" b="0" dirty="0">
                    <a:solidFill>
                      <a:schemeClr val="tx1"/>
                    </a:solidFill>
                  </a:rPr>
                  <a:t> </a:t>
                </a:r>
                <a:r>
                  <a:rPr lang="en-ZA" b="0" dirty="0" err="1">
                    <a:solidFill>
                      <a:schemeClr val="tx1"/>
                    </a:solidFill>
                  </a:rPr>
                  <a:t>komponente</a:t>
                </a:r>
                <a:r>
                  <a:rPr lang="en-ZA" b="0" dirty="0">
                    <a:solidFill>
                      <a:schemeClr val="tx1"/>
                    </a:solidFill>
                  </a:rPr>
                  <a:t>, </a:t>
                </a:r>
                <a:r>
                  <a:rPr lang="en-ZA" b="0" dirty="0" err="1">
                    <a:solidFill>
                      <a:schemeClr val="tx1"/>
                    </a:solidFill>
                  </a:rPr>
                  <a:t>omogućavajući</a:t>
                </a:r>
                <a:r>
                  <a:rPr lang="en-ZA" b="0" dirty="0">
                    <a:solidFill>
                      <a:schemeClr val="tx1"/>
                    </a:solidFill>
                  </a:rPr>
                  <a:t> </a:t>
                </a:r>
                <a:r>
                  <a:rPr lang="en-ZA" b="0" dirty="0" err="1">
                    <a:solidFill>
                      <a:schemeClr val="tx1"/>
                    </a:solidFill>
                  </a:rPr>
                  <a:t>efikasnije</a:t>
                </a:r>
                <a:r>
                  <a:rPr lang="en-ZA" b="0" dirty="0">
                    <a:solidFill>
                      <a:schemeClr val="tx1"/>
                    </a:solidFill>
                  </a:rPr>
                  <a:t> </a:t>
                </a:r>
                <a:r>
                  <a:rPr lang="en-ZA" b="0" dirty="0" err="1">
                    <a:solidFill>
                      <a:schemeClr val="tx1"/>
                    </a:solidFill>
                  </a:rPr>
                  <a:t>računanje</a:t>
                </a:r>
                <a:r>
                  <a:rPr lang="en-ZA" b="0" dirty="0">
                    <a:solidFill>
                      <a:schemeClr val="tx1"/>
                    </a:solidFill>
                  </a:rPr>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1784983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dirty="0"/>
                  <a:t>One of the basic principles of quantum mechanics is </a:t>
                </a:r>
                <a:r>
                  <a:rPr lang="en-ZA" sz="1200" b="1" dirty="0" err="1"/>
                  <a:t>Born’s</a:t>
                </a:r>
                <a:r>
                  <a:rPr lang="en-ZA" sz="1200" b="1" dirty="0"/>
                  <a:t> rule</a:t>
                </a:r>
                <a:r>
                  <a:rPr lang="en-ZA" sz="1200" dirty="0"/>
                  <a:t>, which describes what happens when a quantum state is measured.</a:t>
                </a:r>
              </a:p>
              <a:p>
                <a:pPr algn="just"/>
                <a:endParaRPr lang="en-ZA" sz="500" dirty="0"/>
              </a:p>
              <a:p>
                <a:pPr algn="just"/>
                <a:r>
                  <a:rPr lang="en-ZA" sz="1200" dirty="0"/>
                  <a:t>Consider a qubit in the state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r>
                      <a:rPr lang="en-US" sz="1200" i="1">
                        <a:latin typeface="Cambria Math" panose="02040503050406030204" pitchFamily="18" charset="0"/>
                      </a:rPr>
                      <m:t>𝑎</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m:t>
                    </m:r>
                    <m:r>
                      <a:rPr lang="en-US" sz="1200" i="1">
                        <a:latin typeface="Cambria Math" panose="02040503050406030204" pitchFamily="18" charset="0"/>
                      </a:rPr>
                      <m:t>𝑏</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oMath>
                </a14:m>
                <a:r>
                  <a:rPr lang="en-ZA" sz="1200" dirty="0"/>
                  <a:t>. A simple way to picture this state is to imagine a spinning coin whose two sides are marked 0 and 1. While the coin is spinning, it can be used as an analogy for a qubit in superposition. The coefficient </a:t>
                </a:r>
                <a14:m>
                  <m:oMath xmlns:m="http://schemas.openxmlformats.org/officeDocument/2006/math">
                    <m:r>
                      <a:rPr lang="en-US" sz="1200" i="1">
                        <a:latin typeface="Cambria Math" panose="02040503050406030204" pitchFamily="18" charset="0"/>
                      </a:rPr>
                      <m:t>𝑎</m:t>
                    </m:r>
                  </m:oMath>
                </a14:m>
                <a:r>
                  <a:rPr lang="en-ZA" sz="1200" dirty="0"/>
                  <a:t> can be thought of as a weight associated with 0, and </a:t>
                </a:r>
                <a14:m>
                  <m:oMath xmlns:m="http://schemas.openxmlformats.org/officeDocument/2006/math">
                    <m:r>
                      <a:rPr lang="en-US" sz="1200" b="0" i="1" smtClean="0">
                        <a:latin typeface="Cambria Math" panose="02040503050406030204" pitchFamily="18" charset="0"/>
                      </a:rPr>
                      <m:t>𝑏</m:t>
                    </m:r>
                  </m:oMath>
                </a14:m>
                <a:r>
                  <a:rPr lang="en-ZA" sz="1200" dirty="0"/>
                  <a:t> as a weight associated with 1.</a:t>
                </a:r>
              </a:p>
              <a:p>
                <a:pPr algn="just"/>
                <a:endParaRPr lang="en-ZA" sz="500" dirty="0"/>
              </a:p>
              <a:p>
                <a:pPr algn="just"/>
                <a:r>
                  <a:rPr lang="en-ZA" sz="1200" dirty="0"/>
                  <a:t>Now suppose the spinning coin is touched and caused to fall. It must land on either 0 or 1, with the outcome influenced by the weights </a:t>
                </a:r>
                <a14:m>
                  <m:oMath xmlns:m="http://schemas.openxmlformats.org/officeDocument/2006/math">
                    <m:r>
                      <a:rPr lang="en-US" sz="1200" i="1">
                        <a:latin typeface="Cambria Math" panose="02040503050406030204" pitchFamily="18" charset="0"/>
                      </a:rPr>
                      <m:t>𝑎</m:t>
                    </m:r>
                  </m:oMath>
                </a14:m>
                <a:r>
                  <a:rPr lang="en-ZA" sz="1200" dirty="0"/>
                  <a:t> and </a:t>
                </a:r>
                <a14:m>
                  <m:oMath xmlns:m="http://schemas.openxmlformats.org/officeDocument/2006/math">
                    <m:r>
                      <a:rPr lang="en-US" sz="1200" b="0" i="1" smtClean="0">
                        <a:latin typeface="Cambria Math" panose="02040503050406030204" pitchFamily="18" charset="0"/>
                      </a:rPr>
                      <m:t>𝑏</m:t>
                    </m:r>
                  </m:oMath>
                </a14:m>
                <a:r>
                  <a:rPr lang="en-ZA" sz="1200" dirty="0"/>
                  <a:t>.</a:t>
                </a:r>
              </a:p>
              <a:p>
                <a:pPr algn="just"/>
                <a:endParaRPr lang="en-ZA" sz="1200" dirty="0"/>
              </a:p>
              <a:p>
                <a:pPr algn="just"/>
                <a:r>
                  <a:rPr lang="en-ZA" dirty="0"/>
                  <a:t>In the 1920s, German physicist Max Born introduced</a:t>
                </a:r>
                <a:r>
                  <a:rPr lang="en-ZA" sz="1200" dirty="0"/>
                  <a:t> introduced the rule that connects these coefficients with measurement probabilities. </a:t>
                </a:r>
                <a:r>
                  <a:rPr lang="en-ZA" sz="1200" dirty="0" err="1"/>
                  <a:t>Born’s</a:t>
                </a:r>
                <a:r>
                  <a:rPr lang="en-ZA" sz="1200" dirty="0"/>
                  <a:t> rule states that, in the quantum world, the probability </a:t>
                </a:r>
                <a14:m>
                  <m:oMath xmlns:m="http://schemas.openxmlformats.org/officeDocument/2006/math">
                    <m:r>
                      <a:rPr lang="en-US" sz="1200" i="1">
                        <a:latin typeface="Cambria Math" panose="02040503050406030204" pitchFamily="18" charset="0"/>
                      </a:rPr>
                      <m:t>𝑝</m:t>
                    </m:r>
                  </m:oMath>
                </a14:m>
                <a:r>
                  <a:rPr lang="en-ZA" sz="1200" dirty="0"/>
                  <a:t> of an outcome is given by the squared modulus of its probability amplitude. Therefore,</a:t>
                </a:r>
                <a:endParaRPr lang="en-ZA" sz="500" dirty="0"/>
              </a:p>
              <a:p>
                <a:pPr algn="just"/>
                <a:endParaRPr lang="en-ZA" sz="500" dirty="0"/>
              </a:p>
              <a:p>
                <a:pPr algn="just"/>
                <a14:m>
                  <m:oMathPara xmlns:m="http://schemas.openxmlformats.org/officeDocument/2006/math">
                    <m:oMathParaPr>
                      <m:jc m:val="centerGroup"/>
                    </m:oMathParaPr>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m:t>
                          </m:r>
                          <m:r>
                            <a:rPr lang="en-US" sz="1200" i="1">
                              <a:latin typeface="Cambria Math" panose="02040503050406030204" pitchFamily="18" charset="0"/>
                            </a:rPr>
                            <m:t>𝑎</m:t>
                          </m:r>
                          <m:r>
                            <a:rPr lang="en-US" sz="1200" i="1">
                              <a:latin typeface="Cambria Math" panose="02040503050406030204" pitchFamily="18" charset="0"/>
                            </a:rPr>
                            <m:t>|</m:t>
                          </m:r>
                        </m:e>
                        <m:sup>
                          <m:r>
                            <a:rPr lang="en-US" sz="1200" i="1">
                              <a:latin typeface="Cambria Math" panose="02040503050406030204" pitchFamily="18" charset="0"/>
                            </a:rPr>
                            <m:t>2</m:t>
                          </m:r>
                        </m:sup>
                      </m:sSup>
                      <m:r>
                        <a:rPr lang="en-US" sz="1200" b="0" i="0" smtClean="0">
                          <a:latin typeface="Cambria Math" panose="02040503050406030204" pitchFamily="18" charset="0"/>
                        </a:rPr>
                        <m:t>,</m:t>
                      </m:r>
                      <m:r>
                        <a:rPr lang="en-US" sz="1200" b="0" i="1" smtClean="0">
                          <a:latin typeface="Cambria Math" panose="02040503050406030204" pitchFamily="18" charset="0"/>
                        </a:rPr>
                        <m:t>  </m:t>
                      </m:r>
                      <m:sSup>
                        <m:sSupPr>
                          <m:ctrlPr>
                            <a:rPr lang="en-US" sz="1200" i="1">
                              <a:latin typeface="Cambria Math" panose="02040503050406030204" pitchFamily="18" charset="0"/>
                            </a:rPr>
                          </m:ctrlPr>
                        </m:sSupPr>
                        <m:e>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i="1">
                              <a:latin typeface="Cambria Math" panose="02040503050406030204" pitchFamily="18" charset="0"/>
                            </a:rPr>
                            <m:t>=|</m:t>
                          </m:r>
                          <m:r>
                            <a:rPr lang="en-US" sz="1200" b="0" i="1" smtClean="0">
                              <a:latin typeface="Cambria Math" panose="02040503050406030204" pitchFamily="18" charset="0"/>
                            </a:rPr>
                            <m:t>𝑏</m:t>
                          </m:r>
                          <m:r>
                            <a:rPr lang="en-US" sz="1200" i="1">
                              <a:latin typeface="Cambria Math" panose="02040503050406030204" pitchFamily="18" charset="0"/>
                            </a:rPr>
                            <m:t>|</m:t>
                          </m:r>
                        </m:e>
                        <m:sup>
                          <m:r>
                            <a:rPr lang="en-US" sz="1200" i="1">
                              <a:latin typeface="Cambria Math" panose="02040503050406030204" pitchFamily="18" charset="0"/>
                            </a:rPr>
                            <m:t>2</m:t>
                          </m:r>
                        </m:sup>
                      </m:sSup>
                    </m:oMath>
                  </m:oMathPara>
                </a14:m>
                <a:endParaRPr lang="en-ZA" sz="1200" dirty="0"/>
              </a:p>
              <a:p>
                <a:pPr algn="just"/>
                <a:endParaRPr lang="en-ZA" sz="500" dirty="0"/>
              </a:p>
              <a:p>
                <a:pPr algn="just"/>
                <a:r>
                  <a:rPr lang="en-ZA" sz="1200" dirty="0"/>
                  <a:t>For example, a larger value of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m:t>
                        </m:r>
                        <m:r>
                          <a:rPr lang="en-US" sz="1200" i="1">
                            <a:latin typeface="Cambria Math" panose="02040503050406030204" pitchFamily="18" charset="0"/>
                          </a:rPr>
                          <m:t>𝑎</m:t>
                        </m:r>
                        <m:r>
                          <a:rPr lang="en-US" sz="1200" i="1">
                            <a:latin typeface="Cambria Math" panose="02040503050406030204" pitchFamily="18" charset="0"/>
                          </a:rPr>
                          <m:t>|</m:t>
                        </m:r>
                      </m:e>
                      <m:sup>
                        <m:r>
                          <a:rPr lang="en-US" sz="1200" i="1">
                            <a:latin typeface="Cambria Math" panose="02040503050406030204" pitchFamily="18" charset="0"/>
                          </a:rPr>
                          <m:t>2</m:t>
                        </m:r>
                      </m:sup>
                    </m:sSup>
                  </m:oMath>
                </a14:m>
                <a:r>
                  <a:rPr lang="en-ZA" sz="1200" dirty="0"/>
                  <a:t> means that 0 is more likely to be observed, while a larger value of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m:t>
                        </m:r>
                        <m:r>
                          <a:rPr lang="en-US" sz="1200" b="0" i="1" smtClean="0">
                            <a:latin typeface="Cambria Math" panose="02040503050406030204" pitchFamily="18" charset="0"/>
                          </a:rPr>
                          <m:t>𝑏</m:t>
                        </m:r>
                        <m:r>
                          <a:rPr lang="en-US" sz="1200" i="1">
                            <a:latin typeface="Cambria Math" panose="02040503050406030204" pitchFamily="18" charset="0"/>
                          </a:rPr>
                          <m:t>|</m:t>
                        </m:r>
                      </m:e>
                      <m:sup>
                        <m:r>
                          <a:rPr lang="en-US" sz="1200" i="1">
                            <a:latin typeface="Cambria Math" panose="02040503050406030204" pitchFamily="18" charset="0"/>
                          </a:rPr>
                          <m:t>2</m:t>
                        </m:r>
                      </m:sup>
                    </m:sSup>
                  </m:oMath>
                </a14:m>
                <a:r>
                  <a:rPr lang="en-ZA" sz="1200" dirty="0"/>
                  <a:t> makes 1 more likely. The coefficients </a:t>
                </a:r>
                <a14:m>
                  <m:oMath xmlns:m="http://schemas.openxmlformats.org/officeDocument/2006/math">
                    <m:r>
                      <a:rPr lang="en-US" sz="1200" i="1">
                        <a:latin typeface="Cambria Math" panose="02040503050406030204" pitchFamily="18" charset="0"/>
                      </a:rPr>
                      <m:t>𝑎</m:t>
                    </m:r>
                  </m:oMath>
                </a14:m>
                <a:r>
                  <a:rPr lang="en-ZA" sz="1200" dirty="0"/>
                  <a:t> and </a:t>
                </a:r>
                <a14:m>
                  <m:oMath xmlns:m="http://schemas.openxmlformats.org/officeDocument/2006/math">
                    <m:r>
                      <a:rPr lang="en-US" sz="1200" b="0" i="1" smtClean="0">
                        <a:latin typeface="Cambria Math" panose="02040503050406030204" pitchFamily="18" charset="0"/>
                      </a:rPr>
                      <m:t>𝑏</m:t>
                    </m:r>
                  </m:oMath>
                </a14:m>
                <a:r>
                  <a:rPr lang="en-ZA" sz="1200" dirty="0"/>
                  <a:t> are therefore called </a:t>
                </a:r>
                <a:r>
                  <a:rPr lang="en-ZA" sz="1200" b="1" dirty="0"/>
                  <a:t>probability amplitudes</a:t>
                </a:r>
                <a:r>
                  <a:rPr lang="en-ZA" sz="1200" dirty="0"/>
                  <a:t>.</a:t>
                </a:r>
              </a:p>
              <a:p>
                <a:pPr algn="just"/>
                <a:endParaRPr lang="en-ZA" sz="500" dirty="0"/>
              </a:p>
              <a:p>
                <a:pPr algn="just"/>
                <a:r>
                  <a:rPr lang="en-ZA" sz="1200" dirty="0"/>
                  <a:t>The modulus is important because probability amplitudes can be complex numbers, while probabilities must be real and non-negative. Taking the squared modulus produces a valid probability from each amplitude.</a:t>
                </a:r>
              </a:p>
              <a:p>
                <a:pPr algn="just"/>
                <a:endParaRPr lang="en-ZA" sz="500" dirty="0"/>
              </a:p>
              <a:p>
                <a:pPr algn="just"/>
                <a:r>
                  <a:rPr lang="en-ZA" sz="1200" dirty="0"/>
                  <a:t>Since measurement must produce either 0 or 1, the probabilities of these two outcomes must add up to 1:</a:t>
                </a:r>
              </a:p>
              <a:p>
                <a:pPr algn="just"/>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=1</m:t>
                      </m:r>
                    </m:oMath>
                  </m:oMathPara>
                </a14:m>
                <a:endParaRPr lang="en-ZA" sz="1200" dirty="0"/>
              </a:p>
              <a:p>
                <a:pPr algn="just"/>
                <a:r>
                  <a:rPr lang="en-ZA" sz="1200" dirty="0"/>
                  <a:t>Using </a:t>
                </a:r>
                <a:r>
                  <a:rPr lang="en-ZA" sz="1200" dirty="0" err="1"/>
                  <a:t>Born’s</a:t>
                </a:r>
                <a:r>
                  <a:rPr lang="en-ZA" sz="1200" dirty="0"/>
                  <a:t> rule, this becomes</a:t>
                </a:r>
              </a:p>
              <a:p>
                <a:pPr algn="just"/>
                <a14:m>
                  <m:oMathPara xmlns:m="http://schemas.openxmlformats.org/officeDocument/2006/math">
                    <m:oMathParaPr>
                      <m:jc m:val="centerGroup"/>
                    </m:oMathParaPr>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m:t>
                          </m:r>
                          <m:r>
                            <a:rPr lang="en-US" sz="1200" i="1">
                              <a:latin typeface="Cambria Math" panose="02040503050406030204" pitchFamily="18" charset="0"/>
                            </a:rPr>
                            <m:t>𝑎</m:t>
                          </m:r>
                          <m:r>
                            <a:rPr lang="en-US" sz="1200" i="1">
                              <a:latin typeface="Cambria Math" panose="02040503050406030204" pitchFamily="18" charset="0"/>
                            </a:rPr>
                            <m:t>|</m:t>
                          </m:r>
                        </m:e>
                        <m:sup>
                          <m:r>
                            <a:rPr lang="en-US" sz="1200" i="1">
                              <a:latin typeface="Cambria Math" panose="02040503050406030204" pitchFamily="18" charset="0"/>
                            </a:rPr>
                            <m:t>2</m:t>
                          </m:r>
                        </m:sup>
                      </m:sSup>
                      <m:r>
                        <a:rPr lang="en-US" sz="1200" b="0" i="1" smtClean="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m:t>
                          </m:r>
                          <m:r>
                            <a:rPr lang="en-US" sz="1200" b="0" i="1" smtClean="0">
                              <a:latin typeface="Cambria Math" panose="02040503050406030204" pitchFamily="18" charset="0"/>
                            </a:rPr>
                            <m:t>𝑏</m:t>
                          </m:r>
                          <m:r>
                            <a:rPr lang="en-US" sz="1200" i="1">
                              <a:latin typeface="Cambria Math" panose="02040503050406030204" pitchFamily="18" charset="0"/>
                            </a:rPr>
                            <m:t>|</m:t>
                          </m:r>
                        </m:e>
                        <m:sup>
                          <m:r>
                            <a:rPr lang="en-US" sz="1200" i="1">
                              <a:latin typeface="Cambria Math" panose="02040503050406030204" pitchFamily="18" charset="0"/>
                            </a:rPr>
                            <m:t>2</m:t>
                          </m:r>
                        </m:sup>
                      </m:sSup>
                      <m:r>
                        <a:rPr lang="en-US" sz="1200" b="0" i="1" smtClean="0">
                          <a:latin typeface="Cambria Math" panose="02040503050406030204" pitchFamily="18" charset="0"/>
                        </a:rPr>
                        <m:t>=1</m:t>
                      </m:r>
                    </m:oMath>
                  </m:oMathPara>
                </a14:m>
                <a:endParaRPr lang="en-ZA" sz="1200" dirty="0"/>
              </a:p>
              <a:p>
                <a:pPr algn="just"/>
                <a:endParaRPr lang="en-ZA" sz="500" dirty="0"/>
              </a:p>
              <a:p>
                <a:pPr algn="just"/>
                <a:r>
                  <a:rPr lang="en-ZA" sz="1200" dirty="0"/>
                  <a:t>This is the normalization condition introduced earlier from the geometric vector model. </a:t>
                </a:r>
                <a:r>
                  <a:rPr lang="en-ZA" sz="1200" dirty="0" err="1"/>
                  <a:t>Born’s</a:t>
                </a:r>
                <a:r>
                  <a:rPr lang="en-ZA" sz="1200" dirty="0"/>
                  <a:t> rule now gives it a physical meaning: it ensures that the probabilities of all possible measurement outcomes add up to 1.</a:t>
                </a:r>
              </a:p>
              <a:p>
                <a:pPr algn="just"/>
                <a:endParaRPr lang="en-ZA" sz="500" dirty="0"/>
              </a:p>
              <a:p>
                <a:pPr algn="just"/>
                <a:r>
                  <a:rPr lang="en-ZA" sz="1200" dirty="0"/>
                  <a:t>Once the qubit has been measured, its state corresponds to the observed outcome. If the result is 0, the state becomes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oMath>
                </a14:m>
                <a:r>
                  <a:rPr lang="en-ZA" sz="1200" dirty="0"/>
                  <a:t>; if the result is 1, it becomes </a:t>
                </a:r>
                <a14:m>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oMath>
                </a14:m>
                <a:r>
                  <a:rPr lang="en-ZA" sz="1200" dirty="0"/>
                  <a:t>. </a:t>
                </a:r>
              </a:p>
              <a:p>
                <a:pPr algn="just"/>
                <a:endParaRPr lang="en-ZA" sz="1200" dirty="0"/>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a:solidFill>
                      <a:schemeClr val="tx1"/>
                    </a:solidFill>
                    <a:effectLst/>
                    <a:latin typeface="+mn-lt"/>
                    <a:ea typeface="+mn-ea"/>
                    <a:cs typeface="+mn-cs"/>
                  </a:rPr>
                  <a:t>In our first model, imagine qubit as a coin inside a quantum box. For the purpose of our model, 0-side of the coin represents a qubit state </a:t>
                </a:r>
                <a:r>
                  <a:rPr lang="en-US" sz="2000" i="0" kern="1200">
                    <a:solidFill>
                      <a:schemeClr val="tx1"/>
                    </a:solidFill>
                    <a:effectLst/>
                    <a:latin typeface="+mn-lt"/>
                    <a:ea typeface="+mn-ea"/>
                    <a:cs typeface="+mn-cs"/>
                  </a:rPr>
                  <a:t>|0⟩</a:t>
                </a:r>
                <a:r>
                  <a:rPr lang="en-US" sz="2000" kern="1200" dirty="0">
                    <a:solidFill>
                      <a:schemeClr val="tx1"/>
                    </a:solidFill>
                    <a:effectLst/>
                    <a:latin typeface="+mn-lt"/>
                    <a:ea typeface="+mn-ea"/>
                    <a:cs typeface="+mn-cs"/>
                  </a:rPr>
                  <a:t> and 1-side</a:t>
                </a:r>
                <a:r>
                  <a:rPr lang="en-US" sz="2000" kern="1200" baseline="0" dirty="0">
                    <a:solidFill>
                      <a:schemeClr val="tx1"/>
                    </a:solidFill>
                    <a:effectLst/>
                    <a:latin typeface="+mn-lt"/>
                    <a:ea typeface="+mn-ea"/>
                    <a:cs typeface="+mn-cs"/>
                  </a:rPr>
                  <a:t> of the coin</a:t>
                </a:r>
                <a:r>
                  <a:rPr lang="en-US" sz="2000" kern="1200" dirty="0">
                    <a:solidFill>
                      <a:schemeClr val="tx1"/>
                    </a:solidFill>
                    <a:effectLst/>
                    <a:latin typeface="+mn-lt"/>
                    <a:ea typeface="+mn-ea"/>
                    <a:cs typeface="+mn-cs"/>
                  </a:rPr>
                  <a:t> represents a qubit state </a:t>
                </a:r>
                <a:r>
                  <a:rPr lang="en-US" sz="2000" i="0" kern="1200">
                    <a:solidFill>
                      <a:schemeClr val="tx1"/>
                    </a:solidFill>
                    <a:effectLst/>
                    <a:latin typeface="+mn-lt"/>
                    <a:ea typeface="+mn-ea"/>
                    <a:cs typeface="+mn-cs"/>
                  </a:rPr>
                  <a:t>|1⟩</a:t>
                </a:r>
                <a:r>
                  <a:rPr lang="en-US" sz="2000" kern="1200" dirty="0">
                    <a:solidFill>
                      <a:schemeClr val="tx1"/>
                    </a:solidFill>
                    <a:effectLst/>
                    <a:latin typeface="+mn-lt"/>
                    <a:ea typeface="+mn-ea"/>
                    <a:cs typeface="+mn-cs"/>
                  </a:rPr>
                  <a:t>. The spinning coin represents superposition in which coin is both 0 and 1.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a:solidFill>
                      <a:schemeClr val="tx1"/>
                    </a:solidFill>
                    <a:effectLst/>
                    <a:latin typeface="+mn-lt"/>
                    <a:ea typeface="+mn-ea"/>
                    <a:cs typeface="+mn-cs"/>
                  </a:rPr>
                  <a:t>Let’s say that each side of the coin</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is assigned a weight </a:t>
                </a:r>
                <a:r>
                  <a:rPr lang="en-US" sz="2000" i="0" kern="1200">
                    <a:solidFill>
                      <a:schemeClr val="tx1"/>
                    </a:solidFill>
                    <a:effectLst/>
                    <a:latin typeface="+mn-lt"/>
                    <a:ea typeface="+mn-ea"/>
                    <a:cs typeface="+mn-cs"/>
                  </a:rPr>
                  <a:t>𝑎</a:t>
                </a:r>
                <a:r>
                  <a:rPr lang="en-US" sz="2000" kern="1200" dirty="0">
                    <a:solidFill>
                      <a:schemeClr val="tx1"/>
                    </a:solidFill>
                    <a:effectLst/>
                    <a:latin typeface="+mn-lt"/>
                    <a:ea typeface="+mn-ea"/>
                    <a:cs typeface="+mn-cs"/>
                  </a:rPr>
                  <a:t> and </a:t>
                </a:r>
                <a:r>
                  <a:rPr lang="en-US" sz="2000" i="0" kern="1200">
                    <a:solidFill>
                      <a:schemeClr val="tx1"/>
                    </a:solidFill>
                    <a:effectLst/>
                    <a:latin typeface="+mn-lt"/>
                    <a:ea typeface="+mn-ea"/>
                    <a:cs typeface="+mn-cs"/>
                  </a:rPr>
                  <a:t>𝑏</a:t>
                </a:r>
                <a:r>
                  <a:rPr lang="en-US" sz="2000" kern="1200" dirty="0">
                    <a:solidFill>
                      <a:schemeClr val="tx1"/>
                    </a:solidFill>
                    <a:effectLst/>
                    <a:latin typeface="+mn-lt"/>
                    <a:ea typeface="+mn-ea"/>
                    <a:cs typeface="+mn-cs"/>
                  </a:rPr>
                  <a:t>. The superposition state </a:t>
                </a:r>
                <a:r>
                  <a:rPr lang="en-US" sz="2000" i="0" kern="1200">
                    <a:solidFill>
                      <a:schemeClr val="tx1"/>
                    </a:solidFill>
                    <a:effectLst/>
                    <a:latin typeface="+mn-lt"/>
                    <a:ea typeface="+mn-ea"/>
                    <a:cs typeface="+mn-cs"/>
                  </a:rPr>
                  <a:t>|𝑆⟩</a:t>
                </a:r>
                <a:r>
                  <a:rPr lang="en-US" sz="2000" kern="1200" dirty="0">
                    <a:solidFill>
                      <a:schemeClr val="tx1"/>
                    </a:solidFill>
                    <a:effectLst/>
                    <a:latin typeface="+mn-lt"/>
                    <a:ea typeface="+mn-ea"/>
                    <a:cs typeface="+mn-cs"/>
                  </a:rPr>
                  <a:t> of the spinning coin can now be described as a weighted sum</a:t>
                </a:r>
                <a:r>
                  <a:rPr lang="en-US" sz="2000" dirty="0">
                    <a:effectLst/>
                  </a:rPr>
                  <a:t> </a:t>
                </a:r>
                <a:r>
                  <a:rPr lang="en-US" sz="2000" b="0" i="0">
                    <a:latin typeface="Cambria Math" panose="02040503050406030204" pitchFamily="18" charset="0"/>
                  </a:rPr>
                  <a:t>𝑎</a:t>
                </a:r>
                <a:r>
                  <a:rPr lang="en-US" sz="2000" i="0">
                    <a:latin typeface="Cambria Math" panose="02040503050406030204" pitchFamily="18" charset="0"/>
                  </a:rPr>
                  <a:t>|</a:t>
                </a:r>
                <a:r>
                  <a:rPr lang="en-US" sz="2000" b="0" i="0">
                    <a:latin typeface="Cambria Math" panose="02040503050406030204" pitchFamily="18" charset="0"/>
                  </a:rPr>
                  <a:t>0⟩  +  𝑏</a:t>
                </a:r>
                <a:r>
                  <a:rPr lang="en-US" sz="2000" i="0">
                    <a:latin typeface="Cambria Math" panose="02040503050406030204" pitchFamily="18" charset="0"/>
                  </a:rPr>
                  <a:t>|</a:t>
                </a:r>
                <a:r>
                  <a:rPr lang="en-US" sz="2000" b="0" i="0">
                    <a:latin typeface="Cambria Math" panose="02040503050406030204" pitchFamily="18" charset="0"/>
                  </a:rPr>
                  <a:t>1⟩</a:t>
                </a:r>
                <a:r>
                  <a:rPr lang="en-US" sz="2000" kern="1200" dirty="0">
                    <a:solidFill>
                      <a:schemeClr val="tx1"/>
                    </a:solidFill>
                    <a:effectLst/>
                    <a:latin typeface="+mn-lt"/>
                    <a:ea typeface="+mn-ea"/>
                    <a:cs typeface="+mn-cs"/>
                  </a:rPr>
                  <a:t>. Probability amplitudes a</a:t>
                </a:r>
                <a:r>
                  <a:rPr lang="en-US" sz="2000" kern="1200" baseline="0" dirty="0">
                    <a:solidFill>
                      <a:schemeClr val="tx1"/>
                    </a:solidFill>
                    <a:effectLst/>
                    <a:latin typeface="+mn-lt"/>
                    <a:ea typeface="+mn-ea"/>
                    <a:cs typeface="+mn-cs"/>
                  </a:rPr>
                  <a:t> and </a:t>
                </a:r>
                <a:r>
                  <a:rPr lang="en-US" sz="2000" kern="1200" dirty="0">
                    <a:solidFill>
                      <a:schemeClr val="tx1"/>
                    </a:solidFill>
                    <a:effectLst/>
                    <a:latin typeface="+mn-lt"/>
                    <a:ea typeface="+mn-ea"/>
                    <a:cs typeface="+mn-cs"/>
                  </a:rPr>
                  <a:t>b indicate probability of finding the coin either in state </a:t>
                </a:r>
                <a:r>
                  <a:rPr lang="en-US" sz="2000" i="0" kern="1200">
                    <a:solidFill>
                      <a:schemeClr val="tx1"/>
                    </a:solidFill>
                    <a:effectLst/>
                    <a:latin typeface="Cambria Math" panose="02040503050406030204" pitchFamily="18" charset="0"/>
                    <a:ea typeface="+mn-ea"/>
                    <a:cs typeface="+mn-cs"/>
                  </a:rPr>
                  <a:t>|0⟩</a:t>
                </a:r>
                <a:r>
                  <a:rPr lang="en-US" sz="2000" kern="1200" dirty="0">
                    <a:solidFill>
                      <a:schemeClr val="tx1"/>
                    </a:solidFill>
                    <a:effectLst/>
                    <a:latin typeface="+mn-lt"/>
                    <a:ea typeface="+mn-ea"/>
                    <a:cs typeface="+mn-cs"/>
                  </a:rPr>
                  <a:t> or in state </a:t>
                </a:r>
                <a:r>
                  <a:rPr lang="en-US" sz="2000" i="0" kern="1200">
                    <a:solidFill>
                      <a:schemeClr val="tx1"/>
                    </a:solidFill>
                    <a:effectLst/>
                    <a:latin typeface="Cambria Math" panose="02040503050406030204" pitchFamily="18" charset="0"/>
                    <a:ea typeface="+mn-ea"/>
                    <a:cs typeface="+mn-cs"/>
                  </a:rPr>
                  <a:t>|</a:t>
                </a:r>
                <a:r>
                  <a:rPr lang="en-US" sz="2000" b="0" i="0" kern="1200">
                    <a:solidFill>
                      <a:schemeClr val="tx1"/>
                    </a:solidFill>
                    <a:effectLst/>
                    <a:latin typeface="Cambria Math" panose="02040503050406030204" pitchFamily="18" charset="0"/>
                    <a:ea typeface="+mn-ea"/>
                    <a:cs typeface="+mn-cs"/>
                  </a:rPr>
                  <a:t>1⟩</a:t>
                </a:r>
                <a:r>
                  <a:rPr lang="en-US" sz="2000" kern="1200" dirty="0">
                    <a:solidFill>
                      <a:schemeClr val="tx1"/>
                    </a:solidFill>
                    <a:effectLst/>
                    <a:latin typeface="+mn-lt"/>
                    <a:ea typeface="+mn-ea"/>
                    <a:cs typeface="+mn-cs"/>
                  </a:rPr>
                  <a:t> when coin collapses. Like in real life, the heavier side of a coin is more likely to become the outcome of the coin toss.</a:t>
                </a:r>
                <a:r>
                  <a:rPr lang="en-US" sz="2000" dirty="0">
                    <a:effectLst/>
                  </a:rPr>
                  <a:t> But unlike the real life,</a:t>
                </a:r>
                <a:r>
                  <a:rPr lang="en-US" sz="2000" baseline="0" dirty="0">
                    <a:effectLst/>
                  </a:rPr>
                  <a:t> </a:t>
                </a:r>
                <a:r>
                  <a:rPr lang="en-US" sz="2000" kern="1200" dirty="0">
                    <a:solidFill>
                      <a:schemeClr val="tx1"/>
                    </a:solidFill>
                    <a:effectLst/>
                    <a:latin typeface="+mn-lt"/>
                    <a:ea typeface="+mn-ea"/>
                    <a:cs typeface="+mn-cs"/>
                  </a:rPr>
                  <a:t>the probability of this coin landing on either side would not be directly proportional to the weight of that side, but to the weight of that side, </a:t>
                </a:r>
                <a:r>
                  <a:rPr lang="en-US" sz="2000" b="1" kern="1200" dirty="0">
                    <a:solidFill>
                      <a:schemeClr val="tx1"/>
                    </a:solidFill>
                    <a:effectLst/>
                    <a:latin typeface="+mn-lt"/>
                    <a:ea typeface="+mn-ea"/>
                    <a:cs typeface="+mn-cs"/>
                  </a:rPr>
                  <a:t>squared</a:t>
                </a:r>
                <a:r>
                  <a:rPr lang="en-US" sz="2000" i="0" kern="1200" dirty="0">
                    <a:solidFill>
                      <a:schemeClr val="tx1"/>
                    </a:solidFill>
                    <a:effectLst/>
                    <a:latin typeface="+mn-lt"/>
                    <a:ea typeface="+mn-ea"/>
                    <a:cs typeface="+mn-cs"/>
                  </a:rPr>
                  <a:t>.</a:t>
                </a:r>
                <a:r>
                  <a:rPr lang="en-US" sz="2000" i="0" dirty="0">
                    <a:effectLst/>
                  </a:rPr>
                  <a:t> This rule is known as Born rule.</a:t>
                </a:r>
                <a:endParaRPr lang="en-US" sz="2000" i="0" baseline="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i="0" kern="1200" dirty="0">
                  <a:solidFill>
                    <a:schemeClr val="tx1"/>
                  </a:solidFill>
                  <a:effectLst/>
                  <a:latin typeface="+mn-lt"/>
                  <a:ea typeface="+mn-ea"/>
                  <a:cs typeface="+mn-cs"/>
                </a:endParaRPr>
              </a:p>
              <a:p>
                <a:endParaRPr lang="en-US" sz="2000" kern="1200" dirty="0">
                  <a:solidFill>
                    <a:schemeClr val="tx1"/>
                  </a:solidFill>
                  <a:effectLst/>
                  <a:latin typeface="+mn-lt"/>
                  <a:ea typeface="+mn-ea"/>
                  <a:cs typeface="+mn-cs"/>
                </a:endParaRPr>
              </a:p>
              <a:p>
                <a:endParaRPr lang="en-US" sz="2000" kern="1200" dirty="0">
                  <a:solidFill>
                    <a:schemeClr val="tx1"/>
                  </a:solidFill>
                  <a:effectLst/>
                  <a:latin typeface="+mn-lt"/>
                  <a:ea typeface="+mn-ea"/>
                  <a:cs typeface="+mn-cs"/>
                </a:endParaRPr>
              </a:p>
              <a:p>
                <a:endParaRPr lang="en-US" sz="20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16192320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An interesting story is associated with </a:t>
                </a:r>
                <a:r>
                  <a:rPr lang="en-ZA" b="0" dirty="0" err="1"/>
                  <a:t>Born’s</a:t>
                </a:r>
                <a:r>
                  <a:rPr lang="en-ZA" b="0" dirty="0"/>
                  <a:t> 1926 paper </a:t>
                </a:r>
                <a:r>
                  <a:rPr lang="en-ZA" b="0" i="1" dirty="0"/>
                  <a:t>On the Quantum Mechanics of Collisions</a:t>
                </a:r>
                <a:r>
                  <a:rPr lang="en-ZA" b="0" dirty="0"/>
                  <a:t>, shown in the figure in English translation. </a:t>
                </a:r>
              </a:p>
              <a:p>
                <a:pPr algn="just"/>
                <a:endParaRPr lang="en-ZA" b="0" dirty="0"/>
              </a:p>
              <a:p>
                <a:pPr algn="just"/>
                <a:r>
                  <a:rPr lang="en-ZA" dirty="0"/>
                  <a:t>In the main text, Born initially stated that the probability of finding the particle in a particular state after the collision was proportional to the amplitude of the wave function.</a:t>
                </a:r>
                <a:r>
                  <a:rPr lang="en-ZA" b="0" dirty="0"/>
                  <a:t> However, in a footnote he added a correction: “more careful consideration” showed that the probability is proportional to the squared absolute value of the amplitude. This correction became the basis of what is now known as </a:t>
                </a:r>
                <a:r>
                  <a:rPr lang="en-ZA" b="0" dirty="0" err="1"/>
                  <a:t>Born’s</a:t>
                </a:r>
                <a:r>
                  <a:rPr lang="en-ZA" b="0" dirty="0"/>
                  <a:t> rule, and Born later received the Nobel Prize for his statistical interpretation of the wave function.</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For example, if the wave function of a particle is </a:t>
                </a:r>
                <a14:m>
                  <m:oMath xmlns:m="http://schemas.openxmlformats.org/officeDocument/2006/math">
                    <m:r>
                      <m:rPr>
                        <m:sty m:val="p"/>
                      </m:rPr>
                      <a:rPr lang="el-GR" sz="1200" b="0" i="0" smtClean="0">
                        <a:solidFill>
                          <a:srgbClr val="0070C0"/>
                        </a:solidFill>
                        <a:latin typeface="Cambria Math" panose="02040503050406030204" pitchFamily="18" charset="0"/>
                        <a:ea typeface="Cambria Math" panose="02040503050406030204" pitchFamily="18" charset="0"/>
                      </a:rPr>
                      <m:t>Φ</m:t>
                    </m:r>
                    <m:r>
                      <a:rPr lang="en-US" sz="1200" b="0" i="1" smtClean="0">
                        <a:solidFill>
                          <a:srgbClr val="0070C0"/>
                        </a:solidFill>
                        <a:latin typeface="Cambria Math" panose="02040503050406030204" pitchFamily="18" charset="0"/>
                        <a:ea typeface="Cambria Math" panose="02040503050406030204" pitchFamily="18" charset="0"/>
                      </a:rPr>
                      <m:t>(</m:t>
                    </m:r>
                    <m:r>
                      <a:rPr lang="en-US" sz="1200" b="0" i="1" smtClean="0">
                        <a:solidFill>
                          <a:srgbClr val="0070C0"/>
                        </a:solidFill>
                        <a:latin typeface="Cambria Math" panose="02040503050406030204" pitchFamily="18" charset="0"/>
                        <a:ea typeface="Cambria Math" panose="02040503050406030204" pitchFamily="18" charset="0"/>
                      </a:rPr>
                      <m:t>𝑥</m:t>
                    </m:r>
                    <m:r>
                      <a:rPr lang="en-US" sz="1200" b="0" i="1" smtClean="0">
                        <a:solidFill>
                          <a:srgbClr val="0070C0"/>
                        </a:solidFill>
                        <a:latin typeface="Cambria Math" panose="02040503050406030204" pitchFamily="18" charset="0"/>
                        <a:ea typeface="Cambria Math" panose="02040503050406030204" pitchFamily="18" charset="0"/>
                      </a:rPr>
                      <m:t>)</m:t>
                    </m:r>
                  </m:oMath>
                </a14:m>
                <a:r>
                  <a:rPr lang="en-ZA" b="0" dirty="0"/>
                  <a:t>, the probability density of finding the particle near position </a:t>
                </a:r>
                <a14:m>
                  <m:oMath xmlns:m="http://schemas.openxmlformats.org/officeDocument/2006/math">
                    <m:r>
                      <a:rPr lang="en-US" sz="1200" b="0" i="1" smtClean="0">
                        <a:solidFill>
                          <a:srgbClr val="0070C0"/>
                        </a:solidFill>
                        <a:latin typeface="Cambria Math" panose="02040503050406030204" pitchFamily="18" charset="0"/>
                        <a:ea typeface="Cambria Math" panose="02040503050406030204" pitchFamily="18" charset="0"/>
                      </a:rPr>
                      <m:t>𝑥</m:t>
                    </m:r>
                  </m:oMath>
                </a14:m>
                <a:r>
                  <a:rPr lang="en-ZA" b="0" dirty="0"/>
                  <a:t> is given by </a:t>
                </a:r>
                <a14:m>
                  <m:oMath xmlns:m="http://schemas.openxmlformats.org/officeDocument/2006/math">
                    <m:sSup>
                      <m:sSupPr>
                        <m:ctrlPr>
                          <a:rPr lang="sr-Latn-RS" b="0" i="1" smtClean="0">
                            <a:solidFill>
                              <a:srgbClr val="FF0000"/>
                            </a:solidFill>
                            <a:latin typeface="Cambria Math" panose="02040503050406030204" pitchFamily="18" charset="0"/>
                            <a:ea typeface="Cambria Math" panose="02040503050406030204" pitchFamily="18" charset="0"/>
                          </a:rPr>
                        </m:ctrlPr>
                      </m:sSupPr>
                      <m:e>
                        <m:d>
                          <m:dPr>
                            <m:begChr m:val="|"/>
                            <m:endChr m:val="|"/>
                            <m:ctrlPr>
                              <a:rPr lang="sr-Latn-RS" b="0" i="1">
                                <a:solidFill>
                                  <a:srgbClr val="FF0000"/>
                                </a:solidFill>
                                <a:latin typeface="Cambria Math" panose="02040503050406030204" pitchFamily="18" charset="0"/>
                                <a:ea typeface="Cambria Math" panose="02040503050406030204" pitchFamily="18" charset="0"/>
                              </a:rPr>
                            </m:ctrlPr>
                          </m:dPr>
                          <m:e>
                            <m:r>
                              <m:rPr>
                                <m:sty m:val="p"/>
                              </m:rPr>
                              <a:rPr lang="el-GR" b="0" i="0" smtClean="0">
                                <a:solidFill>
                                  <a:srgbClr val="FF0000"/>
                                </a:solidFill>
                                <a:latin typeface="Cambria Math" panose="02040503050406030204" pitchFamily="18" charset="0"/>
                                <a:ea typeface="Cambria Math" panose="02040503050406030204" pitchFamily="18" charset="0"/>
                              </a:rPr>
                              <m:t>Φ</m:t>
                            </m:r>
                            <m:r>
                              <a:rPr lang="sr-Latn-RS" b="0" i="1" smtClean="0">
                                <a:solidFill>
                                  <a:srgbClr val="FF0000"/>
                                </a:solidFill>
                                <a:latin typeface="Cambria Math" panose="02040503050406030204" pitchFamily="18" charset="0"/>
                                <a:ea typeface="Cambria Math" panose="02040503050406030204" pitchFamily="18" charset="0"/>
                              </a:rPr>
                              <m:t>(</m:t>
                            </m:r>
                            <m:r>
                              <a:rPr lang="sr-Latn-RS" b="0" i="1" smtClean="0">
                                <a:solidFill>
                                  <a:srgbClr val="FF0000"/>
                                </a:solidFill>
                                <a:latin typeface="Cambria Math" panose="02040503050406030204" pitchFamily="18" charset="0"/>
                                <a:ea typeface="Cambria Math" panose="02040503050406030204" pitchFamily="18" charset="0"/>
                              </a:rPr>
                              <m:t>𝑥</m:t>
                            </m:r>
                            <m:r>
                              <a:rPr lang="sr-Latn-RS" b="0" i="1" smtClean="0">
                                <a:solidFill>
                                  <a:srgbClr val="FF0000"/>
                                </a:solidFill>
                                <a:latin typeface="Cambria Math" panose="02040503050406030204" pitchFamily="18" charset="0"/>
                                <a:ea typeface="Cambria Math" panose="02040503050406030204" pitchFamily="18" charset="0"/>
                              </a:rPr>
                              <m:t>)</m:t>
                            </m:r>
                          </m:e>
                        </m:d>
                      </m:e>
                      <m:sup>
                        <m:r>
                          <a:rPr lang="sr-Latn-RS" b="0" i="1" smtClean="0">
                            <a:solidFill>
                              <a:srgbClr val="FF0000"/>
                            </a:solidFill>
                            <a:latin typeface="Cambria Math" panose="02040503050406030204" pitchFamily="18" charset="0"/>
                            <a:ea typeface="Cambria Math" panose="02040503050406030204" pitchFamily="18" charset="0"/>
                          </a:rPr>
                          <m:t>2</m:t>
                        </m:r>
                      </m:sup>
                    </m:sSup>
                  </m:oMath>
                </a14:m>
                <a:r>
                  <a:rPr lang="en-ZA" b="0" dirty="0"/>
                  <a:t>. This also explains why </a:t>
                </a:r>
                <a14:m>
                  <m:oMath xmlns:m="http://schemas.openxmlformats.org/officeDocument/2006/math">
                    <m:r>
                      <m:rPr>
                        <m:sty m:val="p"/>
                      </m:rPr>
                      <a:rPr lang="el-GR" sz="1200" b="0" i="0" smtClean="0">
                        <a:solidFill>
                          <a:srgbClr val="0070C0"/>
                        </a:solidFill>
                        <a:latin typeface="Cambria Math" panose="02040503050406030204" pitchFamily="18" charset="0"/>
                        <a:ea typeface="Cambria Math" panose="02040503050406030204" pitchFamily="18" charset="0"/>
                      </a:rPr>
                      <m:t>Φ</m:t>
                    </m:r>
                    <m:r>
                      <a:rPr lang="en-US" sz="1200" b="0" i="1" smtClean="0">
                        <a:solidFill>
                          <a:srgbClr val="0070C0"/>
                        </a:solidFill>
                        <a:latin typeface="Cambria Math" panose="02040503050406030204" pitchFamily="18" charset="0"/>
                        <a:ea typeface="Cambria Math" panose="02040503050406030204" pitchFamily="18" charset="0"/>
                      </a:rPr>
                      <m:t>(</m:t>
                    </m:r>
                    <m:r>
                      <a:rPr lang="en-US" sz="1200" b="0" i="1" smtClean="0">
                        <a:solidFill>
                          <a:srgbClr val="0070C0"/>
                        </a:solidFill>
                        <a:latin typeface="Cambria Math" panose="02040503050406030204" pitchFamily="18" charset="0"/>
                        <a:ea typeface="Cambria Math" panose="02040503050406030204" pitchFamily="18" charset="0"/>
                      </a:rPr>
                      <m:t>𝑥</m:t>
                    </m:r>
                    <m:r>
                      <a:rPr lang="en-US" sz="1200" b="0" i="1" smtClean="0">
                        <a:solidFill>
                          <a:srgbClr val="0070C0"/>
                        </a:solidFill>
                        <a:latin typeface="Cambria Math" panose="02040503050406030204" pitchFamily="18" charset="0"/>
                        <a:ea typeface="Cambria Math" panose="02040503050406030204" pitchFamily="18" charset="0"/>
                      </a:rPr>
                      <m:t>)</m:t>
                    </m:r>
                  </m:oMath>
                </a14:m>
                <a:r>
                  <a:rPr lang="en-ZA" b="0" dirty="0"/>
                  <a:t> is referred to as a probability amplitude.</a:t>
                </a:r>
              </a:p>
            </p:txBody>
          </p:sp>
        </mc:Choice>
        <mc:Fallback xmlns="">
          <p:sp>
            <p:nvSpPr>
              <p:cNvPr id="3" name="Notes Placeholder 2"/>
              <p:cNvSpPr>
                <a:spLocks noGrp="1"/>
              </p:cNvSpPr>
              <p:nvPr>
                <p:ph type="body" idx="1"/>
              </p:nvPr>
            </p:nvSpPr>
            <p:spPr/>
            <p:txBody>
              <a:bodyPr/>
              <a:lstStyle/>
              <a:p>
                <a:pPr algn="just"/>
                <a:r>
                  <a:rPr lang="en-ZA" b="0" dirty="0"/>
                  <a:t>An interesting anecdote is connected with Max </a:t>
                </a:r>
                <a:r>
                  <a:rPr lang="en-ZA" b="0" dirty="0" err="1"/>
                  <a:t>Born's</a:t>
                </a:r>
                <a:r>
                  <a:rPr lang="en-ZA" b="0" dirty="0"/>
                  <a:t> famous 1926 paper, </a:t>
                </a:r>
                <a:r>
                  <a:rPr lang="en-ZA" b="0" i="1" dirty="0"/>
                  <a:t>On the Quantum Mechanics of Collisions</a:t>
                </a:r>
                <a:r>
                  <a:rPr lang="en-ZA" b="0" dirty="0"/>
                  <a:t>, shown here in its English translation.</a:t>
                </a:r>
              </a:p>
              <a:p>
                <a:pPr algn="just"/>
                <a:endParaRPr lang="en-ZA" b="0" dirty="0"/>
              </a:p>
              <a:p>
                <a:pPr algn="just"/>
                <a:r>
                  <a:rPr lang="en-ZA" b="0" dirty="0"/>
                  <a:t>In quantum mechanics, the state of a particle is described by a mathematical function called the </a:t>
                </a:r>
                <a:r>
                  <a:rPr lang="en-ZA" b="0" i="1" dirty="0"/>
                  <a:t>wave function</a:t>
                </a:r>
                <a:r>
                  <a:rPr lang="en-ZA" b="0" dirty="0"/>
                  <a:t>. In the original paper, Born wrote (highlighted here in red) that the probability of finding a particle at a particular position is proportional to the value (amplitude) of its wave function at that position.</a:t>
                </a:r>
              </a:p>
              <a:p>
                <a:pPr algn="just"/>
                <a:endParaRPr lang="en-ZA" b="0" dirty="0"/>
              </a:p>
              <a:p>
                <a:pPr algn="just"/>
                <a:r>
                  <a:rPr lang="en-ZA" dirty="0"/>
                  <a:t>After the paper was published, Born realized that the probability is not proportional to the amplitude itself, but to the </a:t>
                </a:r>
                <a:r>
                  <a:rPr lang="en-ZA" b="1" dirty="0"/>
                  <a:t>square</a:t>
                </a:r>
                <a:r>
                  <a:rPr lang="en-ZA" dirty="0"/>
                  <a:t> of its absolute value.</a:t>
                </a:r>
                <a:r>
                  <a:rPr lang="en-ZA" b="0" dirty="0"/>
                  <a:t> </a:t>
                </a:r>
                <a:r>
                  <a:rPr lang="en-ZA" dirty="0"/>
                  <a:t>In an added footnote, he corrected the original statement.</a:t>
                </a:r>
                <a:r>
                  <a:rPr lang="en-ZA" b="0" dirty="0"/>
                  <a:t> This simple correction became one of the fundamental principles of quantum mechanics and is now known as the Born rule. The footnote is often regarded as one of the most famous in the history of physics, as it contained the key insight that later earned Born the Nobel Prize. </a:t>
                </a:r>
                <a:endParaRPr lang="en-US" sz="1200" b="0" dirty="0"/>
              </a:p>
              <a:p>
                <a:pPr marL="0" indent="0" algn="just">
                  <a:buFont typeface="Arial" panose="020B0604020202020204" pitchFamily="34" charset="0"/>
                  <a:buNone/>
                </a:pPr>
                <a:endParaRPr lang="en-US" sz="120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In the illustration, the blue graph shows the wave function, while the red graph shows the square of its absolute value. </a:t>
                </a:r>
                <a:r>
                  <a:rPr lang="en-ZA" baseline="0" dirty="0"/>
                  <a:t>S</a:t>
                </a:r>
                <a:r>
                  <a:rPr lang="en-ZA" dirty="0"/>
                  <a:t>uppose we want to find the probability of detecting the particle at position</a:t>
                </a:r>
                <a:r>
                  <a:rPr lang="en-US" b="0" i="0">
                    <a:solidFill>
                      <a:schemeClr val="tx1"/>
                    </a:solidFill>
                    <a:latin typeface="Cambria Math" panose="02040503050406030204" pitchFamily="18" charset="0"/>
                  </a:rPr>
                  <a:t> 𝑥_0</a:t>
                </a:r>
                <a:r>
                  <a:rPr lang="en-ZA" b="0" dirty="0"/>
                  <a:t>​. </a:t>
                </a:r>
                <a:r>
                  <a:rPr lang="en-ZA" dirty="0"/>
                  <a:t>According to the Born rule, that probability is determined by the value of the lower graph at </a:t>
                </a:r>
                <a:r>
                  <a:rPr lang="en-ZA" b="0" dirty="0"/>
                  <a:t> </a:t>
                </a:r>
                <a:r>
                  <a:rPr lang="en-US" b="0" i="0">
                    <a:solidFill>
                      <a:schemeClr val="tx1"/>
                    </a:solidFill>
                    <a:latin typeface="Cambria Math" panose="02040503050406030204" pitchFamily="18" charset="0"/>
                  </a:rPr>
                  <a:t>𝑥_0</a:t>
                </a:r>
                <a:r>
                  <a:rPr lang="en-ZA" b="0" dirty="0"/>
                  <a:t>​. </a:t>
                </a:r>
                <a:endParaRPr lang="en-US" sz="1200"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21240257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quantum computing, we are primarily interested in the statistical outcome of measurements.</a:t>
                </a:r>
              </a:p>
              <a:p>
                <a:pPr algn="just"/>
                <a:endParaRPr lang="en-ZA" b="0" dirty="0"/>
              </a:p>
              <a:p>
                <a:pPr algn="just"/>
                <a:r>
                  <a:rPr lang="en-ZA" b="0" dirty="0"/>
                  <a:t>As an analogy, imagine measuring a qubit using two electromagnets placed at the North and South Poles of the Bloch sphere and connected to a measurement instrument. When the magnets are switched on, they pull the Bloch vector toward one of the two poles. The Born rule tells us that the vector reaches the North Pole with probability |𝑎|², giving the result 0, or the South Pole with probability |𝑏|², giving the result 1. </a:t>
                </a:r>
              </a:p>
              <a:p>
                <a:pPr algn="just"/>
                <a:endParaRPr lang="en-ZA" b="0" dirty="0"/>
              </a:p>
              <a:p>
                <a:pPr algn="just"/>
                <a:r>
                  <a:rPr lang="en-ZA" b="0" dirty="0"/>
                  <a:t>To determine the properties of a qubit before measurement, we repeat the same experiment many times. After each measurement, the qubit collapses to either ∣0⟩ or ∣1⟩, so it must be prepared again in the same initial state before the next measurement. </a:t>
                </a:r>
              </a:p>
              <a:p>
                <a:pPr algn="just"/>
                <a:endParaRPr lang="en-ZA" b="0" dirty="0"/>
              </a:p>
              <a:p>
                <a:pPr marL="0" indent="0" algn="just">
                  <a:buFont typeface="+mj-lt"/>
                  <a:buNone/>
                </a:pPr>
                <a:r>
                  <a:rPr lang="en-ZA" b="0" dirty="0"/>
                  <a:t>The process is repeated many times, and each outcome is recorded. The </a:t>
                </a:r>
                <a:r>
                  <a:rPr lang="en-ZA" b="1" dirty="0"/>
                  <a:t>relative frequency</a:t>
                </a:r>
                <a:r>
                  <a:rPr lang="en-ZA" b="0" dirty="0"/>
                  <a:t>, or </a:t>
                </a:r>
                <a:r>
                  <a:rPr lang="en-ZA" b="1" dirty="0"/>
                  <a:t>experimental probability</a:t>
                </a:r>
                <a:r>
                  <a:rPr lang="en-ZA" b="0" dirty="0"/>
                  <a:t>, of each outcome is calculated by dividing the number of times that outcome occurs by the total number of measurements.  </a:t>
                </a:r>
              </a:p>
              <a:p>
                <a:pPr marL="228600" indent="-228600" algn="just">
                  <a:buFont typeface="+mj-lt"/>
                  <a:buAutoNum type="arabicPeriod"/>
                </a:pPr>
                <a:endParaRPr lang="en-ZA" b="0" dirty="0"/>
              </a:p>
              <a:p>
                <a:pPr marL="0" indent="0" algn="just">
                  <a:buFont typeface="+mj-lt"/>
                  <a:buNone/>
                </a:pPr>
                <a:r>
                  <a:rPr lang="en-ZA" dirty="0"/>
                  <a:t>For example, suppose the measurement is repeated 1,000 times. If the result 0 is obtained 640 times and the result 1 is obtained 360 times, the estimated probabilities are</a:t>
                </a:r>
                <a:r>
                  <a:rPr lang="en-ZA" b="0" dirty="0"/>
                  <a:t> 0.64 and 0.36 respectively.</a:t>
                </a:r>
              </a:p>
              <a:p>
                <a:pPr marL="228600" indent="-228600" algn="just">
                  <a:buFont typeface="+mj-lt"/>
                  <a:buAutoNum type="arabicPeriod"/>
                </a:pPr>
                <a:endParaRPr lang="en-ZA" b="0" dirty="0"/>
              </a:p>
              <a:p>
                <a:pPr marL="0" indent="0" algn="just">
                  <a:buFont typeface="+mj-lt"/>
                  <a:buNone/>
                </a:pPr>
                <a:r>
                  <a:rPr lang="en-ZA" dirty="0"/>
                  <a:t>These results are typically displayed as a histogram. The horizontal axis represents the possible measurement outcomes, while the vertical axis shows the estimated probability of each outcome. From this histogram, we can estimate that the qubit was in a superposition with probability amplitudes of approximately 0.8 for </a:t>
                </a:r>
                <a:r>
                  <a:rPr lang="en-US" sz="1200" kern="1200" dirty="0">
                    <a:solidFill>
                      <a:schemeClr val="tx1"/>
                    </a:solidFill>
                    <a:effectLst/>
                    <a:latin typeface="+mn-lt"/>
                    <a:ea typeface="+mn-ea"/>
                    <a:cs typeface="+mn-cs"/>
                  </a:rPr>
                  <a:t>|0⟩ </a:t>
                </a:r>
                <a:r>
                  <a:rPr lang="en-ZA" dirty="0"/>
                  <a:t>and 0.6 for </a:t>
                </a:r>
                <a:r>
                  <a:rPr lang="en-US" sz="1200" kern="1200" dirty="0">
                    <a:solidFill>
                      <a:schemeClr val="tx1"/>
                    </a:solidFill>
                    <a:effectLst/>
                    <a:latin typeface="+mn-lt"/>
                    <a:ea typeface="+mn-ea"/>
                    <a:cs typeface="+mn-cs"/>
                  </a:rPr>
                  <a:t>|1⟩</a:t>
                </a:r>
                <a:r>
                  <a:rPr lang="en-ZA" dirty="0"/>
                  <a:t> since </a:t>
                </a:r>
                <a14:m>
                  <m:oMath xmlns:m="http://schemas.openxmlformats.org/officeDocument/2006/math">
                    <m:rad>
                      <m:radPr>
                        <m:degHide m:val="on"/>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radPr>
                      <m:deg/>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0.64</m:t>
                        </m:r>
                      </m:e>
                    </m:rad>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=0.8</m:t>
                    </m:r>
                  </m:oMath>
                </a14:m>
                <a:r>
                  <a:rPr lang="en-ZA" dirty="0"/>
                  <a:t> and </a:t>
                </a:r>
                <a14:m>
                  <m:oMath xmlns:m="http://schemas.openxmlformats.org/officeDocument/2006/math">
                    <m:rad>
                      <m:radPr>
                        <m:degHide m:val="on"/>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radPr>
                      <m:deg/>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0.36</m:t>
                        </m:r>
                      </m:e>
                    </m:rad>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=0.6</m:t>
                    </m:r>
                  </m:oMath>
                </a14:m>
                <a:r>
                  <a:rPr lang="en-ZA" dirty="0"/>
                  <a:t>. </a:t>
                </a:r>
              </a:p>
              <a:p>
                <a:pPr marL="228600" indent="-228600" algn="just">
                  <a:buFont typeface="+mj-lt"/>
                  <a:buAutoNum type="arabicPeriod"/>
                </a:pPr>
                <a:endParaRPr lang="en-ZA" dirty="0"/>
              </a:p>
              <a:p>
                <a:pPr marL="0" indent="0" algn="just">
                  <a:buFont typeface="+mj-lt"/>
                  <a:buNone/>
                </a:pPr>
                <a:r>
                  <a:rPr lang="en-ZA" dirty="0"/>
                  <a:t>However, the histogram provides no information about the relative phase between the two amplitudes.  As a result, many different qubit states can produce exactly the same measurement histogram. This illustrates a fundamental property of quantum mechanics: a single measurement cannot reveal the complete information encoded in a quantum state.</a:t>
                </a:r>
                <a:endParaRPr lang="en-ZA" b="0" dirty="0"/>
              </a:p>
            </p:txBody>
          </p:sp>
        </mc:Choice>
        <mc:Fallback xmlns="">
          <p:sp>
            <p:nvSpPr>
              <p:cNvPr id="3" name="Notes Placeholder 2"/>
              <p:cNvSpPr>
                <a:spLocks noGrp="1"/>
              </p:cNvSpPr>
              <p:nvPr>
                <p:ph type="body" idx="1"/>
              </p:nvPr>
            </p:nvSpPr>
            <p:spPr/>
            <p:txBody>
              <a:bodyPr/>
              <a:lstStyle/>
              <a:p>
                <a:r>
                  <a:rPr lang="en-US" dirty="0"/>
                  <a:t>Zamislimo da se </a:t>
                </a:r>
                <a:r>
                  <a:rPr lang="en-US" dirty="0" err="1"/>
                  <a:t>merenje</a:t>
                </a:r>
                <a:r>
                  <a:rPr lang="en-US" dirty="0"/>
                  <a:t> kubita </a:t>
                </a:r>
                <a:r>
                  <a:rPr lang="en-US" dirty="0" err="1"/>
                  <a:t>vrši</a:t>
                </a:r>
                <a:r>
                  <a:rPr lang="en-US" dirty="0"/>
                  <a:t> </a:t>
                </a:r>
                <a:r>
                  <a:rPr lang="en-US" dirty="0" err="1"/>
                  <a:t>tako</a:t>
                </a:r>
                <a:r>
                  <a:rPr lang="en-US" dirty="0"/>
                  <a:t> </a:t>
                </a:r>
                <a:r>
                  <a:rPr lang="en-US" dirty="0" err="1"/>
                  <a:t>što</a:t>
                </a:r>
                <a:r>
                  <a:rPr lang="en-US" dirty="0"/>
                  <a:t> se </a:t>
                </a:r>
                <a:r>
                  <a:rPr lang="en-US" dirty="0" err="1"/>
                  <a:t>postave</a:t>
                </a:r>
                <a:r>
                  <a:rPr lang="en-US" dirty="0"/>
                  <a:t> </a:t>
                </a:r>
                <a:r>
                  <a:rPr lang="en-US" dirty="0" err="1"/>
                  <a:t>dva</a:t>
                </a:r>
                <a:r>
                  <a:rPr lang="en-US" dirty="0"/>
                  <a:t> </a:t>
                </a:r>
                <a:r>
                  <a:rPr lang="en-US" dirty="0" err="1"/>
                  <a:t>elektromagneta</a:t>
                </a:r>
                <a:r>
                  <a:rPr lang="en-US" dirty="0"/>
                  <a:t> </a:t>
                </a:r>
                <a:r>
                  <a:rPr lang="en-US" dirty="0" err="1"/>
                  <a:t>na</a:t>
                </a:r>
                <a:r>
                  <a:rPr lang="en-US" dirty="0"/>
                  <a:t> </a:t>
                </a:r>
                <a:r>
                  <a:rPr lang="en-US" dirty="0" err="1"/>
                  <a:t>severni</a:t>
                </a:r>
                <a:r>
                  <a:rPr lang="en-US" dirty="0"/>
                  <a:t> </a:t>
                </a:r>
                <a:r>
                  <a:rPr lang="en-US" dirty="0" err="1"/>
                  <a:t>i</a:t>
                </a:r>
                <a:r>
                  <a:rPr lang="en-US" dirty="0"/>
                  <a:t> </a:t>
                </a:r>
                <a:r>
                  <a:rPr lang="en-US" dirty="0" err="1"/>
                  <a:t>južni</a:t>
                </a:r>
                <a:r>
                  <a:rPr lang="en-US" dirty="0"/>
                  <a:t> pol </a:t>
                </a:r>
                <a:r>
                  <a:rPr lang="en-US" dirty="0" err="1"/>
                  <a:t>i</a:t>
                </a:r>
                <a:r>
                  <a:rPr lang="en-US" dirty="0"/>
                  <a:t> </a:t>
                </a:r>
                <a:r>
                  <a:rPr lang="en-US" dirty="0" err="1"/>
                  <a:t>vežu</a:t>
                </a:r>
                <a:r>
                  <a:rPr lang="en-US" dirty="0"/>
                  <a:t> </a:t>
                </a:r>
                <a:r>
                  <a:rPr lang="en-US" dirty="0" err="1"/>
                  <a:t>za</a:t>
                </a:r>
                <a:r>
                  <a:rPr lang="en-US" dirty="0"/>
                  <a:t> </a:t>
                </a:r>
                <a:r>
                  <a:rPr lang="en-US" dirty="0" err="1"/>
                  <a:t>merni</a:t>
                </a:r>
                <a:r>
                  <a:rPr lang="en-US" dirty="0"/>
                  <a:t> instrument. Po </a:t>
                </a:r>
                <a:r>
                  <a:rPr lang="en-US" dirty="0" err="1"/>
                  <a:t>uključivanju</a:t>
                </a:r>
                <a:r>
                  <a:rPr lang="en-US" dirty="0"/>
                  <a:t> </a:t>
                </a:r>
                <a:r>
                  <a:rPr lang="en-US" dirty="0" err="1"/>
                  <a:t>instrumenta</a:t>
                </a:r>
                <a:r>
                  <a:rPr lang="en-US" dirty="0"/>
                  <a:t>, </a:t>
                </a:r>
                <a:r>
                  <a:rPr lang="en-US" dirty="0" err="1"/>
                  <a:t>magneti</a:t>
                </a:r>
                <a:r>
                  <a:rPr lang="en-US" dirty="0"/>
                  <a:t> se </a:t>
                </a:r>
                <a:r>
                  <a:rPr lang="en-US" dirty="0" err="1"/>
                  <a:t>aktiviraju</a:t>
                </a:r>
                <a:r>
                  <a:rPr lang="en-US" dirty="0"/>
                  <a:t> </a:t>
                </a:r>
                <a:r>
                  <a:rPr lang="en-US" dirty="0" err="1"/>
                  <a:t>i</a:t>
                </a:r>
                <a:r>
                  <a:rPr lang="en-US" dirty="0"/>
                  <a:t> </a:t>
                </a:r>
                <a:r>
                  <a:rPr lang="en-US" dirty="0" err="1"/>
                  <a:t>privuku</a:t>
                </a:r>
                <a:r>
                  <a:rPr lang="en-US" dirty="0"/>
                  <a:t> </a:t>
                </a:r>
                <a:r>
                  <a:rPr lang="en-US" dirty="0" err="1"/>
                  <a:t>strelicu</a:t>
                </a:r>
                <a:r>
                  <a:rPr lang="en-US" dirty="0"/>
                  <a:t> kubita </a:t>
                </a:r>
                <a:r>
                  <a:rPr lang="en-US" dirty="0" err="1"/>
                  <a:t>ili</a:t>
                </a:r>
                <a:r>
                  <a:rPr lang="en-US" dirty="0"/>
                  <a:t> </a:t>
                </a:r>
                <a:r>
                  <a:rPr lang="en-US" dirty="0" err="1"/>
                  <a:t>na</a:t>
                </a:r>
                <a:r>
                  <a:rPr lang="en-US" dirty="0"/>
                  <a:t> </a:t>
                </a:r>
                <a:r>
                  <a:rPr lang="en-US" dirty="0" err="1"/>
                  <a:t>severni</a:t>
                </a:r>
                <a:r>
                  <a:rPr lang="en-US" dirty="0"/>
                  <a:t> </a:t>
                </a:r>
                <a:r>
                  <a:rPr lang="en-US" dirty="0" err="1"/>
                  <a:t>ili</a:t>
                </a:r>
                <a:r>
                  <a:rPr lang="en-US" dirty="0"/>
                  <a:t> </a:t>
                </a:r>
                <a:r>
                  <a:rPr lang="en-US" dirty="0" err="1"/>
                  <a:t>na</a:t>
                </a:r>
                <a:r>
                  <a:rPr lang="en-US" dirty="0"/>
                  <a:t> </a:t>
                </a:r>
                <a:r>
                  <a:rPr lang="en-US" dirty="0" err="1"/>
                  <a:t>južni</a:t>
                </a:r>
                <a:r>
                  <a:rPr lang="en-US" dirty="0"/>
                  <a:t> pol. </a:t>
                </a:r>
                <a:r>
                  <a:rPr lang="en-US" dirty="0" err="1"/>
                  <a:t>Prema</a:t>
                </a:r>
                <a:r>
                  <a:rPr lang="en-US" dirty="0"/>
                  <a:t> </a:t>
                </a:r>
                <a:r>
                  <a:rPr lang="en-US" dirty="0" err="1"/>
                  <a:t>Bornovom</a:t>
                </a:r>
                <a:r>
                  <a:rPr lang="en-US" dirty="0"/>
                  <a:t> </a:t>
                </a:r>
                <a:r>
                  <a:rPr lang="en-US" dirty="0" err="1"/>
                  <a:t>pravilu</a:t>
                </a:r>
                <a:r>
                  <a:rPr lang="en-US" dirty="0"/>
                  <a:t>, </a:t>
                </a:r>
                <a:r>
                  <a:rPr lang="en-US" dirty="0" err="1"/>
                  <a:t>verovatnoća</a:t>
                </a:r>
                <a:r>
                  <a:rPr lang="en-US" dirty="0"/>
                  <a:t> </a:t>
                </a:r>
                <a:r>
                  <a:rPr lang="en-US" dirty="0" err="1"/>
                  <a:t>privlačenja</a:t>
                </a:r>
                <a:r>
                  <a:rPr lang="en-US" dirty="0"/>
                  <a:t> </a:t>
                </a:r>
                <a:r>
                  <a:rPr lang="en-US" dirty="0" err="1"/>
                  <a:t>strelice</a:t>
                </a:r>
                <a:r>
                  <a:rPr lang="en-US" dirty="0"/>
                  <a:t> </a:t>
                </a:r>
                <a:r>
                  <a:rPr lang="en-US" dirty="0" err="1"/>
                  <a:t>na</a:t>
                </a:r>
                <a:r>
                  <a:rPr lang="en-US" dirty="0"/>
                  <a:t> </a:t>
                </a:r>
                <a:r>
                  <a:rPr lang="en-US" dirty="0" err="1"/>
                  <a:t>severni</a:t>
                </a:r>
                <a:r>
                  <a:rPr lang="en-US" dirty="0"/>
                  <a:t> pol </a:t>
                </a:r>
                <a:r>
                  <a:rPr lang="en-US" dirty="0" err="1"/>
                  <a:t>je</a:t>
                </a:r>
                <a:r>
                  <a:rPr lang="en-US" dirty="0"/>
                  <a:t> </a:t>
                </a:r>
                <a:r>
                  <a:rPr lang="en-US" sz="1200" i="0">
                    <a:latin typeface="Cambria Math" panose="02040503050406030204" pitchFamily="18" charset="0"/>
                  </a:rPr>
                  <a:t>|𝑎|^2</a:t>
                </a:r>
                <a:r>
                  <a:rPr lang="en-US" dirty="0"/>
                  <a:t> </a:t>
                </a:r>
                <a:r>
                  <a:rPr lang="en-US" dirty="0" err="1"/>
                  <a:t>dajući</a:t>
                </a:r>
                <a:r>
                  <a:rPr lang="en-US" dirty="0"/>
                  <a:t> </a:t>
                </a:r>
                <a:r>
                  <a:rPr lang="en-US" dirty="0" err="1"/>
                  <a:t>rezultat</a:t>
                </a:r>
                <a:r>
                  <a:rPr lang="en-US" dirty="0"/>
                  <a:t> 0 </a:t>
                </a:r>
                <a:r>
                  <a:rPr lang="en-US" dirty="0" err="1"/>
                  <a:t>i</a:t>
                </a:r>
                <a:r>
                  <a:rPr lang="en-US" dirty="0"/>
                  <a:t> </a:t>
                </a:r>
                <a:r>
                  <a:rPr lang="en-US" dirty="0" err="1"/>
                  <a:t>na</a:t>
                </a:r>
                <a:r>
                  <a:rPr lang="en-US" dirty="0"/>
                  <a:t> </a:t>
                </a:r>
                <a:r>
                  <a:rPr lang="en-US" dirty="0" err="1"/>
                  <a:t>južni</a:t>
                </a:r>
                <a:r>
                  <a:rPr lang="en-US" dirty="0"/>
                  <a:t> pol</a:t>
                </a:r>
                <a:r>
                  <a:rPr lang="en-US" baseline="0" dirty="0"/>
                  <a:t> </a:t>
                </a:r>
                <a:r>
                  <a:rPr lang="en-US" sz="1200" i="0">
                    <a:latin typeface="Cambria Math" panose="02040503050406030204" pitchFamily="18" charset="0"/>
                  </a:rPr>
                  <a:t>|</a:t>
                </a:r>
                <a:r>
                  <a:rPr lang="sr-Latn-RS" sz="1200" b="0" i="0">
                    <a:latin typeface="Cambria Math" panose="02040503050406030204" pitchFamily="18" charset="0"/>
                  </a:rPr>
                  <a:t>𝑏</a:t>
                </a:r>
                <a:r>
                  <a:rPr lang="en-US" sz="1200" b="0" i="0">
                    <a:latin typeface="Cambria Math" panose="02040503050406030204" pitchFamily="18" charset="0"/>
                  </a:rPr>
                  <a:t>|^</a:t>
                </a:r>
                <a:r>
                  <a:rPr lang="en-US" sz="1200" i="0">
                    <a:latin typeface="Cambria Math" panose="02040503050406030204" pitchFamily="18" charset="0"/>
                  </a:rPr>
                  <a:t>2</a:t>
                </a:r>
                <a:r>
                  <a:rPr lang="en-US" dirty="0"/>
                  <a:t> dajući rezultat 1.  </a:t>
                </a:r>
                <a:r>
                  <a:rPr lang="en-US" dirty="0" err="1"/>
                  <a:t>Postavlja</a:t>
                </a:r>
                <a:r>
                  <a:rPr lang="en-US" dirty="0"/>
                  <a:t> se </a:t>
                </a:r>
                <a:r>
                  <a:rPr lang="en-US" dirty="0" err="1"/>
                  <a:t>pitanje</a:t>
                </a:r>
                <a:r>
                  <a:rPr lang="en-US" dirty="0"/>
                  <a:t>, </a:t>
                </a:r>
                <a:r>
                  <a:rPr lang="en-US" dirty="0" err="1"/>
                  <a:t>čemu</a:t>
                </a:r>
                <a:r>
                  <a:rPr lang="en-US" dirty="0"/>
                  <a:t> </a:t>
                </a:r>
                <a:r>
                  <a:rPr lang="en-US" dirty="0" err="1"/>
                  <a:t>uopšte</a:t>
                </a:r>
                <a:r>
                  <a:rPr lang="en-US" dirty="0"/>
                  <a:t> </a:t>
                </a:r>
                <a:r>
                  <a:rPr lang="en-US" dirty="0" err="1"/>
                  <a:t>služi</a:t>
                </a:r>
                <a:r>
                  <a:rPr lang="en-US" dirty="0"/>
                  <a:t> </a:t>
                </a:r>
                <a:r>
                  <a:rPr lang="en-US" dirty="0" err="1"/>
                  <a:t>merenje</a:t>
                </a:r>
                <a:r>
                  <a:rPr lang="en-US" dirty="0"/>
                  <a:t> </a:t>
                </a:r>
                <a:r>
                  <a:rPr lang="en-US" dirty="0" err="1"/>
                  <a:t>ako</a:t>
                </a:r>
                <a:r>
                  <a:rPr lang="en-US" baseline="0" dirty="0"/>
                  <a:t> </a:t>
                </a:r>
                <a:r>
                  <a:rPr lang="en-US" baseline="0" dirty="0" err="1"/>
                  <a:t>je</a:t>
                </a:r>
                <a:r>
                  <a:rPr lang="en-US" baseline="0" dirty="0"/>
                  <a:t> </a:t>
                </a:r>
                <a:r>
                  <a:rPr lang="en-US" baseline="0" dirty="0" err="1"/>
                  <a:t>ishod</a:t>
                </a:r>
                <a:r>
                  <a:rPr lang="en-US" baseline="0" dirty="0"/>
                  <a:t> </a:t>
                </a:r>
                <a:r>
                  <a:rPr lang="en-US" baseline="0" dirty="0" err="1"/>
                  <a:t>merenja</a:t>
                </a:r>
                <a:r>
                  <a:rPr lang="en-US" baseline="0" dirty="0"/>
                  <a:t> </a:t>
                </a:r>
                <a:r>
                  <a:rPr lang="en-US" baseline="0" dirty="0" err="1"/>
                  <a:t>slučajan</a:t>
                </a:r>
                <a:r>
                  <a:rPr lang="en-US" dirty="0"/>
                  <a:t>?</a:t>
                </a:r>
              </a:p>
              <a:p>
                <a:r>
                  <a:rPr lang="en-US" dirty="0"/>
                  <a:t>Da bi </a:t>
                </a:r>
                <a:r>
                  <a:rPr lang="en-US" dirty="0" err="1"/>
                  <a:t>stekli</a:t>
                </a:r>
                <a:r>
                  <a:rPr lang="en-US" dirty="0"/>
                  <a:t> </a:t>
                </a:r>
                <a:r>
                  <a:rPr lang="en-US" dirty="0" err="1"/>
                  <a:t>uvid</a:t>
                </a:r>
                <a:r>
                  <a:rPr lang="en-US" dirty="0"/>
                  <a:t> u </a:t>
                </a:r>
                <a:r>
                  <a:rPr lang="en-US" dirty="0" err="1"/>
                  <a:t>stanje</a:t>
                </a:r>
                <a:r>
                  <a:rPr lang="en-US" dirty="0"/>
                  <a:t> kubita pre </a:t>
                </a:r>
                <a:r>
                  <a:rPr lang="en-US" dirty="0" err="1"/>
                  <a:t>merenja</a:t>
                </a:r>
                <a:r>
                  <a:rPr lang="en-US" dirty="0"/>
                  <a:t>, </a:t>
                </a:r>
                <a:r>
                  <a:rPr lang="en-US" dirty="0" err="1"/>
                  <a:t>potrebno</a:t>
                </a:r>
                <a:r>
                  <a:rPr lang="en-US" dirty="0"/>
                  <a:t> </a:t>
                </a:r>
                <a:r>
                  <a:rPr lang="en-US" dirty="0" err="1"/>
                  <a:t>je</a:t>
                </a:r>
                <a:r>
                  <a:rPr lang="en-US" dirty="0"/>
                  <a:t> </a:t>
                </a:r>
                <a:r>
                  <a:rPr lang="en-US" dirty="0" err="1"/>
                  <a:t>ponoviti</a:t>
                </a:r>
                <a:r>
                  <a:rPr lang="en-US" dirty="0"/>
                  <a:t> process </a:t>
                </a:r>
                <a:r>
                  <a:rPr lang="en-US" dirty="0" err="1"/>
                  <a:t>merenja</a:t>
                </a:r>
                <a:r>
                  <a:rPr lang="en-US" dirty="0"/>
                  <a:t> </a:t>
                </a:r>
                <a:r>
                  <a:rPr lang="en-US" dirty="0" err="1"/>
                  <a:t>više</a:t>
                </a:r>
                <a:r>
                  <a:rPr lang="en-US" dirty="0"/>
                  <a:t> puta. </a:t>
                </a:r>
                <a:r>
                  <a:rPr lang="en-US" dirty="0" err="1"/>
                  <a:t>Pošto</a:t>
                </a:r>
                <a:r>
                  <a:rPr lang="en-US" dirty="0"/>
                  <a:t> </a:t>
                </a:r>
                <a:r>
                  <a:rPr lang="en-US" dirty="0" err="1"/>
                  <a:t>je</a:t>
                </a:r>
                <a:r>
                  <a:rPr lang="en-US" dirty="0"/>
                  <a:t> </a:t>
                </a:r>
                <a:r>
                  <a:rPr lang="en-US" dirty="0" err="1"/>
                  <a:t>merenje</a:t>
                </a:r>
                <a:r>
                  <a:rPr lang="en-US" dirty="0"/>
                  <a:t> </a:t>
                </a:r>
                <a:r>
                  <a:rPr lang="en-US" dirty="0" err="1"/>
                  <a:t>izazvalo</a:t>
                </a:r>
                <a:r>
                  <a:rPr lang="en-US" dirty="0"/>
                  <a:t> </a:t>
                </a:r>
                <a:r>
                  <a:rPr lang="en-US" dirty="0" err="1"/>
                  <a:t>kolaps</a:t>
                </a:r>
                <a:r>
                  <a:rPr lang="en-US" dirty="0"/>
                  <a:t> </a:t>
                </a:r>
                <a:r>
                  <a:rPr lang="en-US" dirty="0" err="1"/>
                  <a:t>kvantnog</a:t>
                </a:r>
                <a:r>
                  <a:rPr lang="en-US" dirty="0"/>
                  <a:t> </a:t>
                </a:r>
                <a:r>
                  <a:rPr lang="en-US" dirty="0" err="1"/>
                  <a:t>stanja</a:t>
                </a:r>
                <a:r>
                  <a:rPr lang="en-US" dirty="0"/>
                  <a:t> kubita u </a:t>
                </a:r>
                <a:r>
                  <a:rPr lang="en-US" dirty="0" err="1"/>
                  <a:t>stanje</a:t>
                </a:r>
                <a:r>
                  <a:rPr lang="en-US" dirty="0"/>
                  <a:t> |0⟩ </a:t>
                </a:r>
                <a:r>
                  <a:rPr lang="en-US" dirty="0" err="1"/>
                  <a:t>ili</a:t>
                </a:r>
                <a:r>
                  <a:rPr lang="en-US" dirty="0"/>
                  <a:t> |1⟩ </a:t>
                </a:r>
                <a:r>
                  <a:rPr lang="en-US" dirty="0" err="1"/>
                  <a:t>ponavljanje</a:t>
                </a:r>
                <a:r>
                  <a:rPr lang="en-US" dirty="0"/>
                  <a:t> </a:t>
                </a:r>
                <a:r>
                  <a:rPr lang="en-US" dirty="0" err="1"/>
                  <a:t>procesa</a:t>
                </a:r>
                <a:r>
                  <a:rPr lang="en-US" dirty="0"/>
                  <a:t> </a:t>
                </a:r>
                <a:r>
                  <a:rPr lang="en-US" dirty="0" err="1"/>
                  <a:t>uključuje</a:t>
                </a:r>
                <a:r>
                  <a:rPr lang="en-US" dirty="0"/>
                  <a:t> </a:t>
                </a:r>
                <a:r>
                  <a:rPr lang="en-US" dirty="0" err="1"/>
                  <a:t>postavljanje</a:t>
                </a:r>
                <a:r>
                  <a:rPr lang="en-US" dirty="0"/>
                  <a:t> kubita u </a:t>
                </a:r>
                <a:r>
                  <a:rPr lang="en-US" dirty="0" err="1"/>
                  <a:t>stanje</a:t>
                </a:r>
                <a:r>
                  <a:rPr lang="en-US" dirty="0"/>
                  <a:t> pre </a:t>
                </a:r>
                <a:r>
                  <a:rPr lang="en-US" dirty="0" err="1"/>
                  <a:t>merenja</a:t>
                </a:r>
                <a:r>
                  <a:rPr lang="en-US" dirty="0"/>
                  <a:t> </a:t>
                </a:r>
                <a:r>
                  <a:rPr lang="en-US" dirty="0" err="1"/>
                  <a:t>i</a:t>
                </a:r>
                <a:r>
                  <a:rPr lang="en-US" dirty="0"/>
                  <a:t> </a:t>
                </a:r>
                <a:r>
                  <a:rPr lang="en-US" dirty="0" err="1"/>
                  <a:t>ponovno</a:t>
                </a:r>
                <a:r>
                  <a:rPr lang="en-US" dirty="0"/>
                  <a:t> </a:t>
                </a:r>
                <a:r>
                  <a:rPr lang="en-US" dirty="0" err="1"/>
                  <a:t>uključivanje</a:t>
                </a:r>
                <a:r>
                  <a:rPr lang="en-US" dirty="0"/>
                  <a:t> </a:t>
                </a:r>
                <a:r>
                  <a:rPr lang="en-US" dirty="0" err="1"/>
                  <a:t>instrumenta</a:t>
                </a:r>
                <a:endParaRPr lang="en-US" dirty="0"/>
              </a:p>
              <a:p>
                <a:pPr marL="228600" indent="-228600">
                  <a:buFont typeface="+mj-lt"/>
                  <a:buAutoNum type="arabicPeriod"/>
                </a:pPr>
                <a:endParaRPr 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err="1"/>
                  <a:t>Proces</a:t>
                </a:r>
                <a:r>
                  <a:rPr lang="en-US" dirty="0"/>
                  <a:t> </a:t>
                </a:r>
                <a:r>
                  <a:rPr lang="en-US" dirty="0" err="1"/>
                  <a:t>merenje</a:t>
                </a:r>
                <a:r>
                  <a:rPr lang="en-US" dirty="0"/>
                  <a:t> se </a:t>
                </a:r>
                <a:r>
                  <a:rPr lang="en-US" dirty="0" err="1"/>
                  <a:t>ponavlja</a:t>
                </a:r>
                <a:r>
                  <a:rPr lang="en-US" dirty="0"/>
                  <a:t> </a:t>
                </a:r>
                <a:r>
                  <a:rPr lang="en-US" dirty="0" err="1"/>
                  <a:t>više</a:t>
                </a:r>
                <a:r>
                  <a:rPr lang="en-US" dirty="0"/>
                  <a:t> puta, </a:t>
                </a:r>
                <a:r>
                  <a:rPr lang="en-US" dirty="0" err="1"/>
                  <a:t>zapisuje</a:t>
                </a:r>
                <a:r>
                  <a:rPr lang="en-US" dirty="0"/>
                  <a:t> se </a:t>
                </a:r>
                <a:r>
                  <a:rPr lang="en-US" dirty="0" err="1"/>
                  <a:t>ishod</a:t>
                </a:r>
                <a:r>
                  <a:rPr lang="en-US" dirty="0"/>
                  <a:t> </a:t>
                </a:r>
                <a:r>
                  <a:rPr lang="en-US" dirty="0" err="1"/>
                  <a:t>svakog</a:t>
                </a:r>
                <a:r>
                  <a:rPr lang="en-US" dirty="0"/>
                  <a:t> od </a:t>
                </a:r>
                <a:r>
                  <a:rPr lang="en-US" dirty="0" err="1"/>
                  <a:t>njih</a:t>
                </a:r>
                <a:r>
                  <a:rPr lang="en-US" dirty="0"/>
                  <a:t> </a:t>
                </a:r>
                <a:r>
                  <a:rPr lang="en-US" dirty="0" err="1"/>
                  <a:t>i</a:t>
                </a:r>
                <a:r>
                  <a:rPr lang="en-US" dirty="0"/>
                  <a:t> </a:t>
                </a:r>
                <a:r>
                  <a:rPr lang="en-US" dirty="0" err="1"/>
                  <a:t>računa</a:t>
                </a:r>
                <a:r>
                  <a:rPr lang="en-US" dirty="0"/>
                  <a:t> </a:t>
                </a:r>
                <a:r>
                  <a:rPr lang="en-US" dirty="0" err="1"/>
                  <a:t>relativna</a:t>
                </a:r>
                <a:r>
                  <a:rPr lang="en-US" dirty="0"/>
                  <a:t> </a:t>
                </a:r>
                <a:r>
                  <a:rPr lang="en-US" dirty="0" err="1"/>
                  <a:t>frekvencija</a:t>
                </a:r>
                <a:r>
                  <a:rPr lang="en-US" dirty="0"/>
                  <a:t> </a:t>
                </a:r>
                <a:r>
                  <a:rPr lang="en-US" dirty="0" err="1"/>
                  <a:t>ishoda</a:t>
                </a:r>
                <a:r>
                  <a:rPr lang="en-US" dirty="0"/>
                  <a:t>. </a:t>
                </a:r>
                <a:r>
                  <a:rPr lang="en-US" dirty="0" err="1"/>
                  <a:t>Relativnu</a:t>
                </a:r>
                <a:r>
                  <a:rPr lang="en-US" dirty="0"/>
                  <a:t> </a:t>
                </a:r>
                <a:r>
                  <a:rPr lang="en-US" dirty="0" err="1"/>
                  <a:t>frekvenciju</a:t>
                </a:r>
                <a:r>
                  <a:rPr lang="en-US" dirty="0"/>
                  <a:t> </a:t>
                </a:r>
                <a:r>
                  <a:rPr lang="en-US" dirty="0" err="1"/>
                  <a:t>definišemo</a:t>
                </a:r>
                <a:r>
                  <a:rPr lang="en-US" dirty="0"/>
                  <a:t> </a:t>
                </a:r>
                <a:r>
                  <a:rPr lang="en-US" dirty="0" err="1"/>
                  <a:t>kao</a:t>
                </a:r>
                <a:r>
                  <a:rPr lang="en-US" dirty="0"/>
                  <a:t> </a:t>
                </a:r>
                <a:r>
                  <a:rPr lang="en-US" dirty="0" err="1"/>
                  <a:t>odnos</a:t>
                </a:r>
                <a:r>
                  <a:rPr lang="en-US" dirty="0"/>
                  <a:t> </a:t>
                </a:r>
                <a:r>
                  <a:rPr lang="en-US" dirty="0" err="1"/>
                  <a:t>broja</a:t>
                </a:r>
                <a:r>
                  <a:rPr lang="en-US" dirty="0"/>
                  <a:t> </a:t>
                </a:r>
                <a:r>
                  <a:rPr lang="en-US" dirty="0" err="1"/>
                  <a:t>pojavljivanja</a:t>
                </a:r>
                <a:r>
                  <a:rPr lang="en-US" dirty="0"/>
                  <a:t> </a:t>
                </a:r>
                <a:r>
                  <a:rPr lang="en-US" dirty="0" err="1"/>
                  <a:t>posmatranog</a:t>
                </a:r>
                <a:r>
                  <a:rPr lang="en-US" dirty="0"/>
                  <a:t> </a:t>
                </a:r>
                <a:r>
                  <a:rPr lang="en-US" dirty="0" err="1"/>
                  <a:t>ishoda</a:t>
                </a:r>
                <a:r>
                  <a:rPr lang="en-US" dirty="0"/>
                  <a:t> </a:t>
                </a:r>
                <a:r>
                  <a:rPr lang="en-US" dirty="0" err="1"/>
                  <a:t>i</a:t>
                </a:r>
                <a:r>
                  <a:rPr lang="en-US" dirty="0"/>
                  <a:t> </a:t>
                </a:r>
                <a:r>
                  <a:rPr lang="en-US" dirty="0" err="1"/>
                  <a:t>ukupnog</a:t>
                </a:r>
                <a:r>
                  <a:rPr lang="en-US" dirty="0"/>
                  <a:t> </a:t>
                </a:r>
                <a:r>
                  <a:rPr lang="en-US" dirty="0" err="1"/>
                  <a:t>broja</a:t>
                </a:r>
                <a:r>
                  <a:rPr lang="en-US" dirty="0"/>
                  <a:t> </a:t>
                </a:r>
                <a:r>
                  <a:rPr lang="en-US" dirty="0" err="1"/>
                  <a:t>merenja</a:t>
                </a:r>
                <a:r>
                  <a:rPr lang="en-US" dirty="0"/>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err="1"/>
                  <a:t>Neka</a:t>
                </a:r>
                <a:r>
                  <a:rPr lang="en-US" sz="1200" dirty="0"/>
                  <a:t> </a:t>
                </a:r>
                <a:r>
                  <a:rPr lang="en-US" sz="1200" dirty="0" err="1"/>
                  <a:t>je</a:t>
                </a:r>
                <a:r>
                  <a:rPr lang="en-US" sz="1200" dirty="0"/>
                  <a:t> process </a:t>
                </a:r>
                <a:r>
                  <a:rPr lang="en-US" sz="1200" dirty="0" err="1"/>
                  <a:t>merenja</a:t>
                </a:r>
                <a:r>
                  <a:rPr lang="en-US" sz="1200" dirty="0"/>
                  <a:t> </a:t>
                </a:r>
                <a:r>
                  <a:rPr lang="en-US" sz="1200" dirty="0" err="1"/>
                  <a:t>ponovljen</a:t>
                </a:r>
                <a:r>
                  <a:rPr lang="en-US" sz="1200" dirty="0"/>
                  <a:t> 1000 puta </a:t>
                </a:r>
                <a:r>
                  <a:rPr lang="en-US" sz="1200" dirty="0" err="1"/>
                  <a:t>i</a:t>
                </a:r>
                <a:r>
                  <a:rPr lang="en-US" sz="1200" dirty="0"/>
                  <a:t> </a:t>
                </a:r>
                <a:r>
                  <a:rPr lang="en-US" sz="1200" dirty="0" err="1"/>
                  <a:t>neka</a:t>
                </a:r>
                <a:r>
                  <a:rPr lang="en-US" sz="1200" dirty="0"/>
                  <a:t> </a:t>
                </a:r>
                <a:r>
                  <a:rPr lang="en-US" sz="1200" dirty="0" err="1"/>
                  <a:t>je</a:t>
                </a:r>
                <a:r>
                  <a:rPr lang="en-US" sz="1200" dirty="0"/>
                  <a:t> </a:t>
                </a:r>
                <a:r>
                  <a:rPr lang="en-US" sz="1200" dirty="0" err="1"/>
                  <a:t>rezultat</a:t>
                </a:r>
                <a:r>
                  <a:rPr lang="en-US" sz="1200" dirty="0"/>
                  <a:t> 0 </a:t>
                </a:r>
                <a:r>
                  <a:rPr lang="en-US" sz="1200" dirty="0" err="1"/>
                  <a:t>dobijen</a:t>
                </a:r>
                <a:r>
                  <a:rPr lang="en-US" sz="1200" dirty="0"/>
                  <a:t> 640 puta, a </a:t>
                </a:r>
                <a:r>
                  <a:rPr lang="en-US" sz="1200" dirty="0" err="1"/>
                  <a:t>rezultat</a:t>
                </a:r>
                <a:r>
                  <a:rPr lang="en-US" sz="1200" dirty="0"/>
                  <a:t> 1: 360 puta. </a:t>
                </a:r>
                <a:r>
                  <a:rPr lang="en-US" sz="1200" dirty="0" err="1"/>
                  <a:t>Relativne</a:t>
                </a:r>
                <a:r>
                  <a:rPr lang="en-US" sz="1200" dirty="0"/>
                  <a:t> </a:t>
                </a:r>
                <a:r>
                  <a:rPr lang="en-US" sz="1200" dirty="0" err="1"/>
                  <a:t>frekvencije</a:t>
                </a:r>
                <a:r>
                  <a:rPr lang="en-US" sz="1200" dirty="0"/>
                  <a:t> </a:t>
                </a:r>
                <a:r>
                  <a:rPr lang="en-US" sz="1200" dirty="0" err="1"/>
                  <a:t>ishoda</a:t>
                </a:r>
                <a:r>
                  <a:rPr lang="en-US" sz="1200" dirty="0"/>
                  <a:t> </a:t>
                </a:r>
                <a:r>
                  <a:rPr lang="en-US" sz="1200" dirty="0" err="1"/>
                  <a:t>iznose</a:t>
                </a:r>
                <a:r>
                  <a:rPr lang="en-US" sz="1200" dirty="0"/>
                  <a:t>  0.64 </a:t>
                </a:r>
                <a:r>
                  <a:rPr lang="en-US" sz="1200" dirty="0" err="1"/>
                  <a:t>i</a:t>
                </a:r>
                <a:r>
                  <a:rPr lang="en-US" sz="1200" dirty="0"/>
                  <a:t> 0.36.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err="1"/>
                  <a:t>Ovaj</a:t>
                </a:r>
                <a:r>
                  <a:rPr lang="en-US" sz="1200" dirty="0"/>
                  <a:t> </a:t>
                </a:r>
                <a:r>
                  <a:rPr lang="en-US" sz="1200" dirty="0" err="1"/>
                  <a:t>rezultat</a:t>
                </a:r>
                <a:r>
                  <a:rPr lang="en-US" sz="1200" dirty="0"/>
                  <a:t> se </a:t>
                </a:r>
                <a:r>
                  <a:rPr lang="en-US" sz="1200" dirty="0" err="1"/>
                  <a:t>najčešće</a:t>
                </a:r>
                <a:r>
                  <a:rPr lang="en-US" sz="1200" dirty="0"/>
                  <a:t> </a:t>
                </a:r>
                <a:r>
                  <a:rPr lang="en-US" sz="1200" dirty="0" err="1"/>
                  <a:t>predstavlja</a:t>
                </a:r>
                <a:r>
                  <a:rPr lang="en-US" sz="1200" dirty="0"/>
                  <a:t> u </a:t>
                </a:r>
                <a:r>
                  <a:rPr lang="en-US" sz="1200" dirty="0" err="1"/>
                  <a:t>obliku</a:t>
                </a:r>
                <a:r>
                  <a:rPr lang="en-US" sz="1200" dirty="0"/>
                  <a:t> histograma. Na </a:t>
                </a:r>
                <a:r>
                  <a:rPr lang="en-US" sz="1200" dirty="0" err="1"/>
                  <a:t>horizontalnoj</a:t>
                </a:r>
                <a:r>
                  <a:rPr lang="en-US" sz="1200" dirty="0"/>
                  <a:t> </a:t>
                </a:r>
                <a:r>
                  <a:rPr lang="en-US" sz="1200" dirty="0" err="1"/>
                  <a:t>osi</a:t>
                </a:r>
                <a:r>
                  <a:rPr lang="en-US" sz="1200" dirty="0"/>
                  <a:t> se </a:t>
                </a:r>
                <a:r>
                  <a:rPr lang="en-US" sz="1200" dirty="0" err="1"/>
                  <a:t>ispišu</a:t>
                </a:r>
                <a:r>
                  <a:rPr lang="en-US" sz="1200" dirty="0"/>
                  <a:t> </a:t>
                </a:r>
                <a:r>
                  <a:rPr lang="en-US" sz="1200" dirty="0" err="1"/>
                  <a:t>mogući</a:t>
                </a:r>
                <a:r>
                  <a:rPr lang="en-US" sz="1200" dirty="0"/>
                  <a:t> </a:t>
                </a:r>
                <a:r>
                  <a:rPr lang="en-US" sz="1200" dirty="0" err="1"/>
                  <a:t>rezultati</a:t>
                </a:r>
                <a:r>
                  <a:rPr lang="en-US" sz="1200" dirty="0"/>
                  <a:t> </a:t>
                </a:r>
                <a:r>
                  <a:rPr lang="en-US" sz="1200" dirty="0" err="1"/>
                  <a:t>merenja</a:t>
                </a:r>
                <a:r>
                  <a:rPr lang="en-US" sz="1200" dirty="0"/>
                  <a:t> </a:t>
                </a:r>
                <a:r>
                  <a:rPr lang="en-US" sz="1200" dirty="0" err="1"/>
                  <a:t>iznad</a:t>
                </a:r>
                <a:r>
                  <a:rPr lang="en-US" sz="1200" dirty="0"/>
                  <a:t> </a:t>
                </a:r>
                <a:r>
                  <a:rPr lang="en-US" sz="1200" dirty="0" err="1"/>
                  <a:t>kojih</a:t>
                </a:r>
                <a:r>
                  <a:rPr lang="en-US" sz="1200" dirty="0"/>
                  <a:t> </a:t>
                </a:r>
                <a:r>
                  <a:rPr lang="en-US" sz="1200" dirty="0" err="1"/>
                  <a:t>su</a:t>
                </a:r>
                <a:r>
                  <a:rPr lang="en-US" sz="1200" dirty="0"/>
                  <a:t> </a:t>
                </a:r>
                <a:r>
                  <a:rPr lang="en-US" sz="1200" dirty="0" err="1"/>
                  <a:t>vertikalni</a:t>
                </a:r>
                <a:r>
                  <a:rPr lang="en-US" sz="1200" dirty="0"/>
                  <a:t> </a:t>
                </a:r>
                <a:r>
                  <a:rPr lang="en-US" sz="1200" dirty="0" err="1"/>
                  <a:t>stupci</a:t>
                </a:r>
                <a:r>
                  <a:rPr lang="en-US" sz="1200" dirty="0"/>
                  <a:t> </a:t>
                </a:r>
                <a:r>
                  <a:rPr lang="en-US" sz="1200" dirty="0" err="1"/>
                  <a:t>čija</a:t>
                </a:r>
                <a:r>
                  <a:rPr lang="en-US" sz="1200" dirty="0"/>
                  <a:t> </a:t>
                </a:r>
                <a:r>
                  <a:rPr lang="en-US" sz="1200" dirty="0" err="1"/>
                  <a:t>visina</a:t>
                </a:r>
                <a:r>
                  <a:rPr lang="en-US" sz="1200" dirty="0"/>
                  <a:t> </a:t>
                </a:r>
                <a:r>
                  <a:rPr lang="en-US" sz="1200" dirty="0" err="1"/>
                  <a:t>odgovara</a:t>
                </a:r>
                <a:r>
                  <a:rPr lang="en-US" sz="1200" dirty="0"/>
                  <a:t> </a:t>
                </a:r>
                <a:r>
                  <a:rPr lang="en-US" sz="1200" dirty="0" err="1"/>
                  <a:t>relativnoj</a:t>
                </a:r>
                <a:r>
                  <a:rPr lang="en-US" sz="1200" dirty="0"/>
                  <a:t> </a:t>
                </a:r>
                <a:r>
                  <a:rPr lang="en-US" sz="1200" dirty="0" err="1"/>
                  <a:t>frekvenicji</a:t>
                </a:r>
                <a:r>
                  <a:rPr lang="en-US" sz="1200" dirty="0"/>
                  <a:t> </a:t>
                </a:r>
                <a:r>
                  <a:rPr lang="en-US" sz="1200" dirty="0" err="1"/>
                  <a:t>svakog</a:t>
                </a:r>
                <a:r>
                  <a:rPr lang="en-US" sz="1200" dirty="0"/>
                  <a:t> od </a:t>
                </a:r>
                <a:r>
                  <a:rPr lang="en-US" sz="1200" dirty="0" err="1"/>
                  <a:t>rezultata</a:t>
                </a:r>
                <a:r>
                  <a:rPr lang="en-US" sz="1200" dirty="0"/>
                  <a:t>. </a:t>
                </a:r>
                <a:r>
                  <a:rPr lang="en-US" sz="1200" dirty="0" err="1"/>
                  <a:t>Ovaj</a:t>
                </a:r>
                <a:r>
                  <a:rPr lang="en-US" sz="1200" dirty="0"/>
                  <a:t> se histogram </a:t>
                </a:r>
                <a:r>
                  <a:rPr lang="en-US" sz="1200" dirty="0" err="1"/>
                  <a:t>jednostavno</a:t>
                </a:r>
                <a:r>
                  <a:rPr lang="en-US" sz="1200" dirty="0"/>
                  <a:t> </a:t>
                </a:r>
                <a:r>
                  <a:rPr lang="en-US" sz="1200" dirty="0" err="1"/>
                  <a:t>programski</a:t>
                </a:r>
                <a:r>
                  <a:rPr lang="en-US" sz="1200" dirty="0"/>
                  <a:t> </a:t>
                </a:r>
                <a:r>
                  <a:rPr lang="en-US" sz="1200" dirty="0" err="1"/>
                  <a:t>crta</a:t>
                </a:r>
                <a:r>
                  <a:rPr lang="en-US" sz="1200" dirty="0"/>
                  <a:t> </a:t>
                </a:r>
                <a:r>
                  <a:rPr lang="en-US" sz="1200" dirty="0" err="1"/>
                  <a:t>instrukcijom</a:t>
                </a:r>
                <a:r>
                  <a:rPr lang="en-US" sz="1200" dirty="0"/>
                  <a:t> </a:t>
                </a:r>
                <a:r>
                  <a:rPr lang="en-US" sz="1200" dirty="0" err="1"/>
                  <a:t>plot_histogram</a:t>
                </a:r>
                <a:r>
                  <a:rPr lang="en-US" sz="1200" dirty="0"/>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3801580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From the e</a:t>
                </a:r>
                <a:r>
                  <a:rPr lang="en-ZA" b="0" dirty="0"/>
                  <a:t>xpression for a qubit state on the Bloch sphere, we can see that the phase factor is applied to only one component of the state. This phase is therefore called the relative phase.</a:t>
                </a:r>
              </a:p>
              <a:p>
                <a:endParaRPr lang="en-ZA" b="0" dirty="0"/>
              </a:p>
              <a:p>
                <a:r>
                  <a:rPr lang="en-ZA" b="0" dirty="0"/>
                  <a:t>Consider its effect on measurement. The states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b="0" dirty="0"/>
                  <a:t> and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b="0" dirty="0"/>
                  <a:t> differ in relative phase by </a:t>
                </a:r>
                <a14:m>
                  <m:oMath xmlns:m="http://schemas.openxmlformats.org/officeDocument/2006/math">
                    <m:r>
                      <a:rPr lang="sr-Latn-RS" sz="1200" i="1" smtClean="0">
                        <a:latin typeface="Cambria Math" panose="02040503050406030204" pitchFamily="18" charset="0"/>
                        <a:ea typeface="Cambria Math" panose="02040503050406030204" pitchFamily="18" charset="0"/>
                      </a:rPr>
                      <m:t>𝜋</m:t>
                    </m:r>
                  </m:oMath>
                </a14:m>
                <a:r>
                  <a:rPr lang="en-ZA" b="0" dirty="0"/>
                  <a:t>. A measurement along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𝑧</m:t>
                    </m:r>
                  </m:oMath>
                </a14:m>
                <a:r>
                  <a:rPr lang="en-ZA" b="0" dirty="0"/>
                  <a:t>-axis gives outcomes 0 and 1 with equal probabilities for both states. Thus, measurement along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𝑧</m:t>
                    </m:r>
                  </m:oMath>
                </a14:m>
                <a:r>
                  <a:rPr lang="en-ZA" b="0" dirty="0"/>
                  <a:t>-axis cannot distinguish between these states and is insensitive to their relative phase.</a:t>
                </a:r>
                <a:r>
                  <a:rPr lang="en-ZA" b="0" baseline="0" dirty="0"/>
                  <a:t> </a:t>
                </a:r>
                <a:r>
                  <a:rPr lang="en-ZA" b="0" dirty="0"/>
                  <a:t>However, when measured along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oMath>
                </a14:m>
                <a:r>
                  <a:rPr lang="en-ZA" b="0" dirty="0"/>
                  <a:t>-axis, that is, in the diagonal basis, the states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b="0" dirty="0"/>
                  <a:t> and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b="0" dirty="0"/>
                  <a:t> can be distinguished with certainty.</a:t>
                </a:r>
              </a:p>
              <a:p>
                <a:endParaRPr lang="en-ZA" b="0" dirty="0"/>
              </a:p>
              <a:p>
                <a:r>
                  <a:rPr lang="en-ZA" b="0" dirty="0"/>
                  <a:t>A phase factor applied to the entire state is called the global phase. If </a:t>
                </a:r>
                <a14:m>
                  <m:oMath xmlns:m="http://schemas.openxmlformats.org/officeDocument/2006/math">
                    <m:d>
                      <m:dPr>
                        <m:begChr m:val="|"/>
                        <m:endChr m:val="⟩"/>
                        <m:ctrlPr>
                          <a:rPr lang="en-US" sz="1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b="0" i="1" smtClean="0">
                            <a:latin typeface="Cambria Math" panose="02040503050406030204" pitchFamily="18" charset="0"/>
                            <a:cs typeface="Times New Roman" panose="02020603050405020304" pitchFamily="18" charset="0"/>
                          </a:rPr>
                          <m:t>𝑆</m:t>
                        </m:r>
                        <m:r>
                          <a:rPr lang="en-US" sz="1200" b="0" i="1" smtClean="0">
                            <a:latin typeface="Cambria Math" panose="02040503050406030204" pitchFamily="18" charset="0"/>
                            <a:cs typeface="Times New Roman" panose="02020603050405020304" pitchFamily="18" charset="0"/>
                          </a:rPr>
                          <m:t>′</m:t>
                        </m:r>
                      </m:e>
                    </m:d>
                    <m:sSup>
                      <m:sSupPr>
                        <m:ctrlPr>
                          <a:rPr lang="en-US" sz="1200" i="1">
                            <a:latin typeface="Cambria Math" panose="02040503050406030204" pitchFamily="18" charset="0"/>
                            <a:cs typeface="Times New Roman" panose="02020603050405020304" pitchFamily="18" charset="0"/>
                          </a:rPr>
                        </m:ctrlPr>
                      </m:sSupPr>
                      <m:e>
                        <m:r>
                          <a:rPr lang="en-US" sz="1200" b="0" i="1" smtClean="0">
                            <a:latin typeface="Cambria Math" panose="02040503050406030204" pitchFamily="18" charset="0"/>
                            <a:cs typeface="Times New Roman" panose="02020603050405020304" pitchFamily="18" charset="0"/>
                          </a:rPr>
                          <m:t>=</m:t>
                        </m:r>
                        <m:r>
                          <a:rPr lang="en-US" sz="1200" i="1">
                            <a:latin typeface="Cambria Math" panose="02040503050406030204" pitchFamily="18" charset="0"/>
                            <a:cs typeface="Times New Roman" panose="02020603050405020304" pitchFamily="18" charset="0"/>
                          </a:rPr>
                          <m:t>𝑒</m:t>
                        </m:r>
                      </m:e>
                      <m:sup>
                        <m:r>
                          <a:rPr lang="en-US" sz="1200" i="1">
                            <a:latin typeface="Cambria Math" panose="02040503050406030204" pitchFamily="18" charset="0"/>
                            <a:cs typeface="Times New Roman" panose="02020603050405020304" pitchFamily="18" charset="0"/>
                          </a:rPr>
                          <m:t>𝑖</m:t>
                        </m:r>
                        <m:r>
                          <a:rPr lang="en-US" sz="1200" i="1" smtClean="0">
                            <a:latin typeface="Cambria Math" panose="02040503050406030204" pitchFamily="18" charset="0"/>
                            <a:ea typeface="Cambria Math" panose="02040503050406030204" pitchFamily="18" charset="0"/>
                            <a:cs typeface="Times New Roman" panose="02020603050405020304" pitchFamily="18" charset="0"/>
                          </a:rPr>
                          <m:t>𝛾</m:t>
                        </m:r>
                      </m:sup>
                    </m:sSup>
                    <m:d>
                      <m:dPr>
                        <m:begChr m:val="|"/>
                        <m:endChr m:val="⟩"/>
                        <m:ctrlPr>
                          <a:rPr lang="en-US" sz="12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latin typeface="Cambria Math" panose="02040503050406030204" pitchFamily="18" charset="0"/>
                            <a:cs typeface="Times New Roman" panose="02020603050405020304" pitchFamily="18" charset="0"/>
                          </a:rPr>
                          <m:t>𝑆</m:t>
                        </m:r>
                      </m:e>
                    </m:d>
                  </m:oMath>
                </a14:m>
                <a:r>
                  <a:rPr lang="en-ZA" b="0" dirty="0"/>
                  <a:t>, then, since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en-US" sz="1200" i="1">
                                <a:latin typeface="Cambria Math" panose="02040503050406030204" pitchFamily="18" charset="0"/>
                                <a:cs typeface="Times New Roman" panose="02020603050405020304" pitchFamily="18" charset="0"/>
                              </a:rPr>
                            </m:ctrlPr>
                          </m:sSupPr>
                          <m:e>
                            <m:r>
                              <a:rPr lang="en-US" sz="1200" i="1">
                                <a:latin typeface="Cambria Math" panose="02040503050406030204" pitchFamily="18" charset="0"/>
                                <a:cs typeface="Times New Roman" panose="02020603050405020304" pitchFamily="18" charset="0"/>
                              </a:rPr>
                              <m:t>|</m:t>
                            </m:r>
                            <m:r>
                              <a:rPr lang="en-US" sz="1200" i="1">
                                <a:latin typeface="Cambria Math" panose="02040503050406030204" pitchFamily="18" charset="0"/>
                                <a:cs typeface="Times New Roman" panose="02020603050405020304" pitchFamily="18" charset="0"/>
                              </a:rPr>
                              <m:t>𝑒</m:t>
                            </m:r>
                          </m:e>
                          <m:sup>
                            <m:r>
                              <a:rPr lang="en-US" sz="1200" i="1">
                                <a:latin typeface="Cambria Math" panose="02040503050406030204" pitchFamily="18" charset="0"/>
                                <a:cs typeface="Times New Roman" panose="02020603050405020304" pitchFamily="18" charset="0"/>
                              </a:rPr>
                              <m:t>𝑖</m:t>
                            </m:r>
                            <m:r>
                              <a:rPr lang="en-US" sz="1200" i="1">
                                <a:latin typeface="Cambria Math" panose="02040503050406030204" pitchFamily="18" charset="0"/>
                                <a:ea typeface="Cambria Math" panose="02040503050406030204" pitchFamily="18" charset="0"/>
                                <a:cs typeface="Times New Roman" panose="02020603050405020304" pitchFamily="18" charset="0"/>
                              </a:rPr>
                              <m:t>𝛾</m:t>
                            </m:r>
                          </m:sup>
                        </m:sSup>
                        <m:r>
                          <a:rPr lang="en-US" sz="1200" i="1">
                            <a:latin typeface="Cambria Math" panose="02040503050406030204" pitchFamily="18" charset="0"/>
                            <a:ea typeface="Cambria Math" panose="02040503050406030204" pitchFamily="18" charset="0"/>
                            <a:cs typeface="Times New Roman" panose="02020603050405020304" pitchFamily="18" charset="0"/>
                          </a:rPr>
                          <m:t>|</m:t>
                        </m:r>
                      </m:e>
                      <m:sup>
                        <m:r>
                          <a:rPr lang="en-US" sz="1200" i="1">
                            <a:latin typeface="Cambria Math" panose="02040503050406030204" pitchFamily="18" charset="0"/>
                            <a:ea typeface="Cambria Math" panose="02040503050406030204" pitchFamily="18" charset="0"/>
                            <a:cs typeface="Times New Roman" panose="02020603050405020304" pitchFamily="18" charset="0"/>
                          </a:rPr>
                          <m:t>2</m:t>
                        </m:r>
                      </m:sup>
                    </m:sSup>
                    <m:r>
                      <a:rPr lang="en-US" sz="1200"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en-ZA" b="0" dirty="0"/>
                  <a:t>, the measurement probabilities remain unchanged. A global phase does not change the position of the state on the Bloch sphere and therefore has no physically measurable effect. For this reason, global phase is ignored in quantum computing.</a:t>
                </a:r>
              </a:p>
            </p:txBody>
          </p:sp>
        </mc:Choice>
        <mc:Fallback xmlns="">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The term ‘phase’ or ‘phase facto’ refers to the angle </a:t>
                </a:r>
                <a:r>
                  <a:rPr lang="en-US" sz="2000" i="0" kern="1200">
                    <a:solidFill>
                      <a:schemeClr val="tx1"/>
                    </a:solidFill>
                    <a:effectLst/>
                    <a:latin typeface="+mn-lt"/>
                    <a:ea typeface="+mn-ea"/>
                    <a:cs typeface="+mn-cs"/>
                  </a:rPr>
                  <a:t>𝜑</a:t>
                </a:r>
                <a:r>
                  <a:rPr lang="en-US" sz="2000" dirty="0">
                    <a:effectLst/>
                  </a:rPr>
                  <a:t> a state vector makes</a:t>
                </a:r>
                <a:r>
                  <a:rPr lang="en-US" sz="2000" baseline="0" dirty="0">
                    <a:effectLst/>
                  </a:rPr>
                  <a:t> in </a:t>
                </a:r>
                <a:r>
                  <a:rPr lang="en-US" sz="2000" baseline="0" dirty="0" err="1">
                    <a:effectLst/>
                  </a:rPr>
                  <a:t>xy</a:t>
                </a:r>
                <a:r>
                  <a:rPr lang="en-US" sz="2000" baseline="0" dirty="0">
                    <a:effectLst/>
                  </a:rPr>
                  <a:t>-plane. This angle determine the vector rotation around the z-axis. We distinguish between two types of phases: a relative and a global.</a:t>
                </a:r>
              </a:p>
              <a:p>
                <a:pPr marL="342900" indent="-342900">
                  <a:buFont typeface="Arial" panose="020B0604020202020204" pitchFamily="34" charset="0"/>
                  <a:buChar char="•"/>
                </a:pPr>
                <a:r>
                  <a:rPr lang="en-US" sz="2000" baseline="0" dirty="0">
                    <a:effectLst/>
                  </a:rPr>
                  <a:t>A relative phase is applied to one of the component of the qubit, </a:t>
                </a:r>
                <a:r>
                  <a:rPr lang="en-US" sz="2000" i="0">
                    <a:latin typeface="Cambria Math" panose="02040503050406030204" pitchFamily="18" charset="0"/>
                    <a:cs typeface="Times New Roman" panose="020206030504050203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1⟩</a:t>
                </a:r>
                <a:r>
                  <a:rPr lang="en-US" sz="2000" baseline="0" dirty="0">
                    <a:effectLst/>
                  </a:rPr>
                  <a:t> by a convention. When applied, it change the qubit state. In our example, we can see that by changing </a:t>
                </a:r>
                <a:r>
                  <a:rPr lang="en-US" sz="2000" i="0">
                    <a:latin typeface="Cambria Math" panose="02040503050406030204" pitchFamily="18" charset="0"/>
                    <a:ea typeface="Cambria Math" panose="02040503050406030204" pitchFamily="18" charset="0"/>
                    <a:cs typeface="Times New Roman" panose="02020603050405020304" pitchFamily="18" charset="0"/>
                  </a:rPr>
                  <a:t>𝜑</a:t>
                </a:r>
                <a:r>
                  <a:rPr lang="en-US" sz="2000" baseline="0" dirty="0">
                    <a:effectLst/>
                  </a:rPr>
                  <a:t> we are changing a state vector. In this example, from  </a:t>
                </a:r>
                <a:r>
                  <a:rPr lang="en-US" sz="2000" i="0">
                    <a:latin typeface="Cambria Math" panose="02040503050406030204" pitchFamily="18" charset="0"/>
                    <a:cs typeface="Times New Roman" panose="02020603050405020304" pitchFamily="18" charset="0"/>
                  </a:rPr>
                  <a:t>|</a:t>
                </a:r>
                <a:r>
                  <a:rPr lang="en-US" sz="2000" b="0" i="0">
                    <a:latin typeface="Cambria Math" panose="02040503050406030204" pitchFamily="18" charset="0"/>
                    <a:ea typeface="Times New Roman" panose="02020603050405020304" pitchFamily="18" charset="0"/>
                    <a:cs typeface="Times New Roman" panose="02020603050405020304" pitchFamily="18" charset="0"/>
                  </a:rPr>
                  <a:t>+⟩</a:t>
                </a:r>
                <a:r>
                  <a:rPr lang="en-US" sz="2000" baseline="0" dirty="0">
                    <a:effectLst/>
                  </a:rPr>
                  <a:t> to </a:t>
                </a:r>
                <a:r>
                  <a:rPr lang="en-US" sz="2000" i="0">
                    <a:latin typeface="Cambria Math" panose="02040503050406030204" pitchFamily="18" charset="0"/>
                    <a:cs typeface="Times New Roman" panose="02020603050405020304" pitchFamily="18" charset="0"/>
                  </a:rPr>
                  <a:t>|</a:t>
                </a:r>
                <a:r>
                  <a:rPr lang="en-US" sz="2000" b="0" i="0">
                    <a:latin typeface="Cambria Math" panose="02040503050406030204" pitchFamily="18" charset="0"/>
                    <a:ea typeface="Times New Roman" panose="02020603050405020304" pitchFamily="18" charset="0"/>
                    <a:cs typeface="Times New Roman" panose="02020603050405020304" pitchFamily="18" charset="0"/>
                  </a:rPr>
                  <a:t>−⟩</a:t>
                </a:r>
                <a:r>
                  <a:rPr lang="en-US" sz="2000" baseline="0" dirty="0">
                    <a:effectLst/>
                  </a:rPr>
                  <a:t>.</a:t>
                </a:r>
              </a:p>
              <a:p>
                <a:pPr marL="342900" indent="-342900">
                  <a:buFont typeface="Arial" panose="020B0604020202020204" pitchFamily="34" charset="0"/>
                  <a:buChar char="•"/>
                </a:pPr>
                <a:r>
                  <a:rPr lang="en-US" sz="2000" baseline="0" dirty="0">
                    <a:effectLst/>
                  </a:rPr>
                  <a:t>A global phase is applied to both qubit components. Global phases are the artifacts of the mathematical framework we use. They don’t have a physical meaning. If two states differ only by a global phase, they effectively present the same physical system.</a:t>
                </a:r>
              </a:p>
              <a:p>
                <a:pPr marL="342900" indent="-342900">
                  <a:buFont typeface="Arial" panose="020B0604020202020204" pitchFamily="34" charset="0"/>
                  <a:buChar char="•"/>
                </a:pPr>
                <a:r>
                  <a:rPr lang="en-US" sz="2000" baseline="0" dirty="0">
                    <a:effectLst/>
                  </a:rPr>
                  <a:t>In our second example the global phase change the direction of the vector but not the vector itself. When a qubit is measured it does not have a consequence as </a:t>
                </a:r>
                <a:r>
                  <a:rPr lang="en-US" sz="2000" i="0">
                    <a:latin typeface="Cambria Math" panose="02040503050406030204" pitchFamily="18" charset="0"/>
                    <a:ea typeface="Cambria Math" panose="02040503050406030204" pitchFamily="18" charset="0"/>
                    <a:cs typeface="Times New Roman" panose="02020603050405020304" pitchFamily="18" charset="0"/>
                  </a:rPr>
                  <a:t>〖〖</a:t>
                </a:r>
                <a:r>
                  <a:rPr lang="en-US" sz="2000" i="0">
                    <a:latin typeface="Cambria Math" panose="02040503050406030204" pitchFamily="18" charset="0"/>
                    <a:cs typeface="Times New Roman" panose="02020603050405020304" pitchFamily="18" charset="0"/>
                  </a:rPr>
                  <a:t>|𝑒〗^𝑖</a:t>
                </a:r>
                <a:r>
                  <a:rPr lang="en-US" sz="2000" i="0">
                    <a:latin typeface="Cambria Math" panose="02040503050406030204" pitchFamily="18" charset="0"/>
                    <a:ea typeface="Cambria Math" panose="02040503050406030204" pitchFamily="18" charset="0"/>
                    <a:cs typeface="Times New Roman" panose="02020603050405020304" pitchFamily="18" charset="0"/>
                  </a:rPr>
                  <a:t>𝛾 |〗^2=1</a:t>
                </a:r>
                <a:r>
                  <a:rPr lang="en-US" sz="2000" baseline="0" dirty="0">
                    <a:effectLst/>
                  </a:rPr>
                  <a:t>. In other words </a:t>
                </a:r>
                <a:r>
                  <a:rPr lang="en-US" sz="2000" i="0">
                    <a:latin typeface="Cambria Math" panose="02040503050406030204" pitchFamily="18" charset="0"/>
                    <a:cs typeface="Times New Roman" panose="02020603050405020304" pitchFamily="18" charset="0"/>
                  </a:rPr>
                  <a:t>|</a:t>
                </a:r>
                <a:r>
                  <a:rPr lang="en-US" sz="2000" b="0" i="0">
                    <a:latin typeface="Cambria Math" panose="02040503050406030204" pitchFamily="18" charset="0"/>
                    <a:ea typeface="Times New Roman" panose="02020603050405020304" pitchFamily="18" charset="0"/>
                    <a:cs typeface="Times New Roman" panose="02020603050405020304" pitchFamily="18" charset="0"/>
                  </a:rPr>
                  <a:t>+⟩</a:t>
                </a:r>
                <a:r>
                  <a:rPr lang="en-US" sz="2000" baseline="0" dirty="0">
                    <a:effectLst/>
                  </a:rPr>
                  <a:t> and -</a:t>
                </a:r>
                <a:r>
                  <a:rPr lang="en-US" sz="2000" i="0">
                    <a:latin typeface="Cambria Math" panose="02040503050406030204" pitchFamily="18" charset="0"/>
                    <a:cs typeface="Times New Roman" panose="02020603050405020304" pitchFamily="18" charset="0"/>
                  </a:rPr>
                  <a:t>|</a:t>
                </a:r>
                <a:r>
                  <a:rPr lang="en-US" sz="2000" b="0" i="0">
                    <a:latin typeface="Cambria Math" panose="02040503050406030204" pitchFamily="18" charset="0"/>
                    <a:ea typeface="Times New Roman" panose="02020603050405020304" pitchFamily="18" charset="0"/>
                    <a:cs typeface="Times New Roman" panose="02020603050405020304" pitchFamily="18" charset="0"/>
                  </a:rPr>
                  <a:t>+⟩</a:t>
                </a:r>
                <a:r>
                  <a:rPr lang="en-US" sz="2000" baseline="0" dirty="0">
                    <a:effectLst/>
                  </a:rPr>
                  <a:t> are indistinguishable. </a:t>
                </a:r>
              </a:p>
              <a:p>
                <a:pPr marL="342900" indent="-342900">
                  <a:buFont typeface="Arial" panose="020B0604020202020204" pitchFamily="34" charset="0"/>
                  <a:buChar char="•"/>
                </a:pPr>
                <a:r>
                  <a:rPr lang="en-US" sz="2000" baseline="0" dirty="0">
                    <a:effectLst/>
                  </a:rPr>
                  <a:t>We can generalize this result and say that some state </a:t>
                </a:r>
                <a:r>
                  <a:rPr lang="en-US" sz="2000" i="0">
                    <a:latin typeface="Cambria Math" panose="02040503050406030204" pitchFamily="18" charset="0"/>
                    <a:cs typeface="Times New Roman" panose="020206030504050203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𝑆⟩</a:t>
                </a:r>
                <a:r>
                  <a:rPr lang="en-US" sz="2000" baseline="0" dirty="0">
                    <a:effectLst/>
                  </a:rPr>
                  <a:t> and state z</a:t>
                </a:r>
                <a:r>
                  <a:rPr lang="en-US" sz="2000" i="0">
                    <a:latin typeface="Cambria Math" panose="02040503050406030204" pitchFamily="18" charset="0"/>
                    <a:cs typeface="Times New Roman" panose="020206030504050203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𝑆⟩</a:t>
                </a:r>
                <a:r>
                  <a:rPr lang="en-US" sz="2000" baseline="0" dirty="0">
                    <a:effectLst/>
                  </a:rPr>
                  <a:t> are undistinguishable whenever z is a complex number of magnitude 1. Such z is called a global phase.</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2747547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The Born rule can be expressed in a more general mathematical form using inner products.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Suppose the qubit is in the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d>
                    <m:r>
                      <a:rPr lang="en-US" sz="120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0</m:t>
                        </m:r>
                      </m:sub>
                    </m:sSub>
                    <m:d>
                      <m:dPr>
                        <m:begChr m:val="|"/>
                        <m:endChr m:val="⟩"/>
                        <m:ctrlPr>
                          <a:rPr lang="en-US" sz="1200" i="1">
                            <a:latin typeface="Cambria Math" panose="02040503050406030204" pitchFamily="18" charset="0"/>
                          </a:rPr>
                        </m:ctrlPr>
                      </m:dPr>
                      <m:e>
                        <m:r>
                          <a:rPr lang="en-US" sz="1200">
                            <a:latin typeface="Cambria Math" panose="02040503050406030204" pitchFamily="18" charset="0"/>
                          </a:rPr>
                          <m:t>0</m:t>
                        </m:r>
                      </m:e>
                    </m:d>
                    <m:r>
                      <a:rPr lang="en-US" sz="120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1</m:t>
                        </m:r>
                      </m:sub>
                    </m:sSub>
                    <m:d>
                      <m:dPr>
                        <m:begChr m:val="|"/>
                        <m:endChr m:val="⟩"/>
                        <m:ctrlPr>
                          <a:rPr lang="en-US" sz="1200" i="1">
                            <a:latin typeface="Cambria Math" panose="02040503050406030204" pitchFamily="18" charset="0"/>
                          </a:rPr>
                        </m:ctrlPr>
                      </m:dPr>
                      <m:e>
                        <m:r>
                          <a:rPr lang="en-US" sz="1200">
                            <a:latin typeface="Cambria Math" panose="02040503050406030204" pitchFamily="18" charset="0"/>
                          </a:rPr>
                          <m:t>1</m:t>
                        </m:r>
                      </m:e>
                    </m:d>
                  </m:oMath>
                </a14:m>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Taking the inner product with the basis vector </a:t>
                </a:r>
                <a14:m>
                  <m:oMath xmlns:m="http://schemas.openxmlformats.org/officeDocument/2006/math">
                    <m:d>
                      <m:dPr>
                        <m:begChr m:val="⟨"/>
                        <m:endChr m:val=""/>
                        <m:ctrlPr>
                          <a:rPr lang="en-US" sz="1200" i="1" smtClean="0">
                            <a:latin typeface="Cambria Math" panose="02040503050406030204" pitchFamily="18" charset="0"/>
                          </a:rPr>
                        </m:ctrlPr>
                      </m:dPr>
                      <m:e>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e>
                    </m:d>
                  </m:oMath>
                </a14:m>
                <a:r>
                  <a:rPr lang="en-ZA" dirty="0"/>
                  <a:t> gives: </a:t>
                </a:r>
                <a14:m>
                  <m:oMath xmlns:m="http://schemas.openxmlformats.org/officeDocument/2006/math">
                    <m:d>
                      <m:dPr>
                        <m:begChr m:val="⟨"/>
                        <m:endChr m:val="⟩"/>
                        <m:ctrlPr>
                          <a:rPr lang="sr-Latn-R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0</m:t>
                        </m:r>
                      </m:e>
                      <m:e>
                        <m:r>
                          <a:rPr lang="en-US" sz="1200" b="0" i="1" smtClean="0">
                            <a:solidFill>
                              <a:schemeClr val="tx1"/>
                            </a:solidFill>
                            <a:latin typeface="Cambria Math" panose="02040503050406030204" pitchFamily="18" charset="0"/>
                          </a:rPr>
                          <m:t>𝑆</m:t>
                        </m:r>
                      </m:e>
                    </m:d>
                  </m:oMath>
                </a14:m>
                <a:r>
                  <a:rPr lang="en-US" sz="1200" i="1" dirty="0">
                    <a:solidFill>
                      <a:schemeClr val="tx1"/>
                    </a:solidFill>
                  </a:rPr>
                  <a:t>=</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0</m:t>
                        </m:r>
                      </m:sub>
                    </m:sSub>
                    <m:d>
                      <m:dPr>
                        <m:begChr m:val="⟨"/>
                        <m:endChr m:val="⟩"/>
                        <m:ctrlPr>
                          <a:rPr lang="sr-Latn-RS" sz="1200" i="1">
                            <a:latin typeface="Cambria Math" panose="02040503050406030204" pitchFamily="18" charset="0"/>
                          </a:rPr>
                        </m:ctrlPr>
                      </m:dPr>
                      <m:e>
                        <m:r>
                          <a:rPr lang="en-US" sz="1200" i="1">
                            <a:latin typeface="Cambria Math" panose="02040503050406030204" pitchFamily="18" charset="0"/>
                          </a:rPr>
                          <m:t>0</m:t>
                        </m:r>
                      </m:e>
                      <m:e>
                        <m:r>
                          <a:rPr lang="en-US" sz="1200" b="0" i="1" smtClean="0">
                            <a:latin typeface="Cambria Math" panose="02040503050406030204" pitchFamily="18" charset="0"/>
                          </a:rPr>
                          <m:t>0</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1</m:t>
                        </m:r>
                      </m:sub>
                    </m:sSub>
                    <m:d>
                      <m:dPr>
                        <m:begChr m:val="⟨"/>
                        <m:endChr m:val="⟩"/>
                        <m:ctrlPr>
                          <a:rPr lang="sr-Latn-RS" sz="1200" i="1">
                            <a:latin typeface="Cambria Math" panose="02040503050406030204" pitchFamily="18" charset="0"/>
                          </a:rPr>
                        </m:ctrlPr>
                      </m:dPr>
                      <m:e>
                        <m:r>
                          <a:rPr lang="en-US" sz="1200" i="1">
                            <a:latin typeface="Cambria Math" panose="02040503050406030204" pitchFamily="18" charset="0"/>
                          </a:rPr>
                          <m:t>0</m:t>
                        </m:r>
                      </m:e>
                      <m:e>
                        <m:r>
                          <a:rPr lang="en-US" sz="1200" b="0" i="1" smtClean="0">
                            <a:latin typeface="Cambria Math" panose="02040503050406030204" pitchFamily="18" charset="0"/>
                          </a:rPr>
                          <m:t>1</m:t>
                        </m:r>
                      </m:e>
                    </m:d>
                  </m:oMath>
                </a14:m>
                <a:endParaRPr lang="en-US" sz="1200" i="1"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Because the computational basis is orthonormal: </a:t>
                </a:r>
                <a14:m>
                  <m:oMath xmlns:m="http://schemas.openxmlformats.org/officeDocument/2006/math">
                    <m:d>
                      <m:dPr>
                        <m:begChr m:val="⟨"/>
                        <m:endChr m:val="⟩"/>
                        <m:ctrlPr>
                          <a:rPr lang="sr-Latn-RS" i="1" smtClean="0">
                            <a:latin typeface="Cambria Math" panose="02040503050406030204" pitchFamily="18" charset="0"/>
                          </a:rPr>
                        </m:ctrlPr>
                      </m:dPr>
                      <m:e>
                        <m:r>
                          <a:rPr lang="en-US" i="1">
                            <a:latin typeface="Cambria Math" panose="02040503050406030204" pitchFamily="18" charset="0"/>
                          </a:rPr>
                          <m:t>0</m:t>
                        </m:r>
                      </m:e>
                      <m:e>
                        <m:r>
                          <a:rPr lang="en-US" i="1">
                            <a:latin typeface="Cambria Math" panose="02040503050406030204" pitchFamily="18" charset="0"/>
                          </a:rPr>
                          <m:t>0</m:t>
                        </m:r>
                      </m:e>
                    </m:d>
                    <m:r>
                      <a:rPr lang="en-US" b="0" i="1" smtClean="0">
                        <a:latin typeface="Cambria Math" panose="02040503050406030204" pitchFamily="18" charset="0"/>
                      </a:rPr>
                      <m:t>=1</m:t>
                    </m:r>
                  </m:oMath>
                </a14:m>
                <a:r>
                  <a:rPr lang="en-US" dirty="0"/>
                  <a:t>, </a:t>
                </a:r>
                <a14:m>
                  <m:oMath xmlns:m="http://schemas.openxmlformats.org/officeDocument/2006/math">
                    <m:d>
                      <m:dPr>
                        <m:begChr m:val="⟨"/>
                        <m:endChr m:val="⟩"/>
                        <m:ctrlPr>
                          <a:rPr lang="sr-Latn-RS" i="1">
                            <a:latin typeface="Cambria Math" panose="02040503050406030204" pitchFamily="18" charset="0"/>
                          </a:rPr>
                        </m:ctrlPr>
                      </m:dPr>
                      <m:e>
                        <m:r>
                          <a:rPr lang="en-US" i="1">
                            <a:latin typeface="Cambria Math" panose="02040503050406030204" pitchFamily="18" charset="0"/>
                          </a:rPr>
                          <m:t>0</m:t>
                        </m:r>
                      </m:e>
                      <m:e>
                        <m:r>
                          <a:rPr lang="en-US" b="0" i="1" smtClean="0">
                            <a:latin typeface="Cambria Math" panose="02040503050406030204" pitchFamily="18" charset="0"/>
                          </a:rPr>
                          <m:t>1</m:t>
                        </m:r>
                      </m:e>
                    </m:d>
                    <m:r>
                      <a:rPr lang="en-US" b="0" i="0" smtClean="0">
                        <a:latin typeface="Cambria Math" panose="02040503050406030204" pitchFamily="18" charset="0"/>
                      </a:rPr>
                      <m:t>=0,</m:t>
                    </m:r>
                  </m:oMath>
                </a14:m>
                <a:r>
                  <a:rPr lang="en-US" sz="1200" dirty="0">
                    <a:solidFill>
                      <a:schemeClr val="tx1"/>
                    </a:solidFill>
                  </a:rPr>
                  <a:t> we get </a:t>
                </a:r>
                <a14:m>
                  <m:oMath xmlns:m="http://schemas.openxmlformats.org/officeDocument/2006/math">
                    <m:d>
                      <m:dPr>
                        <m:begChr m:val="⟨"/>
                        <m:endChr m:val="⟩"/>
                        <m:ctrlPr>
                          <a:rPr lang="sr-Latn-RS" sz="1200" i="1" smtClean="0">
                            <a:latin typeface="Cambria Math" panose="02040503050406030204" pitchFamily="18" charset="0"/>
                          </a:rPr>
                        </m:ctrlPr>
                      </m:dPr>
                      <m:e>
                        <m:r>
                          <a:rPr lang="en-US" sz="1200" i="1">
                            <a:latin typeface="Cambria Math" panose="02040503050406030204" pitchFamily="18" charset="0"/>
                          </a:rPr>
                          <m:t>0</m:t>
                        </m:r>
                      </m:e>
                      <m:e>
                        <m:r>
                          <a:rPr lang="en-US" sz="1200" i="1">
                            <a:latin typeface="Cambria Math" panose="02040503050406030204" pitchFamily="18" charset="0"/>
                          </a:rPr>
                          <m:t>𝑆</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0</m:t>
                        </m:r>
                      </m:sub>
                    </m:sSub>
                  </m:oMath>
                </a14:m>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Similarly,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Taking the inner product with the basis vector </a:t>
                </a:r>
                <a14:m>
                  <m:oMath xmlns:m="http://schemas.openxmlformats.org/officeDocument/2006/math">
                    <m:d>
                      <m:dPr>
                        <m:begChr m:val="⟨"/>
                        <m:endChr m:val=""/>
                        <m:ctrlPr>
                          <a:rPr lang="en-US" sz="1200" i="1" smtClean="0">
                            <a:latin typeface="Cambria Math" panose="02040503050406030204" pitchFamily="18" charset="0"/>
                          </a:rPr>
                        </m:ctrlPr>
                      </m:dPr>
                      <m:e>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e>
                        </m:d>
                      </m:e>
                    </m:d>
                  </m:oMath>
                </a14:m>
                <a:r>
                  <a:rPr lang="en-ZA" dirty="0"/>
                  <a:t> gives: </a:t>
                </a:r>
                <a14:m>
                  <m:oMath xmlns:m="http://schemas.openxmlformats.org/officeDocument/2006/math">
                    <m:d>
                      <m:dPr>
                        <m:begChr m:val="⟨"/>
                        <m:endChr m:val="⟩"/>
                        <m:ctrlPr>
                          <a:rPr lang="sr-Latn-R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1</m:t>
                        </m:r>
                      </m:e>
                      <m:e>
                        <m:r>
                          <a:rPr lang="en-US" sz="1200" b="0" i="1" smtClean="0">
                            <a:solidFill>
                              <a:schemeClr val="tx1"/>
                            </a:solidFill>
                            <a:latin typeface="Cambria Math" panose="02040503050406030204" pitchFamily="18" charset="0"/>
                          </a:rPr>
                          <m:t>𝑆</m:t>
                        </m:r>
                      </m:e>
                    </m:d>
                  </m:oMath>
                </a14:m>
                <a:r>
                  <a:rPr lang="en-US" sz="1200" i="1" dirty="0">
                    <a:solidFill>
                      <a:schemeClr val="tx1"/>
                    </a:solidFill>
                  </a:rPr>
                  <a:t>=</a:t>
                </a:r>
                <a14:m>
                  <m:oMath xmlns:m="http://schemas.openxmlformats.org/officeDocument/2006/math">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0</m:t>
                        </m:r>
                      </m:sub>
                    </m:sSub>
                    <m:d>
                      <m:dPr>
                        <m:begChr m:val="⟨"/>
                        <m:endChr m:val="⟩"/>
                        <m:ctrlPr>
                          <a:rPr lang="sr-Latn-RS" sz="1200" i="1">
                            <a:latin typeface="Cambria Math" panose="02040503050406030204" pitchFamily="18" charset="0"/>
                          </a:rPr>
                        </m:ctrlPr>
                      </m:dPr>
                      <m:e>
                        <m:r>
                          <a:rPr lang="en-US" sz="1200" b="0" i="1" smtClean="0">
                            <a:latin typeface="Cambria Math" panose="02040503050406030204" pitchFamily="18" charset="0"/>
                          </a:rPr>
                          <m:t>1</m:t>
                        </m:r>
                      </m:e>
                      <m:e>
                        <m:r>
                          <a:rPr lang="en-US" sz="1200" b="0" i="1" smtClean="0">
                            <a:latin typeface="Cambria Math" panose="02040503050406030204" pitchFamily="18" charset="0"/>
                          </a:rPr>
                          <m:t>0</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1</m:t>
                        </m:r>
                      </m:sub>
                    </m:sSub>
                    <m:d>
                      <m:dPr>
                        <m:begChr m:val="⟨"/>
                        <m:endChr m:val="⟩"/>
                        <m:ctrlPr>
                          <a:rPr lang="sr-Latn-RS" sz="1200" i="1">
                            <a:latin typeface="Cambria Math" panose="02040503050406030204" pitchFamily="18" charset="0"/>
                          </a:rPr>
                        </m:ctrlPr>
                      </m:dPr>
                      <m:e>
                        <m:r>
                          <a:rPr lang="en-US" sz="1200" b="0" i="1" smtClean="0">
                            <a:latin typeface="Cambria Math" panose="02040503050406030204" pitchFamily="18" charset="0"/>
                          </a:rPr>
                          <m:t>1</m:t>
                        </m:r>
                      </m:e>
                      <m:e>
                        <m:r>
                          <a:rPr lang="en-US" sz="1200" b="0" i="1" smtClean="0">
                            <a:latin typeface="Cambria Math" panose="02040503050406030204" pitchFamily="18" charset="0"/>
                          </a:rPr>
                          <m:t>1</m:t>
                        </m:r>
                      </m:e>
                    </m:d>
                  </m:oMath>
                </a14:m>
                <a:endParaRPr lang="en-US" sz="1200" i="1"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Because the computational basis is orthonormal: </a:t>
                </a:r>
                <a14:m>
                  <m:oMath xmlns:m="http://schemas.openxmlformats.org/officeDocument/2006/math">
                    <m:d>
                      <m:dPr>
                        <m:begChr m:val="⟨"/>
                        <m:endChr m:val="⟩"/>
                        <m:ctrlPr>
                          <a:rPr lang="sr-Latn-RS" i="1" smtClean="0">
                            <a:latin typeface="Cambria Math" panose="02040503050406030204" pitchFamily="18" charset="0"/>
                          </a:rPr>
                        </m:ctrlPr>
                      </m:dPr>
                      <m:e>
                        <m:r>
                          <a:rPr lang="en-US" b="0" i="1" smtClean="0">
                            <a:latin typeface="Cambria Math" panose="02040503050406030204" pitchFamily="18" charset="0"/>
                          </a:rPr>
                          <m:t>1</m:t>
                        </m:r>
                      </m:e>
                      <m:e>
                        <m:r>
                          <a:rPr lang="en-US" i="1">
                            <a:latin typeface="Cambria Math" panose="02040503050406030204" pitchFamily="18" charset="0"/>
                          </a:rPr>
                          <m:t>0</m:t>
                        </m:r>
                      </m:e>
                    </m:d>
                    <m:r>
                      <a:rPr lang="en-US" b="0" i="1" smtClean="0">
                        <a:latin typeface="Cambria Math" panose="02040503050406030204" pitchFamily="18" charset="0"/>
                      </a:rPr>
                      <m:t>=0</m:t>
                    </m:r>
                  </m:oMath>
                </a14:m>
                <a:r>
                  <a:rPr lang="en-US" dirty="0"/>
                  <a:t>, </a:t>
                </a:r>
                <a14:m>
                  <m:oMath xmlns:m="http://schemas.openxmlformats.org/officeDocument/2006/math">
                    <m:d>
                      <m:dPr>
                        <m:begChr m:val="⟨"/>
                        <m:endChr m:val="⟩"/>
                        <m:ctrlPr>
                          <a:rPr lang="sr-Latn-RS" i="1">
                            <a:latin typeface="Cambria Math" panose="02040503050406030204" pitchFamily="18" charset="0"/>
                          </a:rPr>
                        </m:ctrlPr>
                      </m:dPr>
                      <m:e>
                        <m:r>
                          <a:rPr lang="en-US" b="0" i="1" smtClean="0">
                            <a:latin typeface="Cambria Math" panose="02040503050406030204" pitchFamily="18" charset="0"/>
                          </a:rPr>
                          <m:t>1</m:t>
                        </m:r>
                      </m:e>
                      <m:e>
                        <m:r>
                          <a:rPr lang="en-US" b="0" i="1" smtClean="0">
                            <a:latin typeface="Cambria Math" panose="02040503050406030204" pitchFamily="18" charset="0"/>
                          </a:rPr>
                          <m:t>1</m:t>
                        </m:r>
                      </m:e>
                    </m:d>
                    <m:r>
                      <a:rPr lang="en-US" b="0" i="0" smtClean="0">
                        <a:latin typeface="Cambria Math" panose="02040503050406030204" pitchFamily="18" charset="0"/>
                      </a:rPr>
                      <m:t>=1</m:t>
                    </m:r>
                  </m:oMath>
                </a14:m>
                <a:r>
                  <a:rPr lang="en-US" sz="1200" dirty="0">
                    <a:solidFill>
                      <a:schemeClr val="tx1"/>
                    </a:solidFill>
                  </a:rPr>
                  <a:t> we get </a:t>
                </a:r>
                <a14:m>
                  <m:oMath xmlns:m="http://schemas.openxmlformats.org/officeDocument/2006/math">
                    <m:d>
                      <m:dPr>
                        <m:begChr m:val="⟨"/>
                        <m:endChr m:val="⟩"/>
                        <m:ctrlPr>
                          <a:rPr lang="sr-Latn-RS" sz="1200" i="1" smtClean="0">
                            <a:latin typeface="Cambria Math" panose="02040503050406030204" pitchFamily="18" charset="0"/>
                          </a:rPr>
                        </m:ctrlPr>
                      </m:dPr>
                      <m:e>
                        <m:r>
                          <a:rPr lang="en-US" sz="1200" b="0" i="1" smtClean="0">
                            <a:latin typeface="Cambria Math" panose="02040503050406030204" pitchFamily="18" charset="0"/>
                          </a:rPr>
                          <m:t>1</m:t>
                        </m:r>
                      </m:e>
                      <m:e>
                        <m:r>
                          <a:rPr lang="en-US" sz="1200" i="1">
                            <a:latin typeface="Cambria Math" panose="02040503050406030204" pitchFamily="18" charset="0"/>
                          </a:rPr>
                          <m:t>𝑆</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sr-Latn-RS" sz="1200" b="0" i="1" smtClean="0">
                            <a:latin typeface="Cambria Math" panose="02040503050406030204" pitchFamily="18" charset="0"/>
                          </a:rPr>
                          <m:t>𝑎</m:t>
                        </m:r>
                      </m:e>
                      <m:sub>
                        <m:r>
                          <a:rPr lang="sr-Latn-RS" sz="1200" b="0" i="1" smtClean="0">
                            <a:latin typeface="Cambria Math" panose="02040503050406030204" pitchFamily="18" charset="0"/>
                          </a:rPr>
                          <m:t>1</m:t>
                        </m:r>
                      </m:sub>
                    </m:sSub>
                  </m:oMath>
                </a14:m>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dirty="0"/>
                  <a:t>In other words, </a:t>
                </a:r>
                <a:r>
                  <a:rPr lang="en-ZA" b="0" dirty="0"/>
                  <a:t>the inner product extracts the probability amplitude associated with each basis state.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sz="1200" dirty="0"/>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If we now replace the probability amplitudes in the Born rule with their inner-product expressions, we obtain a more general form of the Born rule. The probability of each measurement outcome is given by the squared </a:t>
                </a:r>
                <a:r>
                  <a:rPr lang="en-ZA" dirty="0"/>
                  <a:t>modulus</a:t>
                </a:r>
                <a:r>
                  <a:rPr lang="en-ZA" b="0" dirty="0"/>
                  <a:t> of the inner product between the corresponding basis state and the quantum state being measured.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𝑃</m:t>
                      </m:r>
                      <m:d>
                        <m:dPr>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m:t>
                      </m:r>
                      <m:sSup>
                        <m:sSupPr>
                          <m:ctrlPr>
                            <a:rPr lang="en-US" sz="1200" i="1" smtClean="0">
                              <a:latin typeface="Cambria Math" panose="02040503050406030204" pitchFamily="18" charset="0"/>
                            </a:rPr>
                          </m:ctrlPr>
                        </m:sSupPr>
                        <m:e>
                          <m:d>
                            <m:dPr>
                              <m:begChr m:val="|"/>
                              <m:endChr m:val="|"/>
                              <m:ctrlPr>
                                <a:rPr lang="en-US" sz="1200" i="1">
                                  <a:latin typeface="Cambria Math" panose="02040503050406030204" pitchFamily="18" charset="0"/>
                                </a:rPr>
                              </m:ctrlPr>
                            </m:dPr>
                            <m:e>
                              <m:d>
                                <m:dPr>
                                  <m:begChr m:val="⟨"/>
                                  <m:endChr m:val="⟩"/>
                                  <m:ctrlPr>
                                    <a:rPr lang="sr-Latn-RS" sz="1200" i="1">
                                      <a:latin typeface="Cambria Math" panose="02040503050406030204" pitchFamily="18" charset="0"/>
                                    </a:rPr>
                                  </m:ctrlPr>
                                </m:dPr>
                                <m:e>
                                  <m:r>
                                    <a:rPr lang="en-US" sz="1200" i="1">
                                      <a:latin typeface="Cambria Math" panose="02040503050406030204" pitchFamily="18" charset="0"/>
                                    </a:rPr>
                                    <m:t>0</m:t>
                                  </m:r>
                                </m:e>
                                <m:e>
                                  <m:r>
                                    <a:rPr lang="en-US" sz="1200" i="1">
                                      <a:latin typeface="Cambria Math" panose="02040503050406030204" pitchFamily="18" charset="0"/>
                                    </a:rPr>
                                    <m:t>𝑆</m:t>
                                  </m:r>
                                </m:e>
                              </m:d>
                            </m:e>
                          </m:d>
                        </m:e>
                        <m:sup>
                          <m:r>
                            <a:rPr lang="en-US" sz="1200">
                              <a:latin typeface="Cambria Math" panose="02040503050406030204" pitchFamily="18" charset="0"/>
                            </a:rPr>
                            <m:t>2</m:t>
                          </m:r>
                        </m:sup>
                      </m:sSup>
                      <m:r>
                        <a:rPr lang="en-US" sz="1200" b="0" i="1" smtClean="0">
                          <a:latin typeface="Cambria Math" panose="02040503050406030204" pitchFamily="18" charset="0"/>
                        </a:rPr>
                        <m:t>,  </m:t>
                      </m:r>
                      <m:r>
                        <a:rPr lang="en-US" sz="1200" i="1" smtClean="0">
                          <a:latin typeface="Cambria Math" panose="02040503050406030204" pitchFamily="18" charset="0"/>
                        </a:rPr>
                        <m:t>𝑃</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i="1">
                          <a:latin typeface="Cambria Math" panose="02040503050406030204" pitchFamily="18" charset="0"/>
                        </a:rPr>
                        <m:t>=</m:t>
                      </m:r>
                      <m:sSup>
                        <m:sSupPr>
                          <m:ctrlPr>
                            <a:rPr lang="en-US" sz="1200" i="1" smtClean="0">
                              <a:latin typeface="Cambria Math" panose="02040503050406030204" pitchFamily="18" charset="0"/>
                            </a:rPr>
                          </m:ctrlPr>
                        </m:sSupPr>
                        <m:e>
                          <m:d>
                            <m:dPr>
                              <m:begChr m:val="|"/>
                              <m:endChr m:val="|"/>
                              <m:ctrlPr>
                                <a:rPr lang="en-US" sz="1200" i="1">
                                  <a:latin typeface="Cambria Math" panose="02040503050406030204" pitchFamily="18" charset="0"/>
                                </a:rPr>
                              </m:ctrlPr>
                            </m:dPr>
                            <m:e>
                              <m:d>
                                <m:dPr>
                                  <m:begChr m:val="⟨"/>
                                  <m:endChr m:val="⟩"/>
                                  <m:ctrlPr>
                                    <a:rPr lang="sr-Latn-RS" sz="1200" i="1">
                                      <a:latin typeface="Cambria Math" panose="02040503050406030204" pitchFamily="18" charset="0"/>
                                    </a:rPr>
                                  </m:ctrlPr>
                                </m:dPr>
                                <m:e>
                                  <m:r>
                                    <a:rPr lang="en-US" sz="1200" b="0" i="1" smtClean="0">
                                      <a:latin typeface="Cambria Math" panose="02040503050406030204" pitchFamily="18" charset="0"/>
                                    </a:rPr>
                                    <m:t>1</m:t>
                                  </m:r>
                                </m:e>
                                <m:e>
                                  <m:r>
                                    <a:rPr lang="en-US" sz="1200" i="1">
                                      <a:latin typeface="Cambria Math" panose="02040503050406030204" pitchFamily="18" charset="0"/>
                                    </a:rPr>
                                    <m:t>𝑆</m:t>
                                  </m:r>
                                </m:e>
                              </m:d>
                            </m:e>
                          </m:d>
                        </m:e>
                        <m:sup>
                          <m:r>
                            <a:rPr lang="en-US" sz="1200">
                              <a:latin typeface="Cambria Math" panose="02040503050406030204" pitchFamily="18" charset="0"/>
                            </a:rPr>
                            <m:t>2</m:t>
                          </m:r>
                        </m:sup>
                      </m:sSup>
                    </m:oMath>
                  </m:oMathPara>
                </a14:m>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The Born rule can be expressed in a more general mathematical form using inner products.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Suppose the qubit is in the state: </a:t>
                </a:r>
                <a:r>
                  <a:rPr lang="en-US" sz="1200" i="0">
                    <a:latin typeface="Cambria Math" panose="02040503050406030204" pitchFamily="18" charset="0"/>
                  </a:rPr>
                  <a:t>|𝑆⟩=𝑎|0⟩+𝑏|1⟩</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Taking the inner product with the basis vector </a:t>
                </a:r>
                <a:r>
                  <a:rPr lang="en-US" sz="1200" i="0">
                    <a:latin typeface="Cambria Math" panose="02040503050406030204" pitchFamily="18" charset="0"/>
                  </a:rPr>
                  <a:t>⟨├ </a:t>
                </a:r>
                <a:r>
                  <a:rPr lang="en-US" sz="1200" b="0" i="0">
                    <a:latin typeface="Cambria Math" panose="02040503050406030204" pitchFamily="18" charset="0"/>
                  </a:rPr>
                  <a:t>0┤|┤</a:t>
                </a:r>
                <a:r>
                  <a:rPr lang="en-ZA" dirty="0"/>
                  <a:t> gives: </a:t>
                </a:r>
                <a:r>
                  <a:rPr lang="sr-Latn-RS" sz="1200" i="0">
                    <a:solidFill>
                      <a:schemeClr val="tx1"/>
                    </a:solidFill>
                    <a:latin typeface="Cambria Math" panose="02040503050406030204" pitchFamily="18" charset="0"/>
                  </a:rPr>
                  <a:t>⟨</a:t>
                </a:r>
                <a:r>
                  <a:rPr lang="en-US" sz="1200" b="0" i="0">
                    <a:solidFill>
                      <a:schemeClr val="tx1"/>
                    </a:solidFill>
                    <a:latin typeface="Cambria Math" panose="02040503050406030204" pitchFamily="18" charset="0"/>
                  </a:rPr>
                  <a:t>0│𝑆⟩</a:t>
                </a:r>
                <a:r>
                  <a:rPr lang="en-US" sz="1200" i="1" dirty="0">
                    <a:solidFill>
                      <a:schemeClr val="tx1"/>
                    </a:solidFill>
                  </a:rPr>
                  <a:t>=</a:t>
                </a:r>
                <a:r>
                  <a:rPr lang="sr-Latn-RS" sz="1200" i="1" dirty="0"/>
                  <a:t> </a:t>
                </a:r>
                <a:r>
                  <a:rPr lang="en-US" sz="1200" b="0" i="0">
                    <a:latin typeface="Cambria Math" panose="02040503050406030204" pitchFamily="18" charset="0"/>
                  </a:rPr>
                  <a:t>𝑎</a:t>
                </a:r>
                <a:r>
                  <a:rPr lang="sr-Latn-RS"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0⟩+𝑏</a:t>
                </a:r>
                <a:r>
                  <a:rPr lang="sr-Latn-RS" sz="1200" i="0">
                    <a:latin typeface="Cambria Math" panose="02040503050406030204" pitchFamily="18" charset="0"/>
                  </a:rPr>
                  <a:t>⟨</a:t>
                </a:r>
                <a:r>
                  <a:rPr lang="en-US" sz="1200" i="0">
                    <a:latin typeface="Cambria Math" panose="02040503050406030204" pitchFamily="18" charset="0"/>
                  </a:rPr>
                  <a:t>0│</a:t>
                </a:r>
                <a:r>
                  <a:rPr lang="en-US" sz="1200" b="0" i="0">
                    <a:latin typeface="Cambria Math" panose="02040503050406030204" pitchFamily="18" charset="0"/>
                  </a:rPr>
                  <a:t>1⟩</a:t>
                </a:r>
                <a:endParaRPr lang="en-US" sz="1200" i="1"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Because the computational basis is orthonormal: </a:t>
                </a:r>
                <a:r>
                  <a:rPr lang="sr-Latn-RS" i="0">
                    <a:latin typeface="Cambria Math" panose="02040503050406030204" pitchFamily="18" charset="0"/>
                  </a:rPr>
                  <a:t>⟨</a:t>
                </a:r>
                <a:r>
                  <a:rPr lang="en-US" i="0">
                    <a:latin typeface="Cambria Math" panose="02040503050406030204" pitchFamily="18" charset="0"/>
                  </a:rPr>
                  <a:t>0│0⟩</a:t>
                </a:r>
                <a:r>
                  <a:rPr lang="en-US" b="0" i="0">
                    <a:latin typeface="Cambria Math" panose="02040503050406030204" pitchFamily="18" charset="0"/>
                  </a:rPr>
                  <a:t>=1</a:t>
                </a:r>
                <a:r>
                  <a:rPr lang="en-US" dirty="0"/>
                  <a:t>, </a:t>
                </a:r>
                <a:r>
                  <a:rPr lang="sr-Latn-RS" i="0">
                    <a:latin typeface="Cambria Math" panose="02040503050406030204" pitchFamily="18" charset="0"/>
                  </a:rPr>
                  <a:t>⟨</a:t>
                </a:r>
                <a:r>
                  <a:rPr lang="en-US" i="0">
                    <a:latin typeface="Cambria Math" panose="02040503050406030204" pitchFamily="18" charset="0"/>
                  </a:rPr>
                  <a:t>0│</a:t>
                </a:r>
                <a:r>
                  <a:rPr lang="en-US" b="0" i="0">
                    <a:latin typeface="Cambria Math" panose="02040503050406030204" pitchFamily="18" charset="0"/>
                  </a:rPr>
                  <a:t>1⟩=0,</a:t>
                </a:r>
                <a:r>
                  <a:rPr lang="en-US" sz="1200" dirty="0">
                    <a:solidFill>
                      <a:schemeClr val="tx1"/>
                    </a:solidFill>
                  </a:rPr>
                  <a:t> we get </a:t>
                </a:r>
                <a:r>
                  <a:rPr lang="sr-Latn-RS" sz="1200" i="0">
                    <a:latin typeface="Cambria Math" panose="02040503050406030204" pitchFamily="18" charset="0"/>
                  </a:rPr>
                  <a:t>⟨</a:t>
                </a:r>
                <a:r>
                  <a:rPr lang="en-US" sz="1200" i="0">
                    <a:latin typeface="Cambria Math" panose="02040503050406030204" pitchFamily="18" charset="0"/>
                  </a:rPr>
                  <a:t>0│𝑆⟩</a:t>
                </a:r>
                <a:r>
                  <a:rPr lang="en-US" sz="1200" b="0" i="0">
                    <a:latin typeface="Cambria Math" panose="02040503050406030204" pitchFamily="18" charset="0"/>
                  </a:rPr>
                  <a:t>=𝑎</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Similarly,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Taking the inner product with the basis vector </a:t>
                </a:r>
                <a:r>
                  <a:rPr lang="en-US" sz="1200" i="0">
                    <a:latin typeface="Cambria Math" panose="02040503050406030204" pitchFamily="18" charset="0"/>
                  </a:rPr>
                  <a:t>⟨├ </a:t>
                </a:r>
                <a:r>
                  <a:rPr lang="en-US" sz="1200" b="0" i="0">
                    <a:latin typeface="Cambria Math" panose="02040503050406030204" pitchFamily="18" charset="0"/>
                  </a:rPr>
                  <a:t>1┤|┤</a:t>
                </a:r>
                <a:r>
                  <a:rPr lang="en-ZA" dirty="0"/>
                  <a:t> gives: </a:t>
                </a:r>
                <a:r>
                  <a:rPr lang="sr-Latn-RS" sz="1200" i="0">
                    <a:solidFill>
                      <a:schemeClr val="tx1"/>
                    </a:solidFill>
                    <a:latin typeface="Cambria Math" panose="02040503050406030204" pitchFamily="18" charset="0"/>
                  </a:rPr>
                  <a:t>⟨</a:t>
                </a:r>
                <a:r>
                  <a:rPr lang="en-US" sz="1200" b="0" i="0">
                    <a:solidFill>
                      <a:schemeClr val="tx1"/>
                    </a:solidFill>
                    <a:latin typeface="Cambria Math" panose="02040503050406030204" pitchFamily="18" charset="0"/>
                  </a:rPr>
                  <a:t>1│𝑆⟩</a:t>
                </a:r>
                <a:r>
                  <a:rPr lang="en-US" sz="1200" i="1" dirty="0">
                    <a:solidFill>
                      <a:schemeClr val="tx1"/>
                    </a:solidFill>
                  </a:rPr>
                  <a:t>=</a:t>
                </a:r>
                <a:r>
                  <a:rPr lang="sr-Latn-RS" sz="1200" i="1" dirty="0"/>
                  <a:t> </a:t>
                </a:r>
                <a:r>
                  <a:rPr lang="en-US" sz="1200" b="0" i="0">
                    <a:latin typeface="Cambria Math" panose="02040503050406030204" pitchFamily="18" charset="0"/>
                  </a:rPr>
                  <a:t>𝑎</a:t>
                </a:r>
                <a:r>
                  <a:rPr lang="sr-Latn-RS" sz="1200" i="0">
                    <a:latin typeface="Cambria Math" panose="02040503050406030204" pitchFamily="18" charset="0"/>
                  </a:rPr>
                  <a:t>⟨</a:t>
                </a:r>
                <a:r>
                  <a:rPr lang="en-US" sz="1200" b="0" i="0">
                    <a:latin typeface="Cambria Math" panose="02040503050406030204" pitchFamily="18" charset="0"/>
                  </a:rPr>
                  <a:t>1│0⟩+𝑏</a:t>
                </a:r>
                <a:r>
                  <a:rPr lang="sr-Latn-RS" sz="1200" i="0">
                    <a:latin typeface="Cambria Math" panose="02040503050406030204" pitchFamily="18" charset="0"/>
                  </a:rPr>
                  <a:t>⟨</a:t>
                </a:r>
                <a:r>
                  <a:rPr lang="en-US" sz="1200" b="0" i="0">
                    <a:latin typeface="Cambria Math" panose="02040503050406030204" pitchFamily="18" charset="0"/>
                  </a:rPr>
                  <a:t>1│1⟩</a:t>
                </a:r>
                <a:endParaRPr lang="en-US" sz="1200" i="1"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Because the computational basis is orthonormal: </a:t>
                </a:r>
                <a:r>
                  <a:rPr lang="sr-Latn-RS" i="0">
                    <a:latin typeface="Cambria Math" panose="02040503050406030204" pitchFamily="18" charset="0"/>
                  </a:rPr>
                  <a:t>⟨</a:t>
                </a:r>
                <a:r>
                  <a:rPr lang="en-US" b="0" i="0">
                    <a:latin typeface="Cambria Math" panose="02040503050406030204" pitchFamily="18" charset="0"/>
                  </a:rPr>
                  <a:t>1│</a:t>
                </a:r>
                <a:r>
                  <a:rPr lang="en-US" i="0">
                    <a:latin typeface="Cambria Math" panose="02040503050406030204" pitchFamily="18" charset="0"/>
                  </a:rPr>
                  <a:t>0⟩</a:t>
                </a:r>
                <a:r>
                  <a:rPr lang="en-US" b="0" i="0">
                    <a:latin typeface="Cambria Math" panose="02040503050406030204" pitchFamily="18" charset="0"/>
                  </a:rPr>
                  <a:t>=0</a:t>
                </a:r>
                <a:r>
                  <a:rPr lang="en-US" dirty="0"/>
                  <a:t>, </a:t>
                </a:r>
                <a:r>
                  <a:rPr lang="sr-Latn-RS" i="0">
                    <a:latin typeface="Cambria Math" panose="02040503050406030204" pitchFamily="18" charset="0"/>
                  </a:rPr>
                  <a:t>⟨</a:t>
                </a:r>
                <a:r>
                  <a:rPr lang="en-US" b="0" i="0">
                    <a:latin typeface="Cambria Math" panose="02040503050406030204" pitchFamily="18" charset="0"/>
                  </a:rPr>
                  <a:t>1│1⟩=1</a:t>
                </a:r>
                <a:r>
                  <a:rPr lang="en-US" sz="1200" dirty="0">
                    <a:solidFill>
                      <a:schemeClr val="tx1"/>
                    </a:solidFill>
                  </a:rPr>
                  <a:t> we get </a:t>
                </a:r>
                <a:r>
                  <a:rPr lang="sr-Latn-RS"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𝑆⟩</a:t>
                </a:r>
                <a:r>
                  <a:rPr lang="en-US" sz="1200" b="0" i="0">
                    <a:latin typeface="Cambria Math" panose="02040503050406030204" pitchFamily="18" charset="0"/>
                  </a:rPr>
                  <a:t>=𝑏</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dirty="0"/>
                  <a:t>In other words, </a:t>
                </a:r>
                <a:r>
                  <a:rPr lang="en-ZA" b="1" dirty="0"/>
                  <a:t>the inner product extracts the probability amplitude associated with each basis state</a:t>
                </a:r>
                <a:r>
                  <a:rPr lang="en-ZA"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sz="1200" dirty="0"/>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If we now replace the probability amplitudes in the Born rule with their inner-product expressions, we obtain a more general form of the Born rule. The probability of each measurement outcome is given by the squared magnitude of the inner product between the corresponding basis state and the quantum state being measured.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0">
                    <a:latin typeface="Cambria Math" panose="02040503050406030204" pitchFamily="18" charset="0"/>
                  </a:rPr>
                  <a:t>𝑃(0)=|</a:t>
                </a:r>
                <a:r>
                  <a:rPr lang="sr-Latn-RS" sz="1200" i="0">
                    <a:latin typeface="Cambria Math" panose="02040503050406030204" pitchFamily="18" charset="0"/>
                  </a:rPr>
                  <a:t>⟨</a:t>
                </a:r>
                <a:r>
                  <a:rPr lang="en-US" sz="1200" i="0">
                    <a:latin typeface="Cambria Math" panose="02040503050406030204" pitchFamily="18" charset="0"/>
                  </a:rPr>
                  <a:t>0│𝑆⟩|^2</a:t>
                </a:r>
                <a:r>
                  <a:rPr lang="en-US" sz="1200" b="0" i="0">
                    <a:latin typeface="Cambria Math" panose="02040503050406030204" pitchFamily="18" charset="0"/>
                  </a:rPr>
                  <a:t>,  </a:t>
                </a:r>
                <a:r>
                  <a:rPr lang="en-US" sz="1200" i="0">
                    <a:latin typeface="Cambria Math" panose="02040503050406030204" pitchFamily="18" charset="0"/>
                  </a:rPr>
                  <a:t>𝑃(</a:t>
                </a:r>
                <a:r>
                  <a:rPr lang="en-US" sz="1200" b="0" i="0">
                    <a:latin typeface="Cambria Math" panose="02040503050406030204" pitchFamily="18" charset="0"/>
                  </a:rPr>
                  <a:t>1)</a:t>
                </a:r>
                <a:r>
                  <a:rPr lang="en-US" sz="1200" i="0">
                    <a:latin typeface="Cambria Math" panose="02040503050406030204" pitchFamily="18" charset="0"/>
                  </a:rPr>
                  <a:t>=|</a:t>
                </a:r>
                <a:r>
                  <a:rPr lang="sr-Latn-RS" sz="1200" i="0">
                    <a:latin typeface="Cambria Math" panose="02040503050406030204" pitchFamily="18" charset="0"/>
                  </a:rPr>
                  <a:t>⟨</a:t>
                </a:r>
                <a:r>
                  <a:rPr lang="en-US" sz="1200" b="0" i="0">
                    <a:latin typeface="Cambria Math" panose="02040503050406030204" pitchFamily="18" charset="0"/>
                  </a:rPr>
                  <a:t>1│</a:t>
                </a:r>
                <a:r>
                  <a:rPr lang="en-US" sz="1200" i="0">
                    <a:latin typeface="Cambria Math" panose="02040503050406030204" pitchFamily="18" charset="0"/>
                  </a:rPr>
                  <a:t>𝑆⟩|^2</a:t>
                </a: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13494181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Replacing the amplitudes in the state-vector expression with inner products, and using the fact that inner products are scalars, allows us to write them after the corresponding </a:t>
                </a:r>
                <a:r>
                  <a:rPr lang="en-ZA" dirty="0" err="1"/>
                  <a:t>kets</a:t>
                </a:r>
                <a:r>
                  <a:rPr lang="en-ZA" dirty="0"/>
                  <a:t>. This introduces two projectors, P₀ = |0⟩⟨0| and P₁ = |1⟩⟨1|.</a:t>
                </a:r>
              </a:p>
              <a:p>
                <a:pPr algn="just"/>
                <a:endParaRPr lang="en-ZA" dirty="0"/>
              </a:p>
              <a:p>
                <a:pPr algn="just"/>
                <a:r>
                  <a:rPr lang="en-ZA" dirty="0"/>
                  <a:t>The state vector can then be expressed as the sum of its projections onto the basis states: |S⟩ = P₀|S⟩ + P₁|S⟩.</a:t>
                </a:r>
              </a:p>
              <a:p>
                <a:pPr algn="just"/>
                <a:endParaRPr lang="en-ZA" dirty="0"/>
              </a:p>
              <a:p>
                <a:pPr algn="just"/>
                <a:r>
                  <a:rPr lang="en-ZA" dirty="0"/>
                  <a:t>According to the spectral decomposition theorem, a normal operator can be expressed as a sum of its eigenvalues multiplied by the corresponding projectors onto its eigenspaces. The Pauli-Z operator has two eigenvalues, +1 and −1, with corresponding eigenvectors |0⟩ and |1⟩. Its spectral decomposition is therefore: Z = (+1)P₀ + (−1)P₁</a:t>
                </a:r>
              </a:p>
              <a:p>
                <a:pPr algn="just"/>
                <a:endParaRPr lang="en-ZA" dirty="0"/>
              </a:p>
              <a:p>
                <a:pPr algn="just"/>
                <a:r>
                  <a:rPr lang="en-ZA" dirty="0"/>
                  <a:t>Applying this operator to the state |S⟩ gives: Z|S⟩ = (+1)P₀|S⟩ + (−1)P₁|S⟩. The eigenvalue +1 is associated with the state |0⟩, while the eigenvalue −1 is associated with the state |1⟩.</a:t>
                </a:r>
              </a:p>
              <a:p>
                <a:pPr algn="just"/>
                <a:endParaRPr lang="en-ZA" dirty="0"/>
              </a:p>
              <a:p>
                <a:pPr algn="just"/>
                <a:r>
                  <a:rPr lang="en-ZA" dirty="0"/>
                  <a:t>An important property of Hermitian operators is that their eigenvalues are real numbers. In quantum mechanics, a Hermitian operator representing a measurable physical quantity is called an observable.</a:t>
                </a:r>
              </a:p>
              <a:p>
                <a:pPr algn="just"/>
                <a:endParaRPr lang="en-ZA" dirty="0"/>
              </a:p>
              <a:p>
                <a:pPr algn="just"/>
                <a:r>
                  <a:rPr lang="en-ZA" dirty="0"/>
                  <a:t>When the Pauli-Z operator is considered as an observable, its eigenvalues +1 and −1 represent the possible numerical outcomes of measurement. The outcome +1 corresponds to the post-measurement state |0⟩, while the outcome −1 corresponds to the state |1⟩. It is important to emphasize that +1 and −1 are not probabilities. The probabilities of obtaining these outcomes are determined by </a:t>
                </a:r>
                <a:r>
                  <a:rPr lang="en-ZA" dirty="0" err="1"/>
                  <a:t>Born's</a:t>
                </a:r>
                <a:r>
                  <a:rPr lang="en-ZA" dirty="0"/>
                  <a:t> rule.</a:t>
                </a:r>
              </a:p>
              <a:p>
                <a:pPr algn="just"/>
                <a:endParaRPr lang="en-ZA" dirty="0"/>
              </a:p>
              <a:p>
                <a:pPr algn="just"/>
                <a:r>
                  <a:rPr lang="en-ZA" dirty="0"/>
                  <a:t>An observable can be viewed as a mathematical model of quantum measurement: its eigenvectors determine the possible post-measurement states, its eigenvalues represent the numerical measurement outcomes, and the probabilities of these outcomes are determined by </a:t>
                </a:r>
                <a:r>
                  <a:rPr lang="en-ZA" dirty="0" err="1"/>
                  <a:t>Born's</a:t>
                </a:r>
                <a:r>
                  <a:rPr lang="en-ZA" dirty="0"/>
                  <a:t> rule.</a:t>
                </a:r>
              </a:p>
            </p:txBody>
          </p:sp>
        </mc:Choice>
        <mc:Fallback xmlns="">
          <p:sp>
            <p:nvSpPr>
              <p:cNvPr id="3" name="Notes Placeholder 2"/>
              <p:cNvSpPr>
                <a:spLocks noGrp="1"/>
              </p:cNvSpPr>
              <p:nvPr>
                <p:ph type="body" idx="1"/>
              </p:nvPr>
            </p:nvSpPr>
            <p:spPr/>
            <p:txBody>
              <a:bodyPr/>
              <a:lstStyle/>
              <a:p>
                <a:r>
                  <a:rPr lang="en-US" sz="2000" dirty="0"/>
                  <a:t>Since qubit lives in Hilbert space, it is interesting to see its representation that include the  inner product. Just a quick reminder from linear algebra, a Hilbert space is a vector space with defined basis vectors, and operations of vector multiplication by a scalar, vector addition and the inner product. </a:t>
                </a:r>
              </a:p>
              <a:p>
                <a:endParaRPr lang="en-US" sz="2000" dirty="0"/>
              </a:p>
              <a:p>
                <a:r>
                  <a:rPr lang="en-US" sz="2000" dirty="0"/>
                  <a:t>In this space, a qubit state is given by a linear expression of two orthonormal basis states </a:t>
                </a:r>
                <a:r>
                  <a:rPr lang="en-US" sz="200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If we multiply both sides of the</a:t>
                </a:r>
                <a:r>
                  <a:rPr lang="en-US" sz="2000" baseline="0" dirty="0"/>
                  <a:t> qubit equation by </a:t>
                </a:r>
                <a:r>
                  <a:rPr lang="en-US" sz="2000" i="0">
                    <a:latin typeface="Cambria Math" panose="02040503050406030204" pitchFamily="18" charset="0"/>
                  </a:rPr>
                  <a:t>⟨</a:t>
                </a:r>
                <a:r>
                  <a:rPr lang="en-US" sz="2000" b="0" i="0">
                    <a:latin typeface="Cambria Math" panose="02040503050406030204" pitchFamily="18" charset="0"/>
                  </a:rPr>
                  <a:t>0</a:t>
                </a:r>
                <a:r>
                  <a:rPr lang="en-US" sz="2000" i="0">
                    <a:latin typeface="Cambria Math" panose="02040503050406030204" pitchFamily="18" charset="0"/>
                  </a:rPr>
                  <a:t>|</a:t>
                </a:r>
                <a:r>
                  <a:rPr lang="en-US" sz="2000" kern="1200" dirty="0">
                    <a:solidFill>
                      <a:schemeClr val="tx1"/>
                    </a:solidFill>
                    <a:latin typeface="+mn-lt"/>
                    <a:ea typeface="+mn-ea"/>
                    <a:cs typeface="+mn-cs"/>
                  </a:rPr>
                  <a:t> and then by  </a:t>
                </a:r>
                <a:r>
                  <a:rPr lang="en-US" sz="2000" b="0" i="0">
                    <a:latin typeface="Cambria Math" panose="02040503050406030204" pitchFamily="18" charset="0"/>
                  </a:rPr>
                  <a:t>⟨1|</a:t>
                </a:r>
                <a:r>
                  <a:rPr lang="en-US" sz="2000" dirty="0"/>
                  <a:t> we can</a:t>
                </a:r>
                <a:r>
                  <a:rPr lang="en-US" sz="2000" baseline="0" dirty="0"/>
                  <a:t> express probability amplitudes as inner products of a basis state and the state of a qubit.</a:t>
                </a:r>
              </a:p>
              <a:p>
                <a:r>
                  <a:rPr lang="en-US" sz="2000" baseline="0" dirty="0"/>
                  <a:t>We can say that </a:t>
                </a:r>
                <a:r>
                  <a:rPr lang="en-US" sz="2000" baseline="0" dirty="0">
                    <a:latin typeface="Cambria" panose="02040503050406030204" pitchFamily="18" charset="0"/>
                    <a:cs typeface="Times New Roman" panose="02020603050405020304" pitchFamily="18" charset="0"/>
                  </a:rPr>
                  <a:t>t</a:t>
                </a:r>
                <a:r>
                  <a:rPr lang="en-US" sz="2000" dirty="0">
                    <a:latin typeface="Cambria" panose="02040503050406030204" pitchFamily="18" charset="0"/>
                    <a:ea typeface="Times New Roman" panose="02020603050405020304" pitchFamily="18" charset="0"/>
                    <a:cs typeface="Times New Roman" panose="02020603050405020304" pitchFamily="18" charset="0"/>
                  </a:rPr>
                  <a:t>he inner product </a:t>
                </a:r>
                <a:r>
                  <a:rPr lang="en-US" sz="2000" i="0">
                    <a:latin typeface="Cambria Math" panose="02040503050406030204" pitchFamily="18" charset="0"/>
                    <a:ea typeface="Times New Roman" panose="02020603050405020304" pitchFamily="18" charset="0"/>
                    <a:cs typeface="Menlo Regular" panose="020B0609030804020204" pitchFamily="49"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𝑘</a:t>
                </a:r>
                <a:r>
                  <a:rPr lang="en-US" sz="2000" i="0">
                    <a:effectLst/>
                    <a:latin typeface="Cambria Math" panose="020405030504060302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𝑆⟩</a:t>
                </a:r>
                <a:r>
                  <a:rPr lang="en-US" sz="2000" dirty="0">
                    <a:latin typeface="Cambria" panose="02040503050406030204" pitchFamily="18" charset="0"/>
                    <a:ea typeface="Times New Roman" panose="02020603050405020304" pitchFamily="18" charset="0"/>
                    <a:cs typeface="Times New Roman" panose="02020603050405020304" pitchFamily="18" charset="0"/>
                  </a:rPr>
                  <a:t> gives the probability of observing state </a:t>
                </a:r>
                <a:r>
                  <a:rPr lang="en-US" sz="2000" i="0">
                    <a:effectLst/>
                    <a:latin typeface="Cambria Math" panose="020405030504060302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𝑘⟩</a:t>
                </a:r>
                <a:r>
                  <a:rPr lang="en-US" sz="2000" dirty="0">
                    <a:latin typeface="Cambria" panose="02040503050406030204" pitchFamily="18" charset="0"/>
                    <a:ea typeface="Times New Roman" panose="02020603050405020304" pitchFamily="18" charset="0"/>
                    <a:cs typeface="Times New Roman" panose="02020603050405020304" pitchFamily="18" charset="0"/>
                  </a:rPr>
                  <a:t> when the quantum system is in state </a:t>
                </a:r>
                <a:r>
                  <a:rPr lang="en-US" sz="2000" i="0">
                    <a:effectLst/>
                    <a:latin typeface="Cambria Math" panose="02040503050406030204" pitchFamily="18" charset="0"/>
                  </a:rPr>
                  <a:t>|</a:t>
                </a:r>
                <a:r>
                  <a:rPr lang="en-US" sz="2000" i="0">
                    <a:latin typeface="Cambria Math" panose="02040503050406030204" pitchFamily="18" charset="0"/>
                    <a:ea typeface="Times New Roman" panose="02020603050405020304" pitchFamily="18" charset="0"/>
                    <a:cs typeface="Times New Roman" panose="02020603050405020304" pitchFamily="18" charset="0"/>
                  </a:rPr>
                  <a:t>𝑆⟩</a:t>
                </a:r>
                <a:r>
                  <a:rPr lang="en-US" sz="2000" dirty="0"/>
                  <a:t>. </a:t>
                </a:r>
              </a:p>
              <a:p>
                <a:endParaRPr lang="en-US" sz="2000" dirty="0"/>
              </a:p>
              <a:p>
                <a:r>
                  <a:rPr lang="en-US" sz="2000" kern="1200" dirty="0">
                    <a:solidFill>
                      <a:schemeClr val="tx1"/>
                    </a:solidFill>
                    <a:latin typeface="+mn-lt"/>
                    <a:ea typeface="+mn-ea"/>
                    <a:cs typeface="+mn-cs"/>
                  </a:rPr>
                  <a:t>Putting back </a:t>
                </a:r>
                <a:r>
                  <a:rPr lang="en-US" sz="2000" i="0">
                    <a:latin typeface="Cambria Math" panose="02040503050406030204" pitchFamily="18" charset="0"/>
                  </a:rPr>
                  <a:t>𝑎_0</a:t>
                </a:r>
                <a:r>
                  <a:rPr lang="en-US" sz="2000" kern="1200" dirty="0">
                    <a:solidFill>
                      <a:schemeClr val="tx1"/>
                    </a:solidFill>
                    <a:latin typeface="+mn-lt"/>
                    <a:ea typeface="+mn-ea"/>
                    <a:cs typeface="+mn-cs"/>
                  </a:rPr>
                  <a:t> and </a:t>
                </a:r>
                <a:r>
                  <a:rPr lang="en-US" sz="2000" i="0">
                    <a:latin typeface="Cambria Math" panose="02040503050406030204" pitchFamily="18" charset="0"/>
                  </a:rPr>
                  <a:t>𝑎_0</a:t>
                </a:r>
                <a:r>
                  <a:rPr lang="en-US" sz="2000" kern="1200" dirty="0">
                    <a:solidFill>
                      <a:schemeClr val="tx1"/>
                    </a:solidFill>
                    <a:latin typeface="+mn-lt"/>
                    <a:ea typeface="+mn-ea"/>
                    <a:cs typeface="+mn-cs"/>
                  </a:rPr>
                  <a:t> into the starting equation we </a:t>
                </a:r>
                <a:r>
                  <a:rPr lang="en-US" sz="2000" kern="1200" baseline="0" dirty="0">
                    <a:solidFill>
                      <a:schemeClr val="tx1"/>
                    </a:solidFill>
                    <a:latin typeface="+mn-lt"/>
                    <a:ea typeface="+mn-ea"/>
                    <a:cs typeface="+mn-cs"/>
                  </a:rPr>
                  <a:t>express a</a:t>
                </a:r>
                <a:r>
                  <a:rPr lang="en-US" sz="2000" dirty="0"/>
                  <a:t> qubit state as a sum of  its projections to basis states.</a:t>
                </a:r>
                <a:r>
                  <a:rPr lang="en-US" sz="2000" kern="1200" dirty="0">
                    <a:solidFill>
                      <a:schemeClr val="tx1"/>
                    </a:solidFill>
                    <a:latin typeface="+mn-lt"/>
                    <a:ea typeface="+mn-ea"/>
                    <a:cs typeface="+mn-cs"/>
                  </a:rPr>
                  <a:t> </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0006466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figure on the left illustrates the principle of physical measurement. A diagonally polarized photon, representing a qubit in a superposition of horizontal and vertical polarization states, encounters a polarizing beam splitter that separates these two polarization components. If the detector registers horizontal polarization, the measurement outcome is +1; if it registers vertical polarization, the outcome is −1. Since the photon is in an equal superposition of horizontal and vertical polarization states, the probability of each measurement outcome is 50%.</a:t>
                </a:r>
              </a:p>
              <a:p>
                <a:pPr algn="just"/>
                <a:endParaRPr lang="en-ZA" dirty="0"/>
              </a:p>
              <a:p>
                <a:pPr algn="just"/>
                <a:r>
                  <a:rPr lang="en-ZA" dirty="0"/>
                  <a:t>The figure on the right illustrates the quantum-mechanical description of this process using the Pauli-Z observable. The two symbolic slits in the splitter correspond to the eigenvectors |0⟩ and |1⟩, with associated eigenvalues +1 and −1. During measurement, a qubit in superposition symbolically “passes” through one of these two slits, causing its state to collapse to the corresponding eigenvector and producing a measurement outcome of either +1 or −1.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aseline="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In a quantum computer, the measurement result is typically recorded as a classical bit, 0 or 1, corresponding to the detected outcome </a:t>
                </a:r>
                <a14:m>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a14:m>
                <a:r>
                  <a:rPr lang="en-ZA" dirty="0"/>
                  <a:t> or </a:t>
                </a:r>
                <a14:m>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1</m:t>
                        </m:r>
                      </m:e>
                    </m:d>
                  </m:oMath>
                </a14:m>
                <a:r>
                  <a:rPr lang="en-ZA" dirty="0"/>
                  <a:t>, rather than by directly recording the eigenvalue of the observable. The eigenvalues </a:t>
                </a:r>
                <a14:m>
                  <m:oMath xmlns:m="http://schemas.openxmlformats.org/officeDocument/2006/math">
                    <m:r>
                      <a:rPr lang="en-US" sz="1200" b="0" i="1" smtClean="0">
                        <a:latin typeface="Cambria Math" panose="02040503050406030204" pitchFamily="18" charset="0"/>
                      </a:rPr>
                      <m:t>+</m:t>
                    </m:r>
                    <m:r>
                      <a:rPr lang="sr-Latn-RS" sz="1200" i="1">
                        <a:latin typeface="Cambria Math" panose="02040503050406030204" pitchFamily="18" charset="0"/>
                      </a:rPr>
                      <m:t>1</m:t>
                    </m:r>
                  </m:oMath>
                </a14:m>
                <a:r>
                  <a:rPr lang="en-ZA" dirty="0"/>
                  <a:t> and </a:t>
                </a:r>
                <a14:m>
                  <m:oMath xmlns:m="http://schemas.openxmlformats.org/officeDocument/2006/math">
                    <m:r>
                      <a:rPr lang="en-US" sz="1200" b="0" i="0" smtClean="0">
                        <a:latin typeface="Cambria Math" panose="02040503050406030204" pitchFamily="18" charset="0"/>
                      </a:rPr>
                      <m:t>−</m:t>
                    </m:r>
                    <m:r>
                      <a:rPr lang="sr-Latn-RS" sz="1200" i="1">
                        <a:latin typeface="Cambria Math" panose="02040503050406030204" pitchFamily="18" charset="0"/>
                      </a:rPr>
                      <m:t>1</m:t>
                    </m:r>
                  </m:oMath>
                </a14:m>
                <a:r>
                  <a:rPr lang="en-ZA" dirty="0"/>
                  <a:t> belong to the mathematical description of the observable and can be assigned to these results when they are interpreted. </a:t>
                </a:r>
              </a:p>
            </p:txBody>
          </p:sp>
        </mc:Choice>
        <mc:Fallback xmlns="">
          <p:sp>
            <p:nvSpPr>
              <p:cNvPr id="3" name="Notes Placeholder 2"/>
              <p:cNvSpPr>
                <a:spLocks noGrp="1"/>
              </p:cNvSpPr>
              <p:nvPr>
                <p:ph type="body" idx="1"/>
              </p:nvPr>
            </p:nvSpPr>
            <p:spPr/>
            <p:txBody>
              <a:bodyPr/>
              <a:lstStyle/>
              <a:p>
                <a:pPr algn="just"/>
                <a:r>
                  <a:rPr lang="en-US" dirty="0"/>
                  <a:t>U </a:t>
                </a:r>
                <a:r>
                  <a:rPr lang="en-US" dirty="0" err="1"/>
                  <a:t>hardverskom</a:t>
                </a:r>
                <a:r>
                  <a:rPr lang="en-US" dirty="0"/>
                  <a:t> </a:t>
                </a:r>
                <a:r>
                  <a:rPr lang="en-US" dirty="0" err="1"/>
                  <a:t>smislu</a:t>
                </a:r>
                <a:r>
                  <a:rPr lang="en-US" dirty="0"/>
                  <a:t> </a:t>
                </a:r>
                <a:r>
                  <a:rPr lang="en-US" dirty="0" err="1"/>
                  <a:t>merenje</a:t>
                </a:r>
                <a:r>
                  <a:rPr lang="en-US" dirty="0"/>
                  <a:t> kubita </a:t>
                </a:r>
                <a:r>
                  <a:rPr lang="en-US" dirty="0" err="1"/>
                  <a:t>znači</a:t>
                </a:r>
                <a:r>
                  <a:rPr lang="en-US" dirty="0"/>
                  <a:t> </a:t>
                </a:r>
                <a:r>
                  <a:rPr lang="en-US" dirty="0" err="1"/>
                  <a:t>merenje</a:t>
                </a:r>
                <a:r>
                  <a:rPr lang="en-US" dirty="0"/>
                  <a:t> </a:t>
                </a:r>
                <a:r>
                  <a:rPr lang="en-US" dirty="0" err="1"/>
                  <a:t>neke</a:t>
                </a:r>
                <a:r>
                  <a:rPr lang="en-US" dirty="0"/>
                  <a:t> </a:t>
                </a:r>
                <a:r>
                  <a:rPr lang="en-US" dirty="0" err="1"/>
                  <a:t>fizičke</a:t>
                </a:r>
                <a:r>
                  <a:rPr lang="en-US" dirty="0"/>
                  <a:t> </a:t>
                </a:r>
                <a:r>
                  <a:rPr lang="en-US" dirty="0" err="1"/>
                  <a:t>veličine</a:t>
                </a:r>
                <a:r>
                  <a:rPr lang="en-US" dirty="0"/>
                  <a:t> </a:t>
                </a:r>
                <a:r>
                  <a:rPr lang="en-US" dirty="0" err="1"/>
                  <a:t>objekta</a:t>
                </a:r>
                <a:r>
                  <a:rPr lang="en-US" dirty="0"/>
                  <a:t> </a:t>
                </a:r>
                <a:r>
                  <a:rPr lang="en-US" dirty="0" err="1"/>
                  <a:t>kojim</a:t>
                </a:r>
                <a:r>
                  <a:rPr lang="en-US" dirty="0"/>
                  <a:t> </a:t>
                </a:r>
                <a:r>
                  <a:rPr lang="en-US" dirty="0" err="1"/>
                  <a:t>je</a:t>
                </a:r>
                <a:r>
                  <a:rPr lang="en-US" dirty="0"/>
                  <a:t> kubit </a:t>
                </a:r>
                <a:r>
                  <a:rPr lang="en-US" dirty="0" err="1"/>
                  <a:t>predstavljen</a:t>
                </a:r>
                <a:r>
                  <a:rPr lang="en-US" dirty="0"/>
                  <a:t>. Na primer, </a:t>
                </a:r>
                <a:r>
                  <a:rPr lang="en-US" dirty="0" err="1"/>
                  <a:t>nivo</a:t>
                </a:r>
                <a:r>
                  <a:rPr lang="en-US" dirty="0"/>
                  <a:t> </a:t>
                </a:r>
                <a:r>
                  <a:rPr lang="en-US" dirty="0" err="1"/>
                  <a:t>energije</a:t>
                </a:r>
                <a:r>
                  <a:rPr lang="en-US" dirty="0"/>
                  <a:t>, </a:t>
                </a:r>
                <a:r>
                  <a:rPr lang="en-US" dirty="0" err="1"/>
                  <a:t>rezonantna</a:t>
                </a:r>
                <a:r>
                  <a:rPr lang="en-US" dirty="0"/>
                  <a:t> </a:t>
                </a:r>
                <a:r>
                  <a:rPr lang="en-US" dirty="0" err="1"/>
                  <a:t>frekvencija</a:t>
                </a:r>
                <a:r>
                  <a:rPr lang="en-US" dirty="0"/>
                  <a:t>, </a:t>
                </a:r>
                <a:r>
                  <a:rPr lang="en-US" dirty="0" err="1"/>
                  <a:t>magnetizacija</a:t>
                </a:r>
                <a:r>
                  <a:rPr lang="en-US" dirty="0"/>
                  <a:t> </a:t>
                </a:r>
                <a:r>
                  <a:rPr lang="en-US" dirty="0" err="1"/>
                  <a:t>ili</a:t>
                </a:r>
                <a:r>
                  <a:rPr lang="en-US" dirty="0"/>
                  <a:t> </a:t>
                </a:r>
                <a:r>
                  <a:rPr lang="en-US" dirty="0" err="1"/>
                  <a:t>polarizacija</a:t>
                </a:r>
                <a:r>
                  <a:rPr lang="en-US" dirty="0"/>
                  <a:t> </a:t>
                </a:r>
                <a:r>
                  <a:rPr lang="en-US" dirty="0" err="1"/>
                  <a:t>kvantnog</a:t>
                </a:r>
                <a:r>
                  <a:rPr lang="en-US" dirty="0"/>
                  <a:t> </a:t>
                </a:r>
                <a:r>
                  <a:rPr lang="en-US" dirty="0" err="1"/>
                  <a:t>objekta</a:t>
                </a:r>
                <a:r>
                  <a:rPr lang="en-US" dirty="0"/>
                  <a:t> </a:t>
                </a:r>
                <a:r>
                  <a:rPr lang="en-US" dirty="0" err="1"/>
                  <a:t>koji</a:t>
                </a:r>
                <a:r>
                  <a:rPr lang="en-US" dirty="0"/>
                  <a:t> se </a:t>
                </a:r>
                <a:r>
                  <a:rPr lang="en-US" dirty="0" err="1"/>
                  <a:t>posmatra</a:t>
                </a:r>
                <a:r>
                  <a:rPr lang="en-US" dirty="0"/>
                  <a:t>. U </a:t>
                </a:r>
                <a:r>
                  <a:rPr lang="en-US" dirty="0" err="1"/>
                  <a:t>primeru</a:t>
                </a:r>
                <a:r>
                  <a:rPr lang="en-US" dirty="0"/>
                  <a:t> </a:t>
                </a:r>
                <a:r>
                  <a:rPr lang="en-US" dirty="0" err="1"/>
                  <a:t>sa</a:t>
                </a:r>
                <a:r>
                  <a:rPr lang="en-US" dirty="0"/>
                  <a:t> </a:t>
                </a:r>
                <a:r>
                  <a:rPr lang="en-US" dirty="0" err="1"/>
                  <a:t>slike</a:t>
                </a:r>
                <a:r>
                  <a:rPr lang="en-US" dirty="0"/>
                  <a:t> </a:t>
                </a:r>
                <a:r>
                  <a:rPr lang="en-US" dirty="0" err="1"/>
                  <a:t>je</a:t>
                </a:r>
                <a:r>
                  <a:rPr lang="en-US" dirty="0"/>
                  <a:t> to </a:t>
                </a:r>
                <a:r>
                  <a:rPr lang="en-US" dirty="0" err="1"/>
                  <a:t>polarizacija</a:t>
                </a:r>
                <a:r>
                  <a:rPr lang="en-US" dirty="0"/>
                  <a:t> </a:t>
                </a:r>
                <a:r>
                  <a:rPr lang="en-US" dirty="0" err="1"/>
                  <a:t>svetlosti</a:t>
                </a:r>
                <a:r>
                  <a:rPr lang="en-US" dirty="0"/>
                  <a:t>. </a:t>
                </a:r>
                <a:r>
                  <a:rPr lang="en-US" dirty="0" err="1"/>
                  <a:t>Kod</a:t>
                </a:r>
                <a:r>
                  <a:rPr lang="en-US" dirty="0"/>
                  <a:t> </a:t>
                </a:r>
                <a:r>
                  <a:rPr lang="en-US" dirty="0" err="1"/>
                  <a:t>nepolarizovane</a:t>
                </a:r>
                <a:r>
                  <a:rPr lang="en-US" dirty="0"/>
                  <a:t> </a:t>
                </a:r>
                <a:r>
                  <a:rPr lang="en-US" dirty="0" err="1"/>
                  <a:t>svetlosti</a:t>
                </a:r>
                <a:r>
                  <a:rPr lang="en-US" dirty="0"/>
                  <a:t> </a:t>
                </a:r>
                <a:r>
                  <a:rPr lang="en-US" dirty="0" err="1"/>
                  <a:t>elektromagnetno</a:t>
                </a:r>
                <a:r>
                  <a:rPr lang="en-US" dirty="0"/>
                  <a:t> polje </a:t>
                </a:r>
                <a:r>
                  <a:rPr lang="en-US" dirty="0" err="1"/>
                  <a:t>osciluje</a:t>
                </a:r>
                <a:r>
                  <a:rPr lang="en-US" dirty="0"/>
                  <a:t> u </a:t>
                </a:r>
                <a:r>
                  <a:rPr lang="en-US" dirty="0" err="1"/>
                  <a:t>svim</a:t>
                </a:r>
                <a:r>
                  <a:rPr lang="en-US" dirty="0"/>
                  <a:t> </a:t>
                </a:r>
                <a:r>
                  <a:rPr lang="en-US" dirty="0" err="1"/>
                  <a:t>pravcima</a:t>
                </a:r>
                <a:r>
                  <a:rPr lang="en-US" dirty="0"/>
                  <a:t>, </a:t>
                </a:r>
                <a:r>
                  <a:rPr lang="en-ZA" dirty="0" err="1"/>
                  <a:t>unutar</a:t>
                </a:r>
                <a:r>
                  <a:rPr lang="en-ZA" dirty="0"/>
                  <a:t> </a:t>
                </a:r>
                <a:r>
                  <a:rPr lang="en-ZA" dirty="0" err="1"/>
                  <a:t>ravni</a:t>
                </a:r>
                <a:r>
                  <a:rPr lang="en-ZA" dirty="0"/>
                  <a:t> </a:t>
                </a:r>
                <a:r>
                  <a:rPr lang="en-ZA" dirty="0" err="1"/>
                  <a:t>normalne</a:t>
                </a:r>
                <a:r>
                  <a:rPr lang="en-ZA" dirty="0"/>
                  <a:t> </a:t>
                </a:r>
                <a:r>
                  <a:rPr lang="en-ZA" dirty="0" err="1"/>
                  <a:t>na</a:t>
                </a:r>
                <a:r>
                  <a:rPr lang="en-ZA" dirty="0"/>
                  <a:t> </a:t>
                </a:r>
                <a:r>
                  <a:rPr lang="en-ZA" dirty="0" err="1"/>
                  <a:t>pravac</a:t>
                </a:r>
                <a:r>
                  <a:rPr lang="en-ZA" dirty="0"/>
                  <a:t> </a:t>
                </a:r>
                <a:r>
                  <a:rPr lang="en-ZA" dirty="0" err="1"/>
                  <a:t>prostiranja</a:t>
                </a:r>
                <a:r>
                  <a:rPr lang="en-ZA" dirty="0"/>
                  <a:t> </a:t>
                </a:r>
                <a:r>
                  <a:rPr lang="en-ZA" dirty="0" err="1"/>
                  <a:t>svetlosti</a:t>
                </a:r>
                <a:r>
                  <a:rPr lang="en-ZA" dirty="0"/>
                  <a:t>, </a:t>
                </a:r>
                <a:r>
                  <a:rPr lang="en-US" dirty="0" err="1"/>
                  <a:t>dok</a:t>
                </a:r>
                <a:r>
                  <a:rPr lang="en-US" dirty="0"/>
                  <a:t> </a:t>
                </a:r>
                <a:r>
                  <a:rPr lang="en-US" dirty="0" err="1"/>
                  <a:t>kod</a:t>
                </a:r>
                <a:r>
                  <a:rPr lang="en-US" dirty="0"/>
                  <a:t> </a:t>
                </a:r>
                <a:r>
                  <a:rPr lang="en-US" dirty="0" err="1"/>
                  <a:t>polarizovane</a:t>
                </a:r>
                <a:r>
                  <a:rPr lang="en-US" dirty="0"/>
                  <a:t>, </a:t>
                </a:r>
                <a:r>
                  <a:rPr lang="en-US" dirty="0" err="1"/>
                  <a:t>samo</a:t>
                </a:r>
                <a:r>
                  <a:rPr lang="en-US" dirty="0"/>
                  <a:t> u </a:t>
                </a:r>
                <a:r>
                  <a:rPr lang="en-US" dirty="0" err="1"/>
                  <a:t>jednoj</a:t>
                </a:r>
                <a:r>
                  <a:rPr lang="en-US" dirty="0"/>
                  <a:t> </a:t>
                </a:r>
                <a:r>
                  <a:rPr lang="en-US" dirty="0" err="1"/>
                  <a:t>ravni</a:t>
                </a:r>
                <a:r>
                  <a:rPr lang="en-US" dirty="0"/>
                  <a:t>. </a:t>
                </a:r>
              </a:p>
              <a:p>
                <a:pPr algn="just"/>
                <a:endParaRPr lang="en-US" dirty="0"/>
              </a:p>
              <a:p>
                <a:pPr algn="just"/>
                <a:r>
                  <a:rPr lang="en-US" dirty="0" err="1"/>
                  <a:t>Razmotrimo</a:t>
                </a:r>
                <a:r>
                  <a:rPr lang="en-US" dirty="0"/>
                  <a:t> </a:t>
                </a:r>
                <a:r>
                  <a:rPr lang="en-US" dirty="0" err="1"/>
                  <a:t>dijagonalno</a:t>
                </a:r>
                <a:r>
                  <a:rPr lang="en-US" dirty="0"/>
                  <a:t> </a:t>
                </a:r>
                <a:r>
                  <a:rPr lang="en-US" dirty="0" err="1"/>
                  <a:t>polarizovan</a:t>
                </a:r>
                <a:r>
                  <a:rPr lang="en-US" dirty="0"/>
                  <a:t> </a:t>
                </a:r>
                <a:r>
                  <a:rPr lang="en-US" dirty="0" err="1"/>
                  <a:t>foton</a:t>
                </a:r>
                <a:r>
                  <a:rPr lang="en-US" dirty="0"/>
                  <a:t> </a:t>
                </a:r>
                <a:r>
                  <a:rPr lang="en-US" dirty="0" err="1"/>
                  <a:t>čiju</a:t>
                </a:r>
                <a:r>
                  <a:rPr lang="en-US" dirty="0"/>
                  <a:t> </a:t>
                </a:r>
                <a:r>
                  <a:rPr lang="en-US" dirty="0" err="1"/>
                  <a:t>polarizaciju</a:t>
                </a:r>
                <a:r>
                  <a:rPr lang="en-US" dirty="0"/>
                  <a:t> </a:t>
                </a:r>
                <a:r>
                  <a:rPr lang="en-US" dirty="0" err="1"/>
                  <a:t>možemo</a:t>
                </a:r>
                <a:r>
                  <a:rPr lang="en-US" dirty="0"/>
                  <a:t> </a:t>
                </a:r>
                <a:r>
                  <a:rPr lang="en-US" dirty="0" err="1"/>
                  <a:t>predstaviti</a:t>
                </a:r>
                <a:r>
                  <a:rPr lang="en-US" dirty="0"/>
                  <a:t> </a:t>
                </a:r>
                <a:r>
                  <a:rPr lang="en-US" dirty="0" err="1"/>
                  <a:t>superpozicijom</a:t>
                </a:r>
                <a:r>
                  <a:rPr lang="en-US" dirty="0"/>
                  <a:t>  </a:t>
                </a:r>
                <a:r>
                  <a:rPr lang="en-US" dirty="0" err="1"/>
                  <a:t>horizontalno</a:t>
                </a:r>
                <a:r>
                  <a:rPr lang="en-US" dirty="0"/>
                  <a:t> </a:t>
                </a:r>
                <a:r>
                  <a:rPr lang="en-US" dirty="0" err="1"/>
                  <a:t>i</a:t>
                </a:r>
                <a:r>
                  <a:rPr lang="en-US" dirty="0"/>
                  <a:t> </a:t>
                </a:r>
                <a:r>
                  <a:rPr lang="en-US" dirty="0" err="1"/>
                  <a:t>vertikalno</a:t>
                </a:r>
                <a:r>
                  <a:rPr lang="en-US" dirty="0"/>
                  <a:t> </a:t>
                </a:r>
                <a:r>
                  <a:rPr lang="en-US" dirty="0" err="1"/>
                  <a:t>polarizovanih</a:t>
                </a:r>
                <a:r>
                  <a:rPr lang="en-US" dirty="0"/>
                  <a:t> </a:t>
                </a:r>
                <a:r>
                  <a:rPr lang="en-US" dirty="0" err="1"/>
                  <a:t>elektromagnetnih</a:t>
                </a:r>
                <a:r>
                  <a:rPr lang="en-US" dirty="0"/>
                  <a:t> </a:t>
                </a:r>
                <a:r>
                  <a:rPr lang="en-US" dirty="0" err="1"/>
                  <a:t>polja</a:t>
                </a:r>
                <a:r>
                  <a:rPr lang="en-US" dirty="0"/>
                  <a:t>. </a:t>
                </a:r>
                <a:r>
                  <a:rPr lang="en-US" dirty="0" err="1"/>
                  <a:t>Kada</a:t>
                </a:r>
                <a:r>
                  <a:rPr lang="en-US" dirty="0"/>
                  <a:t> </a:t>
                </a:r>
                <a:r>
                  <a:rPr lang="en-US" dirty="0" err="1"/>
                  <a:t>foton</a:t>
                </a:r>
                <a:r>
                  <a:rPr lang="en-US" dirty="0"/>
                  <a:t> </a:t>
                </a:r>
                <a:r>
                  <a:rPr lang="en-US" dirty="0" err="1"/>
                  <a:t>prođe</a:t>
                </a:r>
                <a:r>
                  <a:rPr lang="en-US" dirty="0"/>
                  <a:t> </a:t>
                </a:r>
                <a:r>
                  <a:rPr lang="en-US" dirty="0" err="1"/>
                  <a:t>kroz</a:t>
                </a:r>
                <a:r>
                  <a:rPr lang="en-US" dirty="0"/>
                  <a:t> filter </a:t>
                </a:r>
                <a:r>
                  <a:rPr lang="en-US" dirty="0" err="1"/>
                  <a:t>koji</a:t>
                </a:r>
                <a:r>
                  <a:rPr lang="en-US" dirty="0"/>
                  <a:t> </a:t>
                </a:r>
                <a:r>
                  <a:rPr lang="en-US" dirty="0" err="1"/>
                  <a:t>detektuje</a:t>
                </a:r>
                <a:r>
                  <a:rPr lang="en-US" dirty="0"/>
                  <a:t> </a:t>
                </a:r>
                <a:r>
                  <a:rPr lang="en-US" dirty="0" err="1"/>
                  <a:t>jednu</a:t>
                </a:r>
                <a:r>
                  <a:rPr lang="en-US" dirty="0"/>
                  <a:t> od </a:t>
                </a:r>
                <a:r>
                  <a:rPr lang="en-US" dirty="0" err="1"/>
                  <a:t>ove</a:t>
                </a:r>
                <a:r>
                  <a:rPr lang="en-US" dirty="0"/>
                  <a:t> </a:t>
                </a:r>
                <a:r>
                  <a:rPr lang="en-US" dirty="0" err="1"/>
                  <a:t>dve</a:t>
                </a:r>
                <a:r>
                  <a:rPr lang="en-US" dirty="0"/>
                  <a:t> </a:t>
                </a:r>
                <a:r>
                  <a:rPr lang="en-US" dirty="0" err="1"/>
                  <a:t>polarizacije</a:t>
                </a:r>
                <a:r>
                  <a:rPr lang="en-US" dirty="0"/>
                  <a:t>, </a:t>
                </a:r>
                <a:r>
                  <a:rPr lang="en-US" dirty="0" err="1"/>
                  <a:t>njegova</a:t>
                </a:r>
                <a:r>
                  <a:rPr lang="en-US" dirty="0"/>
                  <a:t> </a:t>
                </a:r>
                <a:r>
                  <a:rPr lang="en-US" dirty="0" err="1"/>
                  <a:t>polarizacija</a:t>
                </a:r>
                <a:r>
                  <a:rPr lang="en-US" dirty="0"/>
                  <a:t> </a:t>
                </a:r>
                <a:r>
                  <a:rPr lang="en-US" dirty="0" err="1"/>
                  <a:t>će</a:t>
                </a:r>
                <a:r>
                  <a:rPr lang="en-US" dirty="0"/>
                  <a:t> se </a:t>
                </a:r>
                <a:r>
                  <a:rPr lang="en-US" dirty="0" err="1"/>
                  <a:t>svesti</a:t>
                </a:r>
                <a:r>
                  <a:rPr lang="en-US" dirty="0"/>
                  <a:t> </a:t>
                </a:r>
                <a:r>
                  <a:rPr lang="en-US" dirty="0" err="1"/>
                  <a:t>ili</a:t>
                </a:r>
                <a:r>
                  <a:rPr lang="en-US" dirty="0"/>
                  <a:t> </a:t>
                </a:r>
                <a:r>
                  <a:rPr lang="en-US" dirty="0" err="1"/>
                  <a:t>na</a:t>
                </a:r>
                <a:r>
                  <a:rPr lang="en-US" dirty="0"/>
                  <a:t> </a:t>
                </a:r>
                <a:r>
                  <a:rPr lang="en-US" dirty="0" err="1"/>
                  <a:t>horizontalno</a:t>
                </a:r>
                <a:r>
                  <a:rPr lang="en-US" dirty="0"/>
                  <a:t> </a:t>
                </a:r>
                <a:r>
                  <a:rPr lang="en-US" dirty="0" err="1"/>
                  <a:t>stanje</a:t>
                </a:r>
                <a:r>
                  <a:rPr lang="en-US" dirty="0"/>
                  <a:t>, </a:t>
                </a:r>
                <a:r>
                  <a:rPr lang="en-US" dirty="0" err="1"/>
                  <a:t>koje</a:t>
                </a:r>
                <a:r>
                  <a:rPr lang="en-US" dirty="0"/>
                  <a:t> </a:t>
                </a:r>
                <a:r>
                  <a:rPr lang="en-US" dirty="0" err="1"/>
                  <a:t>detektor</a:t>
                </a:r>
                <a:r>
                  <a:rPr lang="en-US" dirty="0"/>
                  <a:t> </a:t>
                </a:r>
                <a:r>
                  <a:rPr lang="en-US" dirty="0" err="1"/>
                  <a:t>registruje</a:t>
                </a:r>
                <a:r>
                  <a:rPr lang="en-US" dirty="0"/>
                  <a:t> </a:t>
                </a:r>
                <a:r>
                  <a:rPr lang="en-US" dirty="0" err="1"/>
                  <a:t>kao</a:t>
                </a:r>
                <a:r>
                  <a:rPr lang="en-US" dirty="0"/>
                  <a:t> +1, </a:t>
                </a:r>
                <a:r>
                  <a:rPr lang="en-US" dirty="0" err="1"/>
                  <a:t>ili</a:t>
                </a:r>
                <a:r>
                  <a:rPr lang="en-US" dirty="0"/>
                  <a:t> </a:t>
                </a:r>
                <a:r>
                  <a:rPr lang="en-US" dirty="0" err="1"/>
                  <a:t>na</a:t>
                </a:r>
                <a:r>
                  <a:rPr lang="en-US" dirty="0"/>
                  <a:t> </a:t>
                </a:r>
                <a:r>
                  <a:rPr lang="en-US" dirty="0" err="1"/>
                  <a:t>vertikalno</a:t>
                </a:r>
                <a:r>
                  <a:rPr lang="en-US" dirty="0"/>
                  <a:t> </a:t>
                </a:r>
                <a:r>
                  <a:rPr lang="en-US" dirty="0" err="1"/>
                  <a:t>stanje</a:t>
                </a:r>
                <a:r>
                  <a:rPr lang="en-US" dirty="0"/>
                  <a:t>, </a:t>
                </a:r>
                <a:r>
                  <a:rPr lang="en-US" dirty="0" err="1"/>
                  <a:t>koje</a:t>
                </a:r>
                <a:r>
                  <a:rPr lang="en-US" dirty="0"/>
                  <a:t> </a:t>
                </a:r>
                <a:r>
                  <a:rPr lang="en-US" dirty="0" err="1"/>
                  <a:t>detektor</a:t>
                </a:r>
                <a:r>
                  <a:rPr lang="en-US" dirty="0"/>
                  <a:t> </a:t>
                </a:r>
                <a:r>
                  <a:rPr lang="en-US" dirty="0" err="1"/>
                  <a:t>registruje</a:t>
                </a:r>
                <a:r>
                  <a:rPr lang="en-US" dirty="0"/>
                  <a:t> </a:t>
                </a:r>
                <a:r>
                  <a:rPr lang="en-US" dirty="0" err="1"/>
                  <a:t>kao</a:t>
                </a:r>
                <a:r>
                  <a:rPr lang="en-US" dirty="0"/>
                  <a:t> -1. </a:t>
                </a:r>
              </a:p>
              <a:p>
                <a:pPr algn="just"/>
                <a:endParaRPr lang="en-US" dirty="0"/>
              </a:p>
              <a:p>
                <a:pPr algn="just"/>
                <a:r>
                  <a:rPr lang="en-US" dirty="0"/>
                  <a:t>U </a:t>
                </a:r>
                <a:r>
                  <a:rPr lang="en-US" dirty="0" err="1"/>
                  <a:t>matematičkom</a:t>
                </a:r>
                <a:r>
                  <a:rPr lang="en-US" dirty="0"/>
                  <a:t> </a:t>
                </a:r>
                <a:r>
                  <a:rPr lang="en-US" dirty="0" err="1"/>
                  <a:t>modelu</a:t>
                </a:r>
                <a:r>
                  <a:rPr lang="en-US" dirty="0"/>
                  <a:t>, </a:t>
                </a:r>
                <a:r>
                  <a:rPr lang="en-US" dirty="0" err="1"/>
                  <a:t>horizontalna</a:t>
                </a:r>
                <a:r>
                  <a:rPr lang="en-US" dirty="0"/>
                  <a:t> </a:t>
                </a:r>
                <a:r>
                  <a:rPr lang="en-US" dirty="0" err="1"/>
                  <a:t>i</a:t>
                </a:r>
                <a:r>
                  <a:rPr lang="en-US" dirty="0"/>
                  <a:t> </a:t>
                </a:r>
                <a:r>
                  <a:rPr lang="en-US" dirty="0" err="1"/>
                  <a:t>vertikalna</a:t>
                </a:r>
                <a:r>
                  <a:rPr lang="en-US" dirty="0"/>
                  <a:t> </a:t>
                </a:r>
                <a:r>
                  <a:rPr lang="en-US" dirty="0" err="1"/>
                  <a:t>polarizacija</a:t>
                </a:r>
                <a:r>
                  <a:rPr lang="en-US" dirty="0"/>
                  <a:t> </a:t>
                </a:r>
                <a:r>
                  <a:rPr lang="en-US" dirty="0" err="1"/>
                  <a:t>predstavljene</a:t>
                </a:r>
                <a:r>
                  <a:rPr lang="en-US" dirty="0"/>
                  <a:t> </a:t>
                </a:r>
                <a:r>
                  <a:rPr lang="en-US" dirty="0" err="1"/>
                  <a:t>su</a:t>
                </a:r>
                <a:r>
                  <a:rPr lang="en-US" dirty="0"/>
                  <a:t> </a:t>
                </a:r>
                <a:r>
                  <a:rPr lang="en-US" dirty="0" err="1"/>
                  <a:t>vektorima</a:t>
                </a:r>
                <a:r>
                  <a:rPr lang="en-US" dirty="0"/>
                  <a:t> </a:t>
                </a:r>
                <a:r>
                  <a:rPr lang="en-US" dirty="0" err="1"/>
                  <a:t>baze</a:t>
                </a:r>
                <a:r>
                  <a:rPr lang="en-US" dirty="0"/>
                  <a:t>, </a:t>
                </a:r>
                <a:r>
                  <a:rPr lang="en-US" dirty="0" err="1"/>
                  <a:t>dok</a:t>
                </a:r>
                <a:r>
                  <a:rPr lang="en-US" dirty="0"/>
                  <a:t> se </a:t>
                </a:r>
                <a:r>
                  <a:rPr lang="en-US" dirty="0" err="1"/>
                  <a:t>dijagonalna</a:t>
                </a:r>
                <a:r>
                  <a:rPr lang="en-US" dirty="0"/>
                  <a:t> </a:t>
                </a:r>
                <a:r>
                  <a:rPr lang="en-US" dirty="0" err="1"/>
                  <a:t>polarizacija</a:t>
                </a:r>
                <a:r>
                  <a:rPr lang="en-US" dirty="0"/>
                  <a:t> </a:t>
                </a:r>
                <a:r>
                  <a:rPr lang="en-US" dirty="0" err="1"/>
                  <a:t>opisuje</a:t>
                </a:r>
                <a:r>
                  <a:rPr lang="en-US" dirty="0"/>
                  <a:t> </a:t>
                </a:r>
                <a:r>
                  <a:rPr lang="en-US" dirty="0" err="1"/>
                  <a:t>njihovom</a:t>
                </a:r>
                <a:r>
                  <a:rPr lang="en-US" dirty="0"/>
                  <a:t> </a:t>
                </a:r>
                <a:r>
                  <a:rPr lang="en-US" dirty="0" err="1"/>
                  <a:t>superpozicijom</a:t>
                </a:r>
                <a:r>
                  <a:rPr lang="en-US" dirty="0"/>
                  <a:t>. </a:t>
                </a:r>
              </a:p>
              <a:p>
                <a:pPr algn="just"/>
                <a:endParaRPr lang="en-US" dirty="0"/>
              </a:p>
              <a:p>
                <a:pPr algn="just"/>
                <a:r>
                  <a:rPr lang="en-US" dirty="0" err="1"/>
                  <a:t>Proces</a:t>
                </a:r>
                <a:r>
                  <a:rPr lang="en-US" dirty="0"/>
                  <a:t> </a:t>
                </a:r>
                <a:r>
                  <a:rPr lang="en-US" dirty="0" err="1"/>
                  <a:t>merenja</a:t>
                </a:r>
                <a:r>
                  <a:rPr lang="en-US" dirty="0"/>
                  <a:t> se </a:t>
                </a:r>
                <a:r>
                  <a:rPr lang="en-US" dirty="0" err="1"/>
                  <a:t>modeluje</a:t>
                </a:r>
                <a:r>
                  <a:rPr lang="en-US" dirty="0"/>
                  <a:t> </a:t>
                </a:r>
                <a:r>
                  <a:rPr lang="en-US" dirty="0" err="1"/>
                  <a:t>ermitksim</a:t>
                </a:r>
                <a:r>
                  <a:rPr lang="en-US" dirty="0"/>
                  <a:t> </a:t>
                </a:r>
                <a:r>
                  <a:rPr lang="en-US" dirty="0" err="1"/>
                  <a:t>operatorom</a:t>
                </a:r>
                <a:r>
                  <a:rPr lang="en-US" dirty="0"/>
                  <a:t> </a:t>
                </a:r>
                <a:r>
                  <a:rPr lang="en-US" dirty="0" err="1"/>
                  <a:t>čiji</a:t>
                </a:r>
                <a:r>
                  <a:rPr lang="en-US" dirty="0"/>
                  <a:t> </a:t>
                </a:r>
                <a:r>
                  <a:rPr lang="en-US" dirty="0" err="1"/>
                  <a:t>sopstveni</a:t>
                </a:r>
                <a:r>
                  <a:rPr lang="en-US" dirty="0"/>
                  <a:t> </a:t>
                </a:r>
                <a:r>
                  <a:rPr lang="en-US" dirty="0" err="1"/>
                  <a:t>vektori</a:t>
                </a:r>
                <a:r>
                  <a:rPr lang="en-US" dirty="0"/>
                  <a:t> </a:t>
                </a:r>
                <a:r>
                  <a:rPr lang="en-US" dirty="0" err="1"/>
                  <a:t>predstavljaju</a:t>
                </a:r>
                <a:r>
                  <a:rPr lang="en-US" dirty="0"/>
                  <a:t> </a:t>
                </a:r>
                <a:r>
                  <a:rPr lang="en-US" dirty="0" err="1"/>
                  <a:t>vektori</a:t>
                </a:r>
                <a:r>
                  <a:rPr lang="en-US" dirty="0"/>
                  <a:t> </a:t>
                </a:r>
                <a:r>
                  <a:rPr lang="en-US" dirty="0" err="1"/>
                  <a:t>baze</a:t>
                </a:r>
                <a:r>
                  <a:rPr lang="en-US" dirty="0"/>
                  <a:t>, a </a:t>
                </a:r>
                <a:r>
                  <a:rPr lang="en-US" dirty="0" err="1"/>
                  <a:t>sopstvene</a:t>
                </a:r>
                <a:r>
                  <a:rPr lang="en-US" dirty="0"/>
                  <a:t> </a:t>
                </a:r>
                <a:r>
                  <a:rPr lang="en-US" dirty="0" err="1"/>
                  <a:t>vrednosti</a:t>
                </a:r>
                <a:r>
                  <a:rPr lang="en-US" dirty="0"/>
                  <a:t> </a:t>
                </a:r>
                <a:r>
                  <a:rPr lang="en-US" dirty="0" err="1"/>
                  <a:t>rezultate</a:t>
                </a:r>
                <a:r>
                  <a:rPr lang="en-US" dirty="0"/>
                  <a:t> </a:t>
                </a:r>
                <a:r>
                  <a:rPr lang="en-US" dirty="0" err="1"/>
                  <a:t>merenja</a:t>
                </a:r>
                <a:r>
                  <a:rPr lang="en-US" dirty="0"/>
                  <a:t>. </a:t>
                </a:r>
                <a:r>
                  <a:rPr lang="en-US" dirty="0" err="1"/>
                  <a:t>Ovakav</a:t>
                </a:r>
                <a:r>
                  <a:rPr lang="en-US" dirty="0"/>
                  <a:t> operator </a:t>
                </a:r>
                <a:r>
                  <a:rPr lang="en-US" dirty="0" err="1"/>
                  <a:t>naziva</a:t>
                </a:r>
                <a:r>
                  <a:rPr lang="en-US" dirty="0"/>
                  <a:t> se operator </a:t>
                </a:r>
                <a:r>
                  <a:rPr lang="en-US" dirty="0" err="1"/>
                  <a:t>merene</a:t>
                </a:r>
                <a:r>
                  <a:rPr lang="en-US" dirty="0"/>
                  <a:t> </a:t>
                </a:r>
                <a:r>
                  <a:rPr lang="en-US" dirty="0" err="1"/>
                  <a:t>veličine</a:t>
                </a:r>
                <a:r>
                  <a:rPr lang="en-US" dirty="0"/>
                  <a:t> (observable). </a:t>
                </a:r>
                <a:r>
                  <a:rPr lang="en-US" dirty="0" err="1"/>
                  <a:t>Ovakav</a:t>
                </a:r>
                <a:r>
                  <a:rPr lang="en-US" dirty="0"/>
                  <a:t> operator </a:t>
                </a:r>
                <a:r>
                  <a:rPr lang="en-US" dirty="0" err="1"/>
                  <a:t>naziva</a:t>
                </a:r>
                <a:r>
                  <a:rPr lang="en-US" dirty="0"/>
                  <a:t> se operator </a:t>
                </a:r>
                <a:r>
                  <a:rPr lang="en-US" dirty="0" err="1"/>
                  <a:t>merene</a:t>
                </a:r>
                <a:r>
                  <a:rPr lang="en-US" dirty="0"/>
                  <a:t> </a:t>
                </a:r>
                <a:r>
                  <a:rPr lang="en-US" dirty="0" err="1"/>
                  <a:t>veličine</a:t>
                </a:r>
                <a:r>
                  <a:rPr lang="en-US" dirty="0"/>
                  <a:t> (observable)</a:t>
                </a:r>
                <a:r>
                  <a:rPr lang="en-ZA" dirty="0"/>
                  <a:t>.</a:t>
                </a:r>
                <a:endParaRPr lang="en-US" dirty="0"/>
              </a:p>
              <a:p>
                <a:pPr algn="just"/>
                <a:endParaRPr lang="en-US"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err="1"/>
                  <a:t>Neka</a:t>
                </a:r>
                <a:r>
                  <a:rPr lang="en-US" dirty="0"/>
                  <a:t> </a:t>
                </a:r>
                <a:r>
                  <a:rPr lang="en-US" dirty="0" err="1"/>
                  <a:t>je</a:t>
                </a:r>
                <a:r>
                  <a:rPr lang="en-US" dirty="0"/>
                  <a:t>, </a:t>
                </a:r>
                <a:r>
                  <a:rPr lang="en-US" dirty="0" err="1"/>
                  <a:t>na</a:t>
                </a:r>
                <a:r>
                  <a:rPr lang="en-US" dirty="0"/>
                  <a:t> primer, </a:t>
                </a:r>
                <a:r>
                  <a:rPr lang="en-US" dirty="0" err="1"/>
                  <a:t>stanje</a:t>
                </a:r>
                <a:r>
                  <a:rPr lang="en-US" dirty="0"/>
                  <a:t> </a:t>
                </a:r>
                <a:r>
                  <a:rPr lang="en-US" dirty="0" err="1"/>
                  <a:t>fotona</a:t>
                </a:r>
                <a:r>
                  <a:rPr lang="en-US" dirty="0"/>
                  <a:t> </a:t>
                </a:r>
                <a:r>
                  <a:rPr lang="en-US" dirty="0" err="1"/>
                  <a:t>opisano</a:t>
                </a:r>
                <a:r>
                  <a:rPr lang="en-US" dirty="0"/>
                  <a:t> </a:t>
                </a:r>
                <a:r>
                  <a:rPr lang="en-US" dirty="0" err="1"/>
                  <a:t>vektorom</a:t>
                </a:r>
                <a:r>
                  <a:rPr lang="en-US" dirty="0"/>
                  <a:t> ∣S⟩, a operator </a:t>
                </a:r>
                <a:r>
                  <a:rPr lang="en-US" dirty="0" err="1"/>
                  <a:t>merene</a:t>
                </a:r>
                <a:r>
                  <a:rPr lang="en-US" dirty="0"/>
                  <a:t> </a:t>
                </a:r>
                <a:r>
                  <a:rPr lang="en-US" dirty="0" err="1"/>
                  <a:t>veličine</a:t>
                </a:r>
                <a:r>
                  <a:rPr lang="en-US" dirty="0"/>
                  <a:t> Pauli 𝑍 </a:t>
                </a:r>
                <a:r>
                  <a:rPr lang="en-US" dirty="0" err="1"/>
                  <a:t>operatorom</a:t>
                </a:r>
                <a:r>
                  <a:rPr lang="en-US" dirty="0"/>
                  <a:t>. </a:t>
                </a:r>
                <a:r>
                  <a:rPr lang="en-US" dirty="0" err="1"/>
                  <a:t>Sopstvene</a:t>
                </a:r>
                <a:r>
                  <a:rPr lang="en-US" dirty="0"/>
                  <a:t> </a:t>
                </a:r>
                <a:r>
                  <a:rPr lang="en-US" dirty="0" err="1"/>
                  <a:t>vrednosti</a:t>
                </a:r>
                <a:r>
                  <a:rPr lang="en-US" dirty="0"/>
                  <a:t> </a:t>
                </a:r>
                <a:r>
                  <a:rPr lang="en-US" dirty="0" err="1"/>
                  <a:t>ovog</a:t>
                </a:r>
                <a:r>
                  <a:rPr lang="en-US" dirty="0"/>
                  <a:t> </a:t>
                </a:r>
                <a:r>
                  <a:rPr lang="en-US" dirty="0" err="1"/>
                  <a:t>operatora</a:t>
                </a:r>
                <a:r>
                  <a:rPr lang="en-US" dirty="0"/>
                  <a:t> </a:t>
                </a:r>
                <a:r>
                  <a:rPr lang="en-US" dirty="0" err="1"/>
                  <a:t>su</a:t>
                </a:r>
                <a:r>
                  <a:rPr lang="en-US" dirty="0"/>
                  <a:t> </a:t>
                </a:r>
                <a:r>
                  <a:rPr lang="sr-Latn-RS" sz="1200" i="0">
                    <a:latin typeface="Cambria Math" panose="02040503050406030204" pitchFamily="18" charset="0"/>
                  </a:rPr>
                  <a:t>𝜆=</a:t>
                </a:r>
                <a:r>
                  <a:rPr lang="sr-Latn-RS" sz="120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a </a:t>
                </a:r>
                <a:r>
                  <a:rPr lang="en-US" sz="1200" kern="1200" dirty="0" err="1">
                    <a:solidFill>
                      <a:schemeClr val="tx1"/>
                    </a:solidFill>
                    <a:latin typeface="+mn-lt"/>
                    <a:ea typeface="+mn-ea"/>
                    <a:cs typeface="+mn-cs"/>
                  </a:rPr>
                  <a:t>sopstveni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vektori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su</a:t>
                </a:r>
                <a:r>
                  <a:rPr lang="en-US" sz="1200" kern="1200" baseline="0" dirty="0">
                    <a:solidFill>
                      <a:schemeClr val="tx1"/>
                    </a:solidFill>
                    <a:latin typeface="+mn-lt"/>
                    <a:ea typeface="+mn-ea"/>
                    <a:cs typeface="+mn-cs"/>
                  </a:rPr>
                  <a:t> </a:t>
                </a:r>
                <a:r>
                  <a:rPr lang="en-US" dirty="0"/>
                  <a:t>∣0⟩ </a:t>
                </a:r>
                <a:r>
                  <a:rPr lang="en-US" dirty="0" err="1"/>
                  <a:t>i</a:t>
                </a:r>
                <a:r>
                  <a:rPr lang="en-US" dirty="0"/>
                  <a:t> ∣1⟩.  To </a:t>
                </a:r>
                <a:r>
                  <a:rPr lang="en-US" dirty="0" err="1"/>
                  <a:t>znači</a:t>
                </a:r>
                <a:r>
                  <a:rPr lang="en-US" dirty="0"/>
                  <a:t> da u </a:t>
                </a:r>
                <a:r>
                  <a:rPr lang="en-US" dirty="0" err="1"/>
                  <a:t>matematičkom</a:t>
                </a:r>
                <a:r>
                  <a:rPr lang="en-US" dirty="0"/>
                  <a:t> </a:t>
                </a:r>
                <a:r>
                  <a:rPr lang="en-US" dirty="0" err="1"/>
                  <a:t>modelu</a:t>
                </a:r>
                <a:r>
                  <a:rPr lang="en-US" dirty="0"/>
                  <a:t> </a:t>
                </a:r>
                <a:r>
                  <a:rPr lang="en-US" dirty="0" err="1"/>
                  <a:t>merenja</a:t>
                </a:r>
                <a:r>
                  <a:rPr lang="en-US" dirty="0"/>
                  <a:t>, </a:t>
                </a:r>
                <a:r>
                  <a:rPr lang="en-US" dirty="0" err="1"/>
                  <a:t>mogući</a:t>
                </a:r>
                <a:r>
                  <a:rPr lang="en-US" dirty="0"/>
                  <a:t> </a:t>
                </a:r>
                <a:r>
                  <a:rPr lang="en-US" dirty="0" err="1"/>
                  <a:t>ishodi</a:t>
                </a:r>
                <a:r>
                  <a:rPr lang="en-US" baseline="0" dirty="0"/>
                  <a:t> </a:t>
                </a:r>
                <a:r>
                  <a:rPr lang="en-US" baseline="0" dirty="0" err="1"/>
                  <a:t>merenja</a:t>
                </a:r>
                <a:r>
                  <a:rPr lang="en-US" baseline="0" dirty="0"/>
                  <a:t> </a:t>
                </a:r>
                <a:r>
                  <a:rPr lang="en-US" baseline="0" dirty="0" err="1"/>
                  <a:t>iznose</a:t>
                </a:r>
                <a:r>
                  <a:rPr lang="en-US" baseline="0" dirty="0"/>
                  <a:t> </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ili </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Po </a:t>
                </a:r>
                <a:r>
                  <a:rPr lang="en-US" sz="1200" kern="1200" dirty="0" err="1">
                    <a:solidFill>
                      <a:schemeClr val="tx1"/>
                    </a:solidFill>
                    <a:latin typeface="+mn-lt"/>
                    <a:ea typeface="+mn-ea"/>
                    <a:cs typeface="+mn-cs"/>
                  </a:rPr>
                  <a:t>konvenciji</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predstavlja</a:t>
                </a:r>
                <a:r>
                  <a:rPr lang="en-US" sz="1200" kern="1200" dirty="0">
                    <a:solidFill>
                      <a:schemeClr val="tx1"/>
                    </a:solidFill>
                    <a:latin typeface="+mn-lt"/>
                    <a:ea typeface="+mn-ea"/>
                    <a:cs typeface="+mn-cs"/>
                  </a:rPr>
                  <a:t> bit 0, a −1 </a:t>
                </a:r>
                <a:r>
                  <a:rPr lang="en-US" sz="1200" kern="1200" dirty="0" err="1">
                    <a:solidFill>
                      <a:schemeClr val="tx1"/>
                    </a:solidFill>
                    <a:latin typeface="+mn-lt"/>
                    <a:ea typeface="+mn-ea"/>
                    <a:cs typeface="+mn-cs"/>
                  </a:rPr>
                  <a:t>predstavlja</a:t>
                </a:r>
                <a:r>
                  <a:rPr lang="en-US" sz="1200" kern="1200" dirty="0">
                    <a:solidFill>
                      <a:schemeClr val="tx1"/>
                    </a:solidFill>
                    <a:latin typeface="+mn-lt"/>
                    <a:ea typeface="+mn-ea"/>
                    <a:cs typeface="+mn-cs"/>
                  </a:rPr>
                  <a:t> bit 1. </a:t>
                </a:r>
                <a:r>
                  <a:rPr lang="en-US" sz="1200" kern="1200" dirty="0" err="1">
                    <a:solidFill>
                      <a:schemeClr val="tx1"/>
                    </a:solidFill>
                    <a:latin typeface="+mn-lt"/>
                    <a:ea typeface="+mn-ea"/>
                    <a:cs typeface="+mn-cs"/>
                  </a:rPr>
                  <a:t>Merenje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izaziva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kolaps</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kvantnog</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stanja</a:t>
                </a:r>
                <a:r>
                  <a:rPr lang="en-US" sz="1200" kern="1200" dirty="0">
                    <a:solidFill>
                      <a:schemeClr val="tx1"/>
                    </a:solidFill>
                    <a:latin typeface="+mn-lt"/>
                    <a:ea typeface="+mn-ea"/>
                    <a:cs typeface="+mn-cs"/>
                  </a:rPr>
                  <a:t> 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vektor</a:t>
                </a:r>
                <a:r>
                  <a:rPr lang="en-US" sz="1200" kern="1200" baseline="0" dirty="0">
                    <a:solidFill>
                      <a:schemeClr val="tx1"/>
                    </a:solidFill>
                    <a:latin typeface="+mn-lt"/>
                    <a:ea typeface="+mn-ea"/>
                    <a:cs typeface="+mn-cs"/>
                  </a:rPr>
                  <a:t> </a:t>
                </a:r>
                <a:r>
                  <a:rPr lang="en-US" dirty="0"/>
                  <a:t>∣0⟩ </a:t>
                </a:r>
                <a:r>
                  <a:rPr lang="en-US" dirty="0" err="1"/>
                  <a:t>ili</a:t>
                </a:r>
                <a:r>
                  <a:rPr lang="en-US" dirty="0"/>
                  <a:t> ∣1⟩, </a:t>
                </a:r>
                <a:r>
                  <a:rPr lang="en-US" dirty="0" err="1"/>
                  <a:t>saglasno</a:t>
                </a:r>
                <a:r>
                  <a:rPr lang="en-US" baseline="0" dirty="0"/>
                  <a:t> </a:t>
                </a:r>
                <a:r>
                  <a:rPr lang="en-US" baseline="0" dirty="0" err="1"/>
                  <a:t>sa</a:t>
                </a:r>
                <a:r>
                  <a:rPr lang="en-US" baseline="0" dirty="0"/>
                  <a:t> </a:t>
                </a:r>
                <a:r>
                  <a:rPr lang="en-US" baseline="0" dirty="0" err="1"/>
                  <a:t>izmerenom</a:t>
                </a:r>
                <a:r>
                  <a:rPr lang="en-US" baseline="0" dirty="0"/>
                  <a:t> </a:t>
                </a:r>
                <a:r>
                  <a:rPr lang="en-US" baseline="0" dirty="0" err="1"/>
                  <a:t>sopstvenom</a:t>
                </a:r>
                <a:r>
                  <a:rPr lang="en-US" baseline="0" dirty="0"/>
                  <a:t> </a:t>
                </a:r>
                <a:r>
                  <a:rPr lang="en-US" baseline="0" dirty="0" err="1"/>
                  <a:t>vrednošću</a:t>
                </a:r>
                <a:r>
                  <a:rPr lang="en-US" baseline="0" dirty="0"/>
                  <a:t>.</a:t>
                </a:r>
                <a:endParaRPr lang="en-US" sz="1200" kern="1200" dirty="0">
                  <a:solidFill>
                    <a:schemeClr val="tx1"/>
                  </a:solidFill>
                  <a:latin typeface="+mn-lt"/>
                  <a:ea typeface="+mn-ea"/>
                  <a:cs typeface="+mn-cs"/>
                </a:endParaRPr>
              </a:p>
              <a:p>
                <a:pPr algn="just"/>
                <a:endParaRPr lang="en-US" dirty="0"/>
              </a:p>
              <a:p>
                <a:pPr algn="just"/>
                <a:r>
                  <a:rPr lang="en-US" dirty="0" err="1"/>
                  <a:t>Ako</a:t>
                </a:r>
                <a:r>
                  <a:rPr lang="en-US" dirty="0"/>
                  <a:t> bi se </a:t>
                </a:r>
                <a:r>
                  <a:rPr lang="en-US" dirty="0" err="1"/>
                  <a:t>koristio</a:t>
                </a:r>
                <a:r>
                  <a:rPr lang="en-US" dirty="0"/>
                  <a:t> </a:t>
                </a:r>
                <a:r>
                  <a:rPr lang="en-US" dirty="0" err="1"/>
                  <a:t>neki</a:t>
                </a:r>
                <a:r>
                  <a:rPr lang="en-US" dirty="0"/>
                  <a:t> </a:t>
                </a:r>
                <a:r>
                  <a:rPr lang="en-US" dirty="0" err="1"/>
                  <a:t>drugi</a:t>
                </a:r>
                <a:r>
                  <a:rPr lang="en-US" dirty="0"/>
                  <a:t> operator, </a:t>
                </a:r>
                <a:r>
                  <a:rPr lang="en-US" dirty="0" err="1"/>
                  <a:t>dobili</a:t>
                </a:r>
                <a:r>
                  <a:rPr lang="en-US" dirty="0"/>
                  <a:t> </a:t>
                </a:r>
                <a:r>
                  <a:rPr lang="en-US" dirty="0" err="1"/>
                  <a:t>bismo</a:t>
                </a:r>
                <a:r>
                  <a:rPr lang="en-US" dirty="0"/>
                  <a:t> </a:t>
                </a:r>
                <a:r>
                  <a:rPr lang="en-US" dirty="0" err="1"/>
                  <a:t>drugačije</a:t>
                </a:r>
                <a:r>
                  <a:rPr lang="en-US" dirty="0"/>
                  <a:t> </a:t>
                </a:r>
                <a:r>
                  <a:rPr lang="en-US" dirty="0" err="1"/>
                  <a:t>rezultate</a:t>
                </a:r>
                <a:r>
                  <a:rPr lang="en-US" dirty="0"/>
                  <a:t> </a:t>
                </a:r>
                <a:r>
                  <a:rPr lang="en-US" dirty="0" err="1"/>
                  <a:t>jer</a:t>
                </a:r>
                <a:r>
                  <a:rPr lang="en-US" dirty="0"/>
                  <a:t> bi se </a:t>
                </a:r>
                <a:r>
                  <a:rPr lang="en-US" dirty="0" err="1"/>
                  <a:t>sistem</a:t>
                </a:r>
                <a:r>
                  <a:rPr lang="en-US" dirty="0"/>
                  <a:t> </a:t>
                </a:r>
                <a:r>
                  <a:rPr lang="en-US" dirty="0" err="1"/>
                  <a:t>redukovao</a:t>
                </a:r>
                <a:r>
                  <a:rPr lang="en-US" dirty="0"/>
                  <a:t> u </a:t>
                </a:r>
                <a:r>
                  <a:rPr lang="en-US" dirty="0" err="1"/>
                  <a:t>sopstvene</a:t>
                </a:r>
                <a:r>
                  <a:rPr lang="en-US" dirty="0"/>
                  <a:t> </a:t>
                </a:r>
                <a:r>
                  <a:rPr lang="en-US" dirty="0" err="1"/>
                  <a:t>vektore</a:t>
                </a:r>
                <a:r>
                  <a:rPr lang="en-US" dirty="0"/>
                  <a:t> tog </a:t>
                </a:r>
                <a:r>
                  <a:rPr lang="en-US" dirty="0" err="1"/>
                  <a:t>operatora</a:t>
                </a:r>
                <a:r>
                  <a:rPr lang="en-US" dirty="0"/>
                  <a:t>.</a:t>
                </a:r>
              </a:p>
              <a:p>
                <a:pPr algn="just"/>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23341035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previous considerations allow us to summarize the results in the form of measurement postulates. In its modern formulation, </a:t>
                </a:r>
                <a:r>
                  <a:rPr lang="en-ZA" dirty="0" err="1"/>
                  <a:t>Born’s</a:t>
                </a:r>
                <a:r>
                  <a:rPr lang="en-ZA" dirty="0"/>
                  <a:t> rule can be stated as follows:</a:t>
                </a:r>
              </a:p>
              <a:p>
                <a:pPr algn="just"/>
                <a:endParaRPr lang="en-ZA" b="0" dirty="0"/>
              </a:p>
              <a:p>
                <a:pPr algn="just"/>
                <a:r>
                  <a:rPr lang="en-ZA" sz="1200" b="0" dirty="0"/>
                  <a:t>If a quantum system in state </a:t>
                </a:r>
                <a14:m>
                  <m:oMath xmlns:m="http://schemas.openxmlformats.org/officeDocument/2006/math">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𝑆</m:t>
                        </m:r>
                      </m:e>
                    </m:d>
                    <m:r>
                      <a:rPr lang="en-US" sz="1200" b="0" i="1">
                        <a:latin typeface="Cambria Math" panose="02040503050406030204" pitchFamily="18" charset="0"/>
                      </a:rPr>
                      <m:t> </m:t>
                    </m:r>
                  </m:oMath>
                </a14:m>
                <a:r>
                  <a:rPr lang="en-ZA" sz="1200" b="0" dirty="0"/>
                  <a:t>is measured in an orthonormal basis </a:t>
                </a:r>
                <a14:m>
                  <m:oMath xmlns:m="http://schemas.openxmlformats.org/officeDocument/2006/math">
                    <m:d>
                      <m:dPr>
                        <m:begChr m:val="{"/>
                        <m:endChr m:val="}"/>
                        <m:ctrlPr>
                          <a:rPr lang="en-US" sz="1200" b="0" i="1" smtClean="0">
                            <a:latin typeface="Cambria Math" panose="02040503050406030204" pitchFamily="18" charset="0"/>
                          </a:rPr>
                        </m:ctrlPr>
                      </m:dPr>
                      <m:e>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e>
                    </m:d>
                  </m:oMath>
                </a14:m>
                <a:r>
                  <a:rPr lang="en-ZA" b="0" dirty="0"/>
                  <a:t>, the probability of obtaining outcome </a:t>
                </a:r>
                <a14:m>
                  <m:oMath xmlns:m="http://schemas.openxmlformats.org/officeDocument/2006/math">
                    <m:r>
                      <a:rPr lang="en-US" sz="1200" b="0" i="1" smtClean="0">
                        <a:latin typeface="Cambria Math" panose="02040503050406030204" pitchFamily="18" charset="0"/>
                      </a:rPr>
                      <m:t>𝑘</m:t>
                    </m:r>
                  </m:oMath>
                </a14:m>
                <a:r>
                  <a:rPr lang="en-ZA" b="0" dirty="0"/>
                  <a:t> is equal to the squared </a:t>
                </a:r>
                <a:r>
                  <a:rPr lang="en-ZA" dirty="0"/>
                  <a:t>modulus</a:t>
                </a:r>
                <a:r>
                  <a:rPr lang="en-ZA" b="0" dirty="0"/>
                  <a:t> of the inner product between the basis state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oMath>
                </a14:m>
                <a:r>
                  <a:rPr lang="en-ZA" b="0" dirty="0"/>
                  <a:t> and the quantum state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a:latin typeface="Cambria Math" panose="02040503050406030204" pitchFamily="18" charset="0"/>
                          </a:rPr>
                          <m:t>𝑆</m:t>
                        </m:r>
                      </m:e>
                    </m:d>
                  </m:oMath>
                </a14:m>
                <a:r>
                  <a:rPr lang="en-ZA" b="0" dirty="0"/>
                  <a:t>.</a:t>
                </a:r>
              </a:p>
              <a:p>
                <a:pPr algn="just"/>
                <a:endParaRPr lang="en-ZA" b="0" dirty="0"/>
              </a:p>
              <a:p>
                <a:pPr algn="just"/>
                <a:r>
                  <a:rPr lang="en-ZA" dirty="0"/>
                  <a:t>The squared modulus of an inner product can be expressed as the product of two complex-conjugate bra-ket expressions. This introduces the projector Pₖ = |k⟩⟨k| in the middle of the product, allowing the probability to be written in the so-called sandwich form ⟨S|Pₖ|S⟩. This expression represents the projector form of </a:t>
                </a:r>
                <a:r>
                  <a:rPr lang="en-ZA" dirty="0" err="1"/>
                  <a:t>Born's</a:t>
                </a:r>
                <a:r>
                  <a:rPr lang="en-ZA" dirty="0"/>
                  <a:t> rule.</a:t>
                </a:r>
                <a:endParaRPr lang="en-ZA" b="0" dirty="0"/>
              </a:p>
              <a:p>
                <a:pPr algn="just"/>
                <a:endParaRPr lang="en-ZA" b="0" dirty="0"/>
              </a:p>
            </p:txBody>
          </p:sp>
        </mc:Choice>
        <mc:Fallback xmlns="">
          <p:sp>
            <p:nvSpPr>
              <p:cNvPr id="3" name="Notes Placeholder 2"/>
              <p:cNvSpPr>
                <a:spLocks noGrp="1"/>
              </p:cNvSpPr>
              <p:nvPr>
                <p:ph type="body" idx="1"/>
              </p:nvPr>
            </p:nvSpPr>
            <p:spPr/>
            <p:txBody>
              <a:bodyPr/>
              <a:lstStyle/>
              <a:p>
                <a:pPr algn="just"/>
                <a:r>
                  <a:rPr lang="sr-Latn-RS" sz="1200" kern="1200" dirty="0">
                    <a:solidFill>
                      <a:schemeClr val="tx1"/>
                    </a:solidFill>
                    <a:effectLst/>
                    <a:latin typeface="+mn-lt"/>
                    <a:ea typeface="+mn-ea"/>
                    <a:cs typeface="+mn-cs"/>
                  </a:rPr>
                  <a:t>Postulati kvantne mehanike opisuju osnovne principe koji upravljaju ponašanjem fizičkih sistema na kvantnom nivou. Kao prvi postulat, definisaćemo postulat o stanju kvantnog sistema.  U kvantnom računarstvu to je jedan ili više kubita.</a:t>
                </a:r>
              </a:p>
              <a:p>
                <a:pPr algn="just"/>
                <a:endParaRPr lang="en-US" dirty="0"/>
              </a:p>
              <a:p>
                <a:pPr algn="just"/>
                <a:r>
                  <a:rPr lang="en-US" dirty="0" err="1"/>
                  <a:t>Postulat</a:t>
                </a:r>
                <a:r>
                  <a:rPr lang="en-US" dirty="0"/>
                  <a:t> o </a:t>
                </a:r>
                <a:r>
                  <a:rPr lang="en-US" dirty="0" err="1"/>
                  <a:t>stanju</a:t>
                </a:r>
                <a:r>
                  <a:rPr lang="en-US" dirty="0"/>
                  <a:t>. </a:t>
                </a:r>
                <a:r>
                  <a:rPr lang="en-US" dirty="0" err="1"/>
                  <a:t>Čisto</a:t>
                </a:r>
                <a:r>
                  <a:rPr lang="en-US" dirty="0"/>
                  <a:t> </a:t>
                </a:r>
                <a:r>
                  <a:rPr lang="en-US" dirty="0" err="1"/>
                  <a:t>kvantno</a:t>
                </a:r>
                <a:r>
                  <a:rPr lang="en-US" dirty="0"/>
                  <a:t> </a:t>
                </a:r>
                <a:r>
                  <a:rPr lang="en-US" dirty="0" err="1"/>
                  <a:t>stanje</a:t>
                </a:r>
                <a:r>
                  <a:rPr lang="en-US" dirty="0"/>
                  <a:t> </a:t>
                </a:r>
                <a:r>
                  <a:rPr lang="en-US" dirty="0" err="1"/>
                  <a:t>izolovanog</a:t>
                </a:r>
                <a:r>
                  <a:rPr lang="en-US" dirty="0"/>
                  <a:t> </a:t>
                </a:r>
                <a:r>
                  <a:rPr lang="en-US" dirty="0" err="1"/>
                  <a:t>kvantnog</a:t>
                </a:r>
                <a:r>
                  <a:rPr lang="en-US" dirty="0"/>
                  <a:t> </a:t>
                </a:r>
                <a:r>
                  <a:rPr lang="en-US" dirty="0" err="1"/>
                  <a:t>sistema</a:t>
                </a:r>
                <a:r>
                  <a:rPr lang="en-US" dirty="0"/>
                  <a:t> </a:t>
                </a:r>
                <a:r>
                  <a:rPr lang="en-US" dirty="0" err="1"/>
                  <a:t>predstavlja</a:t>
                </a:r>
                <a:r>
                  <a:rPr lang="en-US" dirty="0"/>
                  <a:t> se </a:t>
                </a:r>
                <a:r>
                  <a:rPr lang="en-US" dirty="0" err="1"/>
                  <a:t>jediničnim</a:t>
                </a:r>
                <a:r>
                  <a:rPr lang="en-US" dirty="0"/>
                  <a:t> ket </a:t>
                </a:r>
                <a:r>
                  <a:rPr lang="en-US" dirty="0" err="1"/>
                  <a:t>vektorom</a:t>
                </a:r>
                <a:r>
                  <a:rPr lang="en-US" dirty="0"/>
                  <a:t> u </a:t>
                </a:r>
                <a:r>
                  <a:rPr lang="en-US" dirty="0" err="1"/>
                  <a:t>kompleksnom</a:t>
                </a:r>
                <a:r>
                  <a:rPr lang="en-US" dirty="0"/>
                  <a:t> </a:t>
                </a:r>
                <a:r>
                  <a:rPr lang="en-US" dirty="0" err="1"/>
                  <a:t>Hilbertovom</a:t>
                </a:r>
                <a:r>
                  <a:rPr lang="en-US" dirty="0"/>
                  <a:t> </a:t>
                </a:r>
                <a:r>
                  <a:rPr lang="en-US" dirty="0" err="1"/>
                  <a:t>prostoru</a:t>
                </a:r>
                <a:r>
                  <a:rPr lang="en-US" dirty="0"/>
                  <a:t>. </a:t>
                </a:r>
                <a:r>
                  <a:rPr lang="en-US" dirty="0" err="1"/>
                  <a:t>Ovaj</a:t>
                </a:r>
                <a:r>
                  <a:rPr lang="en-US" dirty="0"/>
                  <a:t> se </a:t>
                </a:r>
                <a:r>
                  <a:rPr lang="en-US" dirty="0" err="1"/>
                  <a:t>prostor</a:t>
                </a:r>
                <a:r>
                  <a:rPr lang="en-US" dirty="0"/>
                  <a:t> </a:t>
                </a:r>
                <a:r>
                  <a:rPr lang="en-US" dirty="0" err="1"/>
                  <a:t>naziva</a:t>
                </a:r>
                <a:r>
                  <a:rPr lang="en-US" dirty="0"/>
                  <a:t> </a:t>
                </a:r>
                <a:r>
                  <a:rPr lang="en-US" dirty="0" err="1"/>
                  <a:t>prostor</a:t>
                </a:r>
                <a:r>
                  <a:rPr lang="en-US" dirty="0"/>
                  <a:t> </a:t>
                </a:r>
                <a:r>
                  <a:rPr lang="en-US" dirty="0" err="1"/>
                  <a:t>stanja</a:t>
                </a:r>
                <a:r>
                  <a:rPr lang="en-US" dirty="0"/>
                  <a:t> </a:t>
                </a:r>
                <a:r>
                  <a:rPr lang="en-US" dirty="0" err="1"/>
                  <a:t>sistema</a:t>
                </a:r>
                <a:r>
                  <a:rPr lang="en-US" dirty="0"/>
                  <a:t>. </a:t>
                </a:r>
              </a:p>
              <a:p>
                <a:pPr algn="just"/>
                <a:endParaRPr lang="en-US" dirty="0"/>
              </a:p>
              <a:p>
                <a:pPr algn="just"/>
                <a:r>
                  <a:rPr lang="sr-Latn-RS" sz="1200" kern="1200" dirty="0">
                    <a:solidFill>
                      <a:schemeClr val="tx1"/>
                    </a:solidFill>
                    <a:effectLst/>
                    <a:latin typeface="+mn-lt"/>
                    <a:ea typeface="+mn-ea"/>
                    <a:cs typeface="+mn-cs"/>
                  </a:rPr>
                  <a:t>Vektor stanja sistema u </a:t>
                </a:r>
                <a:r>
                  <a:rPr lang="sr-Latn-RS" sz="1200" kern="1200" dirty="0" err="1">
                    <a:solidFill>
                      <a:schemeClr val="tx1"/>
                    </a:solidFill>
                    <a:effectLst/>
                    <a:latin typeface="+mn-lt"/>
                    <a:ea typeface="+mn-ea"/>
                    <a:cs typeface="+mn-cs"/>
                  </a:rPr>
                  <a:t>n-dimenzionalnom</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Hilbertovom</a:t>
                </a:r>
                <a:r>
                  <a:rPr lang="sr-Latn-RS" sz="1200" kern="1200" dirty="0">
                    <a:solidFill>
                      <a:schemeClr val="tx1"/>
                    </a:solidFill>
                    <a:effectLst/>
                    <a:latin typeface="+mn-lt"/>
                    <a:ea typeface="+mn-ea"/>
                    <a:cs typeface="+mn-cs"/>
                  </a:rPr>
                  <a:t> prostoru predstavlja se linearnom kombinacijom</a:t>
                </a:r>
                <a:endParaRPr lang="en-US" sz="1200" i="1" dirty="0">
                  <a:latin typeface="Cambria Math" panose="02040503050406030204" pitchFamily="18" charset="0"/>
                </a:endParaRPr>
              </a:p>
              <a:p>
                <a:pPr algn="just"/>
                <a:r>
                  <a:rPr lang="en-US" sz="1200" i="0">
                    <a:latin typeface="Cambria Math" panose="02040503050406030204" pitchFamily="18" charset="0"/>
                  </a:rPr>
                  <a:t>|𝑆⟩=∑1_(𝑘=0)^(</a:t>
                </a:r>
                <a:r>
                  <a:rPr lang="en-US" sz="1200" b="0" i="0">
                    <a:latin typeface="Cambria Math" panose="02040503050406030204" pitchFamily="18" charset="0"/>
                  </a:rPr>
                  <a:t>𝑛−1)▒〖</a:t>
                </a:r>
                <a:r>
                  <a:rPr lang="en-US" sz="1200" i="0">
                    <a:latin typeface="Cambria Math" panose="02040503050406030204" pitchFamily="18" charset="0"/>
                  </a:rPr>
                  <a:t>𝑎_𝑘 |𝑘⟩ 〗</a:t>
                </a:r>
                <a:endParaRPr lang="en-US" sz="1200" dirty="0">
                  <a:latin typeface="+mn-lt"/>
                </a:endParaRP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gde su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 vektori baze </a:t>
                </a:r>
                <a:r>
                  <a:rPr lang="sr-Latn-RS" sz="1200" kern="1200" dirty="0" err="1">
                    <a:solidFill>
                      <a:schemeClr val="tx1"/>
                    </a:solidFill>
                    <a:effectLst/>
                    <a:latin typeface="+mn-lt"/>
                    <a:ea typeface="+mn-ea"/>
                    <a:cs typeface="+mn-cs"/>
                  </a:rPr>
                  <a:t>Hilbertovog</a:t>
                </a:r>
                <a:r>
                  <a:rPr lang="sr-Latn-RS" sz="1200" kern="1200" dirty="0">
                    <a:solidFill>
                      <a:schemeClr val="tx1"/>
                    </a:solidFill>
                    <a:effectLst/>
                    <a:latin typeface="+mn-lt"/>
                    <a:ea typeface="+mn-ea"/>
                    <a:cs typeface="+mn-cs"/>
                  </a:rPr>
                  <a:t> prostora, a </a:t>
                </a:r>
                <a:r>
                  <a:rPr lang="sr-Latn-RS" sz="1200" i="0" kern="1200">
                    <a:solidFill>
                      <a:schemeClr val="tx1"/>
                    </a:solidFill>
                    <a:effectLst/>
                    <a:latin typeface="+mn-lt"/>
                    <a:ea typeface="+mn-ea"/>
                    <a:cs typeface="+mn-cs"/>
                  </a:rPr>
                  <a:t>𝑎</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kompleksne amplitude verovatnoća.</a:t>
                </a: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Za amplitude verovatnoća važi uslov normalizacije</a:t>
                </a:r>
                <a:r>
                  <a:rPr lang="en-ZA" sz="1200" kern="1200" baseline="0" dirty="0">
                    <a:solidFill>
                      <a:schemeClr val="tx1"/>
                    </a:solidFill>
                    <a:effectLst/>
                    <a:latin typeface="+mn-lt"/>
                    <a:ea typeface="+mn-ea"/>
                    <a:cs typeface="+mn-cs"/>
                  </a:rPr>
                  <a:t> </a:t>
                </a:r>
              </a:p>
              <a:p>
                <a:pPr algn="just"/>
                <a:r>
                  <a:rPr lang="en-ZA" sz="1200" i="0">
                    <a:latin typeface="Cambria Math" panose="02040503050406030204" pitchFamily="18" charset="0"/>
                  </a:rPr>
                  <a:t>∑1</a:t>
                </a:r>
                <a:r>
                  <a:rPr lang="sr-Latn-RS" sz="1200" i="0">
                    <a:latin typeface="Cambria Math" panose="02040503050406030204" pitchFamily="18" charset="0"/>
                  </a:rPr>
                  <a:t>_</a:t>
                </a:r>
                <a:r>
                  <a:rPr lang="en-ZA" sz="1200" i="0">
                    <a:latin typeface="Cambria Math" panose="02040503050406030204" pitchFamily="18" charset="0"/>
                  </a:rPr>
                  <a:t>(</a:t>
                </a:r>
                <a:r>
                  <a:rPr lang="sr-Latn-RS" sz="1200" i="0">
                    <a:latin typeface="Cambria Math" panose="02040503050406030204" pitchFamily="18" charset="0"/>
                  </a:rPr>
                  <a:t>𝑘=0</a:t>
                </a:r>
                <a:r>
                  <a:rPr lang="en-ZA" sz="1200" i="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US" sz="1200" b="0" i="0">
                    <a:latin typeface="Cambria Math" panose="02040503050406030204" pitchFamily="18" charset="0"/>
                  </a:rPr>
                  <a:t>〖</a:t>
                </a:r>
                <a:r>
                  <a:rPr lang="en-ZA" sz="1200" b="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𝑘 |</a:t>
                </a:r>
                <a:r>
                  <a:rPr lang="en-ZA" sz="1200" i="0">
                    <a:latin typeface="Cambria Math" panose="02040503050406030204" pitchFamily="18" charset="0"/>
                  </a:rPr>
                  <a:t>^</a:t>
                </a:r>
                <a:r>
                  <a:rPr lang="sr-Latn-RS" sz="1200" i="0">
                    <a:latin typeface="Cambria Math" panose="02040503050406030204" pitchFamily="18" charset="0"/>
                  </a:rPr>
                  <a:t>2=1</a:t>
                </a:r>
                <a:r>
                  <a:rPr lang="en-US" sz="1200" i="0">
                    <a:latin typeface="Cambria Math" panose="02040503050406030204" pitchFamily="18" charset="0"/>
                  </a:rPr>
                  <a:t>〗</a:t>
                </a:r>
                <a:r>
                  <a:rPr lang="en-US" sz="1200" b="0" i="0">
                    <a:latin typeface="Cambria Math" panose="02040503050406030204" pitchFamily="18" charset="0"/>
                  </a:rPr>
                  <a:t>     ili </a:t>
                </a:r>
                <a:r>
                  <a:rPr lang="sr-Latn-RS" sz="1200" i="0" kern="1200">
                    <a:solidFill>
                      <a:schemeClr val="tx1"/>
                    </a:solidFill>
                    <a:effectLst/>
                    <a:latin typeface="+mn-lt"/>
                    <a:ea typeface="+mn-ea"/>
                    <a:cs typeface="+mn-cs"/>
                  </a:rPr>
                  <a:t>ekivalentno,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𝑆│𝑆⟩=1</a:t>
                </a:r>
                <a:r>
                  <a:rPr lang="en-US" sz="1200" b="0" i="0" kern="1200">
                    <a:solidFill>
                      <a:schemeClr val="tx1"/>
                    </a:solidFill>
                    <a:effectLst/>
                    <a:latin typeface="Cambria Math" panose="02040503050406030204" pitchFamily="18" charset="0"/>
                    <a:ea typeface="+mn-ea"/>
                    <a:cs typeface="+mn-cs"/>
                  </a:rPr>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790675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The von Neumann postulate provides a general mathematical description of the quantum measurement process: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Each measurable physical quantity of a quantum system is associated with a Hermitian operator.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The possible outcomes of a measurement are the eigenvalues of that operator.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After measurement, the state of the system is reduced to the eigenstate corresponding to the measured eigenvalue.</a:t>
            </a:r>
          </a:p>
        </p:txBody>
      </p:sp>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10312468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err="1"/>
                  <a:t>Lüders</a:t>
                </a:r>
                <a:r>
                  <a:rPr lang="en-ZA" dirty="0"/>
                  <a:t>’ rule describes the state of a quantum system after measurement. It states that, after a measurement with outcome </a:t>
                </a:r>
                <a14:m>
                  <m:oMath xmlns:m="http://schemas.openxmlformats.org/officeDocument/2006/math">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𝑘</m:t>
                    </m:r>
                  </m:oMath>
                </a14:m>
                <a:r>
                  <a:rPr lang="en-ZA" dirty="0"/>
                  <a:t>, the state becomes the normalized projection of the original state onto the subspace associated with that outcome.</a:t>
                </a:r>
              </a:p>
              <a:p>
                <a:endParaRPr lang="en-ZA" dirty="0"/>
              </a:p>
              <a:p>
                <a:r>
                  <a:rPr lang="en-ZA" dirty="0"/>
                  <a:t>In the formula, the numerator </a:t>
                </a:r>
                <a14:m>
                  <m:oMath xmlns:m="http://schemas.openxmlformats.org/officeDocument/2006/math">
                    <m:sSub>
                      <m:sSub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d>
                  </m:oMath>
                </a14:m>
                <a:r>
                  <a:rPr lang="en-ZA" dirty="0"/>
                  <a:t> represents the projection of the initial state </a:t>
                </a:r>
                <a14:m>
                  <m:oMath xmlns:m="http://schemas.openxmlformats.org/officeDocument/2006/math">
                    <m:d>
                      <m:dPr>
                        <m:begChr m:val="|"/>
                        <m:endChr m:val="⟩"/>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d>
                  </m:oMath>
                </a14:m>
                <a:r>
                  <a:rPr lang="en-ZA" dirty="0"/>
                  <a:t> onto the subspace associated with outcome </a:t>
                </a:r>
                <a14:m>
                  <m:oMath xmlns:m="http://schemas.openxmlformats.org/officeDocument/2006/math">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𝑘</m:t>
                    </m:r>
                  </m:oMath>
                </a14:m>
                <a:r>
                  <a:rPr lang="en-ZA" dirty="0"/>
                  <a:t>, while the denominator is the norm of this projection. By definition, the norm is the square root of the inner product of </a:t>
                </a:r>
                <a14:m>
                  <m:oMath xmlns:m="http://schemas.openxmlformats.org/officeDocument/2006/math">
                    <m:sSub>
                      <m:sSub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d>
                  </m:oMath>
                </a14:m>
                <a:r>
                  <a:rPr lang="en-ZA" dirty="0"/>
                  <a:t> with itself. Since </a:t>
                </a:r>
                <a14:m>
                  <m:oMath xmlns:m="http://schemas.openxmlformats.org/officeDocument/2006/math">
                    <m:sSub>
                      <m:sSub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ZA" dirty="0"/>
                  <a:t> is a projector, </a:t>
                </a:r>
                <a14:m>
                  <m:oMath xmlns:m="http://schemas.openxmlformats.org/officeDocument/2006/math">
                    <m:sSub>
                      <m:sSub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up>
                    </m:sSubSup>
                  </m:oMath>
                </a14:m>
                <a:r>
                  <a:rPr lang="en-US" sz="1200" dirty="0"/>
                  <a:t>, and </a:t>
                </a:r>
                <a14:m>
                  <m:oMath xmlns:m="http://schemas.openxmlformats.org/officeDocument/2006/math">
                    <m:sSubSup>
                      <m:sSubSup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up>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2</m:t>
                        </m:r>
                      </m:sup>
                    </m:sSubSup>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ZA" dirty="0"/>
                  <a:t>, giving the norm </a:t>
                </a:r>
                <a14:m>
                  <m:oMath xmlns:m="http://schemas.openxmlformats.org/officeDocument/2006/math">
                    <m:rad>
                      <m:radPr>
                        <m:degHide m:val="on"/>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radPr>
                      <m:deg/>
                      <m:e>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e>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d>
                      </m:e>
                    </m:rad>
                  </m:oMath>
                </a14:m>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p:txBody>
          </p:sp>
        </mc:Choice>
        <mc:Fallback xmlns="">
          <p:sp>
            <p:nvSpPr>
              <p:cNvPr id="3" name="Notes Placeholder 2"/>
              <p:cNvSpPr>
                <a:spLocks noGrp="1"/>
              </p:cNvSpPr>
              <p:nvPr>
                <p:ph type="body" idx="1"/>
              </p:nvPr>
            </p:nvSpPr>
            <p:spPr/>
            <p:txBody>
              <a:bodyPr/>
              <a:lstStyle/>
              <a:p>
                <a:r>
                  <a:rPr lang="en-US" sz="2000" dirty="0"/>
                  <a:t>Kao </a:t>
                </a:r>
                <a:r>
                  <a:rPr lang="en-US" sz="2000" dirty="0" err="1"/>
                  <a:t>formalnije</a:t>
                </a:r>
                <a:r>
                  <a:rPr lang="en-US" sz="2000" baseline="0" dirty="0"/>
                  <a:t> </a:t>
                </a:r>
                <a:r>
                  <a:rPr lang="en-US" sz="2000" baseline="0" dirty="0" err="1"/>
                  <a:t>objasnjenje</a:t>
                </a:r>
                <a:r>
                  <a:rPr lang="en-US" sz="2000" dirty="0"/>
                  <a:t>, </a:t>
                </a:r>
                <a:r>
                  <a:rPr lang="en-US" sz="2000" dirty="0" err="1"/>
                  <a:t>primenicemo</a:t>
                </a:r>
                <a:r>
                  <a:rPr lang="en-US" sz="2000" dirty="0"/>
                  <a:t> </a:t>
                </a:r>
                <a:r>
                  <a:rPr lang="en-US" sz="2000" dirty="0" err="1"/>
                  <a:t>Fon</a:t>
                </a:r>
                <a:r>
                  <a:rPr lang="en-US" sz="2000" dirty="0"/>
                  <a:t> </a:t>
                </a:r>
                <a:r>
                  <a:rPr lang="en-US" sz="2000" dirty="0" err="1"/>
                  <a:t>Nojmanov</a:t>
                </a:r>
                <a:r>
                  <a:rPr lang="en-US" sz="2000" dirty="0"/>
                  <a:t> </a:t>
                </a:r>
                <a:r>
                  <a:rPr lang="en-US" sz="2000" dirty="0" err="1"/>
                  <a:t>postulat</a:t>
                </a:r>
                <a:r>
                  <a:rPr lang="en-US" sz="2000" dirty="0"/>
                  <a:t> </a:t>
                </a:r>
                <a:r>
                  <a:rPr lang="en-US" sz="2000" dirty="0" err="1"/>
                  <a:t>koji</a:t>
                </a:r>
                <a:r>
                  <a:rPr lang="en-US" sz="2000" dirty="0"/>
                  <a:t> </a:t>
                </a:r>
                <a:r>
                  <a:rPr lang="en-US" sz="2000" dirty="0" err="1"/>
                  <a:t>kaze</a:t>
                </a:r>
                <a:r>
                  <a:rPr lang="en-US" sz="2000" baseline="0" dirty="0"/>
                  <a:t> da </a:t>
                </a:r>
                <a:r>
                  <a:rPr lang="en-US" sz="2000" baseline="0" dirty="0" err="1"/>
                  <a:t>a</a:t>
                </a:r>
                <a:r>
                  <a:rPr lang="en-US" sz="2000" dirty="0" err="1"/>
                  <a:t>ko</a:t>
                </a:r>
                <a:r>
                  <a:rPr lang="en-US" sz="2000" dirty="0"/>
                  <a:t> </a:t>
                </a:r>
                <a:r>
                  <a:rPr lang="en-US" sz="2000" dirty="0" err="1"/>
                  <a:t>je</a:t>
                </a:r>
                <a:r>
                  <a:rPr lang="en-US" sz="2000" dirty="0"/>
                  <a:t> </a:t>
                </a:r>
                <a:r>
                  <a:rPr lang="en-US" sz="2000" dirty="0" err="1"/>
                  <a:t>posle</a:t>
                </a:r>
                <a:r>
                  <a:rPr lang="en-US" sz="2000" dirty="0"/>
                  <a:t> </a:t>
                </a:r>
                <a:r>
                  <a:rPr lang="en-US" sz="2000" dirty="0" err="1"/>
                  <a:t>merenja</a:t>
                </a:r>
                <a:r>
                  <a:rPr lang="en-US" sz="2000" dirty="0"/>
                  <a:t> </a:t>
                </a:r>
                <a:r>
                  <a:rPr lang="en-US" sz="2000" dirty="0" err="1"/>
                  <a:t>kubita</a:t>
                </a:r>
                <a:r>
                  <a:rPr lang="en-US" sz="2000" dirty="0"/>
                  <a:t> u </a:t>
                </a:r>
                <a:r>
                  <a:rPr lang="en-US" sz="2000" dirty="0" err="1"/>
                  <a:t>stanju</a:t>
                </a:r>
                <a:r>
                  <a:rPr lang="en-US" sz="2000" dirty="0"/>
                  <a:t> </a:t>
                </a:r>
                <a:r>
                  <a:rPr lang="en-US" sz="2000" i="0">
                    <a:latin typeface="Cambria Math" panose="02040503050406030204" pitchFamily="18" charset="0"/>
                  </a:rPr>
                  <a:t>|𝑆⟩</a:t>
                </a:r>
                <a:r>
                  <a:rPr lang="en-US" sz="2000" dirty="0"/>
                  <a:t> </a:t>
                </a:r>
                <a:r>
                  <a:rPr lang="en-US" sz="2000" dirty="0" err="1"/>
                  <a:t>dobijen</a:t>
                </a:r>
                <a:r>
                  <a:rPr lang="en-US" sz="2000" dirty="0"/>
                  <a:t> bit </a:t>
                </a:r>
                <a:r>
                  <a:rPr lang="en-US" sz="2000" b="0" i="0">
                    <a:latin typeface="Cambria Math" panose="02040503050406030204" pitchFamily="18" charset="0"/>
                  </a:rPr>
                  <a:t>𝑘</a:t>
                </a:r>
                <a:r>
                  <a:rPr lang="en-US" sz="2000" dirty="0"/>
                  <a:t>, </a:t>
                </a:r>
                <a:r>
                  <a:rPr lang="en-US" sz="2000" dirty="0" err="1"/>
                  <a:t>stanje</a:t>
                </a:r>
                <a:r>
                  <a:rPr lang="en-US" sz="2000" dirty="0"/>
                  <a:t> </a:t>
                </a:r>
                <a:r>
                  <a:rPr lang="en-US" sz="2000" dirty="0" err="1"/>
                  <a:t>kubita</a:t>
                </a:r>
                <a:r>
                  <a:rPr lang="en-US" sz="2000" dirty="0"/>
                  <a:t> </a:t>
                </a:r>
                <a:r>
                  <a:rPr lang="en-US" sz="2000" dirty="0" err="1"/>
                  <a:t>posle</a:t>
                </a:r>
                <a:r>
                  <a:rPr lang="en-US" sz="2000" dirty="0"/>
                  <a:t> </a:t>
                </a:r>
                <a:r>
                  <a:rPr lang="en-US" sz="2000" dirty="0" err="1"/>
                  <a:t>merenja</a:t>
                </a:r>
                <a:r>
                  <a:rPr lang="en-US" sz="2000" dirty="0"/>
                  <a:t> </a:t>
                </a:r>
                <a:r>
                  <a:rPr lang="en-US" sz="2000" dirty="0" err="1"/>
                  <a:t>je</a:t>
                </a:r>
                <a:r>
                  <a:rPr lang="en-US" sz="2000" dirty="0"/>
                  <a:t> </a:t>
                </a:r>
                <a:r>
                  <a:rPr lang="en-US" sz="2000" i="0">
                    <a:latin typeface="Cambria Math" panose="02040503050406030204" pitchFamily="18" charset="0"/>
                  </a:rPr>
                  <a:t>|</a:t>
                </a:r>
                <a:r>
                  <a:rPr lang="en-US" sz="2000" b="0" i="0">
                    <a:latin typeface="Cambria Math" panose="02040503050406030204" pitchFamily="18" charset="0"/>
                  </a:rPr>
                  <a:t>𝑘⟩</a:t>
                </a:r>
                <a:r>
                  <a:rPr lang="en-US" sz="2000" dirty="0"/>
                  <a:t>.  </a:t>
                </a:r>
              </a:p>
              <a:p>
                <a:r>
                  <a:rPr lang="en-US" sz="2000" dirty="0" err="1"/>
                  <a:t>Fon</a:t>
                </a:r>
                <a:r>
                  <a:rPr lang="en-US" sz="2000" dirty="0"/>
                  <a:t> </a:t>
                </a:r>
                <a:r>
                  <a:rPr lang="en-US" sz="2000" dirty="0" err="1"/>
                  <a:t>Nojmanov</a:t>
                </a:r>
                <a:r>
                  <a:rPr lang="en-US" sz="2000" dirty="0"/>
                  <a:t> </a:t>
                </a:r>
                <a:r>
                  <a:rPr lang="en-US" sz="2000" dirty="0" err="1"/>
                  <a:t>postulat</a:t>
                </a:r>
                <a:r>
                  <a:rPr lang="en-US" sz="2000" dirty="0"/>
                  <a:t> se </a:t>
                </a:r>
                <a:r>
                  <a:rPr lang="en-US" sz="2000" dirty="0" err="1"/>
                  <a:t>moze</a:t>
                </a:r>
                <a:r>
                  <a:rPr lang="en-US" sz="2000" dirty="0"/>
                  <a:t> </a:t>
                </a:r>
                <a:r>
                  <a:rPr lang="en-US" sz="2000" dirty="0" err="1"/>
                  <a:t>izraziti</a:t>
                </a:r>
                <a:r>
                  <a:rPr lang="en-US" sz="2000" dirty="0"/>
                  <a:t> I </a:t>
                </a:r>
                <a:r>
                  <a:rPr lang="en-US" sz="2000" dirty="0" err="1"/>
                  <a:t>na</a:t>
                </a:r>
                <a:r>
                  <a:rPr lang="en-US" sz="2000" dirty="0"/>
                  <a:t> </a:t>
                </a:r>
                <a:r>
                  <a:rPr lang="en-US" sz="2000" dirty="0" err="1"/>
                  <a:t>drugi</a:t>
                </a:r>
                <a:r>
                  <a:rPr lang="en-US" sz="2000" dirty="0"/>
                  <a:t> </a:t>
                </a:r>
                <a:r>
                  <a:rPr lang="en-US" sz="2000" dirty="0" err="1"/>
                  <a:t>nacin</a:t>
                </a:r>
                <a:r>
                  <a:rPr lang="en-US" sz="2000" dirty="0"/>
                  <a:t> </a:t>
                </a:r>
                <a:r>
                  <a:rPr lang="en-US" sz="2000" dirty="0" err="1"/>
                  <a:t>preko</a:t>
                </a:r>
                <a:r>
                  <a:rPr lang="en-US" sz="2000" dirty="0"/>
                  <a:t> </a:t>
                </a:r>
                <a:r>
                  <a:rPr lang="en-US" sz="2000" dirty="0" err="1"/>
                  <a:t>projektora</a:t>
                </a:r>
                <a:r>
                  <a:rPr lang="en-US" sz="2000" dirty="0"/>
                  <a:t> o </a:t>
                </a:r>
                <a:r>
                  <a:rPr lang="en-US" sz="2000" dirty="0" err="1"/>
                  <a:t>kojima</a:t>
                </a:r>
                <a:r>
                  <a:rPr lang="en-US" sz="2000" dirty="0"/>
                  <a:t> </a:t>
                </a:r>
                <a:r>
                  <a:rPr lang="en-US" sz="2000" dirty="0" err="1"/>
                  <a:t>je</a:t>
                </a:r>
                <a:r>
                  <a:rPr lang="en-US" sz="2000" dirty="0"/>
                  <a:t> </a:t>
                </a:r>
                <a:r>
                  <a:rPr lang="en-US" sz="2000" dirty="0" err="1"/>
                  <a:t>bilo</a:t>
                </a:r>
                <a:r>
                  <a:rPr lang="en-US" sz="2000" dirty="0"/>
                  <a:t> </a:t>
                </a:r>
                <a:r>
                  <a:rPr lang="en-US" sz="2000" dirty="0" err="1"/>
                  <a:t>reci</a:t>
                </a:r>
                <a:r>
                  <a:rPr lang="en-US" sz="2000" dirty="0"/>
                  <a:t> u </a:t>
                </a:r>
                <a:r>
                  <a:rPr lang="en-US" sz="2000" dirty="0" err="1"/>
                  <a:t>predhodnom</a:t>
                </a:r>
                <a:r>
                  <a:rPr lang="en-US" sz="2000" dirty="0"/>
                  <a:t> </a:t>
                </a:r>
                <a:r>
                  <a:rPr lang="en-US" sz="2000" dirty="0" err="1"/>
                  <a:t>predavanju</a:t>
                </a:r>
                <a:r>
                  <a:rPr lang="en-US" sz="2000" dirty="0"/>
                  <a:t>. </a:t>
                </a:r>
                <a:r>
                  <a:rPr lang="en-US" sz="2000" dirty="0" err="1"/>
                  <a:t>Dakle</a:t>
                </a:r>
                <a:r>
                  <a:rPr lang="en-US" sz="2000" dirty="0"/>
                  <a:t>, </a:t>
                </a:r>
                <a:r>
                  <a:rPr lang="en-US" sz="2000" dirty="0" err="1"/>
                  <a:t>ako</a:t>
                </a:r>
                <a:r>
                  <a:rPr lang="en-US" sz="2000" dirty="0"/>
                  <a:t> </a:t>
                </a:r>
                <a:r>
                  <a:rPr lang="en-US" sz="2000" dirty="0" err="1"/>
                  <a:t>je</a:t>
                </a:r>
                <a:r>
                  <a:rPr lang="en-US" sz="2000" dirty="0"/>
                  <a:t> </a:t>
                </a:r>
                <a:r>
                  <a:rPr lang="en-US" sz="2000" dirty="0" err="1"/>
                  <a:t>dat</a:t>
                </a:r>
                <a:r>
                  <a:rPr lang="en-US" sz="2000" dirty="0"/>
                  <a:t> projector </a:t>
                </a:r>
                <a:r>
                  <a:rPr lang="en-US" sz="2000" dirty="0" err="1"/>
                  <a:t>na</a:t>
                </a:r>
                <a:r>
                  <a:rPr lang="en-US" sz="2000" dirty="0"/>
                  <a:t> </a:t>
                </a:r>
                <a:r>
                  <a:rPr lang="en-US" sz="2000" dirty="0" err="1"/>
                  <a:t>stanje</a:t>
                </a:r>
                <a:r>
                  <a:rPr lang="en-US" sz="2000" dirty="0"/>
                  <a:t> </a:t>
                </a:r>
                <a:r>
                  <a:rPr lang="en-US" sz="2000" i="0">
                    <a:latin typeface="Cambria Math" panose="02040503050406030204" pitchFamily="18" charset="0"/>
                  </a:rPr>
                  <a:t>𝑘</a:t>
                </a:r>
                <a:r>
                  <a:rPr lang="en-US" sz="2000" dirty="0"/>
                  <a:t>, </a:t>
                </a:r>
                <a:r>
                  <a:rPr lang="en-US" sz="2000" dirty="0" err="1"/>
                  <a:t>onda</a:t>
                </a:r>
                <a:r>
                  <a:rPr lang="en-US" sz="2000" dirty="0"/>
                  <a:t> </a:t>
                </a:r>
                <a:r>
                  <a:rPr lang="en-US" sz="2000" dirty="0" err="1"/>
                  <a:t>ce</a:t>
                </a:r>
                <a:r>
                  <a:rPr lang="en-US" sz="2000" dirty="0"/>
                  <a:t> </a:t>
                </a:r>
                <a:r>
                  <a:rPr lang="en-US" sz="2000" dirty="0" err="1"/>
                  <a:t>stanje</a:t>
                </a:r>
                <a:r>
                  <a:rPr lang="en-US" sz="2000" dirty="0"/>
                  <a:t> </a:t>
                </a:r>
                <a:r>
                  <a:rPr lang="en-US" sz="2000" dirty="0" err="1"/>
                  <a:t>sistema</a:t>
                </a:r>
                <a:r>
                  <a:rPr lang="en-US" sz="2000" dirty="0"/>
                  <a:t> od </a:t>
                </a:r>
                <a:r>
                  <a:rPr lang="en-US" sz="2000" dirty="0" err="1"/>
                  <a:t>jednog</a:t>
                </a:r>
                <a:r>
                  <a:rPr lang="en-US" sz="2000" dirty="0"/>
                  <a:t> </a:t>
                </a:r>
                <a:r>
                  <a:rPr lang="en-US" sz="2000" dirty="0" err="1"/>
                  <a:t>ili</a:t>
                </a:r>
                <a:r>
                  <a:rPr lang="en-US" sz="2000" dirty="0"/>
                  <a:t> vise </a:t>
                </a:r>
                <a:r>
                  <a:rPr lang="en-US" sz="2000" dirty="0" err="1"/>
                  <a:t>kubita</a:t>
                </a:r>
                <a:r>
                  <a:rPr lang="en-US" sz="2000" dirty="0"/>
                  <a:t> </a:t>
                </a:r>
                <a:r>
                  <a:rPr lang="en-US" sz="2000" dirty="0" err="1"/>
                  <a:t>koje</a:t>
                </a:r>
                <a:r>
                  <a:rPr lang="en-US" sz="2000" dirty="0"/>
                  <a:t> </a:t>
                </a:r>
                <a:r>
                  <a:rPr lang="en-US" sz="2000" dirty="0" err="1"/>
                  <a:t>je</a:t>
                </a:r>
                <a:r>
                  <a:rPr lang="en-US" sz="2000" dirty="0"/>
                  <a:t> </a:t>
                </a:r>
                <a:r>
                  <a:rPr lang="en-US" sz="2000" dirty="0" err="1"/>
                  <a:t>dalo</a:t>
                </a:r>
                <a:r>
                  <a:rPr lang="en-US" sz="2000" dirty="0"/>
                  <a:t> </a:t>
                </a:r>
                <a:r>
                  <a:rPr lang="en-US" sz="2000" dirty="0" err="1"/>
                  <a:t>resultat</a:t>
                </a:r>
                <a:r>
                  <a:rPr lang="en-US" sz="2000" dirty="0"/>
                  <a:t> </a:t>
                </a:r>
                <a:r>
                  <a:rPr lang="en-US" sz="2000" i="0">
                    <a:latin typeface="Cambria Math" panose="02040503050406030204" pitchFamily="18" charset="0"/>
                  </a:rPr>
                  <a:t>𝑘</a:t>
                </a:r>
                <a:r>
                  <a:rPr lang="en-US" sz="2000" dirty="0"/>
                  <a:t> </a:t>
                </a:r>
                <a:r>
                  <a:rPr lang="en-US" sz="2000" dirty="0" err="1"/>
                  <a:t>biti</a:t>
                </a:r>
                <a:r>
                  <a:rPr lang="en-US" sz="2000" dirty="0"/>
                  <a:t> </a:t>
                </a:r>
                <a:r>
                  <a:rPr lang="en-US" sz="2000" dirty="0" err="1"/>
                  <a:t>jednako</a:t>
                </a:r>
                <a:r>
                  <a:rPr lang="en-US" sz="2000" dirty="0"/>
                  <a:t> </a:t>
                </a:r>
                <a:r>
                  <a:rPr lang="en-US" sz="2000" dirty="0" err="1"/>
                  <a:t>odnosu</a:t>
                </a:r>
                <a:r>
                  <a:rPr lang="en-US" sz="2000" dirty="0"/>
                  <a:t> </a:t>
                </a:r>
                <a:r>
                  <a:rPr lang="en-US" sz="2000" dirty="0" err="1"/>
                  <a:t>proizvoda</a:t>
                </a:r>
                <a:r>
                  <a:rPr lang="en-US" sz="2000" dirty="0"/>
                  <a:t> </a:t>
                </a:r>
                <a:r>
                  <a:rPr lang="en-US" sz="2000" dirty="0" err="1"/>
                  <a:t>operatora</a:t>
                </a:r>
                <a:r>
                  <a:rPr lang="en-US" sz="2000" dirty="0"/>
                  <a:t> I </a:t>
                </a:r>
                <a:r>
                  <a:rPr lang="en-US" sz="2000" dirty="0" err="1"/>
                  <a:t>stanja</a:t>
                </a:r>
                <a:r>
                  <a:rPr lang="en-US" sz="2000" dirty="0"/>
                  <a:t> </a:t>
                </a:r>
                <a:r>
                  <a:rPr lang="en-US" sz="2000" i="0">
                    <a:latin typeface="Cambria Math" panose="02040503050406030204" pitchFamily="18" charset="0"/>
                  </a:rPr>
                  <a:t>|𝑆⟩</a:t>
                </a:r>
                <a:r>
                  <a:rPr lang="en-US" sz="2000" dirty="0"/>
                  <a:t> I </a:t>
                </a:r>
                <a:r>
                  <a:rPr lang="en-US" sz="2000" dirty="0" err="1"/>
                  <a:t>kvadrata</a:t>
                </a:r>
                <a:r>
                  <a:rPr lang="en-US" sz="2000" dirty="0"/>
                  <a:t> amplitude </a:t>
                </a:r>
                <a:r>
                  <a:rPr lang="en-US" sz="2000" dirty="0" err="1"/>
                  <a:t>izmerenog</a:t>
                </a:r>
                <a:r>
                  <a:rPr lang="en-US" sz="2000" dirty="0"/>
                  <a:t> </a:t>
                </a:r>
                <a:r>
                  <a:rPr lang="en-US" sz="2000" dirty="0" err="1"/>
                  <a:t>stanja</a:t>
                </a:r>
                <a:r>
                  <a:rPr lang="en-US" sz="2000" dirty="0"/>
                  <a:t>.</a:t>
                </a:r>
              </a:p>
              <a:p>
                <a:endParaRPr lang="en-US" sz="2000" dirty="0"/>
              </a:p>
              <a:p>
                <a:r>
                  <a:rPr lang="en-US" sz="2000" dirty="0"/>
                  <a:t>http://</a:t>
                </a:r>
                <a:r>
                  <a:rPr lang="en-US" sz="2000" dirty="0" err="1"/>
                  <a:t>physics.mq.edu.au</a:t>
                </a:r>
                <a:r>
                  <a:rPr lang="en-US" sz="2000" dirty="0"/>
                  <a:t>/~</a:t>
                </a:r>
                <a:r>
                  <a:rPr lang="en-US" sz="2000" dirty="0" err="1"/>
                  <a:t>jcresser</a:t>
                </a:r>
                <a:r>
                  <a:rPr lang="en-US" sz="2000" dirty="0"/>
                  <a:t>/Phys301/Chapters/Chapter13.pdf</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4031870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l">
                  <a:buFont typeface="+mj-lt"/>
                  <a:buNone/>
                </a:pPr>
                <a:r>
                  <a:rPr lang="en-ZA" dirty="0"/>
                  <a:t>Now that we have introduced the measurement postulates, we can see how they are applied to a simple qubit state.</a:t>
                </a:r>
              </a:p>
              <a:p>
                <a:pPr marL="228600" indent="-228600" algn="l">
                  <a:buFont typeface="+mj-lt"/>
                  <a:buAutoNum type="arabicPeriod"/>
                </a:pPr>
                <a:endParaRPr lang="en-ZA" b="0" dirty="0"/>
              </a:p>
              <a:p>
                <a:pPr marL="228600" indent="-228600" algn="l">
                  <a:buFont typeface="+mj-lt"/>
                  <a:buAutoNum type="arabicPeriod"/>
                </a:pPr>
                <a:r>
                  <a:rPr lang="en-ZA" b="0" dirty="0"/>
                  <a:t>According to the Born rule, the probability of obtaining outcome </a:t>
                </a:r>
                <a14:m>
                  <m:oMath xmlns:m="http://schemas.openxmlformats.org/officeDocument/2006/math">
                    <m:r>
                      <a:rPr lang="sr-Latn-RS" sz="1200" b="0" i="1" smtClean="0">
                        <a:latin typeface="Cambria Math" panose="02040503050406030204" pitchFamily="18" charset="0"/>
                      </a:rPr>
                      <m:t>𝑘</m:t>
                    </m:r>
                  </m:oMath>
                </a14:m>
                <a:r>
                  <a:rPr lang="en-ZA" b="0" dirty="0"/>
                  <a:t> is given by the squared absolute value of the inner product between the basis vector and the state vector. </a:t>
                </a:r>
                <a:br>
                  <a:rPr lang="en-ZA" b="0" dirty="0"/>
                </a:br>
                <a:br>
                  <a:rPr lang="en-ZA" b="0" dirty="0"/>
                </a:br>
                <a:r>
                  <a:rPr lang="en-ZA" b="0" dirty="0"/>
                  <a:t>If this expression is evaluated for </a:t>
                </a:r>
                <a14:m>
                  <m:oMath xmlns:m="http://schemas.openxmlformats.org/officeDocument/2006/math">
                    <m:r>
                      <a:rPr lang="sr-Latn-RS" sz="1200" b="0" i="1" smtClean="0">
                        <a:latin typeface="Cambria Math" panose="02040503050406030204" pitchFamily="18" charset="0"/>
                      </a:rPr>
                      <m:t>𝑘</m:t>
                    </m:r>
                    <m:r>
                      <a:rPr lang="en-US" sz="1200" b="0" i="1" smtClean="0">
                        <a:latin typeface="Cambria Math" panose="02040503050406030204" pitchFamily="18" charset="0"/>
                      </a:rPr>
                      <m:t>=0</m:t>
                    </m:r>
                  </m:oMath>
                </a14:m>
                <a:r>
                  <a:rPr lang="en-ZA" b="0" dirty="0"/>
                  <a:t>, we obtain </a:t>
                </a:r>
                <a14:m>
                  <m:oMath xmlns:m="http://schemas.openxmlformats.org/officeDocument/2006/math">
                    <m:sSup>
                      <m:sSupPr>
                        <m:ctrlPr>
                          <a:rPr lang="en-US" sz="1200" i="1" smtClean="0">
                            <a:latin typeface="Cambria Math" panose="02040503050406030204" pitchFamily="18" charset="0"/>
                          </a:rPr>
                        </m:ctrlPr>
                      </m:sSupPr>
                      <m:e>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a:latin typeface="Cambria Math" panose="02040503050406030204" pitchFamily="18" charset="0"/>
                                  </a:rPr>
                                  <m:t>0</m:t>
                                </m:r>
                              </m:sub>
                            </m:sSub>
                          </m:e>
                        </m:d>
                      </m:e>
                      <m:sup>
                        <m:r>
                          <a:rPr lang="en-US" sz="1200">
                            <a:latin typeface="Cambria Math" panose="02040503050406030204" pitchFamily="18" charset="0"/>
                          </a:rPr>
                          <m:t>2</m:t>
                        </m:r>
                      </m:sup>
                    </m:sSup>
                  </m:oMath>
                </a14:m>
                <a:r>
                  <a:rPr lang="en-ZA" b="0" dirty="0"/>
                  <a:t>. This is the familiar form of the Born rule for a state expressed as a linear combination of basis vectors.</a:t>
                </a:r>
              </a:p>
              <a:p>
                <a:pPr marL="228600" indent="-228600" algn="l">
                  <a:buFont typeface="+mj-lt"/>
                  <a:buAutoNum type="arabicPeriod"/>
                </a:pPr>
                <a:endParaRPr lang="en-ZA" b="0" dirty="0"/>
              </a:p>
              <a:p>
                <a:pPr marL="228600" indent="-228600" algn="l">
                  <a:buFont typeface="+mj-lt"/>
                  <a:buAutoNum type="arabicPeriod"/>
                </a:pPr>
                <a:r>
                  <a:rPr lang="en-ZA" b="0" dirty="0" err="1"/>
                  <a:t>Lüders</a:t>
                </a:r>
                <a:r>
                  <a:rPr lang="en-ZA" b="0" dirty="0"/>
                  <a:t>’ rule determines the state of the qubit after measurement. If the outcome is 0, the projector </a:t>
                </a:r>
                <a14:m>
                  <m:oMath xmlns:m="http://schemas.openxmlformats.org/officeDocument/2006/math">
                    <m:sSub>
                      <m:sSubPr>
                        <m:ctrlPr>
                          <a:rPr lang="en-US" sz="120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𝑃</m:t>
                        </m:r>
                      </m:e>
                      <m:sub>
                        <m:r>
                          <a:rPr lang="en-US" sz="1200" b="0" i="0" smtClean="0">
                            <a:solidFill>
                              <a:schemeClr val="tx1"/>
                            </a:solidFill>
                            <a:latin typeface="Cambria Math" panose="02040503050406030204" pitchFamily="18" charset="0"/>
                          </a:rPr>
                          <m:t>0</m:t>
                        </m:r>
                      </m:sub>
                    </m:sSub>
                  </m:oMath>
                </a14:m>
                <a:r>
                  <a:rPr lang="en-ZA" b="0" dirty="0"/>
                  <a:t> is used to project the state ∣S⟩ onto the state ∣0⟩. After evaluation and normalization, the post-measurement state is ∣0⟩.</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000" dirty="0"/>
                  <a:t>In point 1, by using results </a:t>
                </a:r>
                <a:r>
                  <a:rPr lang="en-US" sz="2000" i="0">
                    <a:latin typeface="Cambria Math" panose="02040503050406030204" pitchFamily="18" charset="0"/>
                  </a:rPr>
                  <a:t>𝑎_0</a:t>
                </a:r>
                <a:r>
                  <a:rPr lang="en-US" sz="2000" dirty="0"/>
                  <a:t> and </a:t>
                </a:r>
                <a:r>
                  <a:rPr lang="en-US" sz="2000" i="0">
                    <a:latin typeface="Cambria Math" panose="02040503050406030204" pitchFamily="18" charset="0"/>
                  </a:rPr>
                  <a:t>𝑎_</a:t>
                </a:r>
                <a:r>
                  <a:rPr lang="en-US" sz="2000" b="0" i="0">
                    <a:latin typeface="Cambria Math" panose="02040503050406030204" pitchFamily="18" charset="0"/>
                  </a:rPr>
                  <a:t>1</a:t>
                </a:r>
                <a:r>
                  <a:rPr lang="en-US" sz="2000" dirty="0"/>
                  <a:t> from the previous slide we can give alternative definition of the Born rule. It says that  </a:t>
                </a:r>
                <a:r>
                  <a:rPr lang="en-US" sz="2000" kern="1200" dirty="0">
                    <a:solidFill>
                      <a:schemeClr val="tx1"/>
                    </a:solidFill>
                    <a:effectLst/>
                    <a:latin typeface="+mn-lt"/>
                    <a:ea typeface="+mn-ea"/>
                    <a:cs typeface="+mn-cs"/>
                  </a:rPr>
                  <a:t>the probability of measuring a system in a given state is given by the modulus squared of the inner product of the output state and the current state of the system. Immediately after the</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measurement, the qubit collapses into that state.</a:t>
                </a:r>
              </a:p>
              <a:p>
                <a:pPr marL="457200" indent="-457200">
                  <a:buFont typeface="+mj-lt"/>
                  <a:buAutoNum type="arabicPeriod"/>
                </a:pPr>
                <a:r>
                  <a:rPr lang="en-US" sz="2000" kern="1200" dirty="0">
                    <a:solidFill>
                      <a:schemeClr val="tx1"/>
                    </a:solidFill>
                    <a:effectLst/>
                    <a:latin typeface="+mn-lt"/>
                    <a:ea typeface="+mn-ea"/>
                    <a:cs typeface="+mn-cs"/>
                  </a:rPr>
                  <a:t>In point 2, the probability of observing measurement outcome </a:t>
                </a:r>
                <a:r>
                  <a:rPr lang="en-US" sz="2000" i="0">
                    <a:latin typeface="Cambria Math" panose="02040503050406030204" pitchFamily="18" charset="0"/>
                  </a:rPr>
                  <a:t>j</a:t>
                </a:r>
                <a:r>
                  <a:rPr lang="en-US" sz="2000" kern="1200" dirty="0">
                    <a:solidFill>
                      <a:schemeClr val="tx1"/>
                    </a:solidFill>
                    <a:effectLst/>
                    <a:latin typeface="+mn-lt"/>
                    <a:ea typeface="+mn-ea"/>
                    <a:cs typeface="+mn-cs"/>
                  </a:rPr>
                  <a:t> can</a:t>
                </a:r>
                <a:r>
                  <a:rPr lang="en-US" sz="2000" kern="1200" baseline="0" dirty="0">
                    <a:solidFill>
                      <a:schemeClr val="tx1"/>
                    </a:solidFill>
                    <a:effectLst/>
                    <a:latin typeface="+mn-lt"/>
                    <a:ea typeface="+mn-ea"/>
                    <a:cs typeface="+mn-cs"/>
                  </a:rPr>
                  <a:t> be written in form of an inner product of state with a projector operator acting on that state. The slide also shows the state of the qubit after the measurement. </a:t>
                </a:r>
              </a:p>
              <a:p>
                <a:pPr marL="457200" indent="-457200">
                  <a:buFont typeface="+mj-lt"/>
                  <a:buAutoNum type="arabicPeriod"/>
                </a:pPr>
                <a:r>
                  <a:rPr lang="en-US" sz="2000" kern="1200" baseline="0" dirty="0">
                    <a:solidFill>
                      <a:schemeClr val="tx1"/>
                    </a:solidFill>
                    <a:effectLst/>
                    <a:latin typeface="+mn-lt"/>
                    <a:ea typeface="+mn-ea"/>
                    <a:cs typeface="+mn-cs"/>
                  </a:rPr>
                  <a:t>To verify these equation, we can simply insert operator </a:t>
                </a:r>
                <a:r>
                  <a:rPr lang="en-US" sz="2000" b="0" i="0">
                    <a:solidFill>
                      <a:srgbClr val="0000FF"/>
                    </a:solidFill>
                    <a:latin typeface="Cambria Math" panose="02040503050406030204" pitchFamily="18" charset="0"/>
                  </a:rPr>
                  <a:t>𝑀_0</a:t>
                </a:r>
                <a:r>
                  <a:rPr lang="en-US" sz="2000" kern="1200" dirty="0">
                    <a:solidFill>
                      <a:schemeClr val="tx1"/>
                    </a:solidFill>
                    <a:effectLst/>
                    <a:latin typeface="+mn-lt"/>
                    <a:ea typeface="+mn-ea"/>
                    <a:cs typeface="+mn-cs"/>
                  </a:rPr>
                  <a:t> into the equations</a:t>
                </a:r>
                <a:r>
                  <a:rPr lang="en-US" sz="2000" kern="1200" baseline="0" dirty="0">
                    <a:solidFill>
                      <a:schemeClr val="tx1"/>
                    </a:solidFill>
                    <a:effectLst/>
                    <a:latin typeface="+mn-lt"/>
                    <a:ea typeface="+mn-ea"/>
                    <a:cs typeface="+mn-cs"/>
                  </a:rPr>
                  <a:t> and calculate the result. </a:t>
                </a:r>
                <a:endParaRPr lang="en-US" sz="2000" kern="1200" dirty="0">
                  <a:solidFill>
                    <a:schemeClr val="tx1"/>
                  </a:solidFill>
                  <a:effectLst/>
                  <a:latin typeface="+mn-lt"/>
                  <a:ea typeface="+mn-ea"/>
                  <a:cs typeface="+mn-cs"/>
                </a:endParaRPr>
              </a:p>
              <a:p>
                <a:pPr marL="342900" indent="-342900">
                  <a:buFont typeface="Arial" panose="020B0604020202020204" pitchFamily="34" charset="0"/>
                  <a:buChar char="•"/>
                </a:pPr>
                <a:endParaRPr lang="en-US" sz="2000" kern="1200" dirty="0">
                  <a:solidFill>
                    <a:schemeClr val="tx1"/>
                  </a:solidFill>
                  <a:effectLst/>
                  <a:latin typeface="+mn-lt"/>
                  <a:ea typeface="+mn-ea"/>
                  <a:cs typeface="+mn-cs"/>
                </a:endParaRPr>
              </a:p>
              <a:p>
                <a:endParaRPr lang="en-US" sz="2000" kern="1200" dirty="0">
                  <a:solidFill>
                    <a:schemeClr val="tx1"/>
                  </a:solidFill>
                  <a:effectLst/>
                  <a:latin typeface="+mn-lt"/>
                  <a:ea typeface="+mn-ea"/>
                  <a:cs typeface="+mn-cs"/>
                </a:endParaRP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35597365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It is useful to define the mean, or expectation value, of a measurement for a given operator. </a:t>
                </a:r>
                <a:r>
                  <a:rPr lang="en-US" sz="1200" dirty="0"/>
                  <a:t>The expectation value is the probability-weighted average of the possible outcomes.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For example, The Pauli-Z operator has eigenvalues </a:t>
                </a:r>
                <a14:m>
                  <m:oMath xmlns:m="http://schemas.openxmlformats.org/officeDocument/2006/math">
                    <m:sSub>
                      <m:sSubPr>
                        <m:ctrlPr>
                          <a:rPr lang="en-ZA" sz="1200" i="1">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r>
                      <a:rPr lang="en-US" sz="1200" b="0" i="1" smtClean="0">
                        <a:latin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1</m:t>
                    </m:r>
                  </m:oMath>
                </a14:m>
                <a:r>
                  <a:rPr lang="en-US" sz="1200" dirty="0"/>
                  <a:t>. </a:t>
                </a:r>
                <a:r>
                  <a:rPr lang="en-ZA" dirty="0"/>
                  <a:t>Suppose that the probabilities of the corresponding measurement outcomes are </a:t>
                </a:r>
                <a:r>
                  <a:rPr lang="en-US" sz="1200" baseline="0" dirty="0"/>
                  <a:t>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=0.7</m:t>
                    </m:r>
                  </m:oMath>
                </a14:m>
                <a:r>
                  <a:rPr lang="en-US" sz="1200" dirty="0"/>
                  <a:t> and </a:t>
                </a:r>
                <a14:m>
                  <m:oMath xmlns:m="http://schemas.openxmlformats.org/officeDocument/2006/math">
                    <m:r>
                      <a:rPr lang="en-US" sz="1200" b="0" i="1" smtClean="0">
                        <a:latin typeface="Cambria Math" panose="02040503050406030204" pitchFamily="18" charset="0"/>
                      </a:rPr>
                      <m:t> </m:t>
                    </m:r>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0" i="1" smtClean="0">
                            <a:latin typeface="Cambria Math" panose="02040503050406030204" pitchFamily="18" charset="0"/>
                          </a:rPr>
                          <m:t>−</m:t>
                        </m:r>
                        <m:r>
                          <a:rPr lang="en-US" sz="1200" i="1">
                            <a:latin typeface="Cambria Math" panose="02040503050406030204" pitchFamily="18" charset="0"/>
                          </a:rPr>
                          <m:t>1</m:t>
                        </m:r>
                      </m:e>
                    </m:d>
                    <m:r>
                      <a:rPr lang="en-US" sz="1200" i="1">
                        <a:latin typeface="Cambria Math" panose="02040503050406030204" pitchFamily="18" charset="0"/>
                      </a:rPr>
                      <m:t>=0.</m:t>
                    </m:r>
                    <m:r>
                      <a:rPr lang="en-US" sz="1200" b="0" i="1" smtClean="0">
                        <a:latin typeface="Cambria Math" panose="02040503050406030204" pitchFamily="18" charset="0"/>
                      </a:rPr>
                      <m:t>3</m:t>
                    </m:r>
                  </m:oMath>
                </a14:m>
                <a:r>
                  <a:rPr lang="en-US" sz="1200" dirty="0"/>
                  <a:t>. </a:t>
                </a:r>
                <a:r>
                  <a:rPr lang="en-ZA" dirty="0"/>
                  <a:t>The expectation value is calculated as the probability-weighted average of the possible outcomes:</a:t>
                </a:r>
                <a:endParaRPr lang="en-US" sz="100" dirty="0"/>
              </a:p>
              <a:p>
                <a:pPr/>
                <a14:m>
                  <m:oMathPara xmlns:m="http://schemas.openxmlformats.org/officeDocument/2006/math">
                    <m:oMathParaPr>
                      <m:jc m:val="centerGroup"/>
                    </m:oMathParaPr>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𝑍</m:t>
                          </m:r>
                        </m:e>
                      </m:d>
                      <m:r>
                        <a:rPr lang="en-US" sz="1200" b="0" i="1" smtClean="0">
                          <a:solidFill>
                            <a:schemeClr val="tx1"/>
                          </a:solidFill>
                          <a:latin typeface="Cambria Math" panose="02040503050406030204" pitchFamily="18" charset="0"/>
                        </a:rPr>
                        <m:t>=</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+1</m:t>
                          </m:r>
                        </m:e>
                      </m:d>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0" i="1" smtClean="0">
                              <a:latin typeface="Cambria Math" panose="02040503050406030204" pitchFamily="18" charset="0"/>
                            </a:rPr>
                            <m:t>+</m:t>
                          </m:r>
                          <m:r>
                            <a:rPr lang="en-US" sz="1200" i="1">
                              <a:latin typeface="Cambria Math" panose="02040503050406030204" pitchFamily="18" charset="0"/>
                            </a:rPr>
                            <m:t>1</m:t>
                          </m:r>
                        </m:e>
                      </m:d>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m:t>
                          </m:r>
                          <m:r>
                            <a:rPr lang="en-US" sz="1200" i="1">
                              <a:latin typeface="Cambria Math" panose="02040503050406030204" pitchFamily="18" charset="0"/>
                            </a:rPr>
                            <m:t>1</m:t>
                          </m:r>
                        </m:e>
                      </m:d>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0" i="1" smtClean="0">
                              <a:latin typeface="Cambria Math" panose="02040503050406030204" pitchFamily="18" charset="0"/>
                            </a:rPr>
                            <m:t>−</m:t>
                          </m:r>
                          <m:r>
                            <a:rPr lang="en-US" sz="1200" i="1">
                              <a:latin typeface="Cambria Math" panose="02040503050406030204" pitchFamily="18" charset="0"/>
                            </a:rPr>
                            <m:t>1</m:t>
                          </m:r>
                        </m:e>
                      </m:d>
                      <m:r>
                        <a:rPr lang="en-US" sz="1200" b="0" i="1" smtClean="0">
                          <a:latin typeface="Cambria Math" panose="02040503050406030204" pitchFamily="18" charset="0"/>
                        </a:rPr>
                        <m:t>=0.4</m:t>
                      </m:r>
                    </m:oMath>
                  </m:oMathPara>
                </a14:m>
                <a:endParaRPr lang="en-US" sz="1200" dirty="0">
                  <a:solidFill>
                    <a:schemeClr val="tx1"/>
                  </a:solidFill>
                </a:endParaRPr>
              </a:p>
              <a:p>
                <a:endParaRPr lang="en-US" sz="1200" dirty="0">
                  <a:solidFill>
                    <a:schemeClr val="tx1"/>
                  </a:solidFill>
                </a:endParaRPr>
              </a:p>
              <a:p>
                <a:r>
                  <a:rPr lang="en-ZA" dirty="0"/>
                  <a:t>Thus,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𝑍</m:t>
                        </m:r>
                      </m:e>
                    </m:d>
                    <m:r>
                      <a:rPr lang="en-US" sz="1200" b="0" i="1" smtClean="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0.4</m:t>
                    </m:r>
                  </m:oMath>
                </a14:m>
                <a:r>
                  <a:rPr lang="en-ZA" dirty="0"/>
                  <a:t> does </a:t>
                </a:r>
                <a:r>
                  <a:rPr lang="en-ZA" b="1" dirty="0"/>
                  <a:t>not</a:t>
                </a:r>
                <a:r>
                  <a:rPr lang="en-ZA" dirty="0"/>
                  <a:t> represent a possible outcome of a single measurement, since an individual measurement can produce only </a:t>
                </a:r>
                <a14:m>
                  <m:oMath xmlns:m="http://schemas.openxmlformats.org/officeDocument/2006/math">
                    <m:r>
                      <a:rPr lang="en-US" sz="1200" b="0" i="1" smtClean="0">
                        <a:solidFill>
                          <a:schemeClr val="tx1"/>
                        </a:solidFill>
                        <a:latin typeface="Cambria Math" panose="02040503050406030204" pitchFamily="18" charset="0"/>
                      </a:rPr>
                      <m:t>+1</m:t>
                    </m:r>
                  </m:oMath>
                </a14:m>
                <a:r>
                  <a:rPr lang="en-ZA" dirty="0"/>
                  <a:t> or </a:t>
                </a:r>
                <a14:m>
                  <m:oMath xmlns:m="http://schemas.openxmlformats.org/officeDocument/2006/math">
                    <m:r>
                      <a:rPr lang="en-US" sz="1200" b="0" i="0"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1</m:t>
                    </m:r>
                  </m:oMath>
                </a14:m>
                <a:r>
                  <a:rPr lang="en-ZA" dirty="0"/>
                  <a:t>. Instead, it represents the average value that would be approached when the same measurement is repeated many times on identically prepared quantum systems.</a:t>
                </a:r>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It is useful to define the mean, or expectation value, of a measurement for a given operator. </a:t>
                </a:r>
                <a:r>
                  <a:rPr lang="en-US" sz="1200" dirty="0"/>
                  <a:t>The expectation value is the probability-weighted average of the possible outcomes.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For example, The Pauli-Z operator has eigenvalues </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US" sz="1200" b="0" i="0">
                    <a:latin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1</a:t>
                </a:r>
                <a:r>
                  <a:rPr lang="en-US" sz="1200" dirty="0"/>
                  <a:t>. </a:t>
                </a:r>
                <a:r>
                  <a:rPr lang="en-ZA" dirty="0"/>
                  <a:t>Suppose that the probabilities of the corresponding measurement outcomes are </a:t>
                </a:r>
                <a:r>
                  <a:rPr lang="en-US" sz="1200" baseline="0" dirty="0"/>
                  <a:t> </a:t>
                </a:r>
                <a:r>
                  <a:rPr lang="en-US" sz="1200" b="0" i="0">
                    <a:latin typeface="Cambria Math" panose="02040503050406030204" pitchFamily="18" charset="0"/>
                  </a:rPr>
                  <a:t>𝑝(+1)=0.7</a:t>
                </a:r>
                <a:r>
                  <a:rPr lang="en-US" sz="1200" dirty="0"/>
                  <a:t> and </a:t>
                </a:r>
                <a:r>
                  <a:rPr lang="en-US" sz="1200" b="0" i="0">
                    <a:latin typeface="Cambria Math" panose="02040503050406030204" pitchFamily="18" charset="0"/>
                  </a:rPr>
                  <a:t> </a:t>
                </a:r>
                <a:r>
                  <a:rPr lang="en-US" sz="1200" i="0">
                    <a:latin typeface="Cambria Math" panose="02040503050406030204" pitchFamily="18" charset="0"/>
                  </a:rPr>
                  <a:t>𝑝(</a:t>
                </a:r>
                <a:r>
                  <a:rPr lang="en-US" sz="1200" b="0" i="0">
                    <a:latin typeface="Cambria Math" panose="02040503050406030204" pitchFamily="18" charset="0"/>
                  </a:rPr>
                  <a:t>−</a:t>
                </a:r>
                <a:r>
                  <a:rPr lang="en-US" sz="1200" i="0">
                    <a:latin typeface="Cambria Math" panose="02040503050406030204" pitchFamily="18" charset="0"/>
                  </a:rPr>
                  <a:t>1)=0.</a:t>
                </a:r>
                <a:r>
                  <a:rPr lang="en-US" sz="1200" b="0" i="0">
                    <a:latin typeface="Cambria Math" panose="02040503050406030204" pitchFamily="18" charset="0"/>
                  </a:rPr>
                  <a:t>3</a:t>
                </a:r>
                <a:r>
                  <a:rPr lang="en-US" sz="1200" dirty="0"/>
                  <a:t>. </a:t>
                </a:r>
                <a:r>
                  <a:rPr lang="en-ZA" dirty="0"/>
                  <a:t>The expectation value is calculated as the probability-weighted average of the possible outcomes:</a:t>
                </a:r>
                <a:endParaRPr lang="en-US" sz="100" dirty="0"/>
              </a:p>
              <a:p>
                <a:pPr/>
                <a:r>
                  <a:rPr lang="en-US" sz="1200" i="0">
                    <a:solidFill>
                      <a:schemeClr val="tx1"/>
                    </a:solidFill>
                    <a:latin typeface="Cambria Math" panose="02040503050406030204" pitchFamily="18" charset="0"/>
                  </a:rPr>
                  <a:t>⟨</a:t>
                </a:r>
                <a:r>
                  <a:rPr lang="sr-Latn-RS" sz="1200" i="0">
                    <a:solidFill>
                      <a:schemeClr val="tx1"/>
                    </a:solidFill>
                    <a:latin typeface="Cambria Math" panose="02040503050406030204" pitchFamily="18" charset="0"/>
                  </a:rPr>
                  <a:t>𝑍⟩</a:t>
                </a:r>
                <a:r>
                  <a:rPr lang="en-US" sz="1200" b="0" i="0">
                    <a:solidFill>
                      <a:schemeClr val="tx1"/>
                    </a:solidFill>
                    <a:latin typeface="Cambria Math" panose="02040503050406030204" pitchFamily="18" charset="0"/>
                  </a:rPr>
                  <a:t>=(+1)</a:t>
                </a:r>
                <a:r>
                  <a:rPr lang="en-US" sz="1200" i="0">
                    <a:latin typeface="Cambria Math" panose="02040503050406030204" pitchFamily="18" charset="0"/>
                  </a:rPr>
                  <a:t>𝑝(</a:t>
                </a:r>
                <a:r>
                  <a:rPr lang="en-US" sz="1200" b="0" i="0">
                    <a:latin typeface="Cambria Math" panose="02040503050406030204" pitchFamily="18" charset="0"/>
                  </a:rPr>
                  <a:t>+</a:t>
                </a:r>
                <a:r>
                  <a:rPr lang="en-US" sz="1200" i="0">
                    <a:latin typeface="Cambria Math" panose="02040503050406030204" pitchFamily="18" charset="0"/>
                  </a:rPr>
                  <a:t>1)</a:t>
                </a:r>
                <a:r>
                  <a:rPr lang="en-US" sz="1200" b="0" i="0">
                    <a:latin typeface="Cambria Math" panose="02040503050406030204" pitchFamily="18" charset="0"/>
                  </a:rPr>
                  <a:t>+(−</a:t>
                </a:r>
                <a:r>
                  <a:rPr lang="en-US" sz="1200" i="0">
                    <a:latin typeface="Cambria Math" panose="02040503050406030204" pitchFamily="18" charset="0"/>
                  </a:rPr>
                  <a:t>1)𝑝(</a:t>
                </a:r>
                <a:r>
                  <a:rPr lang="en-US" sz="1200" b="0" i="0">
                    <a:latin typeface="Cambria Math" panose="02040503050406030204" pitchFamily="18" charset="0"/>
                  </a:rPr>
                  <a:t>−</a:t>
                </a:r>
                <a:r>
                  <a:rPr lang="en-US" sz="1200" i="0">
                    <a:latin typeface="Cambria Math" panose="02040503050406030204" pitchFamily="18" charset="0"/>
                  </a:rPr>
                  <a:t>1)</a:t>
                </a:r>
                <a:r>
                  <a:rPr lang="en-US" sz="1200" b="0" i="0">
                    <a:latin typeface="Cambria Math" panose="02040503050406030204" pitchFamily="18" charset="0"/>
                  </a:rPr>
                  <a:t>=0.4</a:t>
                </a:r>
                <a:endParaRPr lang="en-US" sz="1200" dirty="0">
                  <a:solidFill>
                    <a:schemeClr val="tx1"/>
                  </a:solidFill>
                </a:endParaRPr>
              </a:p>
              <a:p>
                <a:pPr/>
                <a:endParaRPr lang="en-US" sz="1200" dirty="0">
                  <a:solidFill>
                    <a:schemeClr val="tx1"/>
                  </a:solidFill>
                </a:endParaRPr>
              </a:p>
              <a:p>
                <a:pPr/>
                <a:r>
                  <a:rPr lang="en-ZA" dirty="0"/>
                  <a:t>Thus, </a:t>
                </a:r>
                <a:r>
                  <a:rPr lang="en-US" sz="1200" i="0">
                    <a:solidFill>
                      <a:schemeClr val="tx1"/>
                    </a:solidFill>
                    <a:latin typeface="Cambria Math" panose="02040503050406030204" pitchFamily="18" charset="0"/>
                  </a:rPr>
                  <a:t>⟨</a:t>
                </a:r>
                <a:r>
                  <a:rPr lang="sr-Latn-RS" sz="1200" i="0">
                    <a:solidFill>
                      <a:schemeClr val="tx1"/>
                    </a:solidFill>
                    <a:latin typeface="Cambria Math" panose="02040503050406030204" pitchFamily="18" charset="0"/>
                  </a:rPr>
                  <a:t>𝑍⟩</a:t>
                </a:r>
                <a:r>
                  <a:rPr lang="en-US" sz="1200" b="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0.4</a:t>
                </a:r>
                <a:r>
                  <a:rPr lang="en-ZA" dirty="0"/>
                  <a:t> does </a:t>
                </a:r>
                <a:r>
                  <a:rPr lang="en-ZA" b="1" dirty="0"/>
                  <a:t>not</a:t>
                </a:r>
                <a:r>
                  <a:rPr lang="en-ZA" dirty="0"/>
                  <a:t> represent a possible outcome of a single measurement, since an individual measurement can produce only </a:t>
                </a:r>
                <a:r>
                  <a:rPr lang="en-US" sz="1200" b="0" i="0">
                    <a:solidFill>
                      <a:schemeClr val="tx1"/>
                    </a:solidFill>
                    <a:latin typeface="Cambria Math" panose="02040503050406030204" pitchFamily="18" charset="0"/>
                  </a:rPr>
                  <a:t>+1</a:t>
                </a:r>
                <a:r>
                  <a:rPr lang="en-ZA" dirty="0"/>
                  <a:t> or </a:t>
                </a:r>
                <a:r>
                  <a:rPr lang="en-US" sz="1200" b="0" i="0">
                    <a:solidFill>
                      <a:schemeClr val="tx1"/>
                    </a:solidFill>
                    <a:latin typeface="Cambria Math" panose="02040503050406030204" pitchFamily="18" charset="0"/>
                  </a:rPr>
                  <a:t>−1</a:t>
                </a:r>
                <a:r>
                  <a:rPr lang="en-ZA" dirty="0"/>
                  <a:t>. Instead, it represents the average value that would be approached when the same measurement is repeated many times on identically prepared quantum systems.</a:t>
                </a:r>
                <a:endParaRPr lang="en-US" sz="12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34983441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For an operator </a:t>
                </a:r>
                <a14:m>
                  <m:oMath xmlns:m="http://schemas.openxmlformats.org/officeDocument/2006/math">
                    <m:r>
                      <a:rPr lang="en-US" sz="1200" i="1" smtClean="0">
                        <a:latin typeface="Cambria Math" panose="02040503050406030204" pitchFamily="18" charset="0"/>
                      </a:rPr>
                      <m:t>𝑀</m:t>
                    </m:r>
                  </m:oMath>
                </a14:m>
                <a:r>
                  <a:rPr lang="en-ZA" dirty="0"/>
                  <a:t> and a quantum system in state </a:t>
                </a:r>
                <a14:m>
                  <m:oMath xmlns:m="http://schemas.openxmlformats.org/officeDocument/2006/math">
                    <m:d>
                      <m:dPr>
                        <m:begChr m:val="|"/>
                        <m:endChr m:val="⟩"/>
                        <m:ctrlPr>
                          <a:rPr lang="en-ZA" sz="1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𝑆</m:t>
                        </m:r>
                      </m:e>
                    </m:d>
                  </m:oMath>
                </a14:m>
                <a:r>
                  <a:rPr lang="en-ZA" dirty="0"/>
                  <a:t>, the expectation value is given by the expression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𝑀</m:t>
                        </m:r>
                      </m:e>
                    </m:d>
                    <m:r>
                      <a:rPr lang="en-US" sz="1200" i="1">
                        <a:latin typeface="Cambria Math" panose="02040503050406030204" pitchFamily="18" charset="0"/>
                      </a:rPr>
                      <m:t>=</m:t>
                    </m:r>
                    <m:r>
                      <a:rPr lang="en-US" sz="1200">
                        <a:latin typeface="Cambria Math" panose="02040503050406030204" pitchFamily="18" charset="0"/>
                      </a:rPr>
                      <m:t>⟨</m:t>
                    </m:r>
                    <m:r>
                      <a:rPr lang="en-US" sz="1200" i="1">
                        <a:latin typeface="Cambria Math" panose="02040503050406030204" pitchFamily="18" charset="0"/>
                      </a:rPr>
                      <m:t>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𝑀</m:t>
                        </m:r>
                        <m:r>
                          <a:rPr lang="en-US" sz="1200" i="1">
                            <a:latin typeface="Cambria Math" panose="02040503050406030204" pitchFamily="18" charset="0"/>
                          </a:rPr>
                          <m:t>|</m:t>
                        </m:r>
                        <m:r>
                          <a:rPr lang="en-US" sz="1200" i="1">
                            <a:latin typeface="Cambria Math" panose="02040503050406030204" pitchFamily="18" charset="0"/>
                          </a:rPr>
                          <m:t>𝑆</m:t>
                        </m:r>
                      </m:e>
                    </m:d>
                  </m:oMath>
                </a14:m>
                <a:r>
                  <a:rPr lang="en-ZA" dirty="0"/>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171450" indent="-171450">
                  <a:buFont typeface="Arial" panose="020B0604020202020204" pitchFamily="34" charset="0"/>
                  <a:buChar char="•"/>
                </a:pPr>
                <a:r>
                  <a:rPr lang="en-ZA" dirty="0"/>
                  <a:t>Starting from the expectation value: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𝑀</m:t>
                        </m:r>
                      </m:e>
                    </m:d>
                    <m:r>
                      <a:rPr lang="en-US" sz="1200" i="1">
                        <a:latin typeface="Cambria Math" panose="02040503050406030204" pitchFamily="18" charset="0"/>
                      </a:rPr>
                      <m:t>=</m:t>
                    </m:r>
                    <m:nary>
                      <m:naryPr>
                        <m:chr m:val="∑"/>
                        <m:supHide m:val="on"/>
                        <m:ctrlPr>
                          <a:rPr lang="en-US" sz="1200" i="1" smtClean="0">
                            <a:latin typeface="Cambria Math" panose="02040503050406030204" pitchFamily="18" charset="0"/>
                          </a:rPr>
                        </m:ctrlPr>
                      </m:naryPr>
                      <m:sub>
                        <m:r>
                          <m:rPr>
                            <m:brk m:alnAt="7"/>
                          </m:rPr>
                          <a:rPr lang="en-US" sz="1200" b="0" i="1" smtClean="0">
                            <a:latin typeface="Cambria Math" panose="02040503050406030204" pitchFamily="18" charset="0"/>
                          </a:rPr>
                          <m:t>𝑘</m:t>
                        </m:r>
                      </m:sub>
                      <m:sup/>
                      <m:e>
                        <m:sSub>
                          <m:sSubPr>
                            <m:ctrlPr>
                              <a:rPr lang="en-ZA" sz="1200" i="1" smtClean="0">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e>
                    </m:nary>
                  </m:oMath>
                </a14:m>
                <a:r>
                  <a:rPr lang="en-ZA" dirty="0"/>
                  <a:t> </a:t>
                </a:r>
              </a:p>
              <a:p>
                <a:pPr marL="171450" indent="-171450">
                  <a:buFont typeface="Arial" panose="020B0604020202020204" pitchFamily="34" charset="0"/>
                  <a:buChar char="•"/>
                </a:pPr>
                <a:r>
                  <a:rPr lang="en-ZA" dirty="0"/>
                  <a:t>For an observable </a:t>
                </a:r>
                <a14:m>
                  <m:oMath xmlns:m="http://schemas.openxmlformats.org/officeDocument/2006/math">
                    <m:r>
                      <a:rPr lang="en-US" sz="1200" i="1" smtClean="0">
                        <a:latin typeface="Cambria Math" panose="02040503050406030204" pitchFamily="18" charset="0"/>
                      </a:rPr>
                      <m:t>𝑀</m:t>
                    </m:r>
                  </m:oMath>
                </a14:m>
                <a:r>
                  <a:rPr lang="en-ZA" dirty="0"/>
                  <a:t>, the probability of obtaining the eigenvalue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oMath>
                </a14:m>
                <a:r>
                  <a:rPr lang="en-ZA" dirty="0"/>
                  <a:t> is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𝑘</m:t>
                        </m:r>
                      </m:e>
                    </m:d>
                    <m:r>
                      <a:rPr lang="en-US" sz="1200" b="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e>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𝑘</m:t>
                            </m:r>
                          </m:sub>
                        </m:sSub>
                      </m:e>
                      <m:e>
                        <m:r>
                          <a:rPr lang="en-US" sz="1200" i="1">
                            <a:latin typeface="Cambria Math" panose="02040503050406030204" pitchFamily="18" charset="0"/>
                          </a:rPr>
                          <m:t>𝑆</m:t>
                        </m:r>
                      </m:e>
                    </m:d>
                  </m:oMath>
                </a14:m>
                <a:r>
                  <a:rPr lang="en-ZA" dirty="0"/>
                  <a:t>, where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𝑘</m:t>
                        </m:r>
                      </m:sub>
                    </m:sSub>
                  </m:oMath>
                </a14:m>
                <a:r>
                  <a:rPr lang="en-ZA" dirty="0"/>
                  <a:t> is the projector onto the corresponding eigenspace. </a:t>
                </a:r>
              </a:p>
              <a:p>
                <a:pPr marL="171450" indent="-171450">
                  <a:buFont typeface="Arial" panose="020B0604020202020204" pitchFamily="34" charset="0"/>
                  <a:buChar char="•"/>
                </a:pPr>
                <a:r>
                  <a:rPr lang="en-ZA" dirty="0"/>
                  <a:t>Substituting this into the expectation value gives: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𝑀</m:t>
                        </m:r>
                      </m:e>
                    </m:d>
                    <m:r>
                      <a:rPr lang="en-US" sz="1200" i="1">
                        <a:latin typeface="Cambria Math" panose="02040503050406030204" pitchFamily="18" charset="0"/>
                      </a:rPr>
                      <m:t>=</m:t>
                    </m:r>
                    <m:nary>
                      <m:naryPr>
                        <m:chr m:val="∑"/>
                        <m:supHide m:val="on"/>
                        <m:ctrlPr>
                          <a:rPr lang="en-US" sz="1200" i="1" smtClean="0">
                            <a:latin typeface="Cambria Math" panose="02040503050406030204" pitchFamily="18" charset="0"/>
                          </a:rPr>
                        </m:ctrlPr>
                      </m:naryPr>
                      <m:sub>
                        <m:r>
                          <m:rPr>
                            <m:brk m:alnAt="7"/>
                          </m:rPr>
                          <a:rPr lang="en-US" sz="1200" b="0" i="1" smtClean="0">
                            <a:latin typeface="Cambria Math" panose="02040503050406030204" pitchFamily="18" charset="0"/>
                          </a:rPr>
                          <m:t>𝑘</m:t>
                        </m:r>
                      </m:sub>
                      <m:sup/>
                      <m:e>
                        <m:sSub>
                          <m:sSubPr>
                            <m:ctrlPr>
                              <a:rPr lang="en-ZA" sz="1200" i="1" smtClean="0">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e>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𝑘</m:t>
                                </m:r>
                              </m:sub>
                            </m:sSub>
                          </m:e>
                          <m:e>
                            <m:r>
                              <a:rPr lang="en-US" sz="1200" i="1">
                                <a:latin typeface="Cambria Math" panose="02040503050406030204" pitchFamily="18" charset="0"/>
                              </a:rPr>
                              <m:t>𝑆</m:t>
                            </m:r>
                          </m:e>
                        </m:d>
                      </m:e>
                    </m:nary>
                  </m:oMath>
                </a14:m>
                <a:endParaRPr lang="en-ZA" dirty="0"/>
              </a:p>
              <a:p>
                <a:pPr marL="171450" indent="-171450">
                  <a:buFont typeface="Arial" panose="020B0604020202020204" pitchFamily="34" charset="0"/>
                  <a:buChar char="•"/>
                </a:pPr>
                <a:r>
                  <a:rPr lang="en-ZA" dirty="0"/>
                  <a:t>Since the eigenvalues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oMath>
                </a14:m>
                <a:r>
                  <a:rPr lang="en-ZA" dirty="0"/>
                  <a:t> are scalars, they can be moved inside the bra-ket expression,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𝑀</m:t>
                        </m:r>
                      </m:e>
                    </m:d>
                    <m:r>
                      <a:rPr lang="en-US" sz="1200" i="1">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𝑆</m:t>
                        </m:r>
                      </m:e>
                      <m:e>
                        <m:nary>
                          <m:naryPr>
                            <m:chr m:val="∑"/>
                            <m:supHide m:val="on"/>
                            <m:ctrlPr>
                              <a:rPr lang="en-US" sz="1200" i="1" smtClean="0">
                                <a:latin typeface="Cambria Math" panose="02040503050406030204" pitchFamily="18" charset="0"/>
                              </a:rPr>
                            </m:ctrlPr>
                          </m:naryPr>
                          <m:sub>
                            <m:r>
                              <m:rPr>
                                <m:brk m:alnAt="7"/>
                              </m:rPr>
                              <a:rPr lang="en-US" sz="1200" b="0" i="1" smtClean="0">
                                <a:latin typeface="Cambria Math" panose="02040503050406030204" pitchFamily="18" charset="0"/>
                              </a:rPr>
                              <m:t>𝑘</m:t>
                            </m:r>
                          </m:sub>
                          <m:sup/>
                          <m:e>
                            <m:sSub>
                              <m:sSubPr>
                                <m:ctrlPr>
                                  <a:rPr lang="en-ZA" sz="1200" i="1">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𝑘</m:t>
                                </m:r>
                              </m:sub>
                            </m:sSub>
                          </m:e>
                        </m:nary>
                      </m:e>
                      <m:e>
                        <m:r>
                          <a:rPr lang="en-US" sz="1200" i="1">
                            <a:latin typeface="Cambria Math" panose="02040503050406030204" pitchFamily="18" charset="0"/>
                          </a:rPr>
                          <m:t>𝑆</m:t>
                        </m:r>
                      </m:e>
                    </m:d>
                  </m:oMath>
                </a14:m>
                <a:endParaRPr lang="en-ZA" dirty="0"/>
              </a:p>
              <a:p>
                <a:pPr marL="171450" indent="-171450">
                  <a:buFont typeface="Arial" panose="020B0604020202020204" pitchFamily="34" charset="0"/>
                  <a:buChar char="•"/>
                </a:pPr>
                <a:r>
                  <a:rPr lang="en-ZA" dirty="0"/>
                  <a:t>From the spectral decomposition of the observable, </a:t>
                </a:r>
                <a14:m>
                  <m:oMath xmlns:m="http://schemas.openxmlformats.org/officeDocument/2006/math">
                    <m:r>
                      <a:rPr lang="en-US" sz="1200" i="1" smtClean="0">
                        <a:latin typeface="Cambria Math" panose="02040503050406030204" pitchFamily="18" charset="0"/>
                      </a:rPr>
                      <m:t>𝑀</m:t>
                    </m:r>
                    <m:r>
                      <a:rPr lang="en-US" sz="1200" b="0" i="1" smtClean="0">
                        <a:latin typeface="Cambria Math" panose="02040503050406030204" pitchFamily="18" charset="0"/>
                      </a:rPr>
                      <m:t>=</m:t>
                    </m:r>
                    <m:nary>
                      <m:naryPr>
                        <m:chr m:val="∑"/>
                        <m:supHide m:val="on"/>
                        <m:ctrlPr>
                          <a:rPr lang="en-US" sz="1200" i="1" smtClean="0">
                            <a:latin typeface="Cambria Math" panose="02040503050406030204" pitchFamily="18" charset="0"/>
                          </a:rPr>
                        </m:ctrlPr>
                      </m:naryPr>
                      <m:sub>
                        <m:r>
                          <m:rPr>
                            <m:brk m:alnAt="7"/>
                          </m:rPr>
                          <a:rPr lang="en-US" sz="1200" b="0" i="1" smtClean="0">
                            <a:latin typeface="Cambria Math" panose="02040503050406030204" pitchFamily="18" charset="0"/>
                          </a:rPr>
                          <m:t>𝑘</m:t>
                        </m:r>
                      </m:sub>
                      <m:sup/>
                      <m:e>
                        <m:sSub>
                          <m:sSubPr>
                            <m:ctrlPr>
                              <a:rPr lang="en-ZA" sz="1200" i="1">
                                <a:latin typeface="Cambria Math" panose="02040503050406030204" pitchFamily="18" charset="0"/>
                              </a:rPr>
                            </m:ctrlPr>
                          </m:sSubPr>
                          <m:e>
                            <m:r>
                              <a:rPr lang="sr-Latn-RS" sz="1200" i="1">
                                <a:latin typeface="Cambria Math" panose="02040503050406030204" pitchFamily="18" charset="0"/>
                              </a:rPr>
                              <m:t>𝜆</m:t>
                            </m:r>
                          </m:e>
                          <m:sub>
                            <m:r>
                              <a:rPr lang="sr-Latn-RS" sz="1200" i="1">
                                <a:latin typeface="Cambria Math" panose="02040503050406030204" pitchFamily="18" charset="0"/>
                              </a:rPr>
                              <m:t>𝑘</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𝑃</m:t>
                            </m:r>
                          </m:e>
                          <m:sub>
                            <m:r>
                              <a:rPr lang="en-US" sz="1200" i="1">
                                <a:latin typeface="Cambria Math" panose="02040503050406030204" pitchFamily="18" charset="0"/>
                              </a:rPr>
                              <m:t>𝑘</m:t>
                            </m:r>
                          </m:sub>
                        </m:sSub>
                      </m:e>
                    </m:nary>
                  </m:oMath>
                </a14:m>
                <a:endParaRPr lang="en-Z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Therefore,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𝑀</m:t>
                        </m:r>
                      </m:e>
                    </m:d>
                    <m:r>
                      <a:rPr lang="en-US" sz="1200" i="1">
                        <a:latin typeface="Cambria Math" panose="02040503050406030204" pitchFamily="18" charset="0"/>
                      </a:rPr>
                      <m:t>=</m:t>
                    </m:r>
                    <m:r>
                      <a:rPr lang="en-US" sz="1200">
                        <a:latin typeface="Cambria Math" panose="02040503050406030204" pitchFamily="18" charset="0"/>
                      </a:rPr>
                      <m:t>⟨</m:t>
                    </m:r>
                    <m:r>
                      <a:rPr lang="en-US" sz="1200" i="1">
                        <a:latin typeface="Cambria Math" panose="02040503050406030204" pitchFamily="18" charset="0"/>
                      </a:rPr>
                      <m:t>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𝑀</m:t>
                        </m:r>
                        <m:r>
                          <a:rPr lang="en-US" sz="1200" i="1">
                            <a:latin typeface="Cambria Math" panose="02040503050406030204" pitchFamily="18" charset="0"/>
                          </a:rPr>
                          <m:t>|</m:t>
                        </m:r>
                        <m:r>
                          <a:rPr lang="en-US" sz="1200" i="1">
                            <a:latin typeface="Cambria Math" panose="02040503050406030204" pitchFamily="18" charset="0"/>
                          </a:rPr>
                          <m:t>𝑆</m:t>
                        </m:r>
                      </m:e>
                    </m:d>
                  </m:oMath>
                </a14:m>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Thus, the expectation value of an observable can be calculated directly from the operator and the quantum state vector, without separately calculating the probabilities of all possible measurement outcomes.</a:t>
                </a:r>
                <a:endParaRPr lang="en-US" dirty="0"/>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For an operator </a:t>
                </a:r>
                <a:r>
                  <a:rPr lang="en-US" sz="1200" i="0">
                    <a:latin typeface="Cambria Math" panose="02040503050406030204" pitchFamily="18" charset="0"/>
                  </a:rPr>
                  <a:t>𝑀</a:t>
                </a:r>
                <a:r>
                  <a:rPr lang="en-ZA" dirty="0"/>
                  <a:t> and a quantum system in state </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𝑆⟩</a:t>
                </a:r>
                <a:r>
                  <a:rPr lang="en-ZA" dirty="0"/>
                  <a:t>, the expectation value is given by the expression </a:t>
                </a:r>
                <a:r>
                  <a:rPr lang="en-US" sz="1200" i="0">
                    <a:latin typeface="Cambria Math" panose="02040503050406030204" pitchFamily="18" charset="0"/>
                  </a:rPr>
                  <a:t>⟨𝑀⟩=⟨𝑆|𝑀|𝑆⟩</a:t>
                </a:r>
                <a:r>
                  <a:rPr lang="en-ZA" dirty="0"/>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171450" indent="-171450">
                  <a:buFont typeface="Arial" panose="020B0604020202020204" pitchFamily="34" charset="0"/>
                  <a:buChar char="•"/>
                </a:pPr>
                <a:r>
                  <a:rPr lang="en-ZA" dirty="0"/>
                  <a:t>Starting from the expectation value: </a:t>
                </a:r>
                <a:r>
                  <a:rPr lang="en-US" sz="1200" i="0">
                    <a:latin typeface="Cambria Math" panose="02040503050406030204" pitchFamily="18" charset="0"/>
                  </a:rPr>
                  <a:t>⟨𝑀⟩=∑8_</a:t>
                </a:r>
                <a:r>
                  <a:rPr lang="en-US" sz="1200" b="0" i="0">
                    <a:latin typeface="Cambria Math" panose="02040503050406030204" pitchFamily="18" charset="0"/>
                  </a:rPr>
                  <a:t>𝑘▒〖</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US" sz="1200" b="0" i="0">
                    <a:latin typeface="Cambria Math" panose="02040503050406030204" pitchFamily="18" charset="0"/>
                  </a:rPr>
                  <a:t> 𝑝(𝑘) 〗</a:t>
                </a:r>
                <a:r>
                  <a:rPr lang="en-ZA" dirty="0"/>
                  <a:t> </a:t>
                </a:r>
              </a:p>
              <a:p>
                <a:pPr marL="171450" indent="-171450">
                  <a:buFont typeface="Arial" panose="020B0604020202020204" pitchFamily="34" charset="0"/>
                  <a:buChar char="•"/>
                </a:pPr>
                <a:r>
                  <a:rPr lang="en-ZA" dirty="0"/>
                  <a:t>For an observable </a:t>
                </a:r>
                <a:r>
                  <a:rPr lang="en-US" sz="1200" i="0">
                    <a:latin typeface="Cambria Math" panose="02040503050406030204" pitchFamily="18" charset="0"/>
                  </a:rPr>
                  <a:t>𝑀</a:t>
                </a:r>
                <a:r>
                  <a:rPr lang="en-ZA" dirty="0"/>
                  <a:t>, the probability of obtaining the eigenvalue </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ZA" dirty="0"/>
                  <a:t> is </a:t>
                </a:r>
                <a:r>
                  <a:rPr lang="en-US" sz="1200" b="0" i="0">
                    <a:latin typeface="Cambria Math" panose="02040503050406030204" pitchFamily="18" charset="0"/>
                  </a:rPr>
                  <a:t>𝑝(𝑘)=</a:t>
                </a:r>
                <a:r>
                  <a:rPr lang="en-US" sz="1200" i="0">
                    <a:latin typeface="Cambria Math" panose="02040503050406030204" pitchFamily="18" charset="0"/>
                  </a:rPr>
                  <a:t>⟨𝑆│𝑃_𝑘│𝑆⟩</a:t>
                </a:r>
                <a:r>
                  <a:rPr lang="en-ZA" dirty="0"/>
                  <a:t>, where </a:t>
                </a:r>
                <a:r>
                  <a:rPr lang="en-US" sz="1200" i="0">
                    <a:latin typeface="Cambria Math" panose="02040503050406030204" pitchFamily="18" charset="0"/>
                  </a:rPr>
                  <a:t>𝑃_𝑘</a:t>
                </a:r>
                <a:r>
                  <a:rPr lang="en-ZA" dirty="0"/>
                  <a:t> is the projector onto the corresponding eigenspace. </a:t>
                </a:r>
              </a:p>
              <a:p>
                <a:pPr marL="171450" indent="-171450">
                  <a:buFont typeface="Arial" panose="020B0604020202020204" pitchFamily="34" charset="0"/>
                  <a:buChar char="•"/>
                </a:pPr>
                <a:r>
                  <a:rPr lang="en-ZA" dirty="0"/>
                  <a:t>Substituting this into the expectation value gives: </a:t>
                </a:r>
                <a:r>
                  <a:rPr lang="en-US" sz="1200" i="0">
                    <a:latin typeface="Cambria Math" panose="02040503050406030204" pitchFamily="18" charset="0"/>
                  </a:rPr>
                  <a:t>⟨𝑀⟩=∑</a:t>
                </a:r>
                <a:r>
                  <a:rPr lang="en-US" sz="1200" b="0" i="0">
                    <a:latin typeface="Cambria Math" panose="02040503050406030204" pitchFamily="18" charset="0"/>
                  </a:rPr>
                  <a:t>_𝑘▒〖</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US" sz="1200" i="0">
                    <a:latin typeface="Cambria Math" panose="02040503050406030204" pitchFamily="18" charset="0"/>
                  </a:rPr>
                  <a:t> ⟨𝑆│𝑃_𝑘│𝑆⟩</a:t>
                </a:r>
                <a:r>
                  <a:rPr lang="en-US" sz="1200" b="0" i="0">
                    <a:latin typeface="Cambria Math" panose="02040503050406030204" pitchFamily="18" charset="0"/>
                  </a:rPr>
                  <a:t> 〗</a:t>
                </a:r>
                <a:endParaRPr lang="en-ZA" dirty="0"/>
              </a:p>
              <a:p>
                <a:pPr marL="171450" indent="-171450">
                  <a:buFont typeface="Arial" panose="020B0604020202020204" pitchFamily="34" charset="0"/>
                  <a:buChar char="•"/>
                </a:pPr>
                <a:r>
                  <a:rPr lang="en-ZA" dirty="0"/>
                  <a:t>Since the eigenvalues </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ZA" dirty="0"/>
                  <a:t> are scalars, they can be moved inside the bra-ket expression, </a:t>
                </a:r>
                <a:r>
                  <a:rPr lang="en-US" sz="1200" i="0">
                    <a:latin typeface="Cambria Math" panose="02040503050406030204" pitchFamily="18" charset="0"/>
                  </a:rPr>
                  <a:t>⟨𝑀⟩=⟨𝑆│∑</a:t>
                </a:r>
                <a:r>
                  <a:rPr lang="en-US" sz="1200" b="0" i="0">
                    <a:latin typeface="Cambria Math" panose="02040503050406030204" pitchFamily="18" charset="0"/>
                  </a:rPr>
                  <a:t>_𝑘▒〖</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US" sz="1200" i="0">
                    <a:latin typeface="Cambria Math" panose="02040503050406030204" pitchFamily="18" charset="0"/>
                  </a:rPr>
                  <a:t> 𝑃_𝑘 〗│𝑆⟩</a:t>
                </a:r>
                <a:endParaRPr lang="en-ZA" dirty="0"/>
              </a:p>
              <a:p>
                <a:pPr marL="171450" indent="-171450">
                  <a:buFont typeface="Arial" panose="020B0604020202020204" pitchFamily="34" charset="0"/>
                  <a:buChar char="•"/>
                </a:pPr>
                <a:r>
                  <a:rPr lang="en-ZA" dirty="0"/>
                  <a:t>From the spectral decomposition of the observable, </a:t>
                </a:r>
                <a:r>
                  <a:rPr lang="en-US" sz="1200" i="0">
                    <a:latin typeface="Cambria Math" panose="02040503050406030204" pitchFamily="18" charset="0"/>
                  </a:rPr>
                  <a:t>𝑀</a:t>
                </a:r>
                <a:r>
                  <a:rPr lang="en-US" sz="1200" b="0" i="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_𝑘▒〖</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𝑘</a:t>
                </a:r>
                <a:r>
                  <a:rPr lang="en-US" sz="1200" i="0">
                    <a:latin typeface="Cambria Math" panose="02040503050406030204" pitchFamily="18" charset="0"/>
                  </a:rPr>
                  <a:t> 𝑃_𝑘 〗</a:t>
                </a:r>
                <a:endParaRPr lang="en-Z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Therefore, </a:t>
                </a:r>
                <a:r>
                  <a:rPr lang="en-US" sz="1200" i="0">
                    <a:latin typeface="Cambria Math" panose="02040503050406030204" pitchFamily="18" charset="0"/>
                  </a:rPr>
                  <a:t>⟨𝑀⟩=⟨𝑆|𝑀|𝑆⟩</a:t>
                </a: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Because of its form, this expression can be viewed as a “sandwich” expression, in which the operator </a:t>
                </a:r>
                <a:r>
                  <a:rPr lang="en-US" sz="1200" b="0" i="0">
                    <a:latin typeface="Cambria Math" panose="02040503050406030204" pitchFamily="18" charset="0"/>
                    <a:ea typeface="Times New Roman" panose="02020603050405020304" pitchFamily="18" charset="0"/>
                    <a:cs typeface="Times New Roman" panose="02020603050405020304" pitchFamily="18" charset="0"/>
                  </a:rPr>
                  <a:t>𝑀</a:t>
                </a:r>
                <a:r>
                  <a:rPr lang="en-ZA" dirty="0"/>
                  <a:t> is placed between the bra and ket vectors of the state </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𝑆⟩</a:t>
                </a:r>
                <a:r>
                  <a:rPr lang="en-ZA" dirty="0"/>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26133827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When analysing measurement results, it is important to remember that the probabilities of different outcomes are determined by the quantum state, which is manipulated by the quantum program.</a:t>
            </a:r>
          </a:p>
          <a:p>
            <a:pPr algn="just"/>
            <a:endParaRPr lang="en-ZA" dirty="0"/>
          </a:p>
          <a:p>
            <a:pPr algn="just"/>
            <a:r>
              <a:rPr lang="en-ZA" dirty="0"/>
              <a:t>In many quantum algorithms, qubits are placed in a superposition of possible outcomes. For example, an equal superposition would produce 0 and 1 with equal probability if measured.</a:t>
            </a:r>
          </a:p>
          <a:p>
            <a:pPr algn="just"/>
            <a:endParaRPr lang="en-ZA" dirty="0"/>
          </a:p>
          <a:p>
            <a:pPr algn="just"/>
            <a:r>
              <a:rPr lang="en-ZA" dirty="0"/>
              <a:t>During the computation, quantum operations change the state and its probability amplitudes. The goal is often to increase the probability of obtaining the desired result when the final measurement is performed.</a:t>
            </a:r>
          </a:p>
          <a:p>
            <a:pPr algn="just"/>
            <a:endParaRPr lang="en-ZA" dirty="0"/>
          </a:p>
          <a:p>
            <a:pPr algn="just"/>
            <a:r>
              <a:rPr lang="en-ZA" dirty="0"/>
              <a:t>For example, suppose 0 represents “no rain” and 1 represents “rain.” The algorithm starts with a superposition of both possible predictions and then adjusts the probability amplitudes based on relevant input data. If the computation indicates that rain is likely, the algorithm increases the probability of measuring 1.</a:t>
            </a:r>
          </a:p>
        </p:txBody>
      </p:sp>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4641748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practice, a qubit is typically measured directly along the z-axis of the Bloch sphere, that is, in the standard basis.</a:t>
            </a:r>
          </a:p>
          <a:p>
            <a:pPr algn="just"/>
            <a:endParaRPr lang="en-ZA" b="0" dirty="0"/>
          </a:p>
          <a:p>
            <a:pPr algn="just"/>
            <a:r>
              <a:rPr lang="en-ZA" b="0" dirty="0"/>
              <a:t>Mathematically, this corresponds to measuring the Pauli-Z observable. Its possible eigenvalues are +1 and -1, corresponding to the states ∣0⟩ and ∣1⟩, while the measurement result is recorded by the quantum computer as the classical bit 0 or 1. Physically, the results 0 and 1 are obtained by detecting the state of the qubit, rather than by directly reading the eigenvalues +1 and -1.</a:t>
            </a:r>
          </a:p>
          <a:p>
            <a:pPr algn="just"/>
            <a:endParaRPr lang="en-ZA" b="0" dirty="0"/>
          </a:p>
          <a:p>
            <a:pPr algn="just"/>
            <a:r>
              <a:rPr lang="en-ZA" b="0" dirty="0"/>
              <a:t>Measurement along other axes is implemented by applying an appropriate basis rotation, followed by measurement in the standard basis.</a:t>
            </a:r>
          </a:p>
        </p:txBody>
      </p:sp>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4338347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To perform useful computations, a quantum computer requires multiple qubits, which are organized into quantum registers.</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38704878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dirty="0">
                    <a:solidFill>
                      <a:schemeClr val="tx1"/>
                    </a:solidFill>
                  </a:rPr>
                  <a:t>Given two vectors,</a:t>
                </a:r>
                <a14:m>
                  <m:oMath xmlns:m="http://schemas.openxmlformats.org/officeDocument/2006/math">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𝑎</m:t>
                        </m:r>
                      </m:e>
                    </m:d>
                  </m:oMath>
                </a14:m>
                <a:r>
                  <a:rPr lang="en-ZA" sz="1200" dirty="0">
                    <a:solidFill>
                      <a:schemeClr val="tx1"/>
                    </a:solidFill>
                  </a:rPr>
                  <a:t> and </a:t>
                </a:r>
                <a14:m>
                  <m:oMath xmlns:m="http://schemas.openxmlformats.org/officeDocument/2006/math">
                    <m:d>
                      <m:dPr>
                        <m:begChr m:val="|"/>
                        <m:endChr m:val="⟩"/>
                        <m:ctrlPr>
                          <a:rPr lang="en-US" sz="1200" i="1">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𝑏</m:t>
                        </m:r>
                      </m:e>
                    </m:d>
                  </m:oMath>
                </a14:m>
                <a:r>
                  <a:rPr lang="en-ZA" sz="1200" dirty="0">
                    <a:solidFill>
                      <a:schemeClr val="tx1"/>
                    </a:solidFill>
                  </a:rPr>
                  <a:t>, the Kronecker product, denoted by </a:t>
                </a:r>
                <a14:m>
                  <m:oMath xmlns:m="http://schemas.openxmlformats.org/officeDocument/2006/math">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nary>
                      <m:naryPr>
                        <m:chr m:val="⨂"/>
                        <m:subHide m:val="on"/>
                        <m:supHide m:val="on"/>
                        <m:ctrlPr>
                          <a:rPr lang="en-US" sz="1200" i="1">
                            <a:solidFill>
                              <a:schemeClr val="tx1"/>
                            </a:solidFill>
                            <a:latin typeface="Cambria Math" panose="02040503050406030204" pitchFamily="18" charset="0"/>
                            <a:ea typeface="Cambria Math" panose="02040503050406030204" pitchFamily="18" charset="0"/>
                          </a:rPr>
                        </m:ctrlPr>
                      </m:naryPr>
                      <m:sub/>
                      <m:sup/>
                      <m:e>
                        <m:d>
                          <m:dPr>
                            <m:begChr m:val="|"/>
                            <m:endChr m:val="⟩"/>
                            <m:ctrlPr>
                              <a:rPr lang="en-US" sz="1200" i="1">
                                <a:latin typeface="Cambria Math" panose="02040503050406030204" pitchFamily="18" charset="0"/>
                              </a:rPr>
                            </m:ctrlPr>
                          </m:dPr>
                          <m:e>
                            <m:r>
                              <a:rPr lang="en-US" sz="1200" b="0" i="1">
                                <a:latin typeface="Cambria Math" panose="02040503050406030204" pitchFamily="18" charset="0"/>
                              </a:rPr>
                              <m:t>𝑏</m:t>
                            </m:r>
                          </m:e>
                        </m:d>
                      </m:e>
                    </m:nary>
                  </m:oMath>
                </a14:m>
                <a:r>
                  <a:rPr lang="en-ZA" sz="1200" dirty="0">
                    <a:solidFill>
                      <a:schemeClr val="tx1"/>
                    </a:solidFill>
                  </a:rPr>
                  <a:t>, </a:t>
                </a:r>
                <a:r>
                  <a:rPr lang="en-ZA" sz="1200" dirty="0"/>
                  <a:t>forms a new vector by multiplying each element of the first vector by the entire second vector. In quantum computing literature, the Kronecker product is also commonly referred to as the tensor product.</a:t>
                </a:r>
              </a:p>
              <a:p>
                <a:pPr algn="just"/>
                <a:endParaRPr lang="en-ZA" sz="1200" dirty="0">
                  <a:solidFill>
                    <a:schemeClr val="tx1"/>
                  </a:solidFill>
                </a:endParaRPr>
              </a:p>
              <a:p>
                <a:pPr algn="just"/>
                <a:r>
                  <a:rPr lang="en-ZA" sz="1200" dirty="0"/>
                  <a:t>The Kronecker product can also be applied to matrices.</a:t>
                </a:r>
              </a:p>
              <a:p>
                <a:pPr algn="just"/>
                <a:endParaRPr lang="en-ZA" sz="1200" dirty="0"/>
              </a:p>
              <a:p>
                <a:pPr algn="just"/>
                <a:r>
                  <a:rPr lang="en-ZA" sz="1200" dirty="0">
                    <a:solidFill>
                      <a:schemeClr val="tx1"/>
                    </a:solidFill>
                  </a:rPr>
                  <a:t>The Kronecker product increases the size of the resulting vector or matrix. For vectors with </a:t>
                </a:r>
                <a14:m>
                  <m:oMath xmlns:m="http://schemas.openxmlformats.org/officeDocument/2006/math">
                    <m:r>
                      <a:rPr lang="en-US" sz="1200" b="0" i="1" smtClean="0">
                        <a:solidFill>
                          <a:schemeClr val="tx1"/>
                        </a:solidFill>
                        <a:latin typeface="Cambria Math" panose="02040503050406030204" pitchFamily="18" charset="0"/>
                      </a:rPr>
                      <m:t>𝑚</m:t>
                    </m:r>
                  </m:oMath>
                </a14:m>
                <a:r>
                  <a:rPr lang="en-ZA" sz="1200" dirty="0">
                    <a:solidFill>
                      <a:schemeClr val="tx1"/>
                    </a:solidFill>
                  </a:rPr>
                  <a:t> and </a:t>
                </a:r>
                <a14:m>
                  <m:oMath xmlns:m="http://schemas.openxmlformats.org/officeDocument/2006/math">
                    <m:r>
                      <a:rPr lang="en-US" sz="1200" b="0" i="1" smtClean="0">
                        <a:solidFill>
                          <a:schemeClr val="tx1"/>
                        </a:solidFill>
                        <a:latin typeface="Cambria Math" panose="02040503050406030204" pitchFamily="18" charset="0"/>
                      </a:rPr>
                      <m:t>𝑛</m:t>
                    </m:r>
                  </m:oMath>
                </a14:m>
                <a:r>
                  <a:rPr lang="en-ZA" sz="1200" dirty="0">
                    <a:solidFill>
                      <a:schemeClr val="tx1"/>
                    </a:solidFill>
                  </a:rPr>
                  <a:t> elements, the result has </a:t>
                </a:r>
                <a14:m>
                  <m:oMath xmlns:m="http://schemas.openxmlformats.org/officeDocument/2006/math">
                    <m:r>
                      <a:rPr lang="en-US" sz="1200" b="0" i="1" smtClean="0">
                        <a:solidFill>
                          <a:schemeClr val="tx1"/>
                        </a:solidFill>
                        <a:latin typeface="Cambria Math" panose="02040503050406030204" pitchFamily="18" charset="0"/>
                      </a:rPr>
                      <m:t>𝑚𝑛</m:t>
                    </m:r>
                  </m:oMath>
                </a14:m>
                <a:r>
                  <a:rPr lang="en-ZA" sz="1200" dirty="0">
                    <a:solidFill>
                      <a:schemeClr val="tx1"/>
                    </a:solidFill>
                  </a:rPr>
                  <a:t> elements. </a:t>
                </a:r>
                <a:r>
                  <a:rPr lang="en-ZA" sz="1200" dirty="0"/>
                  <a:t>For example, the Kronecker product of two qubit state vectors, each with 2 elements, produces a two-qubit state vector with 2</a:t>
                </a:r>
                <a14:m>
                  <m:oMath xmlns:m="http://schemas.openxmlformats.org/officeDocument/2006/math">
                    <m:r>
                      <a:rPr lang="en-US" sz="1200" b="0" i="1">
                        <a:latin typeface="Cambria Math" panose="02040503050406030204" pitchFamily="18" charset="0"/>
                        <a:ea typeface="Cambria Math" panose="02040503050406030204" pitchFamily="18" charset="0"/>
                      </a:rPr>
                      <m:t>×2=4</m:t>
                    </m:r>
                  </m:oMath>
                </a14:m>
                <a:r>
                  <a:rPr lang="en-ZA" sz="1200" dirty="0"/>
                  <a:t> elements.</a:t>
                </a:r>
              </a:p>
              <a:p>
                <a:pPr algn="just"/>
                <a:endParaRPr lang="en-ZA" sz="500" dirty="0">
                  <a:solidFill>
                    <a:schemeClr val="tx1"/>
                  </a:solidFill>
                </a:endParaRPr>
              </a:p>
              <a:p>
                <a:pPr algn="just"/>
                <a:r>
                  <a:rPr lang="en-ZA" sz="1200" dirty="0">
                    <a:solidFill>
                      <a:schemeClr val="tx1"/>
                    </a:solidFill>
                  </a:rPr>
                  <a:t>If </a:t>
                </a:r>
                <a14:m>
                  <m:oMath xmlns:m="http://schemas.openxmlformats.org/officeDocument/2006/math">
                    <m:r>
                      <a:rPr lang="en-US" sz="1200" b="0" i="1" smtClean="0">
                        <a:solidFill>
                          <a:schemeClr val="tx1"/>
                        </a:solidFill>
                        <a:latin typeface="Cambria Math" panose="02040503050406030204" pitchFamily="18" charset="0"/>
                      </a:rPr>
                      <m:t>𝐴</m:t>
                    </m:r>
                  </m:oMath>
                </a14:m>
                <a:r>
                  <a:rPr lang="en-ZA" sz="1200" dirty="0">
                    <a:solidFill>
                      <a:schemeClr val="tx1"/>
                    </a:solidFill>
                  </a:rPr>
                  <a:t> is an </a:t>
                </a:r>
                <a14:m>
                  <m:oMath xmlns:m="http://schemas.openxmlformats.org/officeDocument/2006/math">
                    <m:r>
                      <a:rPr lang="en-US" sz="1200" b="0" i="1" smtClean="0">
                        <a:solidFill>
                          <a:schemeClr val="tx1"/>
                        </a:solidFill>
                        <a:latin typeface="Cambria Math" panose="02040503050406030204" pitchFamily="18" charset="0"/>
                      </a:rPr>
                      <m:t>𝑚</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𝑛</m:t>
                    </m:r>
                  </m:oMath>
                </a14:m>
                <a:r>
                  <a:rPr lang="en-ZA" sz="1200" dirty="0">
                    <a:solidFill>
                      <a:schemeClr val="tx1"/>
                    </a:solidFill>
                  </a:rPr>
                  <a:t> matrix and </a:t>
                </a:r>
                <a14:m>
                  <m:oMath xmlns:m="http://schemas.openxmlformats.org/officeDocument/2006/math">
                    <m:r>
                      <a:rPr lang="en-US" sz="1200" b="0" i="1">
                        <a:solidFill>
                          <a:schemeClr val="tx1"/>
                        </a:solidFill>
                        <a:latin typeface="Cambria Math" panose="02040503050406030204" pitchFamily="18" charset="0"/>
                      </a:rPr>
                      <m:t>𝐵</m:t>
                    </m:r>
                  </m:oMath>
                </a14:m>
                <a:r>
                  <a:rPr lang="en-ZA" sz="1200" dirty="0">
                    <a:solidFill>
                      <a:schemeClr val="tx1"/>
                    </a:solidFill>
                  </a:rPr>
                  <a:t> is a </a:t>
                </a:r>
                <a14:m>
                  <m:oMath xmlns:m="http://schemas.openxmlformats.org/officeDocument/2006/math">
                    <m:r>
                      <a:rPr lang="en-US" sz="1200" b="0" i="1" smtClean="0">
                        <a:solidFill>
                          <a:schemeClr val="tx1"/>
                        </a:solidFill>
                        <a:latin typeface="Cambria Math" panose="02040503050406030204" pitchFamily="18" charset="0"/>
                      </a:rPr>
                      <m:t>𝑝</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𝑞</m:t>
                    </m:r>
                  </m:oMath>
                </a14:m>
                <a:r>
                  <a:rPr lang="en-ZA" sz="1200" dirty="0">
                    <a:solidFill>
                      <a:schemeClr val="tx1"/>
                    </a:solidFill>
                  </a:rPr>
                  <a:t> matrix, then </a:t>
                </a:r>
                <a14:m>
                  <m:oMath xmlns:m="http://schemas.openxmlformats.org/officeDocument/2006/math">
                    <m:r>
                      <a:rPr lang="en-US" sz="1200" b="0" i="1">
                        <a:solidFill>
                          <a:schemeClr val="tx1"/>
                        </a:solidFill>
                        <a:latin typeface="Cambria Math" panose="02040503050406030204" pitchFamily="18" charset="0"/>
                      </a:rPr>
                      <m:t>𝐴</m:t>
                    </m:r>
                    <m:r>
                      <a:rPr lang="en-US" sz="1200" b="0" i="1">
                        <a:solidFill>
                          <a:schemeClr val="tx1"/>
                        </a:solidFill>
                        <a:latin typeface="Cambria Math" panose="02040503050406030204" pitchFamily="18" charset="0"/>
                        <a:ea typeface="Cambria Math" panose="02040503050406030204" pitchFamily="18" charset="0"/>
                      </a:rPr>
                      <m:t>⨂</m:t>
                    </m:r>
                    <m:r>
                      <a:rPr lang="en-US" sz="1200" b="0" i="1">
                        <a:solidFill>
                          <a:schemeClr val="tx1"/>
                        </a:solidFill>
                        <a:latin typeface="Cambria Math" panose="02040503050406030204" pitchFamily="18" charset="0"/>
                      </a:rPr>
                      <m:t>𝐵</m:t>
                    </m:r>
                    <m:r>
                      <a:rPr lang="en-US" sz="1200" b="0" i="1">
                        <a:solidFill>
                          <a:schemeClr val="tx1"/>
                        </a:solidFill>
                        <a:latin typeface="Cambria Math" panose="02040503050406030204" pitchFamily="18" charset="0"/>
                      </a:rPr>
                      <m:t> </m:t>
                    </m:r>
                  </m:oMath>
                </a14:m>
                <a:r>
                  <a:rPr lang="en-ZA" sz="1200" dirty="0">
                    <a:solidFill>
                      <a:schemeClr val="tx1"/>
                    </a:solidFill>
                  </a:rPr>
                  <a:t>is an </a:t>
                </a:r>
                <a14:m>
                  <m:oMath xmlns:m="http://schemas.openxmlformats.org/officeDocument/2006/math">
                    <m:r>
                      <a:rPr lang="en-US" sz="1200" b="0" i="1">
                        <a:solidFill>
                          <a:schemeClr val="tx1"/>
                        </a:solidFill>
                        <a:latin typeface="Cambria Math" panose="02040503050406030204" pitchFamily="18" charset="0"/>
                      </a:rPr>
                      <m:t>𝑚</m:t>
                    </m:r>
                    <m:r>
                      <a:rPr lang="en-US" sz="1200" b="0" i="1" smtClean="0">
                        <a:solidFill>
                          <a:schemeClr val="tx1"/>
                        </a:solidFill>
                        <a:latin typeface="Cambria Math" panose="02040503050406030204" pitchFamily="18" charset="0"/>
                      </a:rPr>
                      <m:t>𝑝</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𝑛𝑞</m:t>
                    </m:r>
                  </m:oMath>
                </a14:m>
                <a:r>
                  <a:rPr lang="en-ZA" sz="1200" dirty="0">
                    <a:solidFill>
                      <a:schemeClr val="tx1"/>
                    </a:solidFill>
                  </a:rPr>
                  <a:t> matrix.</a:t>
                </a:r>
              </a:p>
              <a:p>
                <a:pPr algn="just"/>
                <a:endParaRPr lang="en-ZA" sz="500" dirty="0">
                  <a:solidFill>
                    <a:schemeClr val="tx1"/>
                  </a:solidFill>
                </a:endParaRPr>
              </a:p>
              <a:p>
                <a:pPr marL="171450" indent="-171450" algn="just">
                  <a:buFont typeface="Arial" panose="020B0604020202020204" pitchFamily="34" charset="0"/>
                  <a:buChar char="•"/>
                </a:pPr>
                <a:r>
                  <a:rPr lang="en-ZA" sz="1200" dirty="0"/>
                  <a:t>The Kronecker product is generally not commutative, </a:t>
                </a:r>
                <a14:m>
                  <m:oMath xmlns:m="http://schemas.openxmlformats.org/officeDocument/2006/math">
                    <m:r>
                      <a:rPr lang="en-US" sz="1200" b="0" i="1">
                        <a:latin typeface="Cambria Math" panose="02040503050406030204" pitchFamily="18" charset="0"/>
                      </a:rPr>
                      <m:t>𝐴</m:t>
                    </m:r>
                    <m:r>
                      <a:rPr lang="en-US" sz="1200" b="0" i="1">
                        <a:latin typeface="Cambria Math" panose="02040503050406030204" pitchFamily="18" charset="0"/>
                        <a:ea typeface="Cambria Math" panose="02040503050406030204" pitchFamily="18" charset="0"/>
                      </a:rPr>
                      <m:t>⨂</m:t>
                    </m:r>
                    <m:r>
                      <a:rPr lang="en-US" sz="1200" b="0" i="1">
                        <a:latin typeface="Cambria Math" panose="02040503050406030204" pitchFamily="18" charset="0"/>
                      </a:rPr>
                      <m:t>𝐵</m:t>
                    </m:r>
                    <m:r>
                      <a:rPr lang="en-US" sz="1200" b="0" i="1">
                        <a:latin typeface="Cambria Math" panose="02040503050406030204" pitchFamily="18" charset="0"/>
                        <a:ea typeface="Cambria Math" panose="02040503050406030204" pitchFamily="18" charset="0"/>
                      </a:rPr>
                      <m:t>≠</m:t>
                    </m:r>
                    <m:r>
                      <a:rPr lang="en-US" sz="1200" b="0" i="1">
                        <a:latin typeface="Cambria Math" panose="02040503050406030204" pitchFamily="18" charset="0"/>
                        <a:ea typeface="Cambria Math" panose="02040503050406030204" pitchFamily="18" charset="0"/>
                      </a:rPr>
                      <m:t>𝐵</m:t>
                    </m:r>
                    <m:r>
                      <a:rPr lang="en-US" sz="1200" b="0" i="1">
                        <a:latin typeface="Cambria Math" panose="02040503050406030204" pitchFamily="18" charset="0"/>
                        <a:ea typeface="Cambria Math" panose="02040503050406030204" pitchFamily="18" charset="0"/>
                      </a:rPr>
                      <m:t>⨂</m:t>
                    </m:r>
                    <m:r>
                      <a:rPr lang="en-US" sz="1200" b="0" i="1">
                        <a:latin typeface="Cambria Math" panose="02040503050406030204" pitchFamily="18" charset="0"/>
                        <a:ea typeface="Cambria Math" panose="02040503050406030204" pitchFamily="18" charset="0"/>
                      </a:rPr>
                      <m:t>𝐴</m:t>
                    </m:r>
                  </m:oMath>
                </a14:m>
                <a:r>
                  <a:rPr lang="en-ZA" sz="1200" dirty="0"/>
                  <a:t>.</a:t>
                </a:r>
                <a:endParaRPr lang="en-ZA" sz="1200" dirty="0">
                  <a:solidFill>
                    <a:schemeClr val="tx1"/>
                  </a:solidFill>
                </a:endParaRPr>
              </a:p>
              <a:p>
                <a:pPr marL="171450" indent="-171450" algn="just">
                  <a:buFont typeface="Arial" panose="020B0604020202020204" pitchFamily="34" charset="0"/>
                  <a:buChar char="•"/>
                </a:pPr>
                <a:r>
                  <a:rPr lang="en-ZA" sz="1200" dirty="0">
                    <a:solidFill>
                      <a:schemeClr val="tx1"/>
                    </a:solidFill>
                  </a:rPr>
                  <a:t>In ket notation, the Kronecker product symbol is usually omitted. For example,</a:t>
                </a:r>
                <a:endParaRPr lang="en-ZA" sz="500" dirty="0">
                  <a:solidFill>
                    <a:schemeClr val="tx1"/>
                  </a:solidFill>
                </a:endParaRPr>
              </a:p>
              <a:p>
                <a:pPr algn="just"/>
                <a:endParaRPr lang="en-ZA" sz="500" dirty="0">
                  <a:solidFill>
                    <a:schemeClr val="tx1"/>
                  </a:solidFill>
                </a:endParaRPr>
              </a:p>
              <a:p>
                <a:pPr algn="just"/>
                <a14:m>
                  <m:oMathPara xmlns:m="http://schemas.openxmlformats.org/officeDocument/2006/math">
                    <m:oMathParaPr>
                      <m:jc m:val="centerGroup"/>
                    </m:oMathParaPr>
                    <m:oMath xmlns:m="http://schemas.openxmlformats.org/officeDocument/2006/math">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0</m:t>
                          </m:r>
                        </m:e>
                      </m:d>
                      <m:d>
                        <m:dPr>
                          <m:begChr m:val="|"/>
                          <m:endChr m:val="⟩"/>
                          <m:ctrlPr>
                            <a:rPr lang="en-US" sz="1200" i="1">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1</m:t>
                          </m:r>
                        </m:e>
                      </m:d>
                      <m:r>
                        <a:rPr lang="en-US" sz="1200" b="0" i="1" smtClean="0">
                          <a:solidFill>
                            <a:schemeClr val="tx1"/>
                          </a:solidFill>
                          <a:latin typeface="Cambria Math" panose="02040503050406030204" pitchFamily="18" charset="0"/>
                        </a:rPr>
                        <m:t>=</m:t>
                      </m:r>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0</m:t>
                          </m:r>
                        </m:e>
                      </m:d>
                      <m:r>
                        <a:rPr lang="en-US" sz="1200" b="0" i="1">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1</m:t>
                          </m:r>
                        </m:e>
                      </m:d>
                      <m:r>
                        <a:rPr lang="en-US" sz="1200" b="0" i="1" smtClean="0">
                          <a:solidFill>
                            <a:schemeClr val="tx1"/>
                          </a:solidFill>
                          <a:latin typeface="Cambria Math" panose="02040503050406030204" pitchFamily="18" charset="0"/>
                        </a:rPr>
                        <m:t>=</m:t>
                      </m:r>
                      <m:d>
                        <m:dPr>
                          <m:begChr m:val="|"/>
                          <m:endChr m:val="⟩"/>
                          <m:ctrlPr>
                            <a:rPr lang="en-US" sz="1200" i="1">
                              <a:solidFill>
                                <a:schemeClr val="tx1"/>
                              </a:solidFill>
                              <a:latin typeface="Cambria Math" panose="02040503050406030204" pitchFamily="18" charset="0"/>
                            </a:rPr>
                          </m:ctrlPr>
                        </m:dPr>
                        <m:e>
                          <m:r>
                            <a:rPr lang="en-US" sz="1200" b="0" i="1">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rPr>
                            <m:t>1</m:t>
                          </m:r>
                        </m:e>
                      </m:d>
                    </m:oMath>
                  </m:oMathPara>
                </a14:m>
                <a:endParaRPr lang="en-ZA" sz="1200" dirty="0">
                  <a:solidFill>
                    <a:schemeClr val="tx1"/>
                  </a:solidFill>
                </a:endParaRPr>
              </a:p>
              <a:p>
                <a:pPr algn="just"/>
                <a:endParaRPr lang="en-ZA" sz="1200" dirty="0">
                  <a:solidFill>
                    <a:schemeClr val="tx1"/>
                  </a:solidFill>
                </a:endParaRPr>
              </a:p>
            </p:txBody>
          </p:sp>
        </mc:Choice>
        <mc:Fallback xmlns="">
          <p:sp>
            <p:nvSpPr>
              <p:cNvPr id="3" name="Notes Placeholder 2"/>
              <p:cNvSpPr>
                <a:spLocks noGrp="1"/>
              </p:cNvSpPr>
              <p:nvPr>
                <p:ph type="body" idx="1"/>
              </p:nvPr>
            </p:nvSpPr>
            <p:spPr/>
            <p:txBody>
              <a:bodyPr/>
              <a:lstStyle/>
              <a:p>
                <a:r>
                  <a:rPr lang="en-ZA" b="0" dirty="0"/>
                  <a:t>Given two matrices, A and B, the Kronecker product is an operation that forms a new matrix by multiplying each element of the first matrix by the entire second matrix. In quantum computing literature, this operation is often also referred to as the tensor product.</a:t>
                </a:r>
              </a:p>
              <a:p>
                <a:endParaRPr lang="en-ZA" b="0" dirty="0"/>
              </a:p>
              <a:p>
                <a:pPr marL="171450" indent="-171450">
                  <a:buFont typeface="Arial" panose="020B0604020202020204" pitchFamily="34" charset="0"/>
                  <a:buChar char="•"/>
                </a:pPr>
                <a:r>
                  <a:rPr lang="en-ZA" b="0" dirty="0"/>
                  <a:t>For example, we can take the Kronecker product of two vectors: each element of the first vector is multiplied by the entire second vector.</a:t>
                </a:r>
              </a:p>
              <a:p>
                <a:pPr marL="171450" indent="-171450">
                  <a:buFont typeface="Arial" panose="020B0604020202020204" pitchFamily="34" charset="0"/>
                  <a:buChar char="•"/>
                </a:pPr>
                <a:r>
                  <a:rPr lang="en-ZA" b="0" dirty="0"/>
                  <a:t>A vector and a matrix can be combined in the same way: each element of the vector is multiplied by the entire matrix.</a:t>
                </a:r>
              </a:p>
              <a:p>
                <a:pPr marL="171450" indent="-171450">
                  <a:buFont typeface="Arial" panose="020B0604020202020204" pitchFamily="34" charset="0"/>
                  <a:buChar char="•"/>
                </a:pPr>
                <a:r>
                  <a:rPr lang="en-ZA" b="0" dirty="0"/>
                  <a:t>Similarly, we can find the Kronecker product of two matrices, where each element of the first matrix is multiplied by the entire second matrix.</a:t>
                </a:r>
              </a:p>
              <a:p>
                <a:pPr marL="171450" indent="-171450">
                  <a:buFont typeface="Arial" panose="020B0604020202020204" pitchFamily="34" charset="0"/>
                  <a:buChar char="•"/>
                </a:pPr>
                <a:endParaRPr lang="en-ZA" b="0" dirty="0"/>
              </a:p>
              <a:p>
                <a:r>
                  <a:rPr lang="en-ZA" b="0" dirty="0"/>
                  <a:t>We can notice that the Kronecker product increases the size of the resulting vector or matrix.</a:t>
                </a:r>
              </a:p>
              <a:p>
                <a:pPr marL="171450" indent="-171450">
                  <a:buFont typeface="Arial" panose="020B0604020202020204" pitchFamily="34" charset="0"/>
                  <a:buChar char="•"/>
                </a:pPr>
                <a:r>
                  <a:rPr lang="en-ZA" b="0" dirty="0"/>
                  <a:t>If the first vector has </a:t>
                </a:r>
                <a:r>
                  <a:rPr lang="en-US" sz="1200" b="0" i="0">
                    <a:latin typeface="Cambria Math" panose="02040503050406030204" pitchFamily="18" charset="0"/>
                  </a:rPr>
                  <a:t>𝑚</a:t>
                </a:r>
                <a:r>
                  <a:rPr lang="en-ZA" b="0" dirty="0"/>
                  <a:t> elements and the second has </a:t>
                </a:r>
                <a:r>
                  <a:rPr lang="en-US" sz="1200" b="0" i="0">
                    <a:latin typeface="Cambria Math" panose="02040503050406030204" pitchFamily="18" charset="0"/>
                  </a:rPr>
                  <a:t>𝑛</a:t>
                </a:r>
                <a:r>
                  <a:rPr lang="en-ZA" b="0" dirty="0"/>
                  <a:t> elements, their Kronecker product has</a:t>
                </a:r>
                <a:r>
                  <a:rPr lang="en-ZA" b="0" baseline="0" dirty="0"/>
                  <a:t> </a:t>
                </a:r>
                <a:r>
                  <a:rPr lang="en-US" sz="1200" b="0" i="0">
                    <a:latin typeface="Cambria Math" panose="02040503050406030204" pitchFamily="18" charset="0"/>
                  </a:rPr>
                  <a:t>𝑚𝑛</a:t>
                </a:r>
                <a:r>
                  <a:rPr lang="en-ZA" b="0" dirty="0"/>
                  <a:t> elements.</a:t>
                </a:r>
              </a:p>
              <a:p>
                <a:pPr marL="171450" indent="-171450">
                  <a:buFont typeface="Arial" panose="020B0604020202020204" pitchFamily="34" charset="0"/>
                  <a:buChar char="•"/>
                </a:pPr>
                <a:r>
                  <a:rPr lang="en-ZA" b="0" dirty="0"/>
                  <a:t>Similarly, if </a:t>
                </a:r>
                <a:r>
                  <a:rPr lang="en-US" sz="1200" b="0" i="0">
                    <a:latin typeface="Cambria Math" panose="02040503050406030204" pitchFamily="18" charset="0"/>
                  </a:rPr>
                  <a:t>𝐴</a:t>
                </a:r>
                <a:r>
                  <a:rPr lang="en-ZA" b="0" dirty="0"/>
                  <a:t> is an </a:t>
                </a:r>
                <a:r>
                  <a:rPr lang="en-US" sz="1200" b="0" i="0">
                    <a:latin typeface="Cambria Math" panose="02040503050406030204" pitchFamily="18" charset="0"/>
                  </a:rPr>
                  <a:t>𝑚</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𝑛</a:t>
                </a:r>
                <a:r>
                  <a:rPr lang="en-ZA" b="0" dirty="0"/>
                  <a:t> matrix and </a:t>
                </a:r>
                <a:r>
                  <a:rPr lang="en-US" sz="1200" b="0" i="0">
                    <a:latin typeface="Cambria Math" panose="02040503050406030204" pitchFamily="18" charset="0"/>
                  </a:rPr>
                  <a:t>𝐵</a:t>
                </a:r>
                <a:r>
                  <a:rPr lang="en-ZA" b="0" dirty="0"/>
                  <a:t> is a </a:t>
                </a:r>
                <a:r>
                  <a:rPr lang="en-ZA" b="0" i="1" dirty="0"/>
                  <a:t>p</a:t>
                </a:r>
                <a:r>
                  <a:rPr lang="en-US" sz="1200" b="0" i="0">
                    <a:latin typeface="Cambria Math" panose="02040503050406030204" pitchFamily="18" charset="0"/>
                    <a:ea typeface="Cambria Math" panose="02040503050406030204" pitchFamily="18" charset="0"/>
                  </a:rPr>
                  <a:t>×𝑞</a:t>
                </a:r>
                <a:r>
                  <a:rPr lang="en-ZA" b="0" dirty="0"/>
                  <a:t> matrix, then </a:t>
                </a:r>
                <a:r>
                  <a:rPr lang="en-US" sz="1200" b="0" i="0">
                    <a:latin typeface="Cambria Math" panose="02040503050406030204" pitchFamily="18" charset="0"/>
                  </a:rPr>
                  <a:t>𝐴</a:t>
                </a:r>
                <a:r>
                  <a:rPr lang="sr-Latn-RS" sz="1200" i="0">
                    <a:latin typeface="Cambria Math" panose="02040503050406030204" pitchFamily="18" charset="0"/>
                  </a:rPr>
                  <a:t>⊗</a:t>
                </a:r>
                <a:r>
                  <a:rPr lang="en-US" sz="1200" b="0" i="0">
                    <a:latin typeface="Cambria Math" panose="02040503050406030204" pitchFamily="18" charset="0"/>
                  </a:rPr>
                  <a:t>𝐵</a:t>
                </a:r>
                <a:r>
                  <a:rPr lang="en-ZA" b="0" i="1" dirty="0"/>
                  <a:t> </a:t>
                </a:r>
                <a:r>
                  <a:rPr lang="en-ZA" b="0" dirty="0"/>
                  <a:t>is an </a:t>
                </a:r>
                <a:r>
                  <a:rPr lang="en-US" sz="1200" b="0" i="0">
                    <a:latin typeface="Cambria Math" panose="02040503050406030204" pitchFamily="18" charset="0"/>
                  </a:rPr>
                  <a:t>𝑚𝑛</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𝑝𝑞</a:t>
                </a:r>
                <a:r>
                  <a:rPr lang="en-ZA" b="0" dirty="0"/>
                  <a:t> matrix.</a:t>
                </a:r>
              </a:p>
              <a:p>
                <a:pPr marL="171450" indent="-171450">
                  <a:buFont typeface="Arial" panose="020B0604020202020204" pitchFamily="34" charset="0"/>
                  <a:buChar char="•"/>
                </a:pPr>
                <a:endParaRPr lang="en-ZA" b="0" dirty="0"/>
              </a:p>
              <a:p>
                <a:pPr algn="just"/>
                <a:r>
                  <a:rPr lang="en-ZA" b="0" dirty="0"/>
                  <a:t>This increase in dimension is particularly important in quantum computing. A single qubit is represented by a vector with 2 elements. Taking the Kronecker product of two qubit vectors produces a vector with </a:t>
                </a:r>
                <a:r>
                  <a:rPr lang="en-US" sz="1200" b="0" i="0">
                    <a:latin typeface="Cambria Math" panose="02040503050406030204" pitchFamily="18" charset="0"/>
                    <a:ea typeface="Cambria Math" panose="02040503050406030204" pitchFamily="18" charset="0"/>
                  </a:rPr>
                  <a:t>2×2=4</a:t>
                </a:r>
                <a:r>
                  <a:rPr lang="en-ZA" b="0" dirty="0"/>
                  <a:t> elements. For three qubits, the resulting vector has</a:t>
                </a:r>
                <a:r>
                  <a:rPr lang="en-ZA" b="0" baseline="0" dirty="0"/>
                  <a:t> </a:t>
                </a:r>
                <a:r>
                  <a:rPr lang="en-US" sz="1200" b="0" i="0">
                    <a:latin typeface="Cambria Math" panose="02040503050406030204" pitchFamily="18" charset="0"/>
                    <a:ea typeface="Cambria Math" panose="02040503050406030204" pitchFamily="18" charset="0"/>
                  </a:rPr>
                  <a:t>2×2×2=8</a:t>
                </a:r>
                <a:r>
                  <a:rPr lang="en-ZA" b="0" dirty="0"/>
                  <a:t> elements. In general, the state of </a:t>
                </a:r>
                <a:r>
                  <a:rPr lang="en-US" sz="1200" b="0" i="0">
                    <a:latin typeface="Cambria Math" panose="02040503050406030204" pitchFamily="18" charset="0"/>
                    <a:ea typeface="Cambria Math" panose="02040503050406030204" pitchFamily="18" charset="0"/>
                  </a:rPr>
                  <a:t>𝑁</a:t>
                </a:r>
                <a:r>
                  <a:rPr lang="en-ZA" b="0" dirty="0"/>
                  <a:t> qubits is represented by a vector with </a:t>
                </a:r>
                <a:r>
                  <a:rPr lang="en-US" sz="1200" b="0" i="0">
                    <a:latin typeface="Cambria Math" panose="02040503050406030204" pitchFamily="18" charset="0"/>
                    <a:ea typeface="Cambria Math" panose="02040503050406030204" pitchFamily="18" charset="0"/>
                  </a:rPr>
                  <a:t>2^𝑁</a:t>
                </a:r>
                <a:r>
                  <a:rPr lang="en-ZA" b="0" dirty="0"/>
                  <a:t> elements.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37402692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Consider a quantum register consisting of two qubits, represented by the state vectors</a:t>
                </a:r>
                <a:r>
                  <a:rPr lang="en-ZA" b="0" dirty="0"/>
                  <a:t> |S₁⟩ and |S₂⟩. </a:t>
                </a:r>
              </a:p>
              <a:p>
                <a:pPr algn="just"/>
                <a:endParaRPr lang="en-ZA" b="0" dirty="0"/>
              </a:p>
              <a:p>
                <a:pPr marL="171450" indent="-171450">
                  <a:buFont typeface="Arial" panose="020B0604020202020204" pitchFamily="34" charset="0"/>
                  <a:buChar char="•"/>
                </a:pPr>
                <a:r>
                  <a:rPr lang="en-ZA" dirty="0"/>
                  <a:t>Unlike classical bits, which can be described individually, multiple qubits are described by a single </a:t>
                </a:r>
                <a:r>
                  <a:rPr lang="en-ZA" b="1" dirty="0"/>
                  <a:t>joint quantum state</a:t>
                </a:r>
                <a:r>
                  <a:rPr lang="en-ZA" dirty="0"/>
                  <a:t>. To obtain the joint state of two qubits, we combine their state vectors by taking their Kronecker product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𝑆</m:t>
                        </m:r>
                        <m:r>
                          <a:rPr lang="en-US" sz="1200" i="1" baseline="-25000">
                            <a:latin typeface="Cambria Math" panose="02040503050406030204" pitchFamily="18" charset="0"/>
                            <a:ea typeface="Cambria Math" panose="02040503050406030204" pitchFamily="18" charset="0"/>
                          </a:rPr>
                          <m:t>1</m:t>
                        </m:r>
                      </m:e>
                    </m:d>
                  </m:oMath>
                </a14:m>
                <a:r>
                  <a:rPr lang="sr-Latn-RS" sz="1200" dirty="0"/>
                  <a:t> </a:t>
                </a:r>
                <a14:m>
                  <m:oMath xmlns:m="http://schemas.openxmlformats.org/officeDocument/2006/math">
                    <m:r>
                      <a:rPr lang="sr-Latn-RS" sz="1200">
                        <a:latin typeface="Cambria Math" panose="02040503050406030204" pitchFamily="18" charset="0"/>
                      </a:rPr>
                      <m:t>⊗</m:t>
                    </m:r>
                  </m:oMath>
                </a14:m>
                <a:r>
                  <a:rPr lang="en-US" sz="1200" i="1"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𝑆</m:t>
                        </m:r>
                        <m:r>
                          <a:rPr lang="en-US" sz="1200" i="1" baseline="-25000">
                            <a:latin typeface="Cambria Math" panose="02040503050406030204" pitchFamily="18" charset="0"/>
                            <a:ea typeface="Cambria Math" panose="02040503050406030204" pitchFamily="18" charset="0"/>
                          </a:rPr>
                          <m:t>2</m:t>
                        </m:r>
                      </m:e>
                    </m:d>
                  </m:oMath>
                </a14:m>
                <a:r>
                  <a:rPr lang="en-ZA" b="0" dirty="0"/>
                  <a:t>. </a:t>
                </a:r>
                <a:r>
                  <a:rPr lang="en-ZA" dirty="0"/>
                  <a:t>The result shows that the two-dimensional state space of each qubit is combined into a </a:t>
                </a:r>
                <a:r>
                  <a:rPr lang="en-ZA" b="1" dirty="0"/>
                  <a:t>four-dimensional state space</a:t>
                </a:r>
                <a:r>
                  <a:rPr lang="en-ZA" dirty="0"/>
                  <a:t> for the two-qubit register.</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Since ket vectors are shorthand notation for column vectors, the same result can be obtained by multiplying the </a:t>
                </a:r>
                <a:r>
                  <a:rPr lang="en-ZA" dirty="0" err="1"/>
                  <a:t>kets</a:t>
                </a:r>
                <a:r>
                  <a:rPr lang="en-ZA" dirty="0"/>
                  <a:t> algebraically using the ket product.</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When the two qubits are measured, the state of the register collapses to one of the computational basis states</a:t>
                </a:r>
                <a:r>
                  <a:rPr lang="en-ZA" b="0" dirty="0"/>
                  <a:t>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0</m:t>
                        </m:r>
                      </m:e>
                    </m:d>
                  </m:oMath>
                </a14:m>
                <a:r>
                  <a:rPr lang="en-ZA" b="0" dirty="0"/>
                  <a:t>,</a:t>
                </a:r>
                <a:r>
                  <a:rPr lang="en-US" sz="1200" dirty="0">
                    <a:ea typeface="Cambria Math" panose="02040503050406030204" pitchFamily="18" charset="0"/>
                  </a:rPr>
                  <a:t> </a:t>
                </a:r>
                <a14:m>
                  <m:oMath xmlns:m="http://schemas.openxmlformats.org/officeDocument/2006/math">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1</m:t>
                        </m:r>
                      </m:e>
                    </m:d>
                  </m:oMath>
                </a14:m>
                <a:r>
                  <a:rPr lang="en-ZA" b="0" dirty="0"/>
                  <a:t>,</a:t>
                </a:r>
                <a:r>
                  <a:rPr lang="en-US" sz="1200" dirty="0">
                    <a:ea typeface="Cambria Math" panose="02040503050406030204" pitchFamily="18" charset="0"/>
                  </a:rPr>
                  <a:t> </a:t>
                </a:r>
                <a14:m>
                  <m:oMath xmlns:m="http://schemas.openxmlformats.org/officeDocument/2006/math">
                    <m:d>
                      <m:dPr>
                        <m:begChr m:val="|"/>
                        <m:endChr m:val="⟩"/>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10</m:t>
                        </m:r>
                      </m:e>
                    </m:d>
                  </m:oMath>
                </a14:m>
                <a:r>
                  <a:rPr lang="en-ZA" b="0" dirty="0"/>
                  <a:t> or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11</m:t>
                        </m:r>
                      </m:e>
                    </m:d>
                  </m:oMath>
                </a14:m>
                <a:r>
                  <a:rPr lang="en-ZA" b="0" dirty="0"/>
                  <a:t>, </a:t>
                </a:r>
                <a:r>
                  <a:rPr lang="en-ZA" dirty="0"/>
                  <a:t>producing a two-bit outcome. According to the Born rule, the probability of each outcome is equal to the squared magnitude of its corresponding probability amplitude.</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Importantly, the </a:t>
                </a:r>
                <a:r>
                  <a:rPr lang="en-ZA" b="1" dirty="0"/>
                  <a:t>normalization rule now applies to the joint state</a:t>
                </a:r>
                <a:r>
                  <a:rPr lang="en-ZA" dirty="0"/>
                  <a:t>, meaning that the sum of the squared magnitudes of all probability amplitudes must equal 1.</a:t>
                </a:r>
                <a:endParaRPr lang="en-ZA" b="0" dirty="0"/>
              </a:p>
            </p:txBody>
          </p:sp>
        </mc:Choice>
        <mc:Fallback xmlns="">
          <p:sp>
            <p:nvSpPr>
              <p:cNvPr id="3" name="Notes Placeholder 2"/>
              <p:cNvSpPr>
                <a:spLocks noGrp="1"/>
              </p:cNvSpPr>
              <p:nvPr>
                <p:ph type="body" idx="1"/>
              </p:nvPr>
            </p:nvSpPr>
            <p:spPr/>
            <p:txBody>
              <a:bodyPr/>
              <a:lstStyle/>
              <a:p>
                <a:r>
                  <a:rPr lang="en-US" sz="2000" dirty="0"/>
                  <a:t>Takodje </a:t>
                </a:r>
                <a:r>
                  <a:rPr lang="en-US" sz="2000" dirty="0" err="1"/>
                  <a:t>za</a:t>
                </a:r>
                <a:r>
                  <a:rPr lang="en-US" sz="2000" dirty="0"/>
                  <a:t> </a:t>
                </a:r>
                <a:r>
                  <a:rPr lang="en-US" sz="2000" dirty="0" err="1"/>
                  <a:t>razliku</a:t>
                </a:r>
                <a:r>
                  <a:rPr lang="en-US" sz="2000" dirty="0"/>
                  <a:t> od </a:t>
                </a:r>
                <a:r>
                  <a:rPr lang="en-US" sz="2000" dirty="0" err="1"/>
                  <a:t>klasicnih</a:t>
                </a:r>
                <a:r>
                  <a:rPr lang="en-US" sz="2000" dirty="0"/>
                  <a:t> </a:t>
                </a:r>
                <a:r>
                  <a:rPr lang="en-US" sz="2000" dirty="0" err="1"/>
                  <a:t>racunara</a:t>
                </a:r>
                <a:r>
                  <a:rPr lang="en-US" sz="2000" dirty="0"/>
                  <a:t>, </a:t>
                </a:r>
                <a:r>
                  <a:rPr lang="en-US" sz="2000" dirty="0" err="1"/>
                  <a:t>kubiti</a:t>
                </a:r>
                <a:r>
                  <a:rPr lang="en-US" sz="2000" dirty="0"/>
                  <a:t> </a:t>
                </a:r>
                <a:r>
                  <a:rPr lang="en-US" sz="2000" dirty="0" err="1"/>
                  <a:t>nisu</a:t>
                </a:r>
                <a:r>
                  <a:rPr lang="en-US" sz="2000" dirty="0"/>
                  <a:t> </a:t>
                </a:r>
                <a:r>
                  <a:rPr lang="en-US" sz="2000" dirty="0" err="1"/>
                  <a:t>nezavisni</a:t>
                </a:r>
                <a:r>
                  <a:rPr lang="en-US" sz="2000" dirty="0"/>
                  <a:t> </a:t>
                </a:r>
                <a:r>
                  <a:rPr lang="en-US" sz="2000" dirty="0" err="1"/>
                  <a:t>objekti</a:t>
                </a:r>
                <a:r>
                  <a:rPr lang="en-US" sz="2000" dirty="0"/>
                  <a:t> </a:t>
                </a:r>
                <a:r>
                  <a:rPr lang="en-US" sz="2000" dirty="0" err="1"/>
                  <a:t>vec</a:t>
                </a:r>
                <a:r>
                  <a:rPr lang="en-US" sz="2000" dirty="0"/>
                  <a:t> </a:t>
                </a:r>
                <a:r>
                  <a:rPr lang="en-US" sz="2000" dirty="0" err="1"/>
                  <a:t>dolazi</a:t>
                </a:r>
                <a:r>
                  <a:rPr lang="en-US" sz="2000" dirty="0"/>
                  <a:t> do </a:t>
                </a:r>
                <a:r>
                  <a:rPr lang="en-US" sz="2000" dirty="0" err="1"/>
                  <a:t>interferencije</a:t>
                </a:r>
                <a:r>
                  <a:rPr lang="en-US" sz="2000" dirty="0"/>
                  <a:t> </a:t>
                </a:r>
                <a:r>
                  <a:rPr lang="en-US" sz="2000" dirty="0" err="1"/>
                  <a:t>ili</a:t>
                </a:r>
                <a:r>
                  <a:rPr lang="en-US" sz="2000" dirty="0"/>
                  <a:t> </a:t>
                </a:r>
                <a:r>
                  <a:rPr lang="en-US" sz="2000" dirty="0" err="1"/>
                  <a:t>slaganja</a:t>
                </a:r>
                <a:r>
                  <a:rPr lang="en-US" sz="2000" dirty="0"/>
                  <a:t> </a:t>
                </a:r>
                <a:r>
                  <a:rPr lang="en-US" sz="2000" dirty="0" err="1"/>
                  <a:t>amplituda</a:t>
                </a:r>
                <a:r>
                  <a:rPr lang="en-US" sz="2000" dirty="0"/>
                  <a:t> </a:t>
                </a:r>
                <a:r>
                  <a:rPr lang="en-US" sz="2000" dirty="0" err="1"/>
                  <a:t>verovatnoca</a:t>
                </a:r>
                <a:r>
                  <a:rPr lang="en-US" sz="2000" dirty="0"/>
                  <a:t>. </a:t>
                </a:r>
                <a:r>
                  <a:rPr lang="en-US" sz="2000" dirty="0" err="1"/>
                  <a:t>Kombinovano</a:t>
                </a:r>
                <a:r>
                  <a:rPr lang="en-US" sz="2000" dirty="0"/>
                  <a:t> </a:t>
                </a:r>
                <a:r>
                  <a:rPr lang="en-US" sz="2000" dirty="0" err="1"/>
                  <a:t>stanje</a:t>
                </a:r>
                <a:r>
                  <a:rPr lang="en-US" sz="2000" dirty="0"/>
                  <a:t> </a:t>
                </a:r>
                <a:r>
                  <a:rPr lang="en-US" sz="2000" dirty="0" err="1"/>
                  <a:t>kubita</a:t>
                </a:r>
                <a:r>
                  <a:rPr lang="en-US" sz="2000" dirty="0"/>
                  <a:t> </a:t>
                </a:r>
                <a:r>
                  <a:rPr lang="en-US" sz="2000" dirty="0" err="1"/>
                  <a:t>racuna</a:t>
                </a:r>
                <a:r>
                  <a:rPr lang="en-US" sz="2000" dirty="0"/>
                  <a:t> se </a:t>
                </a:r>
                <a:r>
                  <a:rPr lang="en-US" sz="2000" dirty="0" err="1"/>
                  <a:t>preko</a:t>
                </a:r>
                <a:r>
                  <a:rPr lang="en-US" sz="2000" dirty="0"/>
                  <a:t> </a:t>
                </a:r>
                <a:r>
                  <a:rPr lang="en-US" sz="2000" dirty="0" err="1"/>
                  <a:t>Kronekorovog</a:t>
                </a:r>
                <a:r>
                  <a:rPr lang="en-US" sz="2000" dirty="0"/>
                  <a:t> </a:t>
                </a:r>
                <a:r>
                  <a:rPr lang="en-US" sz="2000" dirty="0" err="1"/>
                  <a:t>proizvoda</a:t>
                </a:r>
                <a:r>
                  <a:rPr lang="en-US" sz="2000" dirty="0"/>
                  <a:t> u </a:t>
                </a:r>
                <a:r>
                  <a:rPr lang="en-US" sz="2000" dirty="0" err="1"/>
                  <a:t>matricnoj</a:t>
                </a:r>
                <a:r>
                  <a:rPr lang="en-US" sz="2000" dirty="0"/>
                  <a:t> </a:t>
                </a:r>
                <a:r>
                  <a:rPr lang="en-US" sz="2000" dirty="0" err="1"/>
                  <a:t>ili</a:t>
                </a:r>
                <a:r>
                  <a:rPr lang="en-US" sz="2000" dirty="0"/>
                  <a:t> u </a:t>
                </a:r>
                <a:r>
                  <a:rPr lang="en-US" sz="2000" dirty="0" err="1"/>
                  <a:t>ket</a:t>
                </a:r>
                <a:r>
                  <a:rPr lang="en-US" sz="2000" dirty="0"/>
                  <a:t> </a:t>
                </a:r>
                <a:r>
                  <a:rPr lang="en-US" sz="2000" dirty="0" err="1"/>
                  <a:t>formi</a:t>
                </a:r>
                <a:r>
                  <a:rPr lang="en-US" sz="2000" dirty="0"/>
                  <a:t>. U </a:t>
                </a:r>
                <a:r>
                  <a:rPr lang="en-US" sz="2000" dirty="0" err="1"/>
                  <a:t>ket</a:t>
                </a:r>
                <a:r>
                  <a:rPr lang="en-US" sz="2000" dirty="0"/>
                  <a:t> </a:t>
                </a:r>
                <a:r>
                  <a:rPr lang="en-US" sz="2000" dirty="0" err="1"/>
                  <a:t>formi</a:t>
                </a:r>
                <a:r>
                  <a:rPr lang="en-US" sz="2000" dirty="0"/>
                  <a:t> </a:t>
                </a:r>
                <a:r>
                  <a:rPr lang="en-US" sz="2000" dirty="0" err="1"/>
                  <a:t>ovaj</a:t>
                </a:r>
                <a:r>
                  <a:rPr lang="en-US" sz="2000" dirty="0"/>
                  <a:t> </a:t>
                </a:r>
                <a:r>
                  <a:rPr lang="en-US" sz="2000" dirty="0" err="1"/>
                  <a:t>proizvod</a:t>
                </a:r>
                <a:r>
                  <a:rPr lang="en-US" sz="2000" dirty="0"/>
                  <a:t> se </a:t>
                </a:r>
                <a:r>
                  <a:rPr lang="en-US" sz="2000" dirty="0" err="1"/>
                  <a:t>svodi</a:t>
                </a:r>
                <a:r>
                  <a:rPr lang="en-US" sz="2000" dirty="0"/>
                  <a:t> </a:t>
                </a:r>
                <a:r>
                  <a:rPr lang="en-US" sz="2000" dirty="0" err="1"/>
                  <a:t>na</a:t>
                </a:r>
                <a:r>
                  <a:rPr lang="en-US" sz="2000" dirty="0"/>
                  <a:t> </a:t>
                </a:r>
                <a:r>
                  <a:rPr lang="en-US" sz="2000" dirty="0" err="1"/>
                  <a:t>standardno</a:t>
                </a:r>
                <a:r>
                  <a:rPr lang="en-US" sz="2000" dirty="0"/>
                  <a:t> </a:t>
                </a:r>
                <a:r>
                  <a:rPr lang="en-US" sz="2000" dirty="0" err="1"/>
                  <a:t>mnozenje</a:t>
                </a:r>
                <a:r>
                  <a:rPr lang="en-US" sz="2000" dirty="0"/>
                  <a:t> </a:t>
                </a:r>
                <a:r>
                  <a:rPr lang="en-US" sz="2000" dirty="0" err="1"/>
                  <a:t>vektora</a:t>
                </a:r>
                <a:r>
                  <a:rPr lang="en-US" sz="2000" dirty="0"/>
                  <a:t> </a:t>
                </a:r>
                <a:r>
                  <a:rPr lang="en-US" sz="2000" dirty="0" err="1"/>
                  <a:t>stanja</a:t>
                </a:r>
                <a:r>
                  <a:rPr lang="en-US" sz="2000" dirty="0"/>
                  <a:t>  u </a:t>
                </a:r>
                <a:r>
                  <a:rPr lang="en-US" sz="2000" dirty="0" err="1"/>
                  <a:t>linearnom</a:t>
                </a:r>
                <a:r>
                  <a:rPr lang="en-US" sz="2000" dirty="0"/>
                  <a:t> </a:t>
                </a:r>
                <a:r>
                  <a:rPr lang="en-US" sz="2000" dirty="0" err="1"/>
                  <a:t>obliku</a:t>
                </a:r>
                <a:r>
                  <a:rPr lang="en-US" sz="2000" dirty="0"/>
                  <a:t>. U </a:t>
                </a:r>
                <a:r>
                  <a:rPr lang="en-US" sz="2000" dirty="0" err="1"/>
                  <a:t>ket</a:t>
                </a:r>
                <a:r>
                  <a:rPr lang="en-US" sz="2000" dirty="0"/>
                  <a:t> </a:t>
                </a:r>
                <a:r>
                  <a:rPr lang="en-US" sz="2000" dirty="0" err="1"/>
                  <a:t>formi</a:t>
                </a:r>
                <a:r>
                  <a:rPr lang="en-US" sz="2000" dirty="0"/>
                  <a:t> </a:t>
                </a:r>
                <a:r>
                  <a:rPr lang="en-US" sz="2000" dirty="0" err="1"/>
                  <a:t>znak</a:t>
                </a:r>
                <a:r>
                  <a:rPr lang="en-US" sz="2000" dirty="0"/>
                  <a:t> </a:t>
                </a:r>
                <a:r>
                  <a:rPr lang="en-US" sz="2000" dirty="0" err="1"/>
                  <a:t>za</a:t>
                </a:r>
                <a:r>
                  <a:rPr lang="en-US" sz="2000" dirty="0"/>
                  <a:t> </a:t>
                </a:r>
                <a:r>
                  <a:rPr lang="en-US" sz="2000" dirty="0" err="1"/>
                  <a:t>kronekerovo</a:t>
                </a:r>
                <a:r>
                  <a:rPr lang="en-US" sz="2000" dirty="0"/>
                  <a:t> </a:t>
                </a:r>
                <a:r>
                  <a:rPr lang="en-US" sz="2000" dirty="0" err="1"/>
                  <a:t>mnozenje</a:t>
                </a:r>
                <a:r>
                  <a:rPr lang="en-US" sz="2000" dirty="0"/>
                  <a:t> se </a:t>
                </a:r>
                <a:r>
                  <a:rPr lang="en-US" sz="2000" dirty="0" err="1"/>
                  <a:t>podrazumeva</a:t>
                </a:r>
                <a:r>
                  <a:rPr lang="en-US" sz="2000" dirty="0"/>
                  <a:t> pa se </a:t>
                </a:r>
                <a:r>
                  <a:rPr lang="en-US" sz="2000" dirty="0" err="1"/>
                  <a:t>cesto</a:t>
                </a:r>
                <a:r>
                  <a:rPr lang="en-US" sz="2000" dirty="0"/>
                  <a:t> </a:t>
                </a:r>
                <a:r>
                  <a:rPr lang="en-US" sz="2000" dirty="0" err="1"/>
                  <a:t>izostavlja</a:t>
                </a:r>
                <a:r>
                  <a:rPr lang="en-US" sz="2000" dirty="0"/>
                  <a:t>. </a:t>
                </a:r>
              </a:p>
              <a:p>
                <a:r>
                  <a:rPr lang="en-US" sz="2000" dirty="0"/>
                  <a:t>Na </a:t>
                </a:r>
                <a:r>
                  <a:rPr lang="en-US" sz="2000" dirty="0" err="1"/>
                  <a:t>slici</a:t>
                </a:r>
                <a:r>
                  <a:rPr lang="en-US" sz="2000" dirty="0"/>
                  <a:t> </a:t>
                </a:r>
                <a:r>
                  <a:rPr lang="en-US" sz="2000" dirty="0" err="1"/>
                  <a:t>je</a:t>
                </a:r>
                <a:r>
                  <a:rPr lang="en-US" sz="2000" dirty="0"/>
                  <a:t> </a:t>
                </a:r>
                <a:r>
                  <a:rPr lang="en-US" sz="2000" dirty="0" err="1"/>
                  <a:t>prikazan</a:t>
                </a:r>
                <a:r>
                  <a:rPr lang="en-US" sz="2000" dirty="0"/>
                  <a:t> </a:t>
                </a:r>
                <a:r>
                  <a:rPr lang="en-US" sz="2000" dirty="0" err="1"/>
                  <a:t>slucaj</a:t>
                </a:r>
                <a:r>
                  <a:rPr lang="en-US" sz="2000" dirty="0"/>
                  <a:t> </a:t>
                </a:r>
                <a:r>
                  <a:rPr lang="en-US" sz="2000" dirty="0" err="1"/>
                  <a:t>dva</a:t>
                </a:r>
                <a:r>
                  <a:rPr lang="en-US" sz="2000" dirty="0"/>
                  <a:t> </a:t>
                </a:r>
                <a:r>
                  <a:rPr lang="en-US" sz="2000" dirty="0" err="1"/>
                  <a:t>kubita</a:t>
                </a:r>
                <a:r>
                  <a:rPr lang="en-US" sz="2000" dirty="0"/>
                  <a:t> I </a:t>
                </a:r>
                <a:r>
                  <a:rPr lang="en-US" sz="2000" dirty="0" err="1"/>
                  <a:t>njihovo</a:t>
                </a:r>
                <a:r>
                  <a:rPr lang="en-US" sz="2000" dirty="0"/>
                  <a:t> </a:t>
                </a:r>
                <a:r>
                  <a:rPr lang="en-US" sz="2000" dirty="0" err="1"/>
                  <a:t>kombinovanje</a:t>
                </a:r>
                <a:r>
                  <a:rPr lang="en-US" sz="2000" dirty="0"/>
                  <a:t> </a:t>
                </a:r>
                <a:r>
                  <a:rPr lang="en-US" sz="2000" dirty="0" err="1"/>
                  <a:t>stanje</a:t>
                </a:r>
                <a:r>
                  <a:rPr lang="en-US" sz="2000" dirty="0"/>
                  <a:t>.</a:t>
                </a:r>
              </a:p>
              <a:p>
                <a:r>
                  <a:rPr lang="en-US" sz="2000" dirty="0" err="1"/>
                  <a:t>Ovde</a:t>
                </a:r>
                <a:r>
                  <a:rPr lang="en-US" sz="2000" dirty="0"/>
                  <a:t> </a:t>
                </a:r>
                <a:r>
                  <a:rPr lang="en-US" sz="2000" dirty="0" err="1"/>
                  <a:t>treba</a:t>
                </a:r>
                <a:r>
                  <a:rPr lang="en-US" sz="2000" dirty="0"/>
                  <a:t> </a:t>
                </a:r>
                <a:r>
                  <a:rPr lang="en-US" sz="2000" dirty="0" err="1"/>
                  <a:t>obratiti</a:t>
                </a:r>
                <a:r>
                  <a:rPr lang="en-US" sz="2000" dirty="0"/>
                  <a:t> </a:t>
                </a:r>
                <a:r>
                  <a:rPr lang="en-US" sz="2000" dirty="0" err="1"/>
                  <a:t>paznju</a:t>
                </a:r>
                <a:r>
                  <a:rPr lang="en-US" sz="2000" dirty="0"/>
                  <a:t> </a:t>
                </a:r>
                <a:r>
                  <a:rPr lang="en-US" sz="2000" dirty="0" err="1"/>
                  <a:t>na</a:t>
                </a:r>
                <a:r>
                  <a:rPr lang="en-US" sz="2000" dirty="0"/>
                  <a:t> </a:t>
                </a:r>
                <a:r>
                  <a:rPr lang="en-US" sz="2000" dirty="0" err="1"/>
                  <a:t>dve</a:t>
                </a:r>
                <a:r>
                  <a:rPr lang="en-US" sz="2000" dirty="0"/>
                  <a:t> </a:t>
                </a:r>
                <a:r>
                  <a:rPr lang="en-US" sz="2000" dirty="0" err="1"/>
                  <a:t>stvari</a:t>
                </a:r>
                <a:r>
                  <a:rPr lang="en-US" sz="2000" dirty="0"/>
                  <a:t>:</a:t>
                </a:r>
              </a:p>
              <a:p>
                <a:pPr marL="457200" indent="-457200">
                  <a:buFont typeface="+mj-lt"/>
                  <a:buAutoNum type="arabicPeriod"/>
                </a:pPr>
                <a:r>
                  <a:rPr lang="en-US" sz="2000" dirty="0" err="1"/>
                  <a:t>Kombinovanjem</a:t>
                </a:r>
                <a:r>
                  <a:rPr lang="en-US" sz="2000" dirty="0"/>
                  <a:t> </a:t>
                </a:r>
                <a:r>
                  <a:rPr lang="en-US" sz="2000" dirty="0" err="1"/>
                  <a:t>kubita</a:t>
                </a:r>
                <a:r>
                  <a:rPr lang="en-US" sz="2000" dirty="0"/>
                  <a:t> </a:t>
                </a:r>
                <a:r>
                  <a:rPr lang="en-US" sz="2000" dirty="0" err="1"/>
                  <a:t>dvodimenzionali</a:t>
                </a:r>
                <a:r>
                  <a:rPr lang="en-US" sz="2000" dirty="0"/>
                  <a:t> </a:t>
                </a:r>
                <a:r>
                  <a:rPr lang="en-US" sz="2000" dirty="0" err="1"/>
                  <a:t>vektorski</a:t>
                </a:r>
                <a:r>
                  <a:rPr lang="en-US" sz="2000" dirty="0"/>
                  <a:t> proctor </a:t>
                </a:r>
                <a:r>
                  <a:rPr lang="en-US" sz="2000" dirty="0" err="1"/>
                  <a:t>jednog</a:t>
                </a:r>
                <a:r>
                  <a:rPr lang="en-US" sz="2000" dirty="0"/>
                  <a:t> </a:t>
                </a:r>
                <a:r>
                  <a:rPr lang="en-US" sz="2000" dirty="0" err="1"/>
                  <a:t>kubita</a:t>
                </a:r>
                <a:r>
                  <a:rPr lang="en-US" sz="2000" dirty="0"/>
                  <a:t> </a:t>
                </a:r>
                <a:r>
                  <a:rPr lang="en-US" sz="2000" dirty="0" err="1"/>
                  <a:t>kubita</a:t>
                </a:r>
                <a:r>
                  <a:rPr lang="en-US" sz="2000" dirty="0"/>
                  <a:t> </a:t>
                </a:r>
                <a:r>
                  <a:rPr lang="en-US" sz="2000" dirty="0" err="1"/>
                  <a:t>prosirio</a:t>
                </a:r>
                <a:r>
                  <a:rPr lang="en-US" sz="2000" dirty="0"/>
                  <a:t> se </a:t>
                </a:r>
                <a:r>
                  <a:rPr lang="en-US" sz="2000" dirty="0" err="1"/>
                  <a:t>na</a:t>
                </a:r>
                <a:r>
                  <a:rPr lang="en-US" sz="2000" dirty="0"/>
                  <a:t> </a:t>
                </a:r>
                <a:r>
                  <a:rPr lang="en-US" sz="2000" dirty="0" err="1"/>
                  <a:t>cetvorodimenzionali</a:t>
                </a:r>
                <a:r>
                  <a:rPr lang="en-US" sz="2000" dirty="0"/>
                  <a:t> proctor </a:t>
                </a:r>
                <a:r>
                  <a:rPr lang="en-US" sz="2000" dirty="0" err="1"/>
                  <a:t>dva</a:t>
                </a:r>
                <a:r>
                  <a:rPr lang="en-US" sz="2000" dirty="0"/>
                  <a:t> </a:t>
                </a:r>
                <a:r>
                  <a:rPr lang="en-US" sz="2000" dirty="0" err="1"/>
                  <a:t>kubita</a:t>
                </a:r>
                <a:r>
                  <a:rPr lang="en-US" sz="2000" dirty="0"/>
                  <a:t>. </a:t>
                </a:r>
                <a:r>
                  <a:rPr lang="en-US" sz="2000" dirty="0" err="1"/>
                  <a:t>Ovo</a:t>
                </a:r>
                <a:r>
                  <a:rPr lang="en-US" sz="2000" dirty="0"/>
                  <a:t> </a:t>
                </a:r>
                <a:r>
                  <a:rPr lang="en-US" sz="2000" dirty="0" err="1"/>
                  <a:t>znaci</a:t>
                </a:r>
                <a:r>
                  <a:rPr lang="en-US" sz="2000" dirty="0"/>
                  <a:t> da </a:t>
                </a:r>
                <a:r>
                  <a:rPr lang="en-US" sz="2000" dirty="0" err="1"/>
                  <a:t>umesto</a:t>
                </a:r>
                <a:r>
                  <a:rPr lang="en-US" sz="2000" dirty="0"/>
                  <a:t> </a:t>
                </a:r>
                <a:r>
                  <a:rPr lang="en-US" sz="2000" dirty="0" err="1"/>
                  <a:t>dva</a:t>
                </a:r>
                <a:r>
                  <a:rPr lang="en-US" sz="2000" dirty="0"/>
                  <a:t> </a:t>
                </a:r>
                <a:r>
                  <a:rPr lang="en-US" sz="2000" dirty="0" err="1"/>
                  <a:t>vektora</a:t>
                </a:r>
                <a:r>
                  <a:rPr lang="en-US" sz="2000" dirty="0"/>
                  <a:t> </a:t>
                </a:r>
                <a:r>
                  <a:rPr lang="en-US" sz="2000" dirty="0" err="1"/>
                  <a:t>baze</a:t>
                </a:r>
                <a:r>
                  <a:rPr lang="en-US" sz="2000" dirty="0"/>
                  <a:t> </a:t>
                </a:r>
                <a:r>
                  <a:rPr lang="en-US" sz="2000" i="0">
                    <a:latin typeface="Cambria Math" panose="02040503050406030204" pitchFamily="18" charset="0"/>
                    <a:ea typeface="Cambria Math" panose="02040503050406030204" pitchFamily="18" charset="0"/>
                  </a:rPr>
                  <a:t>|0</a:t>
                </a:r>
                <a:r>
                  <a:rPr lang="en-US" sz="2000" b="0" i="0">
                    <a:latin typeface="Cambria Math" panose="02040503050406030204" pitchFamily="18" charset="0"/>
                    <a:ea typeface="Cambria Math" panose="02040503050406030204" pitchFamily="18" charset="0"/>
                  </a:rPr>
                  <a:t>⟩</a:t>
                </a:r>
                <a:r>
                  <a:rPr lang="en-US" sz="2000" dirty="0"/>
                  <a:t> i </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1⟩</a:t>
                </a:r>
                <a:r>
                  <a:rPr lang="en-US" sz="2000" dirty="0"/>
                  <a:t> </a:t>
                </a:r>
                <a:r>
                  <a:rPr lang="en-US" sz="2000" dirty="0" err="1"/>
                  <a:t>sada</a:t>
                </a:r>
                <a:r>
                  <a:rPr lang="en-US" sz="2000" dirty="0"/>
                  <a:t> </a:t>
                </a:r>
                <a:r>
                  <a:rPr lang="en-US" sz="2000" dirty="0" err="1"/>
                  <a:t>imamo</a:t>
                </a:r>
                <a:r>
                  <a:rPr lang="en-US" sz="2000" dirty="0"/>
                  <a:t> </a:t>
                </a:r>
                <a:r>
                  <a:rPr lang="en-US" sz="2000" dirty="0" err="1"/>
                  <a:t>cetiri</a:t>
                </a:r>
                <a:r>
                  <a:rPr lang="en-US" sz="2000" dirty="0"/>
                  <a:t> </a:t>
                </a:r>
                <a:r>
                  <a:rPr lang="en-US" sz="2000" dirty="0" err="1"/>
                  <a:t>vektora</a:t>
                </a:r>
                <a:r>
                  <a:rPr lang="en-US" sz="2000" dirty="0"/>
                  <a:t> </a:t>
                </a:r>
                <a:r>
                  <a:rPr lang="en-US" sz="2000" dirty="0" err="1"/>
                  <a:t>baze</a:t>
                </a:r>
                <a:r>
                  <a:rPr lang="en-US" sz="2000" dirty="0"/>
                  <a:t> </a:t>
                </a:r>
                <a:r>
                  <a:rPr lang="en-US" sz="2000" i="0">
                    <a:latin typeface="Cambria Math" panose="02040503050406030204" pitchFamily="18" charset="0"/>
                    <a:ea typeface="Cambria Math" panose="02040503050406030204" pitchFamily="18" charset="0"/>
                  </a:rPr>
                  <a:t>|0</a:t>
                </a:r>
                <a:r>
                  <a:rPr lang="en-US" sz="2000" b="0" i="0">
                    <a:latin typeface="Cambria Math" panose="02040503050406030204" pitchFamily="18" charset="0"/>
                    <a:ea typeface="Cambria Math" panose="02040503050406030204" pitchFamily="18" charset="0"/>
                  </a:rPr>
                  <a:t>0⟩,</a:t>
                </a:r>
                <a:r>
                  <a:rPr lang="en-US" sz="2000" i="0">
                    <a:latin typeface="Cambria Math" panose="02040503050406030204" pitchFamily="18" charset="0"/>
                    <a:ea typeface="Cambria Math" panose="02040503050406030204" pitchFamily="18" charset="0"/>
                  </a:rPr>
                  <a:t>|0</a:t>
                </a:r>
                <a:r>
                  <a:rPr lang="en-US" sz="2000" b="0" i="0">
                    <a:latin typeface="Cambria Math" panose="02040503050406030204" pitchFamily="18" charset="0"/>
                    <a:ea typeface="Cambria Math" panose="02040503050406030204" pitchFamily="18" charset="0"/>
                  </a:rPr>
                  <a:t>1⟩,</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10⟩</a:t>
                </a:r>
                <a:r>
                  <a:rPr lang="en-US" sz="2000" dirty="0"/>
                  <a:t> I </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11⟩</a:t>
                </a:r>
                <a:r>
                  <a:rPr lang="en-US" sz="2000" dirty="0"/>
                  <a:t> </a:t>
                </a:r>
                <a:r>
                  <a:rPr lang="en-US" sz="2000" dirty="0" err="1"/>
                  <a:t>koji</a:t>
                </a:r>
                <a:r>
                  <a:rPr lang="en-US" sz="2000" dirty="0"/>
                  <a:t> </a:t>
                </a:r>
                <a:r>
                  <a:rPr lang="en-US" sz="2000" dirty="0" err="1"/>
                  <a:t>su</a:t>
                </a:r>
                <a:r>
                  <a:rPr lang="en-US" sz="2000" dirty="0"/>
                  <a:t> u </a:t>
                </a:r>
                <a:r>
                  <a:rPr lang="en-US" sz="2000" dirty="0" err="1"/>
                  <a:t>superpoziciji</a:t>
                </a:r>
                <a:r>
                  <a:rPr lang="en-US" sz="2000" dirty="0"/>
                  <a:t> </a:t>
                </a:r>
                <a:r>
                  <a:rPr lang="en-US" sz="2000" dirty="0" err="1"/>
                  <a:t>sa</a:t>
                </a:r>
                <a:r>
                  <a:rPr lang="en-US" sz="2000" dirty="0"/>
                  <a:t> </a:t>
                </a:r>
                <a:r>
                  <a:rPr lang="en-US" sz="2000" dirty="0" err="1"/>
                  <a:t>kombinovanim</a:t>
                </a:r>
                <a:r>
                  <a:rPr lang="en-US" sz="2000" dirty="0"/>
                  <a:t> </a:t>
                </a:r>
                <a:r>
                  <a:rPr lang="en-US" sz="2000" dirty="0" err="1"/>
                  <a:t>amplitudama</a:t>
                </a:r>
                <a:r>
                  <a:rPr lang="en-US" sz="2000" baseline="0" dirty="0"/>
                  <a:t> </a:t>
                </a:r>
                <a:r>
                  <a:rPr lang="en-US" sz="2000" baseline="0" dirty="0" err="1"/>
                  <a:t>verovatnoca</a:t>
                </a:r>
                <a:r>
                  <a:rPr lang="en-US" sz="2000" baseline="0" dirty="0"/>
                  <a:t>.</a:t>
                </a:r>
                <a:endParaRPr lang="en-US" sz="2000" dirty="0"/>
              </a:p>
              <a:p>
                <a:pPr marL="457200" indent="-457200">
                  <a:buFont typeface="+mj-lt"/>
                  <a:buAutoNum type="arabicPeriod"/>
                </a:pPr>
                <a:r>
                  <a:rPr lang="en-US" sz="2000" dirty="0" err="1"/>
                  <a:t>Primetimo</a:t>
                </a:r>
                <a:r>
                  <a:rPr lang="en-US" sz="2000" dirty="0"/>
                  <a:t> </a:t>
                </a:r>
                <a:r>
                  <a:rPr lang="en-US" sz="2000" dirty="0" err="1"/>
                  <a:t>takodje</a:t>
                </a:r>
                <a:r>
                  <a:rPr lang="en-US" sz="2000" dirty="0"/>
                  <a:t> da </a:t>
                </a:r>
                <a:r>
                  <a:rPr lang="en-US" sz="2000" dirty="0" err="1"/>
                  <a:t>suma</a:t>
                </a:r>
                <a:r>
                  <a:rPr lang="en-US" sz="2000" dirty="0"/>
                  <a:t> </a:t>
                </a:r>
                <a:r>
                  <a:rPr lang="en-US" sz="2000" dirty="0" err="1"/>
                  <a:t>kvadrata</a:t>
                </a:r>
                <a:r>
                  <a:rPr lang="en-US" sz="2000" dirty="0"/>
                  <a:t> amplitude </a:t>
                </a:r>
                <a:r>
                  <a:rPr lang="en-US" sz="2000" dirty="0" err="1"/>
                  <a:t>verovatnoce</a:t>
                </a:r>
                <a:r>
                  <a:rPr lang="en-US" sz="2000" dirty="0"/>
                  <a:t> mora </a:t>
                </a:r>
                <a:r>
                  <a:rPr lang="en-US" sz="2000" dirty="0" err="1"/>
                  <a:t>biti</a:t>
                </a:r>
                <a:r>
                  <a:rPr lang="en-US" sz="2000" dirty="0"/>
                  <a:t> 1. </a:t>
                </a:r>
                <a:r>
                  <a:rPr lang="en-US" sz="2000" dirty="0" err="1"/>
                  <a:t>Naime</a:t>
                </a:r>
                <a:r>
                  <a:rPr lang="en-US" sz="2000" dirty="0"/>
                  <a:t>, </a:t>
                </a:r>
                <a:r>
                  <a:rPr lang="en-US" sz="2000" dirty="0" err="1"/>
                  <a:t>svaki</a:t>
                </a:r>
                <a:r>
                  <a:rPr lang="en-US" sz="2000" dirty="0"/>
                  <a:t> od </a:t>
                </a:r>
                <a:r>
                  <a:rPr lang="en-US" sz="2000" dirty="0" err="1"/>
                  <a:t>kvadrata</a:t>
                </a:r>
                <a:r>
                  <a:rPr lang="en-US" sz="2000" dirty="0"/>
                  <a:t> </a:t>
                </a:r>
                <a:r>
                  <a:rPr lang="en-US" sz="2000" dirty="0" err="1"/>
                  <a:t>daje</a:t>
                </a:r>
                <a:r>
                  <a:rPr lang="en-US" sz="2000" dirty="0"/>
                  <a:t> </a:t>
                </a:r>
                <a:r>
                  <a:rPr lang="en-US" sz="2000" dirty="0" err="1"/>
                  <a:t>svoj</a:t>
                </a:r>
                <a:r>
                  <a:rPr lang="en-US" sz="2000" dirty="0"/>
                  <a:t> </a:t>
                </a:r>
                <a:r>
                  <a:rPr lang="en-US" sz="2000" dirty="0" err="1"/>
                  <a:t>doprinos</a:t>
                </a:r>
                <a:r>
                  <a:rPr lang="en-US" sz="2000" dirty="0"/>
                  <a:t> </a:t>
                </a:r>
                <a:r>
                  <a:rPr lang="en-US" sz="2000" dirty="0" err="1"/>
                  <a:t>sigurnom</a:t>
                </a:r>
                <a:r>
                  <a:rPr lang="en-US" sz="2000" dirty="0"/>
                  <a:t> </a:t>
                </a:r>
                <a:r>
                  <a:rPr lang="en-US" sz="2000" dirty="0" err="1"/>
                  <a:t>dogadjaju</a:t>
                </a:r>
                <a:r>
                  <a:rPr lang="en-US" sz="2000" dirty="0"/>
                  <a:t> </a:t>
                </a:r>
                <a:r>
                  <a:rPr lang="en-US" sz="2000" dirty="0" err="1"/>
                  <a:t>cija</a:t>
                </a:r>
                <a:r>
                  <a:rPr lang="en-US" sz="2000" dirty="0"/>
                  <a:t> </a:t>
                </a:r>
                <a:r>
                  <a:rPr lang="en-US" sz="2000" dirty="0" err="1"/>
                  <a:t>je</a:t>
                </a:r>
                <a:r>
                  <a:rPr lang="en-US" sz="2000" dirty="0"/>
                  <a:t> </a:t>
                </a:r>
                <a:r>
                  <a:rPr lang="en-US" sz="2000" dirty="0" err="1"/>
                  <a:t>verovatnoca</a:t>
                </a:r>
                <a:r>
                  <a:rPr lang="en-US" sz="2000" dirty="0"/>
                  <a:t> 1.</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25020238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As more qubits are added, the dimension of the vector space grows exponentially. For example, three qubits describe an eight-dimensional space, four qubits a sixteen-dimensional space, while 300 qubits describe a space whose dimension is greater than the estimated number of atoms in the observable universe.</a:t>
                </a:r>
              </a:p>
              <a:p>
                <a:pPr algn="just"/>
                <a:endParaRPr lang="en-ZA" dirty="0"/>
              </a:p>
              <a:p>
                <a:pPr algn="just"/>
                <a:r>
                  <a:rPr lang="en-ZA" dirty="0"/>
                  <a:t>In general, n qubits describe a state in a vector space of dimension 2</a:t>
                </a:r>
                <a:r>
                  <a:rPr lang="en-ZA" baseline="30000" dirty="0"/>
                  <a:t>n</a:t>
                </a:r>
                <a:r>
                  <a:rPr lang="en-ZA" dirty="0"/>
                  <a:t>, with the state vector having 2</a:t>
                </a:r>
                <a:r>
                  <a:rPr lang="en-ZA" baseline="30000" dirty="0"/>
                  <a:t>n</a:t>
                </a:r>
                <a:r>
                  <a:rPr lang="en-ZA" dirty="0"/>
                  <a:t> components. Regardless of the dimension of the space, the normalization condition must be satisfied, meaning that the sum of the squared magnitudes of all probability amplitudes must equal 1.</a:t>
                </a:r>
              </a:p>
            </p:txBody>
          </p:sp>
        </mc:Choice>
        <mc:Fallback xmlns="">
          <p:sp>
            <p:nvSpPr>
              <p:cNvPr id="3" name="Notes Placeholder 2"/>
              <p:cNvSpPr>
                <a:spLocks noGrp="1"/>
              </p:cNvSpPr>
              <p:nvPr>
                <p:ph type="body" idx="1"/>
              </p:nvPr>
            </p:nvSpPr>
            <p:spPr/>
            <p:txBody>
              <a:bodyPr/>
              <a:lstStyle/>
              <a:p>
                <a:r>
                  <a:rPr lang="en-US" sz="2000" dirty="0"/>
                  <a:t>By combining qubits a </a:t>
                </a:r>
                <a:r>
                  <a:rPr lang="en-US" sz="2000" baseline="0" dirty="0"/>
                  <a:t>vector space grows exponentially, so three qubit state vector lives in 8 dimensional vector space, 4 qubits in 16 dimensional and so on. In general, n-qubit state is given as a weighted sum of  </a:t>
                </a:r>
                <a:r>
                  <a:rPr lang="en-US" sz="2000" i="0">
                    <a:latin typeface="Cambria Math" panose="02040503050406030204" pitchFamily="18" charset="0"/>
                  </a:rPr>
                  <a:t>2^𝑛</a:t>
                </a:r>
                <a:r>
                  <a:rPr lang="en-US" sz="2000" baseline="0" dirty="0"/>
                  <a:t> states.</a:t>
                </a:r>
              </a:p>
              <a:p>
                <a:r>
                  <a:rPr lang="en-US" sz="2000" baseline="0" dirty="0"/>
                  <a:t>Again, the normalization constraint must be </a:t>
                </a:r>
                <a:r>
                  <a:rPr lang="en-US" sz="2000" dirty="0"/>
                  <a:t>maintained</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51</a:t>
            </a:fld>
            <a:endParaRPr lang="en-US"/>
          </a:p>
        </p:txBody>
      </p:sp>
    </p:spTree>
    <p:extLst>
      <p:ext uri="{BB962C8B-B14F-4D97-AF65-F5344CB8AC3E}">
        <p14:creationId xmlns:p14="http://schemas.microsoft.com/office/powerpoint/2010/main" val="2232551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general, the state space of a composite quantum system is the tensor product of the state spaces of its individual systems. This is formalized by the postulate of composite quantum systems.</a:t>
                </a:r>
              </a:p>
              <a:p>
                <a:pPr algn="just"/>
                <a:endParaRPr lang="en-ZA" dirty="0"/>
              </a:p>
              <a:p>
                <a:pPr algn="just"/>
                <a:r>
                  <a:rPr lang="en-ZA" sz="1200" dirty="0"/>
                  <a:t>The state space of a composite quantum system is the tensor product of the state spaces of its individual systems. If </a:t>
                </a:r>
                <a14:m>
                  <m:oMath xmlns:m="http://schemas.openxmlformats.org/officeDocument/2006/math">
                    <m:r>
                      <a:rPr lang="en-US" sz="1200" b="0" i="1" smtClean="0">
                        <a:latin typeface="Cambria Math" panose="02040503050406030204" pitchFamily="18" charset="0"/>
                      </a:rPr>
                      <m:t>𝑛</m:t>
                    </m:r>
                  </m:oMath>
                </a14:m>
                <a:r>
                  <a:rPr lang="en-ZA" sz="1200" dirty="0"/>
                  <a:t> qubits are individually in states </a:t>
                </a:r>
                <a14:m>
                  <m:oMath xmlns:m="http://schemas.openxmlformats.org/officeDocument/2006/math">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1</m:t>
                            </m:r>
                          </m:sub>
                        </m:sSub>
                      </m:e>
                    </m:d>
                  </m:oMath>
                </a14:m>
                <a:r>
                  <a:rPr lang="en-ZA" sz="1200" dirty="0"/>
                  <a:t>,</a:t>
                </a:r>
                <a:r>
                  <a:rPr lang="en-US" sz="1200" dirty="0"/>
                  <a:t> </a:t>
                </a:r>
                <a14:m>
                  <m:oMath xmlns:m="http://schemas.openxmlformats.org/officeDocument/2006/math">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2</m:t>
                            </m:r>
                          </m:sub>
                        </m:sSub>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𝑛</m:t>
                            </m:r>
                          </m:sub>
                        </m:sSub>
                      </m:e>
                    </m:d>
                  </m:oMath>
                </a14:m>
                <a:r>
                  <a:rPr lang="en-ZA" sz="1200" dirty="0"/>
                  <a:t>, their joint product state is</a:t>
                </a:r>
                <a:r>
                  <a:rPr lang="en-ZA" sz="1200" baseline="0" dirty="0"/>
                  <a:t>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1</m:t>
                            </m:r>
                          </m:sub>
                        </m:sSub>
                      </m:e>
                    </m:d>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2</m:t>
                            </m:r>
                          </m:sub>
                        </m:sSub>
                      </m:e>
                    </m:d>
                    <m:r>
                      <a:rPr lang="en-US" sz="1200" i="1">
                        <a:latin typeface="Cambria Math" panose="02040503050406030204" pitchFamily="18" charset="0"/>
                      </a:rPr>
                      <m:t> </m:t>
                    </m:r>
                    <m:nary>
                      <m:naryPr>
                        <m:chr m:val="⨂"/>
                        <m:subHide m:val="on"/>
                        <m:supHide m:val="on"/>
                        <m:ctrlPr>
                          <a:rPr lang="en-US" sz="1200" i="1">
                            <a:latin typeface="Cambria Math" panose="02040503050406030204" pitchFamily="18" charset="0"/>
                            <a:ea typeface="Cambria Math" panose="02040503050406030204" pitchFamily="18" charset="0"/>
                          </a:rPr>
                        </m:ctrlPr>
                      </m:naryPr>
                      <m:sub/>
                      <m:sup/>
                      <m:e>
                        <m:r>
                          <a:rPr lang="en-US" sz="1200" i="1" smtClean="0">
                            <a:latin typeface="Cambria Math" panose="02040503050406030204" pitchFamily="18" charset="0"/>
                            <a:ea typeface="Cambria Math" panose="02040503050406030204" pitchFamily="18" charset="0"/>
                          </a:rPr>
                          <m:t>⋯</m:t>
                        </m:r>
                      </m:e>
                    </m:nary>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𝑛</m:t>
                            </m:r>
                          </m:sub>
                        </m:sSub>
                      </m:e>
                    </m:d>
                  </m:oMath>
                </a14:m>
                <a:r>
                  <a:rPr lang="en-ZA" sz="1200" dirty="0"/>
                  <a:t>, where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ZA" sz="1200" dirty="0"/>
                  <a:t> denotes the tensor (Kronecker) product</a:t>
                </a:r>
                <a:endParaRPr lang="en-ZA" b="0" dirty="0"/>
              </a:p>
              <a:p>
                <a:pPr algn="just"/>
                <a:endParaRPr lang="en-ZA" b="0" dirty="0"/>
              </a:p>
              <a:p>
                <a:pPr algn="just"/>
                <a:r>
                  <a:rPr lang="en-US" b="0" dirty="0"/>
                  <a:t>T</a:t>
                </a:r>
                <a:r>
                  <a:rPr lang="en-ZA" b="0" dirty="0"/>
                  <a:t>he joint state belongs to the composite state space</a:t>
                </a:r>
                <a:r>
                  <a:rPr lang="en-ZA" b="0" baseline="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ℋ</m:t>
                    </m:r>
                    <m:r>
                      <a:rPr lang="en-US" sz="1200" i="1">
                        <a:latin typeface="Cambria Math" panose="02040503050406030204" pitchFamily="18" charset="0"/>
                      </a:rPr>
                      <m:t>=</m:t>
                    </m:r>
                    <m:sSub>
                      <m:sSubPr>
                        <m:ctrlPr>
                          <a:rPr lang="en-US" sz="1200" i="1" smtClean="0">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ℋ</m:t>
                        </m:r>
                      </m:e>
                      <m:sub>
                        <m:r>
                          <a:rPr lang="en-US" sz="1200" b="0" i="1" smtClean="0">
                            <a:latin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smtClean="0">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ℋ</m:t>
                        </m:r>
                      </m:e>
                      <m:sub>
                        <m:r>
                          <a:rPr lang="en-US" sz="1200" b="0" i="1" smtClean="0">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smtClean="0">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ℋ</m:t>
                        </m:r>
                      </m:e>
                      <m:sub>
                        <m:r>
                          <a:rPr lang="en-US" sz="1200" b="0" i="1" smtClean="0">
                            <a:latin typeface="Cambria Math" panose="02040503050406030204" pitchFamily="18" charset="0"/>
                            <a:ea typeface="Cambria Math" panose="02040503050406030204" pitchFamily="18" charset="0"/>
                          </a:rPr>
                          <m:t>𝑛</m:t>
                        </m:r>
                      </m:sub>
                    </m:sSub>
                  </m:oMath>
                </a14:m>
                <a:r>
                  <a:rPr lang="en-ZA" b="0" dirty="0"/>
                  <a:t>.</a:t>
                </a:r>
              </a:p>
            </p:txBody>
          </p:sp>
        </mc:Choice>
        <mc:Fallback xmlns="">
          <p:sp>
            <p:nvSpPr>
              <p:cNvPr id="3" name="Notes Placeholder 2"/>
              <p:cNvSpPr>
                <a:spLocks noGrp="1"/>
              </p:cNvSpPr>
              <p:nvPr>
                <p:ph type="body" idx="1"/>
              </p:nvPr>
            </p:nvSpPr>
            <p:spPr/>
            <p:txBody>
              <a:bodyPr/>
              <a:lstStyle/>
              <a:p>
                <a:pPr algn="just"/>
                <a:r>
                  <a:rPr lang="sr-Latn-RS" sz="1200" kern="1200" dirty="0">
                    <a:solidFill>
                      <a:schemeClr val="tx1"/>
                    </a:solidFill>
                    <a:effectLst/>
                    <a:latin typeface="+mn-lt"/>
                    <a:ea typeface="+mn-ea"/>
                    <a:cs typeface="+mn-cs"/>
                  </a:rPr>
                  <a:t>Postulati kvantne mehanike opisuju osnovne principe koji upravljaju ponašanjem fizičkih sistema na kvantnom nivou. Kao prvi postulat, definisaćemo postulat o stanju kvantnog sistema.  U kvantnom računarstvu to je jedan ili više kubita.</a:t>
                </a:r>
              </a:p>
              <a:p>
                <a:pPr algn="just"/>
                <a:endParaRPr lang="en-US" dirty="0"/>
              </a:p>
              <a:p>
                <a:pPr algn="just"/>
                <a:r>
                  <a:rPr lang="en-US" dirty="0" err="1"/>
                  <a:t>Postulat</a:t>
                </a:r>
                <a:r>
                  <a:rPr lang="en-US" dirty="0"/>
                  <a:t> o </a:t>
                </a:r>
                <a:r>
                  <a:rPr lang="en-US" dirty="0" err="1"/>
                  <a:t>stanju</a:t>
                </a:r>
                <a:r>
                  <a:rPr lang="en-US" dirty="0"/>
                  <a:t>. </a:t>
                </a:r>
                <a:r>
                  <a:rPr lang="en-US" dirty="0" err="1"/>
                  <a:t>Čisto</a:t>
                </a:r>
                <a:r>
                  <a:rPr lang="en-US" dirty="0"/>
                  <a:t> </a:t>
                </a:r>
                <a:r>
                  <a:rPr lang="en-US" dirty="0" err="1"/>
                  <a:t>kvantno</a:t>
                </a:r>
                <a:r>
                  <a:rPr lang="en-US" dirty="0"/>
                  <a:t> </a:t>
                </a:r>
                <a:r>
                  <a:rPr lang="en-US" dirty="0" err="1"/>
                  <a:t>stanje</a:t>
                </a:r>
                <a:r>
                  <a:rPr lang="en-US" dirty="0"/>
                  <a:t> </a:t>
                </a:r>
                <a:r>
                  <a:rPr lang="en-US" dirty="0" err="1"/>
                  <a:t>izolovanog</a:t>
                </a:r>
                <a:r>
                  <a:rPr lang="en-US" dirty="0"/>
                  <a:t> </a:t>
                </a:r>
                <a:r>
                  <a:rPr lang="en-US" dirty="0" err="1"/>
                  <a:t>kvantnog</a:t>
                </a:r>
                <a:r>
                  <a:rPr lang="en-US" dirty="0"/>
                  <a:t> </a:t>
                </a:r>
                <a:r>
                  <a:rPr lang="en-US" dirty="0" err="1"/>
                  <a:t>sistema</a:t>
                </a:r>
                <a:r>
                  <a:rPr lang="en-US" dirty="0"/>
                  <a:t> </a:t>
                </a:r>
                <a:r>
                  <a:rPr lang="en-US" dirty="0" err="1"/>
                  <a:t>predstavlja</a:t>
                </a:r>
                <a:r>
                  <a:rPr lang="en-US" dirty="0"/>
                  <a:t> se </a:t>
                </a:r>
                <a:r>
                  <a:rPr lang="en-US" dirty="0" err="1"/>
                  <a:t>jediničnim</a:t>
                </a:r>
                <a:r>
                  <a:rPr lang="en-US" dirty="0"/>
                  <a:t> ket </a:t>
                </a:r>
                <a:r>
                  <a:rPr lang="en-US" dirty="0" err="1"/>
                  <a:t>vektorom</a:t>
                </a:r>
                <a:r>
                  <a:rPr lang="en-US" dirty="0"/>
                  <a:t> u </a:t>
                </a:r>
                <a:r>
                  <a:rPr lang="en-US" dirty="0" err="1"/>
                  <a:t>kompleksnom</a:t>
                </a:r>
                <a:r>
                  <a:rPr lang="en-US" dirty="0"/>
                  <a:t> </a:t>
                </a:r>
                <a:r>
                  <a:rPr lang="en-US" dirty="0" err="1"/>
                  <a:t>Hilbertovom</a:t>
                </a:r>
                <a:r>
                  <a:rPr lang="en-US" dirty="0"/>
                  <a:t> </a:t>
                </a:r>
                <a:r>
                  <a:rPr lang="en-US" dirty="0" err="1"/>
                  <a:t>prostoru</a:t>
                </a:r>
                <a:r>
                  <a:rPr lang="en-US" dirty="0"/>
                  <a:t>. </a:t>
                </a:r>
                <a:r>
                  <a:rPr lang="en-US" dirty="0" err="1"/>
                  <a:t>Ovaj</a:t>
                </a:r>
                <a:r>
                  <a:rPr lang="en-US" dirty="0"/>
                  <a:t> se </a:t>
                </a:r>
                <a:r>
                  <a:rPr lang="en-US" dirty="0" err="1"/>
                  <a:t>prostor</a:t>
                </a:r>
                <a:r>
                  <a:rPr lang="en-US" dirty="0"/>
                  <a:t> </a:t>
                </a:r>
                <a:r>
                  <a:rPr lang="en-US" dirty="0" err="1"/>
                  <a:t>naziva</a:t>
                </a:r>
                <a:r>
                  <a:rPr lang="en-US" dirty="0"/>
                  <a:t> </a:t>
                </a:r>
                <a:r>
                  <a:rPr lang="en-US" dirty="0" err="1"/>
                  <a:t>prostor</a:t>
                </a:r>
                <a:r>
                  <a:rPr lang="en-US" dirty="0"/>
                  <a:t> </a:t>
                </a:r>
                <a:r>
                  <a:rPr lang="en-US" dirty="0" err="1"/>
                  <a:t>stanja</a:t>
                </a:r>
                <a:r>
                  <a:rPr lang="en-US" dirty="0"/>
                  <a:t> </a:t>
                </a:r>
                <a:r>
                  <a:rPr lang="en-US" dirty="0" err="1"/>
                  <a:t>sistema</a:t>
                </a:r>
                <a:r>
                  <a:rPr lang="en-US" dirty="0"/>
                  <a:t>. </a:t>
                </a:r>
              </a:p>
              <a:p>
                <a:pPr algn="just"/>
                <a:endParaRPr lang="en-US" dirty="0"/>
              </a:p>
              <a:p>
                <a:pPr algn="just"/>
                <a:r>
                  <a:rPr lang="sr-Latn-RS" sz="1200" kern="1200" dirty="0">
                    <a:solidFill>
                      <a:schemeClr val="tx1"/>
                    </a:solidFill>
                    <a:effectLst/>
                    <a:latin typeface="+mn-lt"/>
                    <a:ea typeface="+mn-ea"/>
                    <a:cs typeface="+mn-cs"/>
                  </a:rPr>
                  <a:t>Vektor stanja sistema u </a:t>
                </a:r>
                <a:r>
                  <a:rPr lang="sr-Latn-RS" sz="1200" kern="1200" dirty="0" err="1">
                    <a:solidFill>
                      <a:schemeClr val="tx1"/>
                    </a:solidFill>
                    <a:effectLst/>
                    <a:latin typeface="+mn-lt"/>
                    <a:ea typeface="+mn-ea"/>
                    <a:cs typeface="+mn-cs"/>
                  </a:rPr>
                  <a:t>n-dimenzionalnom</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Hilbertovom</a:t>
                </a:r>
                <a:r>
                  <a:rPr lang="sr-Latn-RS" sz="1200" kern="1200" dirty="0">
                    <a:solidFill>
                      <a:schemeClr val="tx1"/>
                    </a:solidFill>
                    <a:effectLst/>
                    <a:latin typeface="+mn-lt"/>
                    <a:ea typeface="+mn-ea"/>
                    <a:cs typeface="+mn-cs"/>
                  </a:rPr>
                  <a:t> prostoru predstavlja se linearnom kombinacijom</a:t>
                </a:r>
                <a:endParaRPr lang="en-US" sz="1200" i="1" dirty="0">
                  <a:latin typeface="Cambria Math" panose="02040503050406030204" pitchFamily="18" charset="0"/>
                </a:endParaRPr>
              </a:p>
              <a:p>
                <a:pPr algn="just"/>
                <a:r>
                  <a:rPr lang="en-US" sz="1200" i="0">
                    <a:latin typeface="Cambria Math" panose="02040503050406030204" pitchFamily="18" charset="0"/>
                  </a:rPr>
                  <a:t>|𝑆⟩=∑1_(𝑘=0)^(</a:t>
                </a:r>
                <a:r>
                  <a:rPr lang="en-US" sz="1200" b="0" i="0">
                    <a:latin typeface="Cambria Math" panose="02040503050406030204" pitchFamily="18" charset="0"/>
                  </a:rPr>
                  <a:t>𝑛−1)▒〖</a:t>
                </a:r>
                <a:r>
                  <a:rPr lang="en-US" sz="1200" i="0">
                    <a:latin typeface="Cambria Math" panose="02040503050406030204" pitchFamily="18" charset="0"/>
                  </a:rPr>
                  <a:t>𝑎_𝑘 |𝑘⟩ 〗</a:t>
                </a:r>
                <a:endParaRPr lang="en-US" sz="1200" dirty="0">
                  <a:latin typeface="+mn-lt"/>
                </a:endParaRP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gde su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 vektori baze </a:t>
                </a:r>
                <a:r>
                  <a:rPr lang="sr-Latn-RS" sz="1200" kern="1200" dirty="0" err="1">
                    <a:solidFill>
                      <a:schemeClr val="tx1"/>
                    </a:solidFill>
                    <a:effectLst/>
                    <a:latin typeface="+mn-lt"/>
                    <a:ea typeface="+mn-ea"/>
                    <a:cs typeface="+mn-cs"/>
                  </a:rPr>
                  <a:t>Hilbertovog</a:t>
                </a:r>
                <a:r>
                  <a:rPr lang="sr-Latn-RS" sz="1200" kern="1200" dirty="0">
                    <a:solidFill>
                      <a:schemeClr val="tx1"/>
                    </a:solidFill>
                    <a:effectLst/>
                    <a:latin typeface="+mn-lt"/>
                    <a:ea typeface="+mn-ea"/>
                    <a:cs typeface="+mn-cs"/>
                  </a:rPr>
                  <a:t> prostora, a </a:t>
                </a:r>
                <a:r>
                  <a:rPr lang="sr-Latn-RS" sz="1200" i="0" kern="1200">
                    <a:solidFill>
                      <a:schemeClr val="tx1"/>
                    </a:solidFill>
                    <a:effectLst/>
                    <a:latin typeface="+mn-lt"/>
                    <a:ea typeface="+mn-ea"/>
                    <a:cs typeface="+mn-cs"/>
                  </a:rPr>
                  <a:t>𝑎</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kompleksne amplitude verovatnoća.</a:t>
                </a: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Za amplitude verovatnoća važi uslov normalizacije</a:t>
                </a:r>
                <a:r>
                  <a:rPr lang="en-ZA" sz="1200" kern="1200" baseline="0" dirty="0">
                    <a:solidFill>
                      <a:schemeClr val="tx1"/>
                    </a:solidFill>
                    <a:effectLst/>
                    <a:latin typeface="+mn-lt"/>
                    <a:ea typeface="+mn-ea"/>
                    <a:cs typeface="+mn-cs"/>
                  </a:rPr>
                  <a:t> </a:t>
                </a:r>
              </a:p>
              <a:p>
                <a:pPr algn="just"/>
                <a:r>
                  <a:rPr lang="en-ZA" sz="1200" i="0">
                    <a:latin typeface="Cambria Math" panose="02040503050406030204" pitchFamily="18" charset="0"/>
                  </a:rPr>
                  <a:t>∑1</a:t>
                </a:r>
                <a:r>
                  <a:rPr lang="sr-Latn-RS" sz="1200" i="0">
                    <a:latin typeface="Cambria Math" panose="02040503050406030204" pitchFamily="18" charset="0"/>
                  </a:rPr>
                  <a:t>_</a:t>
                </a:r>
                <a:r>
                  <a:rPr lang="en-ZA" sz="1200" i="0">
                    <a:latin typeface="Cambria Math" panose="02040503050406030204" pitchFamily="18" charset="0"/>
                  </a:rPr>
                  <a:t>(</a:t>
                </a:r>
                <a:r>
                  <a:rPr lang="sr-Latn-RS" sz="1200" i="0">
                    <a:latin typeface="Cambria Math" panose="02040503050406030204" pitchFamily="18" charset="0"/>
                  </a:rPr>
                  <a:t>𝑘=0</a:t>
                </a:r>
                <a:r>
                  <a:rPr lang="en-ZA" sz="1200" i="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US" sz="1200" b="0" i="0">
                    <a:latin typeface="Cambria Math" panose="02040503050406030204" pitchFamily="18" charset="0"/>
                  </a:rPr>
                  <a:t>〖</a:t>
                </a:r>
                <a:r>
                  <a:rPr lang="en-ZA" sz="1200" b="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𝑘 |</a:t>
                </a:r>
                <a:r>
                  <a:rPr lang="en-ZA" sz="1200" i="0">
                    <a:latin typeface="Cambria Math" panose="02040503050406030204" pitchFamily="18" charset="0"/>
                  </a:rPr>
                  <a:t>^</a:t>
                </a:r>
                <a:r>
                  <a:rPr lang="sr-Latn-RS" sz="1200" i="0">
                    <a:latin typeface="Cambria Math" panose="02040503050406030204" pitchFamily="18" charset="0"/>
                  </a:rPr>
                  <a:t>2=1</a:t>
                </a:r>
                <a:r>
                  <a:rPr lang="en-US" sz="1200" i="0">
                    <a:latin typeface="Cambria Math" panose="02040503050406030204" pitchFamily="18" charset="0"/>
                  </a:rPr>
                  <a:t>〗</a:t>
                </a:r>
                <a:r>
                  <a:rPr lang="en-US" sz="1200" b="0" i="0">
                    <a:latin typeface="Cambria Math" panose="02040503050406030204" pitchFamily="18" charset="0"/>
                  </a:rPr>
                  <a:t>     ili </a:t>
                </a:r>
                <a:r>
                  <a:rPr lang="sr-Latn-RS" sz="1200" i="0" kern="1200">
                    <a:solidFill>
                      <a:schemeClr val="tx1"/>
                    </a:solidFill>
                    <a:effectLst/>
                    <a:latin typeface="+mn-lt"/>
                    <a:ea typeface="+mn-ea"/>
                    <a:cs typeface="+mn-cs"/>
                  </a:rPr>
                  <a:t>ekivalentno,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𝑆│𝑆⟩=1</a:t>
                </a:r>
                <a:r>
                  <a:rPr lang="en-US" sz="1200" b="0" i="0" kern="1200">
                    <a:solidFill>
                      <a:schemeClr val="tx1"/>
                    </a:solidFill>
                    <a:effectLst/>
                    <a:latin typeface="Cambria Math" panose="02040503050406030204" pitchFamily="18" charset="0"/>
                    <a:ea typeface="+mn-ea"/>
                    <a:cs typeface="+mn-cs"/>
                  </a:rPr>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52</a:t>
            </a:fld>
            <a:endParaRPr lang="en-US"/>
          </a:p>
        </p:txBody>
      </p:sp>
    </p:spTree>
    <p:extLst>
      <p:ext uri="{BB962C8B-B14F-4D97-AF65-F5344CB8AC3E}">
        <p14:creationId xmlns:p14="http://schemas.microsoft.com/office/powerpoint/2010/main" val="16091806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dirty="0"/>
                  <a:t>The combined state of a multi-qubit system can be visualized using a Q-sphere, where the computational basis states appear as points on the sphere. Q-spheres are most useful for relatively small systems, as they become difficult to interpret as the number of qubits increases.</a:t>
                </a:r>
              </a:p>
              <a:p>
                <a:pPr algn="just"/>
                <a:endParaRPr lang="en-ZA" sz="1200" dirty="0"/>
              </a:p>
              <a:p>
                <a:pPr marL="171450" indent="-171450" algn="just">
                  <a:buFont typeface="Arial" panose="020B0604020202020204" pitchFamily="34" charset="0"/>
                  <a:buChar char="•"/>
                </a:pPr>
                <a:r>
                  <a:rPr lang="en-ZA" sz="1200" dirty="0"/>
                  <a:t>The basis state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0</m:t>
                        </m:r>
                      </m:e>
                    </m:d>
                  </m:oMath>
                </a14:m>
                <a:r>
                  <a:rPr lang="en-ZA" sz="1200" dirty="0"/>
                  <a:t> is positioned at the north pole, while </a:t>
                </a:r>
                <a14:m>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11</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e>
                    </m:d>
                  </m:oMath>
                </a14:m>
                <a:r>
                  <a:rPr lang="en-ZA" sz="1200" dirty="0"/>
                  <a:t> is at the south pole. </a:t>
                </a:r>
              </a:p>
              <a:p>
                <a:pPr marL="171450" indent="-171450" algn="just">
                  <a:buFont typeface="Arial" panose="020B0604020202020204" pitchFamily="34" charset="0"/>
                  <a:buChar char="•"/>
                </a:pPr>
                <a:r>
                  <a:rPr lang="en-ZA" sz="1200" dirty="0"/>
                  <a:t>Basis states with the same number of 11s lie on the same ring between the poles. </a:t>
                </a:r>
              </a:p>
              <a:p>
                <a:pPr marL="171450" indent="-171450" algn="just">
                  <a:buFont typeface="Arial" panose="020B0604020202020204" pitchFamily="34" charset="0"/>
                  <a:buChar char="•"/>
                </a:pPr>
                <a:r>
                  <a:rPr lang="en-ZA" sz="1200" dirty="0"/>
                  <a:t>The size of each point represents the probability associated with that basis state, </a:t>
                </a:r>
                <a14:m>
                  <m:oMath xmlns:m="http://schemas.openxmlformats.org/officeDocument/2006/math">
                    <m:sSup>
                      <m:sSupPr>
                        <m:ctrlPr>
                          <a:rPr lang="en-US" sz="1200" i="1">
                            <a:latin typeface="Cambria Math" panose="02040503050406030204" pitchFamily="18" charset="0"/>
                          </a:rPr>
                        </m:ctrlPr>
                      </m:sSupPr>
                      <m:e>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𝑘</m:t>
                                </m:r>
                              </m:sub>
                            </m:sSub>
                          </m:e>
                        </m:d>
                      </m:e>
                      <m:sup>
                        <m:r>
                          <a:rPr lang="en-US" sz="1200" i="1">
                            <a:latin typeface="Cambria Math" panose="02040503050406030204" pitchFamily="18" charset="0"/>
                          </a:rPr>
                          <m:t>2</m:t>
                        </m:r>
                      </m:sup>
                    </m:sSup>
                  </m:oMath>
                </a14:m>
                <a:r>
                  <a:rPr lang="en-ZA" sz="1200" dirty="0"/>
                  <a:t>. </a:t>
                </a:r>
              </a:p>
              <a:p>
                <a:pPr marL="171450" indent="-171450" algn="just">
                  <a:buFont typeface="Arial" panose="020B0604020202020204" pitchFamily="34" charset="0"/>
                  <a:buChar char="•"/>
                </a:pPr>
                <a:r>
                  <a:rPr lang="en-ZA" sz="1200" dirty="0"/>
                  <a:t>The colour of each point represents the phase of its probability amplitude,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𝑘</m:t>
                        </m:r>
                      </m:sub>
                    </m:sSub>
                  </m:oMath>
                </a14:m>
                <a:r>
                  <a:rPr lang="en-ZA" sz="1200" dirty="0"/>
                  <a:t>. </a:t>
                </a:r>
              </a:p>
              <a:p>
                <a:pPr marL="171450" indent="-171450" algn="just">
                  <a:buFont typeface="Arial" panose="020B0604020202020204" pitchFamily="34" charset="0"/>
                  <a:buChar char="•"/>
                </a:pPr>
                <a:r>
                  <a:rPr lang="en-ZA" sz="1200" dirty="0"/>
                  <a:t>Basis states with zero probability do not appear as visible points.</a:t>
                </a:r>
              </a:p>
            </p:txBody>
          </p:sp>
        </mc:Choice>
        <mc:Fallback xmlns="">
          <p:sp>
            <p:nvSpPr>
              <p:cNvPr id="3" name="Notes Placeholder 2"/>
              <p:cNvSpPr>
                <a:spLocks noGrp="1"/>
              </p:cNvSpPr>
              <p:nvPr>
                <p:ph type="body" idx="1"/>
              </p:nvPr>
            </p:nvSpPr>
            <p:spPr/>
            <p:txBody>
              <a:bodyPr/>
              <a:lstStyle/>
              <a:p>
                <a:r>
                  <a:rPr lang="en-US" sz="2000" dirty="0"/>
                  <a:t>Posto </a:t>
                </a:r>
                <a:r>
                  <a:rPr lang="en-US" sz="2000" dirty="0" err="1"/>
                  <a:t>je</a:t>
                </a:r>
                <a:r>
                  <a:rPr lang="en-US" sz="2000" dirty="0"/>
                  <a:t> </a:t>
                </a:r>
                <a:r>
                  <a:rPr lang="en-US" sz="2000" dirty="0" err="1"/>
                  <a:t>pomocu</a:t>
                </a:r>
                <a:r>
                  <a:rPr lang="en-US" sz="2000" dirty="0"/>
                  <a:t> </a:t>
                </a:r>
                <a:r>
                  <a:rPr lang="en-US" sz="2000" dirty="0" err="1"/>
                  <a:t>Bloh</a:t>
                </a:r>
                <a:r>
                  <a:rPr lang="en-US" sz="2000" dirty="0"/>
                  <a:t> </a:t>
                </a:r>
                <a:r>
                  <a:rPr lang="en-US" sz="2000" dirty="0" err="1"/>
                  <a:t>sfere</a:t>
                </a:r>
                <a:r>
                  <a:rPr lang="en-US" sz="2000" dirty="0"/>
                  <a:t> </a:t>
                </a:r>
                <a:r>
                  <a:rPr lang="en-US" sz="2000" dirty="0" err="1"/>
                  <a:t>moguce</a:t>
                </a:r>
                <a:r>
                  <a:rPr lang="en-US" sz="2000" dirty="0"/>
                  <a:t> </a:t>
                </a:r>
                <a:r>
                  <a:rPr lang="en-US" sz="2000" dirty="0" err="1"/>
                  <a:t>je</a:t>
                </a:r>
                <a:r>
                  <a:rPr lang="en-US" sz="2000" dirty="0"/>
                  <a:t> </a:t>
                </a:r>
                <a:r>
                  <a:rPr lang="en-US" sz="2000" dirty="0" err="1"/>
                  <a:t>vizualizovati</a:t>
                </a:r>
                <a:r>
                  <a:rPr lang="en-US" sz="2000" dirty="0"/>
                  <a:t> </a:t>
                </a:r>
                <a:r>
                  <a:rPr lang="en-US" sz="2000" dirty="0" err="1"/>
                  <a:t>samo</a:t>
                </a:r>
                <a:r>
                  <a:rPr lang="en-US" sz="2000" dirty="0"/>
                  <a:t> </a:t>
                </a:r>
                <a:r>
                  <a:rPr lang="en-US" sz="2000" dirty="0" err="1"/>
                  <a:t>jedan</a:t>
                </a:r>
                <a:r>
                  <a:rPr lang="en-US" sz="2000" dirty="0"/>
                  <a:t> </a:t>
                </a:r>
                <a:r>
                  <a:rPr lang="en-US" sz="2000" dirty="0" err="1"/>
                  <a:t>kubit</a:t>
                </a:r>
                <a:r>
                  <a:rPr lang="en-US" sz="2000" dirty="0"/>
                  <a:t>, </a:t>
                </a:r>
                <a:r>
                  <a:rPr lang="en-US" sz="2000" dirty="0" err="1"/>
                  <a:t>registar</a:t>
                </a:r>
                <a:r>
                  <a:rPr lang="en-US" sz="2000" dirty="0"/>
                  <a:t> </a:t>
                </a:r>
                <a:r>
                  <a:rPr lang="en-US" sz="2000" dirty="0" err="1"/>
                  <a:t>sa</a:t>
                </a:r>
                <a:r>
                  <a:rPr lang="en-US" sz="2000" dirty="0"/>
                  <a:t> vise </a:t>
                </a:r>
                <a:r>
                  <a:rPr lang="en-US" sz="2000" dirty="0" err="1"/>
                  <a:t>kubita</a:t>
                </a:r>
                <a:r>
                  <a:rPr lang="en-US" sz="2000" dirty="0"/>
                  <a:t> se </a:t>
                </a:r>
                <a:r>
                  <a:rPr lang="en-US" sz="2000" dirty="0" err="1"/>
                  <a:t>cesto</a:t>
                </a:r>
                <a:r>
                  <a:rPr lang="en-US" sz="2000" dirty="0"/>
                  <a:t> </a:t>
                </a:r>
                <a:r>
                  <a:rPr lang="en-US" sz="2000" dirty="0" err="1"/>
                  <a:t>vizuelizuje</a:t>
                </a:r>
                <a:r>
                  <a:rPr lang="en-US" sz="2000" dirty="0"/>
                  <a:t> </a:t>
                </a:r>
                <a:r>
                  <a:rPr lang="en-US" sz="2000" dirty="0" err="1"/>
                  <a:t>pomocu</a:t>
                </a:r>
                <a:r>
                  <a:rPr lang="en-US" sz="2000" dirty="0"/>
                  <a:t> q-</a:t>
                </a:r>
                <a:r>
                  <a:rPr lang="en-US" sz="2000" dirty="0" err="1"/>
                  <a:t>sfere</a:t>
                </a:r>
                <a:r>
                  <a:rPr lang="en-US" sz="2000" dirty="0"/>
                  <a:t>. </a:t>
                </a:r>
                <a:r>
                  <a:rPr lang="en-US" sz="2000" dirty="0" err="1"/>
                  <a:t>Odmah</a:t>
                </a:r>
                <a:r>
                  <a:rPr lang="en-US" sz="2000" dirty="0"/>
                  <a:t> da </a:t>
                </a:r>
                <a:r>
                  <a:rPr lang="en-US" sz="2000" dirty="0" err="1"/>
                  <a:t>napomenemo</a:t>
                </a:r>
                <a:r>
                  <a:rPr lang="en-US" sz="2000" dirty="0"/>
                  <a:t> da </a:t>
                </a:r>
                <a:r>
                  <a:rPr lang="en-US" sz="2000" dirty="0" err="1"/>
                  <a:t>su</a:t>
                </a:r>
                <a:r>
                  <a:rPr lang="en-US" sz="2000" dirty="0"/>
                  <a:t> Bloch-</a:t>
                </a:r>
                <a:r>
                  <a:rPr lang="en-US" sz="2000" dirty="0" err="1"/>
                  <a:t>sfera</a:t>
                </a:r>
                <a:r>
                  <a:rPr lang="en-US" sz="2000" dirty="0"/>
                  <a:t> </a:t>
                </a:r>
                <a:r>
                  <a:rPr lang="en-US" sz="2000" dirty="0" err="1"/>
                  <a:t>i</a:t>
                </a:r>
                <a:r>
                  <a:rPr lang="en-US" sz="2000" dirty="0"/>
                  <a:t> q-</a:t>
                </a:r>
                <a:r>
                  <a:rPr lang="en-US" sz="2000" dirty="0" err="1"/>
                  <a:t>sfera</a:t>
                </a:r>
                <a:r>
                  <a:rPr lang="en-US" sz="2000" dirty="0"/>
                  <a:t> </a:t>
                </a:r>
                <a:r>
                  <a:rPr lang="en-US" sz="2000" dirty="0" err="1"/>
                  <a:t>dve</a:t>
                </a:r>
                <a:r>
                  <a:rPr lang="en-US" sz="2000" dirty="0"/>
                  <a:t> </a:t>
                </a:r>
                <a:r>
                  <a:rPr lang="en-US" sz="2000" dirty="0" err="1"/>
                  <a:t>razlicite</a:t>
                </a:r>
                <a:r>
                  <a:rPr lang="en-US" sz="2000" dirty="0"/>
                  <a:t> </a:t>
                </a:r>
                <a:r>
                  <a:rPr lang="en-US" sz="2000" dirty="0" err="1"/>
                  <a:t>vizualizacije</a:t>
                </a:r>
                <a:r>
                  <a:rPr lang="en-US" sz="2000" dirty="0"/>
                  <a:t> I ne </a:t>
                </a:r>
                <a:r>
                  <a:rPr lang="en-US" sz="2000" dirty="0" err="1"/>
                  <a:t>treba</a:t>
                </a:r>
                <a:r>
                  <a:rPr lang="en-US" sz="2000" dirty="0"/>
                  <a:t> </a:t>
                </a:r>
                <a:r>
                  <a:rPr lang="en-US" sz="2000" dirty="0" err="1"/>
                  <a:t>ih</a:t>
                </a:r>
                <a:r>
                  <a:rPr lang="en-US" sz="2000" dirty="0"/>
                  <a:t> </a:t>
                </a:r>
                <a:r>
                  <a:rPr lang="en-US" sz="2000" dirty="0" err="1"/>
                  <a:t>porediti</a:t>
                </a:r>
                <a:r>
                  <a:rPr lang="en-US" sz="2000" dirty="0"/>
                  <a:t>.</a:t>
                </a:r>
              </a:p>
              <a:p>
                <a:pPr marL="457200" indent="-457200">
                  <a:buFont typeface="Arial" panose="020B0604020202020204" pitchFamily="34" charset="0"/>
                  <a:buChar char="•"/>
                </a:pPr>
                <a:r>
                  <a:rPr lang="en-US" sz="2000" dirty="0" err="1"/>
                  <a:t>Zamislimo</a:t>
                </a:r>
                <a:r>
                  <a:rPr lang="en-US" sz="2000" dirty="0"/>
                  <a:t> da </a:t>
                </a:r>
                <a:r>
                  <a:rPr lang="en-US" sz="2000" dirty="0" err="1"/>
                  <a:t>imamo</a:t>
                </a:r>
                <a:r>
                  <a:rPr lang="en-US" sz="2000" dirty="0"/>
                  <a:t> </a:t>
                </a:r>
                <a:r>
                  <a:rPr lang="en-US" sz="2000" dirty="0" err="1"/>
                  <a:t>dva</a:t>
                </a:r>
                <a:r>
                  <a:rPr lang="en-US" sz="2000" dirty="0"/>
                  <a:t> </a:t>
                </a:r>
                <a:r>
                  <a:rPr lang="en-US" sz="2000" dirty="0" err="1"/>
                  <a:t>kubita</a:t>
                </a:r>
                <a:r>
                  <a:rPr lang="en-US" sz="2000" dirty="0"/>
                  <a:t> </a:t>
                </a:r>
                <a:r>
                  <a:rPr lang="en-US" sz="2000" dirty="0" err="1"/>
                  <a:t>ciji</a:t>
                </a:r>
                <a:r>
                  <a:rPr lang="en-US" sz="2000" dirty="0"/>
                  <a:t> </a:t>
                </a:r>
                <a:r>
                  <a:rPr lang="en-US" sz="2000" dirty="0" err="1"/>
                  <a:t>su</a:t>
                </a:r>
                <a:r>
                  <a:rPr lang="en-US" sz="2000" dirty="0"/>
                  <a:t> </a:t>
                </a:r>
                <a:r>
                  <a:rPr lang="en-US" sz="2000" dirty="0" err="1"/>
                  <a:t>bazni</a:t>
                </a:r>
                <a:r>
                  <a:rPr lang="en-US" sz="2000" dirty="0"/>
                  <a:t> </a:t>
                </a:r>
                <a:r>
                  <a:rPr lang="en-US" sz="2000" dirty="0" err="1"/>
                  <a:t>vektori</a:t>
                </a:r>
                <a:r>
                  <a:rPr lang="en-US" sz="2000" dirty="0"/>
                  <a:t> </a:t>
                </a:r>
                <a:r>
                  <a:rPr lang="en-US" sz="2000" i="0">
                    <a:latin typeface="Cambria Math" panose="02040503050406030204" pitchFamily="18" charset="0"/>
                  </a:rPr>
                  <a:t>|</a:t>
                </a:r>
                <a:r>
                  <a:rPr lang="en-US" sz="2000" b="0" i="0">
                    <a:latin typeface="Cambria Math" panose="02040503050406030204" pitchFamily="18" charset="0"/>
                  </a:rPr>
                  <a:t>00⟩,</a:t>
                </a:r>
                <a:r>
                  <a:rPr lang="en-US" sz="2000" i="0">
                    <a:latin typeface="Cambria Math" panose="02040503050406030204" pitchFamily="18" charset="0"/>
                  </a:rPr>
                  <a:t>|</a:t>
                </a:r>
                <a:r>
                  <a:rPr lang="en-US" sz="2000" b="0" i="0">
                    <a:latin typeface="Cambria Math" panose="02040503050406030204" pitchFamily="18" charset="0"/>
                  </a:rPr>
                  <a:t>01⟩</a:t>
                </a:r>
                <a:r>
                  <a:rPr lang="en-US" sz="2000" dirty="0"/>
                  <a:t>, </a:t>
                </a:r>
                <a:r>
                  <a:rPr lang="en-US" sz="2000" i="0">
                    <a:latin typeface="Cambria Math" panose="02040503050406030204" pitchFamily="18" charset="0"/>
                  </a:rPr>
                  <a:t>|</a:t>
                </a:r>
                <a:r>
                  <a:rPr lang="en-US" sz="2000" b="0" i="0">
                    <a:latin typeface="Cambria Math" panose="02040503050406030204" pitchFamily="18" charset="0"/>
                  </a:rPr>
                  <a:t>10⟩</a:t>
                </a:r>
                <a:r>
                  <a:rPr lang="en-US" sz="2000" dirty="0"/>
                  <a:t>, </a:t>
                </a:r>
                <a:r>
                  <a:rPr lang="en-US" sz="2000" i="0">
                    <a:latin typeface="Cambria Math" panose="02040503050406030204" pitchFamily="18" charset="0"/>
                  </a:rPr>
                  <a:t>|</a:t>
                </a:r>
                <a:r>
                  <a:rPr lang="en-US" sz="2000" b="0" i="0">
                    <a:latin typeface="Cambria Math" panose="02040503050406030204" pitchFamily="18" charset="0"/>
                  </a:rPr>
                  <a:t>11⟩</a:t>
                </a:r>
                <a:r>
                  <a:rPr lang="en-US" sz="2000" dirty="0"/>
                  <a:t> </a:t>
                </a:r>
                <a:r>
                  <a:rPr lang="en-US" sz="2000" dirty="0" err="1"/>
                  <a:t>cije</a:t>
                </a:r>
                <a:r>
                  <a:rPr lang="en-US" sz="2000" baseline="0" dirty="0"/>
                  <a:t> </a:t>
                </a:r>
                <a:r>
                  <a:rPr lang="en-US" sz="2000" baseline="0" dirty="0" err="1"/>
                  <a:t>su</a:t>
                </a:r>
                <a:r>
                  <a:rPr lang="en-US" sz="2000" dirty="0"/>
                  <a:t> amplitude </a:t>
                </a:r>
                <a:r>
                  <a:rPr lang="en-US" sz="2000" dirty="0" err="1"/>
                  <a:t>verovatnoca</a:t>
                </a:r>
                <a:r>
                  <a:rPr lang="en-US" sz="2000" dirty="0"/>
                  <a:t> </a:t>
                </a:r>
                <a:r>
                  <a:rPr lang="en-US" sz="2000" dirty="0" err="1"/>
                  <a:t>prikazane</a:t>
                </a:r>
                <a:r>
                  <a:rPr lang="en-US" sz="2000" dirty="0"/>
                  <a:t> </a:t>
                </a:r>
                <a:r>
                  <a:rPr lang="en-US" sz="2000" dirty="0" err="1"/>
                  <a:t>stubicnim</a:t>
                </a:r>
                <a:r>
                  <a:rPr lang="en-US" sz="2000" dirty="0"/>
                  <a:t> </a:t>
                </a:r>
                <a:r>
                  <a:rPr lang="en-US" sz="2000" dirty="0" err="1"/>
                  <a:t>dijagramom</a:t>
                </a:r>
                <a:r>
                  <a:rPr lang="en-US" sz="2000" dirty="0"/>
                  <a:t>. </a:t>
                </a:r>
                <a:r>
                  <a:rPr lang="en-US" sz="2000" dirty="0" err="1"/>
                  <a:t>Primeticete</a:t>
                </a:r>
                <a:r>
                  <a:rPr lang="en-US" sz="2000" dirty="0"/>
                  <a:t> da </a:t>
                </a:r>
                <a:r>
                  <a:rPr lang="en-US" sz="2000" dirty="0" err="1"/>
                  <a:t>su</a:t>
                </a:r>
                <a:r>
                  <a:rPr lang="en-US" sz="2000" baseline="0" dirty="0"/>
                  <a:t> </a:t>
                </a:r>
                <a:r>
                  <a:rPr lang="en-US" sz="2000" baseline="0" dirty="0" err="1"/>
                  <a:t>stupci</a:t>
                </a:r>
                <a:r>
                  <a:rPr lang="en-US" sz="2000" baseline="0" dirty="0"/>
                  <a:t> u </a:t>
                </a:r>
                <a:r>
                  <a:rPr lang="en-US" sz="2000" baseline="0" dirty="0" err="1"/>
                  <a:t>razlicitim</a:t>
                </a:r>
                <a:r>
                  <a:rPr lang="en-US" sz="2000" baseline="0" dirty="0"/>
                  <a:t> </a:t>
                </a:r>
                <a:r>
                  <a:rPr lang="en-US" sz="2000" baseline="0" dirty="0" err="1"/>
                  <a:t>bojama</a:t>
                </a:r>
                <a:r>
                  <a:rPr lang="en-US" sz="2000" baseline="0" dirty="0"/>
                  <a:t> </a:t>
                </a:r>
                <a:r>
                  <a:rPr lang="en-US" sz="2000" baseline="0" dirty="0" err="1"/>
                  <a:t>koje</a:t>
                </a:r>
                <a:r>
                  <a:rPr lang="en-US" sz="2000" baseline="0" dirty="0"/>
                  <a:t> </a:t>
                </a:r>
                <a:r>
                  <a:rPr lang="en-US" sz="2000" baseline="0" dirty="0" err="1"/>
                  <a:t>oznacavaju</a:t>
                </a:r>
                <a:r>
                  <a:rPr lang="en-US" sz="2000" baseline="0" dirty="0"/>
                  <a:t> </a:t>
                </a:r>
                <a:r>
                  <a:rPr lang="en-US" sz="2000" baseline="0" dirty="0" err="1"/>
                  <a:t>fazu</a:t>
                </a:r>
                <a:r>
                  <a:rPr lang="en-US" sz="2000" baseline="0" dirty="0"/>
                  <a:t> </a:t>
                </a:r>
                <a:r>
                  <a:rPr lang="en-US" sz="2000" baseline="0" dirty="0" err="1"/>
                  <a:t>vektora</a:t>
                </a:r>
                <a:r>
                  <a:rPr lang="en-US" sz="2000" baseline="0" dirty="0"/>
                  <a:t> </a:t>
                </a:r>
                <a:r>
                  <a:rPr lang="en-US" sz="2000" baseline="0" dirty="0" err="1"/>
                  <a:t>baze</a:t>
                </a:r>
                <a:r>
                  <a:rPr lang="en-US" sz="2000" baseline="0" dirty="0"/>
                  <a:t> </a:t>
                </a:r>
                <a:r>
                  <a:rPr lang="en-US" sz="2000" baseline="0" dirty="0" err="1"/>
                  <a:t>prema</a:t>
                </a:r>
                <a:r>
                  <a:rPr lang="en-US" sz="2000" baseline="0" dirty="0"/>
                  <a:t> legend u </a:t>
                </a:r>
                <a:r>
                  <a:rPr lang="en-US" sz="2000" baseline="0" dirty="0" err="1"/>
                  <a:t>malom</a:t>
                </a:r>
                <a:r>
                  <a:rPr lang="en-US" sz="2000" baseline="0" dirty="0"/>
                  <a:t> </a:t>
                </a:r>
                <a:r>
                  <a:rPr lang="en-US" sz="2000" baseline="0" dirty="0" err="1"/>
                  <a:t>krugu</a:t>
                </a:r>
                <a:r>
                  <a:rPr lang="en-US" sz="2000" baseline="0" dirty="0"/>
                  <a:t>.</a:t>
                </a:r>
              </a:p>
              <a:p>
                <a:pPr marL="457200" indent="-457200">
                  <a:buFont typeface="Arial" panose="020B0604020202020204" pitchFamily="34" charset="0"/>
                  <a:buChar char="•"/>
                </a:pPr>
                <a:r>
                  <a:rPr lang="en-US" sz="2000" baseline="0" dirty="0" err="1"/>
                  <a:t>Ovaj</a:t>
                </a:r>
                <a:r>
                  <a:rPr lang="en-US" sz="2000" baseline="0" dirty="0"/>
                  <a:t> se </a:t>
                </a:r>
                <a:r>
                  <a:rPr lang="en-US" sz="2000" baseline="0" dirty="0" err="1"/>
                  <a:t>dijagram</a:t>
                </a:r>
                <a:r>
                  <a:rPr lang="en-US" sz="2000" baseline="0" dirty="0"/>
                  <a:t> </a:t>
                </a:r>
                <a:r>
                  <a:rPr lang="en-US" sz="2000" baseline="0" dirty="0" err="1"/>
                  <a:t>moze</a:t>
                </a:r>
                <a:r>
                  <a:rPr lang="en-US" sz="2000" baseline="0" dirty="0"/>
                  <a:t> </a:t>
                </a:r>
                <a:r>
                  <a:rPr lang="en-US" sz="2000" baseline="0" dirty="0" err="1"/>
                  <a:t>predstaviti</a:t>
                </a:r>
                <a:r>
                  <a:rPr lang="en-US" sz="2000" baseline="0" dirty="0"/>
                  <a:t> I </a:t>
                </a:r>
                <a:r>
                  <a:rPr lang="en-US" sz="2000" baseline="0" dirty="0" err="1"/>
                  <a:t>sferom</a:t>
                </a:r>
                <a:r>
                  <a:rPr lang="en-US" sz="2000" baseline="0" dirty="0"/>
                  <a:t> </a:t>
                </a:r>
                <a:r>
                  <a:rPr lang="en-US" sz="2000" baseline="0" dirty="0" err="1"/>
                  <a:t>gde</a:t>
                </a:r>
                <a:r>
                  <a:rPr lang="en-US" sz="2000" baseline="0" dirty="0"/>
                  <a:t> </a:t>
                </a:r>
                <a:r>
                  <a:rPr lang="en-US" sz="2000" baseline="0" dirty="0" err="1"/>
                  <a:t>su</a:t>
                </a:r>
                <a:r>
                  <a:rPr lang="en-US" sz="2000" baseline="0" dirty="0"/>
                  <a:t> </a:t>
                </a:r>
                <a:r>
                  <a:rPr lang="en-US" sz="2000" baseline="0" dirty="0" err="1"/>
                  <a:t>vektori</a:t>
                </a:r>
                <a:r>
                  <a:rPr lang="en-US" sz="2000" baseline="0" dirty="0"/>
                  <a:t> </a:t>
                </a:r>
                <a:r>
                  <a:rPr lang="en-US" sz="2000" baseline="0" dirty="0" err="1"/>
                  <a:t>baze</a:t>
                </a:r>
                <a:r>
                  <a:rPr lang="en-US" sz="2000" baseline="0" dirty="0"/>
                  <a:t> </a:t>
                </a:r>
                <a:r>
                  <a:rPr lang="en-US" sz="2000" baseline="0" dirty="0" err="1"/>
                  <a:t>predstavljeni</a:t>
                </a:r>
                <a:r>
                  <a:rPr lang="en-US" sz="2000" baseline="0" dirty="0"/>
                  <a:t> </a:t>
                </a:r>
                <a:r>
                  <a:rPr lang="en-US" sz="2000" baseline="0" dirty="0" err="1"/>
                  <a:t>tackama</a:t>
                </a:r>
                <a:r>
                  <a:rPr lang="en-US" sz="2000" baseline="0" dirty="0"/>
                  <a:t> </a:t>
                </a:r>
                <a:r>
                  <a:rPr lang="en-US" sz="2000" baseline="0" dirty="0" err="1"/>
                  <a:t>na</a:t>
                </a:r>
                <a:r>
                  <a:rPr lang="en-US" sz="2000" baseline="0" dirty="0"/>
                  <a:t> </a:t>
                </a:r>
                <a:r>
                  <a:rPr lang="en-US" sz="2000" baseline="0" dirty="0" err="1"/>
                  <a:t>povrsini</a:t>
                </a:r>
                <a:r>
                  <a:rPr lang="en-US" sz="2000" baseline="0" dirty="0"/>
                  <a:t> </a:t>
                </a:r>
                <a:r>
                  <a:rPr lang="en-US" sz="2000" baseline="0" dirty="0" err="1"/>
                  <a:t>sfere</a:t>
                </a:r>
                <a:r>
                  <a:rPr lang="en-US" sz="2000" baseline="0" dirty="0"/>
                  <a:t>. </a:t>
                </a:r>
                <a:r>
                  <a:rPr lang="en-US" sz="2000" baseline="0" dirty="0" err="1"/>
                  <a:t>Bazni</a:t>
                </a:r>
                <a:r>
                  <a:rPr lang="en-US" sz="2000" baseline="0" dirty="0"/>
                  <a:t> vector </a:t>
                </a:r>
                <a:r>
                  <a:rPr lang="en-US" sz="2000" baseline="0" dirty="0" err="1"/>
                  <a:t>koji</a:t>
                </a:r>
                <a:r>
                  <a:rPr lang="en-US" sz="2000" baseline="0" dirty="0"/>
                  <a:t> </a:t>
                </a:r>
                <a:r>
                  <a:rPr lang="en-US" sz="2000" baseline="0" dirty="0" err="1"/>
                  <a:t>sadrzi</a:t>
                </a:r>
                <a:r>
                  <a:rPr lang="en-US" sz="2000" baseline="0" dirty="0"/>
                  <a:t> </a:t>
                </a:r>
                <a:r>
                  <a:rPr lang="en-US" sz="2000" baseline="0" dirty="0" err="1"/>
                  <a:t>sve</a:t>
                </a:r>
                <a:r>
                  <a:rPr lang="en-US" sz="2000" baseline="0" dirty="0"/>
                  <a:t> </a:t>
                </a:r>
                <a:r>
                  <a:rPr lang="en-US" sz="2000" baseline="0" dirty="0" err="1"/>
                  <a:t>nule</a:t>
                </a:r>
                <a:r>
                  <a:rPr lang="en-US" sz="2000" baseline="0" dirty="0"/>
                  <a:t> </a:t>
                </a:r>
                <a:r>
                  <a:rPr lang="en-US" sz="2000" baseline="0" dirty="0" err="1"/>
                  <a:t>na</a:t>
                </a:r>
                <a:r>
                  <a:rPr lang="en-US" sz="2000" baseline="0" dirty="0"/>
                  <a:t> </a:t>
                </a:r>
                <a:r>
                  <a:rPr lang="en-US" sz="2000" baseline="0" dirty="0" err="1"/>
                  <a:t>severnom</a:t>
                </a:r>
                <a:r>
                  <a:rPr lang="en-US" sz="2000" baseline="0" dirty="0"/>
                  <a:t>, a </a:t>
                </a:r>
                <a:r>
                  <a:rPr lang="en-US" sz="2000" baseline="0" dirty="0" err="1"/>
                  <a:t>bazni</a:t>
                </a:r>
                <a:r>
                  <a:rPr lang="en-US" sz="2000" baseline="0" dirty="0"/>
                  <a:t> vector </a:t>
                </a:r>
                <a:r>
                  <a:rPr lang="en-US" sz="2000" baseline="0" dirty="0" err="1"/>
                  <a:t>sa</a:t>
                </a:r>
                <a:r>
                  <a:rPr lang="en-US" sz="2000" baseline="0" dirty="0"/>
                  <a:t> </a:t>
                </a:r>
                <a:r>
                  <a:rPr lang="en-US" sz="2000" baseline="0" dirty="0" err="1"/>
                  <a:t>svim</a:t>
                </a:r>
                <a:r>
                  <a:rPr lang="en-US" sz="2000" baseline="0" dirty="0"/>
                  <a:t> </a:t>
                </a:r>
                <a:r>
                  <a:rPr lang="en-US" sz="2000" baseline="0" dirty="0" err="1"/>
                  <a:t>jedinicama</a:t>
                </a:r>
                <a:r>
                  <a:rPr lang="en-US" sz="2000" baseline="0" dirty="0"/>
                  <a:t> </a:t>
                </a:r>
                <a:r>
                  <a:rPr lang="en-US" sz="2000" baseline="0" dirty="0" err="1"/>
                  <a:t>na</a:t>
                </a:r>
                <a:r>
                  <a:rPr lang="en-US" sz="2000" baseline="0" dirty="0"/>
                  <a:t> </a:t>
                </a:r>
                <a:r>
                  <a:rPr lang="en-US" sz="2000" baseline="0" dirty="0" err="1"/>
                  <a:t>juznom</a:t>
                </a:r>
                <a:r>
                  <a:rPr lang="en-US" sz="2000" baseline="0" dirty="0"/>
                  <a:t>. </a:t>
                </a:r>
                <a:r>
                  <a:rPr lang="en-US" sz="2000" baseline="0" dirty="0" err="1"/>
                  <a:t>Izmedju</a:t>
                </a:r>
                <a:r>
                  <a:rPr lang="en-US" sz="2000" baseline="0" dirty="0"/>
                  <a:t> </a:t>
                </a:r>
                <a:r>
                  <a:rPr lang="en-US" sz="2000" baseline="0" dirty="0" err="1"/>
                  <a:t>su</a:t>
                </a:r>
                <a:r>
                  <a:rPr lang="en-US" sz="2000" baseline="0" dirty="0"/>
                  <a:t> </a:t>
                </a:r>
                <a:r>
                  <a:rPr lang="en-US" sz="2000" baseline="0" dirty="0" err="1"/>
                  <a:t>prstenovi</a:t>
                </a:r>
                <a:r>
                  <a:rPr lang="en-US" sz="2000" baseline="0" dirty="0"/>
                  <a:t> </a:t>
                </a:r>
                <a:r>
                  <a:rPr lang="en-US" sz="2000" baseline="0" dirty="0" err="1"/>
                  <a:t>na</a:t>
                </a:r>
                <a:r>
                  <a:rPr lang="en-US" sz="2000" baseline="0" dirty="0"/>
                  <a:t> </a:t>
                </a:r>
                <a:r>
                  <a:rPr lang="en-US" sz="2000" baseline="0" dirty="0" err="1"/>
                  <a:t>podjednakim</a:t>
                </a:r>
                <a:r>
                  <a:rPr lang="en-US" sz="2000" baseline="0" dirty="0"/>
                  <a:t> </a:t>
                </a:r>
                <a:r>
                  <a:rPr lang="en-US" sz="2000" baseline="0" dirty="0" err="1"/>
                  <a:t>rastojanjima</a:t>
                </a:r>
                <a:r>
                  <a:rPr lang="en-US" sz="2000" baseline="0" dirty="0"/>
                  <a:t> </a:t>
                </a:r>
                <a:r>
                  <a:rPr lang="en-US" sz="2000" baseline="0" dirty="0" err="1"/>
                  <a:t>svaki</a:t>
                </a:r>
                <a:r>
                  <a:rPr lang="en-US" sz="2000" baseline="0" dirty="0"/>
                  <a:t> </a:t>
                </a:r>
                <a:r>
                  <a:rPr lang="en-US" sz="2000" baseline="0" dirty="0" err="1"/>
                  <a:t>sa</a:t>
                </a:r>
                <a:r>
                  <a:rPr lang="en-US" sz="2000" baseline="0" dirty="0"/>
                  <a:t> </a:t>
                </a:r>
                <a:r>
                  <a:rPr lang="en-US" sz="2000" baseline="0" dirty="0" err="1"/>
                  <a:t>baznim</a:t>
                </a:r>
                <a:r>
                  <a:rPr lang="en-US" sz="2000" baseline="0" dirty="0"/>
                  <a:t> </a:t>
                </a:r>
                <a:r>
                  <a:rPr lang="en-US" sz="2000" baseline="0" dirty="0" err="1"/>
                  <a:t>vektorima</a:t>
                </a:r>
                <a:r>
                  <a:rPr lang="en-US" sz="2000" baseline="0" dirty="0"/>
                  <a:t> </a:t>
                </a:r>
                <a:r>
                  <a:rPr lang="en-US" sz="2000" baseline="0" dirty="0" err="1"/>
                  <a:t>koji</a:t>
                </a:r>
                <a:r>
                  <a:rPr lang="en-US" sz="2000" baseline="0" dirty="0"/>
                  <a:t> </a:t>
                </a:r>
                <a:r>
                  <a:rPr lang="en-US" sz="2000" baseline="0" dirty="0" err="1"/>
                  <a:t>sadrze</a:t>
                </a:r>
                <a:r>
                  <a:rPr lang="en-US" sz="2000" baseline="0" dirty="0"/>
                  <a:t> </a:t>
                </a:r>
                <a:r>
                  <a:rPr lang="en-US" sz="2000" baseline="0" dirty="0" err="1"/>
                  <a:t>isti</a:t>
                </a:r>
                <a:r>
                  <a:rPr lang="en-US" sz="2000" baseline="0" dirty="0"/>
                  <a:t> </a:t>
                </a:r>
                <a:r>
                  <a:rPr lang="en-US" sz="2000" baseline="0" dirty="0" err="1"/>
                  <a:t>broj</a:t>
                </a:r>
                <a:r>
                  <a:rPr lang="en-US" sz="2000" baseline="0" dirty="0"/>
                  <a:t> </a:t>
                </a:r>
                <a:r>
                  <a:rPr lang="en-US" sz="2000" baseline="0" dirty="0" err="1"/>
                  <a:t>jedinica</a:t>
                </a:r>
                <a:r>
                  <a:rPr lang="en-US" sz="2000" baseline="0" dirty="0"/>
                  <a:t>. </a:t>
                </a:r>
                <a:r>
                  <a:rPr lang="en-US" sz="2000" baseline="0" dirty="0" err="1"/>
                  <a:t>Velicina</a:t>
                </a:r>
                <a:r>
                  <a:rPr lang="en-US" sz="2000" baseline="0" dirty="0"/>
                  <a:t> </a:t>
                </a:r>
                <a:r>
                  <a:rPr lang="en-US" sz="2000" baseline="0" dirty="0" err="1"/>
                  <a:t>tacke</a:t>
                </a:r>
                <a:r>
                  <a:rPr lang="en-US" sz="2000" baseline="0" dirty="0"/>
                  <a:t> </a:t>
                </a:r>
                <a:r>
                  <a:rPr lang="en-US" sz="2000" baseline="0" dirty="0" err="1"/>
                  <a:t>svakog</a:t>
                </a:r>
                <a:r>
                  <a:rPr lang="en-US" sz="2000" baseline="0" dirty="0"/>
                  <a:t> </a:t>
                </a:r>
                <a:r>
                  <a:rPr lang="en-US" sz="2000" baseline="0" dirty="0" err="1"/>
                  <a:t>vektora</a:t>
                </a:r>
                <a:r>
                  <a:rPr lang="en-US" sz="2000" baseline="0" dirty="0"/>
                  <a:t> </a:t>
                </a:r>
                <a:r>
                  <a:rPr lang="en-US" sz="2000" baseline="0" dirty="0" err="1"/>
                  <a:t>proporcionalna</a:t>
                </a:r>
                <a:r>
                  <a:rPr lang="en-US" sz="2000" baseline="0" dirty="0"/>
                  <a:t> </a:t>
                </a:r>
                <a:r>
                  <a:rPr lang="en-US" sz="2000" baseline="0" dirty="0" err="1"/>
                  <a:t>je</a:t>
                </a:r>
                <a:r>
                  <a:rPr lang="en-US" sz="2000" baseline="0" dirty="0"/>
                  <a:t> amplitude </a:t>
                </a:r>
                <a:r>
                  <a:rPr lang="en-US" sz="2000" baseline="0" dirty="0" err="1"/>
                  <a:t>verovatnoce</a:t>
                </a:r>
                <a:r>
                  <a:rPr lang="en-US" sz="2000" baseline="0" dirty="0"/>
                  <a:t>, a </a:t>
                </a:r>
                <a:r>
                  <a:rPr lang="en-US" sz="2000" baseline="0" dirty="0" err="1"/>
                  <a:t>boja</a:t>
                </a:r>
                <a:r>
                  <a:rPr lang="en-US" sz="2000" baseline="0" dirty="0"/>
                  <a:t> </a:t>
                </a:r>
                <a:r>
                  <a:rPr lang="en-US" sz="2000" baseline="0" dirty="0" err="1"/>
                  <a:t>oznacava</a:t>
                </a:r>
                <a:r>
                  <a:rPr lang="en-US" sz="2000" baseline="0" dirty="0"/>
                  <a:t> </a:t>
                </a:r>
                <a:r>
                  <a:rPr lang="en-US" sz="2000" baseline="0" dirty="0" err="1"/>
                  <a:t>fazu</a:t>
                </a:r>
                <a:r>
                  <a:rPr lang="en-US" sz="2000" baseline="0" dirty="0"/>
                  <a:t> </a:t>
                </a:r>
                <a:r>
                  <a:rPr lang="en-US" sz="2000" baseline="0" dirty="0" err="1"/>
                  <a:t>baznog</a:t>
                </a:r>
                <a:r>
                  <a:rPr lang="en-US" sz="2000" baseline="0" dirty="0"/>
                  <a:t> </a:t>
                </a:r>
                <a:r>
                  <a:rPr lang="en-US" sz="2000" baseline="0" dirty="0" err="1"/>
                  <a:t>vektora</a:t>
                </a:r>
                <a:r>
                  <a:rPr lang="en-US" sz="2000" baseline="0" dirty="0"/>
                  <a:t>.</a:t>
                </a:r>
              </a:p>
              <a:p>
                <a:pPr marL="457200" indent="-457200">
                  <a:buFont typeface="Arial" panose="020B0604020202020204" pitchFamily="34" charset="0"/>
                  <a:buChar char="•"/>
                </a:pPr>
                <a:r>
                  <a:rPr lang="en-US" sz="2000" baseline="0" dirty="0" err="1"/>
                  <a:t>Medjutim</a:t>
                </a:r>
                <a:r>
                  <a:rPr lang="en-US" sz="2000" baseline="0" dirty="0"/>
                  <a:t> I ova </a:t>
                </a:r>
                <a:r>
                  <a:rPr lang="en-US" sz="2000" baseline="0" dirty="0" err="1"/>
                  <a:t>vizualizacija</a:t>
                </a:r>
                <a:r>
                  <a:rPr lang="en-US" sz="2000" baseline="0" dirty="0"/>
                  <a:t> </a:t>
                </a:r>
                <a:r>
                  <a:rPr lang="en-US" sz="2000" baseline="0" dirty="0" err="1"/>
                  <a:t>ima</a:t>
                </a:r>
                <a:r>
                  <a:rPr lang="en-US" sz="2000" baseline="0" dirty="0"/>
                  <a:t> </a:t>
                </a:r>
                <a:r>
                  <a:rPr lang="en-US" sz="2000" baseline="0" dirty="0" err="1"/>
                  <a:t>ogranicenje</a:t>
                </a:r>
                <a:r>
                  <a:rPr lang="en-US" sz="2000" baseline="0" dirty="0"/>
                  <a:t> </a:t>
                </a:r>
                <a:r>
                  <a:rPr lang="en-US" sz="2000" baseline="0" dirty="0" err="1"/>
                  <a:t>obicno</a:t>
                </a:r>
                <a:r>
                  <a:rPr lang="en-US" sz="2000" baseline="0" dirty="0"/>
                  <a:t> </a:t>
                </a:r>
                <a:r>
                  <a:rPr lang="en-US" sz="2000" baseline="0" dirty="0" err="1"/>
                  <a:t>na</a:t>
                </a:r>
                <a:r>
                  <a:rPr lang="en-US" sz="2000" baseline="0" dirty="0"/>
                  <a:t> 5 </a:t>
                </a:r>
                <a:r>
                  <a:rPr lang="en-US" sz="2000" baseline="0" dirty="0" err="1"/>
                  <a:t>kubita</a:t>
                </a:r>
                <a:r>
                  <a:rPr lang="en-US" sz="2000" baseline="0" dirty="0"/>
                  <a:t> </a:t>
                </a:r>
                <a:r>
                  <a:rPr lang="en-US" sz="2000" baseline="0" dirty="0" err="1"/>
                  <a:t>jer</a:t>
                </a:r>
                <a:r>
                  <a:rPr lang="en-US" sz="2000" baseline="0" dirty="0"/>
                  <a:t> </a:t>
                </a:r>
                <a:r>
                  <a:rPr lang="en-US" sz="2000" baseline="0" dirty="0" err="1"/>
                  <a:t>jednostavno</a:t>
                </a:r>
                <a:r>
                  <a:rPr lang="en-US" sz="2000" baseline="0" dirty="0"/>
                  <a:t> </a:t>
                </a:r>
                <a:r>
                  <a:rPr lang="en-US" sz="2000" baseline="0" dirty="0" err="1"/>
                  <a:t>nema</a:t>
                </a:r>
                <a:r>
                  <a:rPr lang="en-US" sz="2000" baseline="0" dirty="0"/>
                  <a:t> </a:t>
                </a:r>
                <a:r>
                  <a:rPr lang="en-US" sz="2000" baseline="0" dirty="0" err="1"/>
                  <a:t>mesta</a:t>
                </a:r>
                <a:r>
                  <a:rPr lang="en-US" sz="2000" baseline="0" dirty="0"/>
                  <a:t> </a:t>
                </a:r>
                <a:r>
                  <a:rPr lang="en-US" sz="2000" baseline="0" dirty="0" err="1"/>
                  <a:t>na</a:t>
                </a:r>
                <a:r>
                  <a:rPr lang="en-US" sz="2000" baseline="0" dirty="0"/>
                  <a:t> </a:t>
                </a:r>
                <a:r>
                  <a:rPr lang="en-US" sz="2000" baseline="0" dirty="0" err="1"/>
                  <a:t>sferi</a:t>
                </a:r>
                <a:r>
                  <a:rPr lang="en-US" sz="2000" baseline="0" dirty="0"/>
                  <a:t> da se </a:t>
                </a:r>
                <a:r>
                  <a:rPr lang="en-US" sz="2000" baseline="0" dirty="0" err="1"/>
                  <a:t>jasno</a:t>
                </a:r>
                <a:r>
                  <a:rPr lang="en-US" sz="2000" baseline="0" dirty="0"/>
                  <a:t> </a:t>
                </a:r>
                <a:r>
                  <a:rPr lang="en-US" sz="2000" baseline="0" dirty="0" err="1"/>
                  <a:t>prikazu</a:t>
                </a:r>
                <a:r>
                  <a:rPr lang="en-US" sz="2000" baseline="0" dirty="0"/>
                  <a:t> </a:t>
                </a:r>
                <a:r>
                  <a:rPr lang="en-US" sz="2000" baseline="0" dirty="0" err="1"/>
                  <a:t>sve</a:t>
                </a:r>
                <a:r>
                  <a:rPr lang="en-US" sz="2000" baseline="0" dirty="0"/>
                  <a:t> </a:t>
                </a:r>
                <a:r>
                  <a:rPr lang="en-US" sz="2000" baseline="0" dirty="0" err="1"/>
                  <a:t>tacke</a:t>
                </a:r>
                <a:r>
                  <a:rPr lang="en-US" sz="2000" baseline="0" dirty="0"/>
                  <a:t>.</a:t>
                </a:r>
              </a:p>
              <a:p>
                <a:pPr marL="457200" indent="-4572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53</a:t>
            </a:fld>
            <a:endParaRPr lang="en-US"/>
          </a:p>
        </p:txBody>
      </p:sp>
    </p:spTree>
    <p:extLst>
      <p:ext uri="{BB962C8B-B14F-4D97-AF65-F5344CB8AC3E}">
        <p14:creationId xmlns:p14="http://schemas.microsoft.com/office/powerpoint/2010/main" val="3213866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Unlike classical programming languages, where bits are often grouped into fixed-size data types or hardware-defined registers, quantum programming languages do not require a predefined register structure. Instead, the programmer groups qubits and classical bits into registers of any desired size. A quantum register is treated as an indexed array of qubits, with indexing starting at 0.</a:t>
            </a:r>
          </a:p>
          <a:p>
            <a:endParaRPr lang="en-ZA" b="0" dirty="0"/>
          </a:p>
          <a:p>
            <a:r>
              <a:rPr lang="en-ZA" b="0" dirty="0"/>
              <a:t>The image shows two quantum registers:</a:t>
            </a:r>
          </a:p>
          <a:p>
            <a:endParaRPr lang="en-ZA" b="0" dirty="0"/>
          </a:p>
          <a:p>
            <a:pPr marL="171450" indent="-171450">
              <a:buFont typeface="Arial" panose="020B0604020202020204" pitchFamily="34" charset="0"/>
              <a:buChar char="•"/>
            </a:pPr>
            <a:r>
              <a:rPr lang="en-ZA" b="0" dirty="0" err="1"/>
              <a:t>qa</a:t>
            </a:r>
            <a:r>
              <a:rPr lang="en-ZA" b="0" dirty="0"/>
              <a:t>, containing two qubits, and</a:t>
            </a:r>
          </a:p>
          <a:p>
            <a:pPr marL="171450" indent="-171450">
              <a:buFont typeface="Arial" panose="020B0604020202020204" pitchFamily="34" charset="0"/>
              <a:buChar char="•"/>
            </a:pPr>
            <a:r>
              <a:rPr lang="en-ZA" b="0" dirty="0" err="1"/>
              <a:t>qb</a:t>
            </a:r>
            <a:r>
              <a:rPr lang="en-ZA" b="0" dirty="0"/>
              <a:t>, containing three qubits.</a:t>
            </a:r>
          </a:p>
          <a:p>
            <a:pPr marL="171450" indent="-171450">
              <a:buFont typeface="Arial" panose="020B0604020202020204" pitchFamily="34" charset="0"/>
              <a:buChar char="•"/>
            </a:pPr>
            <a:endParaRPr lang="en-ZA" b="0" dirty="0"/>
          </a:p>
          <a:p>
            <a:r>
              <a:rPr lang="en-ZA" b="0" dirty="0"/>
              <a:t>Below them are classical registers:</a:t>
            </a:r>
          </a:p>
          <a:p>
            <a:endParaRPr lang="en-ZA" b="0" dirty="0"/>
          </a:p>
          <a:p>
            <a:pPr marL="171450" indent="-171450">
              <a:buFont typeface="Arial" panose="020B0604020202020204" pitchFamily="34" charset="0"/>
              <a:buChar char="•"/>
            </a:pPr>
            <a:r>
              <a:rPr lang="en-ZA" b="0" dirty="0"/>
              <a:t>ca, with two classical bits, and</a:t>
            </a:r>
          </a:p>
          <a:p>
            <a:pPr marL="171450" indent="-171450">
              <a:buFont typeface="Arial" panose="020B0604020202020204" pitchFamily="34" charset="0"/>
              <a:buChar char="•"/>
            </a:pPr>
            <a:r>
              <a:rPr lang="en-ZA" b="0" dirty="0" err="1"/>
              <a:t>cb</a:t>
            </a:r>
            <a:r>
              <a:rPr lang="en-ZA" b="0" dirty="0"/>
              <a:t>, with three classical bits.</a:t>
            </a:r>
          </a:p>
          <a:p>
            <a:pPr marL="171450" indent="-171450">
              <a:buFont typeface="Arial" panose="020B0604020202020204" pitchFamily="34" charset="0"/>
              <a:buChar char="•"/>
            </a:pPr>
            <a:endParaRPr lang="en-ZA" b="0" dirty="0"/>
          </a:p>
          <a:p>
            <a:r>
              <a:rPr lang="en-ZA" dirty="0"/>
              <a:t>In IBM's Open Quantum Assembly Language (</a:t>
            </a:r>
            <a:r>
              <a:rPr lang="en-ZA" dirty="0" err="1"/>
              <a:t>OpenQASM</a:t>
            </a:r>
            <a:r>
              <a:rPr lang="en-ZA" dirty="0"/>
              <a:t>), registers are declared at the beginning of a program using the keywords:</a:t>
            </a:r>
          </a:p>
          <a:p>
            <a:endParaRPr lang="en-ZA" b="0" dirty="0"/>
          </a:p>
          <a:p>
            <a:pPr marL="171450" indent="-171450">
              <a:buFont typeface="Arial" panose="020B0604020202020204" pitchFamily="34" charset="0"/>
              <a:buChar char="•"/>
            </a:pPr>
            <a:r>
              <a:rPr lang="en-ZA" b="0" dirty="0">
                <a:latin typeface="Menlo" panose="020B0609030804020204" pitchFamily="49" charset="0"/>
                <a:ea typeface="Menlo" panose="020B0609030804020204" pitchFamily="49" charset="0"/>
                <a:cs typeface="Menlo" panose="020B0609030804020204" pitchFamily="49" charset="0"/>
              </a:rPr>
              <a:t>qubits</a:t>
            </a:r>
            <a:r>
              <a:rPr lang="en-ZA" b="0" dirty="0"/>
              <a:t> for quantum registers</a:t>
            </a:r>
          </a:p>
          <a:p>
            <a:pPr marL="171450" indent="-171450">
              <a:buFont typeface="Arial" panose="020B0604020202020204" pitchFamily="34" charset="0"/>
              <a:buChar char="•"/>
            </a:pPr>
            <a:r>
              <a:rPr lang="en-ZA" b="0" dirty="0">
                <a:latin typeface="Menlo" panose="020B0609030804020204" pitchFamily="49" charset="0"/>
                <a:ea typeface="Menlo" panose="020B0609030804020204" pitchFamily="49" charset="0"/>
                <a:cs typeface="Menlo" panose="020B0609030804020204" pitchFamily="49" charset="0"/>
              </a:rPr>
              <a:t>bits</a:t>
            </a:r>
            <a:r>
              <a:rPr lang="en-ZA" b="0" dirty="0"/>
              <a:t> for classical registers.</a:t>
            </a:r>
          </a:p>
          <a:p>
            <a:pPr marL="171450" indent="-171450">
              <a:buFont typeface="Arial" panose="020B0604020202020204" pitchFamily="34" charset="0"/>
              <a:buChar char="•"/>
            </a:pPr>
            <a:endParaRPr lang="en-ZA" b="0" dirty="0"/>
          </a:p>
          <a:p>
            <a:r>
              <a:rPr lang="en-ZA" dirty="0"/>
              <a:t>The register name follows the keyword, and the number of qubits or classical bits is specified in square brackets. Every </a:t>
            </a:r>
            <a:r>
              <a:rPr lang="en-ZA" dirty="0" err="1"/>
              <a:t>OpenQASM</a:t>
            </a:r>
            <a:r>
              <a:rPr lang="en-ZA" dirty="0"/>
              <a:t> statement ends with a semicolon.</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54</a:t>
            </a:fld>
            <a:endParaRPr lang="en-US"/>
          </a:p>
        </p:txBody>
      </p:sp>
    </p:spTree>
    <p:extLst>
      <p:ext uri="{BB962C8B-B14F-4D97-AF65-F5344CB8AC3E}">
        <p14:creationId xmlns:p14="http://schemas.microsoft.com/office/powerpoint/2010/main" val="3894971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As the output of a quantum program, the qubits in a quantum register are measured, and the measurement results are stored in a classical register. For example, consider a two-qubit register whose state before measurement is described by the vector </a:t>
                </a:r>
                <a14:m>
                  <m:oMath xmlns:m="http://schemas.openxmlformats.org/officeDocument/2006/math">
                    <m:d>
                      <m:dPr>
                        <m:begChr m:val="|"/>
                        <m:endChr m:val="⟩"/>
                        <m:ctrlPr>
                          <a:rPr lang="en-US" sz="1200" i="1" smtClean="0">
                            <a:latin typeface="Cambria Math" panose="02040503050406030204" pitchFamily="18" charset="0"/>
                            <a:ea typeface="Cambria Math" panose="02040503050406030204" pitchFamily="18" charset="0"/>
                          </a:rPr>
                        </m:ctrlPr>
                      </m:dPr>
                      <m:e>
                        <m:r>
                          <a:rPr lang="sr-Latn-RS" sz="1200" b="0" i="1" smtClean="0">
                            <a:latin typeface="Cambria Math" panose="02040503050406030204" pitchFamily="18" charset="0"/>
                            <a:ea typeface="Cambria Math" panose="02040503050406030204" pitchFamily="18" charset="0"/>
                          </a:rPr>
                          <m:t>𝑆</m:t>
                        </m:r>
                      </m:e>
                    </m:d>
                  </m:oMath>
                </a14:m>
                <a:r>
                  <a:rPr lang="en-ZA" dirty="0"/>
                  <a:t>, representing a superposition of four basis states with probability amplitudes </a:t>
                </a:r>
                <a14:m>
                  <m:oMath xmlns:m="http://schemas.openxmlformats.org/officeDocument/2006/math">
                    <m:sSub>
                      <m:sSubPr>
                        <m:ctrlPr>
                          <a:rPr lang="en-ZA" sz="1200" i="1" smtClean="0">
                            <a:latin typeface="Cambria Math" panose="02040503050406030204" pitchFamily="18" charset="0"/>
                          </a:rPr>
                        </m:ctrlPr>
                      </m:sSubPr>
                      <m:e>
                        <m:r>
                          <a:rPr lang="sr-Latn-RS" sz="1200" b="0" i="1">
                            <a:latin typeface="Cambria Math" panose="02040503050406030204" pitchFamily="18" charset="0"/>
                          </a:rPr>
                          <m:t>𝑎</m:t>
                        </m:r>
                      </m:e>
                      <m:sub>
                        <m:r>
                          <a:rPr lang="sr-Latn-RS" sz="1200" b="0" i="1">
                            <a:latin typeface="Cambria Math" panose="02040503050406030204" pitchFamily="18" charset="0"/>
                          </a:rPr>
                          <m:t>0</m:t>
                        </m:r>
                      </m:sub>
                    </m:sSub>
                  </m:oMath>
                </a14:m>
                <a:r>
                  <a:rPr lang="en-ZA" dirty="0"/>
                  <a:t> to </a:t>
                </a:r>
                <a14:m>
                  <m:oMath xmlns:m="http://schemas.openxmlformats.org/officeDocument/2006/math">
                    <m:sSub>
                      <m:sSubPr>
                        <m:ctrlPr>
                          <a:rPr lang="en-ZA" sz="1200" i="1" smtClean="0">
                            <a:latin typeface="Cambria Math" panose="02040503050406030204" pitchFamily="18" charset="0"/>
                          </a:rPr>
                        </m:ctrlPr>
                      </m:sSubPr>
                      <m:e>
                        <m:r>
                          <a:rPr lang="sr-Latn-RS" sz="1200" b="0" i="1">
                            <a:latin typeface="Cambria Math" panose="02040503050406030204" pitchFamily="18" charset="0"/>
                          </a:rPr>
                          <m:t>𝑎</m:t>
                        </m:r>
                      </m:e>
                      <m:sub>
                        <m:r>
                          <a:rPr lang="sr-Latn-RS" sz="1200" b="0" i="1" smtClean="0">
                            <a:latin typeface="Cambria Math" panose="02040503050406030204" pitchFamily="18" charset="0"/>
                          </a:rPr>
                          <m:t>3</m:t>
                        </m:r>
                      </m:sub>
                    </m:sSub>
                  </m:oMath>
                </a14:m>
                <a:r>
                  <a:rPr lang="en-ZA" dirty="0"/>
                  <a:t>. Since the state must be normalized, the sum of the squared magnitudes of all amplitudes is equal to 1.</a:t>
                </a:r>
              </a:p>
              <a:p>
                <a:endParaRPr lang="en-ZA" dirty="0"/>
              </a:p>
              <a:p>
                <a:pPr marL="171450" indent="-171450">
                  <a:buFont typeface="Arial" panose="020B0604020202020204" pitchFamily="34" charset="0"/>
                  <a:buChar char="•"/>
                </a:pPr>
                <a:r>
                  <a:rPr lang="en-ZA" dirty="0"/>
                  <a:t>When each qubit is measured, the probability of obtaining each bit combination is equal to the squared magnitude of the corresponding amplitude. The result is stored in the classical register cc as one of the combinations 00, 01, 10, or 11.</a:t>
                </a:r>
              </a:p>
              <a:p>
                <a:pPr marL="171450" indent="-171450">
                  <a:buFont typeface="Arial" panose="020B0604020202020204" pitchFamily="34" charset="0"/>
                  <a:buChar char="•"/>
                </a:pPr>
                <a:endParaRPr lang="en-Z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This rule can be generalized to a register of n qubits, whose state is a linear combination of 2</a:t>
                </a:r>
                <a:r>
                  <a:rPr lang="en-ZA" baseline="30000" dirty="0"/>
                  <a:t>n</a:t>
                </a:r>
                <a:r>
                  <a:rPr lang="en-ZA" dirty="0"/>
                  <a:t> basis states. Measuring all qubits produces an n-bit result </a:t>
                </a:r>
                <a:r>
                  <a:rPr lang="en-ZA" dirty="0" err="1"/>
                  <a:t>kk</a:t>
                </a:r>
                <a:r>
                  <a:rPr lang="en-ZA" dirty="0"/>
                  <a:t> with probability </a:t>
                </a:r>
                <a14:m>
                  <m:oMath xmlns:m="http://schemas.openxmlformats.org/officeDocument/2006/math">
                    <m:sSup>
                      <m:sSupPr>
                        <m:ctrlPr>
                          <a:rPr lang="en-US" sz="1200" i="1" smtClean="0">
                            <a:solidFill>
                              <a:schemeClr val="tx1"/>
                            </a:solidFill>
                            <a:latin typeface="Cambria Math" panose="02040503050406030204" pitchFamily="18" charset="0"/>
                          </a:rPr>
                        </m:ctrlPr>
                      </m:sSupPr>
                      <m:e>
                        <m:d>
                          <m:dPr>
                            <m:begChr m:val="|"/>
                            <m:endChr m:val="|"/>
                            <m:ctrlPr>
                              <a:rPr lang="en-US" sz="1200" i="1">
                                <a:solidFill>
                                  <a:schemeClr val="tx1"/>
                                </a:solidFill>
                                <a:latin typeface="Cambria Math" panose="02040503050406030204" pitchFamily="18" charset="0"/>
                              </a:rPr>
                            </m:ctrlPr>
                          </m:dPr>
                          <m:e>
                            <m:sSub>
                              <m:sSubPr>
                                <m:ctrlPr>
                                  <a:rPr lang="en-US" sz="1200" i="1">
                                    <a:solidFill>
                                      <a:schemeClr val="tx1"/>
                                    </a:solidFill>
                                    <a:latin typeface="Cambria Math" panose="02040503050406030204" pitchFamily="18" charset="0"/>
                                  </a:rPr>
                                </m:ctrlPr>
                              </m:sSubPr>
                              <m:e>
                                <m:r>
                                  <a:rPr lang="en-US" sz="1200" i="1">
                                    <a:solidFill>
                                      <a:schemeClr val="tx1"/>
                                    </a:solidFill>
                                    <a:latin typeface="Cambria Math" panose="02040503050406030204" pitchFamily="18" charset="0"/>
                                  </a:rPr>
                                  <m:t>𝑎</m:t>
                                </m:r>
                              </m:e>
                              <m:sub>
                                <m:r>
                                  <a:rPr lang="sr-Latn-RS" sz="1200" b="0" i="1" smtClean="0">
                                    <a:solidFill>
                                      <a:schemeClr val="tx1"/>
                                    </a:solidFill>
                                    <a:latin typeface="Cambria Math" panose="02040503050406030204" pitchFamily="18" charset="0"/>
                                  </a:rPr>
                                  <m:t>𝑘</m:t>
                                </m:r>
                              </m:sub>
                            </m:sSub>
                          </m:e>
                        </m:d>
                      </m:e>
                      <m:sup>
                        <m:r>
                          <a:rPr lang="en-US" sz="1200" i="1">
                            <a:solidFill>
                              <a:schemeClr val="tx1"/>
                            </a:solidFill>
                            <a:latin typeface="Cambria Math" panose="02040503050406030204" pitchFamily="18" charset="0"/>
                          </a:rPr>
                          <m:t>2</m:t>
                        </m:r>
                      </m:sup>
                    </m:sSup>
                  </m:oMath>
                </a14:m>
                <a:r>
                  <a:rPr lang="en-ZA" dirty="0"/>
                  <a:t>, leaving the register after measurement in the state </a:t>
                </a:r>
                <a14:m>
                  <m:oMath xmlns:m="http://schemas.openxmlformats.org/officeDocument/2006/math">
                    <m:d>
                      <m:dPr>
                        <m:begChr m:val="|"/>
                        <m:endChr m:val="⟩"/>
                        <m:ctrlPr>
                          <a:rPr lang="en-ZA" sz="1200" i="1" smtClean="0">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𝑘</m:t>
                        </m:r>
                      </m:e>
                    </m:d>
                  </m:oMath>
                </a14:m>
                <a:r>
                  <a:rPr lang="en-ZA"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dirty="0"/>
              </a:p>
              <a:p>
                <a:r>
                  <a:rPr lang="en-ZA" b="0" dirty="0"/>
                  <a:t>This is the usual final step of a quantum program: measurement converts the quantum state of the register into a classical binary result.</a:t>
                </a:r>
              </a:p>
            </p:txBody>
          </p:sp>
        </mc:Choice>
        <mc:Fallback xmlns="">
          <p:sp>
            <p:nvSpPr>
              <p:cNvPr id="3" name="Notes Placeholder 2"/>
              <p:cNvSpPr>
                <a:spLocks noGrp="1"/>
              </p:cNvSpPr>
              <p:nvPr>
                <p:ph type="body" idx="1"/>
              </p:nvPr>
            </p:nvSpPr>
            <p:spPr/>
            <p:txBody>
              <a:bodyPr/>
              <a:lstStyle/>
              <a:p>
                <a:r>
                  <a:rPr lang="en-US" dirty="0"/>
                  <a:t>Kao </a:t>
                </a:r>
                <a:r>
                  <a:rPr lang="en-US" dirty="0" err="1"/>
                  <a:t>izlazni</a:t>
                </a:r>
                <a:r>
                  <a:rPr lang="en-US" dirty="0"/>
                  <a:t> </a:t>
                </a:r>
                <a:r>
                  <a:rPr lang="en-US" dirty="0" err="1"/>
                  <a:t>rezultat</a:t>
                </a:r>
                <a:r>
                  <a:rPr lang="en-US" dirty="0"/>
                  <a:t> </a:t>
                </a:r>
                <a:r>
                  <a:rPr lang="en-US" dirty="0" err="1"/>
                  <a:t>rada</a:t>
                </a:r>
                <a:r>
                  <a:rPr lang="en-US" dirty="0"/>
                  <a:t> </a:t>
                </a:r>
                <a:r>
                  <a:rPr lang="en-US" dirty="0" err="1"/>
                  <a:t>programa</a:t>
                </a:r>
                <a:r>
                  <a:rPr lang="en-US" dirty="0"/>
                  <a:t>, kubiti u </a:t>
                </a:r>
                <a:r>
                  <a:rPr lang="en-US" dirty="0" err="1"/>
                  <a:t>kvantnom</a:t>
                </a:r>
                <a:r>
                  <a:rPr lang="en-US" dirty="0"/>
                  <a:t> </a:t>
                </a:r>
                <a:r>
                  <a:rPr lang="en-US" dirty="0" err="1"/>
                  <a:t>registru</a:t>
                </a:r>
                <a:r>
                  <a:rPr lang="en-US" dirty="0"/>
                  <a:t> se mere </a:t>
                </a:r>
                <a:r>
                  <a:rPr lang="en-US" dirty="0" err="1"/>
                  <a:t>i</a:t>
                </a:r>
                <a:r>
                  <a:rPr lang="en-US" dirty="0"/>
                  <a:t> </a:t>
                </a:r>
                <a:r>
                  <a:rPr lang="en-US" dirty="0" err="1"/>
                  <a:t>upisuju</a:t>
                </a:r>
                <a:r>
                  <a:rPr lang="en-US" dirty="0"/>
                  <a:t> u </a:t>
                </a:r>
                <a:r>
                  <a:rPr lang="en-US" dirty="0" err="1"/>
                  <a:t>klasični</a:t>
                </a:r>
                <a:r>
                  <a:rPr lang="en-US" dirty="0"/>
                  <a:t> </a:t>
                </a:r>
                <a:r>
                  <a:rPr lang="en-US" dirty="0" err="1"/>
                  <a:t>registar</a:t>
                </a:r>
                <a:r>
                  <a:rPr lang="en-US" dirty="0"/>
                  <a:t>. </a:t>
                </a:r>
                <a:r>
                  <a:rPr lang="en-US" dirty="0" err="1"/>
                  <a:t>Neka</a:t>
                </a:r>
                <a:r>
                  <a:rPr lang="en-US" dirty="0"/>
                  <a:t> </a:t>
                </a:r>
                <a:r>
                  <a:rPr lang="en-US" dirty="0" err="1"/>
                  <a:t>je</a:t>
                </a:r>
                <a:r>
                  <a:rPr lang="en-US" dirty="0"/>
                  <a:t> </a:t>
                </a:r>
                <a:r>
                  <a:rPr lang="en-US" dirty="0" err="1"/>
                  <a:t>na</a:t>
                </a:r>
                <a:r>
                  <a:rPr lang="en-US" dirty="0"/>
                  <a:t> primer, </a:t>
                </a:r>
                <a:r>
                  <a:rPr lang="en-US" dirty="0" err="1"/>
                  <a:t>stanje</a:t>
                </a:r>
                <a:r>
                  <a:rPr lang="en-US" dirty="0"/>
                  <a:t> </a:t>
                </a:r>
                <a:r>
                  <a:rPr lang="en-US" dirty="0" err="1"/>
                  <a:t>dvokubitnog</a:t>
                </a:r>
                <a:r>
                  <a:rPr lang="en-US" dirty="0"/>
                  <a:t> </a:t>
                </a:r>
                <a:r>
                  <a:rPr lang="en-US" dirty="0" err="1"/>
                  <a:t>registra</a:t>
                </a:r>
                <a:r>
                  <a:rPr lang="en-US" dirty="0"/>
                  <a:t> pre </a:t>
                </a:r>
                <a:r>
                  <a:rPr lang="en-US" dirty="0" err="1"/>
                  <a:t>merenja</a:t>
                </a:r>
                <a:r>
                  <a:rPr lang="en-US" dirty="0"/>
                  <a:t> </a:t>
                </a:r>
                <a:r>
                  <a:rPr lang="en-US" dirty="0" err="1"/>
                  <a:t>opisano</a:t>
                </a:r>
                <a:r>
                  <a:rPr lang="en-US" dirty="0"/>
                  <a:t> </a:t>
                </a:r>
                <a:r>
                  <a:rPr lang="en-US" dirty="0" err="1"/>
                  <a:t>vektorom</a:t>
                </a:r>
                <a:r>
                  <a:rPr lang="en-US" dirty="0"/>
                  <a:t> </a:t>
                </a:r>
                <a:r>
                  <a:rPr lang="en-US" sz="1200" i="0">
                    <a:latin typeface="Cambria Math" panose="02040503050406030204" pitchFamily="18" charset="0"/>
                  </a:rPr>
                  <a:t>|𝑆⟩</a:t>
                </a:r>
                <a:r>
                  <a:rPr lang="en-US" dirty="0"/>
                  <a:t> koji se </a:t>
                </a:r>
                <a:r>
                  <a:rPr lang="en-US" dirty="0" err="1"/>
                  <a:t>nalazi</a:t>
                </a:r>
                <a:r>
                  <a:rPr lang="en-US" dirty="0"/>
                  <a:t> u </a:t>
                </a:r>
                <a:r>
                  <a:rPr lang="en-US" dirty="0" err="1"/>
                  <a:t>superpoziciji</a:t>
                </a:r>
                <a:r>
                  <a:rPr lang="en-US" dirty="0"/>
                  <a:t> </a:t>
                </a:r>
                <a:r>
                  <a:rPr lang="en-US" dirty="0" err="1"/>
                  <a:t>svih</a:t>
                </a:r>
                <a:r>
                  <a:rPr lang="en-US" dirty="0"/>
                  <a:t> </a:t>
                </a:r>
                <a:r>
                  <a:rPr lang="en-US" dirty="0" err="1"/>
                  <a:t>mogučih</a:t>
                </a:r>
                <a:r>
                  <a:rPr lang="en-US" dirty="0"/>
                  <a:t> </a:t>
                </a:r>
                <a:r>
                  <a:rPr lang="en-US" dirty="0" err="1"/>
                  <a:t>kombinacija</a:t>
                </a:r>
                <a:r>
                  <a:rPr lang="en-US" dirty="0"/>
                  <a:t> </a:t>
                </a:r>
                <a:r>
                  <a:rPr lang="en-US" dirty="0" err="1"/>
                  <a:t>stanja</a:t>
                </a:r>
                <a:r>
                  <a:rPr lang="en-US" dirty="0"/>
                  <a:t> </a:t>
                </a:r>
                <a:r>
                  <a:rPr lang="en-US" dirty="0" err="1"/>
                  <a:t>baze</a:t>
                </a:r>
                <a:r>
                  <a:rPr lang="en-US" dirty="0"/>
                  <a:t> </a:t>
                </a:r>
                <a:r>
                  <a:rPr lang="en-US" dirty="0" err="1"/>
                  <a:t>sa</a:t>
                </a:r>
                <a:r>
                  <a:rPr lang="en-US" dirty="0"/>
                  <a:t> </a:t>
                </a:r>
                <a:r>
                  <a:rPr lang="en-US" dirty="0" err="1"/>
                  <a:t>amplitudama</a:t>
                </a:r>
                <a:r>
                  <a:rPr lang="en-US" dirty="0"/>
                  <a:t> </a:t>
                </a:r>
                <a:r>
                  <a:rPr lang="en-US" dirty="0" err="1"/>
                  <a:t>verovatnoća</a:t>
                </a:r>
                <a:r>
                  <a:rPr lang="en-US" baseline="0" dirty="0"/>
                  <a:t> </a:t>
                </a:r>
                <a:r>
                  <a:rPr lang="en-US" baseline="0" dirty="0" err="1"/>
                  <a:t>obeleženim</a:t>
                </a:r>
                <a:r>
                  <a:rPr lang="en-US" baseline="0" dirty="0"/>
                  <a:t> od a</a:t>
                </a:r>
                <a:r>
                  <a:rPr lang="en-US" baseline="-25000" dirty="0"/>
                  <a:t>0</a:t>
                </a:r>
                <a:r>
                  <a:rPr lang="en-US" baseline="0" dirty="0"/>
                  <a:t> do a</a:t>
                </a:r>
                <a:r>
                  <a:rPr lang="en-US" baseline="-25000" dirty="0"/>
                  <a:t>3</a:t>
                </a:r>
                <a:r>
                  <a:rPr lang="en-US" baseline="0" dirty="0"/>
                  <a:t>. </a:t>
                </a:r>
                <a:r>
                  <a:rPr lang="en-US" baseline="0" dirty="0" err="1"/>
                  <a:t>kako</a:t>
                </a:r>
                <a:r>
                  <a:rPr lang="en-US" baseline="0" dirty="0"/>
                  <a:t> </a:t>
                </a:r>
                <a:r>
                  <a:rPr lang="en-US" baseline="0" dirty="0" err="1"/>
                  <a:t>uslov</a:t>
                </a:r>
                <a:r>
                  <a:rPr lang="en-US" baseline="0" dirty="0"/>
                  <a:t> </a:t>
                </a:r>
                <a:r>
                  <a:rPr lang="en-US" baseline="0" dirty="0" err="1"/>
                  <a:t>normalizacije</a:t>
                </a:r>
                <a:r>
                  <a:rPr lang="en-US" baseline="0" dirty="0"/>
                  <a:t> mora </a:t>
                </a:r>
                <a:r>
                  <a:rPr lang="en-US" baseline="0" dirty="0" err="1"/>
                  <a:t>biti</a:t>
                </a:r>
                <a:r>
                  <a:rPr lang="en-US" baseline="0" dirty="0"/>
                  <a:t> </a:t>
                </a:r>
                <a:r>
                  <a:rPr lang="en-US" baseline="0" dirty="0" err="1"/>
                  <a:t>zadovoljen</a:t>
                </a:r>
                <a:r>
                  <a:rPr lang="en-US" baseline="0" dirty="0"/>
                  <a:t>, </a:t>
                </a:r>
                <a:r>
                  <a:rPr lang="en-US" baseline="0" dirty="0" err="1"/>
                  <a:t>suma</a:t>
                </a:r>
                <a:r>
                  <a:rPr lang="en-US" baseline="0" dirty="0"/>
                  <a:t> </a:t>
                </a:r>
                <a:r>
                  <a:rPr lang="en-US" baseline="0" dirty="0" err="1"/>
                  <a:t>kvadrata</a:t>
                </a:r>
                <a:r>
                  <a:rPr lang="en-US" baseline="0" dirty="0"/>
                  <a:t> </a:t>
                </a:r>
                <a:r>
                  <a:rPr lang="en-US" baseline="0" dirty="0" err="1"/>
                  <a:t>svhih</a:t>
                </a:r>
                <a:r>
                  <a:rPr lang="en-US" baseline="0" dirty="0"/>
                  <a:t> amplitude mora </a:t>
                </a:r>
                <a:r>
                  <a:rPr lang="en-US" baseline="0" dirty="0" err="1"/>
                  <a:t>biti</a:t>
                </a:r>
                <a:r>
                  <a:rPr lang="en-US" baseline="0" dirty="0"/>
                  <a:t> 1.</a:t>
                </a:r>
              </a:p>
              <a:p>
                <a:endParaRPr lang="en-US" baseline="0" dirty="0"/>
              </a:p>
              <a:p>
                <a:pPr marL="228600" indent="-228600">
                  <a:buFont typeface="+mj-lt"/>
                  <a:buAutoNum type="arabicPeriod"/>
                </a:pPr>
                <a:r>
                  <a:rPr lang="en-US" baseline="0" dirty="0" err="1"/>
                  <a:t>Ako</a:t>
                </a:r>
                <a:r>
                  <a:rPr lang="en-US" baseline="0" dirty="0"/>
                  <a:t> </a:t>
                </a:r>
                <a:r>
                  <a:rPr lang="en-US" baseline="0" dirty="0" err="1"/>
                  <a:t>postavimo</a:t>
                </a:r>
                <a:r>
                  <a:rPr lang="en-US" baseline="0" dirty="0"/>
                  <a:t> </a:t>
                </a:r>
                <a:r>
                  <a:rPr lang="en-US" baseline="0" dirty="0" err="1"/>
                  <a:t>na</a:t>
                </a:r>
                <a:r>
                  <a:rPr lang="en-US" baseline="0" dirty="0"/>
                  <a:t> </a:t>
                </a:r>
                <a:r>
                  <a:rPr lang="en-US" baseline="0" dirty="0" err="1"/>
                  <a:t>liniju</a:t>
                </a:r>
                <a:r>
                  <a:rPr lang="en-US" baseline="0" dirty="0"/>
                  <a:t> </a:t>
                </a:r>
                <a:r>
                  <a:rPr lang="en-US" baseline="0" dirty="0" err="1"/>
                  <a:t>svakog</a:t>
                </a:r>
                <a:r>
                  <a:rPr lang="en-US" baseline="0" dirty="0"/>
                  <a:t> kubita </a:t>
                </a:r>
                <a:r>
                  <a:rPr lang="en-US" baseline="0" dirty="0" err="1"/>
                  <a:t>po</a:t>
                </a:r>
                <a:r>
                  <a:rPr lang="en-US" baseline="0" dirty="0"/>
                  <a:t> </a:t>
                </a:r>
                <a:r>
                  <a:rPr lang="en-US" baseline="0" dirty="0" err="1"/>
                  <a:t>merni</a:t>
                </a:r>
                <a:r>
                  <a:rPr lang="en-US" baseline="0" dirty="0"/>
                  <a:t> instrument </a:t>
                </a:r>
                <a:r>
                  <a:rPr lang="en-US" baseline="0" dirty="0" err="1"/>
                  <a:t>verovatnoća</a:t>
                </a:r>
                <a:r>
                  <a:rPr lang="en-US" baseline="0" dirty="0"/>
                  <a:t> </a:t>
                </a:r>
                <a:r>
                  <a:rPr lang="en-US" baseline="0" dirty="0" err="1"/>
                  <a:t>merenja</a:t>
                </a:r>
                <a:r>
                  <a:rPr lang="en-US" baseline="0" dirty="0"/>
                  <a:t> </a:t>
                </a:r>
                <a:r>
                  <a:rPr lang="en-US" baseline="0" dirty="0" err="1"/>
                  <a:t>svake</a:t>
                </a:r>
                <a:r>
                  <a:rPr lang="en-US" baseline="0" dirty="0"/>
                  <a:t> </a:t>
                </a:r>
                <a:r>
                  <a:rPr lang="en-US" baseline="0" dirty="0" err="1"/>
                  <a:t>kombinacije</a:t>
                </a:r>
                <a:r>
                  <a:rPr lang="en-US" baseline="0" dirty="0"/>
                  <a:t> kubita </a:t>
                </a:r>
                <a:r>
                  <a:rPr lang="en-US" baseline="0" dirty="0" err="1"/>
                  <a:t>na</a:t>
                </a:r>
                <a:r>
                  <a:rPr lang="en-US" baseline="0" dirty="0"/>
                  <a:t> </a:t>
                </a:r>
                <a:r>
                  <a:rPr lang="en-US" baseline="0" dirty="0" err="1"/>
                  <a:t>izlazu</a:t>
                </a:r>
                <a:r>
                  <a:rPr lang="en-US" baseline="0" dirty="0"/>
                  <a:t> </a:t>
                </a:r>
                <a:r>
                  <a:rPr lang="en-US" baseline="0" dirty="0" err="1"/>
                  <a:t>jednaka</a:t>
                </a:r>
                <a:r>
                  <a:rPr lang="en-US" baseline="0" dirty="0"/>
                  <a:t> </a:t>
                </a:r>
                <a:r>
                  <a:rPr lang="en-US" baseline="0" dirty="0" err="1"/>
                  <a:t>je</a:t>
                </a:r>
                <a:r>
                  <a:rPr lang="en-US" baseline="0" dirty="0"/>
                  <a:t> </a:t>
                </a:r>
                <a:r>
                  <a:rPr lang="en-US" baseline="0" dirty="0" err="1"/>
                  <a:t>kvadratu</a:t>
                </a:r>
                <a:r>
                  <a:rPr lang="en-US" baseline="0" dirty="0"/>
                  <a:t> </a:t>
                </a:r>
                <a:r>
                  <a:rPr lang="en-US" baseline="0" dirty="0" err="1"/>
                  <a:t>apsolutne</a:t>
                </a:r>
                <a:r>
                  <a:rPr lang="en-US" baseline="0" dirty="0"/>
                  <a:t> </a:t>
                </a:r>
                <a:r>
                  <a:rPr lang="en-US" baseline="0" dirty="0" err="1"/>
                  <a:t>vrednosti</a:t>
                </a:r>
                <a:r>
                  <a:rPr lang="en-US" baseline="0" dirty="0"/>
                  <a:t> </a:t>
                </a:r>
                <a:r>
                  <a:rPr lang="en-US" baseline="0" dirty="0" err="1"/>
                  <a:t>pridružene</a:t>
                </a:r>
                <a:r>
                  <a:rPr lang="en-US" baseline="0" dirty="0"/>
                  <a:t> amplitude. </a:t>
                </a:r>
                <a:r>
                  <a:rPr lang="en-US" baseline="0" dirty="0" err="1"/>
                  <a:t>Rezulat</a:t>
                </a:r>
                <a:r>
                  <a:rPr lang="en-US" baseline="0" dirty="0"/>
                  <a:t> se </a:t>
                </a:r>
                <a:r>
                  <a:rPr lang="en-US" baseline="0" dirty="0" err="1"/>
                  <a:t>upisuje</a:t>
                </a:r>
                <a:r>
                  <a:rPr lang="en-US" baseline="0" dirty="0"/>
                  <a:t> u </a:t>
                </a:r>
                <a:r>
                  <a:rPr lang="en-US" baseline="0" dirty="0" err="1"/>
                  <a:t>bitove</a:t>
                </a:r>
                <a:r>
                  <a:rPr lang="en-US" baseline="0" dirty="0"/>
                  <a:t> </a:t>
                </a:r>
                <a:r>
                  <a:rPr lang="en-US" baseline="0" dirty="0" err="1"/>
                  <a:t>registra</a:t>
                </a:r>
                <a:r>
                  <a:rPr lang="en-US" baseline="0" dirty="0"/>
                  <a:t> c, </a:t>
                </a:r>
                <a:r>
                  <a:rPr lang="en-US" baseline="0" dirty="0" err="1"/>
                  <a:t>koji</a:t>
                </a:r>
                <a:r>
                  <a:rPr lang="en-US" baseline="0" dirty="0"/>
                  <a:t> </a:t>
                </a:r>
                <a:r>
                  <a:rPr lang="en-US" baseline="0" dirty="0" err="1"/>
                  <a:t>sadrži</a:t>
                </a:r>
                <a:r>
                  <a:rPr lang="en-US" baseline="0" dirty="0"/>
                  <a:t> </a:t>
                </a:r>
                <a:r>
                  <a:rPr lang="en-US" baseline="0" dirty="0" err="1"/>
                  <a:t>jednu</a:t>
                </a:r>
                <a:r>
                  <a:rPr lang="en-US" baseline="0" dirty="0"/>
                  <a:t> od </a:t>
                </a:r>
                <a:r>
                  <a:rPr lang="en-US" baseline="0" dirty="0" err="1"/>
                  <a:t>kombinacija</a:t>
                </a:r>
                <a:r>
                  <a:rPr lang="en-US" baseline="0" dirty="0"/>
                  <a:t> 00,01,10 </a:t>
                </a:r>
                <a:r>
                  <a:rPr lang="en-US" baseline="0" dirty="0" err="1"/>
                  <a:t>ili</a:t>
                </a:r>
                <a:r>
                  <a:rPr lang="en-US" baseline="0" dirty="0"/>
                  <a:t> 11..</a:t>
                </a:r>
              </a:p>
              <a:p>
                <a:pPr marL="228600" indent="-228600">
                  <a:buFont typeface="+mj-lt"/>
                  <a:buAutoNum type="arabicPeriod"/>
                </a:pPr>
                <a:r>
                  <a:rPr lang="en-US" baseline="0" dirty="0" err="1"/>
                  <a:t>Pravilo</a:t>
                </a:r>
                <a:r>
                  <a:rPr lang="en-US" baseline="0" dirty="0"/>
                  <a:t> se </a:t>
                </a:r>
                <a:r>
                  <a:rPr lang="en-US" baseline="0" dirty="0" err="1"/>
                  <a:t>može</a:t>
                </a:r>
                <a:r>
                  <a:rPr lang="en-US" baseline="0" dirty="0"/>
                  <a:t>  </a:t>
                </a:r>
                <a:r>
                  <a:rPr lang="en-US" baseline="0" dirty="0" err="1"/>
                  <a:t>generalizovati</a:t>
                </a:r>
                <a:r>
                  <a:rPr lang="en-US" baseline="0" dirty="0"/>
                  <a:t> </a:t>
                </a:r>
                <a:r>
                  <a:rPr lang="en-US" baseline="0" dirty="0" err="1"/>
                  <a:t>za</a:t>
                </a:r>
                <a:r>
                  <a:rPr lang="en-US" baseline="0" dirty="0"/>
                  <a:t> </a:t>
                </a:r>
                <a:r>
                  <a:rPr lang="en-US" baseline="0" dirty="0" err="1"/>
                  <a:t>registar</a:t>
                </a:r>
                <a:r>
                  <a:rPr lang="en-US" baseline="0" dirty="0"/>
                  <a:t> od  n kubita </a:t>
                </a:r>
                <a:r>
                  <a:rPr lang="en-US" baseline="0" dirty="0" err="1"/>
                  <a:t>dat</a:t>
                </a:r>
                <a:r>
                  <a:rPr lang="en-US" baseline="0" dirty="0"/>
                  <a:t> </a:t>
                </a:r>
                <a:r>
                  <a:rPr lang="en-US" baseline="0" dirty="0" err="1"/>
                  <a:t>kao</a:t>
                </a:r>
                <a:r>
                  <a:rPr lang="en-US" baseline="0" dirty="0"/>
                  <a:t> </a:t>
                </a:r>
                <a:r>
                  <a:rPr lang="en-US" baseline="0" dirty="0" err="1"/>
                  <a:t>linearna</a:t>
                </a:r>
                <a:r>
                  <a:rPr lang="en-US" baseline="0" dirty="0"/>
                  <a:t> </a:t>
                </a:r>
                <a:r>
                  <a:rPr lang="en-US" baseline="0" dirty="0" err="1"/>
                  <a:t>kombinacija</a:t>
                </a:r>
                <a:r>
                  <a:rPr lang="en-US" baseline="0" dirty="0"/>
                  <a:t> n </a:t>
                </a:r>
                <a:r>
                  <a:rPr lang="en-US" baseline="0" dirty="0" err="1"/>
                  <a:t>vektora</a:t>
                </a:r>
                <a:r>
                  <a:rPr lang="en-US" baseline="0" dirty="0"/>
                  <a:t> </a:t>
                </a:r>
                <a:r>
                  <a:rPr lang="en-US" baseline="0" dirty="0" err="1"/>
                  <a:t>baze</a:t>
                </a:r>
                <a:r>
                  <a:rPr lang="en-US" baseline="0" dirty="0"/>
                  <a:t>. </a:t>
                </a:r>
                <a:r>
                  <a:rPr lang="sr-Latn-RS" sz="1200" kern="1200" baseline="0" dirty="0">
                    <a:solidFill>
                      <a:schemeClr val="tx1"/>
                    </a:solidFill>
                    <a:effectLst/>
                    <a:latin typeface="+mn-lt"/>
                    <a:ea typeface="+mn-ea"/>
                    <a:cs typeface="+mn-cs"/>
                  </a:rPr>
                  <a:t>M</a:t>
                </a:r>
                <a:r>
                  <a:rPr lang="sr-Latn-RS" sz="1200" kern="1200" dirty="0">
                    <a:solidFill>
                      <a:schemeClr val="tx1"/>
                    </a:solidFill>
                    <a:effectLst/>
                    <a:latin typeface="+mn-lt"/>
                    <a:ea typeface="+mn-ea"/>
                    <a:cs typeface="+mn-cs"/>
                  </a:rPr>
                  <a:t>erenje svih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kubita daće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-bitni broj </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 sa verovatnoćom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𝛼</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𝑘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ostavljajući registar posle merenja u stanju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𝑘⟩</a:t>
                </a:r>
                <a:r>
                  <a:rPr lang="en-US" baseline="0" dirty="0"/>
                  <a:t>.</a:t>
                </a:r>
              </a:p>
              <a:p>
                <a:pPr marL="0" indent="0">
                  <a:buFont typeface="+mj-lt"/>
                  <a:buNone/>
                </a:pPr>
                <a:r>
                  <a:rPr lang="en-US" baseline="0" dirty="0" err="1"/>
                  <a:t>Ovo</a:t>
                </a:r>
                <a:r>
                  <a:rPr lang="en-US" baseline="0" dirty="0"/>
                  <a:t> </a:t>
                </a:r>
                <a:r>
                  <a:rPr lang="en-US" baseline="0" dirty="0" err="1"/>
                  <a:t>je</a:t>
                </a:r>
                <a:r>
                  <a:rPr lang="en-US" baseline="0" dirty="0"/>
                  <a:t> </a:t>
                </a:r>
                <a:r>
                  <a:rPr lang="en-US" baseline="0" dirty="0" err="1"/>
                  <a:t>uobičajeni</a:t>
                </a:r>
                <a:r>
                  <a:rPr lang="en-US" baseline="0" dirty="0"/>
                  <a:t> </a:t>
                </a:r>
                <a:r>
                  <a:rPr lang="en-US" baseline="0" dirty="0" err="1"/>
                  <a:t>završetak</a:t>
                </a:r>
                <a:r>
                  <a:rPr lang="en-US" baseline="0" dirty="0"/>
                  <a:t> </a:t>
                </a:r>
                <a:r>
                  <a:rPr lang="en-US" baseline="0" dirty="0" err="1"/>
                  <a:t>većine</a:t>
                </a:r>
                <a:r>
                  <a:rPr lang="en-US" baseline="0" dirty="0"/>
                  <a:t> </a:t>
                </a:r>
                <a:r>
                  <a:rPr lang="en-US" baseline="0" dirty="0" err="1"/>
                  <a:t>kvantnih</a:t>
                </a:r>
                <a:r>
                  <a:rPr lang="en-US" baseline="0" dirty="0"/>
                  <a:t> </a:t>
                </a:r>
                <a:r>
                  <a:rPr lang="en-US" baseline="0" dirty="0" err="1"/>
                  <a:t>programa</a:t>
                </a:r>
                <a:r>
                  <a:rPr lang="en-US" baseline="0" dirty="0"/>
                  <a:t>. </a:t>
                </a:r>
                <a:r>
                  <a:rPr lang="en-US" baseline="0" dirty="0" err="1"/>
                  <a:t>Dakle</a:t>
                </a:r>
                <a:r>
                  <a:rPr lang="en-US" baseline="0" dirty="0"/>
                  <a:t>, </a:t>
                </a:r>
                <a:r>
                  <a:rPr lang="en-US" baseline="0" dirty="0" err="1"/>
                  <a:t>na</a:t>
                </a:r>
                <a:r>
                  <a:rPr lang="en-US" baseline="0" dirty="0"/>
                  <a:t> </a:t>
                </a:r>
                <a:r>
                  <a:rPr lang="en-US" baseline="0" dirty="0" err="1"/>
                  <a:t>izlazu</a:t>
                </a:r>
                <a:r>
                  <a:rPr lang="en-US" baseline="0" dirty="0"/>
                  <a:t> se </a:t>
                </a:r>
                <a:r>
                  <a:rPr lang="en-US" baseline="0" dirty="0" err="1"/>
                  <a:t>dobija</a:t>
                </a:r>
                <a:r>
                  <a:rPr lang="en-US" baseline="0" dirty="0"/>
                  <a:t> </a:t>
                </a:r>
                <a:r>
                  <a:rPr lang="en-US" baseline="0" dirty="0" err="1"/>
                  <a:t>binarni</a:t>
                </a:r>
                <a:r>
                  <a:rPr lang="en-US" baseline="0" dirty="0"/>
                  <a:t> </a:t>
                </a:r>
                <a:r>
                  <a:rPr lang="en-US" baseline="0" dirty="0" err="1"/>
                  <a:t>broj</a:t>
                </a:r>
                <a:r>
                  <a:rPr lang="en-US" baseline="0" dirty="0"/>
                  <a:t> </a:t>
                </a:r>
                <a:r>
                  <a:rPr lang="sr-Latn-RS" sz="1200" i="0" kern="1200">
                    <a:solidFill>
                      <a:schemeClr val="tx1"/>
                    </a:solidFill>
                    <a:effectLst/>
                    <a:latin typeface="Cambria Math" panose="02040503050406030204" pitchFamily="18" charset="0"/>
                    <a:ea typeface="+mn-ea"/>
                    <a:cs typeface="+mn-cs"/>
                  </a:rPr>
                  <a:t>𝑛</a:t>
                </a:r>
                <a:r>
                  <a:rPr lang="en-US" baseline="0" dirty="0"/>
                  <a:t>.</a:t>
                </a:r>
              </a:p>
              <a:p>
                <a:endParaRPr lang="en-US" baseline="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55</a:t>
            </a:fld>
            <a:endParaRPr lang="en-US"/>
          </a:p>
        </p:txBody>
      </p:sp>
    </p:spTree>
    <p:extLst>
      <p:ext uri="{BB962C8B-B14F-4D97-AF65-F5344CB8AC3E}">
        <p14:creationId xmlns:p14="http://schemas.microsoft.com/office/powerpoint/2010/main" val="5183746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Consider again a two-qubit register, but now only one of the qubits is measured. A measurement that does not involve the entire register is called a partial measurement.</a:t>
                </a:r>
              </a:p>
              <a:p>
                <a:endParaRPr lang="en-ZA" b="0" dirty="0"/>
              </a:p>
              <a:p>
                <a:pPr marL="228600" indent="-228600">
                  <a:buFont typeface="+mj-lt"/>
                  <a:buAutoNum type="arabicPeriod"/>
                </a:pPr>
                <a:r>
                  <a:rPr lang="en-ZA" b="0" dirty="0"/>
                  <a:t>According to the Born rule, the probability of measuring the first qubit as 0 is the sum of the squared magnitudes of the probability amplitudes of all basis states in which the first qubit is 0. Similarly, the probability of measuring 1 is obtained from all basis states in which the first qubit is 1.</a:t>
                </a:r>
              </a:p>
              <a:p>
                <a:pPr marL="228600" indent="-228600">
                  <a:buFont typeface="+mj-lt"/>
                  <a:buAutoNum type="arabicPeriod"/>
                </a:pPr>
                <a:endParaRPr lang="en-ZA" b="0" dirty="0"/>
              </a:p>
              <a:p>
                <a:pPr marL="228600" indent="-228600">
                  <a:buFont typeface="+mj-lt"/>
                  <a:buAutoNum type="arabicPeriod"/>
                </a:pPr>
                <a:r>
                  <a:rPr lang="en-ZA" b="0" dirty="0"/>
                  <a:t>After the measurement, the quantum state changes. If the outcome is 0, all basis states inconsistent with this outcome are eliminated from the state vector. The first qubit is left in the state ∣0⟩, while the remaining state of the register may still contain a superposition. In the illustration, the eliminated terms are crossed out.</a:t>
                </a:r>
              </a:p>
              <a:p>
                <a:pPr marL="228600" indent="-228600">
                  <a:buFont typeface="+mj-lt"/>
                  <a:buAutoNum type="arabicPeriod"/>
                </a:pPr>
                <a:endParaRPr lang="en-ZA" b="0" dirty="0"/>
              </a:p>
              <a:p>
                <a:pPr marL="228600" indent="-228600">
                  <a:buFont typeface="+mj-lt"/>
                  <a:buAutoNum type="arabicPeriod"/>
                </a:pPr>
                <a:r>
                  <a:rPr lang="en-ZA" b="0" dirty="0"/>
                  <a:t>To preserve normalization, the remaining probability amplitudes are renormalized by dividing them by a normalization factor n, equal to the square root of the total probability of the remaining terms.</a:t>
                </a:r>
              </a:p>
              <a:p>
                <a:pPr marL="228600" indent="-228600">
                  <a:buFont typeface="+mj-lt"/>
                  <a:buAutoNum type="arabicPeriod"/>
                </a:pPr>
                <a:endParaRPr lang="en-ZA" b="0" dirty="0"/>
              </a:p>
              <a:p>
                <a:pPr marL="228600" indent="-228600">
                  <a:buFont typeface="+mj-lt"/>
                  <a:buAutoNum type="arabicPeriod"/>
                </a:pPr>
                <a:r>
                  <a:rPr lang="en-ZA" b="0" dirty="0"/>
                  <a:t>If the second qubit is measured afterward, the probabilities of obtaining 0 or 1 are again determined by the Born rule, now using the renormalized probability amplitudes.</a:t>
                </a:r>
              </a:p>
            </p:txBody>
          </p:sp>
        </mc:Choice>
        <mc:Fallback xmlns="">
          <p:sp>
            <p:nvSpPr>
              <p:cNvPr id="3" name="Notes Placeholder 2"/>
              <p:cNvSpPr>
                <a:spLocks noGrp="1"/>
              </p:cNvSpPr>
              <p:nvPr>
                <p:ph type="body" idx="1"/>
              </p:nvPr>
            </p:nvSpPr>
            <p:spPr/>
            <p:txBody>
              <a:bodyPr/>
              <a:lstStyle/>
              <a:p>
                <a:r>
                  <a:rPr lang="en-ZA" b="0" dirty="0"/>
                  <a:t>Consider again a two-qubit register, but now the measurement gate is applied to only one of the qubits. A measurement that does not involve the entire register is called a partial measurement.</a:t>
                </a:r>
              </a:p>
              <a:p>
                <a:pPr algn="just"/>
                <a:endParaRPr lang="en-ZA" b="0" dirty="0"/>
              </a:p>
              <a:p>
                <a:pPr marL="228600" indent="-228600" algn="just">
                  <a:buFont typeface="+mj-lt"/>
                  <a:buAutoNum type="arabicPeriod"/>
                </a:pPr>
                <a:r>
                  <a:rPr lang="en-ZA" dirty="0"/>
                  <a:t>According to the Born rule, the probability of measuring the first qubit as 0 is equal to the sum of the squared magnitudes of the probability amplitudes of all basis states whose first qubit is 0. Similarly, the probability of measuring the first qubit as 1 is equal to the sum of the squared magnitudes of the probability amplitudes of all basis states whose first qubit is 1. </a:t>
                </a:r>
              </a:p>
              <a:p>
                <a:pPr marL="228600" indent="-228600" algn="just">
                  <a:buFont typeface="+mj-lt"/>
                  <a:buAutoNum type="arabicPeriod"/>
                </a:pPr>
                <a:endParaRPr lang="en-ZA" b="0" dirty="0"/>
              </a:p>
              <a:p>
                <a:pPr marL="228600" indent="-228600" algn="just">
                  <a:buFont typeface="+mj-lt"/>
                  <a:buAutoNum type="arabicPeriod"/>
                </a:pPr>
                <a:r>
                  <a:rPr lang="en-ZA" dirty="0"/>
                  <a:t>After the measurement, the quantum state changes. If the measurement outcome is 0, the first qubit collapses to the state ∣0⟩, while the second qubit generally remains in a superposition of its basis states.</a:t>
                </a:r>
                <a:r>
                  <a:rPr lang="en-ZA" b="0" dirty="0"/>
                  <a:t> </a:t>
                </a:r>
                <a:r>
                  <a:rPr lang="en-ZA" dirty="0"/>
                  <a:t>All basis states that are inconsistent with the measurement outcome disappear from the state vector. In the illustration, these terms are crossed out.</a:t>
                </a:r>
              </a:p>
              <a:p>
                <a:pPr marL="228600" indent="-228600" algn="just">
                  <a:buFont typeface="+mj-lt"/>
                  <a:buAutoNum type="arabicPeriod"/>
                </a:pPr>
                <a:endParaRPr lang="en-ZA" b="0" dirty="0"/>
              </a:p>
              <a:p>
                <a:pPr marL="228600" indent="-228600" algn="just">
                  <a:buFont typeface="+mj-lt"/>
                  <a:buAutoNum type="arabicPeriod"/>
                </a:pPr>
                <a:r>
                  <a:rPr lang="en-ZA" dirty="0"/>
                  <a:t>To preserve the normalization condition, the remaining probability amplitudes are renormalized by dividing them by a normalization factor </a:t>
                </a:r>
                <a:r>
                  <a:rPr lang="sr-Latn-RS" sz="1200" b="0" i="0">
                    <a:latin typeface="Cambria Math" panose="02040503050406030204" pitchFamily="18" charset="0"/>
                  </a:rPr>
                  <a:t>𝑛</a:t>
                </a:r>
                <a:r>
                  <a:rPr lang="en-ZA" dirty="0"/>
                  <a:t>, which is the square root of the total probability of the remaining terms.</a:t>
                </a:r>
              </a:p>
              <a:p>
                <a:pPr marL="228600" indent="-228600" algn="just">
                  <a:buFont typeface="+mj-lt"/>
                  <a:buAutoNum type="arabicPeriod"/>
                </a:pPr>
                <a:endParaRPr lang="en-ZA" b="0" dirty="0"/>
              </a:p>
              <a:p>
                <a:pPr marL="228600" indent="-228600" algn="just">
                  <a:buFont typeface="+mj-lt"/>
                  <a:buAutoNum type="arabicPeriod"/>
                </a:pPr>
                <a:r>
                  <a:rPr lang="en-ZA" dirty="0"/>
                  <a:t>If the second qubit is measured afterward, the probabilities of obtaining 0 or 1 are again determined by the Born rule, using the renormalized probability amplitudes.</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56</a:t>
            </a:fld>
            <a:endParaRPr lang="en-US"/>
          </a:p>
        </p:txBody>
      </p:sp>
    </p:spTree>
    <p:extLst>
      <p:ext uri="{BB962C8B-B14F-4D97-AF65-F5344CB8AC3E}">
        <p14:creationId xmlns:p14="http://schemas.microsoft.com/office/powerpoint/2010/main" val="4963140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quantum computing, the ordering of qubits when writing and interpreting binary results can be a source of confusion.</a:t>
                </a:r>
              </a:p>
              <a:p>
                <a:pPr algn="just"/>
                <a:endParaRPr lang="en-ZA" dirty="0"/>
              </a:p>
              <a:p>
                <a:pPr algn="just"/>
                <a:r>
                  <a:rPr lang="en-ZA" dirty="0"/>
                  <a:t>This problem is reminiscent of the dispute between two kingdoms in Gulliver's Travels: one insists that an egg should be broken at the larger end (big-endian), while the other prefers the smaller end (little-endian).</a:t>
                </a:r>
              </a:p>
              <a:p>
                <a:pPr algn="just"/>
                <a:endParaRPr lang="en-ZA" dirty="0"/>
              </a:p>
              <a:p>
                <a:pPr algn="just"/>
                <a:r>
                  <a:rPr lang="en-ZA" dirty="0"/>
                  <a:t>The figure shows a register of n qubits, indexed from q₀ to qₙ₋₁. The binary representation of the register's state can be interpreted in two ways, depending on whether q₀ is considered the most significant bit (MSB) or the least significant bit (LSB).</a:t>
                </a:r>
              </a:p>
              <a:p>
                <a:pPr algn="just"/>
                <a:endParaRPr lang="en-ZA" dirty="0"/>
              </a:p>
              <a:p>
                <a:pPr marL="228600" indent="-228600" algn="l">
                  <a:buFont typeface="+mj-lt"/>
                  <a:buAutoNum type="arabicPeriod"/>
                </a:pPr>
                <a:r>
                  <a:rPr lang="en-ZA" dirty="0"/>
                  <a:t>In the big-endian convention, q₀ is the MSB and qₙ₋₁ is the LSB. Qubit indices increase from MSB to LSB.</a:t>
                </a:r>
              </a:p>
              <a:p>
                <a:pPr marL="228600" indent="-228600" algn="l">
                  <a:buFont typeface="+mj-lt"/>
                  <a:buAutoNum type="arabicPeriod"/>
                </a:pPr>
                <a:r>
                  <a:rPr lang="en-ZA" dirty="0"/>
                  <a:t>In the little-endian convention, q₀ is the LSB and qₙ₋₁ is the MSB. Qubit indices decrease from MSB to LSB.</a:t>
                </a:r>
              </a:p>
              <a:p>
                <a:pPr marL="228600" indent="-228600" algn="l">
                  <a:buFont typeface="+mj-lt"/>
                  <a:buAutoNum type="arabicPeriod"/>
                </a:pPr>
                <a:r>
                  <a:rPr lang="en-ZA" dirty="0"/>
                  <a:t>Regardless of the convention, the positional weights in a binary representation always decrease from MSB to LSB.</a:t>
                </a:r>
              </a:p>
              <a:p>
                <a:pPr marL="228600" indent="-228600" algn="l">
                  <a:buFont typeface="+mj-lt"/>
                  <a:buAutoNum type="arabicPeriod"/>
                </a:pPr>
                <a:endParaRPr lang="en-ZA" dirty="0"/>
              </a:p>
              <a:p>
                <a:pPr algn="just"/>
                <a:r>
                  <a:rPr lang="en-ZA" dirty="0"/>
                  <a:t>The most important thing is to clearly define the qubit ordering and use it consistently. When working with quantum software, it is also essential to check the convention used to display measurement results.</a:t>
                </a:r>
              </a:p>
            </p:txBody>
          </p:sp>
        </mc:Choice>
        <mc:Fallback xmlns="">
          <p:sp>
            <p:nvSpPr>
              <p:cNvPr id="3" name="Notes Placeholder 2"/>
              <p:cNvSpPr>
                <a:spLocks noGrp="1"/>
              </p:cNvSpPr>
              <p:nvPr>
                <p:ph type="body" idx="1"/>
              </p:nvPr>
            </p:nvSpPr>
            <p:spPr/>
            <p:txBody>
              <a:bodyPr/>
              <a:lstStyle/>
              <a:p>
                <a:r>
                  <a:rPr lang="en-ZA" b="0" dirty="0">
                    <a:solidFill>
                      <a:schemeClr val="tx1"/>
                    </a:solidFill>
                  </a:rPr>
                  <a:t>In quantum computing, the ordering of qubits when writing and interpreting binary results can sometimes cause confusion.</a:t>
                </a:r>
              </a:p>
              <a:p>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The problem resembles the dispute between two kingdoms in </a:t>
                </a:r>
                <a:r>
                  <a:rPr lang="en-ZA" b="0" i="1" dirty="0">
                    <a:solidFill>
                      <a:schemeClr val="tx1"/>
                    </a:solidFill>
                  </a:rPr>
                  <a:t>Gulliver’s Travels</a:t>
                </a:r>
                <a:r>
                  <a:rPr lang="en-ZA" b="0" dirty="0">
                    <a:solidFill>
                      <a:schemeClr val="tx1"/>
                    </a:solidFill>
                  </a:rPr>
                  <a:t>: one side argues that an egg should be broken at the larger end (</a:t>
                </a:r>
                <a:r>
                  <a:rPr lang="en-ZA" b="0" i="1" dirty="0">
                    <a:solidFill>
                      <a:schemeClr val="tx1"/>
                    </a:solidFill>
                  </a:rPr>
                  <a:t>big-endian</a:t>
                </a:r>
                <a:r>
                  <a:rPr lang="en-ZA" b="0" dirty="0">
                    <a:solidFill>
                      <a:schemeClr val="tx1"/>
                    </a:solidFill>
                  </a:rPr>
                  <a:t>), while the other prefers the smaller end (</a:t>
                </a:r>
                <a:r>
                  <a:rPr lang="en-ZA" b="0" i="1" dirty="0">
                    <a:solidFill>
                      <a:schemeClr val="tx1"/>
                    </a:solidFill>
                  </a:rPr>
                  <a:t>little-endian</a:t>
                </a:r>
                <a:r>
                  <a:rPr lang="en-ZA" b="0" dirty="0">
                    <a:solidFill>
                      <a:schemeClr val="tx1"/>
                    </a:solidFill>
                  </a:rPr>
                  <a:t>). The term </a:t>
                </a:r>
                <a:r>
                  <a:rPr lang="en-ZA" b="0" i="1" dirty="0">
                    <a:solidFill>
                      <a:schemeClr val="tx1"/>
                    </a:solidFill>
                  </a:rPr>
                  <a:t>endian</a:t>
                </a:r>
                <a:r>
                  <a:rPr lang="en-ZA" b="0" dirty="0">
                    <a:solidFill>
                      <a:schemeClr val="tx1"/>
                    </a:solidFill>
                  </a:rPr>
                  <a:t> comes from the word </a:t>
                </a:r>
                <a:r>
                  <a:rPr lang="en-ZA" b="0" i="1" dirty="0">
                    <a:solidFill>
                      <a:schemeClr val="tx1"/>
                    </a:solidFill>
                  </a:rPr>
                  <a:t>end</a:t>
                </a:r>
                <a:r>
                  <a:rPr lang="en-ZA" b="0" dirty="0">
                    <a:solidFill>
                      <a:schemeClr val="tx1"/>
                    </a:solidFill>
                  </a:rPr>
                  <a:t>. Different conventions are encountered in quantum computing, which can easily lead to confusion.</a:t>
                </a:r>
              </a:p>
              <a:p>
                <a:pPr marL="171450" indent="-171450">
                  <a:buFont typeface="Arial" panose="020B0604020202020204" pitchFamily="34" charset="0"/>
                  <a:buChar char="•"/>
                </a:pPr>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In the mathematical representation of a quantum register, the usual binary-number convention is often used, with the most significant bit on the left and the least significant bit on the right. This corresponds to the </a:t>
                </a:r>
                <a:r>
                  <a:rPr lang="en-ZA" b="0" i="1" dirty="0">
                    <a:solidFill>
                      <a:schemeClr val="tx1"/>
                    </a:solidFill>
                  </a:rPr>
                  <a:t>big-endian</a:t>
                </a:r>
                <a:r>
                  <a:rPr lang="en-ZA" b="0" dirty="0">
                    <a:solidFill>
                      <a:schemeClr val="tx1"/>
                    </a:solidFill>
                  </a:rPr>
                  <a:t> representation of a binary number.</a:t>
                </a:r>
              </a:p>
              <a:p>
                <a:pPr marL="171450" indent="-171450">
                  <a:buFont typeface="Arial" panose="020B0604020202020204" pitchFamily="34" charset="0"/>
                  <a:buChar char="•"/>
                </a:pPr>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However, some quantum software systems use a different convention for qubit indexing. For example, in </a:t>
                </a:r>
                <a:r>
                  <a:rPr lang="en-ZA" b="0" dirty="0" err="1">
                    <a:solidFill>
                      <a:schemeClr val="tx1"/>
                    </a:solidFill>
                  </a:rPr>
                  <a:t>Qiskit</a:t>
                </a:r>
                <a:r>
                  <a:rPr lang="en-ZA" b="0" dirty="0">
                    <a:solidFill>
                      <a:schemeClr val="tx1"/>
                    </a:solidFill>
                  </a:rPr>
                  <a:t>, qubit </a:t>
                </a:r>
                <a:r>
                  <a:rPr lang="en-US" sz="1200" b="0" i="0">
                    <a:solidFill>
                      <a:schemeClr val="tx1"/>
                    </a:solidFill>
                    <a:latin typeface="Cambria Math" panose="02040503050406030204" pitchFamily="18" charset="0"/>
                  </a:rPr>
                  <a:t>𝑞_0</a:t>
                </a:r>
                <a:r>
                  <a:rPr lang="en-ZA" b="0" dirty="0">
                    <a:solidFill>
                      <a:schemeClr val="tx1"/>
                    </a:solidFill>
                  </a:rPr>
                  <a:t> is treated as the least significant bit and therefore appears on the right when a binary result is displayed. As a result, the order of qubits in a circuit and the order of bits in the displayed result may appear reversed.</a:t>
                </a:r>
              </a:p>
              <a:p>
                <a:pPr marL="171450" indent="-171450">
                  <a:buFont typeface="Arial" panose="020B0604020202020204" pitchFamily="34" charset="0"/>
                  <a:buChar char="•"/>
                </a:pPr>
                <a:endParaRPr lang="en-ZA" b="0" dirty="0">
                  <a:solidFill>
                    <a:schemeClr val="tx1"/>
                  </a:solidFill>
                </a:endParaRPr>
              </a:p>
              <a:p>
                <a:r>
                  <a:rPr lang="en-ZA" b="0" dirty="0">
                    <a:solidFill>
                      <a:schemeClr val="tx1"/>
                    </a:solidFill>
                  </a:rPr>
                  <a:t>The most important point is to define the qubit ordering clearly and use it consistently, while taking into account the convention used by the particular quantum software.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57</a:t>
            </a:fld>
            <a:endParaRPr lang="en-US"/>
          </a:p>
        </p:txBody>
      </p:sp>
    </p:spTree>
    <p:extLst>
      <p:ext uri="{BB962C8B-B14F-4D97-AF65-F5344CB8AC3E}">
        <p14:creationId xmlns:p14="http://schemas.microsoft.com/office/powerpoint/2010/main" val="681498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So far, we have considered qubits in so-called pure states. However, a quantum system can also be in a mixed state, which represents a statistical mixture of different quantum states with given classical probabilities.</a:t>
            </a:r>
          </a:p>
          <a:p>
            <a:pPr algn="just"/>
            <a:endParaRPr lang="en-ZA" b="0" dirty="0"/>
          </a:p>
          <a:p>
            <a:pPr algn="just"/>
            <a:r>
              <a:rPr lang="en-ZA" b="0" dirty="0"/>
              <a:t>In the example shown, Alice tosses a coin with sides labelled 0 and 1. If the result is 0, Alice sends Bob a qubit in the state ∣0⟩ through a quantum channel. If the result is 1, she sends a qubit in the state ∣1⟩. Bob does not know the outcome of Alice’s coin toss, so he describes the received qubit using the density matrix of a mixed state.</a:t>
            </a:r>
          </a:p>
          <a:p>
            <a:pPr algn="just"/>
            <a:endParaRPr lang="en-ZA" b="0" dirty="0"/>
          </a:p>
          <a:p>
            <a:pPr algn="just"/>
            <a:r>
              <a:rPr lang="en-ZA" b="0" dirty="0"/>
              <a:t>The density matrix of a mixed state is obtained as a linear combination of the outer products of the possible states, with their classical probabilities used as weighting factors. In this example, Bob assigns probability 0.5 to each of the states ∣0⟩ and ∣1⟩.</a:t>
            </a:r>
          </a:p>
          <a:p>
            <a:pPr algn="just"/>
            <a:endParaRPr lang="en-ZA" b="0" dirty="0"/>
          </a:p>
          <a:p>
            <a:pPr algn="just"/>
            <a:r>
              <a:rPr lang="en-ZA" b="0" dirty="0"/>
              <a:t>Mixed states allow us to describe a quantum system when its state is not completely known or when it is affected by noise and interactions with the environment.</a:t>
            </a:r>
          </a:p>
        </p:txBody>
      </p:sp>
      <p:sp>
        <p:nvSpPr>
          <p:cNvPr id="4" name="Slide Number Placeholder 3"/>
          <p:cNvSpPr>
            <a:spLocks noGrp="1"/>
          </p:cNvSpPr>
          <p:nvPr>
            <p:ph type="sldNum" sz="quarter" idx="5"/>
          </p:nvPr>
        </p:nvSpPr>
        <p:spPr/>
        <p:txBody>
          <a:bodyPr/>
          <a:lstStyle/>
          <a:p>
            <a:fld id="{1B2CE5E3-B8BD-D040-AC87-D640191DD8F1}" type="slidenum">
              <a:rPr lang="en-US" smtClean="0"/>
              <a:t>58</a:t>
            </a:fld>
            <a:endParaRPr lang="en-US"/>
          </a:p>
        </p:txBody>
      </p:sp>
    </p:spTree>
    <p:extLst>
      <p:ext uri="{BB962C8B-B14F-4D97-AF65-F5344CB8AC3E}">
        <p14:creationId xmlns:p14="http://schemas.microsoft.com/office/powerpoint/2010/main" val="4764055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So far, we have considered qubits in so-called pure states. However, a quantum system can also be in a mixed state, which represents a statistical mixture of different quantum states with given classical probabilities.</a:t>
            </a:r>
          </a:p>
          <a:p>
            <a:pPr algn="just"/>
            <a:endParaRPr lang="en-ZA" b="0" dirty="0"/>
          </a:p>
          <a:p>
            <a:pPr algn="just"/>
            <a:r>
              <a:rPr lang="en-ZA" b="0" dirty="0"/>
              <a:t>In the example shown, Alice tosses a coin with sides labelled 0 and 1. If the result is 0, Alice sends Bob a qubit in the state ∣0⟩ through a quantum channel. If the result is 1, she sends a qubit in the state ∣1⟩. Bob does not know the outcome of Alice’s coin toss, so he describes the received qubit using the density matrix of a mixed state.</a:t>
            </a:r>
          </a:p>
          <a:p>
            <a:pPr algn="just"/>
            <a:endParaRPr lang="en-ZA" b="0" dirty="0"/>
          </a:p>
          <a:p>
            <a:pPr algn="just"/>
            <a:r>
              <a:rPr lang="en-ZA" b="0" dirty="0"/>
              <a:t>The density matrix of a mixed state is obtained as a linear combination of the outer products of the possible states, with their classical probabilities used as weighting factors. In this example, Bob assigns probability 0.5 to each of the states ∣0⟩ and ∣1⟩.</a:t>
            </a:r>
          </a:p>
          <a:p>
            <a:pPr algn="just"/>
            <a:endParaRPr lang="en-ZA" b="0" dirty="0"/>
          </a:p>
          <a:p>
            <a:pPr algn="just"/>
            <a:r>
              <a:rPr lang="en-ZA" b="0" dirty="0"/>
              <a:t>Mixed states allow us to describe a quantum system when its state is not completely known or when it is affected by noise and interactions with the environment.</a:t>
            </a:r>
          </a:p>
        </p:txBody>
      </p:sp>
      <p:sp>
        <p:nvSpPr>
          <p:cNvPr id="4" name="Slide Number Placeholder 3"/>
          <p:cNvSpPr>
            <a:spLocks noGrp="1"/>
          </p:cNvSpPr>
          <p:nvPr>
            <p:ph type="sldNum" sz="quarter" idx="5"/>
          </p:nvPr>
        </p:nvSpPr>
        <p:spPr/>
        <p:txBody>
          <a:bodyPr/>
          <a:lstStyle/>
          <a:p>
            <a:fld id="{1B2CE5E3-B8BD-D040-AC87-D640191DD8F1}" type="slidenum">
              <a:rPr lang="en-US" smtClean="0"/>
              <a:t>59</a:t>
            </a:fld>
            <a:endParaRPr lang="en-US"/>
          </a:p>
        </p:txBody>
      </p:sp>
    </p:spTree>
    <p:extLst>
      <p:ext uri="{BB962C8B-B14F-4D97-AF65-F5344CB8AC3E}">
        <p14:creationId xmlns:p14="http://schemas.microsoft.com/office/powerpoint/2010/main" val="12394506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density matrix can be used to distinguish between pure and mixed states. For this purpose, the purity of a quantum state is defined as the trace of the square of the density matrix. If the purity is equal to 1, the state is pure and can be described by a single state vector. If the purity is less than 1, the state is mixed and is described as a statistical mixture of pure states.</a:t>
                </a:r>
              </a:p>
              <a:p>
                <a:pPr algn="just"/>
                <a:endParaRPr lang="en-ZA" b="0" dirty="0"/>
              </a:p>
              <a:p>
                <a:pPr algn="just"/>
                <a:r>
                  <a:rPr lang="en-ZA" b="0" dirty="0"/>
                  <a:t>In the previous example, Bob obtained the density matrix of a mixed state with values 1/2 on the diagonal. The trace of the square of this matrix is 1/2, confirming that the qubit is in a mixed state. </a:t>
                </a:r>
              </a:p>
              <a:p>
                <a:pPr algn="just"/>
                <a:endParaRPr lang="en-ZA" b="0" dirty="0"/>
              </a:p>
              <a:p>
                <a:pPr algn="just"/>
                <a:r>
                  <a:rPr lang="en-ZA" b="0" dirty="0"/>
                  <a:t>Now consider a qubit in a pure state, in an equal superposition of the basis states. All elements of its density matrix are 1/2, and its purity is 1, confirming that the state is pure. </a:t>
                </a:r>
              </a:p>
              <a:p>
                <a:pPr algn="just"/>
                <a:endParaRPr lang="en-ZA" b="0" dirty="0"/>
              </a:p>
              <a:p>
                <a:pPr algn="just"/>
                <a:r>
                  <a:rPr lang="en-ZA" b="0" dirty="0"/>
                  <a:t>For a single qubit, </a:t>
                </a:r>
                <a14:m>
                  <m:oMath xmlns:m="http://schemas.openxmlformats.org/officeDocument/2006/math">
                    <m:r>
                      <a:rPr lang="en-US" sz="1200" i="0" smtClean="0">
                        <a:latin typeface="Cambria Math" panose="02040503050406030204" pitchFamily="18" charset="0"/>
                      </a:rPr>
                      <m:t>1</m:t>
                    </m:r>
                    <m:r>
                      <a:rPr lang="en-US" sz="1200" b="0" i="0"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r>
                      <m:rPr>
                        <m:nor/>
                      </m:rPr>
                      <a:rPr lang="en-US" sz="1200" dirty="0" smtClean="0"/>
                      <m:t>T</m:t>
                    </m:r>
                    <m:r>
                      <a:rPr lang="en-US" sz="1200" i="1" smtClean="0">
                        <a:latin typeface="Cambria Math" panose="02040503050406030204" pitchFamily="18" charset="0"/>
                      </a:rPr>
                      <m:t>𝑟</m:t>
                    </m:r>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sSub>
                              <m:sSubPr>
                                <m:ctrlPr>
                                  <a:rPr lang="en-US" sz="1200" i="1">
                                    <a:latin typeface="Cambria Math" panose="02040503050406030204" pitchFamily="18" charset="0"/>
                                  </a:rPr>
                                </m:ctrlPr>
                              </m:sSubPr>
                              <m:e>
                                <m:r>
                                  <a:rPr lang="en-US" sz="1200" i="1">
                                    <a:latin typeface="Cambria Math" panose="02040503050406030204" pitchFamily="18" charset="0"/>
                                  </a:rPr>
                                  <m:t>𝜌</m:t>
                                </m:r>
                              </m:e>
                              <m:sub>
                                <m:r>
                                  <a:rPr lang="sr-Latn-RS" sz="1200" b="0" i="1" smtClean="0">
                                    <a:latin typeface="Cambria Math" panose="02040503050406030204" pitchFamily="18" charset="0"/>
                                  </a:rPr>
                                  <m:t>𝑐</m:t>
                                </m:r>
                              </m:sub>
                            </m:sSub>
                          </m:e>
                          <m:sup>
                            <m:r>
                              <a:rPr lang="en-US" sz="1200" i="0">
                                <a:latin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m:t>
                    </m:r>
                    <m:r>
                      <a:rPr lang="en-US" sz="1200" i="0" smtClean="0">
                        <a:latin typeface="Cambria Math" panose="02040503050406030204" pitchFamily="18" charset="0"/>
                      </a:rPr>
                      <m:t>1</m:t>
                    </m:r>
                    <m:r>
                      <a:rPr lang="en-US" sz="1200" b="0" i="0" smtClean="0">
                        <a:latin typeface="Cambria Math" panose="02040503050406030204" pitchFamily="18" charset="0"/>
                      </a:rPr>
                      <m:t>/2</m:t>
                    </m:r>
                  </m:oMath>
                </a14:m>
                <a:r>
                  <a:rPr lang="en-ZA" b="0" dirty="0"/>
                  <a:t>, where 1/2 corresponds to a maximally mixed state.</a:t>
                </a:r>
              </a:p>
            </p:txBody>
          </p:sp>
        </mc:Choice>
        <mc:Fallback xmlns="">
          <p:sp>
            <p:nvSpPr>
              <p:cNvPr id="3" name="Notes Placeholder 2"/>
              <p:cNvSpPr>
                <a:spLocks noGrp="1"/>
              </p:cNvSpPr>
              <p:nvPr>
                <p:ph type="body" idx="1"/>
              </p:nvPr>
            </p:nvSpPr>
            <p:spPr/>
            <p:txBody>
              <a:bodyPr/>
              <a:lstStyle/>
              <a:p>
                <a:pPr algn="just"/>
                <a:r>
                  <a:rPr lang="en-ZA" b="0" dirty="0"/>
                  <a:t>The density matrix can be used to distinguish between pure and mixed states. For this purpose, the purity of a quantum state is defined as the trace of the square of the density matrix. If the purity is equal to 1, the state is pure and can be described by a single state vector. If the purity is less than 1, the state is mixed and is described as a statistical mixture of pure states.</a:t>
                </a:r>
              </a:p>
              <a:p>
                <a:pPr algn="just"/>
                <a:endParaRPr lang="en-ZA" b="0" dirty="0"/>
              </a:p>
              <a:p>
                <a:pPr algn="just"/>
                <a:r>
                  <a:rPr lang="en-ZA" b="0" dirty="0"/>
                  <a:t>In the previous example, Bob obtained the density matrix of a mixed state with values 1/2 on the diagonal. The trace of the square of this matrix is 1/2, confirming that the qubit is in a mixed state. </a:t>
                </a:r>
              </a:p>
              <a:p>
                <a:pPr algn="just"/>
                <a:endParaRPr lang="en-ZA" b="0" dirty="0"/>
              </a:p>
              <a:p>
                <a:pPr algn="just"/>
                <a:r>
                  <a:rPr lang="en-ZA" b="0" dirty="0"/>
                  <a:t>Now consider a qubit in a pure state, in an equal superposition of the basis states. All elements of its density matrix are 1/2, and its purity is 1, confirming that the state is pure. </a:t>
                </a:r>
              </a:p>
              <a:p>
                <a:pPr algn="just"/>
                <a:endParaRPr lang="en-ZA" b="0" dirty="0"/>
              </a:p>
              <a:p>
                <a:pPr algn="just"/>
                <a:r>
                  <a:rPr lang="en-ZA" b="0" dirty="0"/>
                  <a:t>For a single qubit, </a:t>
                </a:r>
                <a:r>
                  <a:rPr lang="en-US" sz="1200" i="0">
                    <a:latin typeface="Cambria Math" panose="02040503050406030204" pitchFamily="18" charset="0"/>
                  </a:rPr>
                  <a:t>1</a:t>
                </a:r>
                <a:r>
                  <a:rPr lang="en-US" sz="1200" b="0" i="0">
                    <a:latin typeface="Cambria Math" panose="02040503050406030204" pitchFamily="18" charset="0"/>
                  </a:rPr>
                  <a:t>/2</a:t>
                </a:r>
                <a:r>
                  <a:rPr lang="en-US" sz="1200" b="0" i="0">
                    <a:latin typeface="Cambria Math" panose="02040503050406030204" pitchFamily="18" charset="0"/>
                    <a:ea typeface="Cambria Math" panose="02040503050406030204" pitchFamily="18" charset="0"/>
                  </a:rPr>
                  <a:t>≤</a:t>
                </a:r>
                <a:r>
                  <a:rPr lang="en-US" sz="1200" b="0" i="0" dirty="0">
                    <a:latin typeface="Cambria Math" panose="02040503050406030204" pitchFamily="18" charset="0"/>
                    <a:ea typeface="Cambria Math" panose="02040503050406030204" pitchFamily="18" charset="0"/>
                  </a:rPr>
                  <a:t>"</a:t>
                </a:r>
                <a:r>
                  <a:rPr lang="en-US" sz="1200" i="0" dirty="0">
                    <a:latin typeface="Cambria Math" panose="02040503050406030204" pitchFamily="18" charset="0"/>
                  </a:rPr>
                  <a:t>T</a:t>
                </a:r>
                <a:r>
                  <a:rPr lang="en-US" sz="1200" i="0">
                    <a:latin typeface="Cambria Math" panose="02040503050406030204" pitchFamily="18" charset="0"/>
                  </a:rPr>
                  <a:t>" 𝑟(〖𝜌_</a:t>
                </a:r>
                <a:r>
                  <a:rPr lang="sr-Latn-RS" sz="1200" b="0" i="0">
                    <a:latin typeface="Cambria Math" panose="02040503050406030204" pitchFamily="18" charset="0"/>
                  </a:rPr>
                  <a:t>𝑐</a:t>
                </a:r>
                <a:r>
                  <a:rPr lang="en-US" sz="1200" b="0" i="0">
                    <a:latin typeface="Cambria Math" panose="02040503050406030204" pitchFamily="18" charset="0"/>
                  </a:rPr>
                  <a:t>〗^</a:t>
                </a:r>
                <a:r>
                  <a:rPr lang="en-US" sz="1200" i="0">
                    <a:latin typeface="Cambria Math" panose="02040503050406030204" pitchFamily="18" charset="0"/>
                  </a:rPr>
                  <a:t>2 )</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1</a:t>
                </a:r>
                <a:r>
                  <a:rPr lang="en-US" sz="1200" b="0" i="0">
                    <a:latin typeface="Cambria Math" panose="02040503050406030204" pitchFamily="18" charset="0"/>
                  </a:rPr>
                  <a:t>/2</a:t>
                </a:r>
                <a:r>
                  <a:rPr lang="en-ZA" b="0" dirty="0"/>
                  <a:t>, where 1/2 corresponds to a maximally mixed state.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60</a:t>
            </a:fld>
            <a:endParaRPr lang="en-US"/>
          </a:p>
        </p:txBody>
      </p:sp>
    </p:spTree>
    <p:extLst>
      <p:ext uri="{BB962C8B-B14F-4D97-AF65-F5344CB8AC3E}">
        <p14:creationId xmlns:p14="http://schemas.microsoft.com/office/powerpoint/2010/main" val="26809908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qubits in a </a:t>
                </a:r>
                <a:r>
                  <a:rPr lang="en-ZA" b="1" dirty="0"/>
                  <a:t>product state</a:t>
                </a:r>
                <a:r>
                  <a:rPr lang="en-ZA" dirty="0"/>
                  <a:t>, the density matrix of the joint system is obtained by taking the Kronecker product of the density matrices of the individual qubits. The figure shows the density matrices of qubits in the states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0</m:t>
                        </m:r>
                      </m:e>
                    </m:d>
                  </m:oMath>
                </a14:m>
                <a:r>
                  <a:rPr lang="en-ZA" dirty="0"/>
                  <a:t> and</a:t>
                </a:r>
                <a:r>
                  <a:rPr lang="en-ZA" baseline="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e>
                    </m:d>
                  </m:oMath>
                </a14:m>
                <a:r>
                  <a:rPr lang="en-ZA" dirty="0"/>
                  <a:t>, together with the density matrix of their joint state.</a:t>
                </a:r>
              </a:p>
            </p:txBody>
          </p:sp>
        </mc:Choice>
        <mc:Fallback xmlns="">
          <p:sp>
            <p:nvSpPr>
              <p:cNvPr id="3" name="Notes Placeholder 2"/>
              <p:cNvSpPr>
                <a:spLocks noGrp="1"/>
              </p:cNvSpPr>
              <p:nvPr>
                <p:ph type="body" idx="1"/>
              </p:nvPr>
            </p:nvSpPr>
            <p:spPr/>
            <p:txBody>
              <a:bodyPr/>
              <a:lstStyle/>
              <a:p>
                <a:pPr algn="just"/>
                <a:r>
                  <a:rPr lang="en-ZA" dirty="0"/>
                  <a:t>For qubits in a </a:t>
                </a:r>
                <a:r>
                  <a:rPr lang="en-ZA" b="1" dirty="0"/>
                  <a:t>product state</a:t>
                </a:r>
                <a:r>
                  <a:rPr lang="en-ZA" dirty="0"/>
                  <a:t>, the density matrix of the joint system is obtained by taking the Kronecker product of the density matrices of the individual qubits. The figure shows the density matrices of qubits in the states </a:t>
                </a:r>
                <a:r>
                  <a:rPr lang="en-US" sz="1200" i="0">
                    <a:latin typeface="Cambria Math" panose="02040503050406030204" pitchFamily="18" charset="0"/>
                  </a:rPr>
                  <a:t>|0⟩</a:t>
                </a:r>
                <a:r>
                  <a:rPr lang="en-ZA" dirty="0"/>
                  <a:t> and</a:t>
                </a:r>
                <a:r>
                  <a:rPr lang="en-ZA" baseline="0" dirty="0"/>
                  <a:t> </a:t>
                </a:r>
                <a:r>
                  <a:rPr lang="en-US" sz="1200" i="0">
                    <a:latin typeface="Cambria Math" panose="02040503050406030204" pitchFamily="18" charset="0"/>
                  </a:rPr>
                  <a:t>|+⟩</a:t>
                </a:r>
                <a:r>
                  <a:rPr lang="en-ZA" dirty="0"/>
                  <a:t>, together with the density matrix of their joint state.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61</a:t>
            </a:fld>
            <a:endParaRPr lang="en-US"/>
          </a:p>
        </p:txBody>
      </p:sp>
    </p:spTree>
    <p:extLst>
      <p:ext uri="{BB962C8B-B14F-4D97-AF65-F5344CB8AC3E}">
        <p14:creationId xmlns:p14="http://schemas.microsoft.com/office/powerpoint/2010/main" val="13301536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On the Bloch sphere, pure and mixed states are clearly distinguished. Pure states lie on the surface of the sphere, while mixed states lie inside it. The length of the Bloch vector for a pure state is always 1, while for a mixed state it is less than 1. The maximally mixed state lies at the </a:t>
            </a:r>
            <a:r>
              <a:rPr lang="en-ZA" b="0" dirty="0" err="1"/>
              <a:t>center</a:t>
            </a:r>
            <a:r>
              <a:rPr lang="en-ZA" b="0" dirty="0"/>
              <a:t> of the sphere and has a Bloch vector of length 0.</a:t>
            </a:r>
          </a:p>
          <a:p>
            <a:pPr algn="just"/>
            <a:endParaRPr lang="en-ZA" b="0" dirty="0"/>
          </a:p>
          <a:p>
            <a:pPr algn="just"/>
            <a:r>
              <a:rPr lang="en-ZA" b="0" dirty="0"/>
              <a:t>In quantum computers, mixed states often arise from noise and interactions between qubits and their environment, for example due to electromagnetic and thermal effects or hardware imperfections. </a:t>
            </a:r>
            <a:r>
              <a:rPr lang="en-ZA" dirty="0"/>
              <a:t>However, mixed states play an important role in the simulation of physical systems, quantum cryptography, and quantum machine learning.</a:t>
            </a:r>
          </a:p>
          <a:p>
            <a:pPr algn="just"/>
            <a:endParaRPr lang="en-ZA" b="0" dirty="0"/>
          </a:p>
          <a:p>
            <a:pPr algn="just"/>
            <a:r>
              <a:rPr lang="en-ZA" b="0" dirty="0"/>
              <a:t>Density matrices provide the fundamental mathematical tool for describing such states. They can represent both pure and mixed states, their populations and coherences, measurement probabilities, as well as the states of multi-qubit systems.</a:t>
            </a:r>
          </a:p>
        </p:txBody>
      </p:sp>
      <p:sp>
        <p:nvSpPr>
          <p:cNvPr id="4" name="Slide Number Placeholder 3"/>
          <p:cNvSpPr>
            <a:spLocks noGrp="1"/>
          </p:cNvSpPr>
          <p:nvPr>
            <p:ph type="sldNum" sz="quarter" idx="5"/>
          </p:nvPr>
        </p:nvSpPr>
        <p:spPr/>
        <p:txBody>
          <a:bodyPr/>
          <a:lstStyle/>
          <a:p>
            <a:fld id="{1B2CE5E3-B8BD-D040-AC87-D640191DD8F1}" type="slidenum">
              <a:rPr lang="en-US" smtClean="0"/>
              <a:t>62</a:t>
            </a:fld>
            <a:endParaRPr lang="en-US"/>
          </a:p>
        </p:txBody>
      </p:sp>
    </p:spTree>
    <p:extLst>
      <p:ext uri="{BB962C8B-B14F-4D97-AF65-F5344CB8AC3E}">
        <p14:creationId xmlns:p14="http://schemas.microsoft.com/office/powerpoint/2010/main" val="38561829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63</a:t>
            </a:fld>
            <a:endParaRPr lang="en-US"/>
          </a:p>
        </p:txBody>
      </p:sp>
    </p:spTree>
    <p:extLst>
      <p:ext uri="{BB962C8B-B14F-4D97-AF65-F5344CB8AC3E}">
        <p14:creationId xmlns:p14="http://schemas.microsoft.com/office/powerpoint/2010/main" val="4013153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10/14/26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10/14/26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10/14/26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10/14/26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10/14/26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73190"/>
            <a:ext cx="619760" cy="365125"/>
          </a:xfrm>
        </p:spPr>
        <p:txBody>
          <a:bodyPr/>
          <a:lstStyle>
            <a:lvl1pPr algn="l">
              <a:defRPr/>
            </a:lvl1pPr>
          </a:lstStyle>
          <a:p>
            <a:fld id="{591A223C-FA10-BC46-A853-03BA373D023C}" type="slidenum">
              <a:rPr lang="en-US" smtClean="0"/>
              <a:pPr/>
              <a:t>‹#›</a:t>
            </a:fld>
            <a:endParaRPr lang="en-US"/>
          </a:p>
        </p:txBody>
      </p:sp>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75B27BD7-F806-EE4B-8658-1526ED604433}"/>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10/14/26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05E00CDB-6D37-9445-8D29-D700CAB2D52F}"/>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10/14/26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10/14/26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10/14/26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10/14/26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M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flip="none" rotWithShape="1">
            <a:gsLst>
              <a:gs pos="0">
                <a:schemeClr val="accent6">
                  <a:lumMod val="5000"/>
                  <a:lumOff val="95000"/>
                  <a:alpha val="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18B1DED-A97D-9F49-ADD7-83A254340500}"/>
              </a:ext>
            </a:extLst>
          </p:cNvPr>
          <p:cNvPicPr>
            <a:picLocks noChangeAspect="1"/>
          </p:cNvPicPr>
          <p:nvPr userDrawn="1"/>
        </p:nvPicPr>
        <p:blipFill>
          <a:blip r:embed="rId3"/>
          <a:stretch>
            <a:fillRect/>
          </a:stretch>
        </p:blipFill>
        <p:spPr>
          <a:xfrm>
            <a:off x="11222826" y="47388"/>
            <a:ext cx="709176" cy="792000"/>
          </a:xfrm>
          <a:prstGeom prst="rect">
            <a:avLst/>
          </a:prstGeom>
        </p:spPr>
      </p:pic>
    </p:spTree>
    <p:extLst>
      <p:ext uri="{BB962C8B-B14F-4D97-AF65-F5344CB8AC3E}">
        <p14:creationId xmlns:p14="http://schemas.microsoft.com/office/powerpoint/2010/main" val="2231936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1103429" cy="928688"/>
          </a:xfrm>
          <a:gradFill flip="none" rotWithShape="1">
            <a:gsLst>
              <a:gs pos="8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50B9F3F-AB52-DA4F-B1B7-9B0467277E6D}"/>
              </a:ext>
            </a:extLst>
          </p:cNvPr>
          <p:cNvPicPr>
            <a:picLocks noChangeAspect="1"/>
          </p:cNvPicPr>
          <p:nvPr userDrawn="1"/>
        </p:nvPicPr>
        <p:blipFill>
          <a:blip r:embed="rId3"/>
          <a:stretch>
            <a:fillRect/>
          </a:stretch>
        </p:blipFill>
        <p:spPr>
          <a:xfrm>
            <a:off x="11222468" y="111279"/>
            <a:ext cx="675746" cy="675746"/>
          </a:xfrm>
          <a:prstGeom prst="rect">
            <a:avLst/>
          </a:prstGeom>
        </p:spPr>
      </p:pic>
    </p:spTree>
    <p:extLst>
      <p:ext uri="{BB962C8B-B14F-4D97-AF65-F5344CB8AC3E}">
        <p14:creationId xmlns:p14="http://schemas.microsoft.com/office/powerpoint/2010/main" val="413901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10/14/26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3"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image" Target="../media/image480.png"/><Relationship Id="rId5" Type="http://schemas.openxmlformats.org/officeDocument/2006/relationships/diagramQuickStyle" Target="../diagrams/quickStyle1.xml"/><Relationship Id="rId10" Type="http://schemas.openxmlformats.org/officeDocument/2006/relationships/image" Target="../media/image470.png"/><Relationship Id="rId4" Type="http://schemas.openxmlformats.org/officeDocument/2006/relationships/diagramLayout" Target="../diagrams/layout1.xml"/><Relationship Id="rId9" Type="http://schemas.openxmlformats.org/officeDocument/2006/relationships/image" Target="../media/image460.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tiff"/><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450.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1.png"/><Relationship Id="rId15" Type="http://schemas.openxmlformats.org/officeDocument/2006/relationships/image" Target="../media/image57.png"/><Relationship Id="rId23" Type="http://schemas.openxmlformats.org/officeDocument/2006/relationships/image" Target="../media/image65.png"/><Relationship Id="rId10" Type="http://schemas.openxmlformats.org/officeDocument/2006/relationships/image" Target="../media/image52.png"/><Relationship Id="rId19" Type="http://schemas.openxmlformats.org/officeDocument/2006/relationships/image" Target="../media/image61.png"/><Relationship Id="rId4" Type="http://schemas.openxmlformats.org/officeDocument/2006/relationships/image" Target="../media/image461.png"/><Relationship Id="rId9" Type="http://schemas.openxmlformats.org/officeDocument/2006/relationships/image" Target="../media/image51.png"/><Relationship Id="rId14" Type="http://schemas.openxmlformats.org/officeDocument/2006/relationships/image" Target="../media/image56.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149.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6.png"/><Relationship Id="rId3" Type="http://schemas.openxmlformats.org/officeDocument/2006/relationships/image" Target="../media/image370.png"/><Relationship Id="rId7" Type="http://schemas.openxmlformats.org/officeDocument/2006/relationships/image" Target="../media/image41.png"/><Relationship Id="rId12"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40.png"/><Relationship Id="rId11" Type="http://schemas.openxmlformats.org/officeDocument/2006/relationships/image" Target="../media/image44.png"/><Relationship Id="rId10" Type="http://schemas.openxmlformats.org/officeDocument/2006/relationships/image" Target="../media/image43.png"/><Relationship Id="rId4" Type="http://schemas.openxmlformats.org/officeDocument/2006/relationships/image" Target="../media/image380.png"/><Relationship Id="rId9" Type="http://schemas.openxmlformats.org/officeDocument/2006/relationships/image" Target="../media/image42.png"/></Relationships>
</file>

<file path=ppt/slides/_rels/slide7.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260.png"/></Relationships>
</file>

<file path=ppt/slides/_rels/slide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64.png"/><Relationship Id="rId4" Type="http://schemas.openxmlformats.org/officeDocument/2006/relationships/image" Target="../media/image63.png"/></Relationships>
</file>

<file path=ppt/slides/_rels/slide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20.png"/><Relationship Id="rId7"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40.png"/><Relationship Id="rId10" Type="http://schemas.openxmlformats.org/officeDocument/2006/relationships/image" Target="../media/image70.png"/><Relationship Id="rId4" Type="http://schemas.openxmlformats.org/officeDocument/2006/relationships/image" Target="../media/image631.png"/><Relationship Id="rId9" Type="http://schemas.openxmlformats.org/officeDocument/2006/relationships/image" Target="../media/image69.png"/></Relationships>
</file>

<file path=ppt/slides/_rels/slide1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73.png"/><Relationship Id="rId4" Type="http://schemas.openxmlformats.org/officeDocument/2006/relationships/image" Target="../media/image72.png"/></Relationships>
</file>

<file path=ppt/slides/_rels/slide11.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722.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733.png"/><Relationship Id="rId11" Type="http://schemas.openxmlformats.org/officeDocument/2006/relationships/image" Target="../media/image78.png"/><Relationship Id="rId5" Type="http://schemas.openxmlformats.org/officeDocument/2006/relationships/image" Target="../media/image341.png"/><Relationship Id="rId10" Type="http://schemas.openxmlformats.org/officeDocument/2006/relationships/image" Target="../media/image77.png"/><Relationship Id="rId9" Type="http://schemas.openxmlformats.org/officeDocument/2006/relationships/image" Target="../media/image76.png"/><Relationship Id="rId14" Type="http://schemas.openxmlformats.org/officeDocument/2006/relationships/image" Target="../media/image81.png"/></Relationships>
</file>

<file path=ppt/slides/_rels/slide1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3.tiff"/></Relationships>
</file>

<file path=ppt/slides/_rels/slide13.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84.tiff"/><Relationship Id="rId7" Type="http://schemas.openxmlformats.org/officeDocument/2006/relationships/image" Target="../media/image98.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821.png"/><Relationship Id="rId9" Type="http://schemas.openxmlformats.org/officeDocument/2006/relationships/image" Target="../media/image100.png"/></Relationships>
</file>

<file path=ppt/slides/_rels/slide14.xml.rels><?xml version="1.0" encoding="UTF-8" standalone="yes"?>
<Relationships xmlns="http://schemas.openxmlformats.org/package/2006/relationships"><Relationship Id="rId8" Type="http://schemas.openxmlformats.org/officeDocument/2006/relationships/image" Target="../media/image710.png"/><Relationship Id="rId13" Type="http://schemas.openxmlformats.org/officeDocument/2006/relationships/image" Target="../media/image660.png"/><Relationship Id="rId18" Type="http://schemas.openxmlformats.org/officeDocument/2006/relationships/image" Target="../media/image810.png"/><Relationship Id="rId26" Type="http://schemas.openxmlformats.org/officeDocument/2006/relationships/image" Target="../media/image89.png"/><Relationship Id="rId3" Type="http://schemas.openxmlformats.org/officeDocument/2006/relationships/image" Target="../media/image85.tiff"/><Relationship Id="rId21" Type="http://schemas.openxmlformats.org/officeDocument/2006/relationships/image" Target="../media/image84.png"/><Relationship Id="rId7" Type="http://schemas.openxmlformats.org/officeDocument/2006/relationships/image" Target="../media/image700.png"/><Relationship Id="rId12" Type="http://schemas.openxmlformats.org/officeDocument/2006/relationships/image" Target="../media/image83.png"/><Relationship Id="rId17" Type="http://schemas.openxmlformats.org/officeDocument/2006/relationships/image" Target="../media/image800.png"/><Relationship Id="rId25" Type="http://schemas.openxmlformats.org/officeDocument/2006/relationships/image" Target="../media/image88.png"/><Relationship Id="rId33" Type="http://schemas.openxmlformats.org/officeDocument/2006/relationships/image" Target="../media/image101.png"/><Relationship Id="rId2" Type="http://schemas.openxmlformats.org/officeDocument/2006/relationships/notesSlide" Target="../notesSlides/notesSlide14.xml"/><Relationship Id="rId16" Type="http://schemas.openxmlformats.org/officeDocument/2006/relationships/image" Target="../media/image791.png"/><Relationship Id="rId20" Type="http://schemas.openxmlformats.org/officeDocument/2006/relationships/image" Target="../media/image830.png"/><Relationship Id="rId29" Type="http://schemas.openxmlformats.org/officeDocument/2006/relationships/image" Target="../media/image92.png"/><Relationship Id="rId1" Type="http://schemas.openxmlformats.org/officeDocument/2006/relationships/slideLayout" Target="../slideLayouts/slideLayout13.xml"/><Relationship Id="rId6" Type="http://schemas.openxmlformats.org/officeDocument/2006/relationships/image" Target="../media/image691.png"/><Relationship Id="rId11" Type="http://schemas.openxmlformats.org/officeDocument/2006/relationships/image" Target="../media/image741.png"/><Relationship Id="rId24" Type="http://schemas.openxmlformats.org/officeDocument/2006/relationships/image" Target="../media/image87.png"/><Relationship Id="rId32" Type="http://schemas.openxmlformats.org/officeDocument/2006/relationships/image" Target="../media/image95.png"/><Relationship Id="rId15" Type="http://schemas.openxmlformats.org/officeDocument/2006/relationships/image" Target="../media/image781.png"/><Relationship Id="rId23" Type="http://schemas.openxmlformats.org/officeDocument/2006/relationships/image" Target="../media/image86.png"/><Relationship Id="rId28" Type="http://schemas.openxmlformats.org/officeDocument/2006/relationships/image" Target="../media/image91.png"/><Relationship Id="rId10" Type="http://schemas.openxmlformats.org/officeDocument/2006/relationships/image" Target="../media/image731.png"/><Relationship Id="rId19" Type="http://schemas.openxmlformats.org/officeDocument/2006/relationships/image" Target="../media/image820.png"/><Relationship Id="rId31" Type="http://schemas.openxmlformats.org/officeDocument/2006/relationships/image" Target="../media/image94.png"/><Relationship Id="rId9" Type="http://schemas.openxmlformats.org/officeDocument/2006/relationships/image" Target="../media/image720.png"/><Relationship Id="rId14" Type="http://schemas.openxmlformats.org/officeDocument/2006/relationships/image" Target="../media/image771.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s>
</file>

<file path=ppt/slides/_rels/slide15.xml.rels><?xml version="1.0" encoding="UTF-8" standalone="yes"?>
<Relationships xmlns="http://schemas.openxmlformats.org/package/2006/relationships"><Relationship Id="rId18" Type="http://schemas.openxmlformats.org/officeDocument/2006/relationships/image" Target="../media/image1020.png"/><Relationship Id="rId3" Type="http://schemas.openxmlformats.org/officeDocument/2006/relationships/image" Target="../media/image102.png"/><Relationship Id="rId21" Type="http://schemas.openxmlformats.org/officeDocument/2006/relationships/image" Target="../media/image109.png"/><Relationship Id="rId17" Type="http://schemas.openxmlformats.org/officeDocument/2006/relationships/image" Target="../media/image1010.png"/><Relationship Id="rId2" Type="http://schemas.openxmlformats.org/officeDocument/2006/relationships/notesSlide" Target="../notesSlides/notesSlide15.xml"/><Relationship Id="rId16" Type="http://schemas.openxmlformats.org/officeDocument/2006/relationships/image" Target="../media/image950.png"/><Relationship Id="rId20" Type="http://schemas.openxmlformats.org/officeDocument/2006/relationships/image" Target="../media/image106.png"/><Relationship Id="rId1" Type="http://schemas.openxmlformats.org/officeDocument/2006/relationships/slideLayout" Target="../slideLayouts/slideLayout6.xml"/><Relationship Id="rId11" Type="http://schemas.openxmlformats.org/officeDocument/2006/relationships/image" Target="../media/image108.png"/><Relationship Id="rId15" Type="http://schemas.openxmlformats.org/officeDocument/2006/relationships/image" Target="../media/image111.png"/><Relationship Id="rId23" Type="http://schemas.openxmlformats.org/officeDocument/2006/relationships/image" Target="../media/image113.png"/><Relationship Id="rId10" Type="http://schemas.openxmlformats.org/officeDocument/2006/relationships/image" Target="../media/image107.png"/><Relationship Id="rId19" Type="http://schemas.openxmlformats.org/officeDocument/2006/relationships/image" Target="../media/image103.png"/><Relationship Id="rId14" Type="http://schemas.openxmlformats.org/officeDocument/2006/relationships/image" Target="../media/image110.png"/><Relationship Id="rId22" Type="http://schemas.openxmlformats.org/officeDocument/2006/relationships/image" Target="../media/image112.png"/></Relationships>
</file>

<file path=ppt/slides/_rels/slide16.xml.rels><?xml version="1.0" encoding="UTF-8" standalone="yes"?>
<Relationships xmlns="http://schemas.openxmlformats.org/package/2006/relationships"><Relationship Id="rId26" Type="http://schemas.openxmlformats.org/officeDocument/2006/relationships/image" Target="../media/image130.png"/><Relationship Id="rId13" Type="http://schemas.openxmlformats.org/officeDocument/2006/relationships/image" Target="../media/image117.png"/><Relationship Id="rId18" Type="http://schemas.openxmlformats.org/officeDocument/2006/relationships/image" Target="../media/image122.png"/><Relationship Id="rId3" Type="http://schemas.openxmlformats.org/officeDocument/2006/relationships/image" Target="../media/image630.png"/><Relationship Id="rId34" Type="http://schemas.openxmlformats.org/officeDocument/2006/relationships/image" Target="../media/image138.png"/><Relationship Id="rId7" Type="http://schemas.openxmlformats.org/officeDocument/2006/relationships/image" Target="../media/image1060.png"/><Relationship Id="rId25" Type="http://schemas.openxmlformats.org/officeDocument/2006/relationships/image" Target="../media/image129.png"/><Relationship Id="rId33" Type="http://schemas.openxmlformats.org/officeDocument/2006/relationships/image" Target="../media/image116.png"/><Relationship Id="rId12" Type="http://schemas.openxmlformats.org/officeDocument/2006/relationships/image" Target="../media/image1160.png"/><Relationship Id="rId17" Type="http://schemas.openxmlformats.org/officeDocument/2006/relationships/image" Target="../media/image121.png"/><Relationship Id="rId2" Type="http://schemas.openxmlformats.org/officeDocument/2006/relationships/notesSlide" Target="../notesSlides/notesSlide16.xml"/><Relationship Id="rId29" Type="http://schemas.openxmlformats.org/officeDocument/2006/relationships/image" Target="../media/image133.png"/><Relationship Id="rId16" Type="http://schemas.openxmlformats.org/officeDocument/2006/relationships/image" Target="../media/image120.png"/><Relationship Id="rId20" Type="http://schemas.openxmlformats.org/officeDocument/2006/relationships/image" Target="../media/image124.png"/><Relationship Id="rId1" Type="http://schemas.openxmlformats.org/officeDocument/2006/relationships/slideLayout" Target="../slideLayouts/slideLayout6.xml"/><Relationship Id="rId6" Type="http://schemas.openxmlformats.org/officeDocument/2006/relationships/image" Target="../media/image941.png"/><Relationship Id="rId11" Type="http://schemas.openxmlformats.org/officeDocument/2006/relationships/image" Target="../media/image115.png"/><Relationship Id="rId32" Type="http://schemas.openxmlformats.org/officeDocument/2006/relationships/image" Target="../media/image136.png"/><Relationship Id="rId37" Type="http://schemas.openxmlformats.org/officeDocument/2006/relationships/image" Target="../media/image125.png"/><Relationship Id="rId24" Type="http://schemas.openxmlformats.org/officeDocument/2006/relationships/image" Target="../media/image128.png"/><Relationship Id="rId5" Type="http://schemas.openxmlformats.org/officeDocument/2006/relationships/image" Target="../media/image761.png"/><Relationship Id="rId28" Type="http://schemas.openxmlformats.org/officeDocument/2006/relationships/image" Target="../media/image132.png"/><Relationship Id="rId36" Type="http://schemas.openxmlformats.org/officeDocument/2006/relationships/image" Target="../media/image140.png"/><Relationship Id="rId15" Type="http://schemas.openxmlformats.org/officeDocument/2006/relationships/image" Target="../media/image119.png"/><Relationship Id="rId23" Type="http://schemas.openxmlformats.org/officeDocument/2006/relationships/image" Target="../media/image127.png"/><Relationship Id="rId10" Type="http://schemas.openxmlformats.org/officeDocument/2006/relationships/image" Target="../media/image105.png"/><Relationship Id="rId31" Type="http://schemas.openxmlformats.org/officeDocument/2006/relationships/image" Target="../media/image114.png"/><Relationship Id="rId19" Type="http://schemas.openxmlformats.org/officeDocument/2006/relationships/image" Target="../media/image123.png"/><Relationship Id="rId4" Type="http://schemas.openxmlformats.org/officeDocument/2006/relationships/image" Target="../media/image671.png"/><Relationship Id="rId9" Type="http://schemas.openxmlformats.org/officeDocument/2006/relationships/image" Target="../media/image1130.png"/><Relationship Id="rId27" Type="http://schemas.openxmlformats.org/officeDocument/2006/relationships/image" Target="../media/image131.png"/><Relationship Id="rId30" Type="http://schemas.openxmlformats.org/officeDocument/2006/relationships/image" Target="../media/image134.png"/><Relationship Id="rId35" Type="http://schemas.openxmlformats.org/officeDocument/2006/relationships/image" Target="../media/image139.png"/><Relationship Id="rId14" Type="http://schemas.openxmlformats.org/officeDocument/2006/relationships/image" Target="../media/image118.png"/><Relationship Id="rId22" Type="http://schemas.openxmlformats.org/officeDocument/2006/relationships/image" Target="../media/image126.png"/><Relationship Id="rId8" Type="http://schemas.openxmlformats.org/officeDocument/2006/relationships/image" Target="../media/image104.png"/></Relationships>
</file>

<file path=ppt/slides/_rels/slide17.xml.rels><?xml version="1.0" encoding="UTF-8" standalone="yes"?>
<Relationships xmlns="http://schemas.openxmlformats.org/package/2006/relationships"><Relationship Id="rId3" Type="http://schemas.openxmlformats.org/officeDocument/2006/relationships/image" Target="../media/image1222.png"/><Relationship Id="rId7" Type="http://schemas.openxmlformats.org/officeDocument/2006/relationships/image" Target="../media/image1241.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232.png"/><Relationship Id="rId5" Type="http://schemas.openxmlformats.org/officeDocument/2006/relationships/image" Target="../media/image141.png"/><Relationship Id="rId4" Type="http://schemas.openxmlformats.org/officeDocument/2006/relationships/image" Target="../media/image680.png"/></Relationships>
</file>

<file path=ppt/slides/_rels/slide18.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1.png"/><Relationship Id="rId3" Type="http://schemas.openxmlformats.org/officeDocument/2006/relationships/image" Target="../media/image135.png"/><Relationship Id="rId7" Type="http://schemas.openxmlformats.org/officeDocument/2006/relationships/image" Target="../media/image144.png"/><Relationship Id="rId12" Type="http://schemas.openxmlformats.org/officeDocument/2006/relationships/image" Target="../media/image150.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143.png"/><Relationship Id="rId11" Type="http://schemas.openxmlformats.org/officeDocument/2006/relationships/image" Target="../media/image148.png"/><Relationship Id="rId5" Type="http://schemas.openxmlformats.org/officeDocument/2006/relationships/image" Target="../media/image142.png"/><Relationship Id="rId10" Type="http://schemas.openxmlformats.org/officeDocument/2006/relationships/image" Target="../media/image147.png"/><Relationship Id="rId4" Type="http://schemas.openxmlformats.org/officeDocument/2006/relationships/image" Target="../media/image137.png"/><Relationship Id="rId9" Type="http://schemas.openxmlformats.org/officeDocument/2006/relationships/image" Target="../media/image146.png"/><Relationship Id="rId14" Type="http://schemas.openxmlformats.org/officeDocument/2006/relationships/image" Target="../media/image152.png"/></Relationships>
</file>

<file path=ppt/slides/_rels/slide19.xml.rels><?xml version="1.0" encoding="UTF-8" standalone="yes"?>
<Relationships xmlns="http://schemas.openxmlformats.org/package/2006/relationships"><Relationship Id="rId8" Type="http://schemas.openxmlformats.org/officeDocument/2006/relationships/image" Target="../media/image740.png"/><Relationship Id="rId3" Type="http://schemas.openxmlformats.org/officeDocument/2006/relationships/image" Target="../media/image1400.png"/><Relationship Id="rId7" Type="http://schemas.openxmlformats.org/officeDocument/2006/relationships/image" Target="../media/image570.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551.png"/><Relationship Id="rId5" Type="http://schemas.openxmlformats.org/officeDocument/2006/relationships/image" Target="../media/image540.png"/><Relationship Id="rId4" Type="http://schemas.openxmlformats.org/officeDocument/2006/relationships/image" Target="../media/image730.png"/><Relationship Id="rId9" Type="http://schemas.openxmlformats.org/officeDocument/2006/relationships/image" Target="../media/image751.png"/></Relationships>
</file>

<file path=ppt/slides/_rels/slide20.xml.rels><?xml version="1.0" encoding="UTF-8" standalone="yes"?>
<Relationships xmlns="http://schemas.openxmlformats.org/package/2006/relationships"><Relationship Id="rId8" Type="http://schemas.openxmlformats.org/officeDocument/2006/relationships/image" Target="../media/image740.png"/><Relationship Id="rId3" Type="http://schemas.openxmlformats.org/officeDocument/2006/relationships/image" Target="../media/image1410.png"/><Relationship Id="rId7" Type="http://schemas.openxmlformats.org/officeDocument/2006/relationships/image" Target="../media/image780.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551.png"/><Relationship Id="rId5" Type="http://schemas.openxmlformats.org/officeDocument/2006/relationships/image" Target="../media/image540.png"/><Relationship Id="rId4" Type="http://schemas.openxmlformats.org/officeDocument/2006/relationships/image" Target="../media/image770.png"/><Relationship Id="rId9" Type="http://schemas.openxmlformats.org/officeDocument/2006/relationships/image" Target="../media/image1420.png"/></Relationships>
</file>

<file path=ppt/slides/_rels/slide21.xml.rels><?xml version="1.0" encoding="UTF-8" standalone="yes"?>
<Relationships xmlns="http://schemas.openxmlformats.org/package/2006/relationships"><Relationship Id="rId8" Type="http://schemas.openxmlformats.org/officeDocument/2006/relationships/image" Target="../media/image740.png"/><Relationship Id="rId3" Type="http://schemas.openxmlformats.org/officeDocument/2006/relationships/image" Target="../media/image1250.png"/><Relationship Id="rId7" Type="http://schemas.openxmlformats.org/officeDocument/2006/relationships/image" Target="../media/image942.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551.png"/><Relationship Id="rId5" Type="http://schemas.openxmlformats.org/officeDocument/2006/relationships/image" Target="../media/image540.png"/><Relationship Id="rId4" Type="http://schemas.openxmlformats.org/officeDocument/2006/relationships/image" Target="../media/image760.png"/><Relationship Id="rId9" Type="http://schemas.openxmlformats.org/officeDocument/2006/relationships/image" Target="../media/image1430.png"/></Relationships>
</file>

<file path=ppt/slides/_rels/slide22.xml.rels><?xml version="1.0" encoding="UTF-8" standalone="yes"?>
<Relationships xmlns="http://schemas.openxmlformats.org/package/2006/relationships"><Relationship Id="rId8" Type="http://schemas.openxmlformats.org/officeDocument/2006/relationships/image" Target="../media/image891.png"/><Relationship Id="rId3" Type="http://schemas.openxmlformats.org/officeDocument/2006/relationships/image" Target="../media/image104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881.png"/><Relationship Id="rId11" Type="http://schemas.openxmlformats.org/officeDocument/2006/relationships/image" Target="../media/image1350.png"/><Relationship Id="rId5" Type="http://schemas.openxmlformats.org/officeDocument/2006/relationships/image" Target="../media/image551.png"/><Relationship Id="rId10" Type="http://schemas.openxmlformats.org/officeDocument/2006/relationships/image" Target="../media/image911.png"/><Relationship Id="rId4" Type="http://schemas.openxmlformats.org/officeDocument/2006/relationships/image" Target="../media/image540.png"/><Relationship Id="rId9" Type="http://schemas.openxmlformats.org/officeDocument/2006/relationships/image" Target="../media/image901.png"/></Relationships>
</file>

<file path=ppt/slides/_rels/slide23.xml.rels><?xml version="1.0" encoding="UTF-8" standalone="yes"?>
<Relationships xmlns="http://schemas.openxmlformats.org/package/2006/relationships"><Relationship Id="rId8" Type="http://schemas.openxmlformats.org/officeDocument/2006/relationships/image" Target="../media/image9410.png"/><Relationship Id="rId3" Type="http://schemas.openxmlformats.org/officeDocument/2006/relationships/image" Target="../media/image5400.png"/><Relationship Id="rId7" Type="http://schemas.openxmlformats.org/officeDocument/2006/relationships/image" Target="../media/image931.png"/><Relationship Id="rId12" Type="http://schemas.openxmlformats.org/officeDocument/2006/relationships/image" Target="../media/image982.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850.png"/><Relationship Id="rId11" Type="http://schemas.openxmlformats.org/officeDocument/2006/relationships/image" Target="../media/image971.png"/><Relationship Id="rId5" Type="http://schemas.openxmlformats.org/officeDocument/2006/relationships/image" Target="../media/image7400.png"/><Relationship Id="rId15" Type="http://schemas.openxmlformats.org/officeDocument/2006/relationships/image" Target="../media/image1012.png"/><Relationship Id="rId10" Type="http://schemas.openxmlformats.org/officeDocument/2006/relationships/image" Target="../media/image961.png"/><Relationship Id="rId4" Type="http://schemas.openxmlformats.org/officeDocument/2006/relationships/image" Target="../media/image5510.png"/><Relationship Id="rId9" Type="http://schemas.openxmlformats.org/officeDocument/2006/relationships/image" Target="../media/image951.png"/><Relationship Id="rId14" Type="http://schemas.openxmlformats.org/officeDocument/2006/relationships/image" Target="../media/image1002.png"/></Relationships>
</file>

<file path=ppt/slides/_rels/slide24.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1001.png"/><Relationship Id="rId18" Type="http://schemas.openxmlformats.org/officeDocument/2006/relationships/image" Target="../media/image1271.png"/><Relationship Id="rId3" Type="http://schemas.openxmlformats.org/officeDocument/2006/relationships/image" Target="../media/image180.png"/><Relationship Id="rId21" Type="http://schemas.openxmlformats.org/officeDocument/2006/relationships/image" Target="../media/image1282.png"/><Relationship Id="rId7" Type="http://schemas.openxmlformats.org/officeDocument/2006/relationships/image" Target="../media/image220.png"/><Relationship Id="rId12" Type="http://schemas.openxmlformats.org/officeDocument/2006/relationships/image" Target="../media/image991.png"/><Relationship Id="rId17" Type="http://schemas.openxmlformats.org/officeDocument/2006/relationships/image" Target="../media/image320.png"/><Relationship Id="rId2" Type="http://schemas.openxmlformats.org/officeDocument/2006/relationships/notesSlide" Target="../notesSlides/notesSlide24.xml"/><Relationship Id="rId16" Type="http://schemas.openxmlformats.org/officeDocument/2006/relationships/image" Target="../media/image153.png"/><Relationship Id="rId20" Type="http://schemas.openxmlformats.org/officeDocument/2006/relationships/image" Target="../media/image350.png"/><Relationship Id="rId1" Type="http://schemas.openxmlformats.org/officeDocument/2006/relationships/slideLayout" Target="../slideLayouts/slideLayout6.xml"/><Relationship Id="rId6" Type="http://schemas.openxmlformats.org/officeDocument/2006/relationships/image" Target="../media/image211.png"/><Relationship Id="rId11" Type="http://schemas.openxmlformats.org/officeDocument/2006/relationships/image" Target="../media/image981.png"/><Relationship Id="rId5" Type="http://schemas.openxmlformats.org/officeDocument/2006/relationships/image" Target="../media/image201.png"/><Relationship Id="rId15" Type="http://schemas.openxmlformats.org/officeDocument/2006/relationships/image" Target="../media/image1021.png"/><Relationship Id="rId10" Type="http://schemas.openxmlformats.org/officeDocument/2006/relationships/image" Target="../media/image1470.png"/><Relationship Id="rId19" Type="http://schemas.openxmlformats.org/officeDocument/2006/relationships/image" Target="../media/image340.png"/><Relationship Id="rId4" Type="http://schemas.openxmlformats.org/officeDocument/2006/relationships/image" Target="../media/image192.png"/><Relationship Id="rId9" Type="http://schemas.openxmlformats.org/officeDocument/2006/relationships/image" Target="../media/image1460.png"/><Relationship Id="rId14" Type="http://schemas.openxmlformats.org/officeDocument/2006/relationships/image" Target="../media/image1011.png"/></Relationships>
</file>

<file path=ppt/slides/_rels/slide25.xml.rels><?xml version="1.0" encoding="UTF-8" standalone="yes"?>
<Relationships xmlns="http://schemas.openxmlformats.org/package/2006/relationships"><Relationship Id="rId8" Type="http://schemas.openxmlformats.org/officeDocument/2006/relationships/image" Target="../media/image1520.png"/><Relationship Id="rId13" Type="http://schemas.openxmlformats.org/officeDocument/2006/relationships/image" Target="../media/image157.png"/><Relationship Id="rId3" Type="http://schemas.openxmlformats.org/officeDocument/2006/relationships/image" Target="../media/image1441.png"/><Relationship Id="rId7" Type="http://schemas.openxmlformats.org/officeDocument/2006/relationships/image" Target="../media/image1511.png"/><Relationship Id="rId12" Type="http://schemas.openxmlformats.org/officeDocument/2006/relationships/image" Target="../media/image156.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1501.png"/><Relationship Id="rId11" Type="http://schemas.openxmlformats.org/officeDocument/2006/relationships/image" Target="../media/image155.png"/><Relationship Id="rId5" Type="http://schemas.openxmlformats.org/officeDocument/2006/relationships/image" Target="../media/image1481.png"/><Relationship Id="rId10" Type="http://schemas.openxmlformats.org/officeDocument/2006/relationships/image" Target="../media/image154.png"/><Relationship Id="rId4" Type="http://schemas.openxmlformats.org/officeDocument/2006/relationships/image" Target="../media/image1451.png"/><Relationship Id="rId9" Type="http://schemas.openxmlformats.org/officeDocument/2006/relationships/image" Target="../media/image1531.png"/></Relationships>
</file>

<file path=ppt/slides/_rels/slide26.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27.xml.rels><?xml version="1.0" encoding="UTF-8" standalone="yes"?>
<Relationships xmlns="http://schemas.openxmlformats.org/package/2006/relationships"><Relationship Id="rId8" Type="http://schemas.openxmlformats.org/officeDocument/2006/relationships/image" Target="../media/image1510.png"/><Relationship Id="rId3" Type="http://schemas.openxmlformats.org/officeDocument/2006/relationships/image" Target="../media/image1440.png"/><Relationship Id="rId7" Type="http://schemas.openxmlformats.org/officeDocument/2006/relationships/image" Target="../media/image1500.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154.emf"/><Relationship Id="rId11" Type="http://schemas.openxmlformats.org/officeDocument/2006/relationships/image" Target="../media/image1541.png"/><Relationship Id="rId5" Type="http://schemas.openxmlformats.org/officeDocument/2006/relationships/image" Target="../media/image1480.png"/><Relationship Id="rId10" Type="http://schemas.openxmlformats.org/officeDocument/2006/relationships/image" Target="../media/image1530.png"/><Relationship Id="rId4" Type="http://schemas.openxmlformats.org/officeDocument/2006/relationships/image" Target="../media/image1450.png"/><Relationship Id="rId9" Type="http://schemas.openxmlformats.org/officeDocument/2006/relationships/image" Target="../media/image155.emf"/></Relationships>
</file>

<file path=ppt/slides/_rels/slide28.xml.rels><?xml version="1.0" encoding="UTF-8" standalone="yes"?>
<Relationships xmlns="http://schemas.openxmlformats.org/package/2006/relationships"><Relationship Id="rId3" Type="http://schemas.openxmlformats.org/officeDocument/2006/relationships/image" Target="../media/image156.tif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diagramColors" Target="../diagrams/colors2.xml"/><Relationship Id="rId11" Type="http://schemas.openxmlformats.org/officeDocument/2006/relationships/diagramColors" Target="../diagrams/colors4.xml"/><Relationship Id="rId5" Type="http://schemas.openxmlformats.org/officeDocument/2006/relationships/diagramQuickStyle" Target="../diagrams/quickStyle2.xml"/><Relationship Id="rId10" Type="http://schemas.openxmlformats.org/officeDocument/2006/relationships/diagramQuickStyle" Target="../diagrams/quickStyle4.xml"/><Relationship Id="rId4" Type="http://schemas.openxmlformats.org/officeDocument/2006/relationships/diagramLayout" Target="../diagrams/layout2.xml"/><Relationship Id="rId9" Type="http://schemas.openxmlformats.org/officeDocument/2006/relationships/diagramLayout" Target="../diagrams/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81.png"/><Relationship Id="rId7" Type="http://schemas.openxmlformats.org/officeDocument/2006/relationships/image" Target="../media/image157.tiff"/><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1190.png"/><Relationship Id="rId5" Type="http://schemas.openxmlformats.org/officeDocument/2006/relationships/image" Target="../media/image613.png"/><Relationship Id="rId4" Type="http://schemas.openxmlformats.org/officeDocument/2006/relationships/image" Target="../media/image312.png"/></Relationships>
</file>

<file path=ppt/slides/_rels/slide31.xml.rels><?xml version="1.0" encoding="UTF-8" standalone="yes"?>
<Relationships xmlns="http://schemas.openxmlformats.org/package/2006/relationships"><Relationship Id="rId8" Type="http://schemas.openxmlformats.org/officeDocument/2006/relationships/image" Target="../media/image225.png"/><Relationship Id="rId13" Type="http://schemas.openxmlformats.org/officeDocument/2006/relationships/image" Target="../media/image1900.png"/><Relationship Id="rId3" Type="http://schemas.openxmlformats.org/officeDocument/2006/relationships/image" Target="../media/image210.png"/><Relationship Id="rId7" Type="http://schemas.openxmlformats.org/officeDocument/2006/relationships/image" Target="../media/image2112.png"/><Relationship Id="rId12" Type="http://schemas.openxmlformats.org/officeDocument/2006/relationships/image" Target="../media/image1880.png"/><Relationship Id="rId2" Type="http://schemas.openxmlformats.org/officeDocument/2006/relationships/notesSlide" Target="../notesSlides/notesSlide31.xml"/><Relationship Id="rId1" Type="http://schemas.openxmlformats.org/officeDocument/2006/relationships/slideLayout" Target="../slideLayouts/slideLayout13.xml"/><Relationship Id="rId11" Type="http://schemas.openxmlformats.org/officeDocument/2006/relationships/image" Target="../media/image1870.png"/><Relationship Id="rId15" Type="http://schemas.openxmlformats.org/officeDocument/2006/relationships/image" Target="../media/image227.png"/><Relationship Id="rId9" Type="http://schemas.openxmlformats.org/officeDocument/2006/relationships/image" Target="../media/image226.png"/><Relationship Id="rId14" Type="http://schemas.openxmlformats.org/officeDocument/2006/relationships/image" Target="../media/image1910.png"/></Relationships>
</file>

<file path=ppt/slides/_rels/slide32.xml.rels><?xml version="1.0" encoding="UTF-8" standalone="yes"?>
<Relationships xmlns="http://schemas.openxmlformats.org/package/2006/relationships"><Relationship Id="rId3" Type="http://schemas.openxmlformats.org/officeDocument/2006/relationships/image" Target="../media/image1890.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232.png"/><Relationship Id="rId4" Type="http://schemas.openxmlformats.org/officeDocument/2006/relationships/image" Target="../media/image1381.png"/></Relationships>
</file>

<file path=ppt/slides/_rels/slide33.xml.rels><?xml version="1.0" encoding="UTF-8" standalone="yes"?>
<Relationships xmlns="http://schemas.openxmlformats.org/package/2006/relationships"><Relationship Id="rId8" Type="http://schemas.openxmlformats.org/officeDocument/2006/relationships/image" Target="../media/image167.emf"/><Relationship Id="rId13" Type="http://schemas.openxmlformats.org/officeDocument/2006/relationships/image" Target="../media/image1231.png"/><Relationship Id="rId3" Type="http://schemas.openxmlformats.org/officeDocument/2006/relationships/image" Target="../media/image462.png"/><Relationship Id="rId7" Type="http://schemas.openxmlformats.org/officeDocument/2006/relationships/image" Target="../media/image166.emf"/><Relationship Id="rId12" Type="http://schemas.openxmlformats.org/officeDocument/2006/relationships/image" Target="../media/image550.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165.tiff"/><Relationship Id="rId5" Type="http://schemas.openxmlformats.org/officeDocument/2006/relationships/image" Target="../media/image1571.png"/><Relationship Id="rId10" Type="http://schemas.openxmlformats.org/officeDocument/2006/relationships/image" Target="../media/image1221.png"/><Relationship Id="rId4" Type="http://schemas.openxmlformats.org/officeDocument/2006/relationships/image" Target="../media/image164.png"/><Relationship Id="rId9" Type="http://schemas.openxmlformats.org/officeDocument/2006/relationships/image" Target="../media/image1211.png"/><Relationship Id="rId14" Type="http://schemas.openxmlformats.org/officeDocument/2006/relationships/image" Target="../media/image168.png"/></Relationships>
</file>

<file path=ppt/slides/_rels/slide34.xml.rels><?xml version="1.0" encoding="UTF-8" standalone="yes"?>
<Relationships xmlns="http://schemas.openxmlformats.org/package/2006/relationships"><Relationship Id="rId3" Type="http://schemas.openxmlformats.org/officeDocument/2006/relationships/image" Target="../media/image169.jpg"/><Relationship Id="rId7" Type="http://schemas.openxmlformats.org/officeDocument/2006/relationships/image" Target="../media/image1640.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630.png"/><Relationship Id="rId5" Type="http://schemas.openxmlformats.org/officeDocument/2006/relationships/image" Target="../media/image1580.png"/><Relationship Id="rId4" Type="http://schemas.openxmlformats.org/officeDocument/2006/relationships/image" Target="../media/image1570.png"/></Relationships>
</file>

<file path=ppt/slides/_rels/slide35.xml.rels><?xml version="1.0" encoding="UTF-8" standalone="yes"?>
<Relationships xmlns="http://schemas.openxmlformats.org/package/2006/relationships"><Relationship Id="rId8" Type="http://schemas.openxmlformats.org/officeDocument/2006/relationships/image" Target="../media/image1240.png"/><Relationship Id="rId3" Type="http://schemas.openxmlformats.org/officeDocument/2006/relationships/image" Target="../media/image170.png"/><Relationship Id="rId7" Type="http://schemas.openxmlformats.org/officeDocument/2006/relationships/image" Target="../media/image1230.png"/><Relationship Id="rId12" Type="http://schemas.openxmlformats.org/officeDocument/2006/relationships/image" Target="../media/image1280.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1220.png"/><Relationship Id="rId11" Type="http://schemas.openxmlformats.org/officeDocument/2006/relationships/image" Target="../media/image172.png"/><Relationship Id="rId5" Type="http://schemas.openxmlformats.org/officeDocument/2006/relationships/image" Target="../media/image1210.png"/><Relationship Id="rId10" Type="http://schemas.openxmlformats.org/officeDocument/2006/relationships/image" Target="../media/image1260.png"/><Relationship Id="rId9" Type="http://schemas.openxmlformats.org/officeDocument/2006/relationships/image" Target="../media/image171.png"/></Relationships>
</file>

<file path=ppt/slides/_rels/slide36.xml.rels><?xml version="1.0" encoding="UTF-8" standalone="yes"?>
<Relationships xmlns="http://schemas.openxmlformats.org/package/2006/relationships"><Relationship Id="rId8" Type="http://schemas.openxmlformats.org/officeDocument/2006/relationships/image" Target="../media/image1540.png"/><Relationship Id="rId13" Type="http://schemas.openxmlformats.org/officeDocument/2006/relationships/image" Target="../media/image223.png"/><Relationship Id="rId3" Type="http://schemas.openxmlformats.org/officeDocument/2006/relationships/image" Target="../media/image2130.png"/><Relationship Id="rId7" Type="http://schemas.openxmlformats.org/officeDocument/2006/relationships/image" Target="../media/image217.png"/><Relationship Id="rId12" Type="http://schemas.openxmlformats.org/officeDocument/2006/relationships/image" Target="../media/image222.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216.png"/><Relationship Id="rId11" Type="http://schemas.openxmlformats.org/officeDocument/2006/relationships/image" Target="../media/image221.png"/><Relationship Id="rId5" Type="http://schemas.openxmlformats.org/officeDocument/2006/relationships/image" Target="../media/image215.png"/><Relationship Id="rId10" Type="http://schemas.openxmlformats.org/officeDocument/2006/relationships/image" Target="../media/image219.png"/><Relationship Id="rId4" Type="http://schemas.openxmlformats.org/officeDocument/2006/relationships/image" Target="../media/image214.png"/><Relationship Id="rId9" Type="http://schemas.openxmlformats.org/officeDocument/2006/relationships/image" Target="../media/image218.png"/></Relationships>
</file>

<file path=ppt/slides/_rels/slide37.xml.rels><?xml version="1.0" encoding="UTF-8" standalone="yes"?>
<Relationships xmlns="http://schemas.openxmlformats.org/package/2006/relationships"><Relationship Id="rId8" Type="http://schemas.openxmlformats.org/officeDocument/2006/relationships/image" Target="../media/image1180.png"/><Relationship Id="rId3" Type="http://schemas.openxmlformats.org/officeDocument/2006/relationships/image" Target="../media/image165.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11600.png"/><Relationship Id="rId5" Type="http://schemas.openxmlformats.org/officeDocument/2006/relationships/image" Target="../media/image167.png"/><Relationship Id="rId4" Type="http://schemas.openxmlformats.org/officeDocument/2006/relationships/image" Target="../media/image166.png"/><Relationship Id="rId9" Type="http://schemas.openxmlformats.org/officeDocument/2006/relationships/image" Target="../media/image1291.png"/></Relationships>
</file>

<file path=ppt/slides/_rels/slide38.xml.rels><?xml version="1.0" encoding="UTF-8" standalone="yes"?>
<Relationships xmlns="http://schemas.openxmlformats.org/package/2006/relationships"><Relationship Id="rId8" Type="http://schemas.openxmlformats.org/officeDocument/2006/relationships/image" Target="../media/image1310.png"/><Relationship Id="rId3" Type="http://schemas.openxmlformats.org/officeDocument/2006/relationships/image" Target="../media/image1700.png"/><Relationship Id="rId7" Type="http://schemas.openxmlformats.org/officeDocument/2006/relationships/image" Target="../media/image1300.png"/><Relationship Id="rId12" Type="http://schemas.openxmlformats.org/officeDocument/2006/relationships/image" Target="../media/image177.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174.png"/><Relationship Id="rId11" Type="http://schemas.openxmlformats.org/officeDocument/2006/relationships/image" Target="../media/image176.png"/><Relationship Id="rId5" Type="http://schemas.openxmlformats.org/officeDocument/2006/relationships/image" Target="../media/image173.png"/><Relationship Id="rId10" Type="http://schemas.openxmlformats.org/officeDocument/2006/relationships/image" Target="../media/image175.png"/><Relationship Id="rId4" Type="http://schemas.openxmlformats.org/officeDocument/2006/relationships/image" Target="../media/image1712.png"/><Relationship Id="rId9" Type="http://schemas.openxmlformats.org/officeDocument/2006/relationships/image" Target="../media/image1740.png"/></Relationships>
</file>

<file path=ppt/slides/_rels/slide39.xml.rels><?xml version="1.0" encoding="UTF-8" standalone="yes"?>
<Relationships xmlns="http://schemas.openxmlformats.org/package/2006/relationships"><Relationship Id="rId8" Type="http://schemas.openxmlformats.org/officeDocument/2006/relationships/image" Target="../media/image1761.png"/><Relationship Id="rId3" Type="http://schemas.openxmlformats.org/officeDocument/2006/relationships/image" Target="../media/image178.png"/><Relationship Id="rId7" Type="http://schemas.openxmlformats.org/officeDocument/2006/relationships/image" Target="../media/image1120.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10.png"/><Relationship Id="rId5" Type="http://schemas.openxmlformats.org/officeDocument/2006/relationships/image" Target="../media/image1100.png"/><Relationship Id="rId4" Type="http://schemas.openxmlformats.org/officeDocument/2006/relationships/image" Target="../media/image1090.png"/><Relationship Id="rId9" Type="http://schemas.openxmlformats.org/officeDocument/2006/relationships/image" Target="../media/image1140.png"/></Relationships>
</file>

<file path=ppt/slides/_rels/slide40.xml.rels><?xml version="1.0" encoding="UTF-8" standalone="yes"?>
<Relationships xmlns="http://schemas.openxmlformats.org/package/2006/relationships"><Relationship Id="rId3" Type="http://schemas.openxmlformats.org/officeDocument/2006/relationships/image" Target="../media/image1771.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169.png"/><Relationship Id="rId5" Type="http://schemas.openxmlformats.org/officeDocument/2006/relationships/image" Target="../media/image1621.png"/><Relationship Id="rId4" Type="http://schemas.openxmlformats.org/officeDocument/2006/relationships/image" Target="../media/image168.png"/></Relationships>
</file>

<file path=ppt/slides/_rels/slide4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751.png"/><Relationship Id="rId7" Type="http://schemas.openxmlformats.org/officeDocument/2006/relationships/image" Target="../media/image1821.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182.png"/><Relationship Id="rId5" Type="http://schemas.openxmlformats.org/officeDocument/2006/relationships/image" Target="../media/image1791.png"/><Relationship Id="rId4" Type="http://schemas.openxmlformats.org/officeDocument/2006/relationships/image" Target="../media/image181.png"/></Relationships>
</file>

<file path=ppt/slides/_rels/slide43.xml.rels><?xml version="1.0" encoding="UTF-8" standalone="yes"?>
<Relationships xmlns="http://schemas.openxmlformats.org/package/2006/relationships"><Relationship Id="rId13" Type="http://schemas.openxmlformats.org/officeDocument/2006/relationships/image" Target="../media/image185.png"/><Relationship Id="rId3" Type="http://schemas.openxmlformats.org/officeDocument/2006/relationships/image" Target="../media/image183.png"/><Relationship Id="rId7" Type="http://schemas.openxmlformats.org/officeDocument/2006/relationships/image" Target="../media/image1431.png"/><Relationship Id="rId12" Type="http://schemas.openxmlformats.org/officeDocument/2006/relationships/image" Target="../media/image174.png"/><Relationship Id="rId2" Type="http://schemas.openxmlformats.org/officeDocument/2006/relationships/notesSlide" Target="../notesSlides/notesSlide43.xml"/><Relationship Id="rId16" Type="http://schemas.openxmlformats.org/officeDocument/2006/relationships/image" Target="../media/image188.png"/><Relationship Id="rId1" Type="http://schemas.openxmlformats.org/officeDocument/2006/relationships/slideLayout" Target="../slideLayouts/slideLayout6.xml"/><Relationship Id="rId6" Type="http://schemas.openxmlformats.org/officeDocument/2006/relationships/image" Target="../media/image1421.png"/><Relationship Id="rId11" Type="http://schemas.openxmlformats.org/officeDocument/2006/relationships/image" Target="../media/image6710.png"/><Relationship Id="rId15" Type="http://schemas.openxmlformats.org/officeDocument/2006/relationships/image" Target="../media/image187.png"/><Relationship Id="rId4" Type="http://schemas.openxmlformats.org/officeDocument/2006/relationships/image" Target="../media/image184.png"/><Relationship Id="rId14" Type="http://schemas.openxmlformats.org/officeDocument/2006/relationships/image" Target="../media/image186.png"/></Relationships>
</file>

<file path=ppt/slides/_rels/slide44.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3" Type="http://schemas.openxmlformats.org/officeDocument/2006/relationships/image" Target="../media/image189.png"/><Relationship Id="rId7" Type="http://schemas.openxmlformats.org/officeDocument/2006/relationships/image" Target="../media/image194.png"/><Relationship Id="rId12" Type="http://schemas.openxmlformats.org/officeDocument/2006/relationships/image" Target="../media/image199.png"/><Relationship Id="rId17" Type="http://schemas.openxmlformats.org/officeDocument/2006/relationships/image" Target="../media/image205.png"/><Relationship Id="rId2" Type="http://schemas.openxmlformats.org/officeDocument/2006/relationships/notesSlide" Target="../notesSlides/notesSlide44.xml"/><Relationship Id="rId16" Type="http://schemas.openxmlformats.org/officeDocument/2006/relationships/image" Target="../media/image204.png"/><Relationship Id="rId1" Type="http://schemas.openxmlformats.org/officeDocument/2006/relationships/slideLayout" Target="../slideLayouts/slideLayout6.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1.png"/><Relationship Id="rId15" Type="http://schemas.openxmlformats.org/officeDocument/2006/relationships/image" Target="../media/image203.png"/><Relationship Id="rId10" Type="http://schemas.openxmlformats.org/officeDocument/2006/relationships/image" Target="../media/image197.png"/><Relationship Id="rId4" Type="http://schemas.openxmlformats.org/officeDocument/2006/relationships/image" Target="../media/image190.png"/><Relationship Id="rId9" Type="http://schemas.openxmlformats.org/officeDocument/2006/relationships/image" Target="../media/image196.png"/><Relationship Id="rId14" Type="http://schemas.openxmlformats.org/officeDocument/2006/relationships/image" Target="../media/image202.png"/></Relationships>
</file>

<file path=ppt/slides/_rels/slide45.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45.xml"/><Relationship Id="rId1" Type="http://schemas.openxmlformats.org/officeDocument/2006/relationships/slideLayout" Target="../slideLayouts/slideLayout6.xml"/><Relationship Id="rId5" Type="http://schemas.openxmlformats.org/officeDocument/2006/relationships/image" Target="../media/image208.png"/><Relationship Id="rId4" Type="http://schemas.openxmlformats.org/officeDocument/2006/relationships/image" Target="../media/image207.png"/></Relationships>
</file>

<file path=ppt/slides/_rels/slide46.xml.rels><?xml version="1.0" encoding="UTF-8" standalone="yes"?>
<Relationships xmlns="http://schemas.openxmlformats.org/package/2006/relationships"><Relationship Id="rId8" Type="http://schemas.openxmlformats.org/officeDocument/2006/relationships/image" Target="../media/image2270.png"/><Relationship Id="rId3" Type="http://schemas.openxmlformats.org/officeDocument/2006/relationships/image" Target="../media/image224.png"/><Relationship Id="rId7" Type="http://schemas.openxmlformats.org/officeDocument/2006/relationships/image" Target="../media/image2260.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171.png"/><Relationship Id="rId5" Type="http://schemas.openxmlformats.org/officeDocument/2006/relationships/image" Target="../media/image2250.png"/><Relationship Id="rId10" Type="http://schemas.openxmlformats.org/officeDocument/2006/relationships/image" Target="../media/image209.png"/><Relationship Id="rId4" Type="http://schemas.openxmlformats.org/officeDocument/2006/relationships/image" Target="../media/image170.png"/><Relationship Id="rId9" Type="http://schemas.openxmlformats.org/officeDocument/2006/relationships/image" Target="../media/image228.png"/></Relationships>
</file>

<file path=ppt/slides/_rels/slide47.xml.rels><?xml version="1.0" encoding="UTF-8" standalone="yes"?>
<Relationships xmlns="http://schemas.openxmlformats.org/package/2006/relationships"><Relationship Id="rId8" Type="http://schemas.openxmlformats.org/officeDocument/2006/relationships/image" Target="../media/image235.png"/><Relationship Id="rId3" Type="http://schemas.openxmlformats.org/officeDocument/2006/relationships/image" Target="../media/image171.png"/><Relationship Id="rId7" Type="http://schemas.openxmlformats.org/officeDocument/2006/relationships/image" Target="../media/image234.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233.png"/><Relationship Id="rId5" Type="http://schemas.openxmlformats.org/officeDocument/2006/relationships/image" Target="../media/image2320.png"/><Relationship Id="rId4" Type="http://schemas.openxmlformats.org/officeDocument/2006/relationships/image" Target="../media/image231.png"/></Relationships>
</file>

<file path=ppt/slides/_rels/slide48.xml.rels><?xml version="1.0" encoding="UTF-8" standalone="yes"?>
<Relationships xmlns="http://schemas.openxmlformats.org/package/2006/relationships"><Relationship Id="rId3" Type="http://schemas.openxmlformats.org/officeDocument/2006/relationships/image" Target="../media/image210.tiff"/><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11.tiff"/><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1770.png"/><Relationship Id="rId5" Type="http://schemas.openxmlformats.org/officeDocument/2006/relationships/image" Target="../media/image1760.png"/><Relationship Id="rId4" Type="http://schemas.openxmlformats.org/officeDocument/2006/relationships/image" Target="../media/image1750.png"/></Relationships>
</file>

<file path=ppt/slides/_rels/slide50.xml.rels><?xml version="1.0" encoding="UTF-8" standalone="yes"?>
<Relationships xmlns="http://schemas.openxmlformats.org/package/2006/relationships"><Relationship Id="rId8" Type="http://schemas.openxmlformats.org/officeDocument/2006/relationships/image" Target="../media/image1892.png"/><Relationship Id="rId3" Type="http://schemas.openxmlformats.org/officeDocument/2006/relationships/image" Target="../media/image1841.png"/><Relationship Id="rId7" Type="http://schemas.openxmlformats.org/officeDocument/2006/relationships/image" Target="../media/image1881.png"/><Relationship Id="rId2" Type="http://schemas.openxmlformats.org/officeDocument/2006/relationships/notesSlide" Target="../notesSlides/notesSlide50.xml"/><Relationship Id="rId1" Type="http://schemas.openxmlformats.org/officeDocument/2006/relationships/slideLayout" Target="../slideLayouts/slideLayout6.xml"/><Relationship Id="rId6" Type="http://schemas.openxmlformats.org/officeDocument/2006/relationships/image" Target="../media/image18700.png"/><Relationship Id="rId5" Type="http://schemas.openxmlformats.org/officeDocument/2006/relationships/image" Target="../media/image1860.png"/><Relationship Id="rId4" Type="http://schemas.openxmlformats.org/officeDocument/2006/relationships/image" Target="../media/image1850.png"/><Relationship Id="rId9" Type="http://schemas.openxmlformats.org/officeDocument/2006/relationships/image" Target="../media/image1902.png"/></Relationships>
</file>

<file path=ppt/slides/_rels/slide51.xml.rels><?xml version="1.0" encoding="UTF-8" standalone="yes"?>
<Relationships xmlns="http://schemas.openxmlformats.org/package/2006/relationships"><Relationship Id="rId8" Type="http://schemas.openxmlformats.org/officeDocument/2006/relationships/image" Target="../media/image1840.png"/><Relationship Id="rId3" Type="http://schemas.openxmlformats.org/officeDocument/2006/relationships/image" Target="../media/image920.png"/><Relationship Id="rId7" Type="http://schemas.openxmlformats.org/officeDocument/2006/relationships/image" Target="../media/image670.png"/><Relationship Id="rId2" Type="http://schemas.openxmlformats.org/officeDocument/2006/relationships/notesSlide" Target="../notesSlides/notesSlide51.xml"/><Relationship Id="rId1" Type="http://schemas.openxmlformats.org/officeDocument/2006/relationships/slideLayout" Target="../slideLayouts/slideLayout6.xml"/><Relationship Id="rId5" Type="http://schemas.openxmlformats.org/officeDocument/2006/relationships/image" Target="../media/image940.png"/><Relationship Id="rId10" Type="http://schemas.openxmlformats.org/officeDocument/2006/relationships/image" Target="../media/image790.png"/><Relationship Id="rId4" Type="http://schemas.openxmlformats.org/officeDocument/2006/relationships/image" Target="../media/image930.png"/><Relationship Id="rId9" Type="http://schemas.openxmlformats.org/officeDocument/2006/relationships/image" Target="../media/image1710.png"/></Relationships>
</file>

<file path=ppt/slides/_rels/slide52.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239.png"/></Relationships>
</file>

<file path=ppt/slides/_rels/slide53.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213.tiff"/></Relationships>
</file>

<file path=ppt/slides/_rels/slide54.xml.rels><?xml version="1.0" encoding="UTF-8" standalone="yes"?>
<Relationships xmlns="http://schemas.openxmlformats.org/package/2006/relationships"><Relationship Id="rId3" Type="http://schemas.openxmlformats.org/officeDocument/2006/relationships/image" Target="../media/image214.emf"/><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8" Type="http://schemas.openxmlformats.org/officeDocument/2006/relationships/image" Target="../media/image1940.png"/><Relationship Id="rId13" Type="http://schemas.openxmlformats.org/officeDocument/2006/relationships/image" Target="../media/image19000.png"/><Relationship Id="rId3" Type="http://schemas.openxmlformats.org/officeDocument/2006/relationships/image" Target="../media/image18800.png"/><Relationship Id="rId7" Type="http://schemas.openxmlformats.org/officeDocument/2006/relationships/image" Target="../media/image1930.png"/><Relationship Id="rId12" Type="http://schemas.openxmlformats.org/officeDocument/2006/relationships/image" Target="../media/image1820.png"/><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image" Target="../media/image19100.png"/><Relationship Id="rId5" Type="http://schemas.openxmlformats.org/officeDocument/2006/relationships/image" Target="../media/image1901.png"/><Relationship Id="rId15" Type="http://schemas.openxmlformats.org/officeDocument/2006/relationships/image" Target="../media/image1950.png"/><Relationship Id="rId4" Type="http://schemas.openxmlformats.org/officeDocument/2006/relationships/image" Target="../media/image1891.png"/><Relationship Id="rId14" Type="http://schemas.openxmlformats.org/officeDocument/2006/relationships/image" Target="../media/image171.png"/></Relationships>
</file>

<file path=ppt/slides/_rels/slide56.xml.rels><?xml version="1.0" encoding="UTF-8" standalone="yes"?>
<Relationships xmlns="http://schemas.openxmlformats.org/package/2006/relationships"><Relationship Id="rId8" Type="http://schemas.openxmlformats.org/officeDocument/2006/relationships/image" Target="../media/image1960.png"/><Relationship Id="rId3" Type="http://schemas.openxmlformats.org/officeDocument/2006/relationships/image" Target="../media/image1780.png"/><Relationship Id="rId7" Type="http://schemas.openxmlformats.org/officeDocument/2006/relationships/image" Target="../media/image1830.png"/><Relationship Id="rId12" Type="http://schemas.openxmlformats.org/officeDocument/2006/relationships/image" Target="../media/image1990.png"/><Relationship Id="rId2" Type="http://schemas.openxmlformats.org/officeDocument/2006/relationships/notesSlide" Target="../notesSlides/notesSlide56.xml"/><Relationship Id="rId1" Type="http://schemas.openxmlformats.org/officeDocument/2006/relationships/slideLayout" Target="../slideLayouts/slideLayout6.xml"/><Relationship Id="rId11" Type="http://schemas.openxmlformats.org/officeDocument/2006/relationships/image" Target="../media/image1980.png"/><Relationship Id="rId5" Type="http://schemas.openxmlformats.org/officeDocument/2006/relationships/image" Target="../media/image171.png"/><Relationship Id="rId10" Type="http://schemas.openxmlformats.org/officeDocument/2006/relationships/image" Target="../media/image1970.png"/><Relationship Id="rId4" Type="http://schemas.openxmlformats.org/officeDocument/2006/relationships/image" Target="../media/image1790.png"/><Relationship Id="rId9" Type="http://schemas.openxmlformats.org/officeDocument/2006/relationships/image" Target="../media/image18900.png"/></Relationships>
</file>

<file path=ppt/slides/_rels/slide57.xml.rels><?xml version="1.0" encoding="UTF-8" standalone="yes"?>
<Relationships xmlns="http://schemas.openxmlformats.org/package/2006/relationships"><Relationship Id="rId8" Type="http://schemas.openxmlformats.org/officeDocument/2006/relationships/image" Target="../media/image9600.png"/><Relationship Id="rId13" Type="http://schemas.openxmlformats.org/officeDocument/2006/relationships/image" Target="../media/image237.png"/><Relationship Id="rId3" Type="http://schemas.openxmlformats.org/officeDocument/2006/relationships/image" Target="../media/image880.png"/><Relationship Id="rId7" Type="http://schemas.openxmlformats.org/officeDocument/2006/relationships/image" Target="../media/image229.png"/><Relationship Id="rId12" Type="http://schemas.openxmlformats.org/officeDocument/2006/relationships/image" Target="../media/image1000.png"/><Relationship Id="rId17" Type="http://schemas.openxmlformats.org/officeDocument/2006/relationships/image" Target="../media/image216.tiff"/><Relationship Id="rId2" Type="http://schemas.openxmlformats.org/officeDocument/2006/relationships/notesSlide" Target="../notesSlides/notesSlide57.xml"/><Relationship Id="rId16" Type="http://schemas.openxmlformats.org/officeDocument/2006/relationships/image" Target="../media/image215.tiff"/><Relationship Id="rId1" Type="http://schemas.openxmlformats.org/officeDocument/2006/relationships/slideLayout" Target="../slideLayouts/slideLayout6.xml"/><Relationship Id="rId6" Type="http://schemas.openxmlformats.org/officeDocument/2006/relationships/image" Target="../media/image9100.png"/><Relationship Id="rId11" Type="http://schemas.openxmlformats.org/officeDocument/2006/relationships/image" Target="../media/image9900.png"/><Relationship Id="rId5" Type="http://schemas.openxmlformats.org/officeDocument/2006/relationships/image" Target="../media/image9000.png"/><Relationship Id="rId15" Type="http://schemas.openxmlformats.org/officeDocument/2006/relationships/image" Target="../media/image241.png"/><Relationship Id="rId10" Type="http://schemas.openxmlformats.org/officeDocument/2006/relationships/image" Target="../media/image236.png"/><Relationship Id="rId4" Type="http://schemas.openxmlformats.org/officeDocument/2006/relationships/image" Target="../media/image890.png"/><Relationship Id="rId9" Type="http://schemas.openxmlformats.org/officeDocument/2006/relationships/image" Target="../media/image9700.png"/><Relationship Id="rId14" Type="http://schemas.openxmlformats.org/officeDocument/2006/relationships/image" Target="../media/image240.png"/></Relationships>
</file>

<file path=ppt/slides/_rels/slide58.xml.rels><?xml version="1.0" encoding="UTF-8" standalone="yes"?>
<Relationships xmlns="http://schemas.openxmlformats.org/package/2006/relationships"><Relationship Id="rId3" Type="http://schemas.openxmlformats.org/officeDocument/2006/relationships/image" Target="../media/image217.emf"/><Relationship Id="rId2" Type="http://schemas.openxmlformats.org/officeDocument/2006/relationships/notesSlide" Target="../notesSlides/notesSlide58.xml"/><Relationship Id="rId1" Type="http://schemas.openxmlformats.org/officeDocument/2006/relationships/slideLayout" Target="../slideLayouts/slideLayout6.xml"/><Relationship Id="rId5" Type="http://schemas.openxmlformats.org/officeDocument/2006/relationships/image" Target="../media/image1991.png"/><Relationship Id="rId4" Type="http://schemas.openxmlformats.org/officeDocument/2006/relationships/image" Target="../media/image1981.png"/></Relationships>
</file>

<file path=ppt/slides/_rels/slide59.xml.rels><?xml version="1.0" encoding="UTF-8" standalone="yes"?>
<Relationships xmlns="http://schemas.openxmlformats.org/package/2006/relationships"><Relationship Id="rId8" Type="http://schemas.openxmlformats.org/officeDocument/2006/relationships/image" Target="../media/image167.emf"/><Relationship Id="rId13" Type="http://schemas.openxmlformats.org/officeDocument/2006/relationships/image" Target="../media/image247.png"/><Relationship Id="rId7" Type="http://schemas.openxmlformats.org/officeDocument/2006/relationships/image" Target="../media/image166.emf"/><Relationship Id="rId12" Type="http://schemas.openxmlformats.org/officeDocument/2006/relationships/image" Target="../media/image246.png"/><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image" Target="../media/image164.png"/><Relationship Id="rId11" Type="http://schemas.openxmlformats.org/officeDocument/2006/relationships/image" Target="../media/image245.tiff"/><Relationship Id="rId5" Type="http://schemas.openxmlformats.org/officeDocument/2006/relationships/image" Target="../media/image242.png"/><Relationship Id="rId10" Type="http://schemas.openxmlformats.org/officeDocument/2006/relationships/image" Target="../media/image244.png"/><Relationship Id="rId4" Type="http://schemas.openxmlformats.org/officeDocument/2006/relationships/image" Target="../media/image1981.png"/><Relationship Id="rId9" Type="http://schemas.openxmlformats.org/officeDocument/2006/relationships/image" Target="../media/image243.png"/><Relationship Id="rId14" Type="http://schemas.openxmlformats.org/officeDocument/2006/relationships/image" Target="../media/image248.png"/></Relationships>
</file>

<file path=ppt/slides/_rels/slide60.xml.rels><?xml version="1.0" encoding="UTF-8" standalone="yes"?>
<Relationships xmlns="http://schemas.openxmlformats.org/package/2006/relationships"><Relationship Id="rId8" Type="http://schemas.openxmlformats.org/officeDocument/2006/relationships/image" Target="../media/image1720.png"/><Relationship Id="rId3" Type="http://schemas.openxmlformats.org/officeDocument/2006/relationships/image" Target="../media/image1971.png"/><Relationship Id="rId7" Type="http://schemas.openxmlformats.org/officeDocument/2006/relationships/image" Target="../media/image2020.png"/><Relationship Id="rId2" Type="http://schemas.openxmlformats.org/officeDocument/2006/relationships/notesSlide" Target="../notesSlides/notesSlide60.xml"/><Relationship Id="rId1" Type="http://schemas.openxmlformats.org/officeDocument/2006/relationships/slideLayout" Target="../slideLayouts/slideLayout6.xml"/><Relationship Id="rId6" Type="http://schemas.openxmlformats.org/officeDocument/2006/relationships/image" Target="../media/image2000.png"/><Relationship Id="rId5" Type="http://schemas.openxmlformats.org/officeDocument/2006/relationships/image" Target="../media/image1711.png"/><Relationship Id="rId4" Type="http://schemas.openxmlformats.org/officeDocument/2006/relationships/image" Target="../media/image245.png"/><Relationship Id="rId9" Type="http://schemas.openxmlformats.org/officeDocument/2006/relationships/image" Target="../media/image2460.png"/></Relationships>
</file>

<file path=ppt/slides/_rels/slide61.xml.rels><?xml version="1.0" encoding="UTF-8" standalone="yes"?>
<Relationships xmlns="http://schemas.openxmlformats.org/package/2006/relationships"><Relationship Id="rId3" Type="http://schemas.openxmlformats.org/officeDocument/2006/relationships/image" Target="../media/image2070.png"/><Relationship Id="rId2" Type="http://schemas.openxmlformats.org/officeDocument/2006/relationships/notesSlide" Target="../notesSlides/notesSlide61.xml"/><Relationship Id="rId1" Type="http://schemas.openxmlformats.org/officeDocument/2006/relationships/slideLayout" Target="../slideLayouts/slideLayout6.xml"/><Relationship Id="rId4" Type="http://schemas.openxmlformats.org/officeDocument/2006/relationships/image" Target="../media/image2080.png"/></Relationships>
</file>

<file path=ppt/slides/_rels/slide62.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notesSlide" Target="../notesSlides/notesSlide62.xml"/><Relationship Id="rId1" Type="http://schemas.openxmlformats.org/officeDocument/2006/relationships/slideLayout" Target="../slideLayouts/slideLayout6.xml"/><Relationship Id="rId5" Type="http://schemas.openxmlformats.org/officeDocument/2006/relationships/image" Target="../media/image2060.png"/><Relationship Id="rId4" Type="http://schemas.openxmlformats.org/officeDocument/2006/relationships/image" Target="../media/image2050.png"/></Relationships>
</file>

<file path=ppt/slides/_rels/slide6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250.tiff"/><Relationship Id="rId4" Type="http://schemas.openxmlformats.org/officeDocument/2006/relationships/image" Target="../media/image2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3. Qubit</a:t>
            </a:r>
          </a:p>
        </p:txBody>
      </p:sp>
      <p:sp>
        <p:nvSpPr>
          <p:cNvPr id="8" name="TextBox 7">
            <a:extLst>
              <a:ext uri="{FF2B5EF4-FFF2-40B4-BE49-F238E27FC236}">
                <a16:creationId xmlns:a16="http://schemas.microsoft.com/office/drawing/2014/main" id="{B822F047-587E-0E43-A128-2295A130EA99}"/>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E2514CF6-BD0B-9541-BF60-746CD0F34C88}"/>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175429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399D833-5D8C-474B-BF8C-B775B13FD27B}"/>
              </a:ext>
            </a:extLst>
          </p:cNvPr>
          <p:cNvSpPr/>
          <p:nvPr/>
        </p:nvSpPr>
        <p:spPr>
          <a:xfrm>
            <a:off x="7051485" y="3333658"/>
            <a:ext cx="1185694" cy="86487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Model of Quantum Computation</a:t>
            </a:r>
            <a:endParaRPr lang="en-US" dirty="0"/>
          </a:p>
        </p:txBody>
      </p:sp>
      <p:graphicFrame>
        <p:nvGraphicFramePr>
          <p:cNvPr id="13" name="Diagram 12">
            <a:extLst>
              <a:ext uri="{FF2B5EF4-FFF2-40B4-BE49-F238E27FC236}">
                <a16:creationId xmlns:a16="http://schemas.microsoft.com/office/drawing/2014/main" id="{10EB9623-501D-7A45-8A8E-6BA01D731007}"/>
              </a:ext>
            </a:extLst>
          </p:cNvPr>
          <p:cNvGraphicFramePr/>
          <p:nvPr>
            <p:extLst/>
          </p:nvPr>
        </p:nvGraphicFramePr>
        <p:xfrm>
          <a:off x="334148" y="1141204"/>
          <a:ext cx="6229350" cy="5300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06C10DC-9ED4-A04B-8EE7-254939B7DE04}"/>
                  </a:ext>
                </a:extLst>
              </p:cNvPr>
              <p:cNvSpPr txBox="1"/>
              <p:nvPr/>
            </p:nvSpPr>
            <p:spPr>
              <a:xfrm>
                <a:off x="6992991" y="3392826"/>
                <a:ext cx="2639632"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smtClean="0">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m:t>
                                </m:r>
                              </m:e>
                              <m:e>
                                <m:r>
                                  <a:rPr lang="en-US" sz="2500">
                                    <a:latin typeface="Cambria Math" panose="02040503050406030204" pitchFamily="18" charset="0"/>
                                    <a:ea typeface="Cambria Math" panose="02040503050406030204" pitchFamily="18" charset="0"/>
                                  </a:rPr>
                                  <m:t>1</m:t>
                                </m:r>
                              </m:e>
                            </m:mr>
                            <m:mr>
                              <m:e>
                                <m:r>
                                  <a:rPr lang="en-US" sz="2500">
                                    <a:latin typeface="Cambria Math" panose="02040503050406030204" pitchFamily="18" charset="0"/>
                                    <a:ea typeface="Cambria Math" panose="02040503050406030204" pitchFamily="18" charset="0"/>
                                  </a:rPr>
                                  <m:t>1</m:t>
                                </m:r>
                              </m:e>
                              <m:e>
                                <m:r>
                                  <a:rPr lang="en-US" sz="2500">
                                    <a:latin typeface="Cambria Math" panose="02040503050406030204" pitchFamily="18" charset="0"/>
                                    <a:ea typeface="Cambria Math" panose="02040503050406030204" pitchFamily="18" charset="0"/>
                                  </a:rPr>
                                  <m:t>0</m:t>
                                </m:r>
                              </m:e>
                            </m:mr>
                          </m:m>
                        </m:e>
                      </m:d>
                      <m:r>
                        <a:rPr lang="en-US" sz="2500" b="0" i="1" smtClean="0">
                          <a:latin typeface="Cambria Math" panose="02040503050406030204" pitchFamily="18" charset="0"/>
                          <a:ea typeface="Cambria Math" panose="02040503050406030204" pitchFamily="18" charset="0"/>
                        </a:rPr>
                        <m:t> </m:t>
                      </m:r>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m:t>
                                </m:r>
                                <m:r>
                                  <a:rPr lang="en-US" sz="2500" b="0" i="0" smtClean="0">
                                    <a:latin typeface="Cambria Math" panose="02040503050406030204" pitchFamily="18" charset="0"/>
                                    <a:ea typeface="Cambria Math" panose="02040503050406030204" pitchFamily="18" charset="0"/>
                                  </a:rPr>
                                  <m:t>.1951</m:t>
                                </m:r>
                              </m:e>
                            </m:mr>
                          </m:m>
                        </m:e>
                      </m:d>
                    </m:oMath>
                  </m:oMathPara>
                </a14:m>
                <a:endParaRPr lang="en-US" sz="2500"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F06C10DC-9ED4-A04B-8EE7-254939B7DE04}"/>
                  </a:ext>
                </a:extLst>
              </p:cNvPr>
              <p:cNvSpPr txBox="1">
                <a:spLocks noRot="1" noChangeAspect="1" noMove="1" noResize="1" noEditPoints="1" noAdjustHandles="1" noChangeArrowheads="1" noChangeShapeType="1" noTextEdit="1"/>
              </p:cNvSpPr>
              <p:nvPr/>
            </p:nvSpPr>
            <p:spPr>
              <a:xfrm>
                <a:off x="6992991" y="3392826"/>
                <a:ext cx="2639632" cy="733855"/>
              </a:xfrm>
              <a:prstGeom prst="rect">
                <a:avLst/>
              </a:prstGeom>
              <a:blipFill>
                <a:blip r:embed="rId9"/>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A69AB2F-EAB2-5F41-A45D-5012876B2FC9}"/>
                  </a:ext>
                </a:extLst>
              </p:cNvPr>
              <p:cNvSpPr txBox="1"/>
              <p:nvPr/>
            </p:nvSpPr>
            <p:spPr>
              <a:xfrm>
                <a:off x="8022622" y="1209620"/>
                <a:ext cx="1526508"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0.1951</m:t>
                                </m:r>
                              </m:e>
                            </m:mr>
                          </m:m>
                        </m:e>
                      </m:d>
                    </m:oMath>
                  </m:oMathPara>
                </a14:m>
                <a:endParaRPr lang="en-US" sz="2500" dirty="0"/>
              </a:p>
            </p:txBody>
          </p:sp>
        </mc:Choice>
        <mc:Fallback xmlns="">
          <p:sp>
            <p:nvSpPr>
              <p:cNvPr id="15" name="TextBox 14">
                <a:extLst>
                  <a:ext uri="{FF2B5EF4-FFF2-40B4-BE49-F238E27FC236}">
                    <a16:creationId xmlns:a16="http://schemas.microsoft.com/office/drawing/2014/main" id="{DA69AB2F-EAB2-5F41-A45D-5012876B2FC9}"/>
                  </a:ext>
                </a:extLst>
              </p:cNvPr>
              <p:cNvSpPr txBox="1">
                <a:spLocks noRot="1" noChangeAspect="1" noMove="1" noResize="1" noEditPoints="1" noAdjustHandles="1" noChangeArrowheads="1" noChangeShapeType="1" noTextEdit="1"/>
              </p:cNvSpPr>
              <p:nvPr/>
            </p:nvSpPr>
            <p:spPr>
              <a:xfrm>
                <a:off x="8022622" y="1209620"/>
                <a:ext cx="1526508" cy="733855"/>
              </a:xfrm>
              <a:prstGeom prst="rect">
                <a:avLst/>
              </a:prstGeom>
              <a:blipFill>
                <a:blip r:embed="rId10"/>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3C3807-0723-8E42-A7B0-2D62DE9DF039}"/>
                  </a:ext>
                </a:extLst>
              </p:cNvPr>
              <p:cNvSpPr txBox="1"/>
              <p:nvPr/>
            </p:nvSpPr>
            <p:spPr>
              <a:xfrm>
                <a:off x="8093050" y="2249545"/>
                <a:ext cx="1597040" cy="733855"/>
              </a:xfrm>
              <a:prstGeom prst="rect">
                <a:avLst/>
              </a:prstGeom>
              <a:noFill/>
            </p:spPr>
            <p:txBody>
              <a:bodyPr wrap="none" rtlCol="0">
                <a:spAutoFit/>
              </a:bodyPr>
              <a:lstStyle/>
              <a:p>
                <a:r>
                  <a:rPr lang="en-US" sz="2500" dirty="0">
                    <a:latin typeface="Cambria Math" panose="02040503050406030204" pitchFamily="18" charset="0"/>
                    <a:ea typeface="Cambria Math" panose="02040503050406030204" pitchFamily="18" charset="0"/>
                  </a:rPr>
                  <a:t>X=</a:t>
                </a:r>
                <a14:m>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m:t>
                              </m:r>
                            </m:e>
                            <m:e>
                              <m:r>
                                <a:rPr lang="en-US" sz="2500" b="0" i="0" smtClean="0">
                                  <a:latin typeface="Cambria Math" panose="02040503050406030204" pitchFamily="18" charset="0"/>
                                  <a:ea typeface="Cambria Math" panose="02040503050406030204" pitchFamily="18" charset="0"/>
                                </a:rPr>
                                <m:t>1</m:t>
                              </m:r>
                            </m:e>
                          </m:mr>
                          <m:mr>
                            <m:e>
                              <m:r>
                                <a:rPr lang="en-US" sz="2500" b="0" i="0" smtClean="0">
                                  <a:latin typeface="Cambria Math" panose="02040503050406030204" pitchFamily="18" charset="0"/>
                                  <a:ea typeface="Cambria Math" panose="02040503050406030204" pitchFamily="18" charset="0"/>
                                </a:rPr>
                                <m:t>1</m:t>
                              </m:r>
                            </m:e>
                            <m:e>
                              <m:r>
                                <a:rPr lang="en-US" sz="2500" b="0" i="0" smtClean="0">
                                  <a:latin typeface="Cambria Math" panose="02040503050406030204" pitchFamily="18" charset="0"/>
                                  <a:ea typeface="Cambria Math" panose="02040503050406030204" pitchFamily="18" charset="0"/>
                                </a:rPr>
                                <m:t>0</m:t>
                              </m:r>
                            </m:e>
                          </m:mr>
                        </m:m>
                      </m:e>
                    </m:d>
                  </m:oMath>
                </a14:m>
                <a:endParaRPr lang="en-US" sz="2500" dirty="0">
                  <a:latin typeface="Cambria Math" panose="02040503050406030204" pitchFamily="18" charset="0"/>
                  <a:ea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AC3C3807-0723-8E42-A7B0-2D62DE9DF039}"/>
                  </a:ext>
                </a:extLst>
              </p:cNvPr>
              <p:cNvSpPr txBox="1">
                <a:spLocks noRot="1" noChangeAspect="1" noMove="1" noResize="1" noEditPoints="1" noAdjustHandles="1" noChangeArrowheads="1" noChangeShapeType="1" noTextEdit="1"/>
              </p:cNvSpPr>
              <p:nvPr/>
            </p:nvSpPr>
            <p:spPr>
              <a:xfrm>
                <a:off x="8093050" y="2249545"/>
                <a:ext cx="1597040" cy="733855"/>
              </a:xfrm>
              <a:prstGeom prst="rect">
                <a:avLst/>
              </a:prstGeom>
              <a:blipFill>
                <a:blip r:embed="rId11"/>
                <a:stretch>
                  <a:fillRect l="-5512" b="-6780"/>
                </a:stretch>
              </a:blipFill>
            </p:spPr>
            <p:txBody>
              <a:bodyPr/>
              <a:lstStyle/>
              <a:p>
                <a:r>
                  <a:rPr lang="en-US">
                    <a:noFill/>
                  </a:rPr>
                  <a:t> </a:t>
                </a:r>
              </a:p>
            </p:txBody>
          </p:sp>
        </mc:Fallback>
      </mc:AlternateContent>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2</a:t>
            </a:fld>
            <a:endParaRPr lang="en-US"/>
          </a:p>
        </p:txBody>
      </p:sp>
      <p:sp>
        <p:nvSpPr>
          <p:cNvPr id="12" name="Oval 11">
            <a:extLst>
              <a:ext uri="{FF2B5EF4-FFF2-40B4-BE49-F238E27FC236}">
                <a16:creationId xmlns:a16="http://schemas.microsoft.com/office/drawing/2014/main" id="{095F4CDB-67C0-A949-9108-543060B9DC85}"/>
              </a:ext>
            </a:extLst>
          </p:cNvPr>
          <p:cNvSpPr/>
          <p:nvPr/>
        </p:nvSpPr>
        <p:spPr>
          <a:xfrm>
            <a:off x="6992991" y="2322068"/>
            <a:ext cx="827999" cy="827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8" name="Straight Connector 7">
            <a:extLst>
              <a:ext uri="{FF2B5EF4-FFF2-40B4-BE49-F238E27FC236}">
                <a16:creationId xmlns:a16="http://schemas.microsoft.com/office/drawing/2014/main" id="{E8A318D2-2468-D946-AB85-289E68A4BC67}"/>
              </a:ext>
            </a:extLst>
          </p:cNvPr>
          <p:cNvCxnSpPr>
            <a:cxnSpLocks/>
          </p:cNvCxnSpPr>
          <p:nvPr/>
        </p:nvCxnSpPr>
        <p:spPr>
          <a:xfrm>
            <a:off x="6808732" y="4897813"/>
            <a:ext cx="3877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D939135-177E-464F-BE68-8BFF3A98B9ED}"/>
              </a:ext>
            </a:extLst>
          </p:cNvPr>
          <p:cNvSpPr/>
          <p:nvPr/>
        </p:nvSpPr>
        <p:spPr>
          <a:xfrm>
            <a:off x="7097301" y="453454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1" name="Rectangle 20">
            <a:extLst>
              <a:ext uri="{FF2B5EF4-FFF2-40B4-BE49-F238E27FC236}">
                <a16:creationId xmlns:a16="http://schemas.microsoft.com/office/drawing/2014/main" id="{F1E96AF3-BDE2-F042-9D10-19EA31F654C1}"/>
              </a:ext>
            </a:extLst>
          </p:cNvPr>
          <p:cNvSpPr/>
          <p:nvPr/>
        </p:nvSpPr>
        <p:spPr>
          <a:xfrm>
            <a:off x="8093050" y="452807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pic>
        <p:nvPicPr>
          <p:cNvPr id="22" name="Picture 21">
            <a:extLst>
              <a:ext uri="{FF2B5EF4-FFF2-40B4-BE49-F238E27FC236}">
                <a16:creationId xmlns:a16="http://schemas.microsoft.com/office/drawing/2014/main" id="{1B26F4F8-1472-A740-9986-0A030CC73B1A}"/>
              </a:ext>
            </a:extLst>
          </p:cNvPr>
          <p:cNvPicPr>
            <a:picLocks noChangeAspect="1"/>
          </p:cNvPicPr>
          <p:nvPr/>
        </p:nvPicPr>
        <p:blipFill>
          <a:blip r:embed="rId12"/>
          <a:stretch>
            <a:fillRect/>
          </a:stretch>
        </p:blipFill>
        <p:spPr>
          <a:xfrm>
            <a:off x="9088800" y="4528072"/>
            <a:ext cx="720000" cy="739459"/>
          </a:xfrm>
          <a:prstGeom prst="rect">
            <a:avLst/>
          </a:prstGeom>
        </p:spPr>
      </p:pic>
      <p:sp>
        <p:nvSpPr>
          <p:cNvPr id="24" name="Rectangle 23">
            <a:extLst>
              <a:ext uri="{FF2B5EF4-FFF2-40B4-BE49-F238E27FC236}">
                <a16:creationId xmlns:a16="http://schemas.microsoft.com/office/drawing/2014/main" id="{94990A0B-E909-5541-B793-0888935EBF18}"/>
              </a:ext>
            </a:extLst>
          </p:cNvPr>
          <p:cNvSpPr/>
          <p:nvPr/>
        </p:nvSpPr>
        <p:spPr>
          <a:xfrm>
            <a:off x="6563498" y="5451830"/>
            <a:ext cx="4076793" cy="923330"/>
          </a:xfrm>
          <a:prstGeom prst="rect">
            <a:avLst/>
          </a:prstGeom>
          <a:solidFill>
            <a:schemeClr val="bg1">
              <a:lumMod val="95000"/>
            </a:schemeClr>
          </a:solidFill>
        </p:spPr>
        <p:txBody>
          <a:bodyPr wrap="square">
            <a:spAutoFit/>
          </a:bodyPr>
          <a:lstStyle/>
          <a:p>
            <a:r>
              <a:rPr lang="en-US" dirty="0" err="1"/>
              <a:t>circuit.x</a:t>
            </a:r>
            <a:r>
              <a:rPr lang="en-US" dirty="0"/>
              <a:t> (</a:t>
            </a:r>
            <a:r>
              <a:rPr lang="en-US" dirty="0" err="1"/>
              <a:t>qreg_q</a:t>
            </a:r>
            <a:r>
              <a:rPr lang="en-US" dirty="0"/>
              <a:t>[0])</a:t>
            </a:r>
          </a:p>
          <a:p>
            <a:r>
              <a:rPr lang="en-US" dirty="0" err="1"/>
              <a:t>circuit.h</a:t>
            </a:r>
            <a:r>
              <a:rPr lang="en-US" dirty="0"/>
              <a:t> (</a:t>
            </a:r>
            <a:r>
              <a:rPr lang="en-US" dirty="0" err="1"/>
              <a:t>qreg_q</a:t>
            </a:r>
            <a:r>
              <a:rPr lang="en-US" dirty="0"/>
              <a:t>[0])</a:t>
            </a:r>
          </a:p>
          <a:p>
            <a:r>
              <a:rPr lang="en-US" dirty="0" err="1"/>
              <a:t>circuit.measure</a:t>
            </a:r>
            <a:r>
              <a:rPr lang="en-US" dirty="0"/>
              <a:t> (</a:t>
            </a:r>
            <a:r>
              <a:rPr lang="en-US" dirty="0" err="1"/>
              <a:t>qreg_q</a:t>
            </a:r>
            <a:r>
              <a:rPr lang="en-US" dirty="0"/>
              <a:t>[0], </a:t>
            </a:r>
            <a:r>
              <a:rPr lang="en-US" dirty="0" err="1"/>
              <a:t>creg_c</a:t>
            </a:r>
            <a:r>
              <a:rPr lang="en-US" dirty="0"/>
              <a:t>[0])</a:t>
            </a:r>
          </a:p>
        </p:txBody>
      </p:sp>
      <p:grpSp>
        <p:nvGrpSpPr>
          <p:cNvPr id="23" name="Group 22">
            <a:extLst>
              <a:ext uri="{FF2B5EF4-FFF2-40B4-BE49-F238E27FC236}">
                <a16:creationId xmlns:a16="http://schemas.microsoft.com/office/drawing/2014/main" id="{3281CE0B-728B-CD44-AC60-8DC0250D4363}"/>
              </a:ext>
            </a:extLst>
          </p:cNvPr>
          <p:cNvGrpSpPr/>
          <p:nvPr/>
        </p:nvGrpSpPr>
        <p:grpSpPr>
          <a:xfrm>
            <a:off x="6762916" y="977447"/>
            <a:ext cx="1114259" cy="1140000"/>
            <a:chOff x="6762916" y="977447"/>
            <a:chExt cx="1114259" cy="1140000"/>
          </a:xfrm>
        </p:grpSpPr>
        <p:pic>
          <p:nvPicPr>
            <p:cNvPr id="27" name="Picture 26">
              <a:extLst>
                <a:ext uri="{FF2B5EF4-FFF2-40B4-BE49-F238E27FC236}">
                  <a16:creationId xmlns:a16="http://schemas.microsoft.com/office/drawing/2014/main" id="{FBAB7664-E219-CC49-8676-48A17E37653F}"/>
                </a:ext>
              </a:extLst>
            </p:cNvPr>
            <p:cNvPicPr>
              <a:picLocks noChangeAspect="1"/>
            </p:cNvPicPr>
            <p:nvPr/>
          </p:nvPicPr>
          <p:blipFill>
            <a:blip r:embed="rId13"/>
            <a:stretch>
              <a:fillRect/>
            </a:stretch>
          </p:blipFill>
          <p:spPr>
            <a:xfrm>
              <a:off x="6762916" y="977447"/>
              <a:ext cx="1080000" cy="1140000"/>
            </a:xfrm>
            <a:prstGeom prst="rect">
              <a:avLst/>
            </a:prstGeom>
          </p:spPr>
        </p:pic>
        <p:sp>
          <p:nvSpPr>
            <p:cNvPr id="29" name="Oval 28">
              <a:extLst>
                <a:ext uri="{FF2B5EF4-FFF2-40B4-BE49-F238E27FC236}">
                  <a16:creationId xmlns:a16="http://schemas.microsoft.com/office/drawing/2014/main" id="{908B48EC-4AFC-1746-9F63-E00A5191AF74}"/>
                </a:ext>
              </a:extLst>
            </p:cNvPr>
            <p:cNvSpPr/>
            <p:nvPr/>
          </p:nvSpPr>
          <p:spPr>
            <a:xfrm>
              <a:off x="6771533" y="995401"/>
              <a:ext cx="1105642" cy="1105642"/>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0BA4C24-40CF-6146-B3A5-50D1C33E3DFA}"/>
                </a:ext>
              </a:extLst>
            </p:cNvPr>
            <p:cNvSpPr/>
            <p:nvPr/>
          </p:nvSpPr>
          <p:spPr>
            <a:xfrm>
              <a:off x="6771533" y="1347348"/>
              <a:ext cx="1105642" cy="401747"/>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A9FC825B-FC77-6141-9D8F-31F632D019B1}"/>
                </a:ext>
              </a:extLst>
            </p:cNvPr>
            <p:cNvCxnSpPr>
              <a:cxnSpLocks/>
            </p:cNvCxnSpPr>
            <p:nvPr/>
          </p:nvCxnSpPr>
          <p:spPr>
            <a:xfrm flipV="1">
              <a:off x="7324354" y="1052470"/>
              <a:ext cx="0" cy="495752"/>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BC7FA27-1DEF-2548-BB6C-992694EF3FC6}"/>
                </a:ext>
              </a:extLst>
            </p:cNvPr>
            <p:cNvCxnSpPr>
              <a:cxnSpLocks/>
              <a:endCxn id="29" idx="6"/>
            </p:cNvCxnSpPr>
            <p:nvPr/>
          </p:nvCxnSpPr>
          <p:spPr>
            <a:xfrm>
              <a:off x="7324354" y="1548222"/>
              <a:ext cx="552821"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0842C65-9DC9-0B48-B224-172D3D07FA99}"/>
                </a:ext>
              </a:extLst>
            </p:cNvPr>
            <p:cNvCxnSpPr>
              <a:cxnSpLocks/>
            </p:cNvCxnSpPr>
            <p:nvPr/>
          </p:nvCxnSpPr>
          <p:spPr>
            <a:xfrm flipH="1">
              <a:off x="7162229" y="1548222"/>
              <a:ext cx="162125" cy="19202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BCB0479-A475-7747-97AF-D2928CAEADC3}"/>
                </a:ext>
              </a:extLst>
            </p:cNvPr>
            <p:cNvCxnSpPr>
              <a:cxnSpLocks/>
            </p:cNvCxnSpPr>
            <p:nvPr/>
          </p:nvCxnSpPr>
          <p:spPr>
            <a:xfrm flipV="1">
              <a:off x="7324354" y="1246905"/>
              <a:ext cx="187559" cy="301317"/>
            </a:xfrm>
            <a:prstGeom prst="straightConnector1">
              <a:avLst/>
            </a:prstGeom>
            <a:ln w="254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69D5DE-48E9-114A-8A16-A731BC8AFBC7}"/>
                </a:ext>
              </a:extLst>
            </p:cNvPr>
            <p:cNvCxnSpPr>
              <a:cxnSpLocks/>
            </p:cNvCxnSpPr>
            <p:nvPr/>
          </p:nvCxnSpPr>
          <p:spPr>
            <a:xfrm>
              <a:off x="7511913" y="1246905"/>
              <a:ext cx="0" cy="397331"/>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97ECF5-AC41-9940-9C93-7889D84F264A}"/>
                </a:ext>
              </a:extLst>
            </p:cNvPr>
            <p:cNvCxnSpPr>
              <a:cxnSpLocks/>
            </p:cNvCxnSpPr>
            <p:nvPr/>
          </p:nvCxnSpPr>
          <p:spPr>
            <a:xfrm>
              <a:off x="7324354" y="1548222"/>
              <a:ext cx="187559" cy="96014"/>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81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18744609-7EFA-AF40-8362-758E284E3EB2}"/>
              </a:ext>
            </a:extLst>
          </p:cNvPr>
          <p:cNvPicPr>
            <a:picLocks noChangeAspect="1"/>
          </p:cNvPicPr>
          <p:nvPr/>
        </p:nvPicPr>
        <p:blipFill>
          <a:blip r:embed="rId3"/>
          <a:stretch>
            <a:fillRect/>
          </a:stretch>
        </p:blipFill>
        <p:spPr>
          <a:xfrm>
            <a:off x="1145209" y="5771642"/>
            <a:ext cx="1104409" cy="675090"/>
          </a:xfrm>
          <a:prstGeom prst="rect">
            <a:avLst/>
          </a:prstGeom>
        </p:spPr>
      </p:pic>
      <p:sp>
        <p:nvSpPr>
          <p:cNvPr id="3" name="Slide Number Placeholder 2">
            <a:extLst>
              <a:ext uri="{FF2B5EF4-FFF2-40B4-BE49-F238E27FC236}">
                <a16:creationId xmlns:a16="http://schemas.microsoft.com/office/drawing/2014/main" id="{039FD97A-0274-3C43-ABF3-C5CF0753B4E5}"/>
              </a:ext>
            </a:extLst>
          </p:cNvPr>
          <p:cNvSpPr>
            <a:spLocks noGrp="1"/>
          </p:cNvSpPr>
          <p:nvPr>
            <p:ph type="sldNum" sz="quarter" idx="12"/>
          </p:nvPr>
        </p:nvSpPr>
        <p:spPr/>
        <p:txBody>
          <a:bodyPr/>
          <a:lstStyle/>
          <a:p>
            <a:fld id="{591A223C-FA10-BC46-A853-03BA373D023C}" type="slidenum">
              <a:rPr lang="en-US" smtClean="0"/>
              <a:t>3</a:t>
            </a:fld>
            <a:endParaRPr lang="en-US" dirty="0"/>
          </a:p>
        </p:txBody>
      </p:sp>
      <p:sp>
        <p:nvSpPr>
          <p:cNvPr id="4" name="Title 3">
            <a:extLst>
              <a:ext uri="{FF2B5EF4-FFF2-40B4-BE49-F238E27FC236}">
                <a16:creationId xmlns:a16="http://schemas.microsoft.com/office/drawing/2014/main" id="{063B1553-4BA3-7540-8685-A56E3317D763}"/>
              </a:ext>
            </a:extLst>
          </p:cNvPr>
          <p:cNvSpPr>
            <a:spLocks noGrp="1"/>
          </p:cNvSpPr>
          <p:nvPr>
            <p:ph type="title"/>
          </p:nvPr>
        </p:nvSpPr>
        <p:spPr>
          <a:xfrm>
            <a:off x="0" y="0"/>
            <a:ext cx="12192000" cy="928688"/>
          </a:xfrm>
        </p:spPr>
        <p:txBody>
          <a:bodyPr>
            <a:normAutofit/>
          </a:bodyPr>
          <a:lstStyle/>
          <a:p>
            <a:r>
              <a:rPr lang="en-US" dirty="0"/>
              <a:t>Classical vs Quantum Bit</a:t>
            </a:r>
          </a:p>
        </p:txBody>
      </p:sp>
      <p:pic>
        <p:nvPicPr>
          <p:cNvPr id="27" name="Picture 26">
            <a:extLst>
              <a:ext uri="{FF2B5EF4-FFF2-40B4-BE49-F238E27FC236}">
                <a16:creationId xmlns:a16="http://schemas.microsoft.com/office/drawing/2014/main" id="{0EF7CACA-F99D-D746-A226-B83A7AF7736E}"/>
              </a:ext>
            </a:extLst>
          </p:cNvPr>
          <p:cNvPicPr>
            <a:picLocks noChangeAspect="1"/>
          </p:cNvPicPr>
          <p:nvPr/>
        </p:nvPicPr>
        <p:blipFill>
          <a:blip r:embed="rId4"/>
          <a:stretch>
            <a:fillRect/>
          </a:stretch>
        </p:blipFill>
        <p:spPr>
          <a:xfrm>
            <a:off x="1139847" y="1206141"/>
            <a:ext cx="2400000" cy="1800000"/>
          </a:xfrm>
          <a:prstGeom prst="rect">
            <a:avLst/>
          </a:prstGeom>
        </p:spPr>
      </p:pic>
      <p:sp>
        <p:nvSpPr>
          <p:cNvPr id="28" name="TextBox 27">
            <a:extLst>
              <a:ext uri="{FF2B5EF4-FFF2-40B4-BE49-F238E27FC236}">
                <a16:creationId xmlns:a16="http://schemas.microsoft.com/office/drawing/2014/main" id="{709B0C40-5AD7-3648-B90C-B591910FE050}"/>
              </a:ext>
            </a:extLst>
          </p:cNvPr>
          <p:cNvSpPr txBox="1"/>
          <p:nvPr/>
        </p:nvSpPr>
        <p:spPr>
          <a:xfrm>
            <a:off x="0" y="3176512"/>
            <a:ext cx="5088316" cy="1200329"/>
          </a:xfrm>
          <a:prstGeom prst="rect">
            <a:avLst/>
          </a:prstGeom>
          <a:noFill/>
        </p:spPr>
        <p:txBody>
          <a:bodyPr wrap="none" rtlCol="0">
            <a:spAutoFit/>
          </a:bodyPr>
          <a:lstStyle/>
          <a:p>
            <a:pPr marL="342900" indent="-342900">
              <a:buFont typeface="Arial" panose="020B0604020202020204" pitchFamily="34" charset="0"/>
              <a:buChar char="•"/>
            </a:pPr>
            <a:r>
              <a:rPr lang="en-ZA" sz="2400" dirty="0"/>
              <a:t>The basic unit of information is a bit.</a:t>
            </a:r>
          </a:p>
          <a:p>
            <a:pPr marL="342900" indent="-342900">
              <a:buFont typeface="Arial" panose="020B0604020202020204" pitchFamily="34" charset="0"/>
              <a:buChar char="•"/>
            </a:pPr>
            <a:r>
              <a:rPr lang="en-ZA" sz="2400" dirty="0"/>
              <a:t>A physical bit: a voltage level</a:t>
            </a:r>
          </a:p>
          <a:p>
            <a:pPr marL="342900" indent="-342900">
              <a:buFont typeface="Arial" panose="020B0604020202020204" pitchFamily="34" charset="0"/>
              <a:buChar char="•"/>
            </a:pPr>
            <a:r>
              <a:rPr lang="en-ZA" sz="2400" dirty="0"/>
              <a:t>A logical bit is either 0 or 1.</a:t>
            </a:r>
            <a:endParaRPr lang="en-US" sz="2300" dirty="0"/>
          </a:p>
        </p:txBody>
      </p:sp>
      <p:sp>
        <p:nvSpPr>
          <p:cNvPr id="6" name="TextBox 5">
            <a:extLst>
              <a:ext uri="{FF2B5EF4-FFF2-40B4-BE49-F238E27FC236}">
                <a16:creationId xmlns:a16="http://schemas.microsoft.com/office/drawing/2014/main" id="{92349BF9-76E0-C848-8395-FB7158B87BA7}"/>
              </a:ext>
            </a:extLst>
          </p:cNvPr>
          <p:cNvSpPr txBox="1"/>
          <p:nvPr/>
        </p:nvSpPr>
        <p:spPr>
          <a:xfrm>
            <a:off x="55949" y="1345089"/>
            <a:ext cx="1404422" cy="1200329"/>
          </a:xfrm>
          <a:prstGeom prst="rect">
            <a:avLst/>
          </a:prstGeom>
          <a:noFill/>
        </p:spPr>
        <p:txBody>
          <a:bodyPr wrap="none" rtlCol="0">
            <a:spAutoFit/>
          </a:bodyPr>
          <a:lstStyle/>
          <a:p>
            <a:pPr algn="ctr"/>
            <a:r>
              <a:rPr lang="en-US" sz="2400" dirty="0"/>
              <a:t>classical</a:t>
            </a:r>
          </a:p>
          <a:p>
            <a:pPr algn="ctr"/>
            <a:r>
              <a:rPr lang="en-US" sz="2400" dirty="0"/>
              <a:t>processor</a:t>
            </a:r>
          </a:p>
          <a:p>
            <a:pPr algn="ctr"/>
            <a:r>
              <a:rPr lang="en-US" sz="2400" dirty="0"/>
              <a:t>CPU</a:t>
            </a:r>
          </a:p>
        </p:txBody>
      </p:sp>
      <p:pic>
        <p:nvPicPr>
          <p:cNvPr id="14" name="Picture 13">
            <a:extLst>
              <a:ext uri="{FF2B5EF4-FFF2-40B4-BE49-F238E27FC236}">
                <a16:creationId xmlns:a16="http://schemas.microsoft.com/office/drawing/2014/main" id="{3AEE239A-7C1A-5448-9F02-C03A0F3D5C98}"/>
              </a:ext>
            </a:extLst>
          </p:cNvPr>
          <p:cNvPicPr>
            <a:picLocks noChangeAspect="1"/>
          </p:cNvPicPr>
          <p:nvPr/>
        </p:nvPicPr>
        <p:blipFill>
          <a:blip r:embed="rId5"/>
          <a:stretch>
            <a:fillRect/>
          </a:stretch>
        </p:blipFill>
        <p:spPr>
          <a:xfrm>
            <a:off x="4134975" y="1275378"/>
            <a:ext cx="1220400" cy="1220400"/>
          </a:xfrm>
          <a:prstGeom prst="rect">
            <a:avLst/>
          </a:prstGeom>
        </p:spPr>
      </p:pic>
      <p:grpSp>
        <p:nvGrpSpPr>
          <p:cNvPr id="36" name="Group 35">
            <a:extLst>
              <a:ext uri="{FF2B5EF4-FFF2-40B4-BE49-F238E27FC236}">
                <a16:creationId xmlns:a16="http://schemas.microsoft.com/office/drawing/2014/main" id="{768A1011-5704-1446-9ADF-7937266AAD69}"/>
              </a:ext>
            </a:extLst>
          </p:cNvPr>
          <p:cNvGrpSpPr/>
          <p:nvPr/>
        </p:nvGrpSpPr>
        <p:grpSpPr>
          <a:xfrm>
            <a:off x="2856458" y="1287681"/>
            <a:ext cx="1897227" cy="1246175"/>
            <a:chOff x="9202255" y="1275378"/>
            <a:chExt cx="1897227" cy="1246175"/>
          </a:xfrm>
        </p:grpSpPr>
        <p:cxnSp>
          <p:nvCxnSpPr>
            <p:cNvPr id="37" name="Straight Connector 36">
              <a:extLst>
                <a:ext uri="{FF2B5EF4-FFF2-40B4-BE49-F238E27FC236}">
                  <a16:creationId xmlns:a16="http://schemas.microsoft.com/office/drawing/2014/main" id="{E37504C1-0239-344C-868D-B2CAF130A44E}"/>
                </a:ext>
              </a:extLst>
            </p:cNvPr>
            <p:cNvCxnSpPr>
              <a:cxnSpLocks/>
            </p:cNvCxnSpPr>
            <p:nvPr/>
          </p:nvCxnSpPr>
          <p:spPr>
            <a:xfrm flipV="1">
              <a:off x="9202255" y="1275378"/>
              <a:ext cx="1897227" cy="520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757361D-2582-BF46-BC1C-C52749D70F56}"/>
                </a:ext>
              </a:extLst>
            </p:cNvPr>
            <p:cNvCxnSpPr>
              <a:cxnSpLocks/>
            </p:cNvCxnSpPr>
            <p:nvPr/>
          </p:nvCxnSpPr>
          <p:spPr>
            <a:xfrm>
              <a:off x="9202255" y="1834292"/>
              <a:ext cx="1897227" cy="687261"/>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3" name="Straight Connector 42">
            <a:extLst>
              <a:ext uri="{FF2B5EF4-FFF2-40B4-BE49-F238E27FC236}">
                <a16:creationId xmlns:a16="http://schemas.microsoft.com/office/drawing/2014/main" id="{63F4354C-D382-7A4A-9219-3E55710BFD45}"/>
              </a:ext>
            </a:extLst>
          </p:cNvPr>
          <p:cNvCxnSpPr>
            <a:cxnSpLocks/>
          </p:cNvCxnSpPr>
          <p:nvPr/>
        </p:nvCxnSpPr>
        <p:spPr>
          <a:xfrm>
            <a:off x="1143082" y="6408127"/>
            <a:ext cx="10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228FC28-DF3D-324E-8361-5AA68264961E}"/>
              </a:ext>
            </a:extLst>
          </p:cNvPr>
          <p:cNvCxnSpPr>
            <a:cxnSpLocks/>
          </p:cNvCxnSpPr>
          <p:nvPr/>
        </p:nvCxnSpPr>
        <p:spPr>
          <a:xfrm rot="16200000">
            <a:off x="1863082" y="6048127"/>
            <a:ext cx="7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66F6F5B-729D-E144-91DE-4D3954290DC7}"/>
              </a:ext>
            </a:extLst>
          </p:cNvPr>
          <p:cNvCxnSpPr>
            <a:cxnSpLocks/>
          </p:cNvCxnSpPr>
          <p:nvPr/>
        </p:nvCxnSpPr>
        <p:spPr>
          <a:xfrm>
            <a:off x="2223082" y="5688127"/>
            <a:ext cx="10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3E02ACD-3AF5-E14E-BE5A-6F588801C24C}"/>
              </a:ext>
            </a:extLst>
          </p:cNvPr>
          <p:cNvCxnSpPr>
            <a:cxnSpLocks/>
          </p:cNvCxnSpPr>
          <p:nvPr/>
        </p:nvCxnSpPr>
        <p:spPr>
          <a:xfrm rot="16200000">
            <a:off x="2943082" y="6048127"/>
            <a:ext cx="7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7602F0B-3241-1A4B-9F16-A069AE9A5979}"/>
              </a:ext>
            </a:extLst>
          </p:cNvPr>
          <p:cNvCxnSpPr>
            <a:cxnSpLocks/>
          </p:cNvCxnSpPr>
          <p:nvPr/>
        </p:nvCxnSpPr>
        <p:spPr>
          <a:xfrm>
            <a:off x="3303082" y="6408127"/>
            <a:ext cx="1080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EB524DF-1DEC-6440-9E03-6A23D7DA8B60}"/>
              </a:ext>
            </a:extLst>
          </p:cNvPr>
          <p:cNvSpPr txBox="1"/>
          <p:nvPr/>
        </p:nvSpPr>
        <p:spPr>
          <a:xfrm>
            <a:off x="4555631" y="6209116"/>
            <a:ext cx="460382" cy="400110"/>
          </a:xfrm>
          <a:prstGeom prst="rect">
            <a:avLst/>
          </a:prstGeom>
          <a:noFill/>
        </p:spPr>
        <p:txBody>
          <a:bodyPr wrap="none" rtlCol="0">
            <a:spAutoFit/>
          </a:bodyPr>
          <a:lstStyle/>
          <a:p>
            <a:r>
              <a:rPr lang="en-US" sz="2000" dirty="0"/>
              <a:t>0V</a:t>
            </a:r>
          </a:p>
        </p:txBody>
      </p:sp>
      <p:sp>
        <p:nvSpPr>
          <p:cNvPr id="49" name="TextBox 48">
            <a:extLst>
              <a:ext uri="{FF2B5EF4-FFF2-40B4-BE49-F238E27FC236}">
                <a16:creationId xmlns:a16="http://schemas.microsoft.com/office/drawing/2014/main" id="{A70619E3-172F-B648-97A1-F274147C09D8}"/>
              </a:ext>
            </a:extLst>
          </p:cNvPr>
          <p:cNvSpPr txBox="1"/>
          <p:nvPr/>
        </p:nvSpPr>
        <p:spPr>
          <a:xfrm>
            <a:off x="4555631" y="5483700"/>
            <a:ext cx="460382" cy="400110"/>
          </a:xfrm>
          <a:prstGeom prst="rect">
            <a:avLst/>
          </a:prstGeom>
          <a:noFill/>
        </p:spPr>
        <p:txBody>
          <a:bodyPr wrap="none" rtlCol="0">
            <a:spAutoFit/>
          </a:bodyPr>
          <a:lstStyle/>
          <a:p>
            <a:r>
              <a:rPr lang="en-US" sz="2000" dirty="0"/>
              <a:t>5V</a:t>
            </a:r>
          </a:p>
        </p:txBody>
      </p:sp>
      <p:sp>
        <p:nvSpPr>
          <p:cNvPr id="50" name="Rectangle 49">
            <a:extLst>
              <a:ext uri="{FF2B5EF4-FFF2-40B4-BE49-F238E27FC236}">
                <a16:creationId xmlns:a16="http://schemas.microsoft.com/office/drawing/2014/main" id="{821F58DC-4023-8944-BE7C-A4EA4D797E96}"/>
              </a:ext>
            </a:extLst>
          </p:cNvPr>
          <p:cNvSpPr/>
          <p:nvPr/>
        </p:nvSpPr>
        <p:spPr>
          <a:xfrm>
            <a:off x="1413769" y="5923512"/>
            <a:ext cx="367408" cy="523220"/>
          </a:xfrm>
          <a:prstGeom prst="rect">
            <a:avLst/>
          </a:prstGeom>
        </p:spPr>
        <p:txBody>
          <a:bodyPr wrap="none">
            <a:spAutoFit/>
          </a:bodyPr>
          <a:lstStyle/>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ambria" panose="02040503050406030204" pitchFamily="18" charset="0"/>
                <a:ea typeface="Times New Roman" panose="02020603050405020304" pitchFamily="18" charset="0"/>
                <a:cs typeface="Times New Roman" panose="02020603050405020304" pitchFamily="18" charset="0"/>
              </a:rPr>
              <a:t>0</a:t>
            </a:r>
            <a:endParaRPr lang="en-US" sz="28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41" name="Picture 40">
            <a:extLst>
              <a:ext uri="{FF2B5EF4-FFF2-40B4-BE49-F238E27FC236}">
                <a16:creationId xmlns:a16="http://schemas.microsoft.com/office/drawing/2014/main" id="{FE86C076-7293-B845-BB3C-014D817039E0}"/>
              </a:ext>
            </a:extLst>
          </p:cNvPr>
          <p:cNvPicPr>
            <a:picLocks noChangeAspect="1"/>
          </p:cNvPicPr>
          <p:nvPr/>
        </p:nvPicPr>
        <p:blipFill>
          <a:blip r:embed="rId6"/>
          <a:stretch>
            <a:fillRect/>
          </a:stretch>
        </p:blipFill>
        <p:spPr>
          <a:xfrm flipH="1">
            <a:off x="2300816" y="4607939"/>
            <a:ext cx="870431" cy="1082978"/>
          </a:xfrm>
          <a:prstGeom prst="rect">
            <a:avLst/>
          </a:prstGeom>
        </p:spPr>
      </p:pic>
      <p:sp>
        <p:nvSpPr>
          <p:cNvPr id="51" name="Rectangle 50">
            <a:extLst>
              <a:ext uri="{FF2B5EF4-FFF2-40B4-BE49-F238E27FC236}">
                <a16:creationId xmlns:a16="http://schemas.microsoft.com/office/drawing/2014/main" id="{102B53DC-2271-AC42-80D7-2A20EC9A9637}"/>
              </a:ext>
            </a:extLst>
          </p:cNvPr>
          <p:cNvSpPr/>
          <p:nvPr/>
        </p:nvSpPr>
        <p:spPr>
          <a:xfrm>
            <a:off x="2579378" y="5131986"/>
            <a:ext cx="373820" cy="523220"/>
          </a:xfrm>
          <a:prstGeom prst="rect">
            <a:avLst/>
          </a:prstGeom>
        </p:spPr>
        <p:txBody>
          <a:bodyPr wrap="none">
            <a:spAutoFit/>
          </a:bodyPr>
          <a:lstStyle/>
          <a:p>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Cambria" panose="02040503050406030204" pitchFamily="18" charset="0"/>
                <a:ea typeface="Times New Roman" panose="02020603050405020304" pitchFamily="18" charset="0"/>
                <a:cs typeface="Times New Roman" panose="02020603050405020304" pitchFamily="18" charset="0"/>
              </a:rPr>
              <a:t>1</a:t>
            </a:r>
            <a:endParaRPr lang="en-US" sz="2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grpSp>
        <p:nvGrpSpPr>
          <p:cNvPr id="18" name="Group 17">
            <a:extLst>
              <a:ext uri="{FF2B5EF4-FFF2-40B4-BE49-F238E27FC236}">
                <a16:creationId xmlns:a16="http://schemas.microsoft.com/office/drawing/2014/main" id="{01A4FFD4-5954-A04F-BDFA-C96CFE47EA7A}"/>
              </a:ext>
            </a:extLst>
          </p:cNvPr>
          <p:cNvGrpSpPr/>
          <p:nvPr/>
        </p:nvGrpSpPr>
        <p:grpSpPr>
          <a:xfrm>
            <a:off x="5477810" y="794022"/>
            <a:ext cx="6716872" cy="5872603"/>
            <a:chOff x="5477810" y="794022"/>
            <a:chExt cx="6716872" cy="5872603"/>
          </a:xfrm>
        </p:grpSpPr>
        <p:sp>
          <p:nvSpPr>
            <p:cNvPr id="53" name="Oval 52">
              <a:extLst>
                <a:ext uri="{FF2B5EF4-FFF2-40B4-BE49-F238E27FC236}">
                  <a16:creationId xmlns:a16="http://schemas.microsoft.com/office/drawing/2014/main" id="{C61B1089-F700-F741-A0DB-FBF48C6F10DF}"/>
                </a:ext>
              </a:extLst>
            </p:cNvPr>
            <p:cNvSpPr/>
            <p:nvPr/>
          </p:nvSpPr>
          <p:spPr>
            <a:xfrm>
              <a:off x="8107980" y="5079833"/>
              <a:ext cx="1296000" cy="1296000"/>
            </a:xfrm>
            <a:prstGeom prst="ellipse">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84F3CCAB-EA62-944D-9A49-91042089040B}"/>
                </a:ext>
              </a:extLst>
            </p:cNvPr>
            <p:cNvCxnSpPr/>
            <p:nvPr/>
          </p:nvCxnSpPr>
          <p:spPr>
            <a:xfrm>
              <a:off x="5477810" y="1275378"/>
              <a:ext cx="0" cy="527597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56D34F-02C5-9B4C-A7A6-2AE99878B342}"/>
                </a:ext>
              </a:extLst>
            </p:cNvPr>
            <p:cNvPicPr>
              <a:picLocks noChangeAspect="1"/>
            </p:cNvPicPr>
            <p:nvPr/>
          </p:nvPicPr>
          <p:blipFill>
            <a:blip r:embed="rId7"/>
            <a:stretch>
              <a:fillRect/>
            </a:stretch>
          </p:blipFill>
          <p:spPr>
            <a:xfrm>
              <a:off x="10489882" y="932466"/>
              <a:ext cx="1219200" cy="1219200"/>
            </a:xfrm>
            <a:prstGeom prst="rect">
              <a:avLst/>
            </a:prstGeom>
          </p:spPr>
        </p:pic>
        <p:sp>
          <p:nvSpPr>
            <p:cNvPr id="10" name="TextBox 9">
              <a:extLst>
                <a:ext uri="{FF2B5EF4-FFF2-40B4-BE49-F238E27FC236}">
                  <a16:creationId xmlns:a16="http://schemas.microsoft.com/office/drawing/2014/main" id="{FD654EA9-D7A9-4541-860E-1921E38AA737}"/>
                </a:ext>
              </a:extLst>
            </p:cNvPr>
            <p:cNvSpPr txBox="1"/>
            <p:nvPr/>
          </p:nvSpPr>
          <p:spPr>
            <a:xfrm>
              <a:off x="5543118" y="2583755"/>
              <a:ext cx="6651564" cy="2308324"/>
            </a:xfrm>
            <a:prstGeom prst="rect">
              <a:avLst/>
            </a:prstGeom>
            <a:noFill/>
          </p:spPr>
          <p:txBody>
            <a:bodyPr wrap="none" rtlCol="0">
              <a:spAutoFit/>
            </a:bodyPr>
            <a:lstStyle/>
            <a:p>
              <a:pPr marL="342900" indent="-342900">
                <a:buFont typeface="Arial" panose="020B0604020202020204" pitchFamily="34" charset="0"/>
                <a:buChar char="•"/>
              </a:pPr>
              <a:r>
                <a:rPr lang="en-ZA" sz="2400" dirty="0"/>
                <a:t>The basic unit of quantum information is a </a:t>
              </a:r>
              <a:br>
                <a:rPr lang="en-ZA" sz="2400" dirty="0"/>
              </a:br>
              <a:r>
                <a:rPr lang="en-ZA" sz="2400" dirty="0"/>
                <a:t>quantum bit (qubit).</a:t>
              </a:r>
            </a:p>
            <a:p>
              <a:pPr marL="342900" indent="-342900">
                <a:buFont typeface="Arial" panose="020B0604020202020204" pitchFamily="34" charset="0"/>
                <a:buChar char="•"/>
              </a:pPr>
              <a:r>
                <a:rPr lang="en-ZA" sz="2400" dirty="0"/>
                <a:t>A physical qubit is a quantum object, such as </a:t>
              </a:r>
              <a:br>
                <a:rPr lang="en-ZA" sz="2400" dirty="0"/>
              </a:br>
              <a:r>
                <a:rPr lang="en-ZA" sz="2400" dirty="0"/>
                <a:t>as superconducting circuit, an atom, or a photon.</a:t>
              </a:r>
            </a:p>
            <a:p>
              <a:pPr marL="342900" indent="-342900">
                <a:buFont typeface="Arial" panose="020B0604020202020204" pitchFamily="34" charset="0"/>
                <a:buChar char="•"/>
              </a:pPr>
              <a:r>
                <a:rPr lang="en-ZA" sz="2400" dirty="0"/>
                <a:t>A logical qubit is described by a state </a:t>
              </a:r>
              <a:br>
                <a:rPr lang="en-ZA" sz="2400" dirty="0"/>
              </a:br>
              <a:r>
                <a:rPr lang="en-ZA" sz="2400" dirty="0"/>
                <a:t>vector  (ket) on the unit sphere.</a:t>
              </a:r>
              <a:endParaRPr lang="en-US" sz="2300" dirty="0"/>
            </a:p>
          </p:txBody>
        </p:sp>
        <p:pic>
          <p:nvPicPr>
            <p:cNvPr id="11" name="Picture 10">
              <a:extLst>
                <a:ext uri="{FF2B5EF4-FFF2-40B4-BE49-F238E27FC236}">
                  <a16:creationId xmlns:a16="http://schemas.microsoft.com/office/drawing/2014/main" id="{FFE597C3-1D96-2C42-BE4B-AB541008FA29}"/>
                </a:ext>
              </a:extLst>
            </p:cNvPr>
            <p:cNvPicPr>
              <a:picLocks noChangeAspect="1"/>
            </p:cNvPicPr>
            <p:nvPr/>
          </p:nvPicPr>
          <p:blipFill>
            <a:blip r:embed="rId8"/>
            <a:stretch>
              <a:fillRect/>
            </a:stretch>
          </p:blipFill>
          <p:spPr>
            <a:xfrm>
              <a:off x="7632915" y="794022"/>
              <a:ext cx="2215384" cy="1800000"/>
            </a:xfrm>
            <a:prstGeom prst="rect">
              <a:avLst/>
            </a:prstGeom>
          </p:spPr>
        </p:pic>
        <p:sp>
          <p:nvSpPr>
            <p:cNvPr id="16" name="TextBox 15">
              <a:extLst>
                <a:ext uri="{FF2B5EF4-FFF2-40B4-BE49-F238E27FC236}">
                  <a16:creationId xmlns:a16="http://schemas.microsoft.com/office/drawing/2014/main" id="{79745F7F-8794-1E4B-8F94-16051B0BE32F}"/>
                </a:ext>
              </a:extLst>
            </p:cNvPr>
            <p:cNvSpPr txBox="1"/>
            <p:nvPr/>
          </p:nvSpPr>
          <p:spPr>
            <a:xfrm>
              <a:off x="6092269" y="909192"/>
              <a:ext cx="1511952" cy="1569660"/>
            </a:xfrm>
            <a:prstGeom prst="rect">
              <a:avLst/>
            </a:prstGeom>
            <a:noFill/>
          </p:spPr>
          <p:txBody>
            <a:bodyPr wrap="none" rtlCol="0">
              <a:spAutoFit/>
            </a:bodyPr>
            <a:lstStyle/>
            <a:p>
              <a:pPr algn="ctr"/>
              <a:r>
                <a:rPr lang="en-US" sz="2400" dirty="0"/>
                <a:t>quantum</a:t>
              </a:r>
            </a:p>
            <a:p>
              <a:pPr algn="ctr"/>
              <a:r>
                <a:rPr lang="en-US" sz="2400" dirty="0"/>
                <a:t>processing</a:t>
              </a:r>
              <a:br>
                <a:rPr lang="en-US" sz="2400" dirty="0"/>
              </a:br>
              <a:r>
                <a:rPr lang="en-US" sz="2400" dirty="0"/>
                <a:t>unit</a:t>
              </a:r>
            </a:p>
            <a:p>
              <a:pPr algn="ctr"/>
              <a:r>
                <a:rPr lang="en-US" sz="2400" dirty="0"/>
                <a:t>QPU</a:t>
              </a:r>
            </a:p>
          </p:txBody>
        </p:sp>
        <p:grpSp>
          <p:nvGrpSpPr>
            <p:cNvPr id="24" name="Group 23">
              <a:extLst>
                <a:ext uri="{FF2B5EF4-FFF2-40B4-BE49-F238E27FC236}">
                  <a16:creationId xmlns:a16="http://schemas.microsoft.com/office/drawing/2014/main" id="{1ABEF568-A70F-A64C-A2FD-EFD35E24A56F}"/>
                </a:ext>
              </a:extLst>
            </p:cNvPr>
            <p:cNvGrpSpPr/>
            <p:nvPr/>
          </p:nvGrpSpPr>
          <p:grpSpPr>
            <a:xfrm>
              <a:off x="9202255" y="932466"/>
              <a:ext cx="1897227" cy="1246175"/>
              <a:chOff x="9202255" y="932466"/>
              <a:chExt cx="1897227" cy="1246175"/>
            </a:xfrm>
          </p:grpSpPr>
          <p:cxnSp>
            <p:nvCxnSpPr>
              <p:cNvPr id="17" name="Straight Connector 16">
                <a:extLst>
                  <a:ext uri="{FF2B5EF4-FFF2-40B4-BE49-F238E27FC236}">
                    <a16:creationId xmlns:a16="http://schemas.microsoft.com/office/drawing/2014/main" id="{760EF8C4-A605-EF45-BEC7-1D79C648A349}"/>
                  </a:ext>
                </a:extLst>
              </p:cNvPr>
              <p:cNvCxnSpPr>
                <a:cxnSpLocks/>
                <a:endCxn id="9" idx="0"/>
              </p:cNvCxnSpPr>
              <p:nvPr/>
            </p:nvCxnSpPr>
            <p:spPr>
              <a:xfrm flipV="1">
                <a:off x="9202255" y="932466"/>
                <a:ext cx="1897227" cy="520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346BFCF-1785-FD4C-9FD5-F22D1B6F09E9}"/>
                  </a:ext>
                </a:extLst>
              </p:cNvPr>
              <p:cNvCxnSpPr>
                <a:cxnSpLocks/>
              </p:cNvCxnSpPr>
              <p:nvPr/>
            </p:nvCxnSpPr>
            <p:spPr>
              <a:xfrm>
                <a:off x="9202255" y="1491380"/>
                <a:ext cx="1897227" cy="687261"/>
              </a:xfrm>
              <a:prstGeom prst="line">
                <a:avLst/>
              </a:prstGeom>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9CB65878-A3C7-024D-B83E-9147B9F55455}"/>
                </a:ext>
              </a:extLst>
            </p:cNvPr>
            <p:cNvSpPr/>
            <p:nvPr/>
          </p:nvSpPr>
          <p:spPr>
            <a:xfrm>
              <a:off x="8252172" y="4919228"/>
              <a:ext cx="506870" cy="369332"/>
            </a:xfrm>
            <a:prstGeom prst="rect">
              <a:avLst/>
            </a:prstGeom>
          </p:spPr>
          <p:txBody>
            <a:bodyPr wrap="none">
              <a:spAutoFit/>
            </a:bodyPr>
            <a:lstStyle/>
            <a:p>
              <a:r>
                <a:rPr lang="en-US" dirty="0">
                  <a:solidFill>
                    <a:srgbClr val="0000FF"/>
                  </a:solidFill>
                  <a:latin typeface="Comic Sans MS" panose="030F0902030302020204" pitchFamily="66" charset="0"/>
                </a:rPr>
                <a:t>|0⟩</a:t>
              </a:r>
            </a:p>
          </p:txBody>
        </p:sp>
        <p:sp>
          <p:nvSpPr>
            <p:cNvPr id="39" name="Rectangle 38">
              <a:extLst>
                <a:ext uri="{FF2B5EF4-FFF2-40B4-BE49-F238E27FC236}">
                  <a16:creationId xmlns:a16="http://schemas.microsoft.com/office/drawing/2014/main" id="{A58B8791-63A1-3E4C-BD3C-170D03006486}"/>
                </a:ext>
              </a:extLst>
            </p:cNvPr>
            <p:cNvSpPr/>
            <p:nvPr/>
          </p:nvSpPr>
          <p:spPr>
            <a:xfrm>
              <a:off x="8505607" y="6272115"/>
              <a:ext cx="470000" cy="369332"/>
            </a:xfrm>
            <a:prstGeom prst="rect">
              <a:avLst/>
            </a:prstGeom>
          </p:spPr>
          <p:txBody>
            <a:bodyPr wrap="none">
              <a:spAutoFit/>
            </a:bodyPr>
            <a:lstStyle/>
            <a:p>
              <a:r>
                <a:rPr lang="en-US" dirty="0">
                  <a:solidFill>
                    <a:srgbClr val="FF0000"/>
                  </a:solidFill>
                  <a:latin typeface="Comic Sans MS" panose="030F0902030302020204" pitchFamily="66" charset="0"/>
                </a:rPr>
                <a:t>|1⟩</a:t>
              </a:r>
            </a:p>
          </p:txBody>
        </p:sp>
        <p:pic>
          <p:nvPicPr>
            <p:cNvPr id="42" name="Picture 41">
              <a:extLst>
                <a:ext uri="{FF2B5EF4-FFF2-40B4-BE49-F238E27FC236}">
                  <a16:creationId xmlns:a16="http://schemas.microsoft.com/office/drawing/2014/main" id="{B83C384D-C618-1441-A69B-B21AD434DB06}"/>
                </a:ext>
              </a:extLst>
            </p:cNvPr>
            <p:cNvPicPr>
              <a:picLocks noChangeAspect="1"/>
            </p:cNvPicPr>
            <p:nvPr/>
          </p:nvPicPr>
          <p:blipFill>
            <a:blip r:embed="rId3"/>
            <a:stretch>
              <a:fillRect/>
            </a:stretch>
          </p:blipFill>
          <p:spPr>
            <a:xfrm>
              <a:off x="9061152" y="4889956"/>
              <a:ext cx="929477" cy="568160"/>
            </a:xfrm>
            <a:prstGeom prst="rect">
              <a:avLst/>
            </a:prstGeom>
          </p:spPr>
        </p:pic>
        <p:pic>
          <p:nvPicPr>
            <p:cNvPr id="52" name="Picture 51">
              <a:extLst>
                <a:ext uri="{FF2B5EF4-FFF2-40B4-BE49-F238E27FC236}">
                  <a16:creationId xmlns:a16="http://schemas.microsoft.com/office/drawing/2014/main" id="{AD07A8C4-B44B-1242-B882-22C9B4B1F4D2}"/>
                </a:ext>
              </a:extLst>
            </p:cNvPr>
            <p:cNvPicPr>
              <a:picLocks noChangeAspect="1"/>
            </p:cNvPicPr>
            <p:nvPr/>
          </p:nvPicPr>
          <p:blipFill>
            <a:blip r:embed="rId6"/>
            <a:stretch>
              <a:fillRect/>
            </a:stretch>
          </p:blipFill>
          <p:spPr>
            <a:xfrm flipH="1">
              <a:off x="9251069" y="5755184"/>
              <a:ext cx="732560" cy="911441"/>
            </a:xfrm>
            <a:prstGeom prst="rect">
              <a:avLst/>
            </a:prstGeom>
          </p:spPr>
        </p:pic>
        <p:cxnSp>
          <p:nvCxnSpPr>
            <p:cNvPr id="54" name="Straight Arrow Connector 53">
              <a:extLst>
                <a:ext uri="{FF2B5EF4-FFF2-40B4-BE49-F238E27FC236}">
                  <a16:creationId xmlns:a16="http://schemas.microsoft.com/office/drawing/2014/main" id="{F367C9DD-48F9-CD4C-8BC5-ABD3D0175584}"/>
                </a:ext>
              </a:extLst>
            </p:cNvPr>
            <p:cNvCxnSpPr>
              <a:cxnSpLocks/>
            </p:cNvCxnSpPr>
            <p:nvPr/>
          </p:nvCxnSpPr>
          <p:spPr>
            <a:xfrm flipV="1">
              <a:off x="8755980" y="4966251"/>
              <a:ext cx="0" cy="76158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495266C-87F2-014E-B779-6BC73C20886E}"/>
                </a:ext>
              </a:extLst>
            </p:cNvPr>
            <p:cNvCxnSpPr>
              <a:cxnSpLocks/>
            </p:cNvCxnSpPr>
            <p:nvPr/>
          </p:nvCxnSpPr>
          <p:spPr>
            <a:xfrm flipH="1">
              <a:off x="8073605" y="5727833"/>
              <a:ext cx="682375" cy="421061"/>
            </a:xfrm>
            <a:prstGeom prst="straightConnector1">
              <a:avLst/>
            </a:prstGeom>
            <a:ln>
              <a:solidFill>
                <a:schemeClr val="bg1">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948F367-73DD-E140-84D2-9389C65ACF3C}"/>
                </a:ext>
              </a:extLst>
            </p:cNvPr>
            <p:cNvCxnSpPr>
              <a:cxnSpLocks/>
            </p:cNvCxnSpPr>
            <p:nvPr/>
          </p:nvCxnSpPr>
          <p:spPr>
            <a:xfrm>
              <a:off x="8740607" y="5715648"/>
              <a:ext cx="773759" cy="32779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Arc 56">
              <a:extLst>
                <a:ext uri="{FF2B5EF4-FFF2-40B4-BE49-F238E27FC236}">
                  <a16:creationId xmlns:a16="http://schemas.microsoft.com/office/drawing/2014/main" id="{95443632-CF78-BA44-9CC1-501B97290871}"/>
                </a:ext>
              </a:extLst>
            </p:cNvPr>
            <p:cNvSpPr/>
            <p:nvPr/>
          </p:nvSpPr>
          <p:spPr>
            <a:xfrm rot="1758906">
              <a:off x="8276134" y="5193361"/>
              <a:ext cx="757640" cy="1123647"/>
            </a:xfrm>
            <a:prstGeom prst="arc">
              <a:avLst>
                <a:gd name="adj1" fmla="val 5754878"/>
                <a:gd name="adj2" fmla="val 14923639"/>
              </a:avLst>
            </a:prstGeom>
            <a:ln w="6350" cap="rnd">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Arc 57">
              <a:extLst>
                <a:ext uri="{FF2B5EF4-FFF2-40B4-BE49-F238E27FC236}">
                  <a16:creationId xmlns:a16="http://schemas.microsoft.com/office/drawing/2014/main" id="{1F72A819-14A4-8D48-A8ED-D422F64D90C7}"/>
                </a:ext>
              </a:extLst>
            </p:cNvPr>
            <p:cNvSpPr/>
            <p:nvPr/>
          </p:nvSpPr>
          <p:spPr>
            <a:xfrm rot="13788492">
              <a:off x="8220376" y="5498400"/>
              <a:ext cx="828521" cy="837818"/>
            </a:xfrm>
            <a:prstGeom prst="arc">
              <a:avLst>
                <a:gd name="adj1" fmla="val 10570309"/>
                <a:gd name="adj2" fmla="val 15929880"/>
              </a:avLst>
            </a:prstGeom>
            <a:ln w="6350" cap="rnd">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Arc 58">
              <a:extLst>
                <a:ext uri="{FF2B5EF4-FFF2-40B4-BE49-F238E27FC236}">
                  <a16:creationId xmlns:a16="http://schemas.microsoft.com/office/drawing/2014/main" id="{20C50173-7C49-4A4D-B9D1-A1C7DE4C0E22}"/>
                </a:ext>
              </a:extLst>
            </p:cNvPr>
            <p:cNvSpPr/>
            <p:nvPr/>
          </p:nvSpPr>
          <p:spPr>
            <a:xfrm rot="7773614">
              <a:off x="8211456" y="5518628"/>
              <a:ext cx="717062" cy="871592"/>
            </a:xfrm>
            <a:prstGeom prst="arc">
              <a:avLst>
                <a:gd name="adj1" fmla="val 7901190"/>
                <a:gd name="adj2" fmla="val 16063919"/>
              </a:avLst>
            </a:prstGeom>
            <a:ln w="6350" cap="rnd">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Arc 59">
              <a:extLst>
                <a:ext uri="{FF2B5EF4-FFF2-40B4-BE49-F238E27FC236}">
                  <a16:creationId xmlns:a16="http://schemas.microsoft.com/office/drawing/2014/main" id="{EE63FFBB-3F3D-0B47-ABB1-C2B26012EF86}"/>
                </a:ext>
              </a:extLst>
            </p:cNvPr>
            <p:cNvSpPr/>
            <p:nvPr/>
          </p:nvSpPr>
          <p:spPr>
            <a:xfrm>
              <a:off x="8098866" y="5579488"/>
              <a:ext cx="500855" cy="296690"/>
            </a:xfrm>
            <a:prstGeom prst="arc">
              <a:avLst>
                <a:gd name="adj1" fmla="val 10770652"/>
                <a:gd name="adj2" fmla="val 13837650"/>
              </a:avLst>
            </a:prstGeom>
            <a:ln w="6350" cap="rnd">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Arc 60">
              <a:extLst>
                <a:ext uri="{FF2B5EF4-FFF2-40B4-BE49-F238E27FC236}">
                  <a16:creationId xmlns:a16="http://schemas.microsoft.com/office/drawing/2014/main" id="{92964A94-F245-3545-841C-37C4A562983C}"/>
                </a:ext>
              </a:extLst>
            </p:cNvPr>
            <p:cNvSpPr/>
            <p:nvPr/>
          </p:nvSpPr>
          <p:spPr>
            <a:xfrm rot="21236499">
              <a:off x="8179825" y="5559417"/>
              <a:ext cx="407447" cy="135921"/>
            </a:xfrm>
            <a:prstGeom prst="arc">
              <a:avLst>
                <a:gd name="adj1" fmla="val 11800509"/>
                <a:gd name="adj2" fmla="val 20411601"/>
              </a:avLst>
            </a:prstGeom>
            <a:ln w="6350" cap="rnd">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9DCEF018-6B06-6348-AB67-035111ACB8A9}"/>
                </a:ext>
              </a:extLst>
            </p:cNvPr>
            <p:cNvCxnSpPr>
              <a:cxnSpLocks/>
            </p:cNvCxnSpPr>
            <p:nvPr/>
          </p:nvCxnSpPr>
          <p:spPr>
            <a:xfrm flipH="1" flipV="1">
              <a:off x="8442673" y="5392365"/>
              <a:ext cx="331137" cy="352274"/>
            </a:xfrm>
            <a:prstGeom prst="straightConnector1">
              <a:avLst/>
            </a:prstGeom>
            <a:ln w="12700" cap="rnd">
              <a:solidFill>
                <a:schemeClr val="tx1">
                  <a:lumMod val="50000"/>
                  <a:lumOff val="50000"/>
                </a:schemeClr>
              </a:solidFill>
              <a:prstDash val="sysDash"/>
              <a:round/>
              <a:tailEnd type="triangle"/>
            </a:ln>
          </p:spPr>
          <p:style>
            <a:lnRef idx="1">
              <a:schemeClr val="accent1"/>
            </a:lnRef>
            <a:fillRef idx="0">
              <a:schemeClr val="accent1"/>
            </a:fillRef>
            <a:effectRef idx="0">
              <a:schemeClr val="accent1"/>
            </a:effectRef>
            <a:fontRef idx="minor">
              <a:schemeClr val="tx1"/>
            </a:fontRef>
          </p:style>
        </p:cxnSp>
        <p:sp>
          <p:nvSpPr>
            <p:cNvPr id="63" name="Arc 62">
              <a:extLst>
                <a:ext uri="{FF2B5EF4-FFF2-40B4-BE49-F238E27FC236}">
                  <a16:creationId xmlns:a16="http://schemas.microsoft.com/office/drawing/2014/main" id="{2B1908E0-5162-4C4C-928D-531DD7F5E493}"/>
                </a:ext>
              </a:extLst>
            </p:cNvPr>
            <p:cNvSpPr/>
            <p:nvPr/>
          </p:nvSpPr>
          <p:spPr>
            <a:xfrm rot="15485343">
              <a:off x="8744991" y="4535527"/>
              <a:ext cx="689661" cy="2017256"/>
            </a:xfrm>
            <a:prstGeom prst="arc">
              <a:avLst>
                <a:gd name="adj1" fmla="val 11265228"/>
                <a:gd name="adj2" fmla="val 16304989"/>
              </a:avLst>
            </a:prstGeom>
            <a:ln w="6350">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8000AD35-8D4A-0D43-A584-208432DE84DA}"/>
                </a:ext>
              </a:extLst>
            </p:cNvPr>
            <p:cNvCxnSpPr>
              <a:cxnSpLocks/>
            </p:cNvCxnSpPr>
            <p:nvPr/>
          </p:nvCxnSpPr>
          <p:spPr>
            <a:xfrm>
              <a:off x="8755980" y="5723331"/>
              <a:ext cx="0" cy="5370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9B219E-53C3-B34A-A979-200E7CBA5D28}"/>
                </a:ext>
              </a:extLst>
            </p:cNvPr>
            <p:cNvCxnSpPr>
              <a:cxnSpLocks/>
            </p:cNvCxnSpPr>
            <p:nvPr/>
          </p:nvCxnSpPr>
          <p:spPr>
            <a:xfrm flipV="1">
              <a:off x="8755980" y="5189581"/>
              <a:ext cx="0" cy="53706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696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Complex Numbers</a:t>
            </a:r>
          </a:p>
        </p:txBody>
      </p:sp>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4</a:t>
            </a:fld>
            <a:endParaRPr lang="en-US"/>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F5D29B2F-DC62-7D45-85DD-A3C03777DCC8}"/>
                  </a:ext>
                </a:extLst>
              </p:cNvPr>
              <p:cNvSpPr/>
              <p:nvPr/>
            </p:nvSpPr>
            <p:spPr>
              <a:xfrm>
                <a:off x="786588" y="1541954"/>
                <a:ext cx="4807663" cy="1271438"/>
              </a:xfrm>
              <a:prstGeom prst="rect">
                <a:avLst/>
              </a:prstGeom>
              <a:solidFill>
                <a:schemeClr val="accent5">
                  <a:lumMod val="20000"/>
                  <a:lumOff val="80000"/>
                </a:schemeClr>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𝑧</m:t>
                      </m:r>
                      <m:r>
                        <a:rPr lang="en-US" sz="2400" i="1" smtClean="0">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r>
                        <a:rPr lang="en-US" sz="2400" i="1" smtClean="0">
                          <a:latin typeface="Cambria Math" panose="02040503050406030204" pitchFamily="18" charset="0"/>
                        </a:rPr>
                        <m:t>𝑖𝑦</m:t>
                      </m:r>
                      <m:r>
                        <a:rPr lang="en-U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eqArr>
                            <m:eqArrPr>
                              <m:ctrlPr>
                                <a:rPr lang="en-US" sz="2400" b="0" i="1">
                                  <a:latin typeface="Cambria Math" panose="02040503050406030204" pitchFamily="18" charset="0"/>
                                </a:rPr>
                              </m:ctrlPr>
                            </m:eqArr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𝑅𝑒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e>
                            <m:e>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𝐼𝑚</m:t>
                              </m:r>
                              <m:r>
                                <a:rPr lang="en-US" sz="2400" b="0" i="1" smtClean="0">
                                  <a:latin typeface="Cambria Math" panose="02040503050406030204" pitchFamily="18" charset="0"/>
                                </a:rPr>
                                <m:t>(</m:t>
                              </m:r>
                              <m:r>
                                <a:rPr lang="en-US" sz="2400" b="0" i="1" smtClean="0">
                                  <a:latin typeface="Cambria Math" panose="02040503050406030204" pitchFamily="18" charset="0"/>
                                </a:rPr>
                                <m:t>𝑧</m:t>
                              </m:r>
                              <m:r>
                                <a:rPr lang="en-US" sz="2400" b="0" i="1" smtClean="0">
                                  <a:latin typeface="Cambria Math" panose="02040503050406030204" pitchFamily="18" charset="0"/>
                                </a:rPr>
                                <m:t>)</m:t>
                              </m:r>
                            </m:e>
                            <m:e>
                              <m:r>
                                <a:rPr lang="en-US" sz="2400" i="1">
                                  <a:latin typeface="Cambria Math" panose="02040503050406030204" pitchFamily="18" charset="0"/>
                                </a:rPr>
                                <m:t>𝑖</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e>
                              </m:rad>
                              <m:r>
                                <a:rPr lang="en-US" sz="2400" b="0" i="1" smtClean="0">
                                  <a:latin typeface="Cambria Math" panose="02040503050406030204" pitchFamily="18" charset="0"/>
                                </a:rPr>
                                <m:t> </m:t>
                              </m:r>
                            </m:e>
                          </m:eqArr>
                          <m:r>
                            <a:rPr lang="en-US" sz="2400" b="0" i="1" smtClean="0">
                              <a:latin typeface="Cambria Math" panose="02040503050406030204" pitchFamily="18" charset="0"/>
                            </a:rPr>
                            <m:t>,  </m:t>
                          </m:r>
                          <m:r>
                            <a:rPr lang="en-US" sz="2400" b="0" i="1" smtClean="0">
                              <a:latin typeface="Cambria Math" panose="02040503050406030204" pitchFamily="18" charset="0"/>
                            </a:rPr>
                            <m:t>𝑧</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ℂ</m:t>
                          </m:r>
                        </m:e>
                      </m:d>
                    </m:oMath>
                  </m:oMathPara>
                </a14:m>
                <a:endParaRPr lang="en-US" sz="2400" dirty="0"/>
              </a:p>
            </p:txBody>
          </p:sp>
        </mc:Choice>
        <mc:Fallback xmlns="">
          <p:sp>
            <p:nvSpPr>
              <p:cNvPr id="49" name="Rectangle 48">
                <a:extLst>
                  <a:ext uri="{FF2B5EF4-FFF2-40B4-BE49-F238E27FC236}">
                    <a16:creationId xmlns:a16="http://schemas.microsoft.com/office/drawing/2014/main" id="{F5D29B2F-DC62-7D45-85DD-A3C03777DCC8}"/>
                  </a:ext>
                </a:extLst>
              </p:cNvPr>
              <p:cNvSpPr>
                <a:spLocks noRot="1" noChangeAspect="1" noMove="1" noResize="1" noEditPoints="1" noAdjustHandles="1" noChangeArrowheads="1" noChangeShapeType="1" noTextEdit="1"/>
              </p:cNvSpPr>
              <p:nvPr/>
            </p:nvSpPr>
            <p:spPr>
              <a:xfrm>
                <a:off x="786588" y="1541954"/>
                <a:ext cx="4807663" cy="1271438"/>
              </a:xfrm>
              <a:prstGeom prst="rect">
                <a:avLst/>
              </a:prstGeom>
              <a:blipFill>
                <a:blip r:embed="rId3"/>
                <a:stretch>
                  <a:fillRect l="-10554" t="-206863" b="-2970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AE832598-0F44-5B4B-806B-71AB7290CD53}"/>
                  </a:ext>
                </a:extLst>
              </p:cNvPr>
              <p:cNvSpPr/>
              <p:nvPr/>
            </p:nvSpPr>
            <p:spPr>
              <a:xfrm>
                <a:off x="508374" y="3923368"/>
                <a:ext cx="1820370"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a:latin typeface="Cambria Math" panose="02040503050406030204" pitchFamily="18" charset="0"/>
                            </a:rPr>
                            <m:t>𝑧</m:t>
                          </m:r>
                        </m:e>
                        <m:sup>
                          <m:r>
                            <a:rPr lang="en-US" sz="2400" b="0" i="1">
                              <a:latin typeface="Cambria Math" panose="02040503050406030204" pitchFamily="18" charset="0"/>
                            </a:rPr>
                            <m:t>∗</m:t>
                          </m:r>
                        </m:sup>
                      </m:sSup>
                      <m:r>
                        <a:rPr lang="en-US" sz="2400" b="1" i="1">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𝑖𝑦</m:t>
                      </m:r>
                    </m:oMath>
                  </m:oMathPara>
                </a14:m>
                <a:endParaRPr lang="en-US" sz="2400" dirty="0"/>
              </a:p>
            </p:txBody>
          </p:sp>
        </mc:Choice>
        <mc:Fallback xmlns="">
          <p:sp>
            <p:nvSpPr>
              <p:cNvPr id="51" name="Rectangle 50">
                <a:extLst>
                  <a:ext uri="{FF2B5EF4-FFF2-40B4-BE49-F238E27FC236}">
                    <a16:creationId xmlns:a16="http://schemas.microsoft.com/office/drawing/2014/main" id="{AE832598-0F44-5B4B-806B-71AB7290CD53}"/>
                  </a:ext>
                </a:extLst>
              </p:cNvPr>
              <p:cNvSpPr>
                <a:spLocks noRot="1" noChangeAspect="1" noMove="1" noResize="1" noEditPoints="1" noAdjustHandles="1" noChangeArrowheads="1" noChangeShapeType="1" noTextEdit="1"/>
              </p:cNvSpPr>
              <p:nvPr/>
            </p:nvSpPr>
            <p:spPr>
              <a:xfrm>
                <a:off x="508374" y="3923368"/>
                <a:ext cx="1820370" cy="461665"/>
              </a:xfrm>
              <a:prstGeom prst="rect">
                <a:avLst/>
              </a:prstGeom>
              <a:blipFill>
                <a:blip r:embed="rId4"/>
                <a:stretch>
                  <a:fillRect b="-21622"/>
                </a:stretch>
              </a:blipFill>
              <a:ln>
                <a:noFill/>
              </a:ln>
            </p:spPr>
            <p:txBody>
              <a:bodyPr/>
              <a:lstStyle/>
              <a:p>
                <a:r>
                  <a:rPr lang="en-US">
                    <a:noFill/>
                  </a:rPr>
                  <a:t> </a:t>
                </a:r>
              </a:p>
            </p:txBody>
          </p:sp>
        </mc:Fallback>
      </mc:AlternateContent>
      <p:sp>
        <p:nvSpPr>
          <p:cNvPr id="52" name="TextBox 51">
            <a:extLst>
              <a:ext uri="{FF2B5EF4-FFF2-40B4-BE49-F238E27FC236}">
                <a16:creationId xmlns:a16="http://schemas.microsoft.com/office/drawing/2014/main" id="{50731F5C-8578-4949-9C0E-0A2DE641271A}"/>
              </a:ext>
            </a:extLst>
          </p:cNvPr>
          <p:cNvSpPr txBox="1"/>
          <p:nvPr/>
        </p:nvSpPr>
        <p:spPr>
          <a:xfrm>
            <a:off x="351484" y="3284188"/>
            <a:ext cx="3061159" cy="461665"/>
          </a:xfrm>
          <a:prstGeom prst="rect">
            <a:avLst/>
          </a:prstGeom>
          <a:solidFill>
            <a:schemeClr val="accent6">
              <a:lumMod val="20000"/>
              <a:lumOff val="80000"/>
            </a:schemeClr>
          </a:solidFill>
          <a:ln>
            <a:noFill/>
          </a:ln>
        </p:spPr>
        <p:txBody>
          <a:bodyPr wrap="none" rtlCol="0">
            <a:spAutoFit/>
          </a:bodyPr>
          <a:lstStyle/>
          <a:p>
            <a:r>
              <a:rPr lang="en-ZA" sz="2400" dirty="0"/>
              <a:t>The complex conjugate</a:t>
            </a:r>
            <a:endParaRPr lang="en-US" sz="2400" dirty="0"/>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45D487E8-BEB6-F04C-A807-8A4479DDC867}"/>
                  </a:ext>
                </a:extLst>
              </p:cNvPr>
              <p:cNvSpPr/>
              <p:nvPr/>
            </p:nvSpPr>
            <p:spPr>
              <a:xfrm>
                <a:off x="3174592" y="3845462"/>
                <a:ext cx="3292055" cy="539571"/>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𝑦</m:t>
                              </m:r>
                            </m:e>
                            <m:sup>
                              <m:r>
                                <a:rPr lang="en-US" sz="2400" i="1">
                                  <a:latin typeface="Cambria Math" panose="02040503050406030204" pitchFamily="18" charset="0"/>
                                </a:rPr>
                                <m:t>2</m:t>
                              </m:r>
                            </m:sup>
                          </m:sSup>
                        </m:e>
                      </m:ra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𝑧</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e>
                      </m:rad>
                    </m:oMath>
                  </m:oMathPara>
                </a14:m>
                <a:endParaRPr lang="en-US" sz="2400" dirty="0"/>
              </a:p>
            </p:txBody>
          </p:sp>
        </mc:Choice>
        <mc:Fallback xmlns="">
          <p:sp>
            <p:nvSpPr>
              <p:cNvPr id="54" name="Rectangle 53">
                <a:extLst>
                  <a:ext uri="{FF2B5EF4-FFF2-40B4-BE49-F238E27FC236}">
                    <a16:creationId xmlns:a16="http://schemas.microsoft.com/office/drawing/2014/main" id="{45D487E8-BEB6-F04C-A807-8A4479DDC867}"/>
                  </a:ext>
                </a:extLst>
              </p:cNvPr>
              <p:cNvSpPr>
                <a:spLocks noRot="1" noChangeAspect="1" noMove="1" noResize="1" noEditPoints="1" noAdjustHandles="1" noChangeArrowheads="1" noChangeShapeType="1" noTextEdit="1"/>
              </p:cNvSpPr>
              <p:nvPr/>
            </p:nvSpPr>
            <p:spPr>
              <a:xfrm>
                <a:off x="3174592" y="3845462"/>
                <a:ext cx="3292055" cy="539571"/>
              </a:xfrm>
              <a:prstGeom prst="rect">
                <a:avLst/>
              </a:prstGeom>
              <a:blipFill>
                <a:blip r:embed="rId5"/>
                <a:stretch>
                  <a:fillRect b="-6977"/>
                </a:stretch>
              </a:blipFill>
              <a:ln>
                <a:noFill/>
              </a:ln>
            </p:spPr>
            <p:txBody>
              <a:bodyPr/>
              <a:lstStyle/>
              <a:p>
                <a:r>
                  <a:rPr lang="en-US">
                    <a:noFill/>
                  </a:rPr>
                  <a:t> </a:t>
                </a:r>
              </a:p>
            </p:txBody>
          </p:sp>
        </mc:Fallback>
      </mc:AlternateContent>
      <p:sp>
        <p:nvSpPr>
          <p:cNvPr id="55" name="TextBox 54">
            <a:extLst>
              <a:ext uri="{FF2B5EF4-FFF2-40B4-BE49-F238E27FC236}">
                <a16:creationId xmlns:a16="http://schemas.microsoft.com/office/drawing/2014/main" id="{FD663D6E-5D9B-524D-AE1B-17F9C6437E7A}"/>
              </a:ext>
            </a:extLst>
          </p:cNvPr>
          <p:cNvSpPr txBox="1"/>
          <p:nvPr/>
        </p:nvSpPr>
        <p:spPr>
          <a:xfrm>
            <a:off x="4121291" y="3264322"/>
            <a:ext cx="1803699" cy="461665"/>
          </a:xfrm>
          <a:prstGeom prst="rect">
            <a:avLst/>
          </a:prstGeom>
          <a:solidFill>
            <a:schemeClr val="accent6">
              <a:lumMod val="20000"/>
              <a:lumOff val="80000"/>
            </a:schemeClr>
          </a:solidFill>
          <a:ln>
            <a:noFill/>
          </a:ln>
        </p:spPr>
        <p:txBody>
          <a:bodyPr wrap="none" rtlCol="0">
            <a:spAutoFit/>
          </a:bodyPr>
          <a:lstStyle/>
          <a:p>
            <a:r>
              <a:rPr lang="en-ZA" sz="2400" dirty="0"/>
              <a:t>The modulus</a:t>
            </a:r>
            <a:endParaRPr lang="en-US" sz="2400" dirty="0"/>
          </a:p>
        </p:txBody>
      </p:sp>
      <p:grpSp>
        <p:nvGrpSpPr>
          <p:cNvPr id="105" name="Group 104">
            <a:extLst>
              <a:ext uri="{FF2B5EF4-FFF2-40B4-BE49-F238E27FC236}">
                <a16:creationId xmlns:a16="http://schemas.microsoft.com/office/drawing/2014/main" id="{82E5721D-F86B-DC4A-A29D-8E024A84EB84}"/>
              </a:ext>
            </a:extLst>
          </p:cNvPr>
          <p:cNvGrpSpPr/>
          <p:nvPr/>
        </p:nvGrpSpPr>
        <p:grpSpPr>
          <a:xfrm>
            <a:off x="6794670" y="1380490"/>
            <a:ext cx="5130569" cy="4723042"/>
            <a:chOff x="6794670" y="1380490"/>
            <a:chExt cx="5130569" cy="4723042"/>
          </a:xfrm>
        </p:grpSpPr>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flipH="1">
              <a:off x="10558959" y="2073495"/>
              <a:ext cx="0" cy="3536316"/>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10932466" y="3796078"/>
                  <a:ext cx="53816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10932466" y="3796078"/>
                  <a:ext cx="538161"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7182684" y="1380490"/>
                  <a:ext cx="55931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7182684" y="1380490"/>
                  <a:ext cx="559318" cy="400110"/>
                </a:xfrm>
                <a:prstGeom prst="rect">
                  <a:avLst/>
                </a:prstGeom>
                <a:blipFill>
                  <a:blip r:embed="rId7"/>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29ADB5E2-6935-3C48-AA0B-EB31E6AAFB82}"/>
                </a:ext>
              </a:extLst>
            </p:cNvPr>
            <p:cNvSpPr/>
            <p:nvPr/>
          </p:nvSpPr>
          <p:spPr>
            <a:xfrm>
              <a:off x="10467888" y="1979942"/>
              <a:ext cx="180107" cy="18010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6" name="Straight Arrow Connector 15">
              <a:extLst>
                <a:ext uri="{FF2B5EF4-FFF2-40B4-BE49-F238E27FC236}">
                  <a16:creationId xmlns:a16="http://schemas.microsoft.com/office/drawing/2014/main" id="{535B1276-E9EC-844A-8B37-8680C8D0163D}"/>
                </a:ext>
              </a:extLst>
            </p:cNvPr>
            <p:cNvCxnSpPr>
              <a:cxnSpLocks/>
            </p:cNvCxnSpPr>
            <p:nvPr/>
          </p:nvCxnSpPr>
          <p:spPr>
            <a:xfrm flipV="1">
              <a:off x="7798238" y="1723222"/>
              <a:ext cx="0" cy="3962558"/>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6586C0-FBA1-FD4C-B125-C30948677224}"/>
                </a:ext>
              </a:extLst>
            </p:cNvPr>
            <p:cNvCxnSpPr>
              <a:cxnSpLocks/>
            </p:cNvCxnSpPr>
            <p:nvPr/>
          </p:nvCxnSpPr>
          <p:spPr>
            <a:xfrm>
              <a:off x="7344467" y="3850820"/>
              <a:ext cx="3618660"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BAF94-D1BC-E849-AECA-7B6DE5880C97}"/>
                </a:ext>
              </a:extLst>
            </p:cNvPr>
            <p:cNvSpPr txBox="1"/>
            <p:nvPr/>
          </p:nvSpPr>
          <p:spPr>
            <a:xfrm>
              <a:off x="7415686" y="3864907"/>
              <a:ext cx="351378" cy="400110"/>
            </a:xfrm>
            <a:prstGeom prst="rect">
              <a:avLst/>
            </a:prstGeom>
            <a:noFill/>
          </p:spPr>
          <p:txBody>
            <a:bodyPr wrap="none" rtlCol="0">
              <a:spAutoFit/>
            </a:bodyPr>
            <a:lstStyle/>
            <a:p>
              <a:r>
                <a:rPr lang="en-US" sz="2000" dirty="0">
                  <a:latin typeface="+mj-lt"/>
                </a:rPr>
                <a:t>O</a:t>
              </a:r>
            </a:p>
          </p:txBody>
        </p:sp>
        <p:cxnSp>
          <p:nvCxnSpPr>
            <p:cNvPr id="20" name="Straight Connector 19">
              <a:extLst>
                <a:ext uri="{FF2B5EF4-FFF2-40B4-BE49-F238E27FC236}">
                  <a16:creationId xmlns:a16="http://schemas.microsoft.com/office/drawing/2014/main" id="{8DCE1194-6EDD-2744-A9C3-2D5A259B1CBE}"/>
                </a:ext>
              </a:extLst>
            </p:cNvPr>
            <p:cNvCxnSpPr>
              <a:cxnSpLocks/>
            </p:cNvCxnSpPr>
            <p:nvPr/>
          </p:nvCxnSpPr>
          <p:spPr>
            <a:xfrm flipH="1">
              <a:off x="7793079" y="2078853"/>
              <a:ext cx="276133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7807328" y="2083951"/>
              <a:ext cx="2757862" cy="1761511"/>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1E1A26-5EAF-6C4D-BC56-7C4EE78DE0B9}"/>
                </a:ext>
              </a:extLst>
            </p:cNvPr>
            <p:cNvCxnSpPr>
              <a:cxnSpLocks/>
            </p:cNvCxnSpPr>
            <p:nvPr/>
          </p:nvCxnSpPr>
          <p:spPr>
            <a:xfrm>
              <a:off x="8730546"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7724F2-3326-4E43-85E8-C8FE9B0992B7}"/>
                </a:ext>
              </a:extLst>
            </p:cNvPr>
            <p:cNvCxnSpPr>
              <a:cxnSpLocks/>
            </p:cNvCxnSpPr>
            <p:nvPr/>
          </p:nvCxnSpPr>
          <p:spPr>
            <a:xfrm>
              <a:off x="9645724"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1461F62-1A09-9646-8972-DC814FA1CE73}"/>
                </a:ext>
              </a:extLst>
            </p:cNvPr>
            <p:cNvCxnSpPr>
              <a:cxnSpLocks/>
            </p:cNvCxnSpPr>
            <p:nvPr/>
          </p:nvCxnSpPr>
          <p:spPr>
            <a:xfrm>
              <a:off x="10560904"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6106281-560B-454C-A4CE-50447A9E394D}"/>
                    </a:ext>
                  </a:extLst>
                </p:cNvPr>
                <p:cNvSpPr/>
                <p:nvPr/>
              </p:nvSpPr>
              <p:spPr>
                <a:xfrm>
                  <a:off x="8489705" y="39312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.1</m:t>
                      </m:r>
                    </m:oMath>
                  </a14:m>
                  <a:endParaRPr lang="en-US" dirty="0">
                    <a:solidFill>
                      <a:schemeClr val="bg1">
                        <a:lumMod val="50000"/>
                      </a:schemeClr>
                    </a:solidFill>
                  </a:endParaRPr>
                </a:p>
              </p:txBody>
            </p:sp>
          </mc:Choice>
          <mc:Fallback xmlns="">
            <p:sp>
              <p:nvSpPr>
                <p:cNvPr id="25" name="Rectangle 24">
                  <a:extLst>
                    <a:ext uri="{FF2B5EF4-FFF2-40B4-BE49-F238E27FC236}">
                      <a16:creationId xmlns:a16="http://schemas.microsoft.com/office/drawing/2014/main" id="{A6106281-560B-454C-A4CE-50447A9E394D}"/>
                    </a:ext>
                  </a:extLst>
                </p:cNvPr>
                <p:cNvSpPr>
                  <a:spLocks noRot="1" noChangeAspect="1" noMove="1" noResize="1" noEditPoints="1" noAdjustHandles="1" noChangeArrowheads="1" noChangeShapeType="1" noTextEdit="1"/>
                </p:cNvSpPr>
                <p:nvPr/>
              </p:nvSpPr>
              <p:spPr>
                <a:xfrm>
                  <a:off x="8489705" y="3931234"/>
                  <a:ext cx="478016" cy="369332"/>
                </a:xfrm>
                <a:prstGeom prst="rect">
                  <a:avLst/>
                </a:prstGeom>
                <a:blipFill>
                  <a:blip r:embed="rId8"/>
                  <a:stretch>
                    <a:fillRect l="-7692"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531C5F7-82F5-FC45-9E30-28F8BE644390}"/>
                    </a:ext>
                  </a:extLst>
                </p:cNvPr>
                <p:cNvSpPr/>
                <p:nvPr/>
              </p:nvSpPr>
              <p:spPr>
                <a:xfrm>
                  <a:off x="9398378" y="3931234"/>
                  <a:ext cx="5421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oMath>
                    </m:oMathPara>
                  </a14:m>
                  <a:endParaRPr lang="en-US" dirty="0">
                    <a:solidFill>
                      <a:schemeClr val="bg1">
                        <a:lumMod val="50000"/>
                      </a:schemeClr>
                    </a:solidFill>
                  </a:endParaRPr>
                </a:p>
              </p:txBody>
            </p:sp>
          </mc:Choice>
          <mc:Fallback xmlns="">
            <p:sp>
              <p:nvSpPr>
                <p:cNvPr id="26" name="Rectangle 25">
                  <a:extLst>
                    <a:ext uri="{FF2B5EF4-FFF2-40B4-BE49-F238E27FC236}">
                      <a16:creationId xmlns:a16="http://schemas.microsoft.com/office/drawing/2014/main" id="{3531C5F7-82F5-FC45-9E30-28F8BE644390}"/>
                    </a:ext>
                  </a:extLst>
                </p:cNvPr>
                <p:cNvSpPr>
                  <a:spLocks noRot="1" noChangeAspect="1" noMove="1" noResize="1" noEditPoints="1" noAdjustHandles="1" noChangeArrowheads="1" noChangeShapeType="1" noTextEdit="1"/>
                </p:cNvSpPr>
                <p:nvPr/>
              </p:nvSpPr>
              <p:spPr>
                <a:xfrm>
                  <a:off x="9398378" y="3931234"/>
                  <a:ext cx="5421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5F6A6C2-8F65-F840-871A-876FC745F433}"/>
                    </a:ext>
                  </a:extLst>
                </p:cNvPr>
                <p:cNvSpPr/>
                <p:nvPr/>
              </p:nvSpPr>
              <p:spPr>
                <a:xfrm>
                  <a:off x="10307047" y="3931234"/>
                  <a:ext cx="5421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0.3</m:t>
                        </m:r>
                      </m:oMath>
                    </m:oMathPara>
                  </a14:m>
                  <a:endParaRPr lang="en-US" dirty="0">
                    <a:solidFill>
                      <a:schemeClr val="bg1">
                        <a:lumMod val="50000"/>
                      </a:schemeClr>
                    </a:solidFill>
                  </a:endParaRPr>
                </a:p>
              </p:txBody>
            </p:sp>
          </mc:Choice>
          <mc:Fallback xmlns="">
            <p:sp>
              <p:nvSpPr>
                <p:cNvPr id="27" name="Rectangle 26">
                  <a:extLst>
                    <a:ext uri="{FF2B5EF4-FFF2-40B4-BE49-F238E27FC236}">
                      <a16:creationId xmlns:a16="http://schemas.microsoft.com/office/drawing/2014/main" id="{B5F6A6C2-8F65-F840-871A-876FC745F433}"/>
                    </a:ext>
                  </a:extLst>
                </p:cNvPr>
                <p:cNvSpPr>
                  <a:spLocks noRot="1" noChangeAspect="1" noMove="1" noResize="1" noEditPoints="1" noAdjustHandles="1" noChangeArrowheads="1" noChangeShapeType="1" noTextEdit="1"/>
                </p:cNvSpPr>
                <p:nvPr/>
              </p:nvSpPr>
              <p:spPr>
                <a:xfrm>
                  <a:off x="10307047" y="3931234"/>
                  <a:ext cx="542136" cy="369332"/>
                </a:xfrm>
                <a:prstGeom prst="rect">
                  <a:avLst/>
                </a:prstGeom>
                <a:blipFill>
                  <a:blip r:embed="rId10"/>
                  <a:stretch>
                    <a:fillRect/>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7B2D60F7-39FF-4A4B-AAA0-6FDAEE06437D}"/>
                </a:ext>
              </a:extLst>
            </p:cNvPr>
            <p:cNvCxnSpPr>
              <a:cxnSpLocks/>
            </p:cNvCxnSpPr>
            <p:nvPr/>
          </p:nvCxnSpPr>
          <p:spPr>
            <a:xfrm rot="16200000">
              <a:off x="7809892" y="2842102"/>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4F91A4C-97E8-B342-9EFB-E1B8C797FA78}"/>
                </a:ext>
              </a:extLst>
            </p:cNvPr>
            <p:cNvCxnSpPr>
              <a:cxnSpLocks/>
            </p:cNvCxnSpPr>
            <p:nvPr/>
          </p:nvCxnSpPr>
          <p:spPr>
            <a:xfrm rot="16200000">
              <a:off x="7809892" y="1938438"/>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1B21803-0A4F-4146-B855-590A1375E164}"/>
                    </a:ext>
                  </a:extLst>
                </p:cNvPr>
                <p:cNvSpPr/>
                <p:nvPr/>
              </p:nvSpPr>
              <p:spPr>
                <a:xfrm>
                  <a:off x="6967793" y="2792492"/>
                  <a:ext cx="6231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0.1</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5" name="Rectangle 44">
                  <a:extLst>
                    <a:ext uri="{FF2B5EF4-FFF2-40B4-BE49-F238E27FC236}">
                      <a16:creationId xmlns:a16="http://schemas.microsoft.com/office/drawing/2014/main" id="{81B21803-0A4F-4146-B855-590A1375E164}"/>
                    </a:ext>
                  </a:extLst>
                </p:cNvPr>
                <p:cNvSpPr>
                  <a:spLocks noRot="1" noChangeAspect="1" noMove="1" noResize="1" noEditPoints="1" noAdjustHandles="1" noChangeArrowheads="1" noChangeShapeType="1" noTextEdit="1"/>
                </p:cNvSpPr>
                <p:nvPr/>
              </p:nvSpPr>
              <p:spPr>
                <a:xfrm>
                  <a:off x="6967793" y="2792492"/>
                  <a:ext cx="62318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0080374-FBD4-2B43-9201-884F11B23A92}"/>
                    </a:ext>
                  </a:extLst>
                </p:cNvPr>
                <p:cNvSpPr/>
                <p:nvPr/>
              </p:nvSpPr>
              <p:spPr>
                <a:xfrm>
                  <a:off x="6967793" y="1899285"/>
                  <a:ext cx="6231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6" name="Rectangle 45">
                  <a:extLst>
                    <a:ext uri="{FF2B5EF4-FFF2-40B4-BE49-F238E27FC236}">
                      <a16:creationId xmlns:a16="http://schemas.microsoft.com/office/drawing/2014/main" id="{10080374-FBD4-2B43-9201-884F11B23A92}"/>
                    </a:ext>
                  </a:extLst>
                </p:cNvPr>
                <p:cNvSpPr>
                  <a:spLocks noRot="1" noChangeAspect="1" noMove="1" noResize="1" noEditPoints="1" noAdjustHandles="1" noChangeArrowheads="1" noChangeShapeType="1" noTextEdit="1"/>
                </p:cNvSpPr>
                <p:nvPr/>
              </p:nvSpPr>
              <p:spPr>
                <a:xfrm>
                  <a:off x="6967793" y="1899285"/>
                  <a:ext cx="623184" cy="369332"/>
                </a:xfrm>
                <a:prstGeom prst="rect">
                  <a:avLst/>
                </a:prstGeom>
                <a:blipFill>
                  <a:blip r:embed="rId12"/>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2DEE561F-DED5-7443-8E0F-4725F10E48B5}"/>
                </a:ext>
              </a:extLst>
            </p:cNvPr>
            <p:cNvSpPr/>
            <p:nvPr/>
          </p:nvSpPr>
          <p:spPr>
            <a:xfrm>
              <a:off x="10464357" y="5509485"/>
              <a:ext cx="180107" cy="18010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38" name="Straight Connector 37">
              <a:extLst>
                <a:ext uri="{FF2B5EF4-FFF2-40B4-BE49-F238E27FC236}">
                  <a16:creationId xmlns:a16="http://schemas.microsoft.com/office/drawing/2014/main" id="{0D3468DE-869F-9644-82A3-B503B3AFD95C}"/>
                </a:ext>
              </a:extLst>
            </p:cNvPr>
            <p:cNvCxnSpPr>
              <a:cxnSpLocks/>
            </p:cNvCxnSpPr>
            <p:nvPr/>
          </p:nvCxnSpPr>
          <p:spPr>
            <a:xfrm rot="16200000">
              <a:off x="7811529" y="4619895"/>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9350AF7-8824-A64B-8371-F746891A1A5B}"/>
                    </a:ext>
                  </a:extLst>
                </p:cNvPr>
                <p:cNvSpPr/>
                <p:nvPr/>
              </p:nvSpPr>
              <p:spPr>
                <a:xfrm>
                  <a:off x="6794670" y="4566941"/>
                  <a:ext cx="7963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−0.1</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1" name="Rectangle 40">
                  <a:extLst>
                    <a:ext uri="{FF2B5EF4-FFF2-40B4-BE49-F238E27FC236}">
                      <a16:creationId xmlns:a16="http://schemas.microsoft.com/office/drawing/2014/main" id="{D9350AF7-8824-A64B-8371-F746891A1A5B}"/>
                    </a:ext>
                  </a:extLst>
                </p:cNvPr>
                <p:cNvSpPr>
                  <a:spLocks noRot="1" noChangeAspect="1" noMove="1" noResize="1" noEditPoints="1" noAdjustHandles="1" noChangeArrowheads="1" noChangeShapeType="1" noTextEdit="1"/>
                </p:cNvSpPr>
                <p:nvPr/>
              </p:nvSpPr>
              <p:spPr>
                <a:xfrm>
                  <a:off x="6794670" y="4566941"/>
                  <a:ext cx="79630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E0B78529-CA3C-B24B-B119-77E239075321}"/>
                    </a:ext>
                  </a:extLst>
                </p:cNvPr>
                <p:cNvSpPr/>
                <p:nvPr/>
              </p:nvSpPr>
              <p:spPr>
                <a:xfrm>
                  <a:off x="10374815" y="5703422"/>
                  <a:ext cx="155042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a:latin typeface="Cambria Math" panose="02040503050406030204" pitchFamily="18" charset="0"/>
                              </a:rPr>
                              <m:t>𝑧</m:t>
                            </m:r>
                          </m:e>
                          <m:sup>
                            <m:r>
                              <a:rPr lang="en-US" sz="2000" b="0" i="1">
                                <a:latin typeface="Cambria Math" panose="02040503050406030204" pitchFamily="18" charset="0"/>
                              </a:rPr>
                              <m:t>∗</m:t>
                            </m:r>
                          </m:sup>
                        </m:sSup>
                        <m:r>
                          <a:rPr lang="en-US" sz="2000" b="1" i="1">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𝑖𝑦</m:t>
                        </m:r>
                      </m:oMath>
                    </m:oMathPara>
                  </a14:m>
                  <a:endParaRPr lang="en-US" sz="2000" dirty="0"/>
                </a:p>
              </p:txBody>
            </p:sp>
          </mc:Choice>
          <mc:Fallback xmlns="">
            <p:sp>
              <p:nvSpPr>
                <p:cNvPr id="34" name="Rectangle 33">
                  <a:extLst>
                    <a:ext uri="{FF2B5EF4-FFF2-40B4-BE49-F238E27FC236}">
                      <a16:creationId xmlns:a16="http://schemas.microsoft.com/office/drawing/2014/main" id="{E0B78529-CA3C-B24B-B119-77E239075321}"/>
                    </a:ext>
                  </a:extLst>
                </p:cNvPr>
                <p:cNvSpPr>
                  <a:spLocks noRot="1" noChangeAspect="1" noMove="1" noResize="1" noEditPoints="1" noAdjustHandles="1" noChangeArrowheads="1" noChangeShapeType="1" noTextEdit="1"/>
                </p:cNvSpPr>
                <p:nvPr/>
              </p:nvSpPr>
              <p:spPr>
                <a:xfrm>
                  <a:off x="10374815" y="5703422"/>
                  <a:ext cx="1550424" cy="400110"/>
                </a:xfrm>
                <a:prstGeom prst="rect">
                  <a:avLst/>
                </a:prstGeom>
                <a:blipFill>
                  <a:blip r:embed="rId14"/>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EA026C98-A361-164B-B536-83B94A0DA179}"/>
                    </a:ext>
                  </a:extLst>
                </p:cNvPr>
                <p:cNvSpPr/>
                <p:nvPr/>
              </p:nvSpPr>
              <p:spPr>
                <a:xfrm rot="19680000">
                  <a:off x="7576486" y="2583618"/>
                  <a:ext cx="2778004" cy="4650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𝑧</m:t>
                            </m:r>
                          </m:e>
                        </m: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2</m:t>
                                </m:r>
                              </m:sup>
                            </m:sSup>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𝑧</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m:t>
                                </m:r>
                              </m:sup>
                            </m:sSup>
                          </m:e>
                        </m:rad>
                      </m:oMath>
                    </m:oMathPara>
                  </a14:m>
                  <a:endParaRPr lang="en-US" sz="2000" dirty="0"/>
                </a:p>
              </p:txBody>
            </p:sp>
          </mc:Choice>
          <mc:Fallback xmlns="">
            <p:sp>
              <p:nvSpPr>
                <p:cNvPr id="35" name="Rectangle 34">
                  <a:extLst>
                    <a:ext uri="{FF2B5EF4-FFF2-40B4-BE49-F238E27FC236}">
                      <a16:creationId xmlns:a16="http://schemas.microsoft.com/office/drawing/2014/main" id="{EA026C98-A361-164B-B536-83B94A0DA179}"/>
                    </a:ext>
                  </a:extLst>
                </p:cNvPr>
                <p:cNvSpPr>
                  <a:spLocks noRot="1" noChangeAspect="1" noMove="1" noResize="1" noEditPoints="1" noAdjustHandles="1" noChangeArrowheads="1" noChangeShapeType="1" noTextEdit="1"/>
                </p:cNvSpPr>
                <p:nvPr/>
              </p:nvSpPr>
              <p:spPr>
                <a:xfrm rot="19680000">
                  <a:off x="7576486" y="2583618"/>
                  <a:ext cx="2778004" cy="4650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A850380D-7BF8-784C-BD82-5459D63C72BB}"/>
                    </a:ext>
                  </a:extLst>
                </p:cNvPr>
                <p:cNvSpPr/>
                <p:nvPr/>
              </p:nvSpPr>
              <p:spPr>
                <a:xfrm>
                  <a:off x="10374815" y="1470651"/>
                  <a:ext cx="14418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𝑧</m:t>
                        </m:r>
                        <m:r>
                          <a:rPr lang="en-US" sz="2000" b="1" i="1">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𝑖𝑦</m:t>
                        </m:r>
                      </m:oMath>
                    </m:oMathPara>
                  </a14:m>
                  <a:endParaRPr lang="en-US" sz="2000" dirty="0"/>
                </a:p>
              </p:txBody>
            </p:sp>
          </mc:Choice>
          <mc:Fallback xmlns="">
            <p:sp>
              <p:nvSpPr>
                <p:cNvPr id="67" name="Rectangle 66">
                  <a:extLst>
                    <a:ext uri="{FF2B5EF4-FFF2-40B4-BE49-F238E27FC236}">
                      <a16:creationId xmlns:a16="http://schemas.microsoft.com/office/drawing/2014/main" id="{A850380D-7BF8-784C-BD82-5459D63C72BB}"/>
                    </a:ext>
                  </a:extLst>
                </p:cNvPr>
                <p:cNvSpPr>
                  <a:spLocks noRot="1" noChangeAspect="1" noMove="1" noResize="1" noEditPoints="1" noAdjustHandles="1" noChangeArrowheads="1" noChangeShapeType="1" noTextEdit="1"/>
                </p:cNvSpPr>
                <p:nvPr/>
              </p:nvSpPr>
              <p:spPr>
                <a:xfrm>
                  <a:off x="10374815" y="1470651"/>
                  <a:ext cx="1441869" cy="400110"/>
                </a:xfrm>
                <a:prstGeom prst="rect">
                  <a:avLst/>
                </a:prstGeom>
                <a:blipFill>
                  <a:blip r:embed="rId16"/>
                  <a:stretch>
                    <a:fillRect b="-18750"/>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46EF51EF-AC68-8A4F-AB10-6B9F996B2E91}"/>
                </a:ext>
              </a:extLst>
            </p:cNvPr>
            <p:cNvCxnSpPr>
              <a:cxnSpLocks/>
            </p:cNvCxnSpPr>
            <p:nvPr/>
          </p:nvCxnSpPr>
          <p:spPr>
            <a:xfrm>
              <a:off x="7811876" y="3848300"/>
              <a:ext cx="2757862" cy="1761511"/>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AD4F24D-1A1E-9A4F-969C-DBE5AF900137}"/>
                </a:ext>
              </a:extLst>
            </p:cNvPr>
            <p:cNvCxnSpPr>
              <a:cxnSpLocks/>
            </p:cNvCxnSpPr>
            <p:nvPr/>
          </p:nvCxnSpPr>
          <p:spPr>
            <a:xfrm flipH="1">
              <a:off x="7805593" y="5609811"/>
              <a:ext cx="276133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29BF3D3-4161-9B4D-83C7-88D7AB800808}"/>
                </a:ext>
              </a:extLst>
            </p:cNvPr>
            <p:cNvCxnSpPr>
              <a:cxnSpLocks/>
            </p:cNvCxnSpPr>
            <p:nvPr/>
          </p:nvCxnSpPr>
          <p:spPr>
            <a:xfrm rot="16200000">
              <a:off x="7801700" y="547247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0AB64049-7D1A-1B48-8A2B-6E9161B753B4}"/>
                    </a:ext>
                  </a:extLst>
                </p:cNvPr>
                <p:cNvSpPr/>
                <p:nvPr/>
              </p:nvSpPr>
              <p:spPr>
                <a:xfrm>
                  <a:off x="6794670" y="5407475"/>
                  <a:ext cx="7963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81" name="Rectangle 80">
                  <a:extLst>
                    <a:ext uri="{FF2B5EF4-FFF2-40B4-BE49-F238E27FC236}">
                      <a16:creationId xmlns:a16="http://schemas.microsoft.com/office/drawing/2014/main" id="{0AB64049-7D1A-1B48-8A2B-6E9161B753B4}"/>
                    </a:ext>
                  </a:extLst>
                </p:cNvPr>
                <p:cNvSpPr>
                  <a:spLocks noRot="1" noChangeAspect="1" noMove="1" noResize="1" noEditPoints="1" noAdjustHandles="1" noChangeArrowheads="1" noChangeShapeType="1" noTextEdit="1"/>
                </p:cNvSpPr>
                <p:nvPr/>
              </p:nvSpPr>
              <p:spPr>
                <a:xfrm>
                  <a:off x="6794670" y="5407475"/>
                  <a:ext cx="796307"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3DBDAF01-9BC3-6F49-B760-1B07BCFC9B2D}"/>
                    </a:ext>
                  </a:extLst>
                </p:cNvPr>
                <p:cNvSpPr/>
                <p:nvPr/>
              </p:nvSpPr>
              <p:spPr>
                <a:xfrm>
                  <a:off x="10280708" y="2289506"/>
                  <a:ext cx="154766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𝑧</m:t>
                        </m:r>
                        <m:r>
                          <a:rPr lang="en-US" sz="1600" b="1" i="1">
                            <a:latin typeface="Cambria Math" panose="02040503050406030204" pitchFamily="18" charset="0"/>
                          </a:rPr>
                          <m:t> </m:t>
                        </m:r>
                        <m:r>
                          <a:rPr lang="en-US" sz="1600" b="0" i="1" smtClean="0">
                            <a:latin typeface="Cambria Math" panose="02040503050406030204" pitchFamily="18" charset="0"/>
                          </a:rPr>
                          <m:t>=0.3+</m:t>
                        </m:r>
                        <m:r>
                          <a:rPr lang="en-US" sz="1600" b="0" i="1" smtClean="0">
                            <a:latin typeface="Cambria Math" panose="02040503050406030204" pitchFamily="18" charset="0"/>
                          </a:rPr>
                          <m:t>𝑖</m:t>
                        </m:r>
                        <m:r>
                          <a:rPr lang="en-US" sz="1600" b="0" i="1" smtClean="0">
                            <a:latin typeface="Cambria Math" panose="02040503050406030204" pitchFamily="18" charset="0"/>
                          </a:rPr>
                          <m:t> 0.2</m:t>
                        </m:r>
                      </m:oMath>
                    </m:oMathPara>
                  </a14:m>
                  <a:endParaRPr lang="en-US" sz="1600" dirty="0"/>
                </a:p>
              </p:txBody>
            </p:sp>
          </mc:Choice>
          <mc:Fallback xmlns="">
            <p:sp>
              <p:nvSpPr>
                <p:cNvPr id="82" name="Rectangle 81">
                  <a:extLst>
                    <a:ext uri="{FF2B5EF4-FFF2-40B4-BE49-F238E27FC236}">
                      <a16:creationId xmlns:a16="http://schemas.microsoft.com/office/drawing/2014/main" id="{3DBDAF01-9BC3-6F49-B760-1B07BCFC9B2D}"/>
                    </a:ext>
                  </a:extLst>
                </p:cNvPr>
                <p:cNvSpPr>
                  <a:spLocks noRot="1" noChangeAspect="1" noMove="1" noResize="1" noEditPoints="1" noAdjustHandles="1" noChangeArrowheads="1" noChangeShapeType="1" noTextEdit="1"/>
                </p:cNvSpPr>
                <p:nvPr/>
              </p:nvSpPr>
              <p:spPr>
                <a:xfrm>
                  <a:off x="10280708" y="2289506"/>
                  <a:ext cx="1547667" cy="338554"/>
                </a:xfrm>
                <a:prstGeom prst="rect">
                  <a:avLst/>
                </a:prstGeom>
                <a:blipFill>
                  <a:blip r:embed="rId18"/>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297983A3-16C0-F74F-BA4C-4CA0ED3C519D}"/>
                    </a:ext>
                  </a:extLst>
                </p:cNvPr>
                <p:cNvSpPr/>
                <p:nvPr/>
              </p:nvSpPr>
              <p:spPr>
                <a:xfrm>
                  <a:off x="10264633" y="5065702"/>
                  <a:ext cx="163487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US" sz="1600" b="0" i="1">
                                <a:latin typeface="Cambria Math" panose="02040503050406030204" pitchFamily="18" charset="0"/>
                              </a:rPr>
                              <m:t>𝑧</m:t>
                            </m:r>
                          </m:e>
                          <m:sup>
                            <m:r>
                              <a:rPr lang="en-US" sz="1600" b="0" i="1">
                                <a:latin typeface="Cambria Math" panose="02040503050406030204" pitchFamily="18" charset="0"/>
                              </a:rPr>
                              <m:t>∗</m:t>
                            </m:r>
                          </m:sup>
                        </m:sSup>
                        <m:r>
                          <a:rPr lang="en-US" sz="1600" b="1" i="1">
                            <a:latin typeface="Cambria Math" panose="02040503050406030204" pitchFamily="18" charset="0"/>
                          </a:rPr>
                          <m:t> </m:t>
                        </m:r>
                        <m:r>
                          <a:rPr lang="en-US" sz="1600" b="0" i="1" smtClean="0">
                            <a:latin typeface="Cambria Math" panose="02040503050406030204" pitchFamily="18" charset="0"/>
                          </a:rPr>
                          <m:t>=0.3−</m:t>
                        </m:r>
                        <m:r>
                          <a:rPr lang="en-US" sz="1600" b="0" i="1" smtClean="0">
                            <a:latin typeface="Cambria Math" panose="02040503050406030204" pitchFamily="18" charset="0"/>
                          </a:rPr>
                          <m:t>𝑖</m:t>
                        </m:r>
                        <m:r>
                          <a:rPr lang="en-US" sz="1600" b="0" i="1" smtClean="0">
                            <a:latin typeface="Cambria Math" panose="02040503050406030204" pitchFamily="18" charset="0"/>
                          </a:rPr>
                          <m:t> 0.2</m:t>
                        </m:r>
                      </m:oMath>
                    </m:oMathPara>
                  </a14:m>
                  <a:endParaRPr lang="en-US" sz="1600" dirty="0"/>
                </a:p>
              </p:txBody>
            </p:sp>
          </mc:Choice>
          <mc:Fallback xmlns="">
            <p:sp>
              <p:nvSpPr>
                <p:cNvPr id="83" name="Rectangle 82">
                  <a:extLst>
                    <a:ext uri="{FF2B5EF4-FFF2-40B4-BE49-F238E27FC236}">
                      <a16:creationId xmlns:a16="http://schemas.microsoft.com/office/drawing/2014/main" id="{297983A3-16C0-F74F-BA4C-4CA0ED3C519D}"/>
                    </a:ext>
                  </a:extLst>
                </p:cNvPr>
                <p:cNvSpPr>
                  <a:spLocks noRot="1" noChangeAspect="1" noMove="1" noResize="1" noEditPoints="1" noAdjustHandles="1" noChangeArrowheads="1" noChangeShapeType="1" noTextEdit="1"/>
                </p:cNvSpPr>
                <p:nvPr/>
              </p:nvSpPr>
              <p:spPr>
                <a:xfrm>
                  <a:off x="10264633" y="5065702"/>
                  <a:ext cx="1634871" cy="338554"/>
                </a:xfrm>
                <a:prstGeom prst="rect">
                  <a:avLst/>
                </a:prstGeom>
                <a:blipFill>
                  <a:blip r:embed="rId19"/>
                  <a:stretch>
                    <a:fillRect b="-10714"/>
                  </a:stretch>
                </a:blipFill>
              </p:spPr>
              <p:txBody>
                <a:bodyPr/>
                <a:lstStyle/>
                <a:p>
                  <a:r>
                    <a:rPr lang="en-US">
                      <a:noFill/>
                    </a:rPr>
                    <a:t> </a:t>
                  </a:r>
                </a:p>
              </p:txBody>
            </p:sp>
          </mc:Fallback>
        </mc:AlternateContent>
      </p:grpSp>
      <p:grpSp>
        <p:nvGrpSpPr>
          <p:cNvPr id="108" name="Group 107">
            <a:extLst>
              <a:ext uri="{FF2B5EF4-FFF2-40B4-BE49-F238E27FC236}">
                <a16:creationId xmlns:a16="http://schemas.microsoft.com/office/drawing/2014/main" id="{ACBC27FD-7A21-124D-AEE7-AAB1D4DFBE62}"/>
              </a:ext>
            </a:extLst>
          </p:cNvPr>
          <p:cNvGrpSpPr/>
          <p:nvPr/>
        </p:nvGrpSpPr>
        <p:grpSpPr>
          <a:xfrm>
            <a:off x="380358" y="5329943"/>
            <a:ext cx="5379984" cy="1298509"/>
            <a:chOff x="363512" y="5104015"/>
            <a:chExt cx="5379984" cy="1298509"/>
          </a:xfrm>
        </p:grpSpPr>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5EEB1FD9-8BC1-7946-97EF-8D614EEC8B0D}"/>
                    </a:ext>
                  </a:extLst>
                </p:cNvPr>
                <p:cNvSpPr txBox="1"/>
                <p:nvPr/>
              </p:nvSpPr>
              <p:spPr>
                <a:xfrm>
                  <a:off x="2083583" y="5114094"/>
                  <a:ext cx="3659913" cy="128843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𝑧</m:t>
                        </m:r>
                        <m:r>
                          <a:rPr lang="en-US" sz="2400" i="1" smtClean="0">
                            <a:latin typeface="Cambria Math" panose="02040503050406030204" pitchFamily="18" charset="0"/>
                          </a:rPr>
                          <m:t>=0.3+</m:t>
                        </m:r>
                        <m:r>
                          <a:rPr lang="en-US" sz="2400" b="0" i="1" smtClean="0">
                            <a:latin typeface="Cambria Math" panose="02040503050406030204" pitchFamily="18" charset="0"/>
                          </a:rPr>
                          <m:t>𝑖</m:t>
                        </m:r>
                        <m:r>
                          <a:rPr lang="en-US" sz="2400" b="0" i="1" smtClean="0">
                            <a:latin typeface="Cambria Math" panose="02040503050406030204" pitchFamily="18" charset="0"/>
                          </a:rPr>
                          <m:t> 0.2</m:t>
                        </m:r>
                      </m:oMath>
                    </m:oMathPara>
                  </a14:m>
                  <a:endParaRPr lang="en-US"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m:t>
                            </m:r>
                          </m:sup>
                        </m:sSup>
                        <m:r>
                          <a:rPr lang="en-US" sz="2400" b="1" i="1">
                            <a:latin typeface="Cambria Math" panose="02040503050406030204" pitchFamily="18" charset="0"/>
                          </a:rPr>
                          <m:t> </m:t>
                        </m:r>
                        <m:r>
                          <a:rPr lang="en-US" sz="2400" i="1">
                            <a:latin typeface="Cambria Math" panose="02040503050406030204" pitchFamily="18" charset="0"/>
                          </a:rPr>
                          <m:t>=0.3</m:t>
                        </m:r>
                        <m:r>
                          <a:rPr lang="en-US" sz="2400" b="0" i="1" smtClean="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0.2</m:t>
                        </m:r>
                      </m:oMath>
                    </m:oMathPara>
                  </a14:m>
                  <a:endParaRPr lang="en-US"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𝑧</m:t>
                            </m:r>
                          </m:e>
                        </m: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b="0" i="1" smtClean="0">
                                    <a:latin typeface="Cambria Math" panose="02040503050406030204" pitchFamily="18" charset="0"/>
                                  </a:rPr>
                                  <m:t>0.3</m:t>
                                </m:r>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0.2</m:t>
                                </m:r>
                              </m:e>
                              <m:sup>
                                <m:r>
                                  <a:rPr lang="en-US" sz="2400" i="1">
                                    <a:latin typeface="Cambria Math" panose="02040503050406030204" pitchFamily="18" charset="0"/>
                                  </a:rPr>
                                  <m:t>2</m:t>
                                </m:r>
                              </m:sup>
                            </m:sSup>
                          </m:e>
                        </m:rad>
                        <m:r>
                          <a:rPr lang="en-US" sz="2400" b="0" i="1" smtClean="0">
                            <a:latin typeface="Cambria Math" panose="02040503050406030204" pitchFamily="18" charset="0"/>
                          </a:rPr>
                          <m:t>=0.36</m:t>
                        </m:r>
                      </m:oMath>
                    </m:oMathPara>
                  </a14:m>
                  <a:endParaRPr lang="en-US" sz="2400" dirty="0"/>
                </a:p>
              </p:txBody>
            </p:sp>
          </mc:Choice>
          <mc:Fallback xmlns="">
            <p:sp>
              <p:nvSpPr>
                <p:cNvPr id="106" name="TextBox 105">
                  <a:extLst>
                    <a:ext uri="{FF2B5EF4-FFF2-40B4-BE49-F238E27FC236}">
                      <a16:creationId xmlns:a16="http://schemas.microsoft.com/office/drawing/2014/main" id="{5EEB1FD9-8BC1-7946-97EF-8D614EEC8B0D}"/>
                    </a:ext>
                  </a:extLst>
                </p:cNvPr>
                <p:cNvSpPr txBox="1">
                  <a:spLocks noRot="1" noChangeAspect="1" noMove="1" noResize="1" noEditPoints="1" noAdjustHandles="1" noChangeArrowheads="1" noChangeShapeType="1" noTextEdit="1"/>
                </p:cNvSpPr>
                <p:nvPr/>
              </p:nvSpPr>
              <p:spPr>
                <a:xfrm>
                  <a:off x="2083583" y="5114094"/>
                  <a:ext cx="3659913" cy="1288430"/>
                </a:xfrm>
                <a:prstGeom prst="rect">
                  <a:avLst/>
                </a:prstGeom>
                <a:blipFill>
                  <a:blip r:embed="rId23"/>
                  <a:stretch>
                    <a:fillRect/>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43489C11-B8BA-4242-919F-5C9310C46AB4}"/>
                </a:ext>
              </a:extLst>
            </p:cNvPr>
            <p:cNvSpPr txBox="1"/>
            <p:nvPr/>
          </p:nvSpPr>
          <p:spPr>
            <a:xfrm>
              <a:off x="363512" y="5104015"/>
              <a:ext cx="1323632" cy="461665"/>
            </a:xfrm>
            <a:prstGeom prst="rect">
              <a:avLst/>
            </a:prstGeom>
            <a:noFill/>
          </p:spPr>
          <p:txBody>
            <a:bodyPr wrap="none" rtlCol="0">
              <a:spAutoFit/>
            </a:bodyPr>
            <a:lstStyle/>
            <a:p>
              <a:r>
                <a:rPr lang="en-US" sz="2400" dirty="0"/>
                <a:t>Example:</a:t>
              </a:r>
            </a:p>
          </p:txBody>
        </p:sp>
      </p:grpSp>
      <p:sp>
        <p:nvSpPr>
          <p:cNvPr id="2" name="TextBox 1">
            <a:extLst>
              <a:ext uri="{FF2B5EF4-FFF2-40B4-BE49-F238E27FC236}">
                <a16:creationId xmlns:a16="http://schemas.microsoft.com/office/drawing/2014/main" id="{C11A1017-08B8-8D4C-902E-8B44E0E29FC7}"/>
              </a:ext>
            </a:extLst>
          </p:cNvPr>
          <p:cNvSpPr txBox="1"/>
          <p:nvPr/>
        </p:nvSpPr>
        <p:spPr>
          <a:xfrm>
            <a:off x="753218" y="1098915"/>
            <a:ext cx="2891817" cy="369332"/>
          </a:xfrm>
          <a:prstGeom prst="rect">
            <a:avLst/>
          </a:prstGeom>
          <a:noFill/>
        </p:spPr>
        <p:txBody>
          <a:bodyPr wrap="none" rtlCol="0">
            <a:spAutoFit/>
          </a:bodyPr>
          <a:lstStyle/>
          <a:p>
            <a:r>
              <a:rPr lang="en-ZA" dirty="0"/>
              <a:t>ordered pair of real numbers</a:t>
            </a:r>
            <a:endParaRPr lang="en-US" dirty="0"/>
          </a:p>
        </p:txBody>
      </p:sp>
    </p:spTree>
    <p:extLst>
      <p:ext uri="{BB962C8B-B14F-4D97-AF65-F5344CB8AC3E}">
        <p14:creationId xmlns:p14="http://schemas.microsoft.com/office/powerpoint/2010/main" val="373452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dissolve">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dissolve">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C03BE6E-80E8-6242-B4CF-32CD1DBBB6DB}"/>
              </a:ext>
            </a:extLst>
          </p:cNvPr>
          <p:cNvGrpSpPr/>
          <p:nvPr/>
        </p:nvGrpSpPr>
        <p:grpSpPr>
          <a:xfrm>
            <a:off x="5487483" y="1337999"/>
            <a:ext cx="6536236" cy="5337438"/>
            <a:chOff x="5487483" y="1337999"/>
            <a:chExt cx="6536236" cy="5337438"/>
          </a:xfrm>
        </p:grpSpPr>
        <p:sp>
          <p:nvSpPr>
            <p:cNvPr id="8" name="Parallelogram 7">
              <a:extLst>
                <a:ext uri="{FF2B5EF4-FFF2-40B4-BE49-F238E27FC236}">
                  <a16:creationId xmlns:a16="http://schemas.microsoft.com/office/drawing/2014/main" id="{567880BF-0D86-1F44-8817-5D2A116C90AE}"/>
                </a:ext>
              </a:extLst>
            </p:cNvPr>
            <p:cNvSpPr/>
            <p:nvPr/>
          </p:nvSpPr>
          <p:spPr>
            <a:xfrm>
              <a:off x="5487483" y="1337999"/>
              <a:ext cx="6536236" cy="5337438"/>
            </a:xfrm>
            <a:prstGeom prst="parallelogram">
              <a:avLst>
                <a:gd name="adj" fmla="val 14293"/>
              </a:avLst>
            </a:prstGeom>
            <a:pattFill prst="pct5">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0" name="Group 199">
              <a:extLst>
                <a:ext uri="{FF2B5EF4-FFF2-40B4-BE49-F238E27FC236}">
                  <a16:creationId xmlns:a16="http://schemas.microsoft.com/office/drawing/2014/main" id="{8A1C0761-7CCE-014E-BB09-F7C61F05CF4E}"/>
                </a:ext>
              </a:extLst>
            </p:cNvPr>
            <p:cNvGrpSpPr/>
            <p:nvPr/>
          </p:nvGrpSpPr>
          <p:grpSpPr>
            <a:xfrm>
              <a:off x="5770350" y="1765074"/>
              <a:ext cx="5391366" cy="4727801"/>
              <a:chOff x="5770350" y="1765074"/>
              <a:chExt cx="5391366" cy="4727801"/>
            </a:xfrm>
          </p:grpSpPr>
          <p:grpSp>
            <p:nvGrpSpPr>
              <p:cNvPr id="192" name="Group 191">
                <a:extLst>
                  <a:ext uri="{FF2B5EF4-FFF2-40B4-BE49-F238E27FC236}">
                    <a16:creationId xmlns:a16="http://schemas.microsoft.com/office/drawing/2014/main" id="{60FCB830-C7D4-8949-BBE2-03320F7E5D2A}"/>
                  </a:ext>
                </a:extLst>
              </p:cNvPr>
              <p:cNvGrpSpPr/>
              <p:nvPr/>
            </p:nvGrpSpPr>
            <p:grpSpPr>
              <a:xfrm>
                <a:off x="6433915" y="1765074"/>
                <a:ext cx="4727801" cy="4727801"/>
                <a:chOff x="6629863" y="1765074"/>
                <a:chExt cx="4727801" cy="4727801"/>
              </a:xfrm>
            </p:grpSpPr>
            <p:sp>
              <p:nvSpPr>
                <p:cNvPr id="104" name="Oval 103">
                  <a:extLst>
                    <a:ext uri="{FF2B5EF4-FFF2-40B4-BE49-F238E27FC236}">
                      <a16:creationId xmlns:a16="http://schemas.microsoft.com/office/drawing/2014/main" id="{77C6B79B-38CD-CD4A-A479-949A8C47E714}"/>
                    </a:ext>
                  </a:extLst>
                </p:cNvPr>
                <p:cNvSpPr/>
                <p:nvPr/>
              </p:nvSpPr>
              <p:spPr>
                <a:xfrm>
                  <a:off x="6629863" y="1765074"/>
                  <a:ext cx="4727801" cy="4727801"/>
                </a:xfrm>
                <a:prstGeom prst="ellipse">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Arrow Connector 160">
                  <a:extLst>
                    <a:ext uri="{FF2B5EF4-FFF2-40B4-BE49-F238E27FC236}">
                      <a16:creationId xmlns:a16="http://schemas.microsoft.com/office/drawing/2014/main" id="{F02C5334-8559-BE40-A0FB-31C10B80F5F7}"/>
                    </a:ext>
                  </a:extLst>
                </p:cNvPr>
                <p:cNvCxnSpPr>
                  <a:cxnSpLocks/>
                </p:cNvCxnSpPr>
                <p:nvPr/>
              </p:nvCxnSpPr>
              <p:spPr>
                <a:xfrm flipH="1" flipV="1">
                  <a:off x="6960503" y="2970193"/>
                  <a:ext cx="2038690" cy="1141903"/>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3821B663-911D-F448-8FBF-A5945476B4FE}"/>
                    </a:ext>
                  </a:extLst>
                </p:cNvPr>
                <p:cNvCxnSpPr>
                  <a:cxnSpLocks/>
                </p:cNvCxnSpPr>
                <p:nvPr/>
              </p:nvCxnSpPr>
              <p:spPr>
                <a:xfrm flipH="1">
                  <a:off x="7232972" y="4122533"/>
                  <a:ext cx="1772677" cy="1550479"/>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56ABCE62-EA89-664D-824A-5D80173208CD}"/>
                    </a:ext>
                  </a:extLst>
                </p:cNvPr>
                <p:cNvCxnSpPr>
                  <a:cxnSpLocks/>
                </p:cNvCxnSpPr>
                <p:nvPr/>
              </p:nvCxnSpPr>
              <p:spPr>
                <a:xfrm>
                  <a:off x="9013371" y="4128454"/>
                  <a:ext cx="435429" cy="2359801"/>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029A3F18-42D5-544A-84BA-703D86565BDA}"/>
                    </a:ext>
                  </a:extLst>
                </p:cNvPr>
                <p:cNvCxnSpPr>
                  <a:cxnSpLocks/>
                </p:cNvCxnSpPr>
                <p:nvPr/>
              </p:nvCxnSpPr>
              <p:spPr>
                <a:xfrm>
                  <a:off x="9000221" y="4128454"/>
                  <a:ext cx="2103208" cy="1169586"/>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7C98E598-6E77-5141-A2A6-0656B5A85DF4}"/>
                    </a:ext>
                  </a:extLst>
                </p:cNvPr>
                <p:cNvCxnSpPr>
                  <a:cxnSpLocks/>
                </p:cNvCxnSpPr>
                <p:nvPr/>
              </p:nvCxnSpPr>
              <p:spPr>
                <a:xfrm flipH="1" flipV="1">
                  <a:off x="8004300" y="2040949"/>
                  <a:ext cx="983382" cy="2082780"/>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A570870F-0CD8-214C-B0B7-33CCF856A316}"/>
                    </a:ext>
                  </a:extLst>
                </p:cNvPr>
                <p:cNvCxnSpPr>
                  <a:cxnSpLocks/>
                  <a:endCxn id="104" idx="2"/>
                </p:cNvCxnSpPr>
                <p:nvPr/>
              </p:nvCxnSpPr>
              <p:spPr>
                <a:xfrm flipH="1">
                  <a:off x="6629863" y="4128453"/>
                  <a:ext cx="2380908" cy="522"/>
                </a:xfrm>
                <a:prstGeom prst="straightConnector1">
                  <a:avLst/>
                </a:prstGeom>
                <a:ln w="12700" cap="rnd">
                  <a:solidFill>
                    <a:schemeClr val="tx1">
                      <a:lumMod val="50000"/>
                      <a:lumOff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grpSp>
          <p:sp>
            <p:nvSpPr>
              <p:cNvPr id="199" name="TextBox 198">
                <a:extLst>
                  <a:ext uri="{FF2B5EF4-FFF2-40B4-BE49-F238E27FC236}">
                    <a16:creationId xmlns:a16="http://schemas.microsoft.com/office/drawing/2014/main" id="{C05094E2-837B-F64A-8E34-12C749CB19C0}"/>
                  </a:ext>
                </a:extLst>
              </p:cNvPr>
              <p:cNvSpPr txBox="1"/>
              <p:nvPr/>
            </p:nvSpPr>
            <p:spPr>
              <a:xfrm>
                <a:off x="5770350" y="4518540"/>
                <a:ext cx="1497333" cy="400110"/>
              </a:xfrm>
              <a:prstGeom prst="rect">
                <a:avLst/>
              </a:prstGeom>
              <a:noFill/>
            </p:spPr>
            <p:txBody>
              <a:bodyPr wrap="none" rtlCol="0">
                <a:spAutoFit/>
              </a:bodyPr>
              <a:lstStyle/>
              <a:p>
                <a:r>
                  <a:rPr lang="en-US" sz="2000" dirty="0"/>
                  <a:t>vector space</a:t>
                </a:r>
              </a:p>
            </p:txBody>
          </p:sp>
        </p:grpSp>
      </p:grpSp>
      <p:cxnSp>
        <p:nvCxnSpPr>
          <p:cNvPr id="87" name="Straight Connector 86">
            <a:extLst>
              <a:ext uri="{FF2B5EF4-FFF2-40B4-BE49-F238E27FC236}">
                <a16:creationId xmlns:a16="http://schemas.microsoft.com/office/drawing/2014/main" id="{3BB69A5C-66A9-C843-A57C-897E5CCB2F8D}"/>
              </a:ext>
            </a:extLst>
          </p:cNvPr>
          <p:cNvCxnSpPr>
            <a:cxnSpLocks/>
          </p:cNvCxnSpPr>
          <p:nvPr/>
        </p:nvCxnSpPr>
        <p:spPr>
          <a:xfrm flipV="1">
            <a:off x="1513319" y="1451011"/>
            <a:ext cx="0" cy="3678633"/>
          </a:xfrm>
          <a:prstGeom prst="line">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9B9405D-22F0-E549-ADCE-C3517CEF659E}"/>
              </a:ext>
            </a:extLst>
          </p:cNvPr>
          <p:cNvCxnSpPr>
            <a:cxnSpLocks/>
          </p:cNvCxnSpPr>
          <p:nvPr/>
        </p:nvCxnSpPr>
        <p:spPr>
          <a:xfrm flipV="1">
            <a:off x="217090" y="4108174"/>
            <a:ext cx="4025243" cy="0"/>
          </a:xfrm>
          <a:prstGeom prst="line">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Vectors in </a:t>
            </a:r>
            <a:r>
              <a:rPr lang="en-US" dirty="0" err="1"/>
              <a:t>braket</a:t>
            </a:r>
            <a:r>
              <a:rPr lang="en-US" dirty="0"/>
              <a:t> (Dirac) Notation</a:t>
            </a:r>
          </a:p>
        </p:txBody>
      </p:sp>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5</a:t>
            </a:fld>
            <a:endParaRPr lang="en-US"/>
          </a:p>
        </p:txBody>
      </p:sp>
      <p:grpSp>
        <p:nvGrpSpPr>
          <p:cNvPr id="2" name="Group 1">
            <a:extLst>
              <a:ext uri="{FF2B5EF4-FFF2-40B4-BE49-F238E27FC236}">
                <a16:creationId xmlns:a16="http://schemas.microsoft.com/office/drawing/2014/main" id="{68A7D574-0B68-8943-83E4-173684B211EB}"/>
              </a:ext>
            </a:extLst>
          </p:cNvPr>
          <p:cNvGrpSpPr/>
          <p:nvPr/>
        </p:nvGrpSpPr>
        <p:grpSpPr>
          <a:xfrm>
            <a:off x="2917334" y="1423283"/>
            <a:ext cx="4298718" cy="975810"/>
            <a:chOff x="2917334" y="1678897"/>
            <a:chExt cx="4298718" cy="975810"/>
          </a:xfrm>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9A1239D-3343-444B-A1C2-2D69E8D68185}"/>
                    </a:ext>
                  </a:extLst>
                </p:cNvPr>
                <p:cNvSpPr/>
                <p:nvPr/>
              </p:nvSpPr>
              <p:spPr>
                <a:xfrm>
                  <a:off x="4096576" y="1678897"/>
                  <a:ext cx="2017860" cy="554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m:t>
                        </m:r>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b="0" i="1" smtClean="0">
                                      <a:latin typeface="Cambria Math" panose="02040503050406030204" pitchFamily="18" charset="0"/>
                                    </a:rPr>
                                    <m:t>𝑎</m:t>
                                  </m:r>
                                </m:e>
                              </m:mr>
                              <m:mr>
                                <m:e>
                                  <m:r>
                                    <a:rPr lang="en-US" b="0" i="1" smtClean="0">
                                      <a:latin typeface="Cambria Math" panose="02040503050406030204" pitchFamily="18" charset="0"/>
                                    </a:rPr>
                                    <m:t>𝑏</m:t>
                                  </m:r>
                                </m:e>
                              </m:mr>
                            </m:m>
                          </m:e>
                        </m:d>
                        <m:r>
                          <a:rPr lang="en-US" b="0" i="1" smtClean="0">
                            <a:latin typeface="Cambria Math" panose="02040503050406030204" pitchFamily="18" charset="0"/>
                          </a:rPr>
                          <m:t>=</m:t>
                        </m:r>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.8</m:t>
                                  </m:r>
                                </m:e>
                              </m:mr>
                              <m:mr>
                                <m:e>
                                  <m:r>
                                    <a:rPr lang="en-US" b="0" i="1" smtClean="0">
                                      <a:latin typeface="Cambria Math" panose="02040503050406030204" pitchFamily="18" charset="0"/>
                                    </a:rPr>
                                    <m:t>0.6</m:t>
                                  </m:r>
                                </m:e>
                              </m:mr>
                            </m:m>
                          </m:e>
                        </m:d>
                      </m:oMath>
                    </m:oMathPara>
                  </a14:m>
                  <a:endParaRPr lang="en-US" dirty="0"/>
                </a:p>
              </p:txBody>
            </p:sp>
          </mc:Choice>
          <mc:Fallback xmlns="">
            <p:sp>
              <p:nvSpPr>
                <p:cNvPr id="9" name="Rectangle 8">
                  <a:extLst>
                    <a:ext uri="{FF2B5EF4-FFF2-40B4-BE49-F238E27FC236}">
                      <a16:creationId xmlns:a16="http://schemas.microsoft.com/office/drawing/2014/main" id="{F9A1239D-3343-444B-A1C2-2D69E8D68185}"/>
                    </a:ext>
                  </a:extLst>
                </p:cNvPr>
                <p:cNvSpPr>
                  <a:spLocks noRot="1" noChangeAspect="1" noMove="1" noResize="1" noEditPoints="1" noAdjustHandles="1" noChangeArrowheads="1" noChangeShapeType="1" noTextEdit="1"/>
                </p:cNvSpPr>
                <p:nvPr/>
              </p:nvSpPr>
              <p:spPr>
                <a:xfrm>
                  <a:off x="4096576" y="1678897"/>
                  <a:ext cx="2017860" cy="554254"/>
                </a:xfrm>
                <a:prstGeom prst="rect">
                  <a:avLst/>
                </a:prstGeom>
                <a:blipFill>
                  <a:blip r:embed="rId3"/>
                  <a:stretch>
                    <a:fillRect b="-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97AFA95F-C1FA-A746-ACDD-779780AF1017}"/>
                    </a:ext>
                  </a:extLst>
                </p:cNvPr>
                <p:cNvSpPr/>
                <p:nvPr/>
              </p:nvSpPr>
              <p:spPr>
                <a:xfrm>
                  <a:off x="4106546" y="2285375"/>
                  <a:ext cx="31095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e>
                                <m:e>
                                  <m:sSup>
                                    <m:sSupPr>
                                      <m:ctrlPr>
                                        <a:rPr lang="en-US" i="1">
                                          <a:latin typeface="Cambria Math" panose="02040503050406030204" pitchFamily="18" charset="0"/>
                                        </a:rPr>
                                      </m:ctrlPr>
                                    </m:sSupPr>
                                    <m:e>
                                      <m:r>
                                        <a:rPr lang="en-US" b="0" i="1" smtClean="0">
                                          <a:latin typeface="Cambria Math" panose="02040503050406030204" pitchFamily="18" charset="0"/>
                                        </a:rPr>
                                        <m:t>𝑏</m:t>
                                      </m:r>
                                    </m:e>
                                    <m:sup>
                                      <m:r>
                                        <a:rPr lang="en-US" i="1">
                                          <a:latin typeface="Cambria Math" panose="02040503050406030204" pitchFamily="18" charset="0"/>
                                        </a:rPr>
                                        <m:t>∗</m:t>
                                      </m:r>
                                    </m:sup>
                                  </m:sSup>
                                </m:e>
                              </m:mr>
                            </m:m>
                          </m:e>
                        </m:d>
                        <m:r>
                          <a:rPr lang="en-US" b="0" i="1" smtClean="0">
                            <a:latin typeface="Cambria Math" panose="02040503050406030204" pitchFamily="18" charset="0"/>
                          </a:rPr>
                          <m:t>=</m:t>
                        </m:r>
                        <m:d>
                          <m:dPr>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.8</m:t>
                                  </m:r>
                                </m:e>
                                <m:e>
                                  <m:r>
                                    <a:rPr lang="en-US" b="0" i="1" smtClean="0">
                                      <a:latin typeface="Cambria Math" panose="02040503050406030204" pitchFamily="18" charset="0"/>
                                    </a:rPr>
                                    <m:t>0.6</m:t>
                                  </m:r>
                                </m:e>
                              </m:mr>
                            </m:m>
                          </m:e>
                        </m:d>
                      </m:oMath>
                    </m:oMathPara>
                  </a14:m>
                  <a:endParaRPr lang="en-US" dirty="0"/>
                </a:p>
              </p:txBody>
            </p:sp>
          </mc:Choice>
          <mc:Fallback xmlns="">
            <p:sp>
              <p:nvSpPr>
                <p:cNvPr id="102" name="Rectangle 101">
                  <a:extLst>
                    <a:ext uri="{FF2B5EF4-FFF2-40B4-BE49-F238E27FC236}">
                      <a16:creationId xmlns:a16="http://schemas.microsoft.com/office/drawing/2014/main" id="{97AFA95F-C1FA-A746-ACDD-779780AF1017}"/>
                    </a:ext>
                  </a:extLst>
                </p:cNvPr>
                <p:cNvSpPr>
                  <a:spLocks noRot="1" noChangeAspect="1" noMove="1" noResize="1" noEditPoints="1" noAdjustHandles="1" noChangeArrowheads="1" noChangeShapeType="1" noTextEdit="1"/>
                </p:cNvSpPr>
                <p:nvPr/>
              </p:nvSpPr>
              <p:spPr>
                <a:xfrm>
                  <a:off x="4106546" y="2285375"/>
                  <a:ext cx="3109506" cy="369332"/>
                </a:xfrm>
                <a:prstGeom prst="rect">
                  <a:avLst/>
                </a:prstGeom>
                <a:blipFill>
                  <a:blip r:embed="rId4"/>
                  <a:stretch>
                    <a:fillRect l="-7317" t="-110000" b="-166667"/>
                  </a:stretch>
                </a:blipFill>
              </p:spPr>
              <p:txBody>
                <a:bodyPr/>
                <a:lstStyle/>
                <a:p>
                  <a:r>
                    <a:rPr lang="en-US">
                      <a:noFill/>
                    </a:rPr>
                    <a:t> </a:t>
                  </a:r>
                </a:p>
              </p:txBody>
            </p:sp>
          </mc:Fallback>
        </mc:AlternateContent>
        <p:sp>
          <p:nvSpPr>
            <p:cNvPr id="103" name="TextBox 102">
              <a:extLst>
                <a:ext uri="{FF2B5EF4-FFF2-40B4-BE49-F238E27FC236}">
                  <a16:creationId xmlns:a16="http://schemas.microsoft.com/office/drawing/2014/main" id="{0359E05D-9152-EC44-98D3-3089B0A191D5}"/>
                </a:ext>
              </a:extLst>
            </p:cNvPr>
            <p:cNvSpPr txBox="1"/>
            <p:nvPr/>
          </p:nvSpPr>
          <p:spPr>
            <a:xfrm>
              <a:off x="2927304" y="1738159"/>
              <a:ext cx="1117294" cy="369332"/>
            </a:xfrm>
            <a:prstGeom prst="rect">
              <a:avLst/>
            </a:prstGeom>
            <a:solidFill>
              <a:schemeClr val="accent4">
                <a:lumMod val="20000"/>
                <a:lumOff val="80000"/>
              </a:schemeClr>
            </a:solidFill>
          </p:spPr>
          <p:txBody>
            <a:bodyPr wrap="none" rtlCol="0">
              <a:spAutoFit/>
            </a:bodyPr>
            <a:lstStyle/>
            <a:p>
              <a:r>
                <a:rPr lang="en-US" dirty="0"/>
                <a:t>ket vector</a:t>
              </a:r>
            </a:p>
          </p:txBody>
        </p:sp>
        <p:sp>
          <p:nvSpPr>
            <p:cNvPr id="113" name="TextBox 112">
              <a:extLst>
                <a:ext uri="{FF2B5EF4-FFF2-40B4-BE49-F238E27FC236}">
                  <a16:creationId xmlns:a16="http://schemas.microsoft.com/office/drawing/2014/main" id="{33CA3051-E9C6-EC49-B3BC-AF7C24F4923F}"/>
                </a:ext>
              </a:extLst>
            </p:cNvPr>
            <p:cNvSpPr txBox="1"/>
            <p:nvPr/>
          </p:nvSpPr>
          <p:spPr>
            <a:xfrm>
              <a:off x="2917334" y="2240397"/>
              <a:ext cx="1137234" cy="369332"/>
            </a:xfrm>
            <a:prstGeom prst="rect">
              <a:avLst/>
            </a:prstGeom>
            <a:solidFill>
              <a:schemeClr val="accent4">
                <a:lumMod val="20000"/>
                <a:lumOff val="80000"/>
              </a:schemeClr>
            </a:solidFill>
          </p:spPr>
          <p:txBody>
            <a:bodyPr wrap="none" rtlCol="0">
              <a:spAutoFit/>
            </a:bodyPr>
            <a:lstStyle/>
            <a:p>
              <a:r>
                <a:rPr lang="en-US" dirty="0"/>
                <a:t>bra vector</a:t>
              </a:r>
            </a:p>
          </p:txBody>
        </p:sp>
      </p:grpSp>
      <p:cxnSp>
        <p:nvCxnSpPr>
          <p:cNvPr id="134" name="Straight Connector 133">
            <a:extLst>
              <a:ext uri="{FF2B5EF4-FFF2-40B4-BE49-F238E27FC236}">
                <a16:creationId xmlns:a16="http://schemas.microsoft.com/office/drawing/2014/main" id="{88221974-7BF2-8B4D-9972-50EAD689D904}"/>
              </a:ext>
            </a:extLst>
          </p:cNvPr>
          <p:cNvCxnSpPr>
            <a:cxnSpLocks/>
          </p:cNvCxnSpPr>
          <p:nvPr/>
        </p:nvCxnSpPr>
        <p:spPr>
          <a:xfrm flipH="1" flipV="1">
            <a:off x="1594301" y="2711100"/>
            <a:ext cx="1784162" cy="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88" name="Group 187">
            <a:extLst>
              <a:ext uri="{FF2B5EF4-FFF2-40B4-BE49-F238E27FC236}">
                <a16:creationId xmlns:a16="http://schemas.microsoft.com/office/drawing/2014/main" id="{CCA03046-9C88-3647-A29A-E2205593D870}"/>
              </a:ext>
            </a:extLst>
          </p:cNvPr>
          <p:cNvGrpSpPr/>
          <p:nvPr/>
        </p:nvGrpSpPr>
        <p:grpSpPr>
          <a:xfrm>
            <a:off x="1517251" y="1454471"/>
            <a:ext cx="3225932" cy="2676899"/>
            <a:chOff x="1517251" y="1454471"/>
            <a:chExt cx="3225932" cy="2676899"/>
          </a:xfrm>
        </p:grpSpPr>
        <mc:AlternateContent xmlns:mc="http://schemas.openxmlformats.org/markup-compatibility/2006" xmlns:a14="http://schemas.microsoft.com/office/drawing/2010/main">
          <mc:Choice Requires="a14">
            <p:sp>
              <p:nvSpPr>
                <p:cNvPr id="131" name="Rectangle 130">
                  <a:extLst>
                    <a:ext uri="{FF2B5EF4-FFF2-40B4-BE49-F238E27FC236}">
                      <a16:creationId xmlns:a16="http://schemas.microsoft.com/office/drawing/2014/main" id="{E3E43471-063B-3945-83B3-5891F87C579B}"/>
                    </a:ext>
                  </a:extLst>
                </p:cNvPr>
                <p:cNvSpPr/>
                <p:nvPr/>
              </p:nvSpPr>
              <p:spPr>
                <a:xfrm>
                  <a:off x="3565425" y="3507830"/>
                  <a:ext cx="1177758" cy="554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0</m:t>
                            </m:r>
                          </m:e>
                        </m:d>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m>
                              <m:mPr>
                                <m:mcs>
                                  <m:mc>
                                    <m:mcPr>
                                      <m:count m:val="1"/>
                                      <m:mcJc m:val="center"/>
                                    </m:mcPr>
                                  </m:mc>
                                </m:mcs>
                                <m:ctrlPr>
                                  <a:rPr lang="en-US" i="1">
                                    <a:solidFill>
                                      <a:srgbClr val="0000FF"/>
                                    </a:solidFill>
                                    <a:latin typeface="Cambria Math" panose="02040503050406030204" pitchFamily="18" charset="0"/>
                                  </a:rPr>
                                </m:ctrlPr>
                              </m:mPr>
                              <m:mr>
                                <m:e>
                                  <m:r>
                                    <m:rPr>
                                      <m:brk m:alnAt="7"/>
                                    </m:rPr>
                                    <a:rPr lang="en-US" b="0" i="1" smtClean="0">
                                      <a:solidFill>
                                        <a:srgbClr val="0000FF"/>
                                      </a:solidFill>
                                      <a:latin typeface="Cambria Math" panose="02040503050406030204" pitchFamily="18" charset="0"/>
                                    </a:rPr>
                                    <m:t>1</m:t>
                                  </m:r>
                                </m:e>
                              </m:mr>
                              <m:mr>
                                <m:e>
                                  <m:r>
                                    <a:rPr lang="en-US" b="0" i="1" smtClean="0">
                                      <a:solidFill>
                                        <a:srgbClr val="0000FF"/>
                                      </a:solidFill>
                                      <a:latin typeface="Cambria Math" panose="02040503050406030204" pitchFamily="18" charset="0"/>
                                    </a:rPr>
                                    <m:t>0</m:t>
                                  </m:r>
                                </m:e>
                              </m:mr>
                            </m:m>
                          </m:e>
                        </m:d>
                      </m:oMath>
                    </m:oMathPara>
                  </a14:m>
                  <a:endParaRPr lang="en-US" dirty="0"/>
                </a:p>
              </p:txBody>
            </p:sp>
          </mc:Choice>
          <mc:Fallback xmlns="">
            <p:sp>
              <p:nvSpPr>
                <p:cNvPr id="131" name="Rectangle 130">
                  <a:extLst>
                    <a:ext uri="{FF2B5EF4-FFF2-40B4-BE49-F238E27FC236}">
                      <a16:creationId xmlns:a16="http://schemas.microsoft.com/office/drawing/2014/main" id="{E3E43471-063B-3945-83B3-5891F87C579B}"/>
                    </a:ext>
                  </a:extLst>
                </p:cNvPr>
                <p:cNvSpPr>
                  <a:spLocks noRot="1" noChangeAspect="1" noMove="1" noResize="1" noEditPoints="1" noAdjustHandles="1" noChangeArrowheads="1" noChangeShapeType="1" noTextEdit="1"/>
                </p:cNvSpPr>
                <p:nvPr/>
              </p:nvSpPr>
              <p:spPr>
                <a:xfrm>
                  <a:off x="3565425" y="3507830"/>
                  <a:ext cx="1177758" cy="554254"/>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D3965C02-22E9-8F4C-8612-961A68091194}"/>
                    </a:ext>
                  </a:extLst>
                </p:cNvPr>
                <p:cNvSpPr/>
                <p:nvPr/>
              </p:nvSpPr>
              <p:spPr>
                <a:xfrm>
                  <a:off x="1602201" y="1454471"/>
                  <a:ext cx="1177758" cy="5524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r>
                          <a:rPr lang="en-US" i="1">
                            <a:solidFill>
                              <a:srgbClr val="FF0000"/>
                            </a:solidFill>
                            <a:latin typeface="Cambria Math" panose="02040503050406030204" pitchFamily="18" charset="0"/>
                          </a:rPr>
                          <m:t>=</m:t>
                        </m:r>
                        <m:d>
                          <m:dPr>
                            <m:ctrlPr>
                              <a:rPr lang="en-US" i="1">
                                <a:solidFill>
                                  <a:srgbClr val="FF0000"/>
                                </a:solidFill>
                                <a:latin typeface="Cambria Math" panose="02040503050406030204" pitchFamily="18" charset="0"/>
                              </a:rPr>
                            </m:ctrlPr>
                          </m:dPr>
                          <m:e>
                            <m:m>
                              <m:mPr>
                                <m:mcs>
                                  <m:mc>
                                    <m:mcPr>
                                      <m:count m:val="1"/>
                                      <m:mcJc m:val="center"/>
                                    </m:mcPr>
                                  </m:mc>
                                </m:mcs>
                                <m:ctrlPr>
                                  <a:rPr lang="en-US" i="1">
                                    <a:solidFill>
                                      <a:srgbClr val="FF0000"/>
                                    </a:solidFill>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0</m:t>
                                  </m:r>
                                </m:e>
                              </m:mr>
                              <m:mr>
                                <m:e>
                                  <m:r>
                                    <a:rPr lang="en-US" b="0" i="1" smtClean="0">
                                      <a:solidFill>
                                        <a:srgbClr val="FF0000"/>
                                      </a:solidFill>
                                      <a:latin typeface="Cambria Math" panose="02040503050406030204" pitchFamily="18" charset="0"/>
                                    </a:rPr>
                                    <m:t>1</m:t>
                                  </m:r>
                                </m:e>
                              </m:mr>
                            </m:m>
                          </m:e>
                        </m:d>
                      </m:oMath>
                    </m:oMathPara>
                  </a14:m>
                  <a:endParaRPr lang="en-US" dirty="0"/>
                </a:p>
              </p:txBody>
            </p:sp>
          </mc:Choice>
          <mc:Fallback xmlns="">
            <p:sp>
              <p:nvSpPr>
                <p:cNvPr id="132" name="Rectangle 131">
                  <a:extLst>
                    <a:ext uri="{FF2B5EF4-FFF2-40B4-BE49-F238E27FC236}">
                      <a16:creationId xmlns:a16="http://schemas.microsoft.com/office/drawing/2014/main" id="{D3965C02-22E9-8F4C-8612-961A68091194}"/>
                    </a:ext>
                  </a:extLst>
                </p:cNvPr>
                <p:cNvSpPr>
                  <a:spLocks noRot="1" noChangeAspect="1" noMove="1" noResize="1" noEditPoints="1" noAdjustHandles="1" noChangeArrowheads="1" noChangeShapeType="1" noTextEdit="1"/>
                </p:cNvSpPr>
                <p:nvPr/>
              </p:nvSpPr>
              <p:spPr>
                <a:xfrm>
                  <a:off x="1602201" y="1454471"/>
                  <a:ext cx="1177758" cy="552459"/>
                </a:xfrm>
                <a:prstGeom prst="rect">
                  <a:avLst/>
                </a:prstGeom>
                <a:blipFill>
                  <a:blip r:embed="rId6"/>
                  <a:stretch>
                    <a:fillRect b="-4545"/>
                  </a:stretch>
                </a:blipFill>
              </p:spPr>
              <p:txBody>
                <a:bodyPr/>
                <a:lstStyle/>
                <a:p>
                  <a:r>
                    <a:rPr lang="en-US">
                      <a:noFill/>
                    </a:rPr>
                    <a:t> </a:t>
                  </a:r>
                </a:p>
              </p:txBody>
            </p:sp>
          </mc:Fallback>
        </mc:AlternateContent>
        <p:cxnSp>
          <p:nvCxnSpPr>
            <p:cNvPr id="136" name="Straight Arrow Connector 135">
              <a:extLst>
                <a:ext uri="{FF2B5EF4-FFF2-40B4-BE49-F238E27FC236}">
                  <a16:creationId xmlns:a16="http://schemas.microsoft.com/office/drawing/2014/main" id="{1F04FCB2-B78B-1C44-AA92-D995AFAF4941}"/>
                </a:ext>
              </a:extLst>
            </p:cNvPr>
            <p:cNvCxnSpPr>
              <a:cxnSpLocks/>
            </p:cNvCxnSpPr>
            <p:nvPr/>
          </p:nvCxnSpPr>
          <p:spPr>
            <a:xfrm>
              <a:off x="1517251" y="4110424"/>
              <a:ext cx="2358471"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D41212A-A8EF-374F-9F00-F71381F8101D}"/>
                </a:ext>
              </a:extLst>
            </p:cNvPr>
            <p:cNvCxnSpPr>
              <a:cxnSpLocks/>
            </p:cNvCxnSpPr>
            <p:nvPr/>
          </p:nvCxnSpPr>
          <p:spPr>
            <a:xfrm flipV="1">
              <a:off x="1518228" y="1758043"/>
              <a:ext cx="3053" cy="2373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a:off x="3391004" y="2705145"/>
            <a:ext cx="0" cy="1403029"/>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4228615" y="3924435"/>
                <a:ext cx="3679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4228615" y="3924435"/>
                <a:ext cx="36798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1118339" y="1100363"/>
                <a:ext cx="3713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1118339" y="1100363"/>
                <a:ext cx="371384" cy="369332"/>
              </a:xfrm>
              <a:prstGeom prst="rect">
                <a:avLst/>
              </a:prstGeom>
              <a:blipFill>
                <a:blip r:embed="rId8"/>
                <a:stretch>
                  <a:fillRect b="-666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A39BAF94-D1BC-E849-AECA-7B6DE5880C97}"/>
              </a:ext>
            </a:extLst>
          </p:cNvPr>
          <p:cNvSpPr txBox="1"/>
          <p:nvPr/>
        </p:nvSpPr>
        <p:spPr>
          <a:xfrm>
            <a:off x="1126097" y="4065904"/>
            <a:ext cx="335348" cy="369332"/>
          </a:xfrm>
          <a:prstGeom prst="rect">
            <a:avLst/>
          </a:prstGeom>
          <a:noFill/>
        </p:spPr>
        <p:txBody>
          <a:bodyPr wrap="none" rtlCol="0">
            <a:spAutoFit/>
          </a:bodyPr>
          <a:lstStyle/>
          <a:p>
            <a:r>
              <a:rPr lang="en-US" dirty="0">
                <a:latin typeface="+mj-lt"/>
              </a:rPr>
              <a:t>O</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6106281-560B-454C-A4CE-50447A9E394D}"/>
                  </a:ext>
                </a:extLst>
              </p:cNvPr>
              <p:cNvSpPr/>
              <p:nvPr/>
            </p:nvSpPr>
            <p:spPr>
              <a:xfrm>
                <a:off x="1713064" y="41265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.2</m:t>
                    </m:r>
                  </m:oMath>
                </a14:m>
                <a:endParaRPr lang="en-US" dirty="0">
                  <a:solidFill>
                    <a:schemeClr val="bg1">
                      <a:lumMod val="50000"/>
                    </a:schemeClr>
                  </a:solidFill>
                </a:endParaRPr>
              </a:p>
            </p:txBody>
          </p:sp>
        </mc:Choice>
        <mc:Fallback xmlns="">
          <p:sp>
            <p:nvSpPr>
              <p:cNvPr id="25" name="Rectangle 24">
                <a:extLst>
                  <a:ext uri="{FF2B5EF4-FFF2-40B4-BE49-F238E27FC236}">
                    <a16:creationId xmlns:a16="http://schemas.microsoft.com/office/drawing/2014/main" id="{A6106281-560B-454C-A4CE-50447A9E394D}"/>
                  </a:ext>
                </a:extLst>
              </p:cNvPr>
              <p:cNvSpPr>
                <a:spLocks noRot="1" noChangeAspect="1" noMove="1" noResize="1" noEditPoints="1" noAdjustHandles="1" noChangeArrowheads="1" noChangeShapeType="1" noTextEdit="1"/>
              </p:cNvSpPr>
              <p:nvPr/>
            </p:nvSpPr>
            <p:spPr>
              <a:xfrm>
                <a:off x="1713064" y="4126534"/>
                <a:ext cx="478016" cy="369332"/>
              </a:xfrm>
              <a:prstGeom prst="rect">
                <a:avLst/>
              </a:prstGeom>
              <a:blipFill>
                <a:blip r:embed="rId9"/>
                <a:stretch>
                  <a:fillRect l="-7692" t="-6667" b="-23333"/>
                </a:stretch>
              </a:blipFill>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C4EBF59F-7B53-C74B-968A-49C2876B7595}"/>
              </a:ext>
            </a:extLst>
          </p:cNvPr>
          <p:cNvCxnSpPr>
            <a:cxnSpLocks/>
          </p:cNvCxnSpPr>
          <p:nvPr/>
        </p:nvCxnSpPr>
        <p:spPr>
          <a:xfrm>
            <a:off x="1967684" y="402496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6B7966-D6E3-CC44-862D-FCC740F0D11D}"/>
              </a:ext>
            </a:extLst>
          </p:cNvPr>
          <p:cNvCxnSpPr>
            <a:cxnSpLocks/>
          </p:cNvCxnSpPr>
          <p:nvPr/>
        </p:nvCxnSpPr>
        <p:spPr>
          <a:xfrm>
            <a:off x="2444554" y="402496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6A8015F-42A9-6B4C-8CFC-C4D9F2946E1F}"/>
              </a:ext>
            </a:extLst>
          </p:cNvPr>
          <p:cNvCxnSpPr>
            <a:cxnSpLocks/>
          </p:cNvCxnSpPr>
          <p:nvPr/>
        </p:nvCxnSpPr>
        <p:spPr>
          <a:xfrm>
            <a:off x="2917334" y="402496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3DFAD87-E27F-A04D-89DC-2076BFF1100D}"/>
              </a:ext>
            </a:extLst>
          </p:cNvPr>
          <p:cNvCxnSpPr>
            <a:cxnSpLocks/>
          </p:cNvCxnSpPr>
          <p:nvPr/>
        </p:nvCxnSpPr>
        <p:spPr>
          <a:xfrm>
            <a:off x="3391004" y="402496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5066C48-9BD6-5542-BADA-0ED0F998FC24}"/>
              </a:ext>
            </a:extLst>
          </p:cNvPr>
          <p:cNvCxnSpPr>
            <a:cxnSpLocks/>
          </p:cNvCxnSpPr>
          <p:nvPr/>
        </p:nvCxnSpPr>
        <p:spPr>
          <a:xfrm>
            <a:off x="3863784" y="402496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CDFD50B5-954D-7947-BB5C-CF6B109FD754}"/>
                  </a:ext>
                </a:extLst>
              </p:cNvPr>
              <p:cNvSpPr/>
              <p:nvPr/>
            </p:nvSpPr>
            <p:spPr>
              <a:xfrm>
                <a:off x="2199130" y="41265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.4</m:t>
                    </m:r>
                  </m:oMath>
                </a14:m>
                <a:endParaRPr lang="en-US" dirty="0">
                  <a:solidFill>
                    <a:schemeClr val="bg1">
                      <a:lumMod val="50000"/>
                    </a:schemeClr>
                  </a:solidFill>
                </a:endParaRPr>
              </a:p>
            </p:txBody>
          </p:sp>
        </mc:Choice>
        <mc:Fallback xmlns="">
          <p:sp>
            <p:nvSpPr>
              <p:cNvPr id="76" name="Rectangle 75">
                <a:extLst>
                  <a:ext uri="{FF2B5EF4-FFF2-40B4-BE49-F238E27FC236}">
                    <a16:creationId xmlns:a16="http://schemas.microsoft.com/office/drawing/2014/main" id="{CDFD50B5-954D-7947-BB5C-CF6B109FD754}"/>
                  </a:ext>
                </a:extLst>
              </p:cNvPr>
              <p:cNvSpPr>
                <a:spLocks noRot="1" noChangeAspect="1" noMove="1" noResize="1" noEditPoints="1" noAdjustHandles="1" noChangeArrowheads="1" noChangeShapeType="1" noTextEdit="1"/>
              </p:cNvSpPr>
              <p:nvPr/>
            </p:nvSpPr>
            <p:spPr>
              <a:xfrm>
                <a:off x="2199130" y="4126534"/>
                <a:ext cx="478016" cy="369332"/>
              </a:xfrm>
              <a:prstGeom prst="rect">
                <a:avLst/>
              </a:prstGeom>
              <a:blipFill>
                <a:blip r:embed="rId10"/>
                <a:stretch>
                  <a:fillRect l="-10256"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104CD225-8D0D-AB48-9B5B-33FA85B548C2}"/>
                  </a:ext>
                </a:extLst>
              </p:cNvPr>
              <p:cNvSpPr/>
              <p:nvPr/>
            </p:nvSpPr>
            <p:spPr>
              <a:xfrm>
                <a:off x="2685195" y="41265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.6</m:t>
                    </m:r>
                  </m:oMath>
                </a14:m>
                <a:endParaRPr lang="en-US" dirty="0">
                  <a:solidFill>
                    <a:schemeClr val="bg1">
                      <a:lumMod val="50000"/>
                    </a:schemeClr>
                  </a:solidFill>
                </a:endParaRPr>
              </a:p>
            </p:txBody>
          </p:sp>
        </mc:Choice>
        <mc:Fallback xmlns="">
          <p:sp>
            <p:nvSpPr>
              <p:cNvPr id="77" name="Rectangle 76">
                <a:extLst>
                  <a:ext uri="{FF2B5EF4-FFF2-40B4-BE49-F238E27FC236}">
                    <a16:creationId xmlns:a16="http://schemas.microsoft.com/office/drawing/2014/main" id="{104CD225-8D0D-AB48-9B5B-33FA85B548C2}"/>
                  </a:ext>
                </a:extLst>
              </p:cNvPr>
              <p:cNvSpPr>
                <a:spLocks noRot="1" noChangeAspect="1" noMove="1" noResize="1" noEditPoints="1" noAdjustHandles="1" noChangeArrowheads="1" noChangeShapeType="1" noTextEdit="1"/>
              </p:cNvSpPr>
              <p:nvPr/>
            </p:nvSpPr>
            <p:spPr>
              <a:xfrm>
                <a:off x="2685195" y="4126534"/>
                <a:ext cx="478016" cy="369332"/>
              </a:xfrm>
              <a:prstGeom prst="rect">
                <a:avLst/>
              </a:prstGeom>
              <a:blipFill>
                <a:blip r:embed="rId11"/>
                <a:stretch>
                  <a:fillRect l="-7692"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A0C5D792-6724-5641-A1FC-08A7DC87C6CD}"/>
                  </a:ext>
                </a:extLst>
              </p:cNvPr>
              <p:cNvSpPr/>
              <p:nvPr/>
            </p:nvSpPr>
            <p:spPr>
              <a:xfrm>
                <a:off x="3171260" y="41265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.8</m:t>
                    </m:r>
                  </m:oMath>
                </a14:m>
                <a:endParaRPr lang="en-US" dirty="0">
                  <a:solidFill>
                    <a:schemeClr val="bg1">
                      <a:lumMod val="50000"/>
                    </a:schemeClr>
                  </a:solidFill>
                </a:endParaRPr>
              </a:p>
            </p:txBody>
          </p:sp>
        </mc:Choice>
        <mc:Fallback xmlns="">
          <p:sp>
            <p:nvSpPr>
              <p:cNvPr id="79" name="Rectangle 78">
                <a:extLst>
                  <a:ext uri="{FF2B5EF4-FFF2-40B4-BE49-F238E27FC236}">
                    <a16:creationId xmlns:a16="http://schemas.microsoft.com/office/drawing/2014/main" id="{A0C5D792-6724-5641-A1FC-08A7DC87C6CD}"/>
                  </a:ext>
                </a:extLst>
              </p:cNvPr>
              <p:cNvSpPr>
                <a:spLocks noRot="1" noChangeAspect="1" noMove="1" noResize="1" noEditPoints="1" noAdjustHandles="1" noChangeArrowheads="1" noChangeShapeType="1" noTextEdit="1"/>
              </p:cNvSpPr>
              <p:nvPr/>
            </p:nvSpPr>
            <p:spPr>
              <a:xfrm>
                <a:off x="3171260" y="4126534"/>
                <a:ext cx="478016" cy="369332"/>
              </a:xfrm>
              <a:prstGeom prst="rect">
                <a:avLst/>
              </a:prstGeom>
              <a:blipFill>
                <a:blip r:embed="rId12"/>
                <a:stretch>
                  <a:fillRect l="-10526"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3ED444A6-CA83-D04A-BFDD-501B84776DAF}"/>
                  </a:ext>
                </a:extLst>
              </p:cNvPr>
              <p:cNvSpPr/>
              <p:nvPr/>
            </p:nvSpPr>
            <p:spPr>
              <a:xfrm>
                <a:off x="3775326" y="4105672"/>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1</m:t>
                      </m:r>
                    </m:oMath>
                  </m:oMathPara>
                </a14:m>
                <a:endParaRPr lang="en-US" dirty="0">
                  <a:solidFill>
                    <a:schemeClr val="bg1">
                      <a:lumMod val="50000"/>
                    </a:schemeClr>
                  </a:solidFill>
                </a:endParaRPr>
              </a:p>
            </p:txBody>
          </p:sp>
        </mc:Choice>
        <mc:Fallback xmlns="">
          <p:sp>
            <p:nvSpPr>
              <p:cNvPr id="85" name="Rectangle 84">
                <a:extLst>
                  <a:ext uri="{FF2B5EF4-FFF2-40B4-BE49-F238E27FC236}">
                    <a16:creationId xmlns:a16="http://schemas.microsoft.com/office/drawing/2014/main" id="{3ED444A6-CA83-D04A-BFDD-501B84776DAF}"/>
                  </a:ext>
                </a:extLst>
              </p:cNvPr>
              <p:cNvSpPr>
                <a:spLocks noRot="1" noChangeAspect="1" noMove="1" noResize="1" noEditPoints="1" noAdjustHandles="1" noChangeArrowheads="1" noChangeShapeType="1" noTextEdit="1"/>
              </p:cNvSpPr>
              <p:nvPr/>
            </p:nvSpPr>
            <p:spPr>
              <a:xfrm>
                <a:off x="3775326" y="4105672"/>
                <a:ext cx="365806" cy="369332"/>
              </a:xfrm>
              <a:prstGeom prst="rect">
                <a:avLst/>
              </a:prstGeom>
              <a:blipFill>
                <a:blip r:embed="rId13"/>
                <a:stretch>
                  <a:fillRect/>
                </a:stretch>
              </a:blipFill>
            </p:spPr>
            <p:txBody>
              <a:bodyPr/>
              <a:lstStyle/>
              <a:p>
                <a:r>
                  <a:rPr lang="en-US">
                    <a:noFill/>
                  </a:rPr>
                  <a:t> </a:t>
                </a:r>
              </a:p>
            </p:txBody>
          </p:sp>
        </mc:Fallback>
      </mc:AlternateContent>
      <p:cxnSp>
        <p:nvCxnSpPr>
          <p:cNvPr id="88" name="Straight Connector 87">
            <a:extLst>
              <a:ext uri="{FF2B5EF4-FFF2-40B4-BE49-F238E27FC236}">
                <a16:creationId xmlns:a16="http://schemas.microsoft.com/office/drawing/2014/main" id="{A9674CCE-DF89-2141-880F-B17308A47B73}"/>
              </a:ext>
            </a:extLst>
          </p:cNvPr>
          <p:cNvCxnSpPr>
            <a:cxnSpLocks/>
          </p:cNvCxnSpPr>
          <p:nvPr/>
        </p:nvCxnSpPr>
        <p:spPr>
          <a:xfrm rot="16200000">
            <a:off x="1513617" y="357999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B6A9A0C-1589-E84B-85B6-A183F4C4581A}"/>
              </a:ext>
            </a:extLst>
          </p:cNvPr>
          <p:cNvCxnSpPr>
            <a:cxnSpLocks/>
          </p:cNvCxnSpPr>
          <p:nvPr/>
        </p:nvCxnSpPr>
        <p:spPr>
          <a:xfrm rot="16200000">
            <a:off x="1513617" y="310312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9D62242C-B15B-9D45-AD7E-C0B92B2853AF}"/>
                  </a:ext>
                </a:extLst>
              </p:cNvPr>
              <p:cNvSpPr/>
              <p:nvPr/>
            </p:nvSpPr>
            <p:spPr>
              <a:xfrm>
                <a:off x="981470" y="3500160"/>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.2</m:t>
                    </m:r>
                  </m:oMath>
                </a14:m>
                <a:endParaRPr lang="en-US" dirty="0">
                  <a:solidFill>
                    <a:schemeClr val="bg1">
                      <a:lumMod val="50000"/>
                    </a:schemeClr>
                  </a:solidFill>
                </a:endParaRPr>
              </a:p>
            </p:txBody>
          </p:sp>
        </mc:Choice>
        <mc:Fallback xmlns="">
          <p:sp>
            <p:nvSpPr>
              <p:cNvPr id="93" name="Rectangle 92">
                <a:extLst>
                  <a:ext uri="{FF2B5EF4-FFF2-40B4-BE49-F238E27FC236}">
                    <a16:creationId xmlns:a16="http://schemas.microsoft.com/office/drawing/2014/main" id="{9D62242C-B15B-9D45-AD7E-C0B92B2853AF}"/>
                  </a:ext>
                </a:extLst>
              </p:cNvPr>
              <p:cNvSpPr>
                <a:spLocks noRot="1" noChangeAspect="1" noMove="1" noResize="1" noEditPoints="1" noAdjustHandles="1" noChangeArrowheads="1" noChangeShapeType="1" noTextEdit="1"/>
              </p:cNvSpPr>
              <p:nvPr/>
            </p:nvSpPr>
            <p:spPr>
              <a:xfrm>
                <a:off x="981470" y="3500160"/>
                <a:ext cx="478016" cy="369332"/>
              </a:xfrm>
              <a:prstGeom prst="rect">
                <a:avLst/>
              </a:prstGeom>
              <a:blipFill>
                <a:blip r:embed="rId14"/>
                <a:stretch>
                  <a:fillRect l="-7692" t="-10345" b="-24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77377F85-CD57-1D40-8566-E1C202276D05}"/>
                  </a:ext>
                </a:extLst>
              </p:cNvPr>
              <p:cNvSpPr/>
              <p:nvPr/>
            </p:nvSpPr>
            <p:spPr>
              <a:xfrm>
                <a:off x="972511" y="3011709"/>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.4</m:t>
                    </m:r>
                  </m:oMath>
                </a14:m>
                <a:endParaRPr lang="en-US" dirty="0">
                  <a:solidFill>
                    <a:schemeClr val="bg1">
                      <a:lumMod val="50000"/>
                    </a:schemeClr>
                  </a:solidFill>
                </a:endParaRPr>
              </a:p>
            </p:txBody>
          </p:sp>
        </mc:Choice>
        <mc:Fallback xmlns="">
          <p:sp>
            <p:nvSpPr>
              <p:cNvPr id="94" name="Rectangle 93">
                <a:extLst>
                  <a:ext uri="{FF2B5EF4-FFF2-40B4-BE49-F238E27FC236}">
                    <a16:creationId xmlns:a16="http://schemas.microsoft.com/office/drawing/2014/main" id="{77377F85-CD57-1D40-8566-E1C202276D05}"/>
                  </a:ext>
                </a:extLst>
              </p:cNvPr>
              <p:cNvSpPr>
                <a:spLocks noRot="1" noChangeAspect="1" noMove="1" noResize="1" noEditPoints="1" noAdjustHandles="1" noChangeArrowheads="1" noChangeShapeType="1" noTextEdit="1"/>
              </p:cNvSpPr>
              <p:nvPr/>
            </p:nvSpPr>
            <p:spPr>
              <a:xfrm>
                <a:off x="972511" y="3011709"/>
                <a:ext cx="478016" cy="369332"/>
              </a:xfrm>
              <a:prstGeom prst="rect">
                <a:avLst/>
              </a:prstGeom>
              <a:blipFill>
                <a:blip r:embed="rId15"/>
                <a:stretch>
                  <a:fillRect l="-10526" t="-333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03B92169-0D0F-CF42-AC33-035A1F30A091}"/>
                  </a:ext>
                </a:extLst>
              </p:cNvPr>
              <p:cNvSpPr/>
              <p:nvPr/>
            </p:nvSpPr>
            <p:spPr>
              <a:xfrm>
                <a:off x="963552" y="2523258"/>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.6</m:t>
                    </m:r>
                  </m:oMath>
                </a14:m>
                <a:endParaRPr lang="en-US" dirty="0">
                  <a:solidFill>
                    <a:schemeClr val="bg1">
                      <a:lumMod val="50000"/>
                    </a:schemeClr>
                  </a:solidFill>
                </a:endParaRPr>
              </a:p>
            </p:txBody>
          </p:sp>
        </mc:Choice>
        <mc:Fallback xmlns="">
          <p:sp>
            <p:nvSpPr>
              <p:cNvPr id="95" name="Rectangle 94">
                <a:extLst>
                  <a:ext uri="{FF2B5EF4-FFF2-40B4-BE49-F238E27FC236}">
                    <a16:creationId xmlns:a16="http://schemas.microsoft.com/office/drawing/2014/main" id="{03B92169-0D0F-CF42-AC33-035A1F30A091}"/>
                  </a:ext>
                </a:extLst>
              </p:cNvPr>
              <p:cNvSpPr>
                <a:spLocks noRot="1" noChangeAspect="1" noMove="1" noResize="1" noEditPoints="1" noAdjustHandles="1" noChangeArrowheads="1" noChangeShapeType="1" noTextEdit="1"/>
              </p:cNvSpPr>
              <p:nvPr/>
            </p:nvSpPr>
            <p:spPr>
              <a:xfrm>
                <a:off x="963552" y="2523258"/>
                <a:ext cx="478016" cy="369332"/>
              </a:xfrm>
              <a:prstGeom prst="rect">
                <a:avLst/>
              </a:prstGeom>
              <a:blipFill>
                <a:blip r:embed="rId16"/>
                <a:stretch>
                  <a:fillRect l="-7692"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A8EC5667-5DB4-A447-B8C7-45512B80B2EF}"/>
                  </a:ext>
                </a:extLst>
              </p:cNvPr>
              <p:cNvSpPr/>
              <p:nvPr/>
            </p:nvSpPr>
            <p:spPr>
              <a:xfrm rot="19380000">
                <a:off x="1411182" y="3052774"/>
                <a:ext cx="1803442" cy="359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ad>
                        <m:radPr>
                          <m:degHide m:val="on"/>
                          <m:ctrlPr>
                            <a:rPr lang="en-US" sz="1400" b="0" i="1" smtClean="0">
                              <a:latin typeface="Cambria Math" panose="02040503050406030204" pitchFamily="18" charset="0"/>
                            </a:rPr>
                          </m:ctrlPr>
                        </m:radPr>
                        <m:deg/>
                        <m:e>
                          <m:sSup>
                            <m:sSupPr>
                              <m:ctrlPr>
                                <a:rPr lang="en-US" sz="1400" i="1">
                                  <a:latin typeface="Cambria Math" panose="02040503050406030204" pitchFamily="18" charset="0"/>
                                </a:rPr>
                              </m:ctrlPr>
                            </m:sSupPr>
                            <m:e>
                              <m:r>
                                <a:rPr lang="en-US" sz="1400" b="0" i="1" smtClean="0">
                                  <a:latin typeface="Cambria Math" panose="02040503050406030204" pitchFamily="18" charset="0"/>
                                </a:rPr>
                                <m:t>𝑎</m:t>
                              </m:r>
                            </m:e>
                            <m:sup>
                              <m:r>
                                <a:rPr lang="en-US" sz="1400" b="0" i="1" smtClean="0">
                                  <a:latin typeface="Cambria Math" panose="02040503050406030204" pitchFamily="18" charset="0"/>
                                </a:rPr>
                                <m:t>2</m:t>
                              </m:r>
                            </m:sup>
                          </m:sSup>
                          <m:r>
                            <a:rPr lang="en-US" sz="1400" b="0" i="1" smtClean="0">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𝑏</m:t>
                              </m:r>
                            </m:e>
                            <m:sup>
                              <m:r>
                                <a:rPr lang="en-US" sz="1400" i="1">
                                  <a:latin typeface="Cambria Math" panose="02040503050406030204" pitchFamily="18" charset="0"/>
                                </a:rPr>
                                <m:t>2</m:t>
                              </m:r>
                            </m:sup>
                          </m:sSup>
                        </m:e>
                      </m:rad>
                      <m:r>
                        <a:rPr lang="en-US" sz="1400" b="0" i="1" smtClean="0">
                          <a:latin typeface="Cambria Math" panose="02040503050406030204" pitchFamily="18" charset="0"/>
                        </a:rPr>
                        <m:t>=1</m:t>
                      </m:r>
                    </m:oMath>
                  </m:oMathPara>
                </a14:m>
                <a:endParaRPr lang="en-US" sz="1400" dirty="0"/>
              </a:p>
            </p:txBody>
          </p:sp>
        </mc:Choice>
        <mc:Fallback xmlns="">
          <p:sp>
            <p:nvSpPr>
              <p:cNvPr id="109" name="Rectangle 108">
                <a:extLst>
                  <a:ext uri="{FF2B5EF4-FFF2-40B4-BE49-F238E27FC236}">
                    <a16:creationId xmlns:a16="http://schemas.microsoft.com/office/drawing/2014/main" id="{A8EC5667-5DB4-A447-B8C7-45512B80B2EF}"/>
                  </a:ext>
                </a:extLst>
              </p:cNvPr>
              <p:cNvSpPr>
                <a:spLocks noRot="1" noChangeAspect="1" noMove="1" noResize="1" noEditPoints="1" noAdjustHandles="1" noChangeArrowheads="1" noChangeShapeType="1" noTextEdit="1"/>
              </p:cNvSpPr>
              <p:nvPr/>
            </p:nvSpPr>
            <p:spPr>
              <a:xfrm rot="19380000">
                <a:off x="1411182" y="3052774"/>
                <a:ext cx="1803442" cy="35920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4E12E1D4-2573-254C-A380-145F40E08B63}"/>
                  </a:ext>
                </a:extLst>
              </p:cNvPr>
              <p:cNvSpPr/>
              <p:nvPr/>
            </p:nvSpPr>
            <p:spPr>
              <a:xfrm>
                <a:off x="2304253" y="4760312"/>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10" name="Rectangle 109">
                <a:extLst>
                  <a:ext uri="{FF2B5EF4-FFF2-40B4-BE49-F238E27FC236}">
                    <a16:creationId xmlns:a16="http://schemas.microsoft.com/office/drawing/2014/main" id="{4E12E1D4-2573-254C-A380-145F40E08B63}"/>
                  </a:ext>
                </a:extLst>
              </p:cNvPr>
              <p:cNvSpPr>
                <a:spLocks noRot="1" noChangeAspect="1" noMove="1" noResize="1" noEditPoints="1" noAdjustHandles="1" noChangeArrowheads="1" noChangeShapeType="1" noTextEdit="1"/>
              </p:cNvSpPr>
              <p:nvPr/>
            </p:nvSpPr>
            <p:spPr>
              <a:xfrm>
                <a:off x="2304253" y="4760312"/>
                <a:ext cx="371448" cy="369332"/>
              </a:xfrm>
              <a:prstGeom prst="rect">
                <a:avLst/>
              </a:prstGeom>
              <a:blipFill>
                <a:blip r:embed="rId18"/>
                <a:stretch>
                  <a:fillRect/>
                </a:stretch>
              </a:blipFill>
            </p:spPr>
            <p:txBody>
              <a:bodyPr/>
              <a:lstStyle/>
              <a:p>
                <a:r>
                  <a:rPr lang="en-US">
                    <a:noFill/>
                  </a:rPr>
                  <a:t> </a:t>
                </a:r>
              </a:p>
            </p:txBody>
          </p:sp>
        </mc:Fallback>
      </mc:AlternateContent>
      <p:sp>
        <p:nvSpPr>
          <p:cNvPr id="101" name="Right Brace 100">
            <a:extLst>
              <a:ext uri="{FF2B5EF4-FFF2-40B4-BE49-F238E27FC236}">
                <a16:creationId xmlns:a16="http://schemas.microsoft.com/office/drawing/2014/main" id="{9B0E632B-B593-624C-932F-7ACE91D7B5B4}"/>
              </a:ext>
            </a:extLst>
          </p:cNvPr>
          <p:cNvSpPr/>
          <p:nvPr/>
        </p:nvSpPr>
        <p:spPr>
          <a:xfrm rot="5400000">
            <a:off x="2301033" y="3705208"/>
            <a:ext cx="319190" cy="1860749"/>
          </a:xfrm>
          <a:prstGeom prst="rightBrace">
            <a:avLst>
              <a:gd name="adj1" fmla="val 18118"/>
              <a:gd name="adj2" fmla="val 50000"/>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Right Brace 111">
            <a:extLst>
              <a:ext uri="{FF2B5EF4-FFF2-40B4-BE49-F238E27FC236}">
                <a16:creationId xmlns:a16="http://schemas.microsoft.com/office/drawing/2014/main" id="{F5E80DCB-1810-594B-A316-226295F22001}"/>
              </a:ext>
            </a:extLst>
          </p:cNvPr>
          <p:cNvSpPr/>
          <p:nvPr/>
        </p:nvSpPr>
        <p:spPr>
          <a:xfrm rot="10800000">
            <a:off x="746832" y="2713554"/>
            <a:ext cx="319190" cy="1383265"/>
          </a:xfrm>
          <a:prstGeom prst="rightBrace">
            <a:avLst>
              <a:gd name="adj1" fmla="val 18118"/>
              <a:gd name="adj2" fmla="val 50000"/>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6" name="Straight Connector 115">
            <a:extLst>
              <a:ext uri="{FF2B5EF4-FFF2-40B4-BE49-F238E27FC236}">
                <a16:creationId xmlns:a16="http://schemas.microsoft.com/office/drawing/2014/main" id="{2CDC438D-3657-BA44-87D1-A30B85CE9681}"/>
              </a:ext>
            </a:extLst>
          </p:cNvPr>
          <p:cNvCxnSpPr>
            <a:cxnSpLocks/>
          </p:cNvCxnSpPr>
          <p:nvPr/>
        </p:nvCxnSpPr>
        <p:spPr>
          <a:xfrm rot="16200000">
            <a:off x="1513617" y="2626251"/>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A6DE9CE-EEC2-9D4B-8AC7-7D8EA54ED79E}"/>
              </a:ext>
            </a:extLst>
          </p:cNvPr>
          <p:cNvCxnSpPr>
            <a:cxnSpLocks/>
          </p:cNvCxnSpPr>
          <p:nvPr/>
        </p:nvCxnSpPr>
        <p:spPr>
          <a:xfrm rot="16200000">
            <a:off x="1513617" y="2149382"/>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BE0A980-1494-7A40-9112-62F31AA72874}"/>
              </a:ext>
            </a:extLst>
          </p:cNvPr>
          <p:cNvCxnSpPr>
            <a:cxnSpLocks/>
          </p:cNvCxnSpPr>
          <p:nvPr/>
        </p:nvCxnSpPr>
        <p:spPr>
          <a:xfrm rot="16200000">
            <a:off x="1513617" y="1672512"/>
            <a:ext cx="0" cy="16642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00529BCD-554F-8E4D-86F5-DE96B5B430A9}"/>
                  </a:ext>
                </a:extLst>
              </p:cNvPr>
              <p:cNvSpPr/>
              <p:nvPr/>
            </p:nvSpPr>
            <p:spPr>
              <a:xfrm>
                <a:off x="981470" y="2040948"/>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.8</m:t>
                    </m:r>
                  </m:oMath>
                </a14:m>
                <a:endParaRPr lang="en-US" dirty="0">
                  <a:solidFill>
                    <a:schemeClr val="bg1">
                      <a:lumMod val="50000"/>
                    </a:schemeClr>
                  </a:solidFill>
                </a:endParaRPr>
              </a:p>
            </p:txBody>
          </p:sp>
        </mc:Choice>
        <mc:Fallback xmlns="">
          <p:sp>
            <p:nvSpPr>
              <p:cNvPr id="119" name="Rectangle 118">
                <a:extLst>
                  <a:ext uri="{FF2B5EF4-FFF2-40B4-BE49-F238E27FC236}">
                    <a16:creationId xmlns:a16="http://schemas.microsoft.com/office/drawing/2014/main" id="{00529BCD-554F-8E4D-86F5-DE96B5B430A9}"/>
                  </a:ext>
                </a:extLst>
              </p:cNvPr>
              <p:cNvSpPr>
                <a:spLocks noRot="1" noChangeAspect="1" noMove="1" noResize="1" noEditPoints="1" noAdjustHandles="1" noChangeArrowheads="1" noChangeShapeType="1" noTextEdit="1"/>
              </p:cNvSpPr>
              <p:nvPr/>
            </p:nvSpPr>
            <p:spPr>
              <a:xfrm>
                <a:off x="981470" y="2040948"/>
                <a:ext cx="478016" cy="369332"/>
              </a:xfrm>
              <a:prstGeom prst="rect">
                <a:avLst/>
              </a:prstGeom>
              <a:blipFill>
                <a:blip r:embed="rId19"/>
                <a:stretch>
                  <a:fillRect l="-7692" t="-6667" b="-23333"/>
                </a:stretch>
              </a:blipFill>
            </p:spPr>
            <p:txBody>
              <a:bodyPr/>
              <a:lstStyle/>
              <a:p>
                <a:r>
                  <a:rPr lang="en-US">
                    <a:noFill/>
                  </a:rPr>
                  <a:t> </a:t>
                </a:r>
              </a:p>
            </p:txBody>
          </p:sp>
        </mc:Fallback>
      </mc:AlternateContent>
      <p:sp>
        <p:nvSpPr>
          <p:cNvPr id="120" name="Rectangle 119">
            <a:extLst>
              <a:ext uri="{FF2B5EF4-FFF2-40B4-BE49-F238E27FC236}">
                <a16:creationId xmlns:a16="http://schemas.microsoft.com/office/drawing/2014/main" id="{1D6A688B-13FB-0C43-A485-8672D5D7BEBE}"/>
              </a:ext>
            </a:extLst>
          </p:cNvPr>
          <p:cNvSpPr/>
          <p:nvPr/>
        </p:nvSpPr>
        <p:spPr>
          <a:xfrm>
            <a:off x="1135147" y="1483311"/>
            <a:ext cx="301686" cy="369332"/>
          </a:xfrm>
          <a:prstGeom prst="rect">
            <a:avLst/>
          </a:prstGeom>
        </p:spPr>
        <p:txBody>
          <a:bodyPr wrap="none">
            <a:spAutoFit/>
          </a:bodyPr>
          <a:lstStyle/>
          <a:p>
            <a:r>
              <a:rPr lang="en-US" b="0" dirty="0">
                <a:solidFill>
                  <a:schemeClr val="bg1">
                    <a:lumMod val="50000"/>
                  </a:schemeClr>
                </a:solidFill>
              </a:rPr>
              <a:t>1</a:t>
            </a:r>
            <a:endParaRPr lang="en-US" dirty="0">
              <a:solidFill>
                <a:schemeClr val="bg1">
                  <a:lumMod val="50000"/>
                </a:schemeClr>
              </a:solidFill>
            </a:endParaRPr>
          </a:p>
        </p:txBody>
      </p:sp>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5A52ACB6-6A4F-B04F-B933-64513BF7E3D4}"/>
                  </a:ext>
                </a:extLst>
              </p:cNvPr>
              <p:cNvSpPr/>
              <p:nvPr/>
            </p:nvSpPr>
            <p:spPr>
              <a:xfrm>
                <a:off x="406747" y="3193597"/>
                <a:ext cx="3676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21" name="Rectangle 120">
                <a:extLst>
                  <a:ext uri="{FF2B5EF4-FFF2-40B4-BE49-F238E27FC236}">
                    <a16:creationId xmlns:a16="http://schemas.microsoft.com/office/drawing/2014/main" id="{5A52ACB6-6A4F-B04F-B933-64513BF7E3D4}"/>
                  </a:ext>
                </a:extLst>
              </p:cNvPr>
              <p:cNvSpPr>
                <a:spLocks noRot="1" noChangeAspect="1" noMove="1" noResize="1" noEditPoints="1" noAdjustHandles="1" noChangeArrowheads="1" noChangeShapeType="1" noTextEdit="1"/>
              </p:cNvSpPr>
              <p:nvPr/>
            </p:nvSpPr>
            <p:spPr>
              <a:xfrm>
                <a:off x="406747" y="3193597"/>
                <a:ext cx="367665" cy="369332"/>
              </a:xfrm>
              <a:prstGeom prst="rect">
                <a:avLst/>
              </a:prstGeom>
              <a:blipFill>
                <a:blip r:embed="rId20"/>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1513022" y="2717793"/>
            <a:ext cx="1877982" cy="1390383"/>
          </a:xfrm>
          <a:prstGeom prst="straightConnector1">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98" name="Group 197">
            <a:extLst>
              <a:ext uri="{FF2B5EF4-FFF2-40B4-BE49-F238E27FC236}">
                <a16:creationId xmlns:a16="http://schemas.microsoft.com/office/drawing/2014/main" id="{FB60EE4E-E81E-E14F-9F78-FEE83A23DF0B}"/>
              </a:ext>
            </a:extLst>
          </p:cNvPr>
          <p:cNvGrpSpPr/>
          <p:nvPr/>
        </p:nvGrpSpPr>
        <p:grpSpPr>
          <a:xfrm>
            <a:off x="8175443" y="1467254"/>
            <a:ext cx="3848276" cy="3028612"/>
            <a:chOff x="8371419" y="1469695"/>
            <a:chExt cx="3848276" cy="3028612"/>
          </a:xfrm>
        </p:grpSpPr>
        <mc:AlternateContent xmlns:mc="http://schemas.openxmlformats.org/markup-compatibility/2006" xmlns:a14="http://schemas.microsoft.com/office/drawing/2010/main">
          <mc:Choice Requires="a14">
            <p:sp>
              <p:nvSpPr>
                <p:cNvPr id="139" name="Rectangle 138">
                  <a:extLst>
                    <a:ext uri="{FF2B5EF4-FFF2-40B4-BE49-F238E27FC236}">
                      <a16:creationId xmlns:a16="http://schemas.microsoft.com/office/drawing/2014/main" id="{DFD6A102-4519-3D4E-8233-878511F35AB4}"/>
                    </a:ext>
                  </a:extLst>
                </p:cNvPr>
                <p:cNvSpPr/>
                <p:nvPr/>
              </p:nvSpPr>
              <p:spPr>
                <a:xfrm>
                  <a:off x="9780109" y="4128975"/>
                  <a:ext cx="65569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𝑎</m:t>
                        </m:r>
                        <m:d>
                          <m:dPr>
                            <m:begChr m:val="|"/>
                            <m:endChr m:val="⟩"/>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0</m:t>
                            </m:r>
                          </m:e>
                        </m:d>
                      </m:oMath>
                    </m:oMathPara>
                  </a14:m>
                  <a:endParaRPr lang="en-US" dirty="0">
                    <a:solidFill>
                      <a:srgbClr val="7030A0"/>
                    </a:solidFill>
                  </a:endParaRPr>
                </a:p>
              </p:txBody>
            </p:sp>
          </mc:Choice>
          <mc:Fallback xmlns="">
            <p:sp>
              <p:nvSpPr>
                <p:cNvPr id="139" name="Rectangle 138">
                  <a:extLst>
                    <a:ext uri="{FF2B5EF4-FFF2-40B4-BE49-F238E27FC236}">
                      <a16:creationId xmlns:a16="http://schemas.microsoft.com/office/drawing/2014/main" id="{DFD6A102-4519-3D4E-8233-878511F35AB4}"/>
                    </a:ext>
                  </a:extLst>
                </p:cNvPr>
                <p:cNvSpPr>
                  <a:spLocks noRot="1" noChangeAspect="1" noMove="1" noResize="1" noEditPoints="1" noAdjustHandles="1" noChangeArrowheads="1" noChangeShapeType="1" noTextEdit="1"/>
                </p:cNvSpPr>
                <p:nvPr/>
              </p:nvSpPr>
              <p:spPr>
                <a:xfrm>
                  <a:off x="9780109" y="4128975"/>
                  <a:ext cx="655692" cy="369332"/>
                </a:xfrm>
                <a:prstGeom prst="rect">
                  <a:avLst/>
                </a:prstGeom>
                <a:blipFill>
                  <a:blip r:embed="rId21"/>
                  <a:stretch>
                    <a:fillRect/>
                  </a:stretch>
                </a:blipFill>
              </p:spPr>
              <p:txBody>
                <a:bodyPr/>
                <a:lstStyle/>
                <a:p>
                  <a:r>
                    <a:rPr lang="en-US">
                      <a:noFill/>
                    </a:rPr>
                    <a:t> </a:t>
                  </a:r>
                </a:p>
              </p:txBody>
            </p:sp>
          </mc:Fallback>
        </mc:AlternateContent>
        <p:cxnSp>
          <p:nvCxnSpPr>
            <p:cNvPr id="144" name="Straight Connector 143">
              <a:extLst>
                <a:ext uri="{FF2B5EF4-FFF2-40B4-BE49-F238E27FC236}">
                  <a16:creationId xmlns:a16="http://schemas.microsoft.com/office/drawing/2014/main" id="{3ECB75F6-ED05-3D4B-8DEA-10851240FF71}"/>
                </a:ext>
              </a:extLst>
            </p:cNvPr>
            <p:cNvCxnSpPr>
              <a:cxnSpLocks/>
            </p:cNvCxnSpPr>
            <p:nvPr/>
          </p:nvCxnSpPr>
          <p:spPr>
            <a:xfrm>
              <a:off x="10870738" y="2730875"/>
              <a:ext cx="0" cy="140302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92340AC1-E983-2747-8938-7130676FDEFF}"/>
                </a:ext>
              </a:extLst>
            </p:cNvPr>
            <p:cNvCxnSpPr>
              <a:cxnSpLocks/>
            </p:cNvCxnSpPr>
            <p:nvPr/>
          </p:nvCxnSpPr>
          <p:spPr>
            <a:xfrm flipH="1">
              <a:off x="9000223" y="2736832"/>
              <a:ext cx="1857974" cy="124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6" name="Rectangle 145">
                  <a:extLst>
                    <a:ext uri="{FF2B5EF4-FFF2-40B4-BE49-F238E27FC236}">
                      <a16:creationId xmlns:a16="http://schemas.microsoft.com/office/drawing/2014/main" id="{45779E40-A99B-5A4E-A3A4-31A8B4FED8A6}"/>
                    </a:ext>
                  </a:extLst>
                </p:cNvPr>
                <p:cNvSpPr/>
                <p:nvPr/>
              </p:nvSpPr>
              <p:spPr>
                <a:xfrm>
                  <a:off x="8371419" y="3148513"/>
                  <a:ext cx="65190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𝑏</m:t>
                        </m:r>
                        <m:d>
                          <m:dPr>
                            <m:begChr m:val="|"/>
                            <m:endChr m:val="⟩"/>
                            <m:ctrlPr>
                              <a:rPr lang="en-US"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1</m:t>
                            </m:r>
                          </m:e>
                        </m:d>
                      </m:oMath>
                    </m:oMathPara>
                  </a14:m>
                  <a:endParaRPr lang="en-US" dirty="0">
                    <a:solidFill>
                      <a:srgbClr val="7030A0"/>
                    </a:solidFill>
                  </a:endParaRPr>
                </a:p>
              </p:txBody>
            </p:sp>
          </mc:Choice>
          <mc:Fallback xmlns="">
            <p:sp>
              <p:nvSpPr>
                <p:cNvPr id="146" name="Rectangle 145">
                  <a:extLst>
                    <a:ext uri="{FF2B5EF4-FFF2-40B4-BE49-F238E27FC236}">
                      <a16:creationId xmlns:a16="http://schemas.microsoft.com/office/drawing/2014/main" id="{45779E40-A99B-5A4E-A3A4-31A8B4FED8A6}"/>
                    </a:ext>
                  </a:extLst>
                </p:cNvPr>
                <p:cNvSpPr>
                  <a:spLocks noRot="1" noChangeAspect="1" noMove="1" noResize="1" noEditPoints="1" noAdjustHandles="1" noChangeArrowheads="1" noChangeShapeType="1" noTextEdit="1"/>
                </p:cNvSpPr>
                <p:nvPr/>
              </p:nvSpPr>
              <p:spPr>
                <a:xfrm>
                  <a:off x="8371419" y="3148513"/>
                  <a:ext cx="651909" cy="369332"/>
                </a:xfrm>
                <a:prstGeom prst="rect">
                  <a:avLst/>
                </a:prstGeom>
                <a:blipFill>
                  <a:blip r:embed="rId22"/>
                  <a:stretch>
                    <a:fillRect/>
                  </a:stretch>
                </a:blipFill>
              </p:spPr>
              <p:txBody>
                <a:bodyPr/>
                <a:lstStyle/>
                <a:p>
                  <a:r>
                    <a:rPr lang="en-US">
                      <a:noFill/>
                    </a:rPr>
                    <a:t> </a:t>
                  </a:r>
                </a:p>
              </p:txBody>
            </p:sp>
          </mc:Fallback>
        </mc:AlternateContent>
        <p:cxnSp>
          <p:nvCxnSpPr>
            <p:cNvPr id="147" name="Straight Arrow Connector 146">
              <a:extLst>
                <a:ext uri="{FF2B5EF4-FFF2-40B4-BE49-F238E27FC236}">
                  <a16:creationId xmlns:a16="http://schemas.microsoft.com/office/drawing/2014/main" id="{2D18CFE7-574A-2748-9A2A-22EF39EB4674}"/>
                </a:ext>
              </a:extLst>
            </p:cNvPr>
            <p:cNvCxnSpPr>
              <a:cxnSpLocks/>
            </p:cNvCxnSpPr>
            <p:nvPr/>
          </p:nvCxnSpPr>
          <p:spPr>
            <a:xfrm>
              <a:off x="8984570" y="4128454"/>
              <a:ext cx="1886168"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BDF32EBA-0D43-D14D-8486-76ED6E95CB68}"/>
                </a:ext>
              </a:extLst>
            </p:cNvPr>
            <p:cNvCxnSpPr>
              <a:cxnSpLocks/>
            </p:cNvCxnSpPr>
            <p:nvPr/>
          </p:nvCxnSpPr>
          <p:spPr>
            <a:xfrm flipV="1">
              <a:off x="8993764" y="2730875"/>
              <a:ext cx="0" cy="1409902"/>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Rectangle 151">
                  <a:extLst>
                    <a:ext uri="{FF2B5EF4-FFF2-40B4-BE49-F238E27FC236}">
                      <a16:creationId xmlns:a16="http://schemas.microsoft.com/office/drawing/2014/main" id="{816EBCCF-29B6-4247-92DA-65790ECC495F}"/>
                    </a:ext>
                  </a:extLst>
                </p:cNvPr>
                <p:cNvSpPr/>
                <p:nvPr/>
              </p:nvSpPr>
              <p:spPr>
                <a:xfrm>
                  <a:off x="9980174" y="2298768"/>
                  <a:ext cx="193354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e>
                        </m:d>
                      </m:oMath>
                    </m:oMathPara>
                  </a14:m>
                  <a:endParaRPr lang="en-US" dirty="0">
                    <a:solidFill>
                      <a:schemeClr val="tx1"/>
                    </a:solidFill>
                  </a:endParaRPr>
                </a:p>
              </p:txBody>
            </p:sp>
          </mc:Choice>
          <mc:Fallback xmlns="">
            <p:sp>
              <p:nvSpPr>
                <p:cNvPr id="152" name="Rectangle 151">
                  <a:extLst>
                    <a:ext uri="{FF2B5EF4-FFF2-40B4-BE49-F238E27FC236}">
                      <a16:creationId xmlns:a16="http://schemas.microsoft.com/office/drawing/2014/main" id="{816EBCCF-29B6-4247-92DA-65790ECC495F}"/>
                    </a:ext>
                  </a:extLst>
                </p:cNvPr>
                <p:cNvSpPr>
                  <a:spLocks noRot="1" noChangeAspect="1" noMove="1" noResize="1" noEditPoints="1" noAdjustHandles="1" noChangeArrowheads="1" noChangeShapeType="1" noTextEdit="1"/>
                </p:cNvSpPr>
                <p:nvPr/>
              </p:nvSpPr>
              <p:spPr>
                <a:xfrm>
                  <a:off x="9980174" y="2298768"/>
                  <a:ext cx="1933542" cy="369332"/>
                </a:xfrm>
                <a:prstGeom prst="rect">
                  <a:avLst/>
                </a:prstGeom>
                <a:blipFill>
                  <a:blip r:embed="rId23"/>
                  <a:stretch>
                    <a:fillRect/>
                  </a:stretch>
                </a:blipFill>
              </p:spPr>
              <p:txBody>
                <a:bodyPr/>
                <a:lstStyle/>
                <a:p>
                  <a:r>
                    <a:rPr lang="en-US">
                      <a:noFill/>
                    </a:rPr>
                    <a:t> </a:t>
                  </a:r>
                </a:p>
              </p:txBody>
            </p:sp>
          </mc:Fallback>
        </mc:AlternateContent>
        <p:cxnSp>
          <p:nvCxnSpPr>
            <p:cNvPr id="138" name="Straight Arrow Connector 137">
              <a:extLst>
                <a:ext uri="{FF2B5EF4-FFF2-40B4-BE49-F238E27FC236}">
                  <a16:creationId xmlns:a16="http://schemas.microsoft.com/office/drawing/2014/main" id="{5D186A99-A57B-D945-A50B-F63A37CFE185}"/>
                </a:ext>
              </a:extLst>
            </p:cNvPr>
            <p:cNvCxnSpPr>
              <a:cxnSpLocks/>
            </p:cNvCxnSpPr>
            <p:nvPr/>
          </p:nvCxnSpPr>
          <p:spPr>
            <a:xfrm flipV="1">
              <a:off x="9000223" y="2739268"/>
              <a:ext cx="1877982" cy="1390383"/>
            </a:xfrm>
            <a:prstGeom prst="straightConnector1">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4" name="Rectangle 193">
                  <a:extLst>
                    <a:ext uri="{FF2B5EF4-FFF2-40B4-BE49-F238E27FC236}">
                      <a16:creationId xmlns:a16="http://schemas.microsoft.com/office/drawing/2014/main" id="{E9B6BCC5-8B3D-E24A-9E84-E46BA5F0469F}"/>
                    </a:ext>
                  </a:extLst>
                </p:cNvPr>
                <p:cNvSpPr/>
                <p:nvPr/>
              </p:nvSpPr>
              <p:spPr>
                <a:xfrm>
                  <a:off x="11041937" y="3523054"/>
                  <a:ext cx="1177758" cy="554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0</m:t>
                            </m:r>
                          </m:e>
                        </m:d>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m>
                              <m:mPr>
                                <m:mcs>
                                  <m:mc>
                                    <m:mcPr>
                                      <m:count m:val="1"/>
                                      <m:mcJc m:val="center"/>
                                    </m:mcPr>
                                  </m:mc>
                                </m:mcs>
                                <m:ctrlPr>
                                  <a:rPr lang="en-US" i="1">
                                    <a:solidFill>
                                      <a:srgbClr val="0000FF"/>
                                    </a:solidFill>
                                    <a:latin typeface="Cambria Math" panose="02040503050406030204" pitchFamily="18" charset="0"/>
                                  </a:rPr>
                                </m:ctrlPr>
                              </m:mPr>
                              <m:mr>
                                <m:e>
                                  <m:r>
                                    <m:rPr>
                                      <m:brk m:alnAt="7"/>
                                    </m:rPr>
                                    <a:rPr lang="en-US" b="0" i="1" smtClean="0">
                                      <a:solidFill>
                                        <a:srgbClr val="0000FF"/>
                                      </a:solidFill>
                                      <a:latin typeface="Cambria Math" panose="02040503050406030204" pitchFamily="18" charset="0"/>
                                    </a:rPr>
                                    <m:t>1</m:t>
                                  </m:r>
                                </m:e>
                              </m:mr>
                              <m:mr>
                                <m:e>
                                  <m:r>
                                    <a:rPr lang="en-US" b="0" i="1" smtClean="0">
                                      <a:solidFill>
                                        <a:srgbClr val="0000FF"/>
                                      </a:solidFill>
                                      <a:latin typeface="Cambria Math" panose="02040503050406030204" pitchFamily="18" charset="0"/>
                                    </a:rPr>
                                    <m:t>0</m:t>
                                  </m:r>
                                </m:e>
                              </m:mr>
                            </m:m>
                          </m:e>
                        </m:d>
                      </m:oMath>
                    </m:oMathPara>
                  </a14:m>
                  <a:endParaRPr lang="en-US" dirty="0"/>
                </a:p>
              </p:txBody>
            </p:sp>
          </mc:Choice>
          <mc:Fallback xmlns="">
            <p:sp>
              <p:nvSpPr>
                <p:cNvPr id="194" name="Rectangle 193">
                  <a:extLst>
                    <a:ext uri="{FF2B5EF4-FFF2-40B4-BE49-F238E27FC236}">
                      <a16:creationId xmlns:a16="http://schemas.microsoft.com/office/drawing/2014/main" id="{E9B6BCC5-8B3D-E24A-9E84-E46BA5F0469F}"/>
                    </a:ext>
                  </a:extLst>
                </p:cNvPr>
                <p:cNvSpPr>
                  <a:spLocks noRot="1" noChangeAspect="1" noMove="1" noResize="1" noEditPoints="1" noAdjustHandles="1" noChangeArrowheads="1" noChangeShapeType="1" noTextEdit="1"/>
                </p:cNvSpPr>
                <p:nvPr/>
              </p:nvSpPr>
              <p:spPr>
                <a:xfrm>
                  <a:off x="11041937" y="3523054"/>
                  <a:ext cx="1177758" cy="554254"/>
                </a:xfrm>
                <a:prstGeom prst="rect">
                  <a:avLst/>
                </a:prstGeom>
                <a:blipFill>
                  <a:blip r:embed="rId24"/>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5" name="Rectangle 194">
                  <a:extLst>
                    <a:ext uri="{FF2B5EF4-FFF2-40B4-BE49-F238E27FC236}">
                      <a16:creationId xmlns:a16="http://schemas.microsoft.com/office/drawing/2014/main" id="{61C633EB-A046-C743-87A3-850D88088B27}"/>
                    </a:ext>
                  </a:extLst>
                </p:cNvPr>
                <p:cNvSpPr/>
                <p:nvPr/>
              </p:nvSpPr>
              <p:spPr>
                <a:xfrm>
                  <a:off x="9078713" y="1469695"/>
                  <a:ext cx="1177758" cy="5524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r>
                          <a:rPr lang="en-US" i="1">
                            <a:solidFill>
                              <a:srgbClr val="FF0000"/>
                            </a:solidFill>
                            <a:latin typeface="Cambria Math" panose="02040503050406030204" pitchFamily="18" charset="0"/>
                          </a:rPr>
                          <m:t>=</m:t>
                        </m:r>
                        <m:d>
                          <m:dPr>
                            <m:ctrlPr>
                              <a:rPr lang="en-US" i="1">
                                <a:solidFill>
                                  <a:srgbClr val="FF0000"/>
                                </a:solidFill>
                                <a:latin typeface="Cambria Math" panose="02040503050406030204" pitchFamily="18" charset="0"/>
                              </a:rPr>
                            </m:ctrlPr>
                          </m:dPr>
                          <m:e>
                            <m:m>
                              <m:mPr>
                                <m:mcs>
                                  <m:mc>
                                    <m:mcPr>
                                      <m:count m:val="1"/>
                                      <m:mcJc m:val="center"/>
                                    </m:mcPr>
                                  </m:mc>
                                </m:mcs>
                                <m:ctrlPr>
                                  <a:rPr lang="en-US" i="1">
                                    <a:solidFill>
                                      <a:srgbClr val="FF0000"/>
                                    </a:solidFill>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0</m:t>
                                  </m:r>
                                </m:e>
                              </m:mr>
                              <m:mr>
                                <m:e>
                                  <m:r>
                                    <a:rPr lang="en-US" b="0" i="1" smtClean="0">
                                      <a:solidFill>
                                        <a:srgbClr val="FF0000"/>
                                      </a:solidFill>
                                      <a:latin typeface="Cambria Math" panose="02040503050406030204" pitchFamily="18" charset="0"/>
                                    </a:rPr>
                                    <m:t>1</m:t>
                                  </m:r>
                                </m:e>
                              </m:mr>
                            </m:m>
                          </m:e>
                        </m:d>
                      </m:oMath>
                    </m:oMathPara>
                  </a14:m>
                  <a:endParaRPr lang="en-US" dirty="0"/>
                </a:p>
              </p:txBody>
            </p:sp>
          </mc:Choice>
          <mc:Fallback xmlns="">
            <p:sp>
              <p:nvSpPr>
                <p:cNvPr id="195" name="Rectangle 194">
                  <a:extLst>
                    <a:ext uri="{FF2B5EF4-FFF2-40B4-BE49-F238E27FC236}">
                      <a16:creationId xmlns:a16="http://schemas.microsoft.com/office/drawing/2014/main" id="{61C633EB-A046-C743-87A3-850D88088B27}"/>
                    </a:ext>
                  </a:extLst>
                </p:cNvPr>
                <p:cNvSpPr>
                  <a:spLocks noRot="1" noChangeAspect="1" noMove="1" noResize="1" noEditPoints="1" noAdjustHandles="1" noChangeArrowheads="1" noChangeShapeType="1" noTextEdit="1"/>
                </p:cNvSpPr>
                <p:nvPr/>
              </p:nvSpPr>
              <p:spPr>
                <a:xfrm>
                  <a:off x="9078713" y="1469695"/>
                  <a:ext cx="1177758" cy="552459"/>
                </a:xfrm>
                <a:prstGeom prst="rect">
                  <a:avLst/>
                </a:prstGeom>
                <a:blipFill>
                  <a:blip r:embed="rId25"/>
                  <a:stretch>
                    <a:fillRect b="-4545"/>
                  </a:stretch>
                </a:blipFill>
              </p:spPr>
              <p:txBody>
                <a:bodyPr/>
                <a:lstStyle/>
                <a:p>
                  <a:r>
                    <a:rPr lang="en-US">
                      <a:noFill/>
                    </a:rPr>
                    <a:t> </a:t>
                  </a:r>
                </a:p>
              </p:txBody>
            </p:sp>
          </mc:Fallback>
        </mc:AlternateContent>
        <p:cxnSp>
          <p:nvCxnSpPr>
            <p:cNvPr id="196" name="Straight Arrow Connector 195">
              <a:extLst>
                <a:ext uri="{FF2B5EF4-FFF2-40B4-BE49-F238E27FC236}">
                  <a16:creationId xmlns:a16="http://schemas.microsoft.com/office/drawing/2014/main" id="{42E46EA4-4D0E-7C4A-94F7-7163C98F30D5}"/>
                </a:ext>
              </a:extLst>
            </p:cNvPr>
            <p:cNvCxnSpPr>
              <a:cxnSpLocks/>
            </p:cNvCxnSpPr>
            <p:nvPr/>
          </p:nvCxnSpPr>
          <p:spPr>
            <a:xfrm>
              <a:off x="8993763" y="4125648"/>
              <a:ext cx="2358471"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15A94D9F-C2AB-DA4D-9481-676B1EB35691}"/>
                </a:ext>
              </a:extLst>
            </p:cNvPr>
            <p:cNvCxnSpPr>
              <a:cxnSpLocks/>
            </p:cNvCxnSpPr>
            <p:nvPr/>
          </p:nvCxnSpPr>
          <p:spPr>
            <a:xfrm flipV="1">
              <a:off x="8994740" y="1773267"/>
              <a:ext cx="3053" cy="2373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7C2FB0-6116-0E49-B7D2-56E3842D9AEB}"/>
                  </a:ext>
                </a:extLst>
              </p:cNvPr>
              <p:cNvSpPr txBox="1"/>
              <p:nvPr/>
            </p:nvSpPr>
            <p:spPr>
              <a:xfrm>
                <a:off x="3350634" y="2526296"/>
                <a:ext cx="7804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m:oMathPara>
                </a14:m>
                <a:endParaRPr lang="en-US" dirty="0"/>
              </a:p>
            </p:txBody>
          </p:sp>
        </mc:Choice>
        <mc:Fallback xmlns="">
          <p:sp>
            <p:nvSpPr>
              <p:cNvPr id="4" name="TextBox 3">
                <a:extLst>
                  <a:ext uri="{FF2B5EF4-FFF2-40B4-BE49-F238E27FC236}">
                    <a16:creationId xmlns:a16="http://schemas.microsoft.com/office/drawing/2014/main" id="{197C2FB0-6116-0E49-B7D2-56E3842D9AEB}"/>
                  </a:ext>
                </a:extLst>
              </p:cNvPr>
              <p:cNvSpPr txBox="1">
                <a:spLocks noRot="1" noChangeAspect="1" noMove="1" noResize="1" noEditPoints="1" noAdjustHandles="1" noChangeArrowheads="1" noChangeShapeType="1" noTextEdit="1"/>
              </p:cNvSpPr>
              <p:nvPr/>
            </p:nvSpPr>
            <p:spPr>
              <a:xfrm>
                <a:off x="3350634" y="2526296"/>
                <a:ext cx="780470" cy="369332"/>
              </a:xfrm>
              <a:prstGeom prst="rect">
                <a:avLst/>
              </a:prstGeom>
              <a:blipFill>
                <a:blip r:embed="rId2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5133BA-F78D-6141-85AC-A16935B18833}"/>
                  </a:ext>
                </a:extLst>
              </p:cNvPr>
              <p:cNvSpPr txBox="1"/>
              <p:nvPr/>
            </p:nvSpPr>
            <p:spPr>
              <a:xfrm>
                <a:off x="2378748" y="3371029"/>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b="1" dirty="0"/>
              </a:p>
            </p:txBody>
          </p:sp>
        </mc:Choice>
        <mc:Fallback xmlns="">
          <p:sp>
            <p:nvSpPr>
              <p:cNvPr id="5" name="TextBox 4">
                <a:extLst>
                  <a:ext uri="{FF2B5EF4-FFF2-40B4-BE49-F238E27FC236}">
                    <a16:creationId xmlns:a16="http://schemas.microsoft.com/office/drawing/2014/main" id="{045133BA-F78D-6141-85AC-A16935B18833}"/>
                  </a:ext>
                </a:extLst>
              </p:cNvPr>
              <p:cNvSpPr txBox="1">
                <a:spLocks noRot="1" noChangeAspect="1" noMove="1" noResize="1" noEditPoints="1" noAdjustHandles="1" noChangeArrowheads="1" noChangeShapeType="1" noTextEdit="1"/>
              </p:cNvSpPr>
              <p:nvPr/>
            </p:nvSpPr>
            <p:spPr>
              <a:xfrm>
                <a:off x="2378748" y="3371029"/>
                <a:ext cx="370614"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6A4DB5-CBE5-E946-98AC-E42713502ECD}"/>
                  </a:ext>
                </a:extLst>
              </p:cNvPr>
              <p:cNvSpPr txBox="1"/>
              <p:nvPr/>
            </p:nvSpPr>
            <p:spPr>
              <a:xfrm>
                <a:off x="1815032" y="5833991"/>
                <a:ext cx="5003511" cy="923330"/>
              </a:xfrm>
              <a:prstGeom prst="rect">
                <a:avLst/>
              </a:prstGeom>
              <a:noFill/>
            </p:spPr>
            <p:txBody>
              <a:bodyPr wrap="square" rtlCol="0">
                <a:spAutoFit/>
              </a:bodyPr>
              <a:lstStyle/>
              <a:p>
                <a:pPr algn="just"/>
                <a:r>
                  <a:rPr lang="en-ZA" dirty="0"/>
                  <a:t>For real coefficients </a:t>
                </a:r>
                <a14:m>
                  <m:oMath xmlns:m="http://schemas.openxmlformats.org/officeDocument/2006/math">
                    <m:r>
                      <a:rPr lang="en-US" i="1">
                        <a:latin typeface="Cambria Math" panose="02040503050406030204" pitchFamily="18" charset="0"/>
                      </a:rPr>
                      <m:t>𝑎</m:t>
                    </m:r>
                  </m:oMath>
                </a14:m>
                <a:r>
                  <a:rPr lang="en-ZA" dirty="0"/>
                  <a:t> and </a:t>
                </a:r>
                <a14:m>
                  <m:oMath xmlns:m="http://schemas.openxmlformats.org/officeDocument/2006/math">
                    <m:r>
                      <a:rPr lang="en-US" b="0" i="1" smtClean="0">
                        <a:latin typeface="Cambria Math" panose="02040503050406030204" pitchFamily="18" charset="0"/>
                      </a:rPr>
                      <m:t>𝑏</m:t>
                    </m:r>
                  </m:oMath>
                </a14:m>
                <a:r>
                  <a:rPr lang="en-ZA" dirty="0"/>
                  <a:t>, valid normalized qubit states lie on the unit circle, while the vector space extends across the entire plane.</a:t>
                </a:r>
                <a:endParaRPr lang="en-US" dirty="0"/>
              </a:p>
            </p:txBody>
          </p:sp>
        </mc:Choice>
        <mc:Fallback xmlns="">
          <p:sp>
            <p:nvSpPr>
              <p:cNvPr id="7" name="TextBox 6">
                <a:extLst>
                  <a:ext uri="{FF2B5EF4-FFF2-40B4-BE49-F238E27FC236}">
                    <a16:creationId xmlns:a16="http://schemas.microsoft.com/office/drawing/2014/main" id="{6D6A4DB5-CBE5-E946-98AC-E42713502ECD}"/>
                  </a:ext>
                </a:extLst>
              </p:cNvPr>
              <p:cNvSpPr txBox="1">
                <a:spLocks noRot="1" noChangeAspect="1" noMove="1" noResize="1" noEditPoints="1" noAdjustHandles="1" noChangeArrowheads="1" noChangeShapeType="1" noTextEdit="1"/>
              </p:cNvSpPr>
              <p:nvPr/>
            </p:nvSpPr>
            <p:spPr>
              <a:xfrm>
                <a:off x="1815032" y="5833991"/>
                <a:ext cx="5003511" cy="923330"/>
              </a:xfrm>
              <a:prstGeom prst="rect">
                <a:avLst/>
              </a:prstGeom>
              <a:blipFill>
                <a:blip r:embed="rId28"/>
                <a:stretch>
                  <a:fillRect l="-1013" t="-1351" r="-759" b="-9459"/>
                </a:stretch>
              </a:blipFill>
            </p:spPr>
            <p:txBody>
              <a:bodyPr/>
              <a:lstStyle/>
              <a:p>
                <a:r>
                  <a:rPr lang="en-US">
                    <a:noFill/>
                  </a:rPr>
                  <a:t> </a:t>
                </a:r>
              </a:p>
            </p:txBody>
          </p:sp>
        </mc:Fallback>
      </mc:AlternateContent>
    </p:spTree>
    <p:extLst>
      <p:ext uri="{BB962C8B-B14F-4D97-AF65-F5344CB8AC3E}">
        <p14:creationId xmlns:p14="http://schemas.microsoft.com/office/powerpoint/2010/main" val="64866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dissolve">
                                      <p:cBhvr>
                                        <p:cTn id="12" dur="500"/>
                                        <p:tgtEl>
                                          <p:spTgt spid="10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8"/>
                                        </p:tgtEl>
                                        <p:attrNameLst>
                                          <p:attrName>style.visibility</p:attrName>
                                        </p:attrNameLst>
                                      </p:cBhvr>
                                      <p:to>
                                        <p:strVal val="visible"/>
                                      </p:to>
                                    </p:set>
                                    <p:animEffect transition="in" filter="dissolve">
                                      <p:cBhvr>
                                        <p:cTn id="17" dur="500"/>
                                        <p:tgtEl>
                                          <p:spTgt spid="18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8"/>
                                        </p:tgtEl>
                                        <p:attrNameLst>
                                          <p:attrName>style.visibility</p:attrName>
                                        </p:attrNameLst>
                                      </p:cBhvr>
                                      <p:to>
                                        <p:strVal val="visible"/>
                                      </p:to>
                                    </p:set>
                                    <p:animEffect transition="in" filter="dissolve">
                                      <p:cBhvr>
                                        <p:cTn id="22" dur="500"/>
                                        <p:tgtEl>
                                          <p:spTgt spid="19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945B0D-FE8F-4242-A676-8E8DF5A260AB}"/>
              </a:ext>
            </a:extLst>
          </p:cNvPr>
          <p:cNvSpPr>
            <a:spLocks noGrp="1"/>
          </p:cNvSpPr>
          <p:nvPr>
            <p:ph type="sldNum" sz="quarter" idx="12"/>
          </p:nvPr>
        </p:nvSpPr>
        <p:spPr/>
        <p:txBody>
          <a:bodyPr/>
          <a:lstStyle/>
          <a:p>
            <a:fld id="{591A223C-FA10-BC46-A853-03BA373D023C}" type="slidenum">
              <a:rPr lang="en-US" smtClean="0"/>
              <a:t>6</a:t>
            </a:fld>
            <a:endParaRPr lang="en-US"/>
          </a:p>
        </p:txBody>
      </p:sp>
      <p:sp>
        <p:nvSpPr>
          <p:cNvPr id="3" name="Title 2">
            <a:extLst>
              <a:ext uri="{FF2B5EF4-FFF2-40B4-BE49-F238E27FC236}">
                <a16:creationId xmlns:a16="http://schemas.microsoft.com/office/drawing/2014/main" id="{7900E889-8309-3D4F-B5BD-1CCDA474CC13}"/>
              </a:ext>
            </a:extLst>
          </p:cNvPr>
          <p:cNvSpPr>
            <a:spLocks noGrp="1"/>
          </p:cNvSpPr>
          <p:nvPr>
            <p:ph type="title"/>
          </p:nvPr>
        </p:nvSpPr>
        <p:spPr/>
        <p:txBody>
          <a:bodyPr/>
          <a:lstStyle/>
          <a:p>
            <a:r>
              <a:rPr lang="en-ZA" dirty="0"/>
              <a:t>State Vector Representation of a Qubit</a:t>
            </a:r>
            <a:endParaRPr lang="en-US" dirty="0"/>
          </a:p>
        </p:txBody>
      </p:sp>
      <p:cxnSp>
        <p:nvCxnSpPr>
          <p:cNvPr id="101" name="Straight Connector 100">
            <a:extLst>
              <a:ext uri="{FF2B5EF4-FFF2-40B4-BE49-F238E27FC236}">
                <a16:creationId xmlns:a16="http://schemas.microsoft.com/office/drawing/2014/main" id="{2D0F015B-EE0E-2944-AEAE-256DC7289204}"/>
              </a:ext>
            </a:extLst>
          </p:cNvPr>
          <p:cNvCxnSpPr>
            <a:cxnSpLocks/>
          </p:cNvCxnSpPr>
          <p:nvPr/>
        </p:nvCxnSpPr>
        <p:spPr>
          <a:xfrm>
            <a:off x="4539235" y="4573231"/>
            <a:ext cx="3818462" cy="0"/>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EB55D8B2-9AC5-5F44-9188-9D9C74FB1EF9}"/>
              </a:ext>
            </a:extLst>
          </p:cNvPr>
          <p:cNvSpPr txBox="1"/>
          <p:nvPr/>
        </p:nvSpPr>
        <p:spPr>
          <a:xfrm>
            <a:off x="4539235" y="4681484"/>
            <a:ext cx="421910" cy="523220"/>
          </a:xfrm>
          <a:prstGeom prst="rect">
            <a:avLst/>
          </a:prstGeom>
          <a:noFill/>
        </p:spPr>
        <p:txBody>
          <a:bodyPr wrap="none" rtlCol="0">
            <a:spAutoFit/>
          </a:bodyPr>
          <a:lstStyle/>
          <a:p>
            <a:r>
              <a:rPr lang="en-US" sz="2800" dirty="0"/>
              <a:t>O</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EF6BE31E-24D3-8745-90D1-9DCF20D981C9}"/>
                  </a:ext>
                </a:extLst>
              </p:cNvPr>
              <p:cNvSpPr txBox="1"/>
              <p:nvPr/>
            </p:nvSpPr>
            <p:spPr>
              <a:xfrm>
                <a:off x="7701726" y="4682715"/>
                <a:ext cx="465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104" name="TextBox 103">
                <a:extLst>
                  <a:ext uri="{FF2B5EF4-FFF2-40B4-BE49-F238E27FC236}">
                    <a16:creationId xmlns:a16="http://schemas.microsoft.com/office/drawing/2014/main" id="{EF6BE31E-24D3-8745-90D1-9DCF20D981C9}"/>
                  </a:ext>
                </a:extLst>
              </p:cNvPr>
              <p:cNvSpPr txBox="1">
                <a:spLocks noRot="1" noChangeAspect="1" noMove="1" noResize="1" noEditPoints="1" noAdjustHandles="1" noChangeArrowheads="1" noChangeShapeType="1" noTextEdit="1"/>
              </p:cNvSpPr>
              <p:nvPr/>
            </p:nvSpPr>
            <p:spPr>
              <a:xfrm>
                <a:off x="7701726" y="4682715"/>
                <a:ext cx="46519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58B5C4A-4F9F-8C4C-AE56-1A983C21CDA4}"/>
                  </a:ext>
                </a:extLst>
              </p:cNvPr>
              <p:cNvSpPr txBox="1"/>
              <p:nvPr/>
            </p:nvSpPr>
            <p:spPr>
              <a:xfrm>
                <a:off x="4453454" y="1420978"/>
                <a:ext cx="465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105" name="TextBox 104">
                <a:extLst>
                  <a:ext uri="{FF2B5EF4-FFF2-40B4-BE49-F238E27FC236}">
                    <a16:creationId xmlns:a16="http://schemas.microsoft.com/office/drawing/2014/main" id="{858B5C4A-4F9F-8C4C-AE56-1A983C21CDA4}"/>
                  </a:ext>
                </a:extLst>
              </p:cNvPr>
              <p:cNvSpPr txBox="1">
                <a:spLocks noRot="1" noChangeAspect="1" noMove="1" noResize="1" noEditPoints="1" noAdjustHandles="1" noChangeArrowheads="1" noChangeShapeType="1" noTextEdit="1"/>
              </p:cNvSpPr>
              <p:nvPr/>
            </p:nvSpPr>
            <p:spPr>
              <a:xfrm>
                <a:off x="4453454" y="1420978"/>
                <a:ext cx="465191" cy="523220"/>
              </a:xfrm>
              <a:prstGeom prst="rect">
                <a:avLst/>
              </a:prstGeom>
              <a:blipFill>
                <a:blip r:embed="rId4"/>
                <a:stretch>
                  <a:fillRect/>
                </a:stretch>
              </a:blipFill>
            </p:spPr>
            <p:txBody>
              <a:bodyPr/>
              <a:lstStyle/>
              <a:p>
                <a:r>
                  <a:rPr lang="en-US">
                    <a:noFill/>
                  </a:rPr>
                  <a:t> </a:t>
                </a:r>
              </a:p>
            </p:txBody>
          </p:sp>
        </mc:Fallback>
      </mc:AlternateContent>
      <p:sp>
        <p:nvSpPr>
          <p:cNvPr id="4" name="Arc 3">
            <a:extLst>
              <a:ext uri="{FF2B5EF4-FFF2-40B4-BE49-F238E27FC236}">
                <a16:creationId xmlns:a16="http://schemas.microsoft.com/office/drawing/2014/main" id="{FF803915-DD69-A845-9603-FADBA4ABE6F5}"/>
              </a:ext>
            </a:extLst>
          </p:cNvPr>
          <p:cNvSpPr/>
          <p:nvPr/>
        </p:nvSpPr>
        <p:spPr>
          <a:xfrm>
            <a:off x="2261145" y="1873231"/>
            <a:ext cx="5400000" cy="5400000"/>
          </a:xfrm>
          <a:prstGeom prst="arc">
            <a:avLst>
              <a:gd name="adj1" fmla="val 14207560"/>
              <a:gd name="adj2" fmla="val 184302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51DD3A8B-42BB-5945-A9B3-245D19147386}"/>
              </a:ext>
            </a:extLst>
          </p:cNvPr>
          <p:cNvCxnSpPr>
            <a:cxnSpLocks/>
          </p:cNvCxnSpPr>
          <p:nvPr/>
        </p:nvCxnSpPr>
        <p:spPr>
          <a:xfrm flipV="1">
            <a:off x="4918645" y="1153231"/>
            <a:ext cx="0" cy="4051473"/>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B1457BC-3B36-DA42-92A0-1F016C99CE8F}"/>
              </a:ext>
            </a:extLst>
          </p:cNvPr>
          <p:cNvCxnSpPr>
            <a:cxnSpLocks/>
          </p:cNvCxnSpPr>
          <p:nvPr/>
        </p:nvCxnSpPr>
        <p:spPr>
          <a:xfrm>
            <a:off x="6730065" y="2548643"/>
            <a:ext cx="0" cy="198360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E9778A2-1379-224C-B288-8B311D5CE20F}"/>
              </a:ext>
            </a:extLst>
          </p:cNvPr>
          <p:cNvCxnSpPr>
            <a:cxnSpLocks/>
          </p:cNvCxnSpPr>
          <p:nvPr/>
        </p:nvCxnSpPr>
        <p:spPr>
          <a:xfrm flipH="1">
            <a:off x="5003646" y="2516213"/>
            <a:ext cx="172394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47206A62-9AF2-E947-B4C8-14B9EE709DDB}"/>
              </a:ext>
            </a:extLst>
          </p:cNvPr>
          <p:cNvGrpSpPr/>
          <p:nvPr/>
        </p:nvGrpSpPr>
        <p:grpSpPr>
          <a:xfrm>
            <a:off x="2734881" y="2213470"/>
            <a:ext cx="6185687" cy="4470766"/>
            <a:chOff x="2734881" y="2213470"/>
            <a:chExt cx="6185687" cy="4470766"/>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E303858-E2AE-8E4C-864E-0999F338C130}"/>
                    </a:ext>
                  </a:extLst>
                </p:cNvPr>
                <p:cNvSpPr/>
                <p:nvPr/>
              </p:nvSpPr>
              <p:spPr>
                <a:xfrm>
                  <a:off x="6360315" y="6143351"/>
                  <a:ext cx="25602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m:t>
                            </m:r>
                            <m:r>
                              <a:rPr lang="en-US" sz="2800" b="0" i="1" smtClean="0">
                                <a:latin typeface="Cambria Math" panose="02040503050406030204" pitchFamily="18" charset="0"/>
                              </a:rPr>
                              <m:t>𝑎</m:t>
                            </m:r>
                            <m:r>
                              <a:rPr lang="en-US" sz="2800" b="0" i="1" smtClean="0">
                                <a:latin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r>
                              <a:rPr lang="en-US" sz="2800" b="0" i="1" smtClean="0">
                                <a:latin typeface="Cambria Math" panose="02040503050406030204" pitchFamily="18" charset="0"/>
                              </a:rPr>
                              <m:t>|</m:t>
                            </m:r>
                            <m:r>
                              <a:rPr lang="en-US" sz="2800" b="0" i="1" smtClean="0">
                                <a:latin typeface="Cambria Math" panose="02040503050406030204" pitchFamily="18" charset="0"/>
                              </a:rPr>
                              <m:t>𝑏</m:t>
                            </m:r>
                            <m:r>
                              <a:rPr lang="en-US" sz="2800" b="0" i="1" smtClean="0">
                                <a:latin typeface="Cambria Math" panose="02040503050406030204" pitchFamily="18" charset="0"/>
                              </a:rPr>
                              <m:t>|</m:t>
                            </m:r>
                          </m:e>
                          <m:sup>
                            <m:r>
                              <a:rPr lang="en-US" sz="2800" i="1">
                                <a:latin typeface="Cambria Math" panose="02040503050406030204" pitchFamily="18" charset="0"/>
                              </a:rPr>
                              <m:t>2</m:t>
                            </m:r>
                          </m:sup>
                        </m:sSup>
                        <m:r>
                          <a:rPr lang="en-US" sz="2800" b="0" i="1" smtClean="0">
                            <a:latin typeface="Cambria Math" panose="02040503050406030204" pitchFamily="18" charset="0"/>
                          </a:rPr>
                          <m:t>=1</m:t>
                        </m:r>
                      </m:oMath>
                    </m:oMathPara>
                  </a14:m>
                  <a:endParaRPr lang="en-US" sz="2800" dirty="0"/>
                </a:p>
              </p:txBody>
            </p:sp>
          </mc:Choice>
          <mc:Fallback xmlns="">
            <p:sp>
              <p:nvSpPr>
                <p:cNvPr id="8" name="Rectangle 7">
                  <a:extLst>
                    <a:ext uri="{FF2B5EF4-FFF2-40B4-BE49-F238E27FC236}">
                      <a16:creationId xmlns:a16="http://schemas.microsoft.com/office/drawing/2014/main" id="{6E303858-E2AE-8E4C-864E-0999F338C130}"/>
                    </a:ext>
                  </a:extLst>
                </p:cNvPr>
                <p:cNvSpPr>
                  <a:spLocks noRot="1" noChangeAspect="1" noMove="1" noResize="1" noEditPoints="1" noAdjustHandles="1" noChangeArrowheads="1" noChangeShapeType="1" noTextEdit="1"/>
                </p:cNvSpPr>
                <p:nvPr/>
              </p:nvSpPr>
              <p:spPr>
                <a:xfrm>
                  <a:off x="6360315" y="6143351"/>
                  <a:ext cx="2560253" cy="523220"/>
                </a:xfrm>
                <a:prstGeom prst="rect">
                  <a:avLst/>
                </a:prstGeom>
                <a:blipFill>
                  <a:blip r:embed="rId6"/>
                  <a:stretch>
                    <a:fillRect l="-990" b="-1666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A81A14E-7B9A-3249-BF0E-0DDDFE97BBC2}"/>
                </a:ext>
              </a:extLst>
            </p:cNvPr>
            <p:cNvSpPr txBox="1"/>
            <p:nvPr/>
          </p:nvSpPr>
          <p:spPr>
            <a:xfrm>
              <a:off x="2734881" y="6161016"/>
              <a:ext cx="3694025" cy="523220"/>
            </a:xfrm>
            <a:prstGeom prst="rect">
              <a:avLst/>
            </a:prstGeom>
            <a:noFill/>
          </p:spPr>
          <p:txBody>
            <a:bodyPr wrap="none" rtlCol="0">
              <a:spAutoFit/>
            </a:bodyPr>
            <a:lstStyle/>
            <a:p>
              <a:r>
                <a:rPr lang="en-ZA" sz="2800" dirty="0">
                  <a:latin typeface="+mj-lt"/>
                </a:rPr>
                <a:t>normalization condition:</a:t>
              </a:r>
              <a:endParaRPr lang="en-US" sz="2800" dirty="0">
                <a:latin typeface="+mj-lt"/>
              </a:endParaRPr>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955BCA01-138D-7F48-B3A0-BD7A79997CA0}"/>
                    </a:ext>
                  </a:extLst>
                </p:cNvPr>
                <p:cNvSpPr/>
                <p:nvPr/>
              </p:nvSpPr>
              <p:spPr>
                <a:xfrm rot="18591184">
                  <a:off x="4542007" y="3091114"/>
                  <a:ext cx="22169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𝑏</m:t>
                            </m:r>
                            <m:r>
                              <a:rPr lang="en-US" sz="2400" b="0" i="1" smtClean="0">
                                <a:latin typeface="Cambria Math" panose="02040503050406030204" pitchFamily="18" charset="0"/>
                              </a:rPr>
                              <m:t>|</m:t>
                            </m:r>
                          </m:e>
                          <m:sup>
                            <m:r>
                              <a:rPr lang="en-US" sz="2400" i="1">
                                <a:latin typeface="Cambria Math" panose="02040503050406030204" pitchFamily="18" charset="0"/>
                              </a:rPr>
                              <m:t>2</m:t>
                            </m:r>
                          </m:sup>
                        </m:sSup>
                        <m:r>
                          <a:rPr lang="en-US" sz="2400" b="0" i="1" smtClean="0">
                            <a:latin typeface="Cambria Math" panose="02040503050406030204" pitchFamily="18" charset="0"/>
                          </a:rPr>
                          <m:t>=1</m:t>
                        </m:r>
                      </m:oMath>
                    </m:oMathPara>
                  </a14:m>
                  <a:endParaRPr lang="en-US" sz="2400" dirty="0"/>
                </a:p>
              </p:txBody>
            </p:sp>
          </mc:Choice>
          <mc:Fallback xmlns="">
            <p:sp>
              <p:nvSpPr>
                <p:cNvPr id="49" name="Rectangle 48">
                  <a:extLst>
                    <a:ext uri="{FF2B5EF4-FFF2-40B4-BE49-F238E27FC236}">
                      <a16:creationId xmlns:a16="http://schemas.microsoft.com/office/drawing/2014/main" id="{955BCA01-138D-7F48-B3A0-BD7A79997CA0}"/>
                    </a:ext>
                  </a:extLst>
                </p:cNvPr>
                <p:cNvSpPr>
                  <a:spLocks noRot="1" noChangeAspect="1" noMove="1" noResize="1" noEditPoints="1" noAdjustHandles="1" noChangeArrowheads="1" noChangeShapeType="1" noTextEdit="1"/>
                </p:cNvSpPr>
                <p:nvPr/>
              </p:nvSpPr>
              <p:spPr>
                <a:xfrm rot="18591184">
                  <a:off x="4542007" y="3091114"/>
                  <a:ext cx="2216954" cy="461665"/>
                </a:xfrm>
                <a:prstGeom prst="rect">
                  <a:avLst/>
                </a:prstGeom>
                <a:blipFill>
                  <a:blip r:embed="rId7"/>
                  <a:stretch>
                    <a:fillRect b="-253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6" name="Rectangle 105">
                <a:extLst>
                  <a:ext uri="{FF2B5EF4-FFF2-40B4-BE49-F238E27FC236}">
                    <a16:creationId xmlns:a16="http://schemas.microsoft.com/office/drawing/2014/main" id="{956EB314-1224-854C-993B-9C33A08952DC}"/>
                  </a:ext>
                </a:extLst>
              </p:cNvPr>
              <p:cNvSpPr/>
              <p:nvPr/>
            </p:nvSpPr>
            <p:spPr>
              <a:xfrm>
                <a:off x="4979875" y="1238427"/>
                <a:ext cx="1725922" cy="8079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0</m:t>
                                </m:r>
                              </m:e>
                            </m:mr>
                            <m:mr>
                              <m:e>
                                <m:r>
                                  <a:rPr lang="en-US" sz="2800" b="0" i="1" smtClean="0">
                                    <a:latin typeface="Cambria Math" panose="02040503050406030204" pitchFamily="18" charset="0"/>
                                  </a:rPr>
                                  <m:t>1</m:t>
                                </m:r>
                              </m:e>
                            </m:mr>
                          </m:m>
                        </m:e>
                      </m:d>
                    </m:oMath>
                  </m:oMathPara>
                </a14:m>
                <a:endParaRPr lang="en-US" sz="2800" dirty="0"/>
              </a:p>
            </p:txBody>
          </p:sp>
        </mc:Choice>
        <mc:Fallback xmlns="">
          <p:sp>
            <p:nvSpPr>
              <p:cNvPr id="106" name="Rectangle 105">
                <a:extLst>
                  <a:ext uri="{FF2B5EF4-FFF2-40B4-BE49-F238E27FC236}">
                    <a16:creationId xmlns:a16="http://schemas.microsoft.com/office/drawing/2014/main" id="{956EB314-1224-854C-993B-9C33A08952DC}"/>
                  </a:ext>
                </a:extLst>
              </p:cNvPr>
              <p:cNvSpPr>
                <a:spLocks noRot="1" noChangeAspect="1" noMove="1" noResize="1" noEditPoints="1" noAdjustHandles="1" noChangeArrowheads="1" noChangeShapeType="1" noTextEdit="1"/>
              </p:cNvSpPr>
              <p:nvPr/>
            </p:nvSpPr>
            <p:spPr>
              <a:xfrm>
                <a:off x="4979875" y="1238427"/>
                <a:ext cx="1725922" cy="807978"/>
              </a:xfrm>
              <a:prstGeom prst="rect">
                <a:avLst/>
              </a:prstGeom>
              <a:blipFill>
                <a:blip r:embed="rId8"/>
                <a:stretch>
                  <a:fillRect b="-7813"/>
                </a:stretch>
              </a:blipFill>
            </p:spPr>
            <p:txBody>
              <a:bodyPr/>
              <a:lstStyle/>
              <a:p>
                <a:r>
                  <a:rPr lang="en-US">
                    <a:noFill/>
                  </a:rPr>
                  <a:t> </a:t>
                </a:r>
              </a:p>
            </p:txBody>
          </p:sp>
        </mc:Fallback>
      </mc:AlternateContent>
      <p:cxnSp>
        <p:nvCxnSpPr>
          <p:cNvPr id="108" name="Straight Connector 107">
            <a:extLst>
              <a:ext uri="{FF2B5EF4-FFF2-40B4-BE49-F238E27FC236}">
                <a16:creationId xmlns:a16="http://schemas.microsoft.com/office/drawing/2014/main" id="{ADFC0C11-6EA8-1743-911D-0730C8C9A620}"/>
              </a:ext>
            </a:extLst>
          </p:cNvPr>
          <p:cNvCxnSpPr>
            <a:cxnSpLocks/>
          </p:cNvCxnSpPr>
          <p:nvPr/>
        </p:nvCxnSpPr>
        <p:spPr>
          <a:xfrm>
            <a:off x="4966896" y="4573231"/>
            <a:ext cx="2700000" cy="0"/>
          </a:xfrm>
          <a:prstGeom prst="line">
            <a:avLst/>
          </a:prstGeom>
          <a:ln w="76200" cap="rnd">
            <a:solidFill>
              <a:schemeClr val="accent5">
                <a:lumMod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7FE6C34-5176-FB4E-90C9-E0992E97C314}"/>
              </a:ext>
            </a:extLst>
          </p:cNvPr>
          <p:cNvCxnSpPr>
            <a:cxnSpLocks/>
          </p:cNvCxnSpPr>
          <p:nvPr/>
        </p:nvCxnSpPr>
        <p:spPr>
          <a:xfrm flipH="1" flipV="1">
            <a:off x="4918645" y="1873231"/>
            <a:ext cx="0" cy="2704271"/>
          </a:xfrm>
          <a:prstGeom prst="line">
            <a:avLst/>
          </a:prstGeom>
          <a:ln w="76200" cap="rnd">
            <a:solidFill>
              <a:schemeClr val="accent6">
                <a:lumMod val="75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49728B7F-C6A8-9B4A-919B-312FA21D5792}"/>
                  </a:ext>
                </a:extLst>
              </p:cNvPr>
              <p:cNvSpPr/>
              <p:nvPr/>
            </p:nvSpPr>
            <p:spPr>
              <a:xfrm>
                <a:off x="7661145" y="3787226"/>
                <a:ext cx="1725922" cy="810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r>
                        <a:rPr lang="en-US" sz="2800" b="0" i="1" smtClean="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0</m:t>
                                </m:r>
                              </m:e>
                            </m:mr>
                          </m:m>
                        </m:e>
                      </m:d>
                    </m:oMath>
                  </m:oMathPara>
                </a14:m>
                <a:endParaRPr lang="en-US" sz="2800" dirty="0"/>
              </a:p>
            </p:txBody>
          </p:sp>
        </mc:Choice>
        <mc:Fallback xmlns="">
          <p:sp>
            <p:nvSpPr>
              <p:cNvPr id="110" name="Rectangle 109">
                <a:extLst>
                  <a:ext uri="{FF2B5EF4-FFF2-40B4-BE49-F238E27FC236}">
                    <a16:creationId xmlns:a16="http://schemas.microsoft.com/office/drawing/2014/main" id="{49728B7F-C6A8-9B4A-919B-312FA21D5792}"/>
                  </a:ext>
                </a:extLst>
              </p:cNvPr>
              <p:cNvSpPr>
                <a:spLocks noRot="1" noChangeAspect="1" noMove="1" noResize="1" noEditPoints="1" noAdjustHandles="1" noChangeArrowheads="1" noChangeShapeType="1" noTextEdit="1"/>
              </p:cNvSpPr>
              <p:nvPr/>
            </p:nvSpPr>
            <p:spPr>
              <a:xfrm>
                <a:off x="7661145" y="3787226"/>
                <a:ext cx="1725922" cy="810799"/>
              </a:xfrm>
              <a:prstGeom prst="rect">
                <a:avLst/>
              </a:prstGeom>
              <a:blipFill>
                <a:blip r:embed="rId9"/>
                <a:stretch>
                  <a:fillRect b="-7692"/>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57F97250-C4B0-6E45-A624-9EF05C71EE81}"/>
              </a:ext>
            </a:extLst>
          </p:cNvPr>
          <p:cNvGrpSpPr/>
          <p:nvPr/>
        </p:nvGrpSpPr>
        <p:grpSpPr>
          <a:xfrm>
            <a:off x="4459261" y="1873231"/>
            <a:ext cx="6530592" cy="3162777"/>
            <a:chOff x="4459261" y="1873231"/>
            <a:chExt cx="6530592" cy="3162777"/>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D383150-9FA0-C847-A83B-01BFBC8C66AB}"/>
                    </a:ext>
                  </a:extLst>
                </p:cNvPr>
                <p:cNvSpPr txBox="1"/>
                <p:nvPr/>
              </p:nvSpPr>
              <p:spPr>
                <a:xfrm>
                  <a:off x="5808094" y="4512788"/>
                  <a:ext cx="47557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𝑎</m:t>
                        </m:r>
                      </m:oMath>
                    </m:oMathPara>
                  </a14:m>
                  <a:endParaRPr lang="en-US" sz="2800" dirty="0"/>
                </a:p>
              </p:txBody>
            </p:sp>
          </mc:Choice>
          <mc:Fallback xmlns="">
            <p:sp>
              <p:nvSpPr>
                <p:cNvPr id="42" name="TextBox 41">
                  <a:extLst>
                    <a:ext uri="{FF2B5EF4-FFF2-40B4-BE49-F238E27FC236}">
                      <a16:creationId xmlns:a16="http://schemas.microsoft.com/office/drawing/2014/main" id="{CD383150-9FA0-C847-A83B-01BFBC8C66AB}"/>
                    </a:ext>
                  </a:extLst>
                </p:cNvPr>
                <p:cNvSpPr txBox="1">
                  <a:spLocks noRot="1" noChangeAspect="1" noMove="1" noResize="1" noEditPoints="1" noAdjustHandles="1" noChangeArrowheads="1" noChangeShapeType="1" noTextEdit="1"/>
                </p:cNvSpPr>
                <p:nvPr/>
              </p:nvSpPr>
              <p:spPr>
                <a:xfrm>
                  <a:off x="5808094" y="4512788"/>
                  <a:ext cx="475578"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11EDE9B-2C77-404B-987A-594357ADEFA7}"/>
                    </a:ext>
                  </a:extLst>
                </p:cNvPr>
                <p:cNvSpPr txBox="1"/>
                <p:nvPr/>
              </p:nvSpPr>
              <p:spPr>
                <a:xfrm>
                  <a:off x="4459261" y="3076540"/>
                  <a:ext cx="46826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𝑏</m:t>
                        </m:r>
                      </m:oMath>
                    </m:oMathPara>
                  </a14:m>
                  <a:endParaRPr lang="en-US" sz="2800" dirty="0"/>
                </a:p>
              </p:txBody>
            </p:sp>
          </mc:Choice>
          <mc:Fallback xmlns="">
            <p:sp>
              <p:nvSpPr>
                <p:cNvPr id="43" name="TextBox 42">
                  <a:extLst>
                    <a:ext uri="{FF2B5EF4-FFF2-40B4-BE49-F238E27FC236}">
                      <a16:creationId xmlns:a16="http://schemas.microsoft.com/office/drawing/2014/main" id="{F11EDE9B-2C77-404B-987A-594357ADEFA7}"/>
                    </a:ext>
                  </a:extLst>
                </p:cNvPr>
                <p:cNvSpPr txBox="1">
                  <a:spLocks noRot="1" noChangeAspect="1" noMove="1" noResize="1" noEditPoints="1" noAdjustHandles="1" noChangeArrowheads="1" noChangeShapeType="1" noTextEdit="1"/>
                </p:cNvSpPr>
                <p:nvPr/>
              </p:nvSpPr>
              <p:spPr>
                <a:xfrm>
                  <a:off x="4459261" y="3076540"/>
                  <a:ext cx="468269" cy="523220"/>
                </a:xfrm>
                <a:prstGeom prst="rect">
                  <a:avLst/>
                </a:prstGeom>
                <a:blipFill>
                  <a:blip r:embed="rId11"/>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0F16CD81-5BB2-5247-8956-FCD169DDAF1E}"/>
                </a:ext>
              </a:extLst>
            </p:cNvPr>
            <p:cNvGrpSpPr/>
            <p:nvPr/>
          </p:nvGrpSpPr>
          <p:grpSpPr>
            <a:xfrm>
              <a:off x="4927530" y="1873231"/>
              <a:ext cx="6062323" cy="2700000"/>
              <a:chOff x="4927530" y="1873231"/>
              <a:chExt cx="6062323" cy="2700000"/>
            </a:xfrm>
          </p:grpSpPr>
          <p:grpSp>
            <p:nvGrpSpPr>
              <p:cNvPr id="6" name="Group 5">
                <a:extLst>
                  <a:ext uri="{FF2B5EF4-FFF2-40B4-BE49-F238E27FC236}">
                    <a16:creationId xmlns:a16="http://schemas.microsoft.com/office/drawing/2014/main" id="{B4B28732-FA07-C244-89FC-C5DCF2FE8C88}"/>
                  </a:ext>
                </a:extLst>
              </p:cNvPr>
              <p:cNvGrpSpPr/>
              <p:nvPr/>
            </p:nvGrpSpPr>
            <p:grpSpPr>
              <a:xfrm>
                <a:off x="4927530" y="1873231"/>
                <a:ext cx="6062323" cy="2700000"/>
                <a:chOff x="4927530" y="1873231"/>
                <a:chExt cx="6062323" cy="2700000"/>
              </a:xfrm>
            </p:grpSpPr>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A0D3C501-8618-6643-97A8-7C2C17FFE44C}"/>
                        </a:ext>
                      </a:extLst>
                    </p:cNvPr>
                    <p:cNvSpPr/>
                    <p:nvPr/>
                  </p:nvSpPr>
                  <p:spPr>
                    <a:xfrm>
                      <a:off x="7006923" y="1873231"/>
                      <a:ext cx="1735283" cy="7393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𝑆</m:t>
                                </m:r>
                              </m:e>
                            </m:d>
                            <m:r>
                              <a:rPr lang="en-US" sz="2800" b="0" i="1" smtClean="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𝑎</m:t>
                                      </m:r>
                                    </m:e>
                                  </m:mr>
                                  <m:mr>
                                    <m:e>
                                      <m:r>
                                        <a:rPr lang="en-US" sz="2800" b="0" i="1" smtClean="0">
                                          <a:latin typeface="Cambria Math" panose="02040503050406030204" pitchFamily="18" charset="0"/>
                                        </a:rPr>
                                        <m:t>𝑏</m:t>
                                      </m:r>
                                    </m:e>
                                  </m:mr>
                                </m:m>
                              </m:e>
                            </m:d>
                          </m:oMath>
                        </m:oMathPara>
                      </a14:m>
                      <a:endParaRPr lang="en-US" sz="2800" i="1" dirty="0"/>
                    </a:p>
                  </p:txBody>
                </p:sp>
              </mc:Choice>
              <mc:Fallback xmlns="">
                <p:sp>
                  <p:nvSpPr>
                    <p:cNvPr id="37" name="Rectangle 36">
                      <a:extLst>
                        <a:ext uri="{FF2B5EF4-FFF2-40B4-BE49-F238E27FC236}">
                          <a16:creationId xmlns:a16="http://schemas.microsoft.com/office/drawing/2014/main" id="{A0D3C501-8618-6643-97A8-7C2C17FFE44C}"/>
                        </a:ext>
                      </a:extLst>
                    </p:cNvPr>
                    <p:cNvSpPr>
                      <a:spLocks noRot="1" noChangeAspect="1" noMove="1" noResize="1" noEditPoints="1" noAdjustHandles="1" noChangeArrowheads="1" noChangeShapeType="1" noTextEdit="1"/>
                    </p:cNvSpPr>
                    <p:nvPr/>
                  </p:nvSpPr>
                  <p:spPr>
                    <a:xfrm>
                      <a:off x="7006923" y="1873231"/>
                      <a:ext cx="1735283" cy="739305"/>
                    </a:xfrm>
                    <a:prstGeom prst="rect">
                      <a:avLst/>
                    </a:prstGeom>
                    <a:blipFill>
                      <a:blip r:embed="rId12"/>
                      <a:stretch>
                        <a:fillRect b="-8333"/>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FB890487-F903-E54F-9C7B-1AFCC3598FD2}"/>
                    </a:ext>
                  </a:extLst>
                </p:cNvPr>
                <p:cNvCxnSpPr>
                  <a:cxnSpLocks/>
                </p:cNvCxnSpPr>
                <p:nvPr/>
              </p:nvCxnSpPr>
              <p:spPr>
                <a:xfrm flipV="1">
                  <a:off x="4927530" y="2504911"/>
                  <a:ext cx="1811643" cy="2068320"/>
                </a:xfrm>
                <a:prstGeom prst="line">
                  <a:avLst/>
                </a:prstGeom>
                <a:ln w="76200" cap="rnd">
                  <a:solidFill>
                    <a:srgbClr val="C0000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15A0991-4F55-C549-AD08-5905A52F4776}"/>
                    </a:ext>
                  </a:extLst>
                </p:cNvPr>
                <p:cNvSpPr txBox="1"/>
                <p:nvPr/>
              </p:nvSpPr>
              <p:spPr>
                <a:xfrm>
                  <a:off x="9037908" y="2504911"/>
                  <a:ext cx="1951945" cy="646331"/>
                </a:xfrm>
                <a:prstGeom prst="rect">
                  <a:avLst/>
                </a:prstGeom>
                <a:noFill/>
              </p:spPr>
              <p:txBody>
                <a:bodyPr wrap="none" rtlCol="0">
                  <a:spAutoFit/>
                </a:bodyPr>
                <a:lstStyle/>
                <a:p>
                  <a:pPr algn="ctr"/>
                  <a:r>
                    <a:rPr lang="en-ZA" dirty="0"/>
                    <a:t>linear combination</a:t>
                  </a:r>
                  <a:br>
                    <a:rPr lang="en-ZA" dirty="0"/>
                  </a:br>
                  <a:r>
                    <a:rPr lang="en-ZA" dirty="0"/>
                    <a:t>(superposition)</a:t>
                  </a:r>
                  <a:endParaRPr lang="en-US" dirty="0"/>
                </a:p>
              </p:txBody>
            </p:sp>
          </p:gr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9CCE66DC-BE87-AC42-99BE-063C42DCEEB7}"/>
                      </a:ext>
                    </a:extLst>
                  </p:cNvPr>
                  <p:cNvSpPr/>
                  <p:nvPr/>
                </p:nvSpPr>
                <p:spPr>
                  <a:xfrm>
                    <a:off x="8524106" y="1980290"/>
                    <a:ext cx="235506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𝑎</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r>
                            <a:rPr lang="en-US" sz="2800" b="0" i="1" smtClean="0">
                              <a:latin typeface="Cambria Math" panose="02040503050406030204" pitchFamily="18" charset="0"/>
                            </a:rPr>
                            <m:t>+</m:t>
                          </m:r>
                          <m:r>
                            <a:rPr lang="en-US" sz="2800" b="0" i="1" smtClean="0">
                              <a:latin typeface="Cambria Math" panose="02040503050406030204" pitchFamily="18" charset="0"/>
                            </a:rPr>
                            <m:t>𝑏</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e>
                          </m:d>
                        </m:oMath>
                      </m:oMathPara>
                    </a14:m>
                    <a:endParaRPr lang="en-US" sz="2800" i="1" dirty="0"/>
                  </a:p>
                </p:txBody>
              </p:sp>
            </mc:Choice>
            <mc:Fallback xmlns="">
              <p:sp>
                <p:nvSpPr>
                  <p:cNvPr id="30" name="Rectangle 29">
                    <a:extLst>
                      <a:ext uri="{FF2B5EF4-FFF2-40B4-BE49-F238E27FC236}">
                        <a16:creationId xmlns:a16="http://schemas.microsoft.com/office/drawing/2014/main" id="{9CCE66DC-BE87-AC42-99BE-063C42DCEEB7}"/>
                      </a:ext>
                    </a:extLst>
                  </p:cNvPr>
                  <p:cNvSpPr>
                    <a:spLocks noRot="1" noChangeAspect="1" noMove="1" noResize="1" noEditPoints="1" noAdjustHandles="1" noChangeArrowheads="1" noChangeShapeType="1" noTextEdit="1"/>
                  </p:cNvSpPr>
                  <p:nvPr/>
                </p:nvSpPr>
                <p:spPr>
                  <a:xfrm>
                    <a:off x="8524106" y="1980290"/>
                    <a:ext cx="2355067" cy="523220"/>
                  </a:xfrm>
                  <a:prstGeom prst="rect">
                    <a:avLst/>
                  </a:prstGeom>
                  <a:blipFill>
                    <a:blip r:embed="rId13"/>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55453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337F8E-9114-AF49-8ADF-DB487DCA1B79}"/>
              </a:ext>
            </a:extLst>
          </p:cNvPr>
          <p:cNvSpPr>
            <a:spLocks noGrp="1"/>
          </p:cNvSpPr>
          <p:nvPr>
            <p:ph type="sldNum" sz="quarter" idx="12"/>
          </p:nvPr>
        </p:nvSpPr>
        <p:spPr/>
        <p:txBody>
          <a:bodyPr/>
          <a:lstStyle/>
          <a:p>
            <a:fld id="{591A223C-FA10-BC46-A853-03BA373D023C}" type="slidenum">
              <a:rPr lang="en-US" smtClean="0"/>
              <a:t>7</a:t>
            </a:fld>
            <a:endParaRPr lang="en-US" dirty="0"/>
          </a:p>
        </p:txBody>
      </p:sp>
      <p:sp>
        <p:nvSpPr>
          <p:cNvPr id="3" name="Title 2">
            <a:extLst>
              <a:ext uri="{FF2B5EF4-FFF2-40B4-BE49-F238E27FC236}">
                <a16:creationId xmlns:a16="http://schemas.microsoft.com/office/drawing/2014/main" id="{6223B914-9CAB-E54C-9942-EAB3F8C4EBB7}"/>
              </a:ext>
            </a:extLst>
          </p:cNvPr>
          <p:cNvSpPr>
            <a:spLocks noGrp="1"/>
          </p:cNvSpPr>
          <p:nvPr>
            <p:ph type="title"/>
          </p:nvPr>
        </p:nvSpPr>
        <p:spPr>
          <a:xfrm>
            <a:off x="0" y="0"/>
            <a:ext cx="12192000" cy="928688"/>
          </a:xfrm>
        </p:spPr>
        <p:txBody>
          <a:bodyPr/>
          <a:lstStyle/>
          <a:p>
            <a:r>
              <a:rPr lang="en-ZA" dirty="0"/>
              <a:t>Superposition as a Linear Combination</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B7991B5-F00C-AE45-A4AD-A7496E559810}"/>
                  </a:ext>
                </a:extLst>
              </p:cNvPr>
              <p:cNvSpPr/>
              <p:nvPr/>
            </p:nvSpPr>
            <p:spPr>
              <a:xfrm>
                <a:off x="2160243" y="3203042"/>
                <a:ext cx="8097538" cy="13234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8000" i="1" smtClean="0">
                              <a:solidFill>
                                <a:srgbClr val="C00000"/>
                              </a:solidFill>
                              <a:latin typeface="Cambria Math" panose="02040503050406030204" pitchFamily="18" charset="0"/>
                              <a:ea typeface="Cambria Math" panose="02040503050406030204" pitchFamily="18" charset="0"/>
                            </a:rPr>
                          </m:ctrlPr>
                        </m:dPr>
                        <m:e>
                          <m:r>
                            <m:rPr>
                              <m:nor/>
                            </m:rPr>
                            <a:rPr lang="sr-Latn-RS" sz="8000" b="0" i="1" smtClean="0">
                              <a:solidFill>
                                <a:srgbClr val="C00000"/>
                              </a:solidFill>
                              <a:latin typeface="Cambria Math" panose="02040503050406030204" pitchFamily="18" charset="0"/>
                              <a:ea typeface="Cambria Math" panose="02040503050406030204" pitchFamily="18" charset="0"/>
                            </a:rPr>
                            <m:t>S</m:t>
                          </m:r>
                          <m:r>
                            <a:rPr lang="sr-Latn-RS" sz="8000" b="0" i="1" smtClean="0">
                              <a:solidFill>
                                <a:srgbClr val="C00000"/>
                              </a:solidFill>
                              <a:latin typeface="Cambria Math" panose="02040503050406030204" pitchFamily="18" charset="0"/>
                              <a:ea typeface="Cambria Math" panose="02040503050406030204" pitchFamily="18" charset="0"/>
                            </a:rPr>
                            <m:t> </m:t>
                          </m:r>
                        </m:e>
                      </m:d>
                      <m:r>
                        <a:rPr lang="sr-Latn-RS" sz="8000" b="0" i="1" smtClean="0">
                          <a:latin typeface="Cambria Math" panose="02040503050406030204" pitchFamily="18" charset="0"/>
                          <a:ea typeface="Cambria Math" panose="02040503050406030204" pitchFamily="18" charset="0"/>
                        </a:rPr>
                        <m:t>=</m:t>
                      </m:r>
                      <m:r>
                        <a:rPr lang="sr-Latn-RS" sz="8000" i="1" smtClean="0">
                          <a:solidFill>
                            <a:srgbClr val="0000FF"/>
                          </a:solidFill>
                          <a:latin typeface="Cambria Math" panose="02040503050406030204" pitchFamily="18" charset="0"/>
                          <a:ea typeface="Cambria Math" panose="02040503050406030204" pitchFamily="18" charset="0"/>
                        </a:rPr>
                        <m:t>𝑎</m:t>
                      </m:r>
                      <m:d>
                        <m:dPr>
                          <m:begChr m:val="|"/>
                          <m:endChr m:val="⟩"/>
                          <m:ctrlPr>
                            <a:rPr lang="en-US" sz="8000" i="1" smtClean="0">
                              <a:solidFill>
                                <a:schemeClr val="accent6">
                                  <a:lumMod val="50000"/>
                                </a:schemeClr>
                              </a:solidFill>
                              <a:latin typeface="Cambria Math" panose="02040503050406030204" pitchFamily="18" charset="0"/>
                              <a:ea typeface="Cambria Math" panose="02040503050406030204" pitchFamily="18" charset="0"/>
                            </a:rPr>
                          </m:ctrlPr>
                        </m:dPr>
                        <m:e>
                          <m:r>
                            <m:rPr>
                              <m:nor/>
                            </m:rPr>
                            <a:rPr lang="en-US" sz="8000">
                              <a:solidFill>
                                <a:schemeClr val="accent6">
                                  <a:lumMod val="50000"/>
                                </a:schemeClr>
                              </a:solidFill>
                              <a:latin typeface="Cambria Math" panose="02040503050406030204" pitchFamily="18" charset="0"/>
                              <a:ea typeface="Cambria Math" panose="02040503050406030204" pitchFamily="18" charset="0"/>
                            </a:rPr>
                            <m:t>0</m:t>
                          </m:r>
                        </m:e>
                      </m:d>
                      <m:r>
                        <a:rPr lang="sr-Latn-RS" sz="8000" b="0" i="1" smtClean="0">
                          <a:latin typeface="Cambria Math" panose="02040503050406030204" pitchFamily="18" charset="0"/>
                          <a:ea typeface="Cambria Math" panose="02040503050406030204" pitchFamily="18" charset="0"/>
                        </a:rPr>
                        <m:t>+</m:t>
                      </m:r>
                      <m:r>
                        <a:rPr lang="sr-Latn-RS" sz="8000" b="0" i="1" smtClean="0">
                          <a:solidFill>
                            <a:srgbClr val="0000FF"/>
                          </a:solidFill>
                          <a:latin typeface="Cambria Math" panose="02040503050406030204" pitchFamily="18" charset="0"/>
                          <a:ea typeface="Cambria Math" panose="02040503050406030204" pitchFamily="18" charset="0"/>
                        </a:rPr>
                        <m:t>𝑏</m:t>
                      </m:r>
                      <m:d>
                        <m:dPr>
                          <m:begChr m:val="|"/>
                          <m:endChr m:val="⟩"/>
                          <m:ctrlPr>
                            <a:rPr lang="en-US" sz="8000" i="1" smtClean="0">
                              <a:solidFill>
                                <a:schemeClr val="accent6">
                                  <a:lumMod val="50000"/>
                                </a:schemeClr>
                              </a:solidFill>
                              <a:latin typeface="Cambria Math" panose="02040503050406030204" pitchFamily="18" charset="0"/>
                              <a:ea typeface="Cambria Math" panose="02040503050406030204" pitchFamily="18" charset="0"/>
                            </a:rPr>
                          </m:ctrlPr>
                        </m:dPr>
                        <m:e>
                          <m:r>
                            <m:rPr>
                              <m:nor/>
                            </m:rPr>
                            <a:rPr lang="sr-Latn-RS" sz="8000" b="0" i="0" smtClean="0">
                              <a:solidFill>
                                <a:schemeClr val="accent6">
                                  <a:lumMod val="50000"/>
                                </a:schemeClr>
                              </a:solidFill>
                              <a:latin typeface="Cambria Math" panose="02040503050406030204" pitchFamily="18" charset="0"/>
                              <a:ea typeface="Cambria Math" panose="02040503050406030204" pitchFamily="18" charset="0"/>
                            </a:rPr>
                            <m:t>1</m:t>
                          </m:r>
                        </m:e>
                      </m:d>
                    </m:oMath>
                  </m:oMathPara>
                </a14:m>
                <a:endParaRPr lang="en-US" sz="8000" dirty="0"/>
              </a:p>
            </p:txBody>
          </p:sp>
        </mc:Choice>
        <mc:Fallback xmlns="">
          <p:sp>
            <p:nvSpPr>
              <p:cNvPr id="5" name="Rectangle 4">
                <a:extLst>
                  <a:ext uri="{FF2B5EF4-FFF2-40B4-BE49-F238E27FC236}">
                    <a16:creationId xmlns:a16="http://schemas.microsoft.com/office/drawing/2014/main" id="{AB7991B5-F00C-AE45-A4AD-A7496E559810}"/>
                  </a:ext>
                </a:extLst>
              </p:cNvPr>
              <p:cNvSpPr>
                <a:spLocks noRot="1" noChangeAspect="1" noMove="1" noResize="1" noEditPoints="1" noAdjustHandles="1" noChangeArrowheads="1" noChangeShapeType="1" noTextEdit="1"/>
              </p:cNvSpPr>
              <p:nvPr/>
            </p:nvSpPr>
            <p:spPr>
              <a:xfrm>
                <a:off x="2160243" y="3203042"/>
                <a:ext cx="8097538" cy="1323439"/>
              </a:xfrm>
              <a:prstGeom prst="rect">
                <a:avLst/>
              </a:prstGeom>
              <a:blipFill>
                <a:blip r:embed="rId3"/>
                <a:stretch>
                  <a:fillRect t="-3846" b="-3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92F1C5E7-55D8-0C43-A6B8-E104EF9EF659}"/>
                  </a:ext>
                </a:extLst>
              </p:cNvPr>
              <p:cNvSpPr/>
              <p:nvPr/>
            </p:nvSpPr>
            <p:spPr>
              <a:xfrm>
                <a:off x="457200" y="1236648"/>
                <a:ext cx="4520292" cy="111730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quantum state vector</a:t>
                </a:r>
              </a:p>
              <a:p>
                <a:pPr algn="ctr"/>
                <a14:m>
                  <m:oMathPara xmlns:m="http://schemas.openxmlformats.org/officeDocument/2006/math">
                    <m:oMathParaPr>
                      <m:jc m:val="centerGroup"/>
                    </m:oMathParaPr>
                    <m:oMath xmlns:m="http://schemas.openxmlformats.org/officeDocument/2006/math">
                      <m:r>
                        <a:rPr lang="sr-Latn-RS" sz="2800" b="0" i="1" smtClean="0">
                          <a:solidFill>
                            <a:schemeClr val="tx1"/>
                          </a:solidFill>
                          <a:latin typeface="Cambria Math" panose="02040503050406030204" pitchFamily="18" charset="0"/>
                          <a:ea typeface="Cambria Math" panose="02040503050406030204" pitchFamily="18" charset="0"/>
                        </a:rPr>
                        <m:t>(</m:t>
                      </m:r>
                      <m:r>
                        <a:rPr lang="el-GR" sz="2800" b="0" i="1">
                          <a:solidFill>
                            <a:schemeClr val="tx1"/>
                          </a:solidFill>
                          <a:latin typeface="Cambria Math" panose="02040503050406030204" pitchFamily="18" charset="0"/>
                          <a:ea typeface="Cambria Math" panose="02040503050406030204" pitchFamily="18" charset="0"/>
                        </a:rPr>
                        <m:t>𝛹</m:t>
                      </m:r>
                      <m:r>
                        <a:rPr lang="sr-Latn-RS" sz="2800" b="0">
                          <a:solidFill>
                            <a:schemeClr val="tx1"/>
                          </a:solidFill>
                          <a:latin typeface="Cambria Math" panose="02040503050406030204" pitchFamily="18" charset="0"/>
                          <a:ea typeface="Cambria Math" panose="02040503050406030204" pitchFamily="18" charset="0"/>
                        </a:rPr>
                        <m:t>,</m:t>
                      </m:r>
                      <m:r>
                        <a:rPr lang="el-GR" sz="2800" b="0" i="1">
                          <a:solidFill>
                            <a:schemeClr val="tx1"/>
                          </a:solidFill>
                          <a:latin typeface="Cambria Math" panose="02040503050406030204" pitchFamily="18" charset="0"/>
                          <a:ea typeface="Cambria Math" panose="02040503050406030204" pitchFamily="18" charset="0"/>
                        </a:rPr>
                        <m:t>𝜙</m:t>
                      </m:r>
                      <m:r>
                        <a:rPr lang="sr-Latn-RS" sz="2800" b="0">
                          <a:solidFill>
                            <a:schemeClr val="tx1"/>
                          </a:solidFill>
                          <a:latin typeface="Cambria Math" panose="02040503050406030204" pitchFamily="18" charset="0"/>
                          <a:ea typeface="Cambria Math" panose="02040503050406030204" pitchFamily="18" charset="0"/>
                        </a:rPr>
                        <m:t>)</m:t>
                      </m:r>
                    </m:oMath>
                  </m:oMathPara>
                </a14:m>
                <a:endParaRPr lang="en-US" sz="2800" dirty="0">
                  <a:solidFill>
                    <a:schemeClr val="tx1"/>
                  </a:solidFill>
                </a:endParaRPr>
              </a:p>
            </p:txBody>
          </p:sp>
        </mc:Choice>
        <mc:Fallback xmlns="">
          <p:sp>
            <p:nvSpPr>
              <p:cNvPr id="8" name="Rounded Rectangle 7">
                <a:extLst>
                  <a:ext uri="{FF2B5EF4-FFF2-40B4-BE49-F238E27FC236}">
                    <a16:creationId xmlns:a16="http://schemas.microsoft.com/office/drawing/2014/main" id="{92F1C5E7-55D8-0C43-A6B8-E104EF9EF659}"/>
                  </a:ext>
                </a:extLst>
              </p:cNvPr>
              <p:cNvSpPr>
                <a:spLocks noRot="1" noChangeAspect="1" noMove="1" noResize="1" noEditPoints="1" noAdjustHandles="1" noChangeArrowheads="1" noChangeShapeType="1" noTextEdit="1"/>
              </p:cNvSpPr>
              <p:nvPr/>
            </p:nvSpPr>
            <p:spPr>
              <a:xfrm>
                <a:off x="457200" y="1236648"/>
                <a:ext cx="4520292" cy="1117309"/>
              </a:xfrm>
              <a:prstGeom prst="roundRect">
                <a:avLst/>
              </a:prstGeom>
              <a:blipFill>
                <a:blip r:embed="rId4"/>
                <a:stretch>
                  <a:fillRect b="-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4CDD1EB6-328C-EC45-AD1B-4CBE1B9D1FF1}"/>
                  </a:ext>
                </a:extLst>
              </p:cNvPr>
              <p:cNvSpPr/>
              <p:nvPr/>
            </p:nvSpPr>
            <p:spPr>
              <a:xfrm>
                <a:off x="4713514" y="5375566"/>
                <a:ext cx="3755572" cy="1117309"/>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probability amplitudes</a:t>
                </a:r>
              </a:p>
              <a:p>
                <a:pPr algn="ctr"/>
                <a:r>
                  <a:rPr lang="en-US" sz="2800" dirty="0">
                    <a:solidFill>
                      <a:schemeClr val="tx1"/>
                    </a:solidFill>
                  </a:rPr>
                  <a:t>(</a:t>
                </a:r>
                <a14:m>
                  <m:oMath xmlns:m="http://schemas.openxmlformats.org/officeDocument/2006/math">
                    <m:r>
                      <a:rPr lang="sr-Latn-RS" sz="2800" i="1">
                        <a:solidFill>
                          <a:schemeClr val="tx1"/>
                        </a:solidFill>
                        <a:latin typeface="Cambria Math" panose="02040503050406030204" pitchFamily="18" charset="0"/>
                        <a:ea typeface="Cambria Math" panose="02040503050406030204" pitchFamily="18" charset="0"/>
                      </a:rPr>
                      <m:t>𝛼</m:t>
                    </m:r>
                  </m:oMath>
                </a14:m>
                <a:r>
                  <a:rPr lang="en-US" sz="2800" dirty="0">
                    <a:solidFill>
                      <a:schemeClr val="tx1"/>
                    </a:solidFill>
                  </a:rPr>
                  <a:t>, </a:t>
                </a:r>
                <a14:m>
                  <m:oMath xmlns:m="http://schemas.openxmlformats.org/officeDocument/2006/math">
                    <m:r>
                      <a:rPr lang="sr-Latn-RS" sz="2800" i="1">
                        <a:solidFill>
                          <a:schemeClr val="tx1"/>
                        </a:solidFill>
                        <a:latin typeface="Cambria Math" panose="02040503050406030204" pitchFamily="18" charset="0"/>
                        <a:ea typeface="Cambria Math" panose="02040503050406030204" pitchFamily="18" charset="0"/>
                      </a:rPr>
                      <m:t>𝛽</m:t>
                    </m:r>
                  </m:oMath>
                </a14:m>
                <a:r>
                  <a:rPr lang="en-US" sz="2800" dirty="0">
                    <a:solidFill>
                      <a:schemeClr val="tx1"/>
                    </a:solidFill>
                  </a:rPr>
                  <a:t>)</a:t>
                </a:r>
              </a:p>
            </p:txBody>
          </p:sp>
        </mc:Choice>
        <mc:Fallback xmlns="">
          <p:sp>
            <p:nvSpPr>
              <p:cNvPr id="9" name="Rounded Rectangle 8">
                <a:extLst>
                  <a:ext uri="{FF2B5EF4-FFF2-40B4-BE49-F238E27FC236}">
                    <a16:creationId xmlns:a16="http://schemas.microsoft.com/office/drawing/2014/main" id="{4CDD1EB6-328C-EC45-AD1B-4CBE1B9D1FF1}"/>
                  </a:ext>
                </a:extLst>
              </p:cNvPr>
              <p:cNvSpPr>
                <a:spLocks noRot="1" noChangeAspect="1" noMove="1" noResize="1" noEditPoints="1" noAdjustHandles="1" noChangeArrowheads="1" noChangeShapeType="1" noTextEdit="1"/>
              </p:cNvSpPr>
              <p:nvPr/>
            </p:nvSpPr>
            <p:spPr>
              <a:xfrm>
                <a:off x="4713514" y="5375566"/>
                <a:ext cx="3755572" cy="1117309"/>
              </a:xfrm>
              <a:prstGeom prst="roundRect">
                <a:avLst/>
              </a:prstGeom>
              <a:blipFill>
                <a:blip r:embed="rId5"/>
                <a:stretch>
                  <a:fillRect b="-5556"/>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823277ED-42F3-C444-9789-11F3B48C6645}"/>
              </a:ext>
            </a:extLst>
          </p:cNvPr>
          <p:cNvSpPr/>
          <p:nvPr/>
        </p:nvSpPr>
        <p:spPr>
          <a:xfrm>
            <a:off x="6591300" y="1236648"/>
            <a:ext cx="4474029" cy="111730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computational basis vectors</a:t>
            </a:r>
            <a:endParaRPr lang="en-US" sz="2800" dirty="0">
              <a:solidFill>
                <a:schemeClr val="tx1"/>
              </a:solidFill>
            </a:endParaRPr>
          </a:p>
        </p:txBody>
      </p:sp>
      <p:cxnSp>
        <p:nvCxnSpPr>
          <p:cNvPr id="12" name="Straight Arrow Connector 11">
            <a:extLst>
              <a:ext uri="{FF2B5EF4-FFF2-40B4-BE49-F238E27FC236}">
                <a16:creationId xmlns:a16="http://schemas.microsoft.com/office/drawing/2014/main" id="{7804DD78-8477-B04A-A3D4-CBD2F7988E7E}"/>
              </a:ext>
            </a:extLst>
          </p:cNvPr>
          <p:cNvCxnSpPr>
            <a:cxnSpLocks/>
            <a:stCxn id="9" idx="0"/>
          </p:cNvCxnSpPr>
          <p:nvPr/>
        </p:nvCxnSpPr>
        <p:spPr>
          <a:xfrm flipH="1" flipV="1">
            <a:off x="5339444" y="4437096"/>
            <a:ext cx="1251856" cy="938470"/>
          </a:xfrm>
          <a:prstGeom prst="straightConnector1">
            <a:avLst/>
          </a:prstGeom>
          <a:ln w="12700">
            <a:solidFill>
              <a:schemeClr val="tx1">
                <a:lumMod val="50000"/>
                <a:lumOff val="50000"/>
              </a:schemeClr>
            </a:solidFill>
            <a:tailEnd type="diamond"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ED74DE3-1A40-EB4D-9B7C-5B31CB7D965E}"/>
              </a:ext>
            </a:extLst>
          </p:cNvPr>
          <p:cNvCxnSpPr>
            <a:cxnSpLocks/>
            <a:stCxn id="9" idx="0"/>
          </p:cNvCxnSpPr>
          <p:nvPr/>
        </p:nvCxnSpPr>
        <p:spPr>
          <a:xfrm flipV="1">
            <a:off x="6591300" y="4437096"/>
            <a:ext cx="1572986" cy="938470"/>
          </a:xfrm>
          <a:prstGeom prst="straightConnector1">
            <a:avLst/>
          </a:prstGeom>
          <a:ln w="12700">
            <a:solidFill>
              <a:schemeClr val="tx1">
                <a:lumMod val="50000"/>
                <a:lumOff val="50000"/>
              </a:schemeClr>
            </a:solidFill>
            <a:tailEnd type="diamond"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E273066-B805-C840-858A-8D98739BDF78}"/>
              </a:ext>
            </a:extLst>
          </p:cNvPr>
          <p:cNvCxnSpPr>
            <a:cxnSpLocks/>
            <a:stCxn id="8" idx="2"/>
          </p:cNvCxnSpPr>
          <p:nvPr/>
        </p:nvCxnSpPr>
        <p:spPr>
          <a:xfrm>
            <a:off x="2717346" y="2353957"/>
            <a:ext cx="382360" cy="849085"/>
          </a:xfrm>
          <a:prstGeom prst="straightConnector1">
            <a:avLst/>
          </a:prstGeom>
          <a:ln w="12700">
            <a:solidFill>
              <a:schemeClr val="tx1">
                <a:lumMod val="50000"/>
                <a:lumOff val="50000"/>
              </a:schemeClr>
            </a:solidFill>
            <a:tailEnd type="diamond"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E1CF34-6244-D545-930A-96C04CA54F5B}"/>
              </a:ext>
            </a:extLst>
          </p:cNvPr>
          <p:cNvCxnSpPr>
            <a:cxnSpLocks/>
            <a:stCxn id="10" idx="2"/>
          </p:cNvCxnSpPr>
          <p:nvPr/>
        </p:nvCxnSpPr>
        <p:spPr>
          <a:xfrm flipH="1">
            <a:off x="6144987" y="2353957"/>
            <a:ext cx="2683328" cy="965830"/>
          </a:xfrm>
          <a:prstGeom prst="straightConnector1">
            <a:avLst/>
          </a:prstGeom>
          <a:ln w="12700">
            <a:solidFill>
              <a:schemeClr val="tx1">
                <a:lumMod val="50000"/>
                <a:lumOff val="50000"/>
              </a:schemeClr>
            </a:solidFill>
            <a:tailEnd type="diamond"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105BC7F-A01F-0241-AA69-996B586F09D5}"/>
              </a:ext>
            </a:extLst>
          </p:cNvPr>
          <p:cNvCxnSpPr>
            <a:cxnSpLocks/>
            <a:stCxn id="10" idx="2"/>
          </p:cNvCxnSpPr>
          <p:nvPr/>
        </p:nvCxnSpPr>
        <p:spPr>
          <a:xfrm>
            <a:off x="8828315" y="2353957"/>
            <a:ext cx="359228" cy="849085"/>
          </a:xfrm>
          <a:prstGeom prst="straightConnector1">
            <a:avLst/>
          </a:prstGeom>
          <a:ln w="12700">
            <a:solidFill>
              <a:schemeClr val="tx1">
                <a:lumMod val="50000"/>
                <a:lumOff val="50000"/>
              </a:schemeClr>
            </a:solidFill>
            <a:tailEnd type="diamond"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716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Kronecker delta</a:t>
            </a:r>
          </a:p>
        </p:txBody>
      </p:sp>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8</a:t>
            </a:fld>
            <a:endParaRPr lang="en-US"/>
          </a:p>
        </p:txBody>
      </p:sp>
      <p:sp>
        <p:nvSpPr>
          <p:cNvPr id="24" name="Rounded Rectangle 23">
            <a:extLst>
              <a:ext uri="{FF2B5EF4-FFF2-40B4-BE49-F238E27FC236}">
                <a16:creationId xmlns:a16="http://schemas.microsoft.com/office/drawing/2014/main" id="{587B3698-EA15-C249-878A-D87578CB8F83}"/>
              </a:ext>
            </a:extLst>
          </p:cNvPr>
          <p:cNvSpPr/>
          <p:nvPr/>
        </p:nvSpPr>
        <p:spPr>
          <a:xfrm>
            <a:off x="5941892" y="3807634"/>
            <a:ext cx="3304673" cy="18769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D57DB7A-B5E7-C644-AF47-8B1633170407}"/>
                  </a:ext>
                </a:extLst>
              </p:cNvPr>
              <p:cNvSpPr txBox="1"/>
              <p:nvPr/>
            </p:nvSpPr>
            <p:spPr>
              <a:xfrm>
                <a:off x="6197478" y="4287350"/>
                <a:ext cx="2841804" cy="9174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ZA" sz="2800" i="1" smtClean="0">
                              <a:solidFill>
                                <a:schemeClr val="bg1"/>
                              </a:solidFill>
                              <a:latin typeface="Cambria Math" panose="02040503050406030204" pitchFamily="18" charset="0"/>
                            </a:rPr>
                          </m:ctrlPr>
                        </m:sSubPr>
                        <m:e>
                          <m:r>
                            <a:rPr lang="sr-Latn-RS" sz="2800" i="1">
                              <a:solidFill>
                                <a:schemeClr val="bg1"/>
                              </a:solidFill>
                              <a:latin typeface="Cambria Math" panose="02040503050406030204" pitchFamily="18" charset="0"/>
                            </a:rPr>
                            <m:t>𝛿</m:t>
                          </m:r>
                        </m:e>
                        <m:sub>
                          <m:r>
                            <a:rPr lang="sr-Latn-RS" sz="2800" i="1">
                              <a:solidFill>
                                <a:schemeClr val="bg1"/>
                              </a:solidFill>
                              <a:latin typeface="Cambria Math" panose="02040503050406030204" pitchFamily="18" charset="0"/>
                            </a:rPr>
                            <m:t>𝑗𝑘</m:t>
                          </m:r>
                        </m:sub>
                      </m:sSub>
                      <m:r>
                        <a:rPr lang="sr-Latn-RS" sz="2800" i="1">
                          <a:solidFill>
                            <a:schemeClr val="bg1"/>
                          </a:solidFill>
                          <a:latin typeface="Cambria Math" panose="02040503050406030204" pitchFamily="18" charset="0"/>
                        </a:rPr>
                        <m:t>=</m:t>
                      </m:r>
                      <m:d>
                        <m:dPr>
                          <m:begChr m:val="{"/>
                          <m:endChr m:val=""/>
                          <m:ctrlPr>
                            <a:rPr lang="en-ZA" sz="2800" i="1">
                              <a:solidFill>
                                <a:schemeClr val="bg1"/>
                              </a:solidFill>
                              <a:latin typeface="Cambria Math" panose="02040503050406030204" pitchFamily="18" charset="0"/>
                            </a:rPr>
                          </m:ctrlPr>
                        </m:dPr>
                        <m:e>
                          <m:m>
                            <m:mPr>
                              <m:mcs>
                                <m:mc>
                                  <m:mcPr>
                                    <m:count m:val="2"/>
                                    <m:mcJc m:val="center"/>
                                  </m:mcPr>
                                </m:mc>
                              </m:mcs>
                              <m:ctrlPr>
                                <a:rPr lang="en-ZA" sz="2800" i="1">
                                  <a:solidFill>
                                    <a:schemeClr val="bg1"/>
                                  </a:solidFill>
                                  <a:latin typeface="Cambria Math" panose="02040503050406030204" pitchFamily="18" charset="0"/>
                                </a:rPr>
                              </m:ctrlPr>
                            </m:mPr>
                            <m:mr>
                              <m:e>
                                <m:r>
                                  <a:rPr lang="sr-Latn-RS" sz="2800" i="1">
                                    <a:solidFill>
                                      <a:schemeClr val="bg1"/>
                                    </a:solidFill>
                                    <a:latin typeface="Cambria Math" panose="02040503050406030204" pitchFamily="18" charset="0"/>
                                  </a:rPr>
                                  <m:t>1</m:t>
                                </m:r>
                              </m:e>
                              <m:e>
                                <m:r>
                                  <a:rPr lang="sr-Latn-RS" sz="2800" i="1">
                                    <a:solidFill>
                                      <a:schemeClr val="bg1"/>
                                    </a:solidFill>
                                    <a:latin typeface="Cambria Math" panose="02040503050406030204" pitchFamily="18" charset="0"/>
                                  </a:rPr>
                                  <m:t> </m:t>
                                </m:r>
                                <m:r>
                                  <a:rPr lang="sr-Latn-RS" sz="2800" i="1">
                                    <a:solidFill>
                                      <a:schemeClr val="bg1"/>
                                    </a:solidFill>
                                    <a:latin typeface="Cambria Math" panose="02040503050406030204" pitchFamily="18" charset="0"/>
                                  </a:rPr>
                                  <m:t>𝑗</m:t>
                                </m:r>
                                <m:r>
                                  <a:rPr lang="sr-Latn-RS" sz="2800" i="1">
                                    <a:solidFill>
                                      <a:schemeClr val="bg1"/>
                                    </a:solidFill>
                                    <a:latin typeface="Cambria Math" panose="02040503050406030204" pitchFamily="18" charset="0"/>
                                  </a:rPr>
                                  <m:t>=</m:t>
                                </m:r>
                                <m:r>
                                  <a:rPr lang="sr-Latn-RS" sz="2800" i="1">
                                    <a:solidFill>
                                      <a:schemeClr val="bg1"/>
                                    </a:solidFill>
                                    <a:latin typeface="Cambria Math" panose="02040503050406030204" pitchFamily="18" charset="0"/>
                                  </a:rPr>
                                  <m:t>𝑘</m:t>
                                </m:r>
                              </m:e>
                            </m:mr>
                            <m:mr>
                              <m:e>
                                <m:r>
                                  <a:rPr lang="sr-Latn-RS" sz="2800" i="1">
                                    <a:solidFill>
                                      <a:schemeClr val="bg1"/>
                                    </a:solidFill>
                                    <a:latin typeface="Cambria Math" panose="02040503050406030204" pitchFamily="18" charset="0"/>
                                  </a:rPr>
                                  <m:t>0</m:t>
                                </m:r>
                              </m:e>
                              <m:e>
                                <m:r>
                                  <a:rPr lang="sr-Latn-RS" sz="2800" i="1">
                                    <a:solidFill>
                                      <a:schemeClr val="bg1"/>
                                    </a:solidFill>
                                    <a:latin typeface="Cambria Math" panose="02040503050406030204" pitchFamily="18" charset="0"/>
                                  </a:rPr>
                                  <m:t> </m:t>
                                </m:r>
                                <m:r>
                                  <a:rPr lang="sr-Latn-RS" sz="2800" i="1">
                                    <a:solidFill>
                                      <a:schemeClr val="bg1"/>
                                    </a:solidFill>
                                    <a:latin typeface="Cambria Math" panose="02040503050406030204" pitchFamily="18" charset="0"/>
                                  </a:rPr>
                                  <m:t>𝑗</m:t>
                                </m:r>
                                <m:r>
                                  <a:rPr lang="sr-Latn-RS" sz="2800" i="1">
                                    <a:solidFill>
                                      <a:schemeClr val="bg1"/>
                                    </a:solidFill>
                                    <a:latin typeface="Cambria Math" panose="02040503050406030204" pitchFamily="18" charset="0"/>
                                  </a:rPr>
                                  <m:t>≠</m:t>
                                </m:r>
                                <m:r>
                                  <a:rPr lang="sr-Latn-RS" sz="2800" i="1">
                                    <a:solidFill>
                                      <a:schemeClr val="bg1"/>
                                    </a:solidFill>
                                    <a:latin typeface="Cambria Math" panose="02040503050406030204" pitchFamily="18" charset="0"/>
                                  </a:rPr>
                                  <m:t>𝑘</m:t>
                                </m:r>
                              </m:e>
                            </m:mr>
                          </m:m>
                          <m:r>
                            <a:rPr lang="sr-Latn-RS" sz="2800" i="1">
                              <a:solidFill>
                                <a:schemeClr val="bg1"/>
                              </a:solidFill>
                              <a:latin typeface="Cambria Math" panose="02040503050406030204" pitchFamily="18" charset="0"/>
                            </a:rPr>
                            <m:t> </m:t>
                          </m:r>
                        </m:e>
                      </m:d>
                    </m:oMath>
                  </m:oMathPara>
                </a14:m>
                <a:endParaRPr lang="en-US" sz="2800" dirty="0">
                  <a:solidFill>
                    <a:schemeClr val="bg1"/>
                  </a:solidFill>
                </a:endParaRPr>
              </a:p>
            </p:txBody>
          </p:sp>
        </mc:Choice>
        <mc:Fallback xmlns="">
          <p:sp>
            <p:nvSpPr>
              <p:cNvPr id="25" name="TextBox 24">
                <a:extLst>
                  <a:ext uri="{FF2B5EF4-FFF2-40B4-BE49-F238E27FC236}">
                    <a16:creationId xmlns:a16="http://schemas.microsoft.com/office/drawing/2014/main" id="{5D57DB7A-B5E7-C644-AF47-8B1633170407}"/>
                  </a:ext>
                </a:extLst>
              </p:cNvPr>
              <p:cNvSpPr txBox="1">
                <a:spLocks noRot="1" noChangeAspect="1" noMove="1" noResize="1" noEditPoints="1" noAdjustHandles="1" noChangeArrowheads="1" noChangeShapeType="1" noTextEdit="1"/>
              </p:cNvSpPr>
              <p:nvPr/>
            </p:nvSpPr>
            <p:spPr>
              <a:xfrm>
                <a:off x="6197478" y="4287350"/>
                <a:ext cx="2841804" cy="917495"/>
              </a:xfrm>
              <a:prstGeom prst="rect">
                <a:avLst/>
              </a:prstGeom>
              <a:blipFill>
                <a:blip r:embed="rId3"/>
                <a:stretch>
                  <a:fillRect l="-12889" t="-179452" r="-889" b="-258904"/>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A9CA213E-3F7E-4B48-8749-041E7F332358}"/>
              </a:ext>
            </a:extLst>
          </p:cNvPr>
          <p:cNvSpPr txBox="1"/>
          <p:nvPr/>
        </p:nvSpPr>
        <p:spPr>
          <a:xfrm>
            <a:off x="366351" y="5315228"/>
            <a:ext cx="3036088" cy="369332"/>
          </a:xfrm>
          <a:prstGeom prst="rect">
            <a:avLst/>
          </a:prstGeom>
          <a:noFill/>
        </p:spPr>
        <p:txBody>
          <a:bodyPr wrap="none" rtlCol="0">
            <a:spAutoFit/>
          </a:bodyPr>
          <a:lstStyle/>
          <a:p>
            <a:r>
              <a:rPr lang="sr-Latn-RS" dirty="0"/>
              <a:t>Leopold </a:t>
            </a:r>
            <a:r>
              <a:rPr lang="sr-Latn-RS" dirty="0" err="1"/>
              <a:t>Kroneker</a:t>
            </a:r>
            <a:r>
              <a:rPr lang="sr-Latn-RS" dirty="0"/>
              <a:t> (1823-1891)</a:t>
            </a:r>
            <a:endParaRPr lang="en-US" dirty="0"/>
          </a:p>
        </p:txBody>
      </p:sp>
      <p:pic>
        <p:nvPicPr>
          <p:cNvPr id="27" name="Picture 26">
            <a:extLst>
              <a:ext uri="{FF2B5EF4-FFF2-40B4-BE49-F238E27FC236}">
                <a16:creationId xmlns:a16="http://schemas.microsoft.com/office/drawing/2014/main" id="{86176084-0CA3-BC49-8F66-7BE99C9EA3D0}"/>
              </a:ext>
            </a:extLst>
          </p:cNvPr>
          <p:cNvPicPr>
            <a:picLocks noChangeAspect="1"/>
          </p:cNvPicPr>
          <p:nvPr/>
        </p:nvPicPr>
        <p:blipFill>
          <a:blip r:embed="rId4"/>
          <a:stretch>
            <a:fillRect/>
          </a:stretch>
        </p:blipFill>
        <p:spPr>
          <a:xfrm>
            <a:off x="558834" y="2247816"/>
            <a:ext cx="2322025" cy="292593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F15610B-CEE4-0641-AE90-99498C327934}"/>
                  </a:ext>
                </a:extLst>
              </p:cNvPr>
              <p:cNvSpPr txBox="1"/>
              <p:nvPr/>
            </p:nvSpPr>
            <p:spPr>
              <a:xfrm>
                <a:off x="3846729" y="1742037"/>
                <a:ext cx="7528407" cy="1968744"/>
              </a:xfrm>
              <a:prstGeom prst="rect">
                <a:avLst/>
              </a:prstGeom>
              <a:noFill/>
            </p:spPr>
            <p:txBody>
              <a:bodyPr wrap="square" rtlCol="0">
                <a:spAutoFit/>
              </a:bodyPr>
              <a:lstStyle/>
              <a:p>
                <a:pPr algn="just"/>
                <a:r>
                  <a:rPr lang="en-ZA" sz="2400" dirty="0"/>
                  <a:t>The Kronecker delta, named after Leopold Kronecker, is a mathematical function of two indices, usually integers.</a:t>
                </a:r>
              </a:p>
              <a:p>
                <a:pPr algn="just"/>
                <a:endParaRPr lang="en-ZA" sz="2400" dirty="0"/>
              </a:p>
              <a:p>
                <a:pPr algn="just"/>
                <a:r>
                  <a:rPr lang="en-ZA" sz="2400" dirty="0"/>
                  <a:t>It equals 1 when the indices are equal and 0 otherwise. It is denoted by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𝛿</m:t>
                        </m:r>
                      </m:e>
                      <m:sub>
                        <m:r>
                          <a:rPr lang="en-US" sz="2400" i="1">
                            <a:latin typeface="Cambria Math" panose="02040503050406030204" pitchFamily="18" charset="0"/>
                          </a:rPr>
                          <m:t>𝑖𝑗</m:t>
                        </m:r>
                      </m:sub>
                    </m:sSub>
                  </m:oMath>
                </a14:m>
                <a:r>
                  <a:rPr lang="en-US" sz="2400" dirty="0"/>
                  <a:t>.</a:t>
                </a:r>
              </a:p>
            </p:txBody>
          </p:sp>
        </mc:Choice>
        <mc:Fallback xmlns="">
          <p:sp>
            <p:nvSpPr>
              <p:cNvPr id="28" name="TextBox 27">
                <a:extLst>
                  <a:ext uri="{FF2B5EF4-FFF2-40B4-BE49-F238E27FC236}">
                    <a16:creationId xmlns:a16="http://schemas.microsoft.com/office/drawing/2014/main" id="{5F15610B-CEE4-0641-AE90-99498C327934}"/>
                  </a:ext>
                </a:extLst>
              </p:cNvPr>
              <p:cNvSpPr txBox="1">
                <a:spLocks noRot="1" noChangeAspect="1" noMove="1" noResize="1" noEditPoints="1" noAdjustHandles="1" noChangeArrowheads="1" noChangeShapeType="1" noTextEdit="1"/>
              </p:cNvSpPr>
              <p:nvPr/>
            </p:nvSpPr>
            <p:spPr>
              <a:xfrm>
                <a:off x="3846729" y="1742037"/>
                <a:ext cx="7528407" cy="1968744"/>
              </a:xfrm>
              <a:prstGeom prst="rect">
                <a:avLst/>
              </a:prstGeom>
              <a:blipFill>
                <a:blip r:embed="rId5"/>
                <a:stretch>
                  <a:fillRect l="-1178" t="-1923" r="-1178" b="-4487"/>
                </a:stretch>
              </a:blipFill>
            </p:spPr>
            <p:txBody>
              <a:bodyPr/>
              <a:lstStyle/>
              <a:p>
                <a:r>
                  <a:rPr lang="en-US">
                    <a:noFill/>
                  </a:rPr>
                  <a:t> </a:t>
                </a:r>
              </a:p>
            </p:txBody>
          </p:sp>
        </mc:Fallback>
      </mc:AlternateContent>
    </p:spTree>
    <p:extLst>
      <p:ext uri="{BB962C8B-B14F-4D97-AF65-F5344CB8AC3E}">
        <p14:creationId xmlns:p14="http://schemas.microsoft.com/office/powerpoint/2010/main" val="403363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Inner product</a:t>
            </a:r>
          </a:p>
        </p:txBody>
      </p:sp>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9</a:t>
            </a:fld>
            <a:endParaRPr lang="en-US"/>
          </a:p>
        </p:txBody>
      </p:sp>
      <p:grpSp>
        <p:nvGrpSpPr>
          <p:cNvPr id="11" name="Group 10">
            <a:extLst>
              <a:ext uri="{FF2B5EF4-FFF2-40B4-BE49-F238E27FC236}">
                <a16:creationId xmlns:a16="http://schemas.microsoft.com/office/drawing/2014/main" id="{6E46C147-54CE-2646-AA38-F27EFC31CFBD}"/>
              </a:ext>
            </a:extLst>
          </p:cNvPr>
          <p:cNvGrpSpPr/>
          <p:nvPr/>
        </p:nvGrpSpPr>
        <p:grpSpPr>
          <a:xfrm rot="1058285">
            <a:off x="282287" y="1365266"/>
            <a:ext cx="3119739" cy="3191898"/>
            <a:chOff x="275114" y="990288"/>
            <a:chExt cx="4033851" cy="3799220"/>
          </a:xfrm>
        </p:grpSpPr>
        <p:sp>
          <p:nvSpPr>
            <p:cNvPr id="48" name="Freeform 47">
              <a:extLst>
                <a:ext uri="{FF2B5EF4-FFF2-40B4-BE49-F238E27FC236}">
                  <a16:creationId xmlns:a16="http://schemas.microsoft.com/office/drawing/2014/main" id="{7B2DBE88-96F2-AA44-AF98-D652DA90A0B9}"/>
                </a:ext>
              </a:extLst>
            </p:cNvPr>
            <p:cNvSpPr/>
            <p:nvPr/>
          </p:nvSpPr>
          <p:spPr>
            <a:xfrm>
              <a:off x="401600" y="990288"/>
              <a:ext cx="706451" cy="135790"/>
            </a:xfrm>
            <a:custGeom>
              <a:avLst/>
              <a:gdLst>
                <a:gd name="connsiteX0" fmla="*/ 0 w 306977"/>
                <a:gd name="connsiteY0" fmla="*/ 42677 h 59005"/>
                <a:gd name="connsiteX1" fmla="*/ 160020 w 306977"/>
                <a:gd name="connsiteY1" fmla="*/ 223 h 59005"/>
                <a:gd name="connsiteX2" fmla="*/ 306977 w 306977"/>
                <a:gd name="connsiteY2" fmla="*/ 59005 h 59005"/>
              </a:gdLst>
              <a:ahLst/>
              <a:cxnLst>
                <a:cxn ang="0">
                  <a:pos x="connsiteX0" y="connsiteY0"/>
                </a:cxn>
                <a:cxn ang="0">
                  <a:pos x="connsiteX1" y="connsiteY1"/>
                </a:cxn>
                <a:cxn ang="0">
                  <a:pos x="connsiteX2" y="connsiteY2"/>
                </a:cxn>
              </a:cxnLst>
              <a:rect l="l" t="t" r="r" b="b"/>
              <a:pathLst>
                <a:path w="306977" h="59005">
                  <a:moveTo>
                    <a:pt x="0" y="42677"/>
                  </a:moveTo>
                  <a:cubicBezTo>
                    <a:pt x="54428" y="20089"/>
                    <a:pt x="108857" y="-2498"/>
                    <a:pt x="160020" y="223"/>
                  </a:cubicBezTo>
                  <a:cubicBezTo>
                    <a:pt x="211183" y="2944"/>
                    <a:pt x="259080" y="30974"/>
                    <a:pt x="306977" y="59005"/>
                  </a:cubicBezTo>
                </a:path>
              </a:pathLst>
            </a:custGeom>
            <a:noFill/>
            <a:ln cap="rnd">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0" name="Rectangle 49">
              <a:extLst>
                <a:ext uri="{FF2B5EF4-FFF2-40B4-BE49-F238E27FC236}">
                  <a16:creationId xmlns:a16="http://schemas.microsoft.com/office/drawing/2014/main" id="{F017D291-B431-D94F-9C52-08F61EDAFF1C}"/>
                </a:ext>
              </a:extLst>
            </p:cNvPr>
            <p:cNvSpPr/>
            <p:nvPr/>
          </p:nvSpPr>
          <p:spPr>
            <a:xfrm rot="20535314" flipV="1">
              <a:off x="694965" y="2261036"/>
              <a:ext cx="2483736" cy="2209238"/>
            </a:xfrm>
            <a:prstGeom prst="rect">
              <a:avLst/>
            </a:prstGeom>
            <a:gradFill>
              <a:gsLst>
                <a:gs pos="100000">
                  <a:schemeClr val="accent4">
                    <a:lumMod val="5000"/>
                    <a:lumOff val="95000"/>
                  </a:schemeClr>
                </a:gs>
                <a:gs pos="0">
                  <a:schemeClr val="accent4">
                    <a:lumMod val="45000"/>
                    <a:lumOff val="55000"/>
                  </a:schemeClr>
                </a:gs>
                <a:gs pos="37000">
                  <a:schemeClr val="accent4">
                    <a:lumMod val="30000"/>
                    <a:lumOff val="70000"/>
                    <a:alpha val="62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53" name="Straight Arrow Connector 52">
              <a:extLst>
                <a:ext uri="{FF2B5EF4-FFF2-40B4-BE49-F238E27FC236}">
                  <a16:creationId xmlns:a16="http://schemas.microsoft.com/office/drawing/2014/main" id="{DD556B02-083F-744C-8A00-9724ED48073E}"/>
                </a:ext>
              </a:extLst>
            </p:cNvPr>
            <p:cNvCxnSpPr>
              <a:cxnSpLocks/>
              <a:endCxn id="50" idx="3"/>
            </p:cNvCxnSpPr>
            <p:nvPr/>
          </p:nvCxnSpPr>
          <p:spPr>
            <a:xfrm flipV="1">
              <a:off x="1127897" y="2987163"/>
              <a:ext cx="1991722" cy="1802345"/>
            </a:xfrm>
            <a:prstGeom prst="straightConnector1">
              <a:avLst/>
            </a:prstGeom>
            <a:ln w="25400" cap="rnd">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EDC11EC-5FDF-9545-89DA-FCABA178AC88}"/>
                </a:ext>
              </a:extLst>
            </p:cNvPr>
            <p:cNvCxnSpPr>
              <a:cxnSpLocks/>
            </p:cNvCxnSpPr>
            <p:nvPr/>
          </p:nvCxnSpPr>
          <p:spPr>
            <a:xfrm rot="20541715" flipV="1">
              <a:off x="1053647" y="4290629"/>
              <a:ext cx="3255318" cy="5834"/>
            </a:xfrm>
            <a:prstGeom prst="straightConnector1">
              <a:avLst/>
            </a:prstGeom>
            <a:ln w="25400" cap="rnd">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9EA78226-F137-9648-B771-E122C76EE092}"/>
                    </a:ext>
                  </a:extLst>
                </p:cNvPr>
                <p:cNvSpPr/>
                <p:nvPr/>
              </p:nvSpPr>
              <p:spPr>
                <a:xfrm rot="19884569">
                  <a:off x="1689299" y="3238991"/>
                  <a:ext cx="47557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en-US" sz="2800" dirty="0"/>
                </a:p>
              </p:txBody>
            </p:sp>
          </mc:Choice>
          <mc:Fallback xmlns="">
            <p:sp>
              <p:nvSpPr>
                <p:cNvPr id="57" name="Rectangle 56">
                  <a:extLst>
                    <a:ext uri="{FF2B5EF4-FFF2-40B4-BE49-F238E27FC236}">
                      <a16:creationId xmlns:a16="http://schemas.microsoft.com/office/drawing/2014/main" id="{9EA78226-F137-9648-B771-E122C76EE092}"/>
                    </a:ext>
                  </a:extLst>
                </p:cNvPr>
                <p:cNvSpPr>
                  <a:spLocks noRot="1" noChangeAspect="1" noMove="1" noResize="1" noEditPoints="1" noAdjustHandles="1" noChangeArrowheads="1" noChangeShapeType="1" noTextEdit="1"/>
                </p:cNvSpPr>
                <p:nvPr/>
              </p:nvSpPr>
              <p:spPr>
                <a:xfrm rot="19884569">
                  <a:off x="1689299" y="3238991"/>
                  <a:ext cx="475579" cy="523220"/>
                </a:xfrm>
                <a:prstGeom prst="rect">
                  <a:avLst/>
                </a:prstGeom>
                <a:blipFill>
                  <a:blip r:embed="rId3"/>
                  <a:stretch>
                    <a:fillRect r="-2857"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E9617183-C75A-D441-BAC8-877E4D3762A9}"/>
                    </a:ext>
                  </a:extLst>
                </p:cNvPr>
                <p:cNvSpPr/>
                <p:nvPr/>
              </p:nvSpPr>
              <p:spPr>
                <a:xfrm rot="20541715">
                  <a:off x="2699219" y="4181757"/>
                  <a:ext cx="46827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𝑏</m:t>
                        </m:r>
                      </m:oMath>
                    </m:oMathPara>
                  </a14:m>
                  <a:endParaRPr lang="en-US" sz="2800" dirty="0"/>
                </a:p>
              </p:txBody>
            </p:sp>
          </mc:Choice>
          <mc:Fallback xmlns="">
            <p:sp>
              <p:nvSpPr>
                <p:cNvPr id="58" name="Rectangle 57">
                  <a:extLst>
                    <a:ext uri="{FF2B5EF4-FFF2-40B4-BE49-F238E27FC236}">
                      <a16:creationId xmlns:a16="http://schemas.microsoft.com/office/drawing/2014/main" id="{E9617183-C75A-D441-BAC8-877E4D3762A9}"/>
                    </a:ext>
                  </a:extLst>
                </p:cNvPr>
                <p:cNvSpPr>
                  <a:spLocks noRot="1" noChangeAspect="1" noMove="1" noResize="1" noEditPoints="1" noAdjustHandles="1" noChangeArrowheads="1" noChangeShapeType="1" noTextEdit="1"/>
                </p:cNvSpPr>
                <p:nvPr/>
              </p:nvSpPr>
              <p:spPr>
                <a:xfrm rot="20541715">
                  <a:off x="2699219" y="4181757"/>
                  <a:ext cx="468270" cy="523220"/>
                </a:xfrm>
                <a:prstGeom prst="rect">
                  <a:avLst/>
                </a:prstGeom>
                <a:blipFill>
                  <a:blip r:embed="rId4"/>
                  <a:stretch>
                    <a:fillRect l="-10345" r="-13793" b="-14286"/>
                  </a:stretch>
                </a:blipFill>
              </p:spPr>
              <p:txBody>
                <a:bodyPr/>
                <a:lstStyle/>
                <a:p>
                  <a:r>
                    <a:rPr lang="en-US">
                      <a:noFill/>
                    </a:rPr>
                    <a:t> </a:t>
                  </a:r>
                </a:p>
              </p:txBody>
            </p:sp>
          </mc:Fallback>
        </mc:AlternateContent>
        <p:sp>
          <p:nvSpPr>
            <p:cNvPr id="59" name="Freeform 58">
              <a:extLst>
                <a:ext uri="{FF2B5EF4-FFF2-40B4-BE49-F238E27FC236}">
                  <a16:creationId xmlns:a16="http://schemas.microsoft.com/office/drawing/2014/main" id="{60D70689-04A4-E04F-A4ED-065C20C4019D}"/>
                </a:ext>
              </a:extLst>
            </p:cNvPr>
            <p:cNvSpPr/>
            <p:nvPr/>
          </p:nvSpPr>
          <p:spPr>
            <a:xfrm rot="288810">
              <a:off x="2105427" y="3890727"/>
              <a:ext cx="319981" cy="441422"/>
            </a:xfrm>
            <a:custGeom>
              <a:avLst/>
              <a:gdLst>
                <a:gd name="connsiteX0" fmla="*/ 526273 w 526273"/>
                <a:gd name="connsiteY0" fmla="*/ 934135 h 934135"/>
                <a:gd name="connsiteX1" fmla="*/ 0 w 526273"/>
                <a:gd name="connsiteY1" fmla="*/ 0 h 934135"/>
                <a:gd name="connsiteX0" fmla="*/ 526273 w 526273"/>
                <a:gd name="connsiteY0" fmla="*/ 934135 h 934135"/>
                <a:gd name="connsiteX1" fmla="*/ 407861 w 526273"/>
                <a:gd name="connsiteY1" fmla="*/ 381548 h 934135"/>
                <a:gd name="connsiteX2" fmla="*/ 0 w 526273"/>
                <a:gd name="connsiteY2" fmla="*/ 0 h 934135"/>
                <a:gd name="connsiteX0" fmla="*/ 526273 w 526290"/>
                <a:gd name="connsiteY0" fmla="*/ 934135 h 934135"/>
                <a:gd name="connsiteX1" fmla="*/ 407861 w 526290"/>
                <a:gd name="connsiteY1" fmla="*/ 381548 h 934135"/>
                <a:gd name="connsiteX2" fmla="*/ 0 w 526290"/>
                <a:gd name="connsiteY2" fmla="*/ 0 h 934135"/>
                <a:gd name="connsiteX0" fmla="*/ 526273 w 526290"/>
                <a:gd name="connsiteY0" fmla="*/ 934135 h 934135"/>
                <a:gd name="connsiteX1" fmla="*/ 407861 w 526290"/>
                <a:gd name="connsiteY1" fmla="*/ 381548 h 934135"/>
                <a:gd name="connsiteX2" fmla="*/ 0 w 526290"/>
                <a:gd name="connsiteY2" fmla="*/ 0 h 934135"/>
                <a:gd name="connsiteX0" fmla="*/ 526273 w 526284"/>
                <a:gd name="connsiteY0" fmla="*/ 934135 h 934135"/>
                <a:gd name="connsiteX1" fmla="*/ 394281 w 526284"/>
                <a:gd name="connsiteY1" fmla="*/ 354269 h 934135"/>
                <a:gd name="connsiteX2" fmla="*/ 0 w 526284"/>
                <a:gd name="connsiteY2" fmla="*/ 0 h 934135"/>
                <a:gd name="connsiteX0" fmla="*/ 526273 w 526284"/>
                <a:gd name="connsiteY0" fmla="*/ 934135 h 934135"/>
                <a:gd name="connsiteX1" fmla="*/ 394281 w 526284"/>
                <a:gd name="connsiteY1" fmla="*/ 354269 h 934135"/>
                <a:gd name="connsiteX2" fmla="*/ 0 w 526284"/>
                <a:gd name="connsiteY2" fmla="*/ 0 h 934135"/>
                <a:gd name="connsiteX0" fmla="*/ 526273 w 526282"/>
                <a:gd name="connsiteY0" fmla="*/ 934135 h 934135"/>
                <a:gd name="connsiteX1" fmla="*/ 394281 w 526282"/>
                <a:gd name="connsiteY1" fmla="*/ 354269 h 934135"/>
                <a:gd name="connsiteX2" fmla="*/ 0 w 526282"/>
                <a:gd name="connsiteY2" fmla="*/ 0 h 934135"/>
                <a:gd name="connsiteX0" fmla="*/ 526273 w 526287"/>
                <a:gd name="connsiteY0" fmla="*/ 934135 h 934135"/>
                <a:gd name="connsiteX1" fmla="*/ 411152 w 526287"/>
                <a:gd name="connsiteY1" fmla="*/ 423983 h 934135"/>
                <a:gd name="connsiteX2" fmla="*/ 0 w 526287"/>
                <a:gd name="connsiteY2" fmla="*/ 0 h 934135"/>
                <a:gd name="connsiteX0" fmla="*/ 526273 w 526287"/>
                <a:gd name="connsiteY0" fmla="*/ 934135 h 934135"/>
                <a:gd name="connsiteX1" fmla="*/ 411152 w 526287"/>
                <a:gd name="connsiteY1" fmla="*/ 423983 h 934135"/>
                <a:gd name="connsiteX2" fmla="*/ 0 w 526287"/>
                <a:gd name="connsiteY2" fmla="*/ 0 h 934135"/>
                <a:gd name="connsiteX0" fmla="*/ 526273 w 526278"/>
                <a:gd name="connsiteY0" fmla="*/ 934135 h 934135"/>
                <a:gd name="connsiteX1" fmla="*/ 358360 w 526278"/>
                <a:gd name="connsiteY1" fmla="*/ 318356 h 934135"/>
                <a:gd name="connsiteX2" fmla="*/ 0 w 526278"/>
                <a:gd name="connsiteY2" fmla="*/ 0 h 934135"/>
              </a:gdLst>
              <a:ahLst/>
              <a:cxnLst>
                <a:cxn ang="0">
                  <a:pos x="connsiteX0" y="connsiteY0"/>
                </a:cxn>
                <a:cxn ang="0">
                  <a:pos x="connsiteX1" y="connsiteY1"/>
                </a:cxn>
                <a:cxn ang="0">
                  <a:pos x="connsiteX2" y="connsiteY2"/>
                </a:cxn>
              </a:cxnLst>
              <a:rect l="l" t="t" r="r" b="b"/>
              <a:pathLst>
                <a:path w="526278" h="934135">
                  <a:moveTo>
                    <a:pt x="526273" y="934135"/>
                  </a:moveTo>
                  <a:cubicBezTo>
                    <a:pt x="527043" y="738010"/>
                    <a:pt x="443597" y="506686"/>
                    <a:pt x="358360" y="318356"/>
                  </a:cubicBezTo>
                  <a:cubicBezTo>
                    <a:pt x="272034" y="166871"/>
                    <a:pt x="199329" y="107698"/>
                    <a:pt x="0" y="0"/>
                  </a:cubicBezTo>
                </a:path>
              </a:pathLst>
            </a:custGeom>
            <a:noFill/>
            <a:ln w="12700" cap="rnd">
              <a:solidFill>
                <a:srgbClr val="00B050"/>
              </a:solidFill>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717" tIns="25859" rIns="51717" bIns="25859" numCol="1" spcCol="0" rtlCol="0" fromWordArt="0" anchor="ctr" anchorCtr="0" forceAA="0" compatLnSpc="1">
              <a:prstTxWarp prst="textNoShape">
                <a:avLst/>
              </a:prstTxWarp>
              <a:noAutofit/>
            </a:bodyPr>
            <a:lstStyle/>
            <a:p>
              <a:pPr algn="ctr"/>
              <a:endParaRPr lang="en-US" sz="2800"/>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38D1EBE-6548-2E43-ADDB-C957085661BB}"/>
                    </a:ext>
                  </a:extLst>
                </p:cNvPr>
                <p:cNvSpPr/>
                <p:nvPr/>
              </p:nvSpPr>
              <p:spPr>
                <a:xfrm>
                  <a:off x="1385628" y="3982246"/>
                  <a:ext cx="1169978"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Cambria Math" panose="02040503050406030204" pitchFamily="18" charset="0"/>
                          </a:rPr>
                          <m:t>𝜃</m:t>
                        </m:r>
                      </m:oMath>
                    </m:oMathPara>
                  </a14:m>
                  <a:endParaRPr lang="en-US" sz="2800" dirty="0"/>
                </a:p>
              </p:txBody>
            </p:sp>
          </mc:Choice>
          <mc:Fallback xmlns="">
            <p:sp>
              <p:nvSpPr>
                <p:cNvPr id="60" name="Rectangle 59">
                  <a:extLst>
                    <a:ext uri="{FF2B5EF4-FFF2-40B4-BE49-F238E27FC236}">
                      <a16:creationId xmlns:a16="http://schemas.microsoft.com/office/drawing/2014/main" id="{D38D1EBE-6548-2E43-ADDB-C957085661BB}"/>
                    </a:ext>
                  </a:extLst>
                </p:cNvPr>
                <p:cNvSpPr>
                  <a:spLocks noRot="1" noChangeAspect="1" noMove="1" noResize="1" noEditPoints="1" noAdjustHandles="1" noChangeArrowheads="1" noChangeShapeType="1" noTextEdit="1"/>
                </p:cNvSpPr>
                <p:nvPr/>
              </p:nvSpPr>
              <p:spPr>
                <a:xfrm>
                  <a:off x="1385628" y="3982246"/>
                  <a:ext cx="1169978" cy="523220"/>
                </a:xfrm>
                <a:prstGeom prst="rect">
                  <a:avLst/>
                </a:prstGeom>
                <a:blipFill>
                  <a:blip r:embed="rId5"/>
                  <a:stretch>
                    <a:fillRect/>
                  </a:stretch>
                </a:blipFill>
              </p:spPr>
              <p:txBody>
                <a:bodyPr/>
                <a:lstStyle/>
                <a:p>
                  <a:r>
                    <a:rPr lang="en-US">
                      <a:noFill/>
                    </a:rPr>
                    <a:t> </a:t>
                  </a:r>
                </a:p>
              </p:txBody>
            </p:sp>
          </mc:Fallback>
        </mc:AlternateContent>
        <p:sp>
          <p:nvSpPr>
            <p:cNvPr id="61" name="Delay 60">
              <a:extLst>
                <a:ext uri="{FF2B5EF4-FFF2-40B4-BE49-F238E27FC236}">
                  <a16:creationId xmlns:a16="http://schemas.microsoft.com/office/drawing/2014/main" id="{940DC121-B853-5944-8C36-67D5E1E07274}"/>
                </a:ext>
              </a:extLst>
            </p:cNvPr>
            <p:cNvSpPr/>
            <p:nvPr/>
          </p:nvSpPr>
          <p:spPr>
            <a:xfrm rot="4239121" flipH="1">
              <a:off x="848705" y="1125044"/>
              <a:ext cx="724986" cy="605768"/>
            </a:xfrm>
            <a:prstGeom prst="flowChartDelay">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62" name="Chord 61">
              <a:extLst>
                <a:ext uri="{FF2B5EF4-FFF2-40B4-BE49-F238E27FC236}">
                  <a16:creationId xmlns:a16="http://schemas.microsoft.com/office/drawing/2014/main" id="{0BC6CB31-ACDD-FB4D-9F3A-9CE7099C538B}"/>
                </a:ext>
              </a:extLst>
            </p:cNvPr>
            <p:cNvSpPr/>
            <p:nvPr/>
          </p:nvSpPr>
          <p:spPr>
            <a:xfrm rot="4239121">
              <a:off x="927898" y="1015338"/>
              <a:ext cx="1250382" cy="2555949"/>
            </a:xfrm>
            <a:prstGeom prst="chord">
              <a:avLst>
                <a:gd name="adj1" fmla="val 5472977"/>
                <a:gd name="adj2" fmla="val 16200000"/>
              </a:avLst>
            </a:prstGeom>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63" name="Oval 62">
              <a:extLst>
                <a:ext uri="{FF2B5EF4-FFF2-40B4-BE49-F238E27FC236}">
                  <a16:creationId xmlns:a16="http://schemas.microsoft.com/office/drawing/2014/main" id="{7806B0F5-D14A-384F-914D-1285B5E14CFD}"/>
                </a:ext>
              </a:extLst>
            </p:cNvPr>
            <p:cNvSpPr/>
            <p:nvPr/>
          </p:nvSpPr>
          <p:spPr>
            <a:xfrm rot="4239121">
              <a:off x="1260160" y="1027632"/>
              <a:ext cx="594490" cy="2555949"/>
            </a:xfrm>
            <a:prstGeom prst="ellipse">
              <a:avLst/>
            </a:prstGeom>
            <a:solidFill>
              <a:srgbClr val="FFF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4" name="Freeform 63">
              <a:extLst>
                <a:ext uri="{FF2B5EF4-FFF2-40B4-BE49-F238E27FC236}">
                  <a16:creationId xmlns:a16="http://schemas.microsoft.com/office/drawing/2014/main" id="{C724DC03-A093-B943-AB99-A581C97B5079}"/>
                </a:ext>
              </a:extLst>
            </p:cNvPr>
            <p:cNvSpPr/>
            <p:nvPr/>
          </p:nvSpPr>
          <p:spPr>
            <a:xfrm>
              <a:off x="341684" y="1800685"/>
              <a:ext cx="2396590" cy="929521"/>
            </a:xfrm>
            <a:custGeom>
              <a:avLst/>
              <a:gdLst>
                <a:gd name="connsiteX0" fmla="*/ 0 w 1047750"/>
                <a:gd name="connsiteY0" fmla="*/ 361950 h 361950"/>
                <a:gd name="connsiteX1" fmla="*/ 1047750 w 1047750"/>
                <a:gd name="connsiteY1"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3602 h 363602"/>
                <a:gd name="connsiteX1" fmla="*/ 495300 w 1047750"/>
                <a:gd name="connsiteY1" fmla="*/ 68327 h 363602"/>
                <a:gd name="connsiteX2" fmla="*/ 1047750 w 1047750"/>
                <a:gd name="connsiteY2" fmla="*/ 1652 h 363602"/>
                <a:gd name="connsiteX0" fmla="*/ 0 w 1044575"/>
                <a:gd name="connsiteY0" fmla="*/ 372252 h 372252"/>
                <a:gd name="connsiteX1" fmla="*/ 495300 w 1044575"/>
                <a:gd name="connsiteY1" fmla="*/ 76977 h 372252"/>
                <a:gd name="connsiteX2" fmla="*/ 1044575 w 1044575"/>
                <a:gd name="connsiteY2" fmla="*/ 777 h 372252"/>
                <a:gd name="connsiteX0" fmla="*/ 0 w 1044575"/>
                <a:gd name="connsiteY0" fmla="*/ 372252 h 372252"/>
                <a:gd name="connsiteX1" fmla="*/ 495300 w 1044575"/>
                <a:gd name="connsiteY1" fmla="*/ 76977 h 372252"/>
                <a:gd name="connsiteX2" fmla="*/ 1044575 w 1044575"/>
                <a:gd name="connsiteY2" fmla="*/ 777 h 372252"/>
                <a:gd name="connsiteX0" fmla="*/ 0 w 1044575"/>
                <a:gd name="connsiteY0" fmla="*/ 374422 h 374422"/>
                <a:gd name="connsiteX1" fmla="*/ 495300 w 1044575"/>
                <a:gd name="connsiteY1" fmla="*/ 79147 h 374422"/>
                <a:gd name="connsiteX2" fmla="*/ 1044575 w 1044575"/>
                <a:gd name="connsiteY2" fmla="*/ 2947 h 374422"/>
                <a:gd name="connsiteX0" fmla="*/ 0 w 1041400"/>
                <a:gd name="connsiteY0" fmla="*/ 390936 h 390936"/>
                <a:gd name="connsiteX1" fmla="*/ 492125 w 1041400"/>
                <a:gd name="connsiteY1" fmla="*/ 76611 h 390936"/>
                <a:gd name="connsiteX2" fmla="*/ 1041400 w 1041400"/>
                <a:gd name="connsiteY2" fmla="*/ 411 h 390936"/>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403909 h 403909"/>
                <a:gd name="connsiteX1" fmla="*/ 66675 w 1041400"/>
                <a:gd name="connsiteY1" fmla="*/ 311834 h 403909"/>
                <a:gd name="connsiteX2" fmla="*/ 492125 w 1041400"/>
                <a:gd name="connsiteY2" fmla="*/ 89584 h 403909"/>
                <a:gd name="connsiteX3" fmla="*/ 920750 w 1041400"/>
                <a:gd name="connsiteY3" fmla="*/ 3859 h 403909"/>
                <a:gd name="connsiteX4" fmla="*/ 1041400 w 1041400"/>
                <a:gd name="connsiteY4" fmla="*/ 13384 h 403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400" h="403909">
                  <a:moveTo>
                    <a:pt x="0" y="403909"/>
                  </a:moveTo>
                  <a:cubicBezTo>
                    <a:pt x="11642" y="391738"/>
                    <a:pt x="-12171" y="380096"/>
                    <a:pt x="66675" y="311834"/>
                  </a:cubicBezTo>
                  <a:cubicBezTo>
                    <a:pt x="151871" y="253097"/>
                    <a:pt x="349779" y="140913"/>
                    <a:pt x="492125" y="89584"/>
                  </a:cubicBezTo>
                  <a:cubicBezTo>
                    <a:pt x="634471" y="38255"/>
                    <a:pt x="829204" y="16559"/>
                    <a:pt x="920750" y="3859"/>
                  </a:cubicBezTo>
                  <a:cubicBezTo>
                    <a:pt x="1012296" y="-8841"/>
                    <a:pt x="1021292" y="13913"/>
                    <a:pt x="1041400" y="13384"/>
                  </a:cubicBezTo>
                </a:path>
              </a:pathLst>
            </a:custGeom>
            <a:noFill/>
            <a:ln w="88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3CDE91-B7D7-A048-A4BF-CC28179373C5}"/>
                  </a:ext>
                </a:extLst>
              </p:cNvPr>
              <p:cNvSpPr txBox="1"/>
              <p:nvPr/>
            </p:nvSpPr>
            <p:spPr>
              <a:xfrm>
                <a:off x="3963190" y="2307700"/>
                <a:ext cx="654012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sr-Latn-RS" sz="2800" b="1" i="1" smtClean="0">
                              <a:solidFill>
                                <a:srgbClr val="FF0000"/>
                              </a:solidFill>
                              <a:latin typeface="Cambria Math" panose="02040503050406030204" pitchFamily="18" charset="0"/>
                            </a:rPr>
                          </m:ctrlPr>
                        </m:dPr>
                        <m:e>
                          <m:r>
                            <a:rPr lang="en-US" sz="2800" b="1" i="1">
                              <a:solidFill>
                                <a:srgbClr val="FF0000"/>
                              </a:solidFill>
                              <a:latin typeface="Cambria Math" panose="02040503050406030204" pitchFamily="18" charset="0"/>
                            </a:rPr>
                            <m:t>𝒂</m:t>
                          </m:r>
                        </m:e>
                        <m:e>
                          <m:r>
                            <a:rPr lang="en-US" sz="2800" b="1" i="1">
                              <a:solidFill>
                                <a:srgbClr val="FF0000"/>
                              </a:solidFill>
                              <a:latin typeface="Cambria Math" panose="02040503050406030204" pitchFamily="18" charset="0"/>
                            </a:rPr>
                            <m:t>𝒃</m:t>
                          </m:r>
                        </m:e>
                      </m:d>
                      <m:r>
                        <a:rPr lang="sr-Latn-RS" sz="2800" b="1" i="1">
                          <a:latin typeface="Cambria Math" panose="02040503050406030204" pitchFamily="18" charset="0"/>
                        </a:rPr>
                        <m:t>=</m:t>
                      </m:r>
                      <m:d>
                        <m:dPr>
                          <m:begChr m:val="‖"/>
                          <m:endChr m:val=""/>
                          <m:ctrlPr>
                            <a:rPr lang="en-ZA" sz="2800" b="1" i="1">
                              <a:latin typeface="Cambria Math" panose="02040503050406030204" pitchFamily="18" charset="0"/>
                            </a:rPr>
                          </m:ctrlPr>
                        </m:dPr>
                        <m:e>
                          <m:d>
                            <m:dPr>
                              <m:begChr m:val=""/>
                              <m:endChr m:val="‖"/>
                              <m:ctrlPr>
                                <a:rPr lang="en-ZA" sz="2800" b="1" i="1">
                                  <a:latin typeface="Cambria Math" panose="02040503050406030204" pitchFamily="18" charset="0"/>
                                </a:rPr>
                              </m:ctrlPr>
                            </m:dPr>
                            <m:e>
                              <m:r>
                                <a:rPr lang="sr-Latn-RS" sz="2800" b="1" i="1">
                                  <a:latin typeface="Cambria Math" panose="02040503050406030204" pitchFamily="18" charset="0"/>
                                </a:rPr>
                                <m:t>𝒃</m:t>
                              </m:r>
                            </m:e>
                          </m:d>
                        </m:e>
                      </m:d>
                      <m:r>
                        <a:rPr lang="sr-Latn-RS" sz="2800" b="1" i="1">
                          <a:latin typeface="Cambria Math" panose="02040503050406030204" pitchFamily="18" charset="0"/>
                        </a:rPr>
                        <m:t> </m:t>
                      </m:r>
                      <m:d>
                        <m:dPr>
                          <m:ctrlPr>
                            <a:rPr lang="en-ZA" sz="2800" b="1" i="1">
                              <a:latin typeface="Cambria Math" panose="02040503050406030204" pitchFamily="18" charset="0"/>
                            </a:rPr>
                          </m:ctrlPr>
                        </m:dPr>
                        <m:e>
                          <m:d>
                            <m:dPr>
                              <m:begChr m:val="‖"/>
                              <m:endChr m:val=""/>
                              <m:ctrlPr>
                                <a:rPr lang="en-ZA" sz="2800" b="1" i="1">
                                  <a:latin typeface="Cambria Math" panose="02040503050406030204" pitchFamily="18" charset="0"/>
                                </a:rPr>
                              </m:ctrlPr>
                            </m:dPr>
                            <m:e>
                              <m:d>
                                <m:dPr>
                                  <m:begChr m:val=""/>
                                  <m:endChr m:val="‖"/>
                                  <m:ctrlPr>
                                    <a:rPr lang="en-ZA" sz="2800" b="1" i="1">
                                      <a:latin typeface="Cambria Math" panose="02040503050406030204" pitchFamily="18" charset="0"/>
                                    </a:rPr>
                                  </m:ctrlPr>
                                </m:dPr>
                                <m:e>
                                  <m:r>
                                    <a:rPr lang="sr-Latn-RS" sz="2800" b="1" i="1">
                                      <a:latin typeface="Cambria Math" panose="02040503050406030204" pitchFamily="18" charset="0"/>
                                    </a:rPr>
                                    <m:t>𝒂</m:t>
                                  </m:r>
                                </m:e>
                              </m:d>
                            </m:e>
                          </m:d>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cos</m:t>
                              </m:r>
                            </m:fName>
                            <m:e>
                              <m:r>
                                <a:rPr lang="sr-Latn-RS" sz="2800" i="1">
                                  <a:latin typeface="Cambria Math" panose="02040503050406030204" pitchFamily="18" charset="0"/>
                                </a:rPr>
                                <m:t>𝜃</m:t>
                              </m:r>
                            </m:e>
                          </m:func>
                        </m:e>
                      </m:d>
                      <m:r>
                        <a:rPr lang="sr-Latn-RS" sz="2800" i="1">
                          <a:latin typeface="Cambria Math" panose="02040503050406030204" pitchFamily="18" charset="0"/>
                        </a:rPr>
                        <m:t>=</m:t>
                      </m:r>
                      <m:d>
                        <m:dPr>
                          <m:begChr m:val="‖"/>
                          <m:endChr m:val=""/>
                          <m:ctrlPr>
                            <a:rPr lang="en-ZA" sz="2800" b="1" i="1">
                              <a:latin typeface="Cambria Math" panose="02040503050406030204" pitchFamily="18" charset="0"/>
                            </a:rPr>
                          </m:ctrlPr>
                        </m:dPr>
                        <m:e>
                          <m:d>
                            <m:dPr>
                              <m:begChr m:val=""/>
                              <m:endChr m:val="‖"/>
                              <m:ctrlPr>
                                <a:rPr lang="en-ZA" sz="2800" b="1" i="1">
                                  <a:latin typeface="Cambria Math" panose="02040503050406030204" pitchFamily="18" charset="0"/>
                                </a:rPr>
                              </m:ctrlPr>
                            </m:dPr>
                            <m:e>
                              <m:r>
                                <a:rPr lang="sr-Latn-RS" sz="2800" b="1" i="1">
                                  <a:latin typeface="Cambria Math" panose="02040503050406030204" pitchFamily="18" charset="0"/>
                                </a:rPr>
                                <m:t>𝒂</m:t>
                              </m:r>
                            </m:e>
                          </m:d>
                        </m:e>
                      </m:d>
                      <m:r>
                        <a:rPr lang="sr-Latn-RS" sz="2800" b="1" i="1">
                          <a:latin typeface="Cambria Math" panose="02040503050406030204" pitchFamily="18" charset="0"/>
                        </a:rPr>
                        <m:t> </m:t>
                      </m:r>
                      <m:d>
                        <m:dPr>
                          <m:begChr m:val="‖"/>
                          <m:endChr m:val=""/>
                          <m:ctrlPr>
                            <a:rPr lang="en-ZA" sz="2800" b="1" i="1">
                              <a:latin typeface="Cambria Math" panose="02040503050406030204" pitchFamily="18" charset="0"/>
                            </a:rPr>
                          </m:ctrlPr>
                        </m:dPr>
                        <m:e>
                          <m:d>
                            <m:dPr>
                              <m:begChr m:val=""/>
                              <m:endChr m:val="‖"/>
                              <m:ctrlPr>
                                <a:rPr lang="en-ZA" sz="2800" b="1" i="1">
                                  <a:latin typeface="Cambria Math" panose="02040503050406030204" pitchFamily="18" charset="0"/>
                                </a:rPr>
                              </m:ctrlPr>
                            </m:dPr>
                            <m:e>
                              <m:r>
                                <a:rPr lang="sr-Latn-RS" sz="2800" b="1" i="1">
                                  <a:latin typeface="Cambria Math" panose="02040503050406030204" pitchFamily="18" charset="0"/>
                                </a:rPr>
                                <m:t>𝒃</m:t>
                              </m:r>
                            </m:e>
                          </m:d>
                        </m:e>
                      </m:d>
                      <m:func>
                        <m:funcPr>
                          <m:ctrlPr>
                            <a:rPr lang="en-US" sz="2800" i="1">
                              <a:latin typeface="Cambria Math" panose="02040503050406030204" pitchFamily="18" charset="0"/>
                            </a:rPr>
                          </m:ctrlPr>
                        </m:funcPr>
                        <m:fName>
                          <m:r>
                            <m:rPr>
                              <m:sty m:val="p"/>
                            </m:rPr>
                            <a:rPr lang="sr-Latn-RS" sz="2800">
                              <a:latin typeface="Cambria Math" panose="02040503050406030204" pitchFamily="18" charset="0"/>
                            </a:rPr>
                            <m:t>cos</m:t>
                          </m:r>
                        </m:fName>
                        <m:e>
                          <m:r>
                            <a:rPr lang="sr-Latn-RS" sz="2800" i="1">
                              <a:latin typeface="Cambria Math" panose="02040503050406030204" pitchFamily="18" charset="0"/>
                            </a:rPr>
                            <m:t>𝜃</m:t>
                          </m:r>
                        </m:e>
                      </m:func>
                    </m:oMath>
                  </m:oMathPara>
                </a14:m>
                <a:endParaRPr lang="en-US" sz="2800" dirty="0"/>
              </a:p>
            </p:txBody>
          </p:sp>
        </mc:Choice>
        <mc:Fallback xmlns="">
          <p:sp>
            <p:nvSpPr>
              <p:cNvPr id="4" name="TextBox 3">
                <a:extLst>
                  <a:ext uri="{FF2B5EF4-FFF2-40B4-BE49-F238E27FC236}">
                    <a16:creationId xmlns:a16="http://schemas.microsoft.com/office/drawing/2014/main" id="{D03CDE91-B7D7-A048-A4BF-CC28179373C5}"/>
                  </a:ext>
                </a:extLst>
              </p:cNvPr>
              <p:cNvSpPr txBox="1">
                <a:spLocks noRot="1" noChangeAspect="1" noMove="1" noResize="1" noEditPoints="1" noAdjustHandles="1" noChangeArrowheads="1" noChangeShapeType="1" noTextEdit="1"/>
              </p:cNvSpPr>
              <p:nvPr/>
            </p:nvSpPr>
            <p:spPr>
              <a:xfrm>
                <a:off x="3963190" y="2307700"/>
                <a:ext cx="6540124" cy="523220"/>
              </a:xfrm>
              <a:prstGeom prst="rect">
                <a:avLst/>
              </a:prstGeom>
              <a:blipFill>
                <a:blip r:embed="rId6"/>
                <a:stretch>
                  <a:fillRect t="-128571" b="-1904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66E8D0B-3537-7342-AB15-1C50BA8B4D03}"/>
                  </a:ext>
                </a:extLst>
              </p:cNvPr>
              <p:cNvSpPr/>
              <p:nvPr/>
            </p:nvSpPr>
            <p:spPr>
              <a:xfrm>
                <a:off x="2980312" y="3138365"/>
                <a:ext cx="9211688" cy="13131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sr-Latn-RS" sz="2800" b="1" i="1" smtClean="0">
                              <a:solidFill>
                                <a:srgbClr val="FF0000"/>
                              </a:solidFill>
                              <a:latin typeface="Cambria Math" panose="02040503050406030204" pitchFamily="18" charset="0"/>
                            </a:rPr>
                          </m:ctrlPr>
                        </m:dPr>
                        <m:e>
                          <m:r>
                            <a:rPr lang="en-US" sz="2800" b="1" i="1">
                              <a:solidFill>
                                <a:srgbClr val="FF0000"/>
                              </a:solidFill>
                              <a:latin typeface="Cambria Math" panose="02040503050406030204" pitchFamily="18" charset="0"/>
                            </a:rPr>
                            <m:t>𝒂</m:t>
                          </m:r>
                        </m:e>
                        <m:e>
                          <m:r>
                            <a:rPr lang="en-US" sz="2800" b="1" i="1">
                              <a:solidFill>
                                <a:srgbClr val="FF0000"/>
                              </a:solidFill>
                              <a:latin typeface="Cambria Math" panose="02040503050406030204" pitchFamily="18" charset="0"/>
                            </a:rPr>
                            <m:t>𝒃</m:t>
                          </m:r>
                        </m:e>
                      </m:d>
                      <m:r>
                        <a:rPr lang="sr-Latn-RS" sz="2800" b="1" i="1">
                          <a:latin typeface="Cambria Math" panose="02040503050406030204" pitchFamily="18" charset="0"/>
                        </a:rPr>
                        <m:t>=</m:t>
                      </m:r>
                      <m:d>
                        <m:dPr>
                          <m:ctrlPr>
                            <a:rPr lang="en-ZA" sz="2800" i="1">
                              <a:latin typeface="Cambria Math" panose="02040503050406030204" pitchFamily="18" charset="0"/>
                            </a:rPr>
                          </m:ctrlPr>
                        </m:dPr>
                        <m:e>
                          <m:m>
                            <m:mPr>
                              <m:mcs>
                                <m:mc>
                                  <m:mcPr>
                                    <m:count m:val="3"/>
                                    <m:mcJc m:val="center"/>
                                  </m:mcPr>
                                </m:mc>
                              </m:mcs>
                              <m:ctrlPr>
                                <a:rPr lang="en-ZA" sz="2800" i="1">
                                  <a:latin typeface="Cambria Math" panose="02040503050406030204" pitchFamily="18" charset="0"/>
                                </a:rPr>
                              </m:ctrlPr>
                            </m:mPr>
                            <m:mr>
                              <m:e>
                                <m:sSubSup>
                                  <m:sSubSupPr>
                                    <m:ctrlPr>
                                      <a:rPr lang="en-ZA" sz="2800" i="1">
                                        <a:latin typeface="Cambria Math" panose="02040503050406030204" pitchFamily="18" charset="0"/>
                                      </a:rPr>
                                    </m:ctrlPr>
                                  </m:sSubSupPr>
                                  <m:e>
                                    <m:r>
                                      <a:rPr lang="sr-Latn-RS" sz="2800" i="1">
                                        <a:latin typeface="Cambria Math" panose="02040503050406030204" pitchFamily="18" charset="0"/>
                                      </a:rPr>
                                      <m:t>𝑎</m:t>
                                    </m:r>
                                  </m:e>
                                  <m:sub>
                                    <m:r>
                                      <a:rPr lang="sr-Latn-RS" sz="2800" i="1">
                                        <a:latin typeface="Cambria Math" panose="02040503050406030204" pitchFamily="18" charset="0"/>
                                      </a:rPr>
                                      <m:t>1</m:t>
                                    </m:r>
                                  </m:sub>
                                  <m:sup>
                                    <m:r>
                                      <a:rPr lang="sr-Latn-RS" sz="2800" i="1">
                                        <a:latin typeface="Cambria Math" panose="02040503050406030204" pitchFamily="18" charset="0"/>
                                      </a:rPr>
                                      <m:t>∗</m:t>
                                    </m:r>
                                  </m:sup>
                                </m:sSubSup>
                              </m:e>
                              <m:e>
                                <m:r>
                                  <a:rPr lang="sr-Latn-RS" sz="2800" i="1">
                                    <a:latin typeface="Cambria Math" panose="02040503050406030204" pitchFamily="18" charset="0"/>
                                  </a:rPr>
                                  <m:t>⋯</m:t>
                                </m:r>
                              </m:e>
                              <m:e>
                                <m:sSubSup>
                                  <m:sSubSupPr>
                                    <m:ctrlPr>
                                      <a:rPr lang="en-ZA" sz="2800" i="1">
                                        <a:latin typeface="Cambria Math" panose="02040503050406030204" pitchFamily="18" charset="0"/>
                                      </a:rPr>
                                    </m:ctrlPr>
                                  </m:sSubSupPr>
                                  <m:e>
                                    <m:r>
                                      <a:rPr lang="sr-Latn-RS" sz="2800" i="1">
                                        <a:latin typeface="Cambria Math" panose="02040503050406030204" pitchFamily="18" charset="0"/>
                                      </a:rPr>
                                      <m:t>𝑎</m:t>
                                    </m:r>
                                  </m:e>
                                  <m:sub>
                                    <m:r>
                                      <a:rPr lang="sr-Latn-RS" sz="2800" i="1">
                                        <a:latin typeface="Cambria Math" panose="02040503050406030204" pitchFamily="18" charset="0"/>
                                      </a:rPr>
                                      <m:t>𝑛</m:t>
                                    </m:r>
                                  </m:sub>
                                  <m:sup>
                                    <m:r>
                                      <a:rPr lang="sr-Latn-RS" sz="2800" i="1">
                                        <a:latin typeface="Cambria Math" panose="02040503050406030204" pitchFamily="18" charset="0"/>
                                      </a:rPr>
                                      <m:t>∗</m:t>
                                    </m:r>
                                  </m:sup>
                                </m:sSubSup>
                              </m:e>
                            </m:mr>
                          </m:m>
                        </m:e>
                      </m:d>
                      <m:d>
                        <m:dPr>
                          <m:ctrlPr>
                            <a:rPr lang="en-ZA" sz="2800" i="1">
                              <a:latin typeface="Cambria Math" panose="02040503050406030204" pitchFamily="18" charset="0"/>
                            </a:rPr>
                          </m:ctrlPr>
                        </m:dPr>
                        <m:e>
                          <m:m>
                            <m:mPr>
                              <m:mcs>
                                <m:mc>
                                  <m:mcPr>
                                    <m:count m:val="1"/>
                                    <m:mcJc m:val="center"/>
                                  </m:mcPr>
                                </m:mc>
                              </m:mcs>
                              <m:ctrlPr>
                                <a:rPr lang="en-ZA" sz="2800" i="1">
                                  <a:latin typeface="Cambria Math" panose="02040503050406030204" pitchFamily="18" charset="0"/>
                                </a:rPr>
                              </m:ctrlPr>
                            </m:mPr>
                            <m:mr>
                              <m:e>
                                <m:sSub>
                                  <m:sSubPr>
                                    <m:ctrlPr>
                                      <a:rPr lang="en-ZA" sz="2800" i="1">
                                        <a:latin typeface="Cambria Math" panose="02040503050406030204" pitchFamily="18" charset="0"/>
                                      </a:rPr>
                                    </m:ctrlPr>
                                  </m:sSubPr>
                                  <m:e>
                                    <m:r>
                                      <a:rPr lang="sr-Latn-RS" sz="2800" i="1">
                                        <a:latin typeface="Cambria Math" panose="02040503050406030204" pitchFamily="18" charset="0"/>
                                      </a:rPr>
                                      <m:t>𝑏</m:t>
                                    </m:r>
                                  </m:e>
                                  <m:sub>
                                    <m:r>
                                      <a:rPr lang="sr-Latn-RS" sz="2800" i="1">
                                        <a:latin typeface="Cambria Math" panose="02040503050406030204" pitchFamily="18" charset="0"/>
                                      </a:rPr>
                                      <m:t>1</m:t>
                                    </m:r>
                                  </m:sub>
                                </m:sSub>
                              </m:e>
                            </m:mr>
                            <m:mr>
                              <m:e>
                                <m:r>
                                  <a:rPr lang="sr-Latn-RS" sz="2800" i="1">
                                    <a:latin typeface="Cambria Math" panose="02040503050406030204" pitchFamily="18" charset="0"/>
                                  </a:rPr>
                                  <m:t>⋮</m:t>
                                </m:r>
                              </m:e>
                            </m:mr>
                            <m:mr>
                              <m:e>
                                <m:sSub>
                                  <m:sSubPr>
                                    <m:ctrlPr>
                                      <a:rPr lang="en-ZA" sz="2800" i="1">
                                        <a:latin typeface="Cambria Math" panose="02040503050406030204" pitchFamily="18" charset="0"/>
                                      </a:rPr>
                                    </m:ctrlPr>
                                  </m:sSubPr>
                                  <m:e>
                                    <m:r>
                                      <a:rPr lang="sr-Latn-RS" sz="2800" i="1">
                                        <a:latin typeface="Cambria Math" panose="02040503050406030204" pitchFamily="18" charset="0"/>
                                      </a:rPr>
                                      <m:t>𝑏</m:t>
                                    </m:r>
                                  </m:e>
                                  <m:sub>
                                    <m:r>
                                      <a:rPr lang="sr-Latn-RS" sz="2800" i="1">
                                        <a:latin typeface="Cambria Math" panose="02040503050406030204" pitchFamily="18" charset="0"/>
                                      </a:rPr>
                                      <m:t>𝑛</m:t>
                                    </m:r>
                                  </m:sub>
                                </m:sSub>
                              </m:e>
                            </m:mr>
                          </m:m>
                        </m:e>
                      </m:d>
                      <m:r>
                        <a:rPr lang="sr-Latn-RS" sz="2800" i="1">
                          <a:latin typeface="Cambria Math" panose="02040503050406030204" pitchFamily="18" charset="0"/>
                        </a:rPr>
                        <m:t>=</m:t>
                      </m:r>
                      <m:sSubSup>
                        <m:sSubSupPr>
                          <m:ctrlPr>
                            <a:rPr lang="en-ZA" sz="2800" i="1">
                              <a:latin typeface="Cambria Math" panose="02040503050406030204" pitchFamily="18" charset="0"/>
                            </a:rPr>
                          </m:ctrlPr>
                        </m:sSubSupPr>
                        <m:e>
                          <m:r>
                            <a:rPr lang="sr-Latn-RS" sz="2800" i="1">
                              <a:latin typeface="Cambria Math" panose="02040503050406030204" pitchFamily="18" charset="0"/>
                            </a:rPr>
                            <m:t>𝑎</m:t>
                          </m:r>
                        </m:e>
                        <m:sub>
                          <m:r>
                            <a:rPr lang="sr-Latn-RS" sz="2800" i="1">
                              <a:latin typeface="Cambria Math" panose="02040503050406030204" pitchFamily="18" charset="0"/>
                            </a:rPr>
                            <m:t>1</m:t>
                          </m:r>
                        </m:sub>
                        <m:sup>
                          <m:r>
                            <a:rPr lang="sr-Latn-RS" sz="2800" i="1">
                              <a:latin typeface="Cambria Math" panose="02040503050406030204" pitchFamily="18" charset="0"/>
                            </a:rPr>
                            <m:t>∗</m:t>
                          </m:r>
                        </m:sup>
                      </m:sSubSup>
                      <m:sSub>
                        <m:sSubPr>
                          <m:ctrlPr>
                            <a:rPr lang="en-ZA" sz="2800" i="1">
                              <a:latin typeface="Cambria Math" panose="02040503050406030204" pitchFamily="18" charset="0"/>
                            </a:rPr>
                          </m:ctrlPr>
                        </m:sSubPr>
                        <m:e>
                          <m:r>
                            <a:rPr lang="sr-Latn-RS" sz="2800" i="1">
                              <a:latin typeface="Cambria Math" panose="02040503050406030204" pitchFamily="18" charset="0"/>
                            </a:rPr>
                            <m:t>𝑏</m:t>
                          </m:r>
                        </m:e>
                        <m:sub>
                          <m:r>
                            <a:rPr lang="sr-Latn-RS" sz="2800" i="1">
                              <a:latin typeface="Cambria Math" panose="02040503050406030204" pitchFamily="18" charset="0"/>
                            </a:rPr>
                            <m:t>1</m:t>
                          </m:r>
                        </m:sub>
                      </m:sSub>
                      <m:r>
                        <a:rPr lang="sr-Latn-RS" sz="2800" i="1">
                          <a:latin typeface="Cambria Math" panose="02040503050406030204" pitchFamily="18" charset="0"/>
                        </a:rPr>
                        <m:t>+⋯+</m:t>
                      </m:r>
                      <m:sSubSup>
                        <m:sSubSupPr>
                          <m:ctrlPr>
                            <a:rPr lang="en-ZA" sz="2800" i="1">
                              <a:latin typeface="Cambria Math" panose="02040503050406030204" pitchFamily="18" charset="0"/>
                            </a:rPr>
                          </m:ctrlPr>
                        </m:sSubSupPr>
                        <m:e>
                          <m:r>
                            <a:rPr lang="sr-Latn-RS" sz="2800" i="1">
                              <a:latin typeface="Cambria Math" panose="02040503050406030204" pitchFamily="18" charset="0"/>
                            </a:rPr>
                            <m:t>𝑎</m:t>
                          </m:r>
                        </m:e>
                        <m:sub>
                          <m:r>
                            <a:rPr lang="sr-Latn-RS" sz="2800" i="1">
                              <a:latin typeface="Cambria Math" panose="02040503050406030204" pitchFamily="18" charset="0"/>
                            </a:rPr>
                            <m:t>𝑛</m:t>
                          </m:r>
                        </m:sub>
                        <m:sup>
                          <m:r>
                            <a:rPr lang="sr-Latn-RS" sz="2800" i="1">
                              <a:latin typeface="Cambria Math" panose="02040503050406030204" pitchFamily="18" charset="0"/>
                            </a:rPr>
                            <m:t>∗</m:t>
                          </m:r>
                        </m:sup>
                      </m:sSubSup>
                      <m:sSub>
                        <m:sSubPr>
                          <m:ctrlPr>
                            <a:rPr lang="en-ZA" sz="2800" i="1">
                              <a:latin typeface="Cambria Math" panose="02040503050406030204" pitchFamily="18" charset="0"/>
                            </a:rPr>
                          </m:ctrlPr>
                        </m:sSubPr>
                        <m:e>
                          <m:r>
                            <a:rPr lang="sr-Latn-RS" sz="2800" i="1">
                              <a:latin typeface="Cambria Math" panose="02040503050406030204" pitchFamily="18" charset="0"/>
                            </a:rPr>
                            <m:t>𝑏</m:t>
                          </m:r>
                        </m:e>
                        <m:sub>
                          <m:r>
                            <a:rPr lang="sr-Latn-RS" sz="2800" i="1">
                              <a:latin typeface="Cambria Math" panose="02040503050406030204" pitchFamily="18" charset="0"/>
                            </a:rPr>
                            <m:t>𝑛</m:t>
                          </m:r>
                        </m:sub>
                      </m:sSub>
                      <m:r>
                        <a:rPr lang="sr-Latn-RS" sz="2800" i="1">
                          <a:latin typeface="Cambria Math" panose="02040503050406030204" pitchFamily="18" charset="0"/>
                        </a:rPr>
                        <m:t>=</m:t>
                      </m:r>
                      <m:nary>
                        <m:naryPr>
                          <m:chr m:val="∑"/>
                          <m:limLoc m:val="undOvr"/>
                          <m:ctrlPr>
                            <a:rPr lang="en-ZA" sz="2800" i="1">
                              <a:latin typeface="Cambria Math" panose="02040503050406030204" pitchFamily="18" charset="0"/>
                            </a:rPr>
                          </m:ctrlPr>
                        </m:naryPr>
                        <m:sub>
                          <m:r>
                            <a:rPr lang="sr-Latn-RS" sz="2800" i="1">
                              <a:latin typeface="Cambria Math" panose="02040503050406030204" pitchFamily="18" charset="0"/>
                            </a:rPr>
                            <m:t>𝑖</m:t>
                          </m:r>
                          <m:r>
                            <a:rPr lang="sr-Latn-RS" sz="2800" i="1">
                              <a:latin typeface="Cambria Math" panose="02040503050406030204" pitchFamily="18" charset="0"/>
                            </a:rPr>
                            <m:t>=1</m:t>
                          </m:r>
                        </m:sub>
                        <m:sup>
                          <m:r>
                            <a:rPr lang="sr-Latn-RS" sz="2800" i="1">
                              <a:latin typeface="Cambria Math" panose="02040503050406030204" pitchFamily="18" charset="0"/>
                            </a:rPr>
                            <m:t>𝑛</m:t>
                          </m:r>
                        </m:sup>
                        <m:e>
                          <m:sSubSup>
                            <m:sSubSupPr>
                              <m:ctrlPr>
                                <a:rPr lang="en-ZA" sz="2800" i="1">
                                  <a:latin typeface="Cambria Math" panose="02040503050406030204" pitchFamily="18" charset="0"/>
                                </a:rPr>
                              </m:ctrlPr>
                            </m:sSubSupPr>
                            <m:e>
                              <m:r>
                                <a:rPr lang="sr-Latn-RS" sz="2800" i="1">
                                  <a:latin typeface="Cambria Math" panose="02040503050406030204" pitchFamily="18" charset="0"/>
                                </a:rPr>
                                <m:t>𝑎</m:t>
                              </m:r>
                            </m:e>
                            <m:sub>
                              <m:r>
                                <a:rPr lang="sr-Latn-RS" sz="2800" i="1">
                                  <a:latin typeface="Cambria Math" panose="02040503050406030204" pitchFamily="18" charset="0"/>
                                </a:rPr>
                                <m:t>𝑖</m:t>
                              </m:r>
                            </m:sub>
                            <m:sup>
                              <m:r>
                                <a:rPr lang="sr-Latn-RS" sz="2800" i="1">
                                  <a:latin typeface="Cambria Math" panose="02040503050406030204" pitchFamily="18" charset="0"/>
                                </a:rPr>
                                <m:t>∗</m:t>
                              </m:r>
                            </m:sup>
                          </m:sSubSup>
                          <m:sSub>
                            <m:sSubPr>
                              <m:ctrlPr>
                                <a:rPr lang="en-ZA" sz="2800" i="1">
                                  <a:latin typeface="Cambria Math" panose="02040503050406030204" pitchFamily="18" charset="0"/>
                                </a:rPr>
                              </m:ctrlPr>
                            </m:sSubPr>
                            <m:e>
                              <m:r>
                                <a:rPr lang="sr-Latn-RS" sz="2800" i="1">
                                  <a:latin typeface="Cambria Math" panose="02040503050406030204" pitchFamily="18" charset="0"/>
                                </a:rPr>
                                <m:t>𝑏</m:t>
                              </m:r>
                            </m:e>
                            <m:sub>
                              <m:r>
                                <a:rPr lang="sr-Latn-RS" sz="2800" i="1">
                                  <a:latin typeface="Cambria Math" panose="02040503050406030204" pitchFamily="18" charset="0"/>
                                </a:rPr>
                                <m:t>𝑖</m:t>
                              </m:r>
                            </m:sub>
                          </m:sSub>
                        </m:e>
                      </m:nary>
                    </m:oMath>
                  </m:oMathPara>
                </a14:m>
                <a:endParaRPr lang="en-US" sz="2800" dirty="0"/>
              </a:p>
            </p:txBody>
          </p:sp>
        </mc:Choice>
        <mc:Fallback xmlns="">
          <p:sp>
            <p:nvSpPr>
              <p:cNvPr id="7" name="Rectangle 6">
                <a:extLst>
                  <a:ext uri="{FF2B5EF4-FFF2-40B4-BE49-F238E27FC236}">
                    <a16:creationId xmlns:a16="http://schemas.microsoft.com/office/drawing/2014/main" id="{F66E8D0B-3537-7342-AB15-1C50BA8B4D03}"/>
                  </a:ext>
                </a:extLst>
              </p:cNvPr>
              <p:cNvSpPr>
                <a:spLocks noRot="1" noChangeAspect="1" noMove="1" noResize="1" noEditPoints="1" noAdjustHandles="1" noChangeArrowheads="1" noChangeShapeType="1" noTextEdit="1"/>
              </p:cNvSpPr>
              <p:nvPr/>
            </p:nvSpPr>
            <p:spPr>
              <a:xfrm>
                <a:off x="2980312" y="3138365"/>
                <a:ext cx="9211688" cy="1313116"/>
              </a:xfrm>
              <a:prstGeom prst="rect">
                <a:avLst/>
              </a:prstGeom>
              <a:blipFill>
                <a:blip r:embed="rId7"/>
                <a:stretch>
                  <a:fillRect t="-100000" b="-154286"/>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EA8F575E-566B-B24C-A1CC-1B199279458D}"/>
              </a:ext>
            </a:extLst>
          </p:cNvPr>
          <p:cNvGrpSpPr/>
          <p:nvPr/>
        </p:nvGrpSpPr>
        <p:grpSpPr>
          <a:xfrm>
            <a:off x="315717" y="4971385"/>
            <a:ext cx="11447558" cy="1715213"/>
            <a:chOff x="315717" y="4971385"/>
            <a:chExt cx="11447558" cy="1715213"/>
          </a:xfrm>
        </p:grpSpPr>
        <p:sp>
          <p:nvSpPr>
            <p:cNvPr id="31" name="TextBox 30">
              <a:extLst>
                <a:ext uri="{FF2B5EF4-FFF2-40B4-BE49-F238E27FC236}">
                  <a16:creationId xmlns:a16="http://schemas.microsoft.com/office/drawing/2014/main" id="{7922EC4C-1776-EB49-A7F7-7D17B6A5829E}"/>
                </a:ext>
              </a:extLst>
            </p:cNvPr>
            <p:cNvSpPr txBox="1"/>
            <p:nvPr/>
          </p:nvSpPr>
          <p:spPr>
            <a:xfrm>
              <a:off x="315717" y="4971385"/>
              <a:ext cx="1559914" cy="461665"/>
            </a:xfrm>
            <a:prstGeom prst="rect">
              <a:avLst/>
            </a:prstGeom>
            <a:solidFill>
              <a:schemeClr val="accent5">
                <a:lumMod val="20000"/>
                <a:lumOff val="80000"/>
              </a:schemeClr>
            </a:solidFill>
          </p:spPr>
          <p:txBody>
            <a:bodyPr wrap="none" rtlCol="0">
              <a:spAutoFit/>
            </a:bodyPr>
            <a:lstStyle/>
            <a:p>
              <a:r>
                <a:rPr lang="en-US" sz="2400" dirty="0"/>
                <a:t>Properties:</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C34321-8409-8743-B303-CDE9A831DBF2}"/>
                    </a:ext>
                  </a:extLst>
                </p:cNvPr>
                <p:cNvSpPr txBox="1"/>
                <p:nvPr/>
              </p:nvSpPr>
              <p:spPr>
                <a:xfrm>
                  <a:off x="492689" y="5704565"/>
                  <a:ext cx="3264933" cy="942950"/>
                </a:xfrm>
                <a:prstGeom prst="rect">
                  <a:avLst/>
                </a:prstGeom>
                <a:noFill/>
              </p:spPr>
              <p:txBody>
                <a:bodyPr wrap="none" rtlCol="0">
                  <a:spAutoFit/>
                </a:bodyPr>
                <a:lstStyle/>
                <a:p>
                  <a14:m>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m>
                            <m:mPr>
                              <m:mcs>
                                <m:mc>
                                  <m:mcPr>
                                    <m:count m:val="2"/>
                                    <m:mcJc m:val="center"/>
                                  </m:mcPr>
                                </m:mc>
                              </m:mcs>
                              <m:ctrlPr>
                                <a:rPr lang="sr-Latn-RS" sz="2800" i="1">
                                  <a:solidFill>
                                    <a:schemeClr val="tx1"/>
                                  </a:solidFill>
                                  <a:latin typeface="Cambria Math" panose="02040503050406030204" pitchFamily="18" charset="0"/>
                                </a:rPr>
                              </m:ctrlPr>
                            </m:mPr>
                            <m:mr>
                              <m:e/>
                              <m:e>
                                <m:d>
                                  <m:dPr>
                                    <m:begChr m:val="⟨"/>
                                    <m:endChr m:val="⟩"/>
                                    <m:ctrlPr>
                                      <a:rPr lang="sr-Latn-R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𝑎</m:t>
                                    </m:r>
                                  </m:e>
                                  <m:e>
                                    <m:r>
                                      <a:rPr lang="en-US" sz="2800" b="0" i="1" smtClean="0">
                                        <a:solidFill>
                                          <a:schemeClr val="tx1"/>
                                        </a:solidFill>
                                        <a:latin typeface="Cambria Math" panose="02040503050406030204" pitchFamily="18" charset="0"/>
                                      </a:rPr>
                                      <m:t>𝑎</m:t>
                                    </m:r>
                                  </m:e>
                                </m:d>
                                <m:r>
                                  <a:rPr lang="sr-Latn-R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1</m:t>
                                </m:r>
                              </m:e>
                            </m:mr>
                            <m:mr>
                              <m:e>
                                <m:r>
                                  <a:rPr lang="en-US" sz="2800" i="1">
                                    <a:solidFill>
                                      <a:schemeClr val="tx1"/>
                                    </a:solidFill>
                                    <a:latin typeface="Cambria Math" panose="02040503050406030204" pitchFamily="18" charset="0"/>
                                  </a:rPr>
                                  <m:t>𝑎</m:t>
                                </m:r>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rPr>
                                  <m:t>𝑏</m:t>
                                </m:r>
                                <m:r>
                                  <m:rPr>
                                    <m:nor/>
                                  </m:rPr>
                                  <a:rPr lang="en-US" sz="2800" i="1" dirty="0">
                                    <a:solidFill>
                                      <a:schemeClr val="tx1"/>
                                    </a:solidFill>
                                  </a:rPr>
                                  <m:t> </m:t>
                                </m:r>
                              </m:e>
                              <m:e>
                                <m:r>
                                  <a:rPr lang="sr-Latn-RS" sz="2800" i="1">
                                    <a:solidFill>
                                      <a:schemeClr val="tx1"/>
                                    </a:solidFill>
                                    <a:latin typeface="Cambria Math" panose="02040503050406030204" pitchFamily="18" charset="0"/>
                                  </a:rPr>
                                  <m:t>⟨</m:t>
                                </m:r>
                                <m:r>
                                  <a:rPr lang="sr-Latn-RS" sz="2800" i="1">
                                    <a:solidFill>
                                      <a:schemeClr val="tx1"/>
                                    </a:solidFill>
                                    <a:latin typeface="Cambria Math" panose="02040503050406030204" pitchFamily="18" charset="0"/>
                                  </a:rPr>
                                  <m:t>𝑎</m:t>
                                </m:r>
                                <m:d>
                                  <m:dPr>
                                    <m:begChr m:val="|"/>
                                    <m:endChr m:val="⟩"/>
                                    <m:ctrlPr>
                                      <a:rPr lang="en-ZA" sz="2800" i="1">
                                        <a:solidFill>
                                          <a:schemeClr val="tx1"/>
                                        </a:solidFill>
                                        <a:latin typeface="Cambria Math" panose="02040503050406030204" pitchFamily="18" charset="0"/>
                                      </a:rPr>
                                    </m:ctrlPr>
                                  </m:dPr>
                                  <m:e>
                                    <m:r>
                                      <a:rPr lang="sr-Latn-RS" sz="2800" i="1">
                                        <a:solidFill>
                                          <a:schemeClr val="tx1"/>
                                        </a:solidFill>
                                        <a:latin typeface="Cambria Math" panose="02040503050406030204" pitchFamily="18" charset="0"/>
                                      </a:rPr>
                                      <m:t>𝑏</m:t>
                                    </m:r>
                                  </m:e>
                                </m:d>
                                <m:r>
                                  <a:rPr lang="sr-Latn-R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0</m:t>
                                </m:r>
                              </m:e>
                            </m:mr>
                          </m:m>
                        </m:e>
                      </m:d>
                    </m:oMath>
                  </a14:m>
                  <a:r>
                    <a:rPr lang="en-US" sz="2800" dirty="0">
                      <a:solidFill>
                        <a:schemeClr val="tx1"/>
                      </a:solidFill>
                    </a:rPr>
                    <a:t>,</a:t>
                  </a:r>
                </a:p>
              </p:txBody>
            </p:sp>
          </mc:Choice>
          <mc:Fallback xmlns="">
            <p:sp>
              <p:nvSpPr>
                <p:cNvPr id="32" name="TextBox 31">
                  <a:extLst>
                    <a:ext uri="{FF2B5EF4-FFF2-40B4-BE49-F238E27FC236}">
                      <a16:creationId xmlns:a16="http://schemas.microsoft.com/office/drawing/2014/main" id="{F8C34321-8409-8743-B303-CDE9A831DBF2}"/>
                    </a:ext>
                  </a:extLst>
                </p:cNvPr>
                <p:cNvSpPr txBox="1">
                  <a:spLocks noRot="1" noChangeAspect="1" noMove="1" noResize="1" noEditPoints="1" noAdjustHandles="1" noChangeArrowheads="1" noChangeShapeType="1" noTextEdit="1"/>
                </p:cNvSpPr>
                <p:nvPr/>
              </p:nvSpPr>
              <p:spPr>
                <a:xfrm>
                  <a:off x="492689" y="5704565"/>
                  <a:ext cx="3264933" cy="942950"/>
                </a:xfrm>
                <a:prstGeom prst="rect">
                  <a:avLst/>
                </a:prstGeom>
                <a:blipFill>
                  <a:blip r:embed="rId8"/>
                  <a:stretch>
                    <a:fillRect t="-172000" r="-29457" b="-25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F5255EC-CF27-6747-B79F-FF4BF6B665ED}"/>
                    </a:ext>
                  </a:extLst>
                </p:cNvPr>
                <p:cNvSpPr/>
                <p:nvPr/>
              </p:nvSpPr>
              <p:spPr>
                <a:xfrm>
                  <a:off x="3757622" y="5202217"/>
                  <a:ext cx="8005653" cy="1484381"/>
                </a:xfrm>
                <a:prstGeom prst="rect">
                  <a:avLst/>
                </a:prstGeom>
              </p:spPr>
              <p:txBody>
                <a:bodyPr wrap="none">
                  <a:spAutoFit/>
                </a:bodyPr>
                <a:lstStyle/>
                <a:p>
                  <a:pPr algn="just"/>
                  <a:r>
                    <a:rPr lang="en-ZA" sz="2800" dirty="0"/>
                    <a:t>orthonormal vectors 			Kronecker delta</a:t>
                  </a:r>
                  <a:endParaRPr lang="en-US" sz="2800" i="1" dirty="0">
                    <a:latin typeface="Cambria Math" panose="02040503050406030204" pitchFamily="18" charset="0"/>
                  </a:endParaRPr>
                </a:p>
                <a:p>
                  <a:pPr algn="just"/>
                  <a14:m>
                    <m:oMath xmlns:m="http://schemas.openxmlformats.org/officeDocument/2006/math">
                      <m:d>
                        <m:dPr>
                          <m:begChr m:val="{"/>
                          <m:endChr m:val="}"/>
                          <m:ctrlPr>
                            <a:rPr lang="en-ZA" sz="2800" i="1" smtClean="0">
                              <a:latin typeface="Cambria Math" panose="02040503050406030204" pitchFamily="18" charset="0"/>
                            </a:rPr>
                          </m:ctrlPr>
                        </m:dPr>
                        <m:e>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𝑎</m:t>
                                  </m:r>
                                </m:e>
                                <m:sub>
                                  <m:r>
                                    <a:rPr lang="sr-Latn-RS" sz="2800" i="1">
                                      <a:latin typeface="Cambria Math" panose="02040503050406030204" pitchFamily="18" charset="0"/>
                                    </a:rPr>
                                    <m:t>1</m:t>
                                  </m:r>
                                </m:sub>
                              </m:sSub>
                            </m:e>
                          </m:d>
                          <m:r>
                            <a:rPr lang="sr-Latn-RS" sz="2800" i="1">
                              <a:latin typeface="Cambria Math" panose="02040503050406030204" pitchFamily="18" charset="0"/>
                            </a:rPr>
                            <m:t>, ⋯, </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𝑎</m:t>
                                  </m:r>
                                </m:e>
                                <m:sub>
                                  <m:r>
                                    <a:rPr lang="sr-Latn-RS" sz="2800" i="1">
                                      <a:latin typeface="Cambria Math" panose="02040503050406030204" pitchFamily="18" charset="0"/>
                                    </a:rPr>
                                    <m:t>𝑛</m:t>
                                  </m:r>
                                </m:sub>
                              </m:sSub>
                            </m:e>
                          </m:d>
                        </m:e>
                      </m:d>
                      <m:r>
                        <a:rPr lang="sr-Latn-RS" sz="2800" i="1" smtClean="0">
                          <a:latin typeface="Cambria Math" panose="02040503050406030204" pitchFamily="18" charset="0"/>
                          <a:ea typeface="Cambria Math" panose="02040503050406030204" pitchFamily="18" charset="0"/>
                        </a:rPr>
                        <m:t>⟹</m:t>
                      </m:r>
                      <m:r>
                        <a:rPr lang="sr-Latn-RS" sz="2800" smtClean="0">
                          <a:latin typeface="Cambria Math" panose="02040503050406030204" pitchFamily="18" charset="0"/>
                        </a:rPr>
                        <m:t>⟨</m:t>
                      </m:r>
                      <m:sSub>
                        <m:sSubPr>
                          <m:ctrlPr>
                            <a:rPr lang="en-ZA" sz="2800" i="1">
                              <a:latin typeface="Cambria Math" panose="02040503050406030204" pitchFamily="18" charset="0"/>
                            </a:rPr>
                          </m:ctrlPr>
                        </m:sSubPr>
                        <m:e>
                          <m:r>
                            <a:rPr lang="en-US" sz="2800" i="1">
                              <a:latin typeface="Cambria Math" panose="02040503050406030204" pitchFamily="18" charset="0"/>
                            </a:rPr>
                            <m:t>𝑎</m:t>
                          </m:r>
                        </m:e>
                        <m:sub>
                          <m:r>
                            <a:rPr lang="sr-Latn-RS" sz="2800" i="1">
                              <a:latin typeface="Cambria Math" panose="02040503050406030204" pitchFamily="18" charset="0"/>
                            </a:rPr>
                            <m:t>𝑖</m:t>
                          </m:r>
                        </m:sub>
                      </m:sSub>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𝑎</m:t>
                              </m:r>
                            </m:e>
                            <m:sub>
                              <m:r>
                                <a:rPr lang="sr-Latn-RS" sz="2800" i="1">
                                  <a:latin typeface="Cambria Math" panose="02040503050406030204" pitchFamily="18" charset="0"/>
                                </a:rPr>
                                <m:t>𝑗</m:t>
                              </m:r>
                            </m:sub>
                          </m:sSub>
                        </m:e>
                      </m:d>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𝑖𝑗</m:t>
                          </m:r>
                        </m:sub>
                      </m:sSub>
                    </m:oMath>
                  </a14:m>
                  <a:r>
                    <a:rPr lang="en-US" sz="2800" dirty="0"/>
                    <a:t>,       </a:t>
                  </a:r>
                  <a14:m>
                    <m:oMath xmlns:m="http://schemas.openxmlformats.org/officeDocument/2006/math">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𝑖𝑗</m:t>
                          </m:r>
                        </m:sub>
                      </m:sSub>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𝑗</m:t>
                                </m:r>
                              </m:e>
                            </m:mr>
                            <m:mr>
                              <m:e>
                                <m:r>
                                  <a:rPr lang="en-US" sz="2800" b="0" i="1" smtClean="0">
                                    <a:latin typeface="Cambria Math" panose="02040503050406030204" pitchFamily="18" charset="0"/>
                                  </a:rPr>
                                  <m:t>0,  </m:t>
                                </m:r>
                                <m:r>
                                  <a:rPr lang="en-US" sz="2800" b="0" i="1" smtClean="0">
                                    <a:latin typeface="Cambria Math" panose="02040503050406030204" pitchFamily="18" charset="0"/>
                                  </a:rPr>
                                  <m:t>𝑖</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rPr>
                                  <m:t>𝑗</m:t>
                                </m:r>
                              </m:e>
                            </m:mr>
                          </m:m>
                        </m:e>
                      </m:d>
                    </m:oMath>
                  </a14:m>
                  <a:endParaRPr lang="en-US" sz="2800" dirty="0"/>
                </a:p>
              </p:txBody>
            </p:sp>
          </mc:Choice>
          <mc:Fallback xmlns="">
            <p:sp>
              <p:nvSpPr>
                <p:cNvPr id="36" name="Rectangle 35">
                  <a:extLst>
                    <a:ext uri="{FF2B5EF4-FFF2-40B4-BE49-F238E27FC236}">
                      <a16:creationId xmlns:a16="http://schemas.microsoft.com/office/drawing/2014/main" id="{7F5255EC-CF27-6747-B79F-FF4BF6B665ED}"/>
                    </a:ext>
                  </a:extLst>
                </p:cNvPr>
                <p:cNvSpPr>
                  <a:spLocks noRot="1" noChangeAspect="1" noMove="1" noResize="1" noEditPoints="1" noAdjustHandles="1" noChangeArrowheads="1" noChangeShapeType="1" noTextEdit="1"/>
                </p:cNvSpPr>
                <p:nvPr/>
              </p:nvSpPr>
              <p:spPr>
                <a:xfrm>
                  <a:off x="3757622" y="5202217"/>
                  <a:ext cx="8005653" cy="1484381"/>
                </a:xfrm>
                <a:prstGeom prst="rect">
                  <a:avLst/>
                </a:prstGeom>
                <a:blipFill>
                  <a:blip r:embed="rId9"/>
                  <a:stretch>
                    <a:fillRect l="-1585" t="-114407" r="-634" b="-20678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C4AE1B9-DFCE-A94C-8F23-72885EFF5942}"/>
                  </a:ext>
                </a:extLst>
              </p:cNvPr>
              <p:cNvSpPr/>
              <p:nvPr/>
            </p:nvSpPr>
            <p:spPr>
              <a:xfrm>
                <a:off x="3812274" y="1495028"/>
                <a:ext cx="7117077" cy="461665"/>
              </a:xfrm>
              <a:prstGeom prst="rect">
                <a:avLst/>
              </a:prstGeom>
              <a:solidFill>
                <a:schemeClr val="accent5">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Inner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product</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length</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of</m:t>
                      </m:r>
                      <m:r>
                        <a:rPr lang="en-US" sz="2400" b="0" i="0" smtClean="0">
                          <a:latin typeface="Cambria Math" panose="02040503050406030204" pitchFamily="18" charset="0"/>
                        </a:rPr>
                        <m:t> </m:t>
                      </m:r>
                      <m:r>
                        <a:rPr lang="en-US" sz="2400" b="1" i="1" smtClean="0">
                          <a:latin typeface="Cambria Math" panose="02040503050406030204" pitchFamily="18" charset="0"/>
                        </a:rPr>
                        <m:t>𝒃</m:t>
                      </m:r>
                      <m:r>
                        <a:rPr lang="en-US" sz="2400" b="0" i="0" smtClean="0">
                          <a:latin typeface="Cambria Math" panose="02040503050406030204" pitchFamily="18" charset="0"/>
                        </a:rPr>
                        <m:t> </m:t>
                      </m:r>
                      <m:r>
                        <a:rPr lang="en-US" sz="2400" b="0" i="0" smtClean="0">
                          <a:latin typeface="Cambria Math" panose="02040503050406030204" pitchFamily="18" charset="0"/>
                          <a:ea typeface="Cambria Math" panose="02040503050406030204" pitchFamily="18" charset="0"/>
                        </a:rPr>
                        <m:t>×</m:t>
                      </m:r>
                      <m:r>
                        <m:rPr>
                          <m:nor/>
                        </m:rPr>
                        <a:rPr lang="en-US" sz="2400" b="0" i="0" smtClean="0">
                          <a:latin typeface="Cambria Math" panose="02040503050406030204" pitchFamily="18" charset="0"/>
                          <a:ea typeface="Cambria Math" panose="02040503050406030204" pitchFamily="18" charset="0"/>
                        </a:rPr>
                        <m:t> </m:t>
                      </m:r>
                      <m:r>
                        <m:rPr>
                          <m:nor/>
                        </m:rPr>
                        <a:rPr lang="en-US" sz="2400" b="0" i="0" smtClean="0">
                          <a:latin typeface="Cambria Math" panose="02040503050406030204" pitchFamily="18" charset="0"/>
                          <a:ea typeface="Cambria Math" panose="02040503050406030204" pitchFamily="18" charset="0"/>
                        </a:rPr>
                        <m:t>p</m:t>
                      </m:r>
                      <m:r>
                        <m:rPr>
                          <m:nor/>
                        </m:rPr>
                        <a:rPr lang="en-ZA" sz="2400"/>
                        <m:t>rojection</m:t>
                      </m:r>
                      <m:r>
                        <m:rPr>
                          <m:nor/>
                        </m:rPr>
                        <a:rPr lang="en-ZA" sz="2400"/>
                        <m:t> </m:t>
                      </m:r>
                      <m:r>
                        <m:rPr>
                          <m:nor/>
                        </m:rPr>
                        <a:rPr lang="en-ZA" sz="2400"/>
                        <m:t>of</m:t>
                      </m:r>
                      <m:r>
                        <m:rPr>
                          <m:nor/>
                        </m:rPr>
                        <a:rPr lang="en-US" sz="2400" b="0" i="0" smtClean="0"/>
                        <m:t> </m:t>
                      </m:r>
                      <m:r>
                        <a:rPr lang="en-US" sz="2400" b="1" i="1" smtClean="0">
                          <a:latin typeface="Cambria Math" panose="02040503050406030204" pitchFamily="18" charset="0"/>
                        </a:rPr>
                        <m:t>𝒂</m:t>
                      </m:r>
                      <m:r>
                        <a:rPr lang="en-US" sz="2400" b="1" i="1" smtClean="0">
                          <a:latin typeface="Cambria Math" panose="02040503050406030204" pitchFamily="18" charset="0"/>
                        </a:rPr>
                        <m:t> </m:t>
                      </m:r>
                      <m:r>
                        <m:rPr>
                          <m:nor/>
                        </m:rPr>
                        <a:rPr lang="en-ZA" sz="2400"/>
                        <m:t>onto</m:t>
                      </m:r>
                      <m:r>
                        <m:rPr>
                          <m:nor/>
                        </m:rPr>
                        <a:rPr lang="en-US" sz="2400" b="0" i="0" smtClean="0"/>
                        <m:t> </m:t>
                      </m:r>
                      <m:r>
                        <a:rPr lang="en-US" sz="2400" b="1" i="1">
                          <a:latin typeface="Cambria Math" panose="02040503050406030204" pitchFamily="18" charset="0"/>
                        </a:rPr>
                        <m:t>𝒃</m:t>
                      </m:r>
                    </m:oMath>
                  </m:oMathPara>
                </a14:m>
                <a:endParaRPr lang="en-US" sz="2400" b="1" i="1" dirty="0"/>
              </a:p>
            </p:txBody>
          </p:sp>
        </mc:Choice>
        <mc:Fallback xmlns="">
          <p:sp>
            <p:nvSpPr>
              <p:cNvPr id="40" name="Rectangle 39">
                <a:extLst>
                  <a:ext uri="{FF2B5EF4-FFF2-40B4-BE49-F238E27FC236}">
                    <a16:creationId xmlns:a16="http://schemas.microsoft.com/office/drawing/2014/main" id="{3C4AE1B9-DFCE-A94C-8F23-72885EFF5942}"/>
                  </a:ext>
                </a:extLst>
              </p:cNvPr>
              <p:cNvSpPr>
                <a:spLocks noRot="1" noChangeAspect="1" noMove="1" noResize="1" noEditPoints="1" noAdjustHandles="1" noChangeArrowheads="1" noChangeShapeType="1" noTextEdit="1"/>
              </p:cNvSpPr>
              <p:nvPr/>
            </p:nvSpPr>
            <p:spPr>
              <a:xfrm>
                <a:off x="3812274" y="1495028"/>
                <a:ext cx="7117077" cy="461665"/>
              </a:xfrm>
              <a:prstGeom prst="rect">
                <a:avLst/>
              </a:prstGeom>
              <a:blipFill>
                <a:blip r:embed="rId10"/>
                <a:stretch>
                  <a:fillRect t="-5405" b="-24324"/>
                </a:stretch>
              </a:blipFill>
            </p:spPr>
            <p:txBody>
              <a:bodyPr/>
              <a:lstStyle/>
              <a:p>
                <a:r>
                  <a:rPr lang="en-US">
                    <a:noFill/>
                  </a:rPr>
                  <a:t> </a:t>
                </a:r>
              </a:p>
            </p:txBody>
          </p:sp>
        </mc:Fallback>
      </mc:AlternateContent>
    </p:spTree>
    <p:extLst>
      <p:ext uri="{BB962C8B-B14F-4D97-AF65-F5344CB8AC3E}">
        <p14:creationId xmlns:p14="http://schemas.microsoft.com/office/powerpoint/2010/main" val="303716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A242-4B88-804A-9328-6A7D5B4E95FB}"/>
              </a:ext>
            </a:extLst>
          </p:cNvPr>
          <p:cNvSpPr>
            <a:spLocks noGrp="1"/>
          </p:cNvSpPr>
          <p:nvPr>
            <p:ph type="title"/>
          </p:nvPr>
        </p:nvSpPr>
        <p:spPr/>
        <p:txBody>
          <a:bodyPr/>
          <a:lstStyle/>
          <a:p>
            <a:r>
              <a:rPr lang="en-US" dirty="0"/>
              <a:t>Hilbert Space</a:t>
            </a:r>
          </a:p>
        </p:txBody>
      </p:sp>
      <p:sp>
        <p:nvSpPr>
          <p:cNvPr id="3" name="Slide Number Placeholder 2">
            <a:extLst>
              <a:ext uri="{FF2B5EF4-FFF2-40B4-BE49-F238E27FC236}">
                <a16:creationId xmlns:a16="http://schemas.microsoft.com/office/drawing/2014/main" id="{86B4AF33-0F4A-1347-8779-0B2E93CED341}"/>
              </a:ext>
            </a:extLst>
          </p:cNvPr>
          <p:cNvSpPr>
            <a:spLocks noGrp="1"/>
          </p:cNvSpPr>
          <p:nvPr>
            <p:ph type="sldNum" sz="quarter" idx="12"/>
          </p:nvPr>
        </p:nvSpPr>
        <p:spPr/>
        <p:txBody>
          <a:bodyPr/>
          <a:lstStyle/>
          <a:p>
            <a:fld id="{591A223C-FA10-BC46-A853-03BA373D023C}" type="slidenum">
              <a:rPr lang="en-US" smtClean="0"/>
              <a:t>10</a:t>
            </a:fld>
            <a:endParaRPr lang="en-US"/>
          </a:p>
        </p:txBody>
      </p:sp>
      <p:sp>
        <p:nvSpPr>
          <p:cNvPr id="6" name="TextBox 5">
            <a:extLst>
              <a:ext uri="{FF2B5EF4-FFF2-40B4-BE49-F238E27FC236}">
                <a16:creationId xmlns:a16="http://schemas.microsoft.com/office/drawing/2014/main" id="{E3D41309-9199-144D-981B-1D57694FC5BA}"/>
              </a:ext>
            </a:extLst>
          </p:cNvPr>
          <p:cNvSpPr txBox="1"/>
          <p:nvPr/>
        </p:nvSpPr>
        <p:spPr>
          <a:xfrm>
            <a:off x="419293" y="1368278"/>
            <a:ext cx="7336174" cy="1646605"/>
          </a:xfrm>
          <a:prstGeom prst="rect">
            <a:avLst/>
          </a:prstGeom>
          <a:solidFill>
            <a:schemeClr val="accent4">
              <a:lumMod val="20000"/>
              <a:lumOff val="80000"/>
            </a:schemeClr>
          </a:solidFill>
        </p:spPr>
        <p:txBody>
          <a:bodyPr wrap="square" rtlCol="0">
            <a:spAutoFit/>
          </a:bodyPr>
          <a:lstStyle/>
          <a:p>
            <a:pPr marL="342900" indent="-342900">
              <a:buFont typeface="Arial" panose="020B0604020202020204" pitchFamily="34" charset="0"/>
              <a:buChar char="•"/>
            </a:pPr>
            <a:r>
              <a:rPr lang="en-ZA" sz="2400" dirty="0"/>
              <a:t>Quantum states are represented by normalized vectors in a Hilbert space.</a:t>
            </a:r>
          </a:p>
          <a:p>
            <a:pPr marL="342900" indent="-342900">
              <a:buFont typeface="Arial" panose="020B0604020202020204" pitchFamily="34" charset="0"/>
              <a:buChar char="•"/>
            </a:pPr>
            <a:endParaRPr lang="en-US" sz="500" dirty="0"/>
          </a:p>
          <a:p>
            <a:pPr marL="342900" indent="-342900">
              <a:buFont typeface="Arial" panose="020B0604020202020204" pitchFamily="34" charset="0"/>
              <a:buChar char="•"/>
            </a:pPr>
            <a:r>
              <a:rPr lang="en-ZA" sz="2400" dirty="0"/>
              <a:t>In quantum computing, a Hilbert space is a complex vector space equipped with an inner product.</a:t>
            </a:r>
            <a:endParaRPr lang="en-ZA" sz="500" dirty="0"/>
          </a:p>
        </p:txBody>
      </p:sp>
      <p:pic>
        <p:nvPicPr>
          <p:cNvPr id="8" name="Picture 7">
            <a:extLst>
              <a:ext uri="{FF2B5EF4-FFF2-40B4-BE49-F238E27FC236}">
                <a16:creationId xmlns:a16="http://schemas.microsoft.com/office/drawing/2014/main" id="{93331F73-0DC7-9240-BFED-C3E75AD5212A}"/>
              </a:ext>
            </a:extLst>
          </p:cNvPr>
          <p:cNvPicPr>
            <a:picLocks noChangeAspect="1"/>
          </p:cNvPicPr>
          <p:nvPr/>
        </p:nvPicPr>
        <p:blipFill>
          <a:blip r:embed="rId3"/>
          <a:stretch>
            <a:fillRect/>
          </a:stretch>
        </p:blipFill>
        <p:spPr>
          <a:xfrm>
            <a:off x="8887969" y="1609344"/>
            <a:ext cx="2980765" cy="3127248"/>
          </a:xfrm>
          <a:prstGeom prst="rect">
            <a:avLst/>
          </a:prstGeom>
        </p:spPr>
      </p:pic>
      <p:sp>
        <p:nvSpPr>
          <p:cNvPr id="9" name="TextBox 8">
            <a:extLst>
              <a:ext uri="{FF2B5EF4-FFF2-40B4-BE49-F238E27FC236}">
                <a16:creationId xmlns:a16="http://schemas.microsoft.com/office/drawing/2014/main" id="{7DF38B38-F341-2A49-BE72-F09F9705C1EA}"/>
              </a:ext>
            </a:extLst>
          </p:cNvPr>
          <p:cNvSpPr txBox="1"/>
          <p:nvPr/>
        </p:nvSpPr>
        <p:spPr>
          <a:xfrm>
            <a:off x="9212879" y="4910266"/>
            <a:ext cx="2655855" cy="369332"/>
          </a:xfrm>
          <a:prstGeom prst="rect">
            <a:avLst/>
          </a:prstGeom>
          <a:noFill/>
        </p:spPr>
        <p:txBody>
          <a:bodyPr wrap="none" rtlCol="0">
            <a:spAutoFit/>
          </a:bodyPr>
          <a:lstStyle/>
          <a:p>
            <a:r>
              <a:rPr lang="en-US" dirty="0"/>
              <a:t>David Hilbert (1862–1943)</a:t>
            </a:r>
          </a:p>
        </p:txBody>
      </p:sp>
      <p:sp>
        <p:nvSpPr>
          <p:cNvPr id="4" name="TextBox 3">
            <a:extLst>
              <a:ext uri="{FF2B5EF4-FFF2-40B4-BE49-F238E27FC236}">
                <a16:creationId xmlns:a16="http://schemas.microsoft.com/office/drawing/2014/main" id="{19B0F8C9-021F-7940-A4A5-B2BDD70B0933}"/>
              </a:ext>
            </a:extLst>
          </p:cNvPr>
          <p:cNvSpPr txBox="1"/>
          <p:nvPr/>
        </p:nvSpPr>
        <p:spPr>
          <a:xfrm>
            <a:off x="419293" y="1019825"/>
            <a:ext cx="184731" cy="461665"/>
          </a:xfrm>
          <a:prstGeom prst="rect">
            <a:avLst/>
          </a:prstGeom>
          <a:noFill/>
        </p:spPr>
        <p:txBody>
          <a:bodyPr wrap="none" rtlCol="0">
            <a:spAutoFit/>
          </a:bodyPr>
          <a:lstStyle/>
          <a:p>
            <a:endParaRPr lang="en-US" sz="2400" dirty="0"/>
          </a:p>
        </p:txBody>
      </p:sp>
      <p:sp>
        <p:nvSpPr>
          <p:cNvPr id="31" name="Oval 30">
            <a:extLst>
              <a:ext uri="{FF2B5EF4-FFF2-40B4-BE49-F238E27FC236}">
                <a16:creationId xmlns:a16="http://schemas.microsoft.com/office/drawing/2014/main" id="{23DD2F4D-952C-0747-BCC8-CEA06A54D773}"/>
              </a:ext>
            </a:extLst>
          </p:cNvPr>
          <p:cNvSpPr/>
          <p:nvPr/>
        </p:nvSpPr>
        <p:spPr>
          <a:xfrm>
            <a:off x="733826" y="3275950"/>
            <a:ext cx="5903791" cy="3327802"/>
          </a:xfrm>
          <a:prstGeom prst="ellipse">
            <a:avLst/>
          </a:prstGeom>
          <a:solidFill>
            <a:schemeClr val="bg1">
              <a:lumMod val="95000"/>
            </a:schemeClr>
          </a:solidFill>
          <a:ln w="63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2" name="Oval 31">
            <a:extLst>
              <a:ext uri="{FF2B5EF4-FFF2-40B4-BE49-F238E27FC236}">
                <a16:creationId xmlns:a16="http://schemas.microsoft.com/office/drawing/2014/main" id="{0ECE6CCC-D3EC-1E47-B27D-AE4823D1CA2B}"/>
              </a:ext>
            </a:extLst>
          </p:cNvPr>
          <p:cNvSpPr/>
          <p:nvPr/>
        </p:nvSpPr>
        <p:spPr>
          <a:xfrm>
            <a:off x="1281440" y="3721015"/>
            <a:ext cx="4808565" cy="2831752"/>
          </a:xfrm>
          <a:prstGeom prst="ellipse">
            <a:avLst/>
          </a:prstGeom>
          <a:solidFill>
            <a:schemeClr val="accent4">
              <a:lumMod val="20000"/>
              <a:lumOff val="80000"/>
            </a:schemeClr>
          </a:solidFill>
          <a:ln w="63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3" name="Oval 32">
            <a:extLst>
              <a:ext uri="{FF2B5EF4-FFF2-40B4-BE49-F238E27FC236}">
                <a16:creationId xmlns:a16="http://schemas.microsoft.com/office/drawing/2014/main" id="{6F03C47B-EC15-7D4B-81C4-EB3ECAD0DA28}"/>
              </a:ext>
            </a:extLst>
          </p:cNvPr>
          <p:cNvSpPr/>
          <p:nvPr/>
        </p:nvSpPr>
        <p:spPr>
          <a:xfrm>
            <a:off x="1702334" y="4349073"/>
            <a:ext cx="3966774" cy="2254674"/>
          </a:xfrm>
          <a:prstGeom prst="ellipse">
            <a:avLst/>
          </a:prstGeom>
          <a:solidFill>
            <a:schemeClr val="accent5">
              <a:lumMod val="20000"/>
              <a:lumOff val="8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4" name="Oval 33">
            <a:extLst>
              <a:ext uri="{FF2B5EF4-FFF2-40B4-BE49-F238E27FC236}">
                <a16:creationId xmlns:a16="http://schemas.microsoft.com/office/drawing/2014/main" id="{C0EC6963-162C-B64B-82C5-63833467F9AE}"/>
              </a:ext>
            </a:extLst>
          </p:cNvPr>
          <p:cNvSpPr/>
          <p:nvPr/>
        </p:nvSpPr>
        <p:spPr>
          <a:xfrm>
            <a:off x="2110783" y="5001055"/>
            <a:ext cx="3149879" cy="1602695"/>
          </a:xfrm>
          <a:prstGeom prst="ellipse">
            <a:avLst/>
          </a:prstGeom>
          <a:solidFill>
            <a:schemeClr val="accent2">
              <a:lumMod val="20000"/>
              <a:lumOff val="80000"/>
            </a:schemeClr>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5" name="Oval 34">
            <a:extLst>
              <a:ext uri="{FF2B5EF4-FFF2-40B4-BE49-F238E27FC236}">
                <a16:creationId xmlns:a16="http://schemas.microsoft.com/office/drawing/2014/main" id="{DAE92FAE-E4BD-F24C-8E67-0671B4F6A53B}"/>
              </a:ext>
            </a:extLst>
          </p:cNvPr>
          <p:cNvSpPr/>
          <p:nvPr/>
        </p:nvSpPr>
        <p:spPr>
          <a:xfrm>
            <a:off x="2422100" y="5550279"/>
            <a:ext cx="2527244" cy="1064834"/>
          </a:xfrm>
          <a:prstGeom prst="ellipse">
            <a:avLst/>
          </a:prstGeom>
          <a:solidFill>
            <a:schemeClr val="accent6">
              <a:lumMod val="20000"/>
              <a:lumOff val="8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6" name="TextBox 35">
            <a:extLst>
              <a:ext uri="{FF2B5EF4-FFF2-40B4-BE49-F238E27FC236}">
                <a16:creationId xmlns:a16="http://schemas.microsoft.com/office/drawing/2014/main" id="{A6FEBF43-5BB4-D745-A778-83C28BBFC4FC}"/>
              </a:ext>
            </a:extLst>
          </p:cNvPr>
          <p:cNvSpPr txBox="1"/>
          <p:nvPr/>
        </p:nvSpPr>
        <p:spPr>
          <a:xfrm>
            <a:off x="2918138" y="3257550"/>
            <a:ext cx="1535164" cy="400111"/>
          </a:xfrm>
          <a:prstGeom prst="rect">
            <a:avLst/>
          </a:prstGeom>
          <a:noFill/>
        </p:spPr>
        <p:txBody>
          <a:bodyPr wrap="none" rtlCol="0">
            <a:spAutoFit/>
          </a:bodyPr>
          <a:lstStyle/>
          <a:p>
            <a:pPr algn="ctr"/>
            <a:r>
              <a:rPr lang="en-US" sz="2000" dirty="0"/>
              <a:t>Vector Space</a:t>
            </a:r>
          </a:p>
        </p:txBody>
      </p:sp>
      <p:sp>
        <p:nvSpPr>
          <p:cNvPr id="37" name="TextBox 36">
            <a:extLst>
              <a:ext uri="{FF2B5EF4-FFF2-40B4-BE49-F238E27FC236}">
                <a16:creationId xmlns:a16="http://schemas.microsoft.com/office/drawing/2014/main" id="{99899B96-32B3-C243-AD46-C5F0BF6CAC62}"/>
              </a:ext>
            </a:extLst>
          </p:cNvPr>
          <p:cNvSpPr txBox="1"/>
          <p:nvPr/>
        </p:nvSpPr>
        <p:spPr>
          <a:xfrm>
            <a:off x="2436789" y="3825672"/>
            <a:ext cx="2497864" cy="400111"/>
          </a:xfrm>
          <a:prstGeom prst="rect">
            <a:avLst/>
          </a:prstGeom>
          <a:noFill/>
        </p:spPr>
        <p:txBody>
          <a:bodyPr wrap="none" rtlCol="0">
            <a:spAutoFit/>
          </a:bodyPr>
          <a:lstStyle/>
          <a:p>
            <a:pPr algn="ctr"/>
            <a:r>
              <a:rPr lang="en-ZA" sz="2000" dirty="0"/>
              <a:t>Complex Vector Space</a:t>
            </a:r>
            <a:endParaRPr lang="en-US" sz="2000" dirty="0"/>
          </a:p>
        </p:txBody>
      </p:sp>
      <p:sp>
        <p:nvSpPr>
          <p:cNvPr id="38" name="TextBox 37">
            <a:extLst>
              <a:ext uri="{FF2B5EF4-FFF2-40B4-BE49-F238E27FC236}">
                <a16:creationId xmlns:a16="http://schemas.microsoft.com/office/drawing/2014/main" id="{6E38B93C-293B-F544-8826-DFC5EE0864CC}"/>
              </a:ext>
            </a:extLst>
          </p:cNvPr>
          <p:cNvSpPr txBox="1"/>
          <p:nvPr/>
        </p:nvSpPr>
        <p:spPr>
          <a:xfrm>
            <a:off x="2543871" y="4511474"/>
            <a:ext cx="2283702" cy="400111"/>
          </a:xfrm>
          <a:prstGeom prst="rect">
            <a:avLst/>
          </a:prstGeom>
          <a:noFill/>
        </p:spPr>
        <p:txBody>
          <a:bodyPr wrap="none" rtlCol="0">
            <a:spAutoFit/>
          </a:bodyPr>
          <a:lstStyle/>
          <a:p>
            <a:pPr algn="ctr"/>
            <a:r>
              <a:rPr lang="en-ZA" sz="2000" dirty="0"/>
              <a:t>Inner Product Space</a:t>
            </a:r>
            <a:endParaRPr lang="en-US" sz="20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70C3C2E-9177-304D-BF83-B40EC2041174}"/>
                  </a:ext>
                </a:extLst>
              </p:cNvPr>
              <p:cNvSpPr txBox="1"/>
              <p:nvPr/>
            </p:nvSpPr>
            <p:spPr>
              <a:xfrm>
                <a:off x="2480606" y="5758725"/>
                <a:ext cx="2410232" cy="707886"/>
              </a:xfrm>
              <a:prstGeom prst="rect">
                <a:avLst/>
              </a:prstGeom>
              <a:noFill/>
            </p:spPr>
            <p:txBody>
              <a:bodyPr wrap="square" rtlCol="0">
                <a:spAutoFit/>
              </a:bodyPr>
              <a:lstStyle/>
              <a:p>
                <a:pPr algn="ctr"/>
                <a:r>
                  <a:rPr lang="en-ZA" sz="2000" dirty="0"/>
                  <a:t>Qubit State Space</a:t>
                </a:r>
              </a:p>
              <a:p>
                <a:pPr algn="ct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ℂ</m:t>
                          </m:r>
                        </m:e>
                        <m:sup>
                          <m:r>
                            <a:rPr lang="en-US" sz="2000" b="0" i="1" smtClean="0">
                              <a:latin typeface="Cambria Math" panose="02040503050406030204" pitchFamily="18" charset="0"/>
                              <a:ea typeface="Cambria Math" panose="02040503050406030204" pitchFamily="18" charset="0"/>
                            </a:rPr>
                            <m:t>2</m:t>
                          </m:r>
                        </m:sup>
                      </m:sSup>
                    </m:oMath>
                  </m:oMathPara>
                </a14:m>
                <a:endParaRPr lang="en-US" sz="2000" dirty="0"/>
              </a:p>
            </p:txBody>
          </p:sp>
        </mc:Choice>
        <mc:Fallback xmlns="">
          <p:sp>
            <p:nvSpPr>
              <p:cNvPr id="39" name="TextBox 38">
                <a:extLst>
                  <a:ext uri="{FF2B5EF4-FFF2-40B4-BE49-F238E27FC236}">
                    <a16:creationId xmlns:a16="http://schemas.microsoft.com/office/drawing/2014/main" id="{B70C3C2E-9177-304D-BF83-B40EC2041174}"/>
                  </a:ext>
                </a:extLst>
              </p:cNvPr>
              <p:cNvSpPr txBox="1">
                <a:spLocks noRot="1" noChangeAspect="1" noMove="1" noResize="1" noEditPoints="1" noAdjustHandles="1" noChangeArrowheads="1" noChangeShapeType="1" noTextEdit="1"/>
              </p:cNvSpPr>
              <p:nvPr/>
            </p:nvSpPr>
            <p:spPr>
              <a:xfrm>
                <a:off x="2480606" y="5758725"/>
                <a:ext cx="2410232" cy="707886"/>
              </a:xfrm>
              <a:prstGeom prst="rect">
                <a:avLst/>
              </a:prstGeom>
              <a:blipFill>
                <a:blip r:embed="rId4"/>
                <a:stretch>
                  <a:fillRect t="-3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DF0E0CE-ED98-D84A-8907-EE314C95EAE6}"/>
                  </a:ext>
                </a:extLst>
              </p:cNvPr>
              <p:cNvSpPr txBox="1"/>
              <p:nvPr/>
            </p:nvSpPr>
            <p:spPr>
              <a:xfrm>
                <a:off x="2745208" y="5134821"/>
                <a:ext cx="1881028" cy="400110"/>
              </a:xfrm>
              <a:prstGeom prst="rect">
                <a:avLst/>
              </a:prstGeom>
              <a:noFill/>
            </p:spPr>
            <p:txBody>
              <a:bodyPr wrap="none" rtlCol="0">
                <a:spAutoFit/>
              </a:bodyPr>
              <a:lstStyle/>
              <a:p>
                <a:pPr algn="ctr"/>
                <a:r>
                  <a:rPr lang="en-ZA" sz="2000" dirty="0"/>
                  <a:t>Hilbert Space </a:t>
                </a:r>
                <a14:m>
                  <m:oMath xmlns:m="http://schemas.openxmlformats.org/officeDocument/2006/math">
                    <m:r>
                      <a:rPr lang="en-US" sz="2000" i="1">
                        <a:latin typeface="Cambria Math" panose="02040503050406030204" pitchFamily="18" charset="0"/>
                        <a:ea typeface="Cambria Math" panose="02040503050406030204" pitchFamily="18" charset="0"/>
                      </a:rPr>
                      <m:t>ℋ</m:t>
                    </m:r>
                  </m:oMath>
                </a14:m>
                <a:endParaRPr lang="en-US" sz="2000" dirty="0"/>
              </a:p>
            </p:txBody>
          </p:sp>
        </mc:Choice>
        <mc:Fallback xmlns="">
          <p:sp>
            <p:nvSpPr>
              <p:cNvPr id="40" name="TextBox 39">
                <a:extLst>
                  <a:ext uri="{FF2B5EF4-FFF2-40B4-BE49-F238E27FC236}">
                    <a16:creationId xmlns:a16="http://schemas.microsoft.com/office/drawing/2014/main" id="{BDF0E0CE-ED98-D84A-8907-EE314C95EAE6}"/>
                  </a:ext>
                </a:extLst>
              </p:cNvPr>
              <p:cNvSpPr txBox="1">
                <a:spLocks noRot="1" noChangeAspect="1" noMove="1" noResize="1" noEditPoints="1" noAdjustHandles="1" noChangeArrowheads="1" noChangeShapeType="1" noTextEdit="1"/>
              </p:cNvSpPr>
              <p:nvPr/>
            </p:nvSpPr>
            <p:spPr>
              <a:xfrm>
                <a:off x="2745208" y="5134821"/>
                <a:ext cx="1881028" cy="400110"/>
              </a:xfrm>
              <a:prstGeom prst="rect">
                <a:avLst/>
              </a:prstGeom>
              <a:blipFill>
                <a:blip r:embed="rId5"/>
                <a:stretch>
                  <a:fillRect l="-3378"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182338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038D64-0DAD-9741-9894-C66FBA043F19}"/>
              </a:ext>
            </a:extLst>
          </p:cNvPr>
          <p:cNvSpPr>
            <a:spLocks noGrp="1"/>
          </p:cNvSpPr>
          <p:nvPr>
            <p:ph type="title"/>
          </p:nvPr>
        </p:nvSpPr>
        <p:spPr/>
        <p:txBody>
          <a:bodyPr/>
          <a:lstStyle/>
          <a:p>
            <a:r>
              <a:rPr lang="en-ZA" dirty="0"/>
              <a:t>Quantum State Postulate</a:t>
            </a:r>
            <a:endParaRPr lang="en-US" dirty="0"/>
          </a:p>
        </p:txBody>
      </p:sp>
      <p:sp>
        <p:nvSpPr>
          <p:cNvPr id="2" name="Slide Number Placeholder 1">
            <a:extLst>
              <a:ext uri="{FF2B5EF4-FFF2-40B4-BE49-F238E27FC236}">
                <a16:creationId xmlns:a16="http://schemas.microsoft.com/office/drawing/2014/main" id="{61A63606-B702-8546-97EF-792A3CB91B14}"/>
              </a:ext>
            </a:extLst>
          </p:cNvPr>
          <p:cNvSpPr>
            <a:spLocks noGrp="1"/>
          </p:cNvSpPr>
          <p:nvPr>
            <p:ph type="sldNum" sz="quarter" idx="12"/>
          </p:nvPr>
        </p:nvSpPr>
        <p:spPr/>
        <p:txBody>
          <a:bodyPr/>
          <a:lstStyle/>
          <a:p>
            <a:fld id="{591A223C-FA10-BC46-A853-03BA373D023C}" type="slidenum">
              <a:rPr lang="en-US" smtClean="0"/>
              <a:t>11</a:t>
            </a:fld>
            <a:endParaRPr lang="en-US"/>
          </a:p>
        </p:txBody>
      </p:sp>
      <p:sp>
        <p:nvSpPr>
          <p:cNvPr id="4" name="TextBox 3">
            <a:extLst>
              <a:ext uri="{FF2B5EF4-FFF2-40B4-BE49-F238E27FC236}">
                <a16:creationId xmlns:a16="http://schemas.microsoft.com/office/drawing/2014/main" id="{23BF3C67-8443-2D42-81CE-7082D70B1452}"/>
              </a:ext>
            </a:extLst>
          </p:cNvPr>
          <p:cNvSpPr txBox="1"/>
          <p:nvPr/>
        </p:nvSpPr>
        <p:spPr>
          <a:xfrm>
            <a:off x="216977" y="1116188"/>
            <a:ext cx="11691005" cy="830997"/>
          </a:xfrm>
          <a:prstGeom prst="rect">
            <a:avLst/>
          </a:prstGeom>
          <a:solidFill>
            <a:schemeClr val="accent4">
              <a:lumMod val="20000"/>
              <a:lumOff val="80000"/>
            </a:schemeClr>
          </a:solidFill>
        </p:spPr>
        <p:txBody>
          <a:bodyPr wrap="square" rtlCol="0">
            <a:spAutoFit/>
          </a:bodyPr>
          <a:lstStyle/>
          <a:p>
            <a:pPr algn="ctr"/>
            <a:r>
              <a:rPr lang="en-ZA" sz="2400" dirty="0"/>
              <a:t>A pure quantum state of an isolated quantum system is represented by a unit vector in a complex Hilbert space.</a:t>
            </a:r>
            <a:endParaRPr lang="en-US" sz="2400" dirty="0"/>
          </a:p>
        </p:txBody>
      </p:sp>
      <p:grpSp>
        <p:nvGrpSpPr>
          <p:cNvPr id="14" name="Group 13">
            <a:extLst>
              <a:ext uri="{FF2B5EF4-FFF2-40B4-BE49-F238E27FC236}">
                <a16:creationId xmlns:a16="http://schemas.microsoft.com/office/drawing/2014/main" id="{EB5A1380-DB16-A040-B225-CB050F413E0A}"/>
              </a:ext>
            </a:extLst>
          </p:cNvPr>
          <p:cNvGrpSpPr/>
          <p:nvPr/>
        </p:nvGrpSpPr>
        <p:grpSpPr>
          <a:xfrm>
            <a:off x="6062479" y="2312214"/>
            <a:ext cx="5943541" cy="4234186"/>
            <a:chOff x="4748754" y="2352058"/>
            <a:chExt cx="5943541" cy="4234186"/>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1F20192-4AFD-C249-9B97-FBDA88C51E53}"/>
                    </a:ext>
                  </a:extLst>
                </p:cNvPr>
                <p:cNvSpPr/>
                <p:nvPr/>
              </p:nvSpPr>
              <p:spPr>
                <a:xfrm>
                  <a:off x="6217565" y="2352058"/>
                  <a:ext cx="2726003" cy="13447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𝑆</m:t>
                            </m:r>
                          </m:e>
                        </m:d>
                        <m:r>
                          <a:rPr lang="en-US" sz="2800" i="0">
                            <a:latin typeface="Cambria Math" panose="02040503050406030204" pitchFamily="18" charset="0"/>
                          </a:rPr>
                          <m:t>=</m:t>
                        </m:r>
                        <m:nary>
                          <m:naryPr>
                            <m:chr m:val="∑"/>
                            <m:limLoc m:val="undOvr"/>
                            <m:ctrlPr>
                              <a:rPr lang="en-US" sz="2800" i="1">
                                <a:latin typeface="Cambria Math" panose="02040503050406030204" pitchFamily="18" charset="0"/>
                              </a:rPr>
                            </m:ctrlPr>
                          </m:naryPr>
                          <m:sub>
                            <m:r>
                              <a:rPr lang="en-US" sz="2800" i="1">
                                <a:latin typeface="Cambria Math" panose="02040503050406030204" pitchFamily="18" charset="0"/>
                              </a:rPr>
                              <m:t>𝑘</m:t>
                            </m:r>
                            <m:r>
                              <a:rPr lang="en-US" sz="2800" i="0">
                                <a:latin typeface="Cambria Math" panose="02040503050406030204" pitchFamily="18" charset="0"/>
                              </a:rPr>
                              <m:t>=0</m:t>
                            </m:r>
                          </m:sub>
                          <m:sup>
                            <m:sSup>
                              <m:sSupPr>
                                <m:ctrlPr>
                                  <a:rPr lang="en-US" sz="2800" i="1">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𝑛</m:t>
                                </m:r>
                              </m:sup>
                            </m:sSup>
                            <m:r>
                              <a:rPr lang="en-US" sz="2800" b="0" i="1" smtClean="0">
                                <a:latin typeface="Cambria Math" panose="02040503050406030204" pitchFamily="18" charset="0"/>
                              </a:rPr>
                              <m:t>−1</m:t>
                            </m:r>
                          </m:sup>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𝑘</m:t>
                                </m:r>
                              </m:e>
                            </m:d>
                          </m:e>
                        </m:nary>
                      </m:oMath>
                    </m:oMathPara>
                  </a14:m>
                  <a:endParaRPr lang="en-US" sz="2800" dirty="0"/>
                </a:p>
              </p:txBody>
            </p:sp>
          </mc:Choice>
          <mc:Fallback xmlns="">
            <p:sp>
              <p:nvSpPr>
                <p:cNvPr id="5" name="Rectangle 4">
                  <a:extLst>
                    <a:ext uri="{FF2B5EF4-FFF2-40B4-BE49-F238E27FC236}">
                      <a16:creationId xmlns:a16="http://schemas.microsoft.com/office/drawing/2014/main" id="{11F20192-4AFD-C249-9B97-FBDA88C51E53}"/>
                    </a:ext>
                  </a:extLst>
                </p:cNvPr>
                <p:cNvSpPr>
                  <a:spLocks noRot="1" noChangeAspect="1" noMove="1" noResize="1" noEditPoints="1" noAdjustHandles="1" noChangeArrowheads="1" noChangeShapeType="1" noTextEdit="1"/>
                </p:cNvSpPr>
                <p:nvPr/>
              </p:nvSpPr>
              <p:spPr>
                <a:xfrm>
                  <a:off x="6217565" y="2352058"/>
                  <a:ext cx="2726003" cy="1344727"/>
                </a:xfrm>
                <a:prstGeom prst="rect">
                  <a:avLst/>
                </a:prstGeom>
                <a:blipFill>
                  <a:blip r:embed="rId3"/>
                  <a:stretch>
                    <a:fillRect l="-7407" t="-94393" b="-1523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B92A0EB-B471-B34F-A832-D522D65F5171}"/>
                    </a:ext>
                  </a:extLst>
                </p:cNvPr>
                <p:cNvSpPr txBox="1"/>
                <p:nvPr/>
              </p:nvSpPr>
              <p:spPr>
                <a:xfrm>
                  <a:off x="5366413" y="5632137"/>
                  <a:ext cx="5325882" cy="954107"/>
                </a:xfrm>
                <a:prstGeom prst="rect">
                  <a:avLst/>
                </a:prstGeom>
                <a:noFill/>
              </p:spPr>
              <p:txBody>
                <a:bodyPr wrap="none" rtlCol="0">
                  <a:spAutoFit/>
                </a:bodyPr>
                <a:lstStyle/>
                <a:p>
                  <a14:m>
                    <m:oMath xmlns:m="http://schemas.openxmlformats.org/officeDocument/2006/math">
                      <m:d>
                        <m:dPr>
                          <m:begChr m:val="|"/>
                          <m:endChr m:val="⟩"/>
                          <m:ctrlPr>
                            <a:rPr lang="en-ZA" sz="2800" i="1" smtClean="0">
                              <a:latin typeface="Cambria Math" panose="02040503050406030204" pitchFamily="18" charset="0"/>
                            </a:rPr>
                          </m:ctrlPr>
                        </m:dPr>
                        <m:e>
                          <m:r>
                            <a:rPr lang="en-US" sz="2800" i="1" smtClean="0">
                              <a:latin typeface="Cambria Math" panose="02040503050406030204" pitchFamily="18" charset="0"/>
                            </a:rPr>
                            <m:t>𝑘</m:t>
                          </m:r>
                        </m:e>
                      </m:d>
                    </m:oMath>
                  </a14:m>
                  <a:r>
                    <a:rPr lang="sr-Latn-RS" sz="2800" dirty="0"/>
                    <a:t> 	</a:t>
                  </a:r>
                  <a:r>
                    <a:rPr lang="en-ZA" sz="2400" dirty="0"/>
                    <a:t>a basis vector of the Hilbert space</a:t>
                  </a:r>
                  <a:endParaRPr lang="en-US" sz="2400" i="1" dirty="0"/>
                </a:p>
                <a:p>
                  <a14:m>
                    <m:oMath xmlns:m="http://schemas.openxmlformats.org/officeDocument/2006/math">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𝑘</m:t>
                          </m:r>
                        </m:sub>
                      </m:sSub>
                    </m:oMath>
                  </a14:m>
                  <a:r>
                    <a:rPr lang="sr-Latn-RS" sz="2800" dirty="0"/>
                    <a:t>	</a:t>
                  </a:r>
                  <a:r>
                    <a:rPr lang="en-US" sz="2400" dirty="0"/>
                    <a:t>complex probability amplitudes</a:t>
                  </a:r>
                </a:p>
              </p:txBody>
            </p:sp>
          </mc:Choice>
          <mc:Fallback xmlns="">
            <p:sp>
              <p:nvSpPr>
                <p:cNvPr id="6" name="TextBox 5">
                  <a:extLst>
                    <a:ext uri="{FF2B5EF4-FFF2-40B4-BE49-F238E27FC236}">
                      <a16:creationId xmlns:a16="http://schemas.microsoft.com/office/drawing/2014/main" id="{2B92A0EB-B471-B34F-A832-D522D65F5171}"/>
                    </a:ext>
                  </a:extLst>
                </p:cNvPr>
                <p:cNvSpPr txBox="1">
                  <a:spLocks noRot="1" noChangeAspect="1" noMove="1" noResize="1" noEditPoints="1" noAdjustHandles="1" noChangeArrowheads="1" noChangeShapeType="1" noTextEdit="1"/>
                </p:cNvSpPr>
                <p:nvPr/>
              </p:nvSpPr>
              <p:spPr>
                <a:xfrm>
                  <a:off x="5366413" y="5632137"/>
                  <a:ext cx="5325882" cy="954107"/>
                </a:xfrm>
                <a:prstGeom prst="rect">
                  <a:avLst/>
                </a:prstGeom>
                <a:blipFill>
                  <a:blip r:embed="rId5"/>
                  <a:stretch>
                    <a:fillRect r="-714"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30DBC12-3D0A-8744-B1A2-F2C219D9916C}"/>
                    </a:ext>
                  </a:extLst>
                </p:cNvPr>
                <p:cNvSpPr/>
                <p:nvPr/>
              </p:nvSpPr>
              <p:spPr>
                <a:xfrm>
                  <a:off x="7149848" y="3680307"/>
                  <a:ext cx="2366930" cy="13447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ZA" sz="2800" i="1">
                                <a:latin typeface="Cambria Math" panose="02040503050406030204" pitchFamily="18" charset="0"/>
                              </a:rPr>
                            </m:ctrlPr>
                          </m:naryPr>
                          <m:sub>
                            <m:r>
                              <a:rPr lang="sr-Latn-RS" sz="2800" i="1">
                                <a:latin typeface="Cambria Math" panose="02040503050406030204" pitchFamily="18" charset="0"/>
                              </a:rPr>
                              <m:t>𝑘</m:t>
                            </m:r>
                            <m:r>
                              <a:rPr lang="sr-Latn-RS" sz="2800" i="1">
                                <a:latin typeface="Cambria Math" panose="02040503050406030204" pitchFamily="18" charset="0"/>
                              </a:rPr>
                              <m:t>=0</m:t>
                            </m:r>
                          </m:sub>
                          <m:sup>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i="1">
                                    <a:latin typeface="Cambria Math" panose="02040503050406030204" pitchFamily="18" charset="0"/>
                                  </a:rPr>
                                  <m:t>𝑛</m:t>
                                </m:r>
                              </m:sup>
                            </m:sSup>
                            <m:r>
                              <a:rPr lang="en-US" sz="2800" i="1">
                                <a:latin typeface="Cambria Math" panose="02040503050406030204" pitchFamily="18" charset="0"/>
                              </a:rPr>
                              <m:t>−1</m:t>
                            </m:r>
                          </m:sup>
                          <m:e>
                            <m:sSup>
                              <m:sSupPr>
                                <m:ctrlPr>
                                  <a:rPr lang="en-ZA" sz="2800" i="1">
                                    <a:latin typeface="Cambria Math" panose="02040503050406030204" pitchFamily="18" charset="0"/>
                                  </a:rPr>
                                </m:ctrlPr>
                              </m:sSupPr>
                              <m:e>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𝑘</m:t>
                                        </m:r>
                                      </m:sub>
                                    </m:sSub>
                                  </m:e>
                                </m:d>
                              </m:e>
                              <m:sup>
                                <m:r>
                                  <a:rPr lang="sr-Latn-RS" sz="2800" i="1">
                                    <a:latin typeface="Cambria Math" panose="02040503050406030204" pitchFamily="18" charset="0"/>
                                  </a:rPr>
                                  <m:t>2</m:t>
                                </m:r>
                              </m:sup>
                            </m:sSup>
                            <m:r>
                              <a:rPr lang="sr-Latn-RS" sz="2800" i="1">
                                <a:latin typeface="Cambria Math" panose="02040503050406030204" pitchFamily="18" charset="0"/>
                              </a:rPr>
                              <m:t>=1</m:t>
                            </m:r>
                          </m:e>
                        </m:nary>
                      </m:oMath>
                    </m:oMathPara>
                  </a14:m>
                  <a:endParaRPr lang="en-US" sz="2800" dirty="0"/>
                </a:p>
              </p:txBody>
            </p:sp>
          </mc:Choice>
          <mc:Fallback xmlns="">
            <p:sp>
              <p:nvSpPr>
                <p:cNvPr id="12" name="Rectangle 11">
                  <a:extLst>
                    <a:ext uri="{FF2B5EF4-FFF2-40B4-BE49-F238E27FC236}">
                      <a16:creationId xmlns:a16="http://schemas.microsoft.com/office/drawing/2014/main" id="{B30DBC12-3D0A-8744-B1A2-F2C219D9916C}"/>
                    </a:ext>
                  </a:extLst>
                </p:cNvPr>
                <p:cNvSpPr>
                  <a:spLocks noRot="1" noChangeAspect="1" noMove="1" noResize="1" noEditPoints="1" noAdjustHandles="1" noChangeArrowheads="1" noChangeShapeType="1" noTextEdit="1"/>
                </p:cNvSpPr>
                <p:nvPr/>
              </p:nvSpPr>
              <p:spPr>
                <a:xfrm>
                  <a:off x="7149848" y="3680307"/>
                  <a:ext cx="2366930" cy="1344727"/>
                </a:xfrm>
                <a:prstGeom prst="rect">
                  <a:avLst/>
                </a:prstGeom>
                <a:blipFill>
                  <a:blip r:embed="rId6"/>
                  <a:stretch>
                    <a:fillRect l="-46277" t="-95327" b="-152336"/>
                  </a:stretch>
                </a:blipFill>
              </p:spPr>
              <p:txBody>
                <a:bodyPr/>
                <a:lstStyle/>
                <a:p>
                  <a:r>
                    <a:rPr lang="en-US">
                      <a:noFill/>
                    </a:rPr>
                    <a:t> </a:t>
                  </a:r>
                </a:p>
              </p:txBody>
            </p:sp>
          </mc:Fallback>
        </mc:AlternateContent>
        <p:sp>
          <p:nvSpPr>
            <p:cNvPr id="13" name="Right Arrow 12">
              <a:extLst>
                <a:ext uri="{FF2B5EF4-FFF2-40B4-BE49-F238E27FC236}">
                  <a16:creationId xmlns:a16="http://schemas.microsoft.com/office/drawing/2014/main" id="{97F7BBB9-29BC-1448-BBE5-C8DCF0E344EA}"/>
                </a:ext>
              </a:extLst>
            </p:cNvPr>
            <p:cNvSpPr/>
            <p:nvPr/>
          </p:nvSpPr>
          <p:spPr>
            <a:xfrm>
              <a:off x="5146564" y="3243810"/>
              <a:ext cx="954157" cy="733983"/>
            </a:xfrm>
            <a:prstGeom prs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8F43C56-A4B0-FA42-9A7E-CBB6047B680A}"/>
                    </a:ext>
                  </a:extLst>
                </p:cNvPr>
                <p:cNvSpPr txBox="1"/>
                <p:nvPr/>
              </p:nvSpPr>
              <p:spPr>
                <a:xfrm>
                  <a:off x="4748754" y="4000737"/>
                  <a:ext cx="192546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m:t>
                        </m:r>
                        <m:r>
                          <a:rPr lang="en-US" sz="2800" b="0" i="1" smtClean="0">
                            <a:latin typeface="Cambria Math" panose="02040503050406030204" pitchFamily="18" charset="0"/>
                          </a:rPr>
                          <m:t>𝑞𝑢𝑏𝑖𝑡𝑠</m:t>
                        </m:r>
                      </m:oMath>
                    </m:oMathPara>
                  </a14:m>
                  <a:endParaRPr lang="en-US" sz="2400" dirty="0"/>
                </a:p>
              </p:txBody>
            </p:sp>
          </mc:Choice>
          <mc:Fallback xmlns="">
            <p:sp>
              <p:nvSpPr>
                <p:cNvPr id="27" name="TextBox 26">
                  <a:extLst>
                    <a:ext uri="{FF2B5EF4-FFF2-40B4-BE49-F238E27FC236}">
                      <a16:creationId xmlns:a16="http://schemas.microsoft.com/office/drawing/2014/main" id="{18F43C56-A4B0-FA42-9A7E-CBB6047B680A}"/>
                    </a:ext>
                  </a:extLst>
                </p:cNvPr>
                <p:cNvSpPr txBox="1">
                  <a:spLocks noRot="1" noChangeAspect="1" noMove="1" noResize="1" noEditPoints="1" noAdjustHandles="1" noChangeArrowheads="1" noChangeShapeType="1" noTextEdit="1"/>
                </p:cNvSpPr>
                <p:nvPr/>
              </p:nvSpPr>
              <p:spPr>
                <a:xfrm>
                  <a:off x="4748754" y="4000737"/>
                  <a:ext cx="1925464" cy="523220"/>
                </a:xfrm>
                <a:prstGeom prst="rect">
                  <a:avLst/>
                </a:prstGeom>
                <a:blipFill>
                  <a:blip r:embed="rId7"/>
                  <a:stretch>
                    <a:fillRect r="-654" b="-1707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8661B5-9C05-6C44-B0BD-DF26E2030801}"/>
                  </a:ext>
                </a:extLst>
              </p:cNvPr>
              <p:cNvSpPr txBox="1"/>
              <p:nvPr/>
            </p:nvSpPr>
            <p:spPr>
              <a:xfrm>
                <a:off x="-87263" y="2356680"/>
                <a:ext cx="6262804" cy="25757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1"/>
                                    <m:mcJc m:val="center"/>
                                  </m:mcPr>
                                </m:mc>
                              </m:mcs>
                              <m:ctrlPr>
                                <a:rPr lang="en-US" sz="2800" i="1" smtClean="0">
                                  <a:latin typeface="Cambria Math" panose="02040503050406030204" pitchFamily="18" charset="0"/>
                                </a:rPr>
                              </m:ctrlPr>
                            </m:mPr>
                            <m:m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0</m:t>
                                    </m:r>
                                  </m:sub>
                                </m:sSub>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1</m:t>
                                    </m:r>
                                  </m:sub>
                                </m:sSub>
                                <m:d>
                                  <m:dPr>
                                    <m:begChr m:val="|"/>
                                    <m:endChr m:val="⟩"/>
                                    <m:ctrlPr>
                                      <a:rPr lang="en-US" sz="2800" i="1">
                                        <a:latin typeface="Cambria Math" panose="02040503050406030204" pitchFamily="18" charset="0"/>
                                      </a:rPr>
                                    </m:ctrlPr>
                                  </m:dPr>
                                  <m:e>
                                    <m:r>
                                      <a:rPr lang="en-US" sz="2800" i="1">
                                        <a:latin typeface="Cambria Math" panose="02040503050406030204" pitchFamily="18" charset="0"/>
                                      </a:rPr>
                                      <m:t>1</m:t>
                                    </m:r>
                                  </m:e>
                                </m:d>
                                <m:r>
                                  <a:rPr lang="en-US" sz="2800" b="0" i="0" smtClean="0">
                                    <a:latin typeface="Cambria Math" panose="02040503050406030204" pitchFamily="18" charset="0"/>
                                  </a:rPr>
                                  <m:t>=</m:t>
                                </m:r>
                                <m:nary>
                                  <m:naryPr>
                                    <m:chr m:val="∑"/>
                                    <m:limLoc m:val="undOvr"/>
                                    <m:ctrlPr>
                                      <a:rPr lang="en-US" sz="2800" i="1">
                                        <a:latin typeface="Cambria Math" panose="02040503050406030204" pitchFamily="18" charset="0"/>
                                      </a:rPr>
                                    </m:ctrlPr>
                                  </m:naryPr>
                                  <m:sub>
                                    <m:r>
                                      <a:rPr lang="en-US" sz="2800" i="1">
                                        <a:latin typeface="Cambria Math" panose="02040503050406030204" pitchFamily="18" charset="0"/>
                                      </a:rPr>
                                      <m:t>𝑘</m:t>
                                    </m:r>
                                    <m:r>
                                      <a:rPr lang="en-US" sz="2800">
                                        <a:latin typeface="Cambria Math" panose="02040503050406030204" pitchFamily="18" charset="0"/>
                                      </a:rPr>
                                      <m:t>=0</m:t>
                                    </m:r>
                                  </m:sub>
                                  <m:sup>
                                    <m:r>
                                      <a:rPr lang="en-US" sz="2800" i="1">
                                        <a:latin typeface="Cambria Math" panose="02040503050406030204" pitchFamily="18" charset="0"/>
                                      </a:rPr>
                                      <m:t>1</m:t>
                                    </m:r>
                                  </m:sup>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𝑘</m:t>
                                        </m:r>
                                      </m:e>
                                    </m:d>
                                  </m:e>
                                </m:nary>
                              </m:e>
                            </m:mr>
                            <m:mr>
                              <m:e>
                                <m:sSup>
                                  <m:sSupPr>
                                    <m:ctrlPr>
                                      <a:rPr lang="en-ZA" sz="2800" i="1">
                                        <a:latin typeface="Cambria Math" panose="02040503050406030204" pitchFamily="18" charset="0"/>
                                      </a:rPr>
                                    </m:ctrlPr>
                                  </m:sSupPr>
                                  <m:e>
                                    <m:r>
                                      <a:rPr lang="en-US" sz="2800" i="1">
                                        <a:latin typeface="Cambria Math" panose="02040503050406030204" pitchFamily="18" charset="0"/>
                                      </a:rPr>
                                      <m:t>  </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en-US" sz="2800" i="1">
                                                <a:latin typeface="Cambria Math" panose="02040503050406030204" pitchFamily="18" charset="0"/>
                                              </a:rPr>
                                              <m:t>0</m:t>
                                            </m:r>
                                          </m:sub>
                                        </m:sSub>
                                      </m:e>
                                    </m:d>
                                  </m:e>
                                  <m:sup>
                                    <m:r>
                                      <a:rPr lang="sr-Latn-RS" sz="2800" i="1">
                                        <a:latin typeface="Cambria Math" panose="02040503050406030204" pitchFamily="18" charset="0"/>
                                      </a:rPr>
                                      <m:t>2</m:t>
                                    </m:r>
                                  </m:sup>
                                </m:sSup>
                                <m:r>
                                  <a:rPr lang="en-US" sz="2800" i="1">
                                    <a:latin typeface="Cambria Math" panose="02040503050406030204" pitchFamily="18" charset="0"/>
                                  </a:rPr>
                                  <m:t>+</m:t>
                                </m:r>
                                <m:sSup>
                                  <m:sSupPr>
                                    <m:ctrlPr>
                                      <a:rPr lang="en-ZA" sz="2800" i="1">
                                        <a:latin typeface="Cambria Math" panose="02040503050406030204" pitchFamily="18" charset="0"/>
                                      </a:rPr>
                                    </m:ctrlPr>
                                  </m:sSupPr>
                                  <m:e>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en-US" sz="2800" i="1">
                                                <a:latin typeface="Cambria Math" panose="02040503050406030204" pitchFamily="18" charset="0"/>
                                              </a:rPr>
                                              <m:t>1</m:t>
                                            </m:r>
                                          </m:sub>
                                        </m:sSub>
                                      </m:e>
                                    </m:d>
                                  </m:e>
                                  <m:sup>
                                    <m:r>
                                      <a:rPr lang="sr-Latn-RS" sz="2800" i="1">
                                        <a:latin typeface="Cambria Math" panose="02040503050406030204" pitchFamily="18" charset="0"/>
                                      </a:rPr>
                                      <m:t>2</m:t>
                                    </m:r>
                                  </m:sup>
                                </m:sSup>
                                <m:r>
                                  <a:rPr lang="en-US" sz="2800" i="1">
                                    <a:latin typeface="Cambria Math" panose="02040503050406030204" pitchFamily="18" charset="0"/>
                                  </a:rPr>
                                  <m:t>=1</m:t>
                                </m:r>
                                <m:r>
                                  <a:rPr lang="en-US" sz="2800" b="0" i="1" smtClean="0">
                                    <a:latin typeface="Cambria Math" panose="02040503050406030204" pitchFamily="18" charset="0"/>
                                  </a:rPr>
                                  <m:t>,       </m:t>
                                </m:r>
                                <m:nary>
                                  <m:naryPr>
                                    <m:chr m:val="∑"/>
                                    <m:limLoc m:val="undOvr"/>
                                    <m:ctrlPr>
                                      <a:rPr lang="en-ZA" sz="2800" i="1">
                                        <a:latin typeface="Cambria Math" panose="02040503050406030204" pitchFamily="18" charset="0"/>
                                      </a:rPr>
                                    </m:ctrlPr>
                                  </m:naryPr>
                                  <m:sub>
                                    <m:r>
                                      <a:rPr lang="sr-Latn-RS" sz="2800" i="1">
                                        <a:latin typeface="Cambria Math" panose="02040503050406030204" pitchFamily="18" charset="0"/>
                                      </a:rPr>
                                      <m:t>𝑘</m:t>
                                    </m:r>
                                    <m:r>
                                      <a:rPr lang="sr-Latn-RS" sz="2800" i="1">
                                        <a:latin typeface="Cambria Math" panose="02040503050406030204" pitchFamily="18" charset="0"/>
                                      </a:rPr>
                                      <m:t>=0</m:t>
                                    </m:r>
                                  </m:sub>
                                  <m:sup>
                                    <m:r>
                                      <a:rPr lang="en-US" sz="2800" i="1">
                                        <a:latin typeface="Cambria Math" panose="02040503050406030204" pitchFamily="18" charset="0"/>
                                      </a:rPr>
                                      <m:t>1</m:t>
                                    </m:r>
                                  </m:sup>
                                  <m:e>
                                    <m:sSup>
                                      <m:sSupPr>
                                        <m:ctrlPr>
                                          <a:rPr lang="en-ZA" sz="2800" i="1">
                                            <a:latin typeface="Cambria Math" panose="02040503050406030204" pitchFamily="18" charset="0"/>
                                          </a:rPr>
                                        </m:ctrlPr>
                                      </m:sSupPr>
                                      <m:e>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𝑘</m:t>
                                                </m:r>
                                              </m:sub>
                                            </m:sSub>
                                          </m:e>
                                        </m:d>
                                      </m:e>
                                      <m:sup>
                                        <m:r>
                                          <a:rPr lang="sr-Latn-RS" sz="2800" i="1">
                                            <a:latin typeface="Cambria Math" panose="02040503050406030204" pitchFamily="18" charset="0"/>
                                          </a:rPr>
                                          <m:t>2</m:t>
                                        </m:r>
                                      </m:sup>
                                    </m:sSup>
                                    <m:r>
                                      <a:rPr lang="sr-Latn-RS" sz="2800" i="1">
                                        <a:latin typeface="Cambria Math" panose="02040503050406030204" pitchFamily="18" charset="0"/>
                                      </a:rPr>
                                      <m:t>=1</m:t>
                                    </m:r>
                                  </m:e>
                                </m:nary>
                              </m:e>
                            </m:mr>
                          </m:m>
                        </m:e>
                      </m:d>
                    </m:oMath>
                  </m:oMathPara>
                </a14:m>
                <a:endParaRPr lang="en-US" sz="2800" dirty="0"/>
              </a:p>
            </p:txBody>
          </p:sp>
        </mc:Choice>
        <mc:Fallback xmlns="">
          <p:sp>
            <p:nvSpPr>
              <p:cNvPr id="11" name="TextBox 10">
                <a:extLst>
                  <a:ext uri="{FF2B5EF4-FFF2-40B4-BE49-F238E27FC236}">
                    <a16:creationId xmlns:a16="http://schemas.microsoft.com/office/drawing/2014/main" id="{128661B5-9C05-6C44-B0BD-DF26E2030801}"/>
                  </a:ext>
                </a:extLst>
              </p:cNvPr>
              <p:cNvSpPr txBox="1">
                <a:spLocks noRot="1" noChangeAspect="1" noMove="1" noResize="1" noEditPoints="1" noAdjustHandles="1" noChangeArrowheads="1" noChangeShapeType="1" noTextEdit="1"/>
              </p:cNvSpPr>
              <p:nvPr/>
            </p:nvSpPr>
            <p:spPr>
              <a:xfrm>
                <a:off x="-87263" y="2356680"/>
                <a:ext cx="6262804" cy="2575770"/>
              </a:xfrm>
              <a:prstGeom prst="rect">
                <a:avLst/>
              </a:prstGeom>
              <a:blipFill>
                <a:blip r:embed="rId8"/>
                <a:stretch>
                  <a:fillRect l="-203" t="-51724" b="-8029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E47697C-82DF-AE43-99B0-551F88C5A405}"/>
              </a:ext>
            </a:extLst>
          </p:cNvPr>
          <p:cNvSpPr txBox="1"/>
          <p:nvPr/>
        </p:nvSpPr>
        <p:spPr>
          <a:xfrm>
            <a:off x="304911" y="2027470"/>
            <a:ext cx="7388754" cy="369332"/>
          </a:xfrm>
          <a:prstGeom prst="rect">
            <a:avLst/>
          </a:prstGeom>
          <a:noFill/>
        </p:spPr>
        <p:txBody>
          <a:bodyPr wrap="none" rtlCol="0">
            <a:spAutoFit/>
          </a:bodyPr>
          <a:lstStyle/>
          <a:p>
            <a:r>
              <a:rPr lang="en-ZA" dirty="0"/>
              <a:t>A pure state: state that is completely described by a single vector of length 1.</a:t>
            </a:r>
            <a:endParaRPr lang="en-US" dirty="0"/>
          </a:p>
        </p:txBody>
      </p:sp>
      <p:cxnSp>
        <p:nvCxnSpPr>
          <p:cNvPr id="16" name="Straight Connector 15">
            <a:extLst>
              <a:ext uri="{FF2B5EF4-FFF2-40B4-BE49-F238E27FC236}">
                <a16:creationId xmlns:a16="http://schemas.microsoft.com/office/drawing/2014/main" id="{07187961-8F0E-6B4E-A164-8DF1C10EBB97}"/>
              </a:ext>
            </a:extLst>
          </p:cNvPr>
          <p:cNvCxnSpPr>
            <a:cxnSpLocks/>
          </p:cNvCxnSpPr>
          <p:nvPr/>
        </p:nvCxnSpPr>
        <p:spPr>
          <a:xfrm flipV="1">
            <a:off x="2313184" y="6389026"/>
            <a:ext cx="531498" cy="264"/>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B2138BFA-50D3-CA4E-B6CA-EB27A6AA4FA7}"/>
                  </a:ext>
                </a:extLst>
              </p:cNvPr>
              <p:cNvSpPr/>
              <p:nvPr/>
            </p:nvSpPr>
            <p:spPr>
              <a:xfrm>
                <a:off x="614646" y="4775094"/>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1</m:t>
                          </m:r>
                        </m:e>
                      </m:d>
                    </m:oMath>
                  </m:oMathPara>
                </a14:m>
                <a:endParaRPr lang="en-US" sz="2000" dirty="0"/>
              </a:p>
            </p:txBody>
          </p:sp>
        </mc:Choice>
        <mc:Fallback xmlns="">
          <p:sp>
            <p:nvSpPr>
              <p:cNvPr id="20" name="Rectangle 19">
                <a:extLst>
                  <a:ext uri="{FF2B5EF4-FFF2-40B4-BE49-F238E27FC236}">
                    <a16:creationId xmlns:a16="http://schemas.microsoft.com/office/drawing/2014/main" id="{B2138BFA-50D3-CA4E-B6CA-EB27A6AA4FA7}"/>
                  </a:ext>
                </a:extLst>
              </p:cNvPr>
              <p:cNvSpPr>
                <a:spLocks noRot="1" noChangeAspect="1" noMove="1" noResize="1" noEditPoints="1" noAdjustHandles="1" noChangeArrowheads="1" noChangeShapeType="1" noTextEdit="1"/>
              </p:cNvSpPr>
              <p:nvPr/>
            </p:nvSpPr>
            <p:spPr>
              <a:xfrm>
                <a:off x="614646" y="4775094"/>
                <a:ext cx="558422" cy="400110"/>
              </a:xfrm>
              <a:prstGeom prst="rect">
                <a:avLst/>
              </a:prstGeom>
              <a:blipFill>
                <a:blip r:embed="rId9"/>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7203ACCC-F4F7-FF4F-B93F-3FAA9E2F9C10}"/>
              </a:ext>
            </a:extLst>
          </p:cNvPr>
          <p:cNvCxnSpPr>
            <a:cxnSpLocks/>
          </p:cNvCxnSpPr>
          <p:nvPr/>
        </p:nvCxnSpPr>
        <p:spPr>
          <a:xfrm flipV="1">
            <a:off x="1291498" y="6389026"/>
            <a:ext cx="1021686" cy="264"/>
          </a:xfrm>
          <a:prstGeom prst="line">
            <a:avLst/>
          </a:prstGeom>
          <a:ln w="25400" cap="rnd">
            <a:solidFill>
              <a:schemeClr val="accent5">
                <a:lumMod val="50000"/>
              </a:schemeClr>
            </a:solidFill>
            <a:prstDash val="soli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53EC0D-9038-A845-8251-6693C8CF02F7}"/>
              </a:ext>
            </a:extLst>
          </p:cNvPr>
          <p:cNvCxnSpPr>
            <a:cxnSpLocks/>
          </p:cNvCxnSpPr>
          <p:nvPr/>
        </p:nvCxnSpPr>
        <p:spPr>
          <a:xfrm flipV="1">
            <a:off x="1288184" y="5196942"/>
            <a:ext cx="3" cy="1194810"/>
          </a:xfrm>
          <a:prstGeom prst="line">
            <a:avLst/>
          </a:prstGeom>
          <a:ln w="25400" cap="rnd">
            <a:solidFill>
              <a:schemeClr val="accent6">
                <a:lumMod val="75000"/>
              </a:schemeClr>
            </a:solidFill>
            <a:prstDash val="solid"/>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03429A45-66B5-044A-A36E-B416A3B59F32}"/>
                  </a:ext>
                </a:extLst>
              </p:cNvPr>
              <p:cNvSpPr/>
              <p:nvPr/>
            </p:nvSpPr>
            <p:spPr>
              <a:xfrm>
                <a:off x="2314301" y="5950873"/>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0</m:t>
                          </m:r>
                        </m:e>
                      </m:d>
                    </m:oMath>
                  </m:oMathPara>
                </a14:m>
                <a:endParaRPr lang="en-US" sz="2000" dirty="0"/>
              </a:p>
            </p:txBody>
          </p:sp>
        </mc:Choice>
        <mc:Fallback xmlns="">
          <p:sp>
            <p:nvSpPr>
              <p:cNvPr id="23" name="Rectangle 22">
                <a:extLst>
                  <a:ext uri="{FF2B5EF4-FFF2-40B4-BE49-F238E27FC236}">
                    <a16:creationId xmlns:a16="http://schemas.microsoft.com/office/drawing/2014/main" id="{03429A45-66B5-044A-A36E-B416A3B59F32}"/>
                  </a:ext>
                </a:extLst>
              </p:cNvPr>
              <p:cNvSpPr>
                <a:spLocks noRot="1" noChangeAspect="1" noMove="1" noResize="1" noEditPoints="1" noAdjustHandles="1" noChangeArrowheads="1" noChangeShapeType="1" noTextEdit="1"/>
              </p:cNvSpPr>
              <p:nvPr/>
            </p:nvSpPr>
            <p:spPr>
              <a:xfrm>
                <a:off x="2314301" y="5950873"/>
                <a:ext cx="558422" cy="400110"/>
              </a:xfrm>
              <a:prstGeom prst="rect">
                <a:avLst/>
              </a:prstGeom>
              <a:blipFill>
                <a:blip r:embed="rId10"/>
                <a:stretch>
                  <a:fillRect/>
                </a:stretch>
              </a:blipFill>
            </p:spPr>
            <p:txBody>
              <a:bodyPr/>
              <a:lstStyle/>
              <a:p>
                <a:r>
                  <a:rPr lang="en-US">
                    <a:noFill/>
                  </a:rPr>
                  <a:t> </a:t>
                </a:r>
              </a:p>
            </p:txBody>
          </p:sp>
        </mc:Fallback>
      </mc:AlternateContent>
      <p:sp>
        <p:nvSpPr>
          <p:cNvPr id="24" name="Arc 23">
            <a:extLst>
              <a:ext uri="{FF2B5EF4-FFF2-40B4-BE49-F238E27FC236}">
                <a16:creationId xmlns:a16="http://schemas.microsoft.com/office/drawing/2014/main" id="{9DBB5982-5C41-1A40-ADBA-932D14356B88}"/>
              </a:ext>
            </a:extLst>
          </p:cNvPr>
          <p:cNvSpPr/>
          <p:nvPr/>
        </p:nvSpPr>
        <p:spPr>
          <a:xfrm>
            <a:off x="-268315" y="4832791"/>
            <a:ext cx="3112998" cy="3112998"/>
          </a:xfrm>
          <a:prstGeom prst="arc">
            <a:avLst>
              <a:gd name="adj1" fmla="val 15943104"/>
              <a:gd name="adj2" fmla="val 384930"/>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cxnSp>
        <p:nvCxnSpPr>
          <p:cNvPr id="25" name="Straight Connector 24">
            <a:extLst>
              <a:ext uri="{FF2B5EF4-FFF2-40B4-BE49-F238E27FC236}">
                <a16:creationId xmlns:a16="http://schemas.microsoft.com/office/drawing/2014/main" id="{6A93D727-B794-B24E-817F-9AA6485C21FF}"/>
              </a:ext>
            </a:extLst>
          </p:cNvPr>
          <p:cNvCxnSpPr>
            <a:cxnSpLocks/>
          </p:cNvCxnSpPr>
          <p:nvPr/>
        </p:nvCxnSpPr>
        <p:spPr>
          <a:xfrm rot="16200000" flipV="1">
            <a:off x="1080651" y="5037364"/>
            <a:ext cx="415066" cy="0"/>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9B419AA-8FFB-6B4E-A6AF-8FDE7797AF52}"/>
                  </a:ext>
                </a:extLst>
              </p:cNvPr>
              <p:cNvSpPr/>
              <p:nvPr/>
            </p:nvSpPr>
            <p:spPr>
              <a:xfrm>
                <a:off x="2369265" y="5059028"/>
                <a:ext cx="55701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𝑆</m:t>
                          </m:r>
                        </m:e>
                      </m:d>
                    </m:oMath>
                  </m:oMathPara>
                </a14:m>
                <a:endParaRPr lang="en-US" sz="2000" i="1" dirty="0"/>
              </a:p>
            </p:txBody>
          </p:sp>
        </mc:Choice>
        <mc:Fallback xmlns="">
          <p:sp>
            <p:nvSpPr>
              <p:cNvPr id="26" name="Rectangle 25">
                <a:extLst>
                  <a:ext uri="{FF2B5EF4-FFF2-40B4-BE49-F238E27FC236}">
                    <a16:creationId xmlns:a16="http://schemas.microsoft.com/office/drawing/2014/main" id="{19B419AA-8FFB-6B4E-A6AF-8FDE7797AF52}"/>
                  </a:ext>
                </a:extLst>
              </p:cNvPr>
              <p:cNvSpPr>
                <a:spLocks noRot="1" noChangeAspect="1" noMove="1" noResize="1" noEditPoints="1" noAdjustHandles="1" noChangeArrowheads="1" noChangeShapeType="1" noTextEdit="1"/>
              </p:cNvSpPr>
              <p:nvPr/>
            </p:nvSpPr>
            <p:spPr>
              <a:xfrm>
                <a:off x="2369265" y="5059028"/>
                <a:ext cx="557012" cy="400110"/>
              </a:xfrm>
              <a:prstGeom prst="rect">
                <a:avLst/>
              </a:prstGeom>
              <a:blipFill>
                <a:blip r:embed="rId11"/>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BB70D91B-B374-9248-B00C-7BA7971FD993}"/>
              </a:ext>
            </a:extLst>
          </p:cNvPr>
          <p:cNvCxnSpPr>
            <a:cxnSpLocks/>
          </p:cNvCxnSpPr>
          <p:nvPr/>
        </p:nvCxnSpPr>
        <p:spPr>
          <a:xfrm rot="18600000">
            <a:off x="1034685" y="5793117"/>
            <a:ext cx="1556499" cy="0"/>
          </a:xfrm>
          <a:prstGeom prst="line">
            <a:avLst/>
          </a:prstGeom>
          <a:ln w="25400" cap="rnd">
            <a:solidFill>
              <a:srgbClr val="C00000"/>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C33AB05-E9B7-2E40-952E-E966B9047E11}"/>
                  </a:ext>
                </a:extLst>
              </p:cNvPr>
              <p:cNvSpPr txBox="1"/>
              <p:nvPr/>
            </p:nvSpPr>
            <p:spPr>
              <a:xfrm>
                <a:off x="780949" y="5451514"/>
                <a:ext cx="49872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oMath>
                  </m:oMathPara>
                </a14:m>
                <a:endParaRPr lang="en-US" sz="2000" dirty="0"/>
              </a:p>
            </p:txBody>
          </p:sp>
        </mc:Choice>
        <mc:Fallback xmlns="">
          <p:sp>
            <p:nvSpPr>
              <p:cNvPr id="30" name="TextBox 29">
                <a:extLst>
                  <a:ext uri="{FF2B5EF4-FFF2-40B4-BE49-F238E27FC236}">
                    <a16:creationId xmlns:a16="http://schemas.microsoft.com/office/drawing/2014/main" id="{CC33AB05-E9B7-2E40-952E-E966B9047E11}"/>
                  </a:ext>
                </a:extLst>
              </p:cNvPr>
              <p:cNvSpPr txBox="1">
                <a:spLocks noRot="1" noChangeAspect="1" noMove="1" noResize="1" noEditPoints="1" noAdjustHandles="1" noChangeArrowheads="1" noChangeShapeType="1" noTextEdit="1"/>
              </p:cNvSpPr>
              <p:nvPr/>
            </p:nvSpPr>
            <p:spPr>
              <a:xfrm>
                <a:off x="780949" y="5451514"/>
                <a:ext cx="498726" cy="4001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4290765-B97D-7B4A-A366-D92A65923DB5}"/>
                  </a:ext>
                </a:extLst>
              </p:cNvPr>
              <p:cNvSpPr/>
              <p:nvPr/>
            </p:nvSpPr>
            <p:spPr>
              <a:xfrm rot="18600000">
                <a:off x="933083" y="5556310"/>
                <a:ext cx="15263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sz="1400" i="1">
                              <a:latin typeface="Cambria Math" panose="02040503050406030204" pitchFamily="18" charset="0"/>
                            </a:rPr>
                          </m:ctrlPr>
                        </m:sSupPr>
                        <m:e>
                          <m:r>
                            <a:rPr lang="en-US" sz="1400" i="1">
                              <a:latin typeface="Cambria Math" panose="02040503050406030204" pitchFamily="18" charset="0"/>
                            </a:rPr>
                            <m:t>  </m:t>
                          </m:r>
                          <m:d>
                            <m:dPr>
                              <m:begChr m:val="|"/>
                              <m:endChr m:val="|"/>
                              <m:ctrlPr>
                                <a:rPr lang="en-ZA" sz="1400" i="1">
                                  <a:latin typeface="Cambria Math" panose="02040503050406030204" pitchFamily="18" charset="0"/>
                                </a:rPr>
                              </m:ctrlPr>
                            </m:dPr>
                            <m:e>
                              <m:sSub>
                                <m:sSubPr>
                                  <m:ctrlPr>
                                    <a:rPr lang="en-ZA" sz="1400" i="1">
                                      <a:latin typeface="Cambria Math" panose="02040503050406030204" pitchFamily="18" charset="0"/>
                                    </a:rPr>
                                  </m:ctrlPr>
                                </m:sSubPr>
                                <m:e>
                                  <m:r>
                                    <a:rPr lang="sr-Latn-RS" sz="1400" i="1">
                                      <a:latin typeface="Cambria Math" panose="02040503050406030204" pitchFamily="18" charset="0"/>
                                    </a:rPr>
                                    <m:t>𝑎</m:t>
                                  </m:r>
                                </m:e>
                                <m:sub>
                                  <m:r>
                                    <a:rPr lang="en-US" sz="1400" i="1">
                                      <a:latin typeface="Cambria Math" panose="02040503050406030204" pitchFamily="18" charset="0"/>
                                    </a:rPr>
                                    <m:t>0</m:t>
                                  </m:r>
                                </m:sub>
                              </m:sSub>
                            </m:e>
                          </m:d>
                        </m:e>
                        <m:sup>
                          <m:r>
                            <a:rPr lang="sr-Latn-RS" sz="1400" i="1">
                              <a:latin typeface="Cambria Math" panose="02040503050406030204" pitchFamily="18" charset="0"/>
                            </a:rPr>
                            <m:t>2</m:t>
                          </m:r>
                        </m:sup>
                      </m:sSup>
                      <m:r>
                        <a:rPr lang="en-US" sz="1400" i="1">
                          <a:latin typeface="Cambria Math" panose="02040503050406030204" pitchFamily="18" charset="0"/>
                        </a:rPr>
                        <m:t>+</m:t>
                      </m:r>
                      <m:sSup>
                        <m:sSupPr>
                          <m:ctrlPr>
                            <a:rPr lang="en-ZA" sz="1400" i="1">
                              <a:latin typeface="Cambria Math" panose="02040503050406030204" pitchFamily="18" charset="0"/>
                            </a:rPr>
                          </m:ctrlPr>
                        </m:sSupPr>
                        <m:e>
                          <m:d>
                            <m:dPr>
                              <m:begChr m:val="|"/>
                              <m:endChr m:val="|"/>
                              <m:ctrlPr>
                                <a:rPr lang="en-ZA" sz="1400" i="1">
                                  <a:latin typeface="Cambria Math" panose="02040503050406030204" pitchFamily="18" charset="0"/>
                                </a:rPr>
                              </m:ctrlPr>
                            </m:dPr>
                            <m:e>
                              <m:sSub>
                                <m:sSubPr>
                                  <m:ctrlPr>
                                    <a:rPr lang="en-ZA" sz="1400" i="1">
                                      <a:latin typeface="Cambria Math" panose="02040503050406030204" pitchFamily="18" charset="0"/>
                                    </a:rPr>
                                  </m:ctrlPr>
                                </m:sSubPr>
                                <m:e>
                                  <m:r>
                                    <a:rPr lang="sr-Latn-RS" sz="1400" i="1">
                                      <a:latin typeface="Cambria Math" panose="02040503050406030204" pitchFamily="18" charset="0"/>
                                    </a:rPr>
                                    <m:t>𝑎</m:t>
                                  </m:r>
                                </m:e>
                                <m:sub>
                                  <m:r>
                                    <a:rPr lang="en-US" sz="1400" i="1">
                                      <a:latin typeface="Cambria Math" panose="02040503050406030204" pitchFamily="18" charset="0"/>
                                    </a:rPr>
                                    <m:t>1</m:t>
                                  </m:r>
                                </m:sub>
                              </m:sSub>
                            </m:e>
                          </m:d>
                        </m:e>
                        <m:sup>
                          <m:r>
                            <a:rPr lang="sr-Latn-RS" sz="1400" i="1">
                              <a:latin typeface="Cambria Math" panose="02040503050406030204" pitchFamily="18" charset="0"/>
                            </a:rPr>
                            <m:t>2</m:t>
                          </m:r>
                        </m:sup>
                      </m:sSup>
                      <m:r>
                        <a:rPr lang="en-US" sz="1400" i="1">
                          <a:latin typeface="Cambria Math" panose="02040503050406030204" pitchFamily="18" charset="0"/>
                        </a:rPr>
                        <m:t>=1</m:t>
                      </m:r>
                    </m:oMath>
                  </m:oMathPara>
                </a14:m>
                <a:endParaRPr lang="en-US" sz="1400" dirty="0"/>
              </a:p>
            </p:txBody>
          </p:sp>
        </mc:Choice>
        <mc:Fallback xmlns="">
          <p:sp>
            <p:nvSpPr>
              <p:cNvPr id="32" name="Rectangle 31">
                <a:extLst>
                  <a:ext uri="{FF2B5EF4-FFF2-40B4-BE49-F238E27FC236}">
                    <a16:creationId xmlns:a16="http://schemas.microsoft.com/office/drawing/2014/main" id="{74290765-B97D-7B4A-A366-D92A65923DB5}"/>
                  </a:ext>
                </a:extLst>
              </p:cNvPr>
              <p:cNvSpPr>
                <a:spLocks noRot="1" noChangeAspect="1" noMove="1" noResize="1" noEditPoints="1" noAdjustHandles="1" noChangeArrowheads="1" noChangeShapeType="1" noTextEdit="1"/>
              </p:cNvSpPr>
              <p:nvPr/>
            </p:nvSpPr>
            <p:spPr>
              <a:xfrm rot="18600000">
                <a:off x="933083" y="5556310"/>
                <a:ext cx="1526315"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03E45E2-C199-5A4A-BE25-B5A84FE171EB}"/>
                  </a:ext>
                </a:extLst>
              </p:cNvPr>
              <p:cNvSpPr txBox="1"/>
              <p:nvPr/>
            </p:nvSpPr>
            <p:spPr>
              <a:xfrm>
                <a:off x="1594289" y="6312939"/>
                <a:ext cx="50469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0</m:t>
                          </m:r>
                        </m:sub>
                      </m:sSub>
                    </m:oMath>
                  </m:oMathPara>
                </a14:m>
                <a:endParaRPr lang="en-US" sz="2000" dirty="0"/>
              </a:p>
            </p:txBody>
          </p:sp>
        </mc:Choice>
        <mc:Fallback xmlns="">
          <p:sp>
            <p:nvSpPr>
              <p:cNvPr id="34" name="TextBox 33">
                <a:extLst>
                  <a:ext uri="{FF2B5EF4-FFF2-40B4-BE49-F238E27FC236}">
                    <a16:creationId xmlns:a16="http://schemas.microsoft.com/office/drawing/2014/main" id="{103E45E2-C199-5A4A-BE25-B5A84FE171EB}"/>
                  </a:ext>
                </a:extLst>
              </p:cNvPr>
              <p:cNvSpPr txBox="1">
                <a:spLocks noRot="1" noChangeAspect="1" noMove="1" noResize="1" noEditPoints="1" noAdjustHandles="1" noChangeArrowheads="1" noChangeShapeType="1" noTextEdit="1"/>
              </p:cNvSpPr>
              <p:nvPr/>
            </p:nvSpPr>
            <p:spPr>
              <a:xfrm>
                <a:off x="1594289" y="6312939"/>
                <a:ext cx="504690" cy="400110"/>
              </a:xfrm>
              <a:prstGeom prst="rect">
                <a:avLst/>
              </a:prstGeom>
              <a:blipFill>
                <a:blip r:embed="rId14"/>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AD61ACC5-7058-8244-9EDE-7450F749C292}"/>
              </a:ext>
            </a:extLst>
          </p:cNvPr>
          <p:cNvCxnSpPr>
            <a:cxnSpLocks/>
          </p:cNvCxnSpPr>
          <p:nvPr/>
        </p:nvCxnSpPr>
        <p:spPr>
          <a:xfrm>
            <a:off x="2313184" y="5196942"/>
            <a:ext cx="0" cy="117190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920DF98-D876-0D44-906E-2859DA1F33DE}"/>
              </a:ext>
            </a:extLst>
          </p:cNvPr>
          <p:cNvCxnSpPr>
            <a:cxnSpLocks/>
          </p:cNvCxnSpPr>
          <p:nvPr/>
        </p:nvCxnSpPr>
        <p:spPr>
          <a:xfrm flipH="1">
            <a:off x="1309788" y="5205022"/>
            <a:ext cx="998733" cy="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50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loud Callout 9">
            <a:extLst>
              <a:ext uri="{FF2B5EF4-FFF2-40B4-BE49-F238E27FC236}">
                <a16:creationId xmlns:a16="http://schemas.microsoft.com/office/drawing/2014/main" id="{58B53855-0AA7-664E-994D-ADDD3FAEB253}"/>
              </a:ext>
            </a:extLst>
          </p:cNvPr>
          <p:cNvSpPr/>
          <p:nvPr/>
        </p:nvSpPr>
        <p:spPr>
          <a:xfrm>
            <a:off x="4880773" y="323849"/>
            <a:ext cx="5498470" cy="4055646"/>
          </a:xfrm>
          <a:prstGeom prst="cloudCallout">
            <a:avLst>
              <a:gd name="adj1" fmla="val -65113"/>
              <a:gd name="adj2" fmla="val -27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a:xfrm>
            <a:off x="16043" y="6522720"/>
            <a:ext cx="898357" cy="335280"/>
          </a:xfrm>
        </p:spPr>
        <p:txBody>
          <a:bodyPr/>
          <a:lstStyle/>
          <a:p>
            <a:pPr algn="l"/>
            <a:fld id="{591A223C-FA10-BC46-A853-03BA373D023C}" type="slidenum">
              <a:rPr lang="en-US" smtClean="0"/>
              <a:pPr algn="l"/>
              <a:t>12</a:t>
            </a:fld>
            <a:endParaRPr lang="en-US"/>
          </a:p>
        </p:txBody>
      </p:sp>
      <p:pic>
        <p:nvPicPr>
          <p:cNvPr id="5" name="Picture 4">
            <a:extLst>
              <a:ext uri="{FF2B5EF4-FFF2-40B4-BE49-F238E27FC236}">
                <a16:creationId xmlns:a16="http://schemas.microsoft.com/office/drawing/2014/main" id="{A9815E59-8EB1-B84C-BB95-70D775DC712D}"/>
              </a:ext>
            </a:extLst>
          </p:cNvPr>
          <p:cNvPicPr>
            <a:picLocks noChangeAspect="1"/>
          </p:cNvPicPr>
          <p:nvPr/>
        </p:nvPicPr>
        <p:blipFill>
          <a:blip r:embed="rId3"/>
          <a:stretch>
            <a:fillRect/>
          </a:stretch>
        </p:blipFill>
        <p:spPr>
          <a:xfrm>
            <a:off x="6442558" y="1164222"/>
            <a:ext cx="2374900" cy="2374900"/>
          </a:xfrm>
          <a:prstGeom prst="rect">
            <a:avLst/>
          </a:prstGeom>
        </p:spPr>
      </p:pic>
      <p:sp>
        <p:nvSpPr>
          <p:cNvPr id="11" name="TextBox 10">
            <a:extLst>
              <a:ext uri="{FF2B5EF4-FFF2-40B4-BE49-F238E27FC236}">
                <a16:creationId xmlns:a16="http://schemas.microsoft.com/office/drawing/2014/main" id="{1F565EF2-9E55-BF43-B3BC-B25BA20E9C86}"/>
              </a:ext>
            </a:extLst>
          </p:cNvPr>
          <p:cNvSpPr txBox="1"/>
          <p:nvPr/>
        </p:nvSpPr>
        <p:spPr>
          <a:xfrm>
            <a:off x="5743113" y="4746536"/>
            <a:ext cx="3565400" cy="769441"/>
          </a:xfrm>
          <a:prstGeom prst="rect">
            <a:avLst/>
          </a:prstGeom>
          <a:noFill/>
        </p:spPr>
        <p:txBody>
          <a:bodyPr wrap="none" rtlCol="0">
            <a:spAutoFit/>
          </a:bodyPr>
          <a:lstStyle/>
          <a:p>
            <a:r>
              <a:rPr lang="en-US" sz="4400" dirty="0">
                <a:latin typeface="Comic Sans MS" panose="030F0902030302020204" pitchFamily="66" charset="0"/>
              </a:rPr>
              <a:t>Bloch sphere</a:t>
            </a:r>
          </a:p>
        </p:txBody>
      </p:sp>
      <p:pic>
        <p:nvPicPr>
          <p:cNvPr id="2" name="Picture 1">
            <a:extLst>
              <a:ext uri="{FF2B5EF4-FFF2-40B4-BE49-F238E27FC236}">
                <a16:creationId xmlns:a16="http://schemas.microsoft.com/office/drawing/2014/main" id="{CFF31487-E115-574B-ACAE-5436131C28DA}"/>
              </a:ext>
            </a:extLst>
          </p:cNvPr>
          <p:cNvPicPr>
            <a:picLocks noChangeAspect="1"/>
          </p:cNvPicPr>
          <p:nvPr/>
        </p:nvPicPr>
        <p:blipFill>
          <a:blip r:embed="rId4"/>
          <a:stretch>
            <a:fillRect/>
          </a:stretch>
        </p:blipFill>
        <p:spPr>
          <a:xfrm flipH="1">
            <a:off x="511973" y="1521516"/>
            <a:ext cx="3806027" cy="4735406"/>
          </a:xfrm>
          <a:prstGeom prst="rect">
            <a:avLst/>
          </a:prstGeom>
        </p:spPr>
      </p:pic>
    </p:spTree>
    <p:extLst>
      <p:ext uri="{BB962C8B-B14F-4D97-AF65-F5344CB8AC3E}">
        <p14:creationId xmlns:p14="http://schemas.microsoft.com/office/powerpoint/2010/main" val="3768544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US" dirty="0"/>
              <a:t>Bloch Sphere</a:t>
            </a:r>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13</a:t>
            </a:fld>
            <a:endParaRPr lang="en-US"/>
          </a:p>
        </p:txBody>
      </p:sp>
      <p:sp>
        <p:nvSpPr>
          <p:cNvPr id="66" name="TextBox 65">
            <a:extLst>
              <a:ext uri="{FF2B5EF4-FFF2-40B4-BE49-F238E27FC236}">
                <a16:creationId xmlns:a16="http://schemas.microsoft.com/office/drawing/2014/main" id="{415F954D-FB08-1048-8F72-AF4FB0A2AB47}"/>
              </a:ext>
            </a:extLst>
          </p:cNvPr>
          <p:cNvSpPr txBox="1"/>
          <p:nvPr/>
        </p:nvSpPr>
        <p:spPr>
          <a:xfrm>
            <a:off x="8405983" y="5699661"/>
            <a:ext cx="3102452" cy="461665"/>
          </a:xfrm>
          <a:prstGeom prst="rect">
            <a:avLst/>
          </a:prstGeom>
          <a:noFill/>
        </p:spPr>
        <p:txBody>
          <a:bodyPr wrap="none" rtlCol="0">
            <a:spAutoFit/>
          </a:bodyPr>
          <a:lstStyle/>
          <a:p>
            <a:r>
              <a:rPr lang="en-US" sz="2400" dirty="0"/>
              <a:t>Felix Bloch (1905-1983)</a:t>
            </a:r>
          </a:p>
        </p:txBody>
      </p:sp>
      <p:pic>
        <p:nvPicPr>
          <p:cNvPr id="3" name="Picture 2">
            <a:extLst>
              <a:ext uri="{FF2B5EF4-FFF2-40B4-BE49-F238E27FC236}">
                <a16:creationId xmlns:a16="http://schemas.microsoft.com/office/drawing/2014/main" id="{7BCD6009-67F9-1346-A689-47685DDF5B60}"/>
              </a:ext>
            </a:extLst>
          </p:cNvPr>
          <p:cNvPicPr>
            <a:picLocks noChangeAspect="1"/>
          </p:cNvPicPr>
          <p:nvPr/>
        </p:nvPicPr>
        <p:blipFill>
          <a:blip r:embed="rId3"/>
          <a:stretch>
            <a:fillRect/>
          </a:stretch>
        </p:blipFill>
        <p:spPr>
          <a:xfrm>
            <a:off x="8405983" y="1560486"/>
            <a:ext cx="2776088" cy="3871341"/>
          </a:xfrm>
          <a:prstGeom prst="rect">
            <a:avLst/>
          </a:prstGeom>
        </p:spPr>
      </p:pic>
      <p:sp>
        <p:nvSpPr>
          <p:cNvPr id="27" name="Oval 26">
            <a:extLst>
              <a:ext uri="{FF2B5EF4-FFF2-40B4-BE49-F238E27FC236}">
                <a16:creationId xmlns:a16="http://schemas.microsoft.com/office/drawing/2014/main" id="{823317AD-B0F9-6A48-B505-8779693CB2E7}"/>
              </a:ext>
            </a:extLst>
          </p:cNvPr>
          <p:cNvSpPr/>
          <p:nvPr/>
        </p:nvSpPr>
        <p:spPr>
          <a:xfrm>
            <a:off x="759824" y="320033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BF1A23E-6016-E748-84E3-7CF9D6F1A22A}"/>
              </a:ext>
            </a:extLst>
          </p:cNvPr>
          <p:cNvSpPr>
            <a:spLocks noChangeAspect="1"/>
          </p:cNvSpPr>
          <p:nvPr/>
        </p:nvSpPr>
        <p:spPr>
          <a:xfrm>
            <a:off x="740112" y="186541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AD3D99E0-A8D1-4D45-AE56-4F68BA0E8A78}"/>
              </a:ext>
            </a:extLst>
          </p:cNvPr>
          <p:cNvCxnSpPr>
            <a:cxnSpLocks/>
          </p:cNvCxnSpPr>
          <p:nvPr/>
        </p:nvCxnSpPr>
        <p:spPr>
          <a:xfrm>
            <a:off x="2668645" y="374428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315C232E-C234-8F4D-B6C5-053AA4B91E0D}"/>
                  </a:ext>
                </a:extLst>
              </p:cNvPr>
              <p:cNvSpPr/>
              <p:nvPr/>
            </p:nvSpPr>
            <p:spPr>
              <a:xfrm>
                <a:off x="2803010" y="2576176"/>
                <a:ext cx="63113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𝑆</m:t>
                          </m:r>
                        </m:e>
                      </m:d>
                    </m:oMath>
                  </m:oMathPara>
                </a14:m>
                <a:endParaRPr lang="en-US" sz="2400" dirty="0"/>
              </a:p>
            </p:txBody>
          </p:sp>
        </mc:Choice>
        <mc:Fallback xmlns="">
          <p:sp>
            <p:nvSpPr>
              <p:cNvPr id="33" name="Rectangle 32">
                <a:extLst>
                  <a:ext uri="{FF2B5EF4-FFF2-40B4-BE49-F238E27FC236}">
                    <a16:creationId xmlns:a16="http://schemas.microsoft.com/office/drawing/2014/main" id="{315C232E-C234-8F4D-B6C5-053AA4B91E0D}"/>
                  </a:ext>
                </a:extLst>
              </p:cNvPr>
              <p:cNvSpPr>
                <a:spLocks noRot="1" noChangeAspect="1" noMove="1" noResize="1" noEditPoints="1" noAdjustHandles="1" noChangeArrowheads="1" noChangeShapeType="1" noTextEdit="1"/>
              </p:cNvSpPr>
              <p:nvPr/>
            </p:nvSpPr>
            <p:spPr>
              <a:xfrm>
                <a:off x="2803010" y="2576176"/>
                <a:ext cx="631134" cy="461665"/>
              </a:xfrm>
              <a:prstGeom prst="rect">
                <a:avLst/>
              </a:prstGeom>
              <a:blipFill>
                <a:blip r:embed="rId4"/>
                <a:stretch>
                  <a:fillRect/>
                </a:stretch>
              </a:blipFill>
            </p:spPr>
            <p:txBody>
              <a:bodyPr/>
              <a:lstStyle/>
              <a:p>
                <a:r>
                  <a:rPr lang="en-US">
                    <a:noFill/>
                  </a:rPr>
                  <a:t> </a:t>
                </a:r>
              </a:p>
            </p:txBody>
          </p:sp>
        </mc:Fallback>
      </mc:AlternateContent>
      <p:sp>
        <p:nvSpPr>
          <p:cNvPr id="34" name="Oval 33">
            <a:extLst>
              <a:ext uri="{FF2B5EF4-FFF2-40B4-BE49-F238E27FC236}">
                <a16:creationId xmlns:a16="http://schemas.microsoft.com/office/drawing/2014/main" id="{E6C40203-D351-8040-8AE0-B384CBAE0031}"/>
              </a:ext>
            </a:extLst>
          </p:cNvPr>
          <p:cNvSpPr/>
          <p:nvPr/>
        </p:nvSpPr>
        <p:spPr>
          <a:xfrm>
            <a:off x="2523346" y="212812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8197C5F-E0B8-9349-B9CF-7F844989CB5C}"/>
              </a:ext>
            </a:extLst>
          </p:cNvPr>
          <p:cNvSpPr/>
          <p:nvPr/>
        </p:nvSpPr>
        <p:spPr>
          <a:xfrm>
            <a:off x="2523713" y="518166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C2812FA-5AB1-1346-A3C1-6631F3BC569E}"/>
                  </a:ext>
                </a:extLst>
              </p:cNvPr>
              <p:cNvSpPr txBox="1"/>
              <p:nvPr/>
            </p:nvSpPr>
            <p:spPr>
              <a:xfrm>
                <a:off x="849239" y="4978132"/>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36" name="TextBox 35">
                <a:extLst>
                  <a:ext uri="{FF2B5EF4-FFF2-40B4-BE49-F238E27FC236}">
                    <a16:creationId xmlns:a16="http://schemas.microsoft.com/office/drawing/2014/main" id="{CC2812FA-5AB1-1346-A3C1-6631F3BC569E}"/>
                  </a:ext>
                </a:extLst>
              </p:cNvPr>
              <p:cNvSpPr txBox="1">
                <a:spLocks noRot="1" noChangeAspect="1" noMove="1" noResize="1" noEditPoints="1" noAdjustHandles="1" noChangeArrowheads="1" noChangeShapeType="1" noTextEdit="1"/>
              </p:cNvSpPr>
              <p:nvPr/>
            </p:nvSpPr>
            <p:spPr>
              <a:xfrm>
                <a:off x="849239" y="4978132"/>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1DBC8F2-D0CC-6446-94DB-54A379329A14}"/>
                  </a:ext>
                </a:extLst>
              </p:cNvPr>
              <p:cNvSpPr txBox="1"/>
              <p:nvPr/>
            </p:nvSpPr>
            <p:spPr>
              <a:xfrm>
                <a:off x="2278043" y="127840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37" name="TextBox 36">
                <a:extLst>
                  <a:ext uri="{FF2B5EF4-FFF2-40B4-BE49-F238E27FC236}">
                    <a16:creationId xmlns:a16="http://schemas.microsoft.com/office/drawing/2014/main" id="{61DBC8F2-D0CC-6446-94DB-54A379329A14}"/>
                  </a:ext>
                </a:extLst>
              </p:cNvPr>
              <p:cNvSpPr txBox="1">
                <a:spLocks noRot="1" noChangeAspect="1" noMove="1" noResize="1" noEditPoints="1" noAdjustHandles="1" noChangeArrowheads="1" noChangeShapeType="1" noTextEdit="1"/>
              </p:cNvSpPr>
              <p:nvPr/>
            </p:nvSpPr>
            <p:spPr>
              <a:xfrm>
                <a:off x="2278043" y="1278403"/>
                <a:ext cx="36798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D050BBF-9D0E-1E4A-85B3-13497F47E59A}"/>
                  </a:ext>
                </a:extLst>
              </p:cNvPr>
              <p:cNvSpPr txBox="1"/>
              <p:nvPr/>
            </p:nvSpPr>
            <p:spPr>
              <a:xfrm>
                <a:off x="4718107" y="3958896"/>
                <a:ext cx="4303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1" name="TextBox 40">
                <a:extLst>
                  <a:ext uri="{FF2B5EF4-FFF2-40B4-BE49-F238E27FC236}">
                    <a16:creationId xmlns:a16="http://schemas.microsoft.com/office/drawing/2014/main" id="{DD050BBF-9D0E-1E4A-85B3-13497F47E59A}"/>
                  </a:ext>
                </a:extLst>
              </p:cNvPr>
              <p:cNvSpPr txBox="1">
                <a:spLocks noRot="1" noChangeAspect="1" noMove="1" noResize="1" noEditPoints="1" noAdjustHandles="1" noChangeArrowheads="1" noChangeShapeType="1" noTextEdit="1"/>
              </p:cNvSpPr>
              <p:nvPr/>
            </p:nvSpPr>
            <p:spPr>
              <a:xfrm>
                <a:off x="4718107" y="3958896"/>
                <a:ext cx="430374" cy="461665"/>
              </a:xfrm>
              <a:prstGeom prst="rect">
                <a:avLst/>
              </a:prstGeom>
              <a:blipFill>
                <a:blip r:embed="rId7"/>
                <a:stretch>
                  <a:fillRect b="-8333"/>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4E63A900-47F3-4648-8FA6-EB88061CB7BA}"/>
              </a:ext>
            </a:extLst>
          </p:cNvPr>
          <p:cNvCxnSpPr>
            <a:cxnSpLocks/>
          </p:cNvCxnSpPr>
          <p:nvPr/>
        </p:nvCxnSpPr>
        <p:spPr>
          <a:xfrm flipH="1" flipV="1">
            <a:off x="1442908" y="333441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C6011E1-189F-3E45-9F82-298D825D5C5B}"/>
              </a:ext>
            </a:extLst>
          </p:cNvPr>
          <p:cNvCxnSpPr>
            <a:cxnSpLocks/>
            <a:stCxn id="35" idx="0"/>
          </p:cNvCxnSpPr>
          <p:nvPr/>
        </p:nvCxnSpPr>
        <p:spPr>
          <a:xfrm flipH="1" flipV="1">
            <a:off x="2669782" y="3770523"/>
            <a:ext cx="14082" cy="1411140"/>
          </a:xfrm>
          <a:prstGeom prst="line">
            <a:avLst/>
          </a:prstGeom>
          <a:ln w="25400">
            <a:solidFill>
              <a:schemeClr val="bg1">
                <a:lumMod val="85000"/>
              </a:schemeClr>
            </a:solidFill>
            <a:prstDash val="dash"/>
            <a:headEnd type="none"/>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F5979959-CABE-A544-A7B4-13B8AE338AA9}"/>
                  </a:ext>
                </a:extLst>
              </p:cNvPr>
              <p:cNvSpPr/>
              <p:nvPr/>
            </p:nvSpPr>
            <p:spPr>
              <a:xfrm>
                <a:off x="2627570" y="130449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48" name="Rectangle 47">
                <a:extLst>
                  <a:ext uri="{FF2B5EF4-FFF2-40B4-BE49-F238E27FC236}">
                    <a16:creationId xmlns:a16="http://schemas.microsoft.com/office/drawing/2014/main" id="{F5979959-CABE-A544-A7B4-13B8AE338AA9}"/>
                  </a:ext>
                </a:extLst>
              </p:cNvPr>
              <p:cNvSpPr>
                <a:spLocks noRot="1" noChangeAspect="1" noMove="1" noResize="1" noEditPoints="1" noAdjustHandles="1" noChangeArrowheads="1" noChangeShapeType="1" noTextEdit="1"/>
              </p:cNvSpPr>
              <p:nvPr/>
            </p:nvSpPr>
            <p:spPr>
              <a:xfrm>
                <a:off x="2627570" y="1304493"/>
                <a:ext cx="707886"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676872B2-32E3-E845-BF81-7FCE4CF2CF94}"/>
                  </a:ext>
                </a:extLst>
              </p:cNvPr>
              <p:cNvSpPr/>
              <p:nvPr/>
            </p:nvSpPr>
            <p:spPr>
              <a:xfrm>
                <a:off x="2375897" y="539012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1</m:t>
                          </m:r>
                        </m:e>
                      </m:d>
                    </m:oMath>
                  </m:oMathPara>
                </a14:m>
                <a:endParaRPr lang="en-US" sz="2800" dirty="0"/>
              </a:p>
            </p:txBody>
          </p:sp>
        </mc:Choice>
        <mc:Fallback xmlns="">
          <p:sp>
            <p:nvSpPr>
              <p:cNvPr id="54" name="Rectangle 53">
                <a:extLst>
                  <a:ext uri="{FF2B5EF4-FFF2-40B4-BE49-F238E27FC236}">
                    <a16:creationId xmlns:a16="http://schemas.microsoft.com/office/drawing/2014/main" id="{676872B2-32E3-E845-BF81-7FCE4CF2CF94}"/>
                  </a:ext>
                </a:extLst>
              </p:cNvPr>
              <p:cNvSpPr>
                <a:spLocks noRot="1" noChangeAspect="1" noMove="1" noResize="1" noEditPoints="1" noAdjustHandles="1" noChangeArrowheads="1" noChangeShapeType="1" noTextEdit="1"/>
              </p:cNvSpPr>
              <p:nvPr/>
            </p:nvSpPr>
            <p:spPr>
              <a:xfrm>
                <a:off x="2375897" y="5390128"/>
                <a:ext cx="707886" cy="523220"/>
              </a:xfrm>
              <a:prstGeom prst="rect">
                <a:avLst/>
              </a:prstGeom>
              <a:blipFill>
                <a:blip r:embed="rId9"/>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41F3B684-3012-C04E-A6E1-AFEFE5065D92}"/>
              </a:ext>
            </a:extLst>
          </p:cNvPr>
          <p:cNvCxnSpPr>
            <a:cxnSpLocks/>
          </p:cNvCxnSpPr>
          <p:nvPr/>
        </p:nvCxnSpPr>
        <p:spPr>
          <a:xfrm flipH="1">
            <a:off x="1196832" y="3744624"/>
            <a:ext cx="1477841" cy="1630701"/>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86E1BD4-8F9E-954E-B3AE-11EACD5DEC1B}"/>
              </a:ext>
            </a:extLst>
          </p:cNvPr>
          <p:cNvCxnSpPr>
            <a:cxnSpLocks/>
          </p:cNvCxnSpPr>
          <p:nvPr/>
        </p:nvCxnSpPr>
        <p:spPr>
          <a:xfrm flipV="1">
            <a:off x="2674674" y="154007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46CD436-6DDD-4C4A-AEFE-4259E23F3A6D}"/>
              </a:ext>
            </a:extLst>
          </p:cNvPr>
          <p:cNvCxnSpPr>
            <a:cxnSpLocks/>
          </p:cNvCxnSpPr>
          <p:nvPr/>
        </p:nvCxnSpPr>
        <p:spPr>
          <a:xfrm flipV="1">
            <a:off x="2684099" y="2839314"/>
            <a:ext cx="919675" cy="914740"/>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2B8B849-DB2F-2645-89B3-3B448C777DAD}"/>
              </a:ext>
            </a:extLst>
          </p:cNvPr>
          <p:cNvSpPr/>
          <p:nvPr/>
        </p:nvSpPr>
        <p:spPr>
          <a:xfrm rot="2512380">
            <a:off x="3443623" y="2741741"/>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6886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Euler’s Formula</a:t>
            </a:r>
          </a:p>
        </p:txBody>
      </p:sp>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14</a:t>
            </a:fld>
            <a:endParaRPr lang="en-US"/>
          </a:p>
        </p:txBody>
      </p:sp>
      <p:sp>
        <p:nvSpPr>
          <p:cNvPr id="95" name="TextBox 94">
            <a:extLst>
              <a:ext uri="{FF2B5EF4-FFF2-40B4-BE49-F238E27FC236}">
                <a16:creationId xmlns:a16="http://schemas.microsoft.com/office/drawing/2014/main" id="{FF7574B5-39FD-BF4C-B3E6-8F705052B61C}"/>
              </a:ext>
            </a:extLst>
          </p:cNvPr>
          <p:cNvSpPr txBox="1"/>
          <p:nvPr/>
        </p:nvSpPr>
        <p:spPr>
          <a:xfrm>
            <a:off x="163477" y="3021592"/>
            <a:ext cx="1448217" cy="584775"/>
          </a:xfrm>
          <a:prstGeom prst="rect">
            <a:avLst/>
          </a:prstGeom>
          <a:noFill/>
        </p:spPr>
        <p:txBody>
          <a:bodyPr wrap="none" rtlCol="0">
            <a:spAutoFit/>
          </a:bodyPr>
          <a:lstStyle/>
          <a:p>
            <a:r>
              <a:rPr lang="en-ZA" sz="1600" dirty="0"/>
              <a:t>Leonhard Euler</a:t>
            </a:r>
            <a:endParaRPr lang="sr-Latn-RS" sz="1600" dirty="0"/>
          </a:p>
          <a:p>
            <a:pPr algn="ctr"/>
            <a:r>
              <a:rPr lang="sr-Latn-RS" sz="1600" dirty="0"/>
              <a:t>(1707-1783)</a:t>
            </a:r>
            <a:endParaRPr lang="en-US" sz="1600" dirty="0"/>
          </a:p>
        </p:txBody>
      </p:sp>
      <p:pic>
        <p:nvPicPr>
          <p:cNvPr id="96" name="Picture 95">
            <a:extLst>
              <a:ext uri="{FF2B5EF4-FFF2-40B4-BE49-F238E27FC236}">
                <a16:creationId xmlns:a16="http://schemas.microsoft.com/office/drawing/2014/main" id="{B371B9EE-00F6-1D41-913B-6BFF4D9AF3B0}"/>
              </a:ext>
            </a:extLst>
          </p:cNvPr>
          <p:cNvPicPr>
            <a:picLocks noChangeAspect="1"/>
          </p:cNvPicPr>
          <p:nvPr/>
        </p:nvPicPr>
        <p:blipFill>
          <a:blip r:embed="rId3"/>
          <a:stretch>
            <a:fillRect/>
          </a:stretch>
        </p:blipFill>
        <p:spPr>
          <a:xfrm flipH="1">
            <a:off x="115938" y="1253168"/>
            <a:ext cx="1802053" cy="1626072"/>
          </a:xfrm>
          <a:prstGeom prst="rect">
            <a:avLst/>
          </a:prstGeom>
        </p:spPr>
      </p:pic>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a:off x="9377276" y="1969643"/>
            <a:ext cx="1646" cy="1272516"/>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10374815" y="3265891"/>
                <a:ext cx="5039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m:t>
                      </m:r>
                    </m:oMath>
                  </m:oMathPara>
                </a14:m>
                <a:endParaRPr lang="en-US"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10374815" y="3265891"/>
                <a:ext cx="50392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7631234" y="1014633"/>
                <a:ext cx="5236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𝐼𝑚</m:t>
                      </m:r>
                    </m:oMath>
                  </m:oMathPara>
                </a14:m>
                <a:endParaRPr lang="en-US"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7631234" y="1014633"/>
                <a:ext cx="523668" cy="369332"/>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35B1276-E9EC-844A-8B37-8680C8D0163D}"/>
              </a:ext>
            </a:extLst>
          </p:cNvPr>
          <p:cNvCxnSpPr>
            <a:cxnSpLocks/>
          </p:cNvCxnSpPr>
          <p:nvPr/>
        </p:nvCxnSpPr>
        <p:spPr>
          <a:xfrm flipH="1" flipV="1">
            <a:off x="8164750" y="1141932"/>
            <a:ext cx="0" cy="254179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6586C0-FBA1-FD4C-B125-C30948677224}"/>
              </a:ext>
            </a:extLst>
          </p:cNvPr>
          <p:cNvCxnSpPr>
            <a:cxnSpLocks/>
          </p:cNvCxnSpPr>
          <p:nvPr/>
        </p:nvCxnSpPr>
        <p:spPr>
          <a:xfrm>
            <a:off x="7710979" y="3242159"/>
            <a:ext cx="2663836"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BAF94-D1BC-E849-AECA-7B6DE5880C97}"/>
              </a:ext>
            </a:extLst>
          </p:cNvPr>
          <p:cNvSpPr txBox="1"/>
          <p:nvPr/>
        </p:nvSpPr>
        <p:spPr>
          <a:xfrm>
            <a:off x="7782198" y="3283617"/>
            <a:ext cx="351378" cy="400110"/>
          </a:xfrm>
          <a:prstGeom prst="rect">
            <a:avLst/>
          </a:prstGeom>
          <a:noFill/>
        </p:spPr>
        <p:txBody>
          <a:bodyPr wrap="none" rtlCol="0">
            <a:spAutoFit/>
          </a:bodyPr>
          <a:lstStyle/>
          <a:p>
            <a:r>
              <a:rPr lang="en-US" sz="2000" dirty="0">
                <a:latin typeface="+mj-lt"/>
              </a:rPr>
              <a:t>O</a:t>
            </a:r>
          </a:p>
        </p:txBody>
      </p:sp>
      <p:cxnSp>
        <p:nvCxnSpPr>
          <p:cNvPr id="20" name="Straight Connector 19">
            <a:extLst>
              <a:ext uri="{FF2B5EF4-FFF2-40B4-BE49-F238E27FC236}">
                <a16:creationId xmlns:a16="http://schemas.microsoft.com/office/drawing/2014/main" id="{8DCE1194-6EDD-2744-A9C3-2D5A259B1CBE}"/>
              </a:ext>
            </a:extLst>
          </p:cNvPr>
          <p:cNvCxnSpPr>
            <a:cxnSpLocks/>
          </p:cNvCxnSpPr>
          <p:nvPr/>
        </p:nvCxnSpPr>
        <p:spPr>
          <a:xfrm flipH="1">
            <a:off x="8183431" y="1969643"/>
            <a:ext cx="1193845"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8164750" y="1971267"/>
            <a:ext cx="1212526" cy="1270892"/>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7724F2-3326-4E43-85E8-C8FE9B0992B7}"/>
              </a:ext>
            </a:extLst>
          </p:cNvPr>
          <p:cNvCxnSpPr>
            <a:cxnSpLocks/>
          </p:cNvCxnSpPr>
          <p:nvPr/>
        </p:nvCxnSpPr>
        <p:spPr>
          <a:xfrm>
            <a:off x="9956334" y="314280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531C5F7-82F5-FC45-9E30-28F8BE644390}"/>
                  </a:ext>
                </a:extLst>
              </p:cNvPr>
              <p:cNvSpPr/>
              <p:nvPr/>
            </p:nvSpPr>
            <p:spPr>
              <a:xfrm>
                <a:off x="9764890" y="3349944"/>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1</m:t>
                      </m:r>
                    </m:oMath>
                  </m:oMathPara>
                </a14:m>
                <a:endParaRPr lang="en-US" dirty="0">
                  <a:solidFill>
                    <a:schemeClr val="bg1">
                      <a:lumMod val="50000"/>
                    </a:schemeClr>
                  </a:solidFill>
                </a:endParaRPr>
              </a:p>
            </p:txBody>
          </p:sp>
        </mc:Choice>
        <mc:Fallback xmlns="">
          <p:sp>
            <p:nvSpPr>
              <p:cNvPr id="26" name="Rectangle 25">
                <a:extLst>
                  <a:ext uri="{FF2B5EF4-FFF2-40B4-BE49-F238E27FC236}">
                    <a16:creationId xmlns:a16="http://schemas.microsoft.com/office/drawing/2014/main" id="{3531C5F7-82F5-FC45-9E30-28F8BE644390}"/>
                  </a:ext>
                </a:extLst>
              </p:cNvPr>
              <p:cNvSpPr>
                <a:spLocks noRot="1" noChangeAspect="1" noMove="1" noResize="1" noEditPoints="1" noAdjustHandles="1" noChangeArrowheads="1" noChangeShapeType="1" noTextEdit="1"/>
              </p:cNvSpPr>
              <p:nvPr/>
            </p:nvSpPr>
            <p:spPr>
              <a:xfrm>
                <a:off x="9764890" y="3349944"/>
                <a:ext cx="365805" cy="369332"/>
              </a:xfrm>
              <a:prstGeom prst="rect">
                <a:avLst/>
              </a:prstGeom>
              <a:blipFill>
                <a:blip r:embed="rId8"/>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64F91A4C-97E8-B342-9EFB-E1B8C797FA78}"/>
              </a:ext>
            </a:extLst>
          </p:cNvPr>
          <p:cNvCxnSpPr>
            <a:cxnSpLocks/>
          </p:cNvCxnSpPr>
          <p:nvPr/>
        </p:nvCxnSpPr>
        <p:spPr>
          <a:xfrm rot="16200000">
            <a:off x="8176404" y="1357148"/>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0080374-FBD4-2B43-9201-884F11B23A92}"/>
                  </a:ext>
                </a:extLst>
              </p:cNvPr>
              <p:cNvSpPr/>
              <p:nvPr/>
            </p:nvSpPr>
            <p:spPr>
              <a:xfrm>
                <a:off x="7652659" y="1326064"/>
                <a:ext cx="3186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6" name="Rectangle 45">
                <a:extLst>
                  <a:ext uri="{FF2B5EF4-FFF2-40B4-BE49-F238E27FC236}">
                    <a16:creationId xmlns:a16="http://schemas.microsoft.com/office/drawing/2014/main" id="{10080374-FBD4-2B43-9201-884F11B23A92}"/>
                  </a:ext>
                </a:extLst>
              </p:cNvPr>
              <p:cNvSpPr>
                <a:spLocks noRot="1" noChangeAspect="1" noMove="1" noResize="1" noEditPoints="1" noAdjustHandles="1" noChangeArrowheads="1" noChangeShapeType="1" noTextEdit="1"/>
              </p:cNvSpPr>
              <p:nvPr/>
            </p:nvSpPr>
            <p:spPr>
              <a:xfrm>
                <a:off x="7652659" y="1326064"/>
                <a:ext cx="31861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40FC76A-9E85-A54C-844F-1BB03B4FCE3B}"/>
                  </a:ext>
                </a:extLst>
              </p:cNvPr>
              <p:cNvSpPr txBox="1"/>
              <p:nvPr/>
            </p:nvSpPr>
            <p:spPr>
              <a:xfrm>
                <a:off x="8426371" y="2845908"/>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smtClean="0">
                          <a:latin typeface="Cambria Math" panose="02040503050406030204" pitchFamily="18" charset="0"/>
                          <a:ea typeface="Cambria Math" panose="02040503050406030204" pitchFamily="18" charset="0"/>
                        </a:rPr>
                        <m:t>𝜑</m:t>
                      </m:r>
                    </m:oMath>
                  </m:oMathPara>
                </a14:m>
                <a:endParaRPr lang="en-US" dirty="0"/>
              </a:p>
            </p:txBody>
          </p:sp>
        </mc:Choice>
        <mc:Fallback xmlns="">
          <p:sp>
            <p:nvSpPr>
              <p:cNvPr id="97" name="TextBox 96">
                <a:extLst>
                  <a:ext uri="{FF2B5EF4-FFF2-40B4-BE49-F238E27FC236}">
                    <a16:creationId xmlns:a16="http://schemas.microsoft.com/office/drawing/2014/main" id="{B40FC76A-9E85-A54C-844F-1BB03B4FCE3B}"/>
                  </a:ext>
                </a:extLst>
              </p:cNvPr>
              <p:cNvSpPr txBox="1">
                <a:spLocks noRot="1" noChangeAspect="1" noMove="1" noResize="1" noEditPoints="1" noAdjustHandles="1" noChangeArrowheads="1" noChangeShapeType="1" noTextEdit="1"/>
              </p:cNvSpPr>
              <p:nvPr/>
            </p:nvSpPr>
            <p:spPr>
              <a:xfrm>
                <a:off x="8426371" y="2845908"/>
                <a:ext cx="399597" cy="369332"/>
              </a:xfrm>
              <a:prstGeom prst="rect">
                <a:avLst/>
              </a:prstGeom>
              <a:blipFill>
                <a:blip r:embed="rId10"/>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B9530AA-6553-E24B-B517-ED125623FF5F}"/>
                  </a:ext>
                </a:extLst>
              </p:cNvPr>
              <p:cNvSpPr txBox="1"/>
              <p:nvPr/>
            </p:nvSpPr>
            <p:spPr>
              <a:xfrm>
                <a:off x="8502422" y="3212530"/>
                <a:ext cx="7602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ZA" i="1">
                              <a:latin typeface="Cambria Math" panose="02040503050406030204" pitchFamily="18" charset="0"/>
                            </a:rPr>
                          </m:ctrlPr>
                        </m:funcPr>
                        <m:fName>
                          <m:r>
                            <m:rPr>
                              <m:sty m:val="p"/>
                            </m:rPr>
                            <a:rPr lang="sr-Latn-RS">
                              <a:latin typeface="Cambria Math" panose="02040503050406030204" pitchFamily="18" charset="0"/>
                            </a:rPr>
                            <m:t>cos</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8" name="TextBox 97">
                <a:extLst>
                  <a:ext uri="{FF2B5EF4-FFF2-40B4-BE49-F238E27FC236}">
                    <a16:creationId xmlns:a16="http://schemas.microsoft.com/office/drawing/2014/main" id="{7B9530AA-6553-E24B-B517-ED125623FF5F}"/>
                  </a:ext>
                </a:extLst>
              </p:cNvPr>
              <p:cNvSpPr txBox="1">
                <a:spLocks noRot="1" noChangeAspect="1" noMove="1" noResize="1" noEditPoints="1" noAdjustHandles="1" noChangeArrowheads="1" noChangeShapeType="1" noTextEdit="1"/>
              </p:cNvSpPr>
              <p:nvPr/>
            </p:nvSpPr>
            <p:spPr>
              <a:xfrm>
                <a:off x="8502422" y="3212530"/>
                <a:ext cx="760272" cy="369332"/>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67030FE-69EA-3345-BB91-B99BC7F074AA}"/>
                  </a:ext>
                </a:extLst>
              </p:cNvPr>
              <p:cNvSpPr txBox="1"/>
              <p:nvPr/>
            </p:nvSpPr>
            <p:spPr>
              <a:xfrm>
                <a:off x="9294316" y="2511314"/>
                <a:ext cx="7298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ZA" i="1">
                              <a:latin typeface="Cambria Math" panose="02040503050406030204" pitchFamily="18" charset="0"/>
                            </a:rPr>
                          </m:ctrlPr>
                        </m:funcPr>
                        <m:fName>
                          <m:r>
                            <m:rPr>
                              <m:sty m:val="p"/>
                            </m:rPr>
                            <a:rPr lang="sr-Latn-RS">
                              <a:latin typeface="Cambria Math" panose="02040503050406030204" pitchFamily="18" charset="0"/>
                            </a:rPr>
                            <m:t>sin</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9" name="TextBox 98">
                <a:extLst>
                  <a:ext uri="{FF2B5EF4-FFF2-40B4-BE49-F238E27FC236}">
                    <a16:creationId xmlns:a16="http://schemas.microsoft.com/office/drawing/2014/main" id="{367030FE-69EA-3345-BB91-B99BC7F074AA}"/>
                  </a:ext>
                </a:extLst>
              </p:cNvPr>
              <p:cNvSpPr txBox="1">
                <a:spLocks noRot="1" noChangeAspect="1" noMove="1" noResize="1" noEditPoints="1" noAdjustHandles="1" noChangeArrowheads="1" noChangeShapeType="1" noTextEdit="1"/>
              </p:cNvSpPr>
              <p:nvPr/>
            </p:nvSpPr>
            <p:spPr>
              <a:xfrm>
                <a:off x="9294316" y="2511314"/>
                <a:ext cx="729815" cy="369332"/>
              </a:xfrm>
              <a:prstGeom prst="rect">
                <a:avLst/>
              </a:prstGeom>
              <a:blipFill>
                <a:blip r:embed="rId12"/>
                <a:stretch>
                  <a:fillRect b="-3333"/>
                </a:stretch>
              </a:blipFill>
            </p:spPr>
            <p:txBody>
              <a:bodyPr/>
              <a:lstStyle/>
              <a:p>
                <a:r>
                  <a:rPr lang="en-US">
                    <a:noFill/>
                  </a:rPr>
                  <a:t> </a:t>
                </a:r>
              </a:p>
            </p:txBody>
          </p:sp>
        </mc:Fallback>
      </mc:AlternateContent>
      <p:sp>
        <p:nvSpPr>
          <p:cNvPr id="100" name="Arc 99">
            <a:extLst>
              <a:ext uri="{FF2B5EF4-FFF2-40B4-BE49-F238E27FC236}">
                <a16:creationId xmlns:a16="http://schemas.microsoft.com/office/drawing/2014/main" id="{0A636B1D-F45C-4048-9327-8D576D40384E}"/>
              </a:ext>
            </a:extLst>
          </p:cNvPr>
          <p:cNvSpPr/>
          <p:nvPr/>
        </p:nvSpPr>
        <p:spPr>
          <a:xfrm rot="20673070">
            <a:off x="8618013" y="2761735"/>
            <a:ext cx="244306" cy="492484"/>
          </a:xfrm>
          <a:prstGeom prst="arc">
            <a:avLst>
              <a:gd name="adj1" fmla="val 16417421"/>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3A600DB-F02D-2742-917B-656E4C4B0151}"/>
                  </a:ext>
                </a:extLst>
              </p:cNvPr>
              <p:cNvSpPr/>
              <p:nvPr/>
            </p:nvSpPr>
            <p:spPr>
              <a:xfrm>
                <a:off x="8311461" y="2304237"/>
                <a:ext cx="562846" cy="378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i="1">
                              <a:latin typeface="Cambria Math" panose="02040503050406030204" pitchFamily="18" charset="0"/>
                            </a:rPr>
                          </m:ctrlPr>
                        </m:sSupPr>
                        <m:e>
                          <m:r>
                            <a:rPr lang="sr-Latn-RS" i="1">
                              <a:latin typeface="Cambria Math" panose="02040503050406030204" pitchFamily="18" charset="0"/>
                            </a:rPr>
                            <m:t>𝑒</m:t>
                          </m:r>
                        </m:e>
                        <m:sup>
                          <m:r>
                            <a:rPr lang="sr-Latn-RS" i="1">
                              <a:latin typeface="Cambria Math" panose="02040503050406030204" pitchFamily="18" charset="0"/>
                            </a:rPr>
                            <m:t>𝑖</m:t>
                          </m:r>
                          <m:r>
                            <a:rPr lang="sr-Latn-RS" i="1">
                              <a:latin typeface="Cambria Math" panose="02040503050406030204" pitchFamily="18" charset="0"/>
                              <a:ea typeface="Cambria Math" panose="02040503050406030204" pitchFamily="18" charset="0"/>
                            </a:rPr>
                            <m:t>𝜑</m:t>
                          </m:r>
                        </m:sup>
                      </m:sSup>
                    </m:oMath>
                  </m:oMathPara>
                </a14:m>
                <a:endParaRPr lang="en-US" dirty="0"/>
              </a:p>
            </p:txBody>
          </p:sp>
        </mc:Choice>
        <mc:Fallback xmlns="">
          <p:sp>
            <p:nvSpPr>
              <p:cNvPr id="5" name="Rectangle 4">
                <a:extLst>
                  <a:ext uri="{FF2B5EF4-FFF2-40B4-BE49-F238E27FC236}">
                    <a16:creationId xmlns:a16="http://schemas.microsoft.com/office/drawing/2014/main" id="{C3A600DB-F02D-2742-917B-656E4C4B0151}"/>
                  </a:ext>
                </a:extLst>
              </p:cNvPr>
              <p:cNvSpPr>
                <a:spLocks noRot="1" noChangeAspect="1" noMove="1" noResize="1" noEditPoints="1" noAdjustHandles="1" noChangeArrowheads="1" noChangeShapeType="1" noTextEdit="1"/>
              </p:cNvSpPr>
              <p:nvPr/>
            </p:nvSpPr>
            <p:spPr>
              <a:xfrm>
                <a:off x="8311461" y="2304237"/>
                <a:ext cx="562846" cy="378245"/>
              </a:xfrm>
              <a:prstGeom prst="rect">
                <a:avLst/>
              </a:prstGeom>
              <a:blipFill>
                <a:blip r:embed="rId13"/>
                <a:stretch>
                  <a:fillRect/>
                </a:stretch>
              </a:blipFill>
            </p:spPr>
            <p:txBody>
              <a:bodyPr/>
              <a:lstStyle/>
              <a:p>
                <a:r>
                  <a:rPr lang="en-US">
                    <a:noFill/>
                  </a:rPr>
                  <a:t> </a:t>
                </a:r>
              </a:p>
            </p:txBody>
          </p:sp>
        </mc:Fallback>
      </mc:AlternateContent>
      <p:sp>
        <p:nvSpPr>
          <p:cNvPr id="12" name="Arc 11">
            <a:extLst>
              <a:ext uri="{FF2B5EF4-FFF2-40B4-BE49-F238E27FC236}">
                <a16:creationId xmlns:a16="http://schemas.microsoft.com/office/drawing/2014/main" id="{CA85671A-A53C-D141-ACC3-9824718CBC7C}"/>
              </a:ext>
            </a:extLst>
          </p:cNvPr>
          <p:cNvSpPr>
            <a:spLocks noChangeAspect="1"/>
          </p:cNvSpPr>
          <p:nvPr/>
        </p:nvSpPr>
        <p:spPr>
          <a:xfrm>
            <a:off x="6354902" y="1497953"/>
            <a:ext cx="3600000" cy="3600000"/>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09" name="Group 208">
            <a:extLst>
              <a:ext uri="{FF2B5EF4-FFF2-40B4-BE49-F238E27FC236}">
                <a16:creationId xmlns:a16="http://schemas.microsoft.com/office/drawing/2014/main" id="{2A75F4FB-D553-864F-A82B-18EFCC0E7CCC}"/>
              </a:ext>
            </a:extLst>
          </p:cNvPr>
          <p:cNvGrpSpPr/>
          <p:nvPr/>
        </p:nvGrpSpPr>
        <p:grpSpPr>
          <a:xfrm>
            <a:off x="-848167" y="4085618"/>
            <a:ext cx="13038269" cy="3589111"/>
            <a:chOff x="-848167" y="4085618"/>
            <a:chExt cx="13038269" cy="3589111"/>
          </a:xfrm>
        </p:grpSpPr>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7A9D58DA-9266-0C4E-8851-4983D2A40838}"/>
                    </a:ext>
                  </a:extLst>
                </p:cNvPr>
                <p:cNvSpPr txBox="1"/>
                <p:nvPr/>
              </p:nvSpPr>
              <p:spPr>
                <a:xfrm>
                  <a:off x="237379" y="4261917"/>
                  <a:ext cx="2062616" cy="530145"/>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=0</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r>
                              <a:rPr lang="en-US" sz="1400" b="0" i="1" smtClean="0">
                                <a:latin typeface="Cambria Math" panose="02040503050406030204" pitchFamily="18" charset="0"/>
                              </a:rPr>
                              <m:t>0</m:t>
                            </m:r>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r>
                              <a:rPr lang="en-US" sz="1400" b="0" i="1" smtClean="0">
                                <a:latin typeface="Cambria Math" panose="02040503050406030204" pitchFamily="18" charset="0"/>
                              </a:rPr>
                              <m:t>0</m:t>
                            </m:r>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r>
                              <a:rPr lang="en-US" sz="1400" b="0" i="1" smtClean="0">
                                <a:latin typeface="Cambria Math" panose="02040503050406030204" pitchFamily="18" charset="0"/>
                              </a:rPr>
                              <m:t>0=1</m:t>
                            </m:r>
                          </m:e>
                        </m:func>
                      </m:oMath>
                    </m:oMathPara>
                  </a14:m>
                  <a:endParaRPr lang="en-US" sz="1400" dirty="0">
                    <a:ea typeface="Cambria Math" panose="02040503050406030204" pitchFamily="18" charset="0"/>
                  </a:endParaRPr>
                </a:p>
              </p:txBody>
            </p:sp>
          </mc:Choice>
          <mc:Fallback xmlns="">
            <p:sp>
              <p:nvSpPr>
                <p:cNvPr id="133" name="TextBox 132">
                  <a:extLst>
                    <a:ext uri="{FF2B5EF4-FFF2-40B4-BE49-F238E27FC236}">
                      <a16:creationId xmlns:a16="http://schemas.microsoft.com/office/drawing/2014/main" id="{7A9D58DA-9266-0C4E-8851-4983D2A40838}"/>
                    </a:ext>
                  </a:extLst>
                </p:cNvPr>
                <p:cNvSpPr txBox="1">
                  <a:spLocks noRot="1" noChangeAspect="1" noMove="1" noResize="1" noEditPoints="1" noAdjustHandles="1" noChangeArrowheads="1" noChangeShapeType="1" noTextEdit="1"/>
                </p:cNvSpPr>
                <p:nvPr/>
              </p:nvSpPr>
              <p:spPr>
                <a:xfrm>
                  <a:off x="237379" y="4261917"/>
                  <a:ext cx="2062616" cy="53014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BF6447D4-6C5C-3F43-8BFC-DE2FA253C487}"/>
                    </a:ext>
                  </a:extLst>
                </p:cNvPr>
                <p:cNvSpPr txBox="1"/>
                <p:nvPr/>
              </p:nvSpPr>
              <p:spPr>
                <a:xfrm>
                  <a:off x="3154298" y="4146500"/>
                  <a:ext cx="2625142" cy="76097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𝜋</m:t>
                        </m:r>
                        <m:r>
                          <a:rPr lang="en-US" sz="1400" b="0" i="1" smtClean="0">
                            <a:latin typeface="Cambria Math" panose="02040503050406030204" pitchFamily="18" charset="0"/>
                            <a:ea typeface="Cambria Math" panose="02040503050406030204" pitchFamily="18" charset="0"/>
                          </a:rPr>
                          <m:t>/6</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rPr>
                                  <m:t>6</m:t>
                                </m:r>
                              </m:den>
                            </m:f>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smtClean="0">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rPr>
                                  <m:t>6</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rPr>
                                  <m:t>6</m:t>
                                </m:r>
                              </m:den>
                            </m:f>
                          </m:e>
                        </m:func>
                        <m:r>
                          <a:rPr lang="en-US" sz="1400" b="0" i="1" smtClean="0">
                            <a:latin typeface="Cambria Math" panose="02040503050406030204" pitchFamily="18" charset="0"/>
                            <a:ea typeface="Cambria Math" panose="02040503050406030204" pitchFamily="18" charset="0"/>
                          </a:rPr>
                          <m:t>=</m:t>
                        </m:r>
                        <m:f>
                          <m:fPr>
                            <m:ctrlPr>
                              <a:rPr lang="sr-Latn-RS" sz="1400" i="1">
                                <a:latin typeface="Cambria Math" panose="02040503050406030204" pitchFamily="18" charset="0"/>
                              </a:rPr>
                            </m:ctrlPr>
                          </m:fPr>
                          <m:num>
                            <m:rad>
                              <m:radPr>
                                <m:degHide m:val="on"/>
                                <m:ctrlPr>
                                  <a:rPr lang="en-US" sz="1400" i="1">
                                    <a:latin typeface="Cambria Math" panose="02040503050406030204" pitchFamily="18" charset="0"/>
                                    <a:ea typeface="Cambria Math" panose="02040503050406030204" pitchFamily="18" charset="0"/>
                                  </a:rPr>
                                </m:ctrlPr>
                              </m:radPr>
                              <m:deg/>
                              <m:e>
                                <m:r>
                                  <a:rPr lang="en-US" sz="1400" b="0" i="1" smtClean="0">
                                    <a:latin typeface="Cambria Math" panose="02040503050406030204" pitchFamily="18" charset="0"/>
                                    <a:ea typeface="Cambria Math" panose="02040503050406030204" pitchFamily="18" charset="0"/>
                                  </a:rPr>
                                  <m:t>3</m:t>
                                </m:r>
                              </m:e>
                            </m:rad>
                          </m:num>
                          <m:den>
                            <m:r>
                              <a:rPr lang="en-US" sz="1400" b="0" i="1" smtClean="0">
                                <a:latin typeface="Cambria Math" panose="02040503050406030204" pitchFamily="18" charset="0"/>
                              </a:rPr>
                              <m:t>2</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f>
                          <m:fPr>
                            <m:ctrlPr>
                              <a:rPr lang="sr-Latn-RS" sz="1400" i="1">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1</m:t>
                            </m:r>
                          </m:num>
                          <m:den>
                            <m:r>
                              <a:rPr lang="en-US" sz="1400" i="1">
                                <a:latin typeface="Cambria Math" panose="02040503050406030204" pitchFamily="18" charset="0"/>
                              </a:rPr>
                              <m:t>2</m:t>
                            </m:r>
                          </m:den>
                        </m:f>
                      </m:oMath>
                    </m:oMathPara>
                  </a14:m>
                  <a:endParaRPr lang="en-US" sz="1400" dirty="0">
                    <a:ea typeface="Cambria Math" panose="02040503050406030204" pitchFamily="18" charset="0"/>
                  </a:endParaRPr>
                </a:p>
              </p:txBody>
            </p:sp>
          </mc:Choice>
          <mc:Fallback xmlns="">
            <p:sp>
              <p:nvSpPr>
                <p:cNvPr id="139" name="TextBox 138">
                  <a:extLst>
                    <a:ext uri="{FF2B5EF4-FFF2-40B4-BE49-F238E27FC236}">
                      <a16:creationId xmlns:a16="http://schemas.microsoft.com/office/drawing/2014/main" id="{BF6447D4-6C5C-3F43-8BFC-DE2FA253C487}"/>
                    </a:ext>
                  </a:extLst>
                </p:cNvPr>
                <p:cNvSpPr txBox="1">
                  <a:spLocks noRot="1" noChangeAspect="1" noMove="1" noResize="1" noEditPoints="1" noAdjustHandles="1" noChangeArrowheads="1" noChangeShapeType="1" noTextEdit="1"/>
                </p:cNvSpPr>
                <p:nvPr/>
              </p:nvSpPr>
              <p:spPr>
                <a:xfrm>
                  <a:off x="3154298" y="4146500"/>
                  <a:ext cx="2625142" cy="760978"/>
                </a:xfrm>
                <a:prstGeom prst="rect">
                  <a:avLst/>
                </a:prstGeom>
                <a:blipFill>
                  <a:blip r:embed="rId15"/>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DE6BDE3D-5C69-E24B-8418-BD15FE961870}"/>
                    </a:ext>
                  </a:extLst>
                </p:cNvPr>
                <p:cNvSpPr txBox="1"/>
                <p:nvPr/>
              </p:nvSpPr>
              <p:spPr>
                <a:xfrm>
                  <a:off x="6633743" y="4150604"/>
                  <a:ext cx="2743059" cy="75277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𝜋</m:t>
                        </m:r>
                        <m:r>
                          <a:rPr lang="en-US" sz="1400" i="1">
                            <a:latin typeface="Cambria Math" panose="02040503050406030204" pitchFamily="18" charset="0"/>
                            <a:ea typeface="Cambria Math" panose="02040503050406030204" pitchFamily="18" charset="0"/>
                          </a:rPr>
                          <m:t>/4</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ea typeface="Cambria Math" panose="02040503050406030204" pitchFamily="18" charset="0"/>
                                  </a:rPr>
                                  <m:t>4</m:t>
                                </m:r>
                              </m:den>
                            </m:f>
                          </m:sup>
                        </m:sSup>
                        <m:r>
                          <a:rPr lang="en-US" sz="1400" b="0" i="1" smtClean="0">
                            <a:latin typeface="Cambria Math" panose="02040503050406030204" pitchFamily="18" charset="0"/>
                            <a:ea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4</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4</m:t>
                                </m:r>
                              </m:den>
                            </m:f>
                            <m:r>
                              <a:rPr lang="en-US" sz="1400" b="0" i="1" smtClean="0">
                                <a:latin typeface="Cambria Math" panose="02040503050406030204" pitchFamily="18" charset="0"/>
                              </a:rPr>
                              <m:t>=</m:t>
                            </m:r>
                            <m:f>
                              <m:fPr>
                                <m:ctrlPr>
                                  <a:rPr lang="sr-Latn-RS" sz="1400" i="1">
                                    <a:latin typeface="Cambria Math" panose="02040503050406030204" pitchFamily="18" charset="0"/>
                                  </a:rPr>
                                </m:ctrlPr>
                              </m:fPr>
                              <m:num>
                                <m:r>
                                  <a:rPr lang="en-US" sz="1400" b="0" i="1" smtClean="0">
                                    <a:latin typeface="Cambria Math" panose="02040503050406030204" pitchFamily="18" charset="0"/>
                                  </a:rPr>
                                  <m:t>1</m:t>
                                </m:r>
                              </m:num>
                              <m:den>
                                <m:rad>
                                  <m:radPr>
                                    <m:degHide m:val="on"/>
                                    <m:ctrlPr>
                                      <a:rPr lang="en-US" sz="1400" i="1" smtClean="0">
                                        <a:latin typeface="Cambria Math" panose="02040503050406030204" pitchFamily="18" charset="0"/>
                                        <a:ea typeface="Cambria Math" panose="02040503050406030204" pitchFamily="18" charset="0"/>
                                      </a:rPr>
                                    </m:ctrlPr>
                                  </m:radPr>
                                  <m:deg/>
                                  <m:e>
                                    <m:r>
                                      <a:rPr lang="en-US" sz="1400" b="0" i="1" smtClean="0">
                                        <a:latin typeface="Cambria Math" panose="02040503050406030204" pitchFamily="18" charset="0"/>
                                        <a:ea typeface="Cambria Math" panose="02040503050406030204" pitchFamily="18" charset="0"/>
                                      </a:rPr>
                                      <m:t>2</m:t>
                                    </m:r>
                                  </m:e>
                                </m:rad>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rPr>
                                  <m:t>1</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e>
                        </m:func>
                      </m:oMath>
                    </m:oMathPara>
                  </a14:m>
                  <a:endParaRPr lang="en-US" sz="1400" dirty="0">
                    <a:ea typeface="Cambria Math" panose="02040503050406030204" pitchFamily="18" charset="0"/>
                  </a:endParaRPr>
                </a:p>
              </p:txBody>
            </p:sp>
          </mc:Choice>
          <mc:Fallback xmlns="">
            <p:sp>
              <p:nvSpPr>
                <p:cNvPr id="149" name="TextBox 148">
                  <a:extLst>
                    <a:ext uri="{FF2B5EF4-FFF2-40B4-BE49-F238E27FC236}">
                      <a16:creationId xmlns:a16="http://schemas.microsoft.com/office/drawing/2014/main" id="{DE6BDE3D-5C69-E24B-8418-BD15FE961870}"/>
                    </a:ext>
                  </a:extLst>
                </p:cNvPr>
                <p:cNvSpPr txBox="1">
                  <a:spLocks noRot="1" noChangeAspect="1" noMove="1" noResize="1" noEditPoints="1" noAdjustHandles="1" noChangeArrowheads="1" noChangeShapeType="1" noTextEdit="1"/>
                </p:cNvSpPr>
                <p:nvPr/>
              </p:nvSpPr>
              <p:spPr>
                <a:xfrm>
                  <a:off x="6633743" y="4150604"/>
                  <a:ext cx="2743059" cy="75277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ECAE1B11-BE94-EC45-A5FD-A791C88C5342}"/>
                    </a:ext>
                  </a:extLst>
                </p:cNvPr>
                <p:cNvSpPr txBox="1"/>
                <p:nvPr/>
              </p:nvSpPr>
              <p:spPr>
                <a:xfrm>
                  <a:off x="10126011" y="4186223"/>
                  <a:ext cx="2064091" cy="681533"/>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𝜋</m:t>
                        </m:r>
                        <m:r>
                          <a:rPr lang="en-US" sz="1400" i="1">
                            <a:latin typeface="Cambria Math" panose="02040503050406030204" pitchFamily="18" charset="0"/>
                            <a:ea typeface="Cambria Math" panose="02040503050406030204" pitchFamily="18" charset="0"/>
                          </a:rPr>
                          <m:t>/2</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2</m:t>
                                </m:r>
                              </m:den>
                            </m:f>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2</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ea typeface="Cambria Math" panose="02040503050406030204" pitchFamily="18" charset="0"/>
                                  </a:rPr>
                                  <m:t>2</m:t>
                                </m:r>
                              </m:den>
                            </m:f>
                            <m:r>
                              <a:rPr lang="en-US" sz="1400" b="0" i="1" smtClean="0">
                                <a:latin typeface="Cambria Math" panose="02040503050406030204" pitchFamily="18" charset="0"/>
                              </a:rPr>
                              <m:t>=</m:t>
                            </m:r>
                            <m:r>
                              <a:rPr lang="en-US" sz="1400" b="0" i="1" smtClean="0">
                                <a:latin typeface="Cambria Math" panose="02040503050406030204" pitchFamily="18" charset="0"/>
                              </a:rPr>
                              <m:t>𝑖</m:t>
                            </m:r>
                          </m:e>
                        </m:func>
                      </m:oMath>
                    </m:oMathPara>
                  </a14:m>
                  <a:endParaRPr lang="en-US" sz="1400" dirty="0">
                    <a:ea typeface="Cambria Math" panose="02040503050406030204" pitchFamily="18" charset="0"/>
                  </a:endParaRPr>
                </a:p>
              </p:txBody>
            </p:sp>
          </mc:Choice>
          <mc:Fallback xmlns="">
            <p:sp>
              <p:nvSpPr>
                <p:cNvPr id="159" name="TextBox 158">
                  <a:extLst>
                    <a:ext uri="{FF2B5EF4-FFF2-40B4-BE49-F238E27FC236}">
                      <a16:creationId xmlns:a16="http://schemas.microsoft.com/office/drawing/2014/main" id="{ECAE1B11-BE94-EC45-A5FD-A791C88C5342}"/>
                    </a:ext>
                  </a:extLst>
                </p:cNvPr>
                <p:cNvSpPr txBox="1">
                  <a:spLocks noRot="1" noChangeAspect="1" noMove="1" noResize="1" noEditPoints="1" noAdjustHandles="1" noChangeArrowheads="1" noChangeShapeType="1" noTextEdit="1"/>
                </p:cNvSpPr>
                <p:nvPr/>
              </p:nvSpPr>
              <p:spPr>
                <a:xfrm>
                  <a:off x="10126011" y="4186223"/>
                  <a:ext cx="2064091" cy="681533"/>
                </a:xfrm>
                <a:prstGeom prst="rect">
                  <a:avLst/>
                </a:prstGeom>
                <a:blipFill>
                  <a:blip r:embed="rId17"/>
                  <a:stretch>
                    <a:fillRect b="-1852"/>
                  </a:stretch>
                </a:blipFill>
              </p:spPr>
              <p:txBody>
                <a:bodyPr/>
                <a:lstStyle/>
                <a:p>
                  <a:r>
                    <a:rPr lang="en-US">
                      <a:noFill/>
                    </a:rPr>
                    <a:t> </a:t>
                  </a:r>
                </a:p>
              </p:txBody>
            </p:sp>
          </mc:Fallback>
        </mc:AlternateContent>
        <p:grpSp>
          <p:nvGrpSpPr>
            <p:cNvPr id="206" name="Group 205">
              <a:extLst>
                <a:ext uri="{FF2B5EF4-FFF2-40B4-BE49-F238E27FC236}">
                  <a16:creationId xmlns:a16="http://schemas.microsoft.com/office/drawing/2014/main" id="{630A9D85-C7D6-1B4A-8122-7F161B44EAC6}"/>
                </a:ext>
              </a:extLst>
            </p:cNvPr>
            <p:cNvGrpSpPr/>
            <p:nvPr/>
          </p:nvGrpSpPr>
          <p:grpSpPr>
            <a:xfrm>
              <a:off x="2495059" y="4761353"/>
              <a:ext cx="2960429" cy="2913376"/>
              <a:chOff x="2761313" y="4861637"/>
              <a:chExt cx="2960429" cy="2913376"/>
            </a:xfrm>
          </p:grpSpPr>
          <p:cxnSp>
            <p:nvCxnSpPr>
              <p:cNvPr id="140" name="Straight Arrow Connector 139">
                <a:extLst>
                  <a:ext uri="{FF2B5EF4-FFF2-40B4-BE49-F238E27FC236}">
                    <a16:creationId xmlns:a16="http://schemas.microsoft.com/office/drawing/2014/main" id="{55B2CBD4-6140-0648-B592-88FAB8B3D313}"/>
                  </a:ext>
                </a:extLst>
              </p:cNvPr>
              <p:cNvCxnSpPr>
                <a:cxnSpLocks/>
              </p:cNvCxnSpPr>
              <p:nvPr/>
            </p:nvCxnSpPr>
            <p:spPr>
              <a:xfrm flipH="1" flipV="1">
                <a:off x="4094159" y="486163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840CD6AF-A5BD-2B48-BCC1-7EB799EC9896}"/>
                  </a:ext>
                </a:extLst>
              </p:cNvPr>
              <p:cNvCxnSpPr>
                <a:cxnSpLocks/>
              </p:cNvCxnSpPr>
              <p:nvPr/>
            </p:nvCxnSpPr>
            <p:spPr>
              <a:xfrm>
                <a:off x="3759983" y="640833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D77158EC-0A27-B64E-98AC-E2239B24F1B9}"/>
                  </a:ext>
                </a:extLst>
              </p:cNvPr>
              <p:cNvSpPr txBox="1"/>
              <p:nvPr/>
            </p:nvSpPr>
            <p:spPr>
              <a:xfrm>
                <a:off x="3812432" y="6438862"/>
                <a:ext cx="301686" cy="307777"/>
              </a:xfrm>
              <a:prstGeom prst="rect">
                <a:avLst/>
              </a:prstGeom>
              <a:noFill/>
            </p:spPr>
            <p:txBody>
              <a:bodyPr wrap="none" rtlCol="0">
                <a:spAutoFit/>
              </a:bodyPr>
              <a:lstStyle/>
              <a:p>
                <a:r>
                  <a:rPr lang="en-US" sz="1400" dirty="0">
                    <a:latin typeface="+mj-lt"/>
                  </a:rPr>
                  <a:t>O</a:t>
                </a:r>
              </a:p>
            </p:txBody>
          </p:sp>
          <p:cxnSp>
            <p:nvCxnSpPr>
              <p:cNvPr id="144" name="Straight Connector 143">
                <a:extLst>
                  <a:ext uri="{FF2B5EF4-FFF2-40B4-BE49-F238E27FC236}">
                    <a16:creationId xmlns:a16="http://schemas.microsoft.com/office/drawing/2014/main" id="{513DD584-0110-9E47-BA0E-8B868D498494}"/>
                  </a:ext>
                </a:extLst>
              </p:cNvPr>
              <p:cNvCxnSpPr>
                <a:cxnSpLocks/>
              </p:cNvCxnSpPr>
              <p:nvPr/>
            </p:nvCxnSpPr>
            <p:spPr>
              <a:xfrm>
                <a:off x="5413555" y="633516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5" name="Rectangle 144">
                    <a:extLst>
                      <a:ext uri="{FF2B5EF4-FFF2-40B4-BE49-F238E27FC236}">
                        <a16:creationId xmlns:a16="http://schemas.microsoft.com/office/drawing/2014/main" id="{DD72A556-D377-FC4A-9208-9CCDDCA0E60E}"/>
                      </a:ext>
                    </a:extLst>
                  </p:cNvPr>
                  <p:cNvSpPr/>
                  <p:nvPr/>
                </p:nvSpPr>
                <p:spPr>
                  <a:xfrm>
                    <a:off x="5272568" y="6487707"/>
                    <a:ext cx="324127"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45" name="Rectangle 144">
                    <a:extLst>
                      <a:ext uri="{FF2B5EF4-FFF2-40B4-BE49-F238E27FC236}">
                        <a16:creationId xmlns:a16="http://schemas.microsoft.com/office/drawing/2014/main" id="{DD72A556-D377-FC4A-9208-9CCDDCA0E60E}"/>
                      </a:ext>
                    </a:extLst>
                  </p:cNvPr>
                  <p:cNvSpPr>
                    <a:spLocks noRot="1" noChangeAspect="1" noMove="1" noResize="1" noEditPoints="1" noAdjustHandles="1" noChangeArrowheads="1" noChangeShapeType="1" noTextEdit="1"/>
                  </p:cNvSpPr>
                  <p:nvPr/>
                </p:nvSpPr>
                <p:spPr>
                  <a:xfrm>
                    <a:off x="5272568" y="6487707"/>
                    <a:ext cx="324127" cy="307777"/>
                  </a:xfrm>
                  <a:prstGeom prst="rect">
                    <a:avLst/>
                  </a:prstGeom>
                  <a:blipFill>
                    <a:blip r:embed="rId18"/>
                    <a:stretch>
                      <a:fillRect/>
                    </a:stretch>
                  </a:blipFill>
                </p:spPr>
                <p:txBody>
                  <a:bodyPr/>
                  <a:lstStyle/>
                  <a:p>
                    <a:r>
                      <a:rPr lang="en-US">
                        <a:noFill/>
                      </a:rPr>
                      <a:t> </a:t>
                    </a:r>
                  </a:p>
                </p:txBody>
              </p:sp>
            </mc:Fallback>
          </mc:AlternateContent>
          <p:cxnSp>
            <p:nvCxnSpPr>
              <p:cNvPr id="146" name="Straight Connector 145">
                <a:extLst>
                  <a:ext uri="{FF2B5EF4-FFF2-40B4-BE49-F238E27FC236}">
                    <a16:creationId xmlns:a16="http://schemas.microsoft.com/office/drawing/2014/main" id="{1F96E722-1469-7C4B-AB10-B56813CD6BDE}"/>
                  </a:ext>
                </a:extLst>
              </p:cNvPr>
              <p:cNvCxnSpPr>
                <a:cxnSpLocks/>
              </p:cNvCxnSpPr>
              <p:nvPr/>
            </p:nvCxnSpPr>
            <p:spPr>
              <a:xfrm rot="16200000">
                <a:off x="4102741" y="502013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4E8DE3E1-795B-CC49-8FAC-102228875EB4}"/>
                      </a:ext>
                    </a:extLst>
                  </p:cNvPr>
                  <p:cNvSpPr/>
                  <p:nvPr/>
                </p:nvSpPr>
                <p:spPr>
                  <a:xfrm>
                    <a:off x="3717034" y="4997239"/>
                    <a:ext cx="28655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47" name="Rectangle 146">
                    <a:extLst>
                      <a:ext uri="{FF2B5EF4-FFF2-40B4-BE49-F238E27FC236}">
                        <a16:creationId xmlns:a16="http://schemas.microsoft.com/office/drawing/2014/main" id="{4E8DE3E1-795B-CC49-8FAC-102228875EB4}"/>
                      </a:ext>
                    </a:extLst>
                  </p:cNvPr>
                  <p:cNvSpPr>
                    <a:spLocks noRot="1" noChangeAspect="1" noMove="1" noResize="1" noEditPoints="1" noAdjustHandles="1" noChangeArrowheads="1" noChangeShapeType="1" noTextEdit="1"/>
                  </p:cNvSpPr>
                  <p:nvPr/>
                </p:nvSpPr>
                <p:spPr>
                  <a:xfrm>
                    <a:off x="3717034" y="4997239"/>
                    <a:ext cx="286552" cy="307777"/>
                  </a:xfrm>
                  <a:prstGeom prst="rect">
                    <a:avLst/>
                  </a:prstGeom>
                  <a:blipFill>
                    <a:blip r:embed="rId19"/>
                    <a:stretch>
                      <a:fillRect/>
                    </a:stretch>
                  </a:blipFill>
                </p:spPr>
                <p:txBody>
                  <a:bodyPr/>
                  <a:lstStyle/>
                  <a:p>
                    <a:r>
                      <a:rPr lang="en-US">
                        <a:noFill/>
                      </a:rPr>
                      <a:t> </a:t>
                    </a:r>
                  </a:p>
                </p:txBody>
              </p:sp>
            </mc:Fallback>
          </mc:AlternateContent>
          <p:sp>
            <p:nvSpPr>
              <p:cNvPr id="148" name="Arc 147">
                <a:extLst>
                  <a:ext uri="{FF2B5EF4-FFF2-40B4-BE49-F238E27FC236}">
                    <a16:creationId xmlns:a16="http://schemas.microsoft.com/office/drawing/2014/main" id="{182174A9-E0B7-074A-A30E-56D753AC31C7}"/>
                  </a:ext>
                </a:extLst>
              </p:cNvPr>
              <p:cNvSpPr>
                <a:spLocks noChangeAspect="1"/>
              </p:cNvSpPr>
              <p:nvPr/>
            </p:nvSpPr>
            <p:spPr>
              <a:xfrm>
                <a:off x="2761313" y="512382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08CB8A4F-34FB-1646-B0B6-00C37C19D6D3}"/>
                      </a:ext>
                    </a:extLst>
                  </p:cNvPr>
                  <p:cNvSpPr txBox="1"/>
                  <p:nvPr/>
                </p:nvSpPr>
                <p:spPr>
                  <a:xfrm>
                    <a:off x="4327424" y="6129243"/>
                    <a:ext cx="35041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69" name="TextBox 168">
                    <a:extLst>
                      <a:ext uri="{FF2B5EF4-FFF2-40B4-BE49-F238E27FC236}">
                        <a16:creationId xmlns:a16="http://schemas.microsoft.com/office/drawing/2014/main" id="{08CB8A4F-34FB-1646-B0B6-00C37C19D6D3}"/>
                      </a:ext>
                    </a:extLst>
                  </p:cNvPr>
                  <p:cNvSpPr txBox="1">
                    <a:spLocks noRot="1" noChangeAspect="1" noMove="1" noResize="1" noEditPoints="1" noAdjustHandles="1" noChangeArrowheads="1" noChangeShapeType="1" noTextEdit="1"/>
                  </p:cNvSpPr>
                  <p:nvPr/>
                </p:nvSpPr>
                <p:spPr>
                  <a:xfrm>
                    <a:off x="4327424" y="6129243"/>
                    <a:ext cx="350417" cy="307777"/>
                  </a:xfrm>
                  <a:prstGeom prst="rect">
                    <a:avLst/>
                  </a:prstGeom>
                  <a:blipFill>
                    <a:blip r:embed="rId20"/>
                    <a:stretch>
                      <a:fillRect/>
                    </a:stretch>
                  </a:blipFill>
                </p:spPr>
                <p:txBody>
                  <a:bodyPr/>
                  <a:lstStyle/>
                  <a:p>
                    <a:r>
                      <a:rPr lang="en-US">
                        <a:noFill/>
                      </a:rPr>
                      <a:t> </a:t>
                    </a:r>
                  </a:p>
                </p:txBody>
              </p:sp>
            </mc:Fallback>
          </mc:AlternateContent>
          <p:sp>
            <p:nvSpPr>
              <p:cNvPr id="170" name="Arc 169">
                <a:extLst>
                  <a:ext uri="{FF2B5EF4-FFF2-40B4-BE49-F238E27FC236}">
                    <a16:creationId xmlns:a16="http://schemas.microsoft.com/office/drawing/2014/main" id="{3BE18494-8DCF-9B47-8FD5-F7BF14CA0661}"/>
                  </a:ext>
                </a:extLst>
              </p:cNvPr>
              <p:cNvSpPr/>
              <p:nvPr/>
            </p:nvSpPr>
            <p:spPr>
              <a:xfrm rot="20673070">
                <a:off x="4440002" y="6000279"/>
                <a:ext cx="214604" cy="432609"/>
              </a:xfrm>
              <a:prstGeom prst="arc">
                <a:avLst>
                  <a:gd name="adj1" fmla="val 19315123"/>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cxnSp>
            <p:nvCxnSpPr>
              <p:cNvPr id="90" name="Straight Connector 89">
                <a:extLst>
                  <a:ext uri="{FF2B5EF4-FFF2-40B4-BE49-F238E27FC236}">
                    <a16:creationId xmlns:a16="http://schemas.microsoft.com/office/drawing/2014/main" id="{BA9E11BC-A882-5145-A291-CB5F4991CD10}"/>
                  </a:ext>
                </a:extLst>
              </p:cNvPr>
              <p:cNvCxnSpPr>
                <a:cxnSpLocks/>
              </p:cNvCxnSpPr>
              <p:nvPr/>
            </p:nvCxnSpPr>
            <p:spPr>
              <a:xfrm>
                <a:off x="5230837" y="5767522"/>
                <a:ext cx="0" cy="6428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BEC4766-6E4D-A243-99ED-0C9655F4530C}"/>
                  </a:ext>
                </a:extLst>
              </p:cNvPr>
              <p:cNvCxnSpPr>
                <a:cxnSpLocks/>
              </p:cNvCxnSpPr>
              <p:nvPr/>
            </p:nvCxnSpPr>
            <p:spPr>
              <a:xfrm>
                <a:off x="4090551" y="5766077"/>
                <a:ext cx="111189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832F384-B71E-D748-B6DA-34C73DAA9FE6}"/>
                  </a:ext>
                </a:extLst>
              </p:cNvPr>
              <p:cNvCxnSpPr>
                <a:cxnSpLocks/>
              </p:cNvCxnSpPr>
              <p:nvPr/>
            </p:nvCxnSpPr>
            <p:spPr>
              <a:xfrm flipV="1">
                <a:off x="4098699" y="5756487"/>
                <a:ext cx="1132138" cy="649603"/>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E95E6E18-334D-4B44-9937-3859DA975F38}"/>
                      </a:ext>
                    </a:extLst>
                  </p:cNvPr>
                  <p:cNvSpPr txBox="1"/>
                  <p:nvPr/>
                </p:nvSpPr>
                <p:spPr>
                  <a:xfrm>
                    <a:off x="4992473" y="6379160"/>
                    <a:ext cx="442044" cy="5441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sr-Latn-RS" sz="1400" i="1">
                                  <a:latin typeface="Cambria Math" panose="02040503050406030204" pitchFamily="18" charset="0"/>
                                </a:rPr>
                              </m:ctrlPr>
                            </m:fPr>
                            <m:num>
                              <m:rad>
                                <m:radPr>
                                  <m:degHide m:val="on"/>
                                  <m:ctrlPr>
                                    <a:rPr lang="en-US" sz="1400" i="1" smtClean="0">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3</m:t>
                                  </m:r>
                                </m:e>
                              </m:rad>
                            </m:num>
                            <m:den>
                              <m:r>
                                <a:rPr lang="en-US" sz="1400" i="1">
                                  <a:latin typeface="Cambria Math" panose="02040503050406030204" pitchFamily="18" charset="0"/>
                                </a:rPr>
                                <m:t>2</m:t>
                              </m:r>
                            </m:den>
                          </m:f>
                        </m:oMath>
                      </m:oMathPara>
                    </a14:m>
                    <a:endParaRPr lang="en-US" sz="1400" dirty="0"/>
                  </a:p>
                </p:txBody>
              </p:sp>
            </mc:Choice>
            <mc:Fallback xmlns="">
              <p:sp>
                <p:nvSpPr>
                  <p:cNvPr id="174" name="TextBox 173">
                    <a:extLst>
                      <a:ext uri="{FF2B5EF4-FFF2-40B4-BE49-F238E27FC236}">
                        <a16:creationId xmlns:a16="http://schemas.microsoft.com/office/drawing/2014/main" id="{E95E6E18-334D-4B44-9937-3859DA975F38}"/>
                      </a:ext>
                    </a:extLst>
                  </p:cNvPr>
                  <p:cNvSpPr txBox="1">
                    <a:spLocks noRot="1" noChangeAspect="1" noMove="1" noResize="1" noEditPoints="1" noAdjustHandles="1" noChangeArrowheads="1" noChangeShapeType="1" noTextEdit="1"/>
                  </p:cNvSpPr>
                  <p:nvPr/>
                </p:nvSpPr>
                <p:spPr>
                  <a:xfrm>
                    <a:off x="4992473" y="6379160"/>
                    <a:ext cx="442044" cy="544123"/>
                  </a:xfrm>
                  <a:prstGeom prst="rect">
                    <a:avLst/>
                  </a:prstGeom>
                  <a:blipFill>
                    <a:blip r:embed="rId21"/>
                    <a:stretch>
                      <a:fillRect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FBDF6BEF-D116-9C4A-ADB9-A0CDD02F1563}"/>
                      </a:ext>
                    </a:extLst>
                  </p:cNvPr>
                  <p:cNvSpPr txBox="1"/>
                  <p:nvPr/>
                </p:nvSpPr>
                <p:spPr>
                  <a:xfrm>
                    <a:off x="3669621" y="5511234"/>
                    <a:ext cx="324127" cy="4927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𝑖</m:t>
                              </m:r>
                            </m:num>
                            <m:den>
                              <m:r>
                                <a:rPr lang="en-US" sz="1400" i="1">
                                  <a:latin typeface="Cambria Math" panose="02040503050406030204" pitchFamily="18" charset="0"/>
                                </a:rPr>
                                <m:t>2</m:t>
                              </m:r>
                            </m:den>
                          </m:f>
                        </m:oMath>
                      </m:oMathPara>
                    </a14:m>
                    <a:endParaRPr lang="en-US" sz="1400" dirty="0"/>
                  </a:p>
                </p:txBody>
              </p:sp>
            </mc:Choice>
            <mc:Fallback xmlns="">
              <p:sp>
                <p:nvSpPr>
                  <p:cNvPr id="175" name="TextBox 174">
                    <a:extLst>
                      <a:ext uri="{FF2B5EF4-FFF2-40B4-BE49-F238E27FC236}">
                        <a16:creationId xmlns:a16="http://schemas.microsoft.com/office/drawing/2014/main" id="{FBDF6BEF-D116-9C4A-ADB9-A0CDD02F1563}"/>
                      </a:ext>
                    </a:extLst>
                  </p:cNvPr>
                  <p:cNvSpPr txBox="1">
                    <a:spLocks noRot="1" noChangeAspect="1" noMove="1" noResize="1" noEditPoints="1" noAdjustHandles="1" noChangeArrowheads="1" noChangeShapeType="1" noTextEdit="1"/>
                  </p:cNvSpPr>
                  <p:nvPr/>
                </p:nvSpPr>
                <p:spPr>
                  <a:xfrm>
                    <a:off x="3669621" y="5511234"/>
                    <a:ext cx="324127" cy="492764"/>
                  </a:xfrm>
                  <a:prstGeom prst="rect">
                    <a:avLst/>
                  </a:prstGeom>
                  <a:blipFill>
                    <a:blip r:embed="rId22"/>
                    <a:stretch>
                      <a:fillRect b="-2500"/>
                    </a:stretch>
                  </a:blipFill>
                </p:spPr>
                <p:txBody>
                  <a:bodyPr/>
                  <a:lstStyle/>
                  <a:p>
                    <a:r>
                      <a:rPr lang="en-US">
                        <a:noFill/>
                      </a:rPr>
                      <a:t> </a:t>
                    </a:r>
                  </a:p>
                </p:txBody>
              </p:sp>
            </mc:Fallback>
          </mc:AlternateContent>
        </p:grpSp>
        <p:grpSp>
          <p:nvGrpSpPr>
            <p:cNvPr id="207" name="Group 206">
              <a:extLst>
                <a:ext uri="{FF2B5EF4-FFF2-40B4-BE49-F238E27FC236}">
                  <a16:creationId xmlns:a16="http://schemas.microsoft.com/office/drawing/2014/main" id="{3CFA8513-456B-B440-BBE1-F911F3FC6BE4}"/>
                </a:ext>
              </a:extLst>
            </p:cNvPr>
            <p:cNvGrpSpPr/>
            <p:nvPr/>
          </p:nvGrpSpPr>
          <p:grpSpPr>
            <a:xfrm>
              <a:off x="5782362" y="4761353"/>
              <a:ext cx="2960429" cy="2913376"/>
              <a:chOff x="5365535" y="4820547"/>
              <a:chExt cx="2960429" cy="2913376"/>
            </a:xfrm>
          </p:grpSpPr>
          <p:cxnSp>
            <p:nvCxnSpPr>
              <p:cNvPr id="150" name="Straight Arrow Connector 149">
                <a:extLst>
                  <a:ext uri="{FF2B5EF4-FFF2-40B4-BE49-F238E27FC236}">
                    <a16:creationId xmlns:a16="http://schemas.microsoft.com/office/drawing/2014/main" id="{415657BD-D065-9D4B-92D3-9847246C2F1E}"/>
                  </a:ext>
                </a:extLst>
              </p:cNvPr>
              <p:cNvCxnSpPr>
                <a:cxnSpLocks/>
              </p:cNvCxnSpPr>
              <p:nvPr/>
            </p:nvCxnSpPr>
            <p:spPr>
              <a:xfrm flipH="1" flipV="1">
                <a:off x="6698381" y="482054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D4CFD8EC-6FF1-2941-A44F-771BBE9AD935}"/>
                  </a:ext>
                </a:extLst>
              </p:cNvPr>
              <p:cNvCxnSpPr>
                <a:cxnSpLocks/>
              </p:cNvCxnSpPr>
              <p:nvPr/>
            </p:nvCxnSpPr>
            <p:spPr>
              <a:xfrm>
                <a:off x="6364205" y="636724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F3B1A8F0-9B62-244A-BC29-06FD933E45F2}"/>
                  </a:ext>
                </a:extLst>
              </p:cNvPr>
              <p:cNvSpPr txBox="1"/>
              <p:nvPr/>
            </p:nvSpPr>
            <p:spPr>
              <a:xfrm>
                <a:off x="6416654" y="6397772"/>
                <a:ext cx="301686" cy="307777"/>
              </a:xfrm>
              <a:prstGeom prst="rect">
                <a:avLst/>
              </a:prstGeom>
              <a:noFill/>
            </p:spPr>
            <p:txBody>
              <a:bodyPr wrap="none" rtlCol="0">
                <a:spAutoFit/>
              </a:bodyPr>
              <a:lstStyle/>
              <a:p>
                <a:r>
                  <a:rPr lang="en-US" sz="1400" dirty="0">
                    <a:latin typeface="+mj-lt"/>
                  </a:rPr>
                  <a:t>O</a:t>
                </a:r>
              </a:p>
            </p:txBody>
          </p:sp>
          <p:cxnSp>
            <p:nvCxnSpPr>
              <p:cNvPr id="153" name="Straight Arrow Connector 152">
                <a:extLst>
                  <a:ext uri="{FF2B5EF4-FFF2-40B4-BE49-F238E27FC236}">
                    <a16:creationId xmlns:a16="http://schemas.microsoft.com/office/drawing/2014/main" id="{9D16A642-BD25-304D-9FE5-AE2A908C294D}"/>
                  </a:ext>
                </a:extLst>
              </p:cNvPr>
              <p:cNvCxnSpPr>
                <a:cxnSpLocks/>
              </p:cNvCxnSpPr>
              <p:nvPr/>
            </p:nvCxnSpPr>
            <p:spPr>
              <a:xfrm flipV="1">
                <a:off x="6712274" y="5450607"/>
                <a:ext cx="918787" cy="910906"/>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9ABF301-B256-CD4D-A9AF-1691010257A9}"/>
                  </a:ext>
                </a:extLst>
              </p:cNvPr>
              <p:cNvCxnSpPr>
                <a:cxnSpLocks/>
              </p:cNvCxnSpPr>
              <p:nvPr/>
            </p:nvCxnSpPr>
            <p:spPr>
              <a:xfrm>
                <a:off x="8017778" y="629407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Rectangle 154">
                    <a:extLst>
                      <a:ext uri="{FF2B5EF4-FFF2-40B4-BE49-F238E27FC236}">
                        <a16:creationId xmlns:a16="http://schemas.microsoft.com/office/drawing/2014/main" id="{28629628-0360-754E-8A1E-52738ABB266D}"/>
                      </a:ext>
                    </a:extLst>
                  </p:cNvPr>
                  <p:cNvSpPr/>
                  <p:nvPr/>
                </p:nvSpPr>
                <p:spPr>
                  <a:xfrm>
                    <a:off x="7876790" y="6446617"/>
                    <a:ext cx="32412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55" name="Rectangle 154">
                    <a:extLst>
                      <a:ext uri="{FF2B5EF4-FFF2-40B4-BE49-F238E27FC236}">
                        <a16:creationId xmlns:a16="http://schemas.microsoft.com/office/drawing/2014/main" id="{28629628-0360-754E-8A1E-52738ABB266D}"/>
                      </a:ext>
                    </a:extLst>
                  </p:cNvPr>
                  <p:cNvSpPr>
                    <a:spLocks noRot="1" noChangeAspect="1" noMove="1" noResize="1" noEditPoints="1" noAdjustHandles="1" noChangeArrowheads="1" noChangeShapeType="1" noTextEdit="1"/>
                  </p:cNvSpPr>
                  <p:nvPr/>
                </p:nvSpPr>
                <p:spPr>
                  <a:xfrm>
                    <a:off x="7876790" y="6446617"/>
                    <a:ext cx="324128" cy="307777"/>
                  </a:xfrm>
                  <a:prstGeom prst="rect">
                    <a:avLst/>
                  </a:prstGeom>
                  <a:blipFill>
                    <a:blip r:embed="rId18"/>
                    <a:stretch>
                      <a:fillRect/>
                    </a:stretch>
                  </a:blipFill>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1148383A-BC4B-224B-A395-45E457BB9539}"/>
                  </a:ext>
                </a:extLst>
              </p:cNvPr>
              <p:cNvCxnSpPr>
                <a:cxnSpLocks/>
              </p:cNvCxnSpPr>
              <p:nvPr/>
            </p:nvCxnSpPr>
            <p:spPr>
              <a:xfrm rot="16200000">
                <a:off x="6706964" y="497904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Rectangle 156">
                    <a:extLst>
                      <a:ext uri="{FF2B5EF4-FFF2-40B4-BE49-F238E27FC236}">
                        <a16:creationId xmlns:a16="http://schemas.microsoft.com/office/drawing/2014/main" id="{B9BAB3CC-04C7-844A-BF11-4BD2341C7F48}"/>
                      </a:ext>
                    </a:extLst>
                  </p:cNvPr>
                  <p:cNvSpPr/>
                  <p:nvPr/>
                </p:nvSpPr>
                <p:spPr>
                  <a:xfrm>
                    <a:off x="6321257" y="4956149"/>
                    <a:ext cx="28655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57" name="Rectangle 156">
                    <a:extLst>
                      <a:ext uri="{FF2B5EF4-FFF2-40B4-BE49-F238E27FC236}">
                        <a16:creationId xmlns:a16="http://schemas.microsoft.com/office/drawing/2014/main" id="{B9BAB3CC-04C7-844A-BF11-4BD2341C7F48}"/>
                      </a:ext>
                    </a:extLst>
                  </p:cNvPr>
                  <p:cNvSpPr>
                    <a:spLocks noRot="1" noChangeAspect="1" noMove="1" noResize="1" noEditPoints="1" noAdjustHandles="1" noChangeArrowheads="1" noChangeShapeType="1" noTextEdit="1"/>
                  </p:cNvSpPr>
                  <p:nvPr/>
                </p:nvSpPr>
                <p:spPr>
                  <a:xfrm>
                    <a:off x="6321257" y="4956149"/>
                    <a:ext cx="286553" cy="307777"/>
                  </a:xfrm>
                  <a:prstGeom prst="rect">
                    <a:avLst/>
                  </a:prstGeom>
                  <a:blipFill>
                    <a:blip r:embed="rId19"/>
                    <a:stretch>
                      <a:fillRect/>
                    </a:stretch>
                  </a:blipFill>
                </p:spPr>
                <p:txBody>
                  <a:bodyPr/>
                  <a:lstStyle/>
                  <a:p>
                    <a:r>
                      <a:rPr lang="en-US">
                        <a:noFill/>
                      </a:rPr>
                      <a:t> </a:t>
                    </a:r>
                  </a:p>
                </p:txBody>
              </p:sp>
            </mc:Fallback>
          </mc:AlternateContent>
          <p:sp>
            <p:nvSpPr>
              <p:cNvPr id="158" name="Arc 157">
                <a:extLst>
                  <a:ext uri="{FF2B5EF4-FFF2-40B4-BE49-F238E27FC236}">
                    <a16:creationId xmlns:a16="http://schemas.microsoft.com/office/drawing/2014/main" id="{FA9C858C-8B20-1B4E-BE9A-42629E4760FA}"/>
                  </a:ext>
                </a:extLst>
              </p:cNvPr>
              <p:cNvSpPr>
                <a:spLocks noChangeAspect="1"/>
              </p:cNvSpPr>
              <p:nvPr/>
            </p:nvSpPr>
            <p:spPr>
              <a:xfrm>
                <a:off x="5365535" y="508273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26A150D-8D9D-1E4F-A7A0-F8856F5C5858}"/>
                      </a:ext>
                    </a:extLst>
                  </p:cNvPr>
                  <p:cNvSpPr txBox="1"/>
                  <p:nvPr/>
                </p:nvSpPr>
                <p:spPr>
                  <a:xfrm>
                    <a:off x="6847110" y="6092367"/>
                    <a:ext cx="3294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88" name="TextBox 187">
                    <a:extLst>
                      <a:ext uri="{FF2B5EF4-FFF2-40B4-BE49-F238E27FC236}">
                        <a16:creationId xmlns:a16="http://schemas.microsoft.com/office/drawing/2014/main" id="{026A150D-8D9D-1E4F-A7A0-F8856F5C5858}"/>
                      </a:ext>
                    </a:extLst>
                  </p:cNvPr>
                  <p:cNvSpPr txBox="1">
                    <a:spLocks noRot="1" noChangeAspect="1" noMove="1" noResize="1" noEditPoints="1" noAdjustHandles="1" noChangeArrowheads="1" noChangeShapeType="1" noTextEdit="1"/>
                  </p:cNvSpPr>
                  <p:nvPr/>
                </p:nvSpPr>
                <p:spPr>
                  <a:xfrm>
                    <a:off x="6847110" y="6092367"/>
                    <a:ext cx="329442" cy="307777"/>
                  </a:xfrm>
                  <a:prstGeom prst="rect">
                    <a:avLst/>
                  </a:prstGeom>
                  <a:blipFill>
                    <a:blip r:embed="rId23"/>
                    <a:stretch>
                      <a:fillRect/>
                    </a:stretch>
                  </a:blipFill>
                </p:spPr>
                <p:txBody>
                  <a:bodyPr/>
                  <a:lstStyle/>
                  <a:p>
                    <a:r>
                      <a:rPr lang="en-US">
                        <a:noFill/>
                      </a:rPr>
                      <a:t> </a:t>
                    </a:r>
                  </a:p>
                </p:txBody>
              </p:sp>
            </mc:Fallback>
          </mc:AlternateContent>
          <p:sp>
            <p:nvSpPr>
              <p:cNvPr id="189" name="Arc 188">
                <a:extLst>
                  <a:ext uri="{FF2B5EF4-FFF2-40B4-BE49-F238E27FC236}">
                    <a16:creationId xmlns:a16="http://schemas.microsoft.com/office/drawing/2014/main" id="{FD37C9D1-04FB-5C49-9DA9-B3E0F32A6513}"/>
                  </a:ext>
                </a:extLst>
              </p:cNvPr>
              <p:cNvSpPr/>
              <p:nvPr/>
            </p:nvSpPr>
            <p:spPr>
              <a:xfrm rot="19746590">
                <a:off x="6959839" y="6036677"/>
                <a:ext cx="203263" cy="432609"/>
              </a:xfrm>
              <a:prstGeom prst="arc">
                <a:avLst>
                  <a:gd name="adj1" fmla="val 16997935"/>
                  <a:gd name="adj2" fmla="val 405477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cxnSp>
            <p:nvCxnSpPr>
              <p:cNvPr id="190" name="Straight Connector 189">
                <a:extLst>
                  <a:ext uri="{FF2B5EF4-FFF2-40B4-BE49-F238E27FC236}">
                    <a16:creationId xmlns:a16="http://schemas.microsoft.com/office/drawing/2014/main" id="{589D0E65-D354-8F45-ADC0-77056CA74EA5}"/>
                  </a:ext>
                </a:extLst>
              </p:cNvPr>
              <p:cNvCxnSpPr>
                <a:cxnSpLocks/>
              </p:cNvCxnSpPr>
              <p:nvPr/>
            </p:nvCxnSpPr>
            <p:spPr>
              <a:xfrm>
                <a:off x="7625090" y="5464373"/>
                <a:ext cx="0" cy="90286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F4657757-0859-F548-82F4-5AE6121E8CAC}"/>
                  </a:ext>
                </a:extLst>
              </p:cNvPr>
              <p:cNvCxnSpPr>
                <a:cxnSpLocks/>
              </p:cNvCxnSpPr>
              <p:nvPr/>
            </p:nvCxnSpPr>
            <p:spPr>
              <a:xfrm>
                <a:off x="6697150" y="5462928"/>
                <a:ext cx="89954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F38DF998-4472-F74F-BD0F-58BE45CE48C2}"/>
                      </a:ext>
                    </a:extLst>
                  </p:cNvPr>
                  <p:cNvSpPr txBox="1"/>
                  <p:nvPr/>
                </p:nvSpPr>
                <p:spPr>
                  <a:xfrm>
                    <a:off x="6319460" y="5251511"/>
                    <a:ext cx="284721" cy="5344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𝑖</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oMath>
                      </m:oMathPara>
                    </a14:m>
                    <a:endParaRPr lang="en-US" sz="1400" dirty="0"/>
                  </a:p>
                </p:txBody>
              </p:sp>
            </mc:Choice>
            <mc:Fallback xmlns="">
              <p:sp>
                <p:nvSpPr>
                  <p:cNvPr id="192" name="TextBox 191">
                    <a:extLst>
                      <a:ext uri="{FF2B5EF4-FFF2-40B4-BE49-F238E27FC236}">
                        <a16:creationId xmlns:a16="http://schemas.microsoft.com/office/drawing/2014/main" id="{F38DF998-4472-F74F-BD0F-58BE45CE48C2}"/>
                      </a:ext>
                    </a:extLst>
                  </p:cNvPr>
                  <p:cNvSpPr txBox="1">
                    <a:spLocks noRot="1" noChangeAspect="1" noMove="1" noResize="1" noEditPoints="1" noAdjustHandles="1" noChangeArrowheads="1" noChangeShapeType="1" noTextEdit="1"/>
                  </p:cNvSpPr>
                  <p:nvPr/>
                </p:nvSpPr>
                <p:spPr>
                  <a:xfrm>
                    <a:off x="6319460" y="5251511"/>
                    <a:ext cx="284721" cy="534442"/>
                  </a:xfrm>
                  <a:prstGeom prst="rect">
                    <a:avLst/>
                  </a:prstGeom>
                  <a:blipFill>
                    <a:blip r:embed="rId24"/>
                    <a:stretch>
                      <a:fillRect r="-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6FCEEFC1-7D00-2941-8901-12B2C2C4EF9B}"/>
                      </a:ext>
                    </a:extLst>
                  </p:cNvPr>
                  <p:cNvSpPr txBox="1"/>
                  <p:nvPr/>
                </p:nvSpPr>
                <p:spPr>
                  <a:xfrm>
                    <a:off x="7462042" y="6352442"/>
                    <a:ext cx="284721" cy="5373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rPr>
                                <m:t>1</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oMath>
                      </m:oMathPara>
                    </a14:m>
                    <a:endParaRPr lang="en-US" sz="1400" dirty="0"/>
                  </a:p>
                </p:txBody>
              </p:sp>
            </mc:Choice>
            <mc:Fallback xmlns="">
              <p:sp>
                <p:nvSpPr>
                  <p:cNvPr id="197" name="TextBox 196">
                    <a:extLst>
                      <a:ext uri="{FF2B5EF4-FFF2-40B4-BE49-F238E27FC236}">
                        <a16:creationId xmlns:a16="http://schemas.microsoft.com/office/drawing/2014/main" id="{6FCEEFC1-7D00-2941-8901-12B2C2C4EF9B}"/>
                      </a:ext>
                    </a:extLst>
                  </p:cNvPr>
                  <p:cNvSpPr txBox="1">
                    <a:spLocks noRot="1" noChangeAspect="1" noMove="1" noResize="1" noEditPoints="1" noAdjustHandles="1" noChangeArrowheads="1" noChangeShapeType="1" noTextEdit="1"/>
                  </p:cNvSpPr>
                  <p:nvPr/>
                </p:nvSpPr>
                <p:spPr>
                  <a:xfrm>
                    <a:off x="7462042" y="6352442"/>
                    <a:ext cx="284721" cy="537327"/>
                  </a:xfrm>
                  <a:prstGeom prst="rect">
                    <a:avLst/>
                  </a:prstGeom>
                  <a:blipFill>
                    <a:blip r:embed="rId25"/>
                    <a:stretch>
                      <a:fillRect r="-25000"/>
                    </a:stretch>
                  </a:blipFill>
                </p:spPr>
                <p:txBody>
                  <a:bodyPr/>
                  <a:lstStyle/>
                  <a:p>
                    <a:r>
                      <a:rPr lang="en-US">
                        <a:noFill/>
                      </a:rPr>
                      <a:t> </a:t>
                    </a:r>
                  </a:p>
                </p:txBody>
              </p:sp>
            </mc:Fallback>
          </mc:AlternateContent>
        </p:grpSp>
        <p:grpSp>
          <p:nvGrpSpPr>
            <p:cNvPr id="208" name="Group 207">
              <a:extLst>
                <a:ext uri="{FF2B5EF4-FFF2-40B4-BE49-F238E27FC236}">
                  <a16:creationId xmlns:a16="http://schemas.microsoft.com/office/drawing/2014/main" id="{C44B1A6E-EE21-5F47-8A56-3642C6D76BB3}"/>
                </a:ext>
              </a:extLst>
            </p:cNvPr>
            <p:cNvGrpSpPr/>
            <p:nvPr/>
          </p:nvGrpSpPr>
          <p:grpSpPr>
            <a:xfrm>
              <a:off x="9069666" y="4761353"/>
              <a:ext cx="2960429" cy="2913376"/>
              <a:chOff x="7969757" y="4779457"/>
              <a:chExt cx="2960429" cy="2913376"/>
            </a:xfrm>
          </p:grpSpPr>
          <p:cxnSp>
            <p:nvCxnSpPr>
              <p:cNvPr id="160" name="Straight Arrow Connector 159">
                <a:extLst>
                  <a:ext uri="{FF2B5EF4-FFF2-40B4-BE49-F238E27FC236}">
                    <a16:creationId xmlns:a16="http://schemas.microsoft.com/office/drawing/2014/main" id="{048CF76A-1FFA-584B-9EB2-005BBD9EE64B}"/>
                  </a:ext>
                </a:extLst>
              </p:cNvPr>
              <p:cNvCxnSpPr>
                <a:cxnSpLocks/>
              </p:cNvCxnSpPr>
              <p:nvPr/>
            </p:nvCxnSpPr>
            <p:spPr>
              <a:xfrm flipH="1" flipV="1">
                <a:off x="9302604" y="477945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EA2D32C6-DE21-A74F-9D92-1A18FAAE7493}"/>
                  </a:ext>
                </a:extLst>
              </p:cNvPr>
              <p:cNvCxnSpPr>
                <a:cxnSpLocks/>
              </p:cNvCxnSpPr>
              <p:nvPr/>
            </p:nvCxnSpPr>
            <p:spPr>
              <a:xfrm>
                <a:off x="8968427" y="632615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6AEE47E0-92CA-C049-BF88-342B607E4BD4}"/>
                  </a:ext>
                </a:extLst>
              </p:cNvPr>
              <p:cNvSpPr txBox="1"/>
              <p:nvPr/>
            </p:nvSpPr>
            <p:spPr>
              <a:xfrm>
                <a:off x="9020876" y="6356682"/>
                <a:ext cx="301686" cy="307777"/>
              </a:xfrm>
              <a:prstGeom prst="rect">
                <a:avLst/>
              </a:prstGeom>
              <a:noFill/>
            </p:spPr>
            <p:txBody>
              <a:bodyPr wrap="none" rtlCol="0">
                <a:spAutoFit/>
              </a:bodyPr>
              <a:lstStyle/>
              <a:p>
                <a:r>
                  <a:rPr lang="en-US" sz="1400" dirty="0">
                    <a:latin typeface="+mj-lt"/>
                  </a:rPr>
                  <a:t>O</a:t>
                </a:r>
              </a:p>
            </p:txBody>
          </p:sp>
          <p:cxnSp>
            <p:nvCxnSpPr>
              <p:cNvPr id="163" name="Straight Arrow Connector 162">
                <a:extLst>
                  <a:ext uri="{FF2B5EF4-FFF2-40B4-BE49-F238E27FC236}">
                    <a16:creationId xmlns:a16="http://schemas.microsoft.com/office/drawing/2014/main" id="{B6240948-04CA-E04C-AA8B-165A8637B16D}"/>
                  </a:ext>
                </a:extLst>
              </p:cNvPr>
              <p:cNvCxnSpPr>
                <a:cxnSpLocks/>
                <a:endCxn id="168" idx="0"/>
              </p:cNvCxnSpPr>
              <p:nvPr/>
            </p:nvCxnSpPr>
            <p:spPr>
              <a:xfrm flipV="1">
                <a:off x="9300050" y="5041680"/>
                <a:ext cx="0" cy="1273413"/>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A6E0CE74-9881-5942-8D60-0F8CC1C7241C}"/>
                  </a:ext>
                </a:extLst>
              </p:cNvPr>
              <p:cNvCxnSpPr>
                <a:cxnSpLocks/>
              </p:cNvCxnSpPr>
              <p:nvPr/>
            </p:nvCxnSpPr>
            <p:spPr>
              <a:xfrm>
                <a:off x="10622000" y="625298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698DF7FE-40CE-8C44-AF91-9BB1F13A3D09}"/>
                      </a:ext>
                    </a:extLst>
                  </p:cNvPr>
                  <p:cNvSpPr/>
                  <p:nvPr/>
                </p:nvSpPr>
                <p:spPr>
                  <a:xfrm>
                    <a:off x="10481012" y="6405527"/>
                    <a:ext cx="32412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65" name="Rectangle 164">
                    <a:extLst>
                      <a:ext uri="{FF2B5EF4-FFF2-40B4-BE49-F238E27FC236}">
                        <a16:creationId xmlns:a16="http://schemas.microsoft.com/office/drawing/2014/main" id="{698DF7FE-40CE-8C44-AF91-9BB1F13A3D09}"/>
                      </a:ext>
                    </a:extLst>
                  </p:cNvPr>
                  <p:cNvSpPr>
                    <a:spLocks noRot="1" noChangeAspect="1" noMove="1" noResize="1" noEditPoints="1" noAdjustHandles="1" noChangeArrowheads="1" noChangeShapeType="1" noTextEdit="1"/>
                  </p:cNvSpPr>
                  <p:nvPr/>
                </p:nvSpPr>
                <p:spPr>
                  <a:xfrm>
                    <a:off x="10481012" y="6405527"/>
                    <a:ext cx="324128" cy="307777"/>
                  </a:xfrm>
                  <a:prstGeom prst="rect">
                    <a:avLst/>
                  </a:prstGeom>
                  <a:blipFill>
                    <a:blip r:embed="rId26"/>
                    <a:stretch>
                      <a:fillRect/>
                    </a:stretch>
                  </a:blipFill>
                </p:spPr>
                <p:txBody>
                  <a:bodyPr/>
                  <a:lstStyle/>
                  <a:p>
                    <a:r>
                      <a:rPr lang="en-US">
                        <a:noFill/>
                      </a:rPr>
                      <a:t> </a:t>
                    </a:r>
                  </a:p>
                </p:txBody>
              </p:sp>
            </mc:Fallback>
          </mc:AlternateContent>
          <p:cxnSp>
            <p:nvCxnSpPr>
              <p:cNvPr id="166" name="Straight Connector 165">
                <a:extLst>
                  <a:ext uri="{FF2B5EF4-FFF2-40B4-BE49-F238E27FC236}">
                    <a16:creationId xmlns:a16="http://schemas.microsoft.com/office/drawing/2014/main" id="{B1D3BDF2-FB22-1543-8BDA-8E3C1F2C21CA}"/>
                  </a:ext>
                </a:extLst>
              </p:cNvPr>
              <p:cNvCxnSpPr>
                <a:cxnSpLocks/>
              </p:cNvCxnSpPr>
              <p:nvPr/>
            </p:nvCxnSpPr>
            <p:spPr>
              <a:xfrm rot="16200000">
                <a:off x="9311186" y="493795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7" name="Rectangle 166">
                    <a:extLst>
                      <a:ext uri="{FF2B5EF4-FFF2-40B4-BE49-F238E27FC236}">
                        <a16:creationId xmlns:a16="http://schemas.microsoft.com/office/drawing/2014/main" id="{80724DB6-C8B3-7049-BAF0-564B05CC9894}"/>
                      </a:ext>
                    </a:extLst>
                  </p:cNvPr>
                  <p:cNvSpPr/>
                  <p:nvPr/>
                </p:nvSpPr>
                <p:spPr>
                  <a:xfrm>
                    <a:off x="8925479" y="4915059"/>
                    <a:ext cx="28655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67" name="Rectangle 166">
                    <a:extLst>
                      <a:ext uri="{FF2B5EF4-FFF2-40B4-BE49-F238E27FC236}">
                        <a16:creationId xmlns:a16="http://schemas.microsoft.com/office/drawing/2014/main" id="{80724DB6-C8B3-7049-BAF0-564B05CC9894}"/>
                      </a:ext>
                    </a:extLst>
                  </p:cNvPr>
                  <p:cNvSpPr>
                    <a:spLocks noRot="1" noChangeAspect="1" noMove="1" noResize="1" noEditPoints="1" noAdjustHandles="1" noChangeArrowheads="1" noChangeShapeType="1" noTextEdit="1"/>
                  </p:cNvSpPr>
                  <p:nvPr/>
                </p:nvSpPr>
                <p:spPr>
                  <a:xfrm>
                    <a:off x="8925479" y="4915059"/>
                    <a:ext cx="286553" cy="307777"/>
                  </a:xfrm>
                  <a:prstGeom prst="rect">
                    <a:avLst/>
                  </a:prstGeom>
                  <a:blipFill>
                    <a:blip r:embed="rId27"/>
                    <a:stretch>
                      <a:fillRect/>
                    </a:stretch>
                  </a:blipFill>
                </p:spPr>
                <p:txBody>
                  <a:bodyPr/>
                  <a:lstStyle/>
                  <a:p>
                    <a:r>
                      <a:rPr lang="en-US">
                        <a:noFill/>
                      </a:rPr>
                      <a:t> </a:t>
                    </a:r>
                  </a:p>
                </p:txBody>
              </p:sp>
            </mc:Fallback>
          </mc:AlternateContent>
          <p:sp>
            <p:nvSpPr>
              <p:cNvPr id="168" name="Arc 167">
                <a:extLst>
                  <a:ext uri="{FF2B5EF4-FFF2-40B4-BE49-F238E27FC236}">
                    <a16:creationId xmlns:a16="http://schemas.microsoft.com/office/drawing/2014/main" id="{B93AA29D-E5DD-3B46-A727-CB4DB9ACE58E}"/>
                  </a:ext>
                </a:extLst>
              </p:cNvPr>
              <p:cNvSpPr>
                <a:spLocks noChangeAspect="1"/>
              </p:cNvSpPr>
              <p:nvPr/>
            </p:nvSpPr>
            <p:spPr>
              <a:xfrm>
                <a:off x="7969757" y="504164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DB896E64-3A9F-954B-AD95-FBCCEC8EAE6F}"/>
                      </a:ext>
                    </a:extLst>
                  </p:cNvPr>
                  <p:cNvSpPr txBox="1"/>
                  <p:nvPr/>
                </p:nvSpPr>
                <p:spPr>
                  <a:xfrm>
                    <a:off x="9250799" y="5990680"/>
                    <a:ext cx="3294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98" name="TextBox 197">
                    <a:extLst>
                      <a:ext uri="{FF2B5EF4-FFF2-40B4-BE49-F238E27FC236}">
                        <a16:creationId xmlns:a16="http://schemas.microsoft.com/office/drawing/2014/main" id="{DB896E64-3A9F-954B-AD95-FBCCEC8EAE6F}"/>
                      </a:ext>
                    </a:extLst>
                  </p:cNvPr>
                  <p:cNvSpPr txBox="1">
                    <a:spLocks noRot="1" noChangeAspect="1" noMove="1" noResize="1" noEditPoints="1" noAdjustHandles="1" noChangeArrowheads="1" noChangeShapeType="1" noTextEdit="1"/>
                  </p:cNvSpPr>
                  <p:nvPr/>
                </p:nvSpPr>
                <p:spPr>
                  <a:xfrm>
                    <a:off x="9250799" y="5990680"/>
                    <a:ext cx="329442" cy="307777"/>
                  </a:xfrm>
                  <a:prstGeom prst="rect">
                    <a:avLst/>
                  </a:prstGeom>
                  <a:blipFill>
                    <a:blip r:embed="rId28"/>
                    <a:stretch>
                      <a:fillRect/>
                    </a:stretch>
                  </a:blipFill>
                </p:spPr>
                <p:txBody>
                  <a:bodyPr/>
                  <a:lstStyle/>
                  <a:p>
                    <a:r>
                      <a:rPr lang="en-US">
                        <a:noFill/>
                      </a:rPr>
                      <a:t> </a:t>
                    </a:r>
                  </a:p>
                </p:txBody>
              </p:sp>
            </mc:Fallback>
          </mc:AlternateContent>
          <p:sp>
            <p:nvSpPr>
              <p:cNvPr id="199" name="Arc 198">
                <a:extLst>
                  <a:ext uri="{FF2B5EF4-FFF2-40B4-BE49-F238E27FC236}">
                    <a16:creationId xmlns:a16="http://schemas.microsoft.com/office/drawing/2014/main" id="{35023DC3-5DD7-CE4C-AD4D-8AE383BB30F6}"/>
                  </a:ext>
                </a:extLst>
              </p:cNvPr>
              <p:cNvSpPr/>
              <p:nvPr/>
            </p:nvSpPr>
            <p:spPr>
              <a:xfrm rot="19746590">
                <a:off x="9257392" y="5919470"/>
                <a:ext cx="302419" cy="523588"/>
              </a:xfrm>
              <a:prstGeom prst="arc">
                <a:avLst>
                  <a:gd name="adj1" fmla="val 16822245"/>
                  <a:gd name="adj2" fmla="val 422315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05" name="Group 204">
              <a:extLst>
                <a:ext uri="{FF2B5EF4-FFF2-40B4-BE49-F238E27FC236}">
                  <a16:creationId xmlns:a16="http://schemas.microsoft.com/office/drawing/2014/main" id="{40C2786B-6820-C342-9009-8EF8409F6AF8}"/>
                </a:ext>
              </a:extLst>
            </p:cNvPr>
            <p:cNvGrpSpPr/>
            <p:nvPr/>
          </p:nvGrpSpPr>
          <p:grpSpPr>
            <a:xfrm>
              <a:off x="-848167" y="4761353"/>
              <a:ext cx="3016352" cy="2899588"/>
              <a:chOff x="101168" y="4902727"/>
              <a:chExt cx="3016352" cy="2899588"/>
            </a:xfrm>
          </p:grpSpPr>
          <p:cxnSp>
            <p:nvCxnSpPr>
              <p:cNvPr id="124" name="Straight Arrow Connector 123">
                <a:extLst>
                  <a:ext uri="{FF2B5EF4-FFF2-40B4-BE49-F238E27FC236}">
                    <a16:creationId xmlns:a16="http://schemas.microsoft.com/office/drawing/2014/main" id="{9F30A02C-647D-6342-BAA9-1037A7732F0D}"/>
                  </a:ext>
                </a:extLst>
              </p:cNvPr>
              <p:cNvCxnSpPr>
                <a:cxnSpLocks/>
              </p:cNvCxnSpPr>
              <p:nvPr/>
            </p:nvCxnSpPr>
            <p:spPr>
              <a:xfrm flipH="1" flipV="1">
                <a:off x="1489937" y="490272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5B8E7FAD-3BDC-CC4D-9A4D-E9316F4B3D65}"/>
                  </a:ext>
                </a:extLst>
              </p:cNvPr>
              <p:cNvCxnSpPr>
                <a:cxnSpLocks/>
              </p:cNvCxnSpPr>
              <p:nvPr/>
            </p:nvCxnSpPr>
            <p:spPr>
              <a:xfrm>
                <a:off x="1155761" y="644942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398034D-BAB4-9043-BF4F-8E3474E38543}"/>
                  </a:ext>
                </a:extLst>
              </p:cNvPr>
              <p:cNvSpPr txBox="1"/>
              <p:nvPr/>
            </p:nvSpPr>
            <p:spPr>
              <a:xfrm>
                <a:off x="1208210" y="6479952"/>
                <a:ext cx="301686" cy="307777"/>
              </a:xfrm>
              <a:prstGeom prst="rect">
                <a:avLst/>
              </a:prstGeom>
              <a:noFill/>
            </p:spPr>
            <p:txBody>
              <a:bodyPr wrap="none" rtlCol="0">
                <a:spAutoFit/>
              </a:bodyPr>
              <a:lstStyle/>
              <a:p>
                <a:r>
                  <a:rPr lang="en-US" sz="1400" dirty="0">
                    <a:latin typeface="+mj-lt"/>
                  </a:rPr>
                  <a:t>O</a:t>
                </a:r>
              </a:p>
            </p:txBody>
          </p:sp>
          <p:cxnSp>
            <p:nvCxnSpPr>
              <p:cNvPr id="128" name="Straight Arrow Connector 127">
                <a:extLst>
                  <a:ext uri="{FF2B5EF4-FFF2-40B4-BE49-F238E27FC236}">
                    <a16:creationId xmlns:a16="http://schemas.microsoft.com/office/drawing/2014/main" id="{56C47919-D5D5-F84F-85ED-BB4BAF42A69D}"/>
                  </a:ext>
                </a:extLst>
              </p:cNvPr>
              <p:cNvCxnSpPr>
                <a:cxnSpLocks/>
              </p:cNvCxnSpPr>
              <p:nvPr/>
            </p:nvCxnSpPr>
            <p:spPr>
              <a:xfrm>
                <a:off x="1489937" y="6449420"/>
                <a:ext cx="1317853" cy="5105"/>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08ED2B7-015B-3E4D-ACDF-843BFFB76DBD}"/>
                  </a:ext>
                </a:extLst>
              </p:cNvPr>
              <p:cNvCxnSpPr>
                <a:cxnSpLocks/>
              </p:cNvCxnSpPr>
              <p:nvPr/>
            </p:nvCxnSpPr>
            <p:spPr>
              <a:xfrm>
                <a:off x="2809333" y="637625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Rectangle 129">
                    <a:extLst>
                      <a:ext uri="{FF2B5EF4-FFF2-40B4-BE49-F238E27FC236}">
                        <a16:creationId xmlns:a16="http://schemas.microsoft.com/office/drawing/2014/main" id="{8DE3EC18-F495-6B42-8CED-EE5A0D082E0B}"/>
                      </a:ext>
                    </a:extLst>
                  </p:cNvPr>
                  <p:cNvSpPr/>
                  <p:nvPr/>
                </p:nvSpPr>
                <p:spPr>
                  <a:xfrm>
                    <a:off x="2668346" y="6528797"/>
                    <a:ext cx="324127"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30" name="Rectangle 129">
                    <a:extLst>
                      <a:ext uri="{FF2B5EF4-FFF2-40B4-BE49-F238E27FC236}">
                        <a16:creationId xmlns:a16="http://schemas.microsoft.com/office/drawing/2014/main" id="{8DE3EC18-F495-6B42-8CED-EE5A0D082E0B}"/>
                      </a:ext>
                    </a:extLst>
                  </p:cNvPr>
                  <p:cNvSpPr>
                    <a:spLocks noRot="1" noChangeAspect="1" noMove="1" noResize="1" noEditPoints="1" noAdjustHandles="1" noChangeArrowheads="1" noChangeShapeType="1" noTextEdit="1"/>
                  </p:cNvSpPr>
                  <p:nvPr/>
                </p:nvSpPr>
                <p:spPr>
                  <a:xfrm>
                    <a:off x="2668346" y="6528797"/>
                    <a:ext cx="324127" cy="307777"/>
                  </a:xfrm>
                  <a:prstGeom prst="rect">
                    <a:avLst/>
                  </a:prstGeom>
                  <a:blipFill>
                    <a:blip r:embed="rId29"/>
                    <a:stretch>
                      <a:fillRect/>
                    </a:stretch>
                  </a:blipFill>
                </p:spPr>
                <p:txBody>
                  <a:bodyPr/>
                  <a:lstStyle/>
                  <a:p>
                    <a:r>
                      <a:rPr lang="en-US">
                        <a:noFill/>
                      </a:rPr>
                      <a:t> </a:t>
                    </a:r>
                  </a:p>
                </p:txBody>
              </p:sp>
            </mc:Fallback>
          </mc:AlternateContent>
          <p:cxnSp>
            <p:nvCxnSpPr>
              <p:cNvPr id="131" name="Straight Connector 130">
                <a:extLst>
                  <a:ext uri="{FF2B5EF4-FFF2-40B4-BE49-F238E27FC236}">
                    <a16:creationId xmlns:a16="http://schemas.microsoft.com/office/drawing/2014/main" id="{CCD2F436-F043-8245-8B3D-1229C7B9646A}"/>
                  </a:ext>
                </a:extLst>
              </p:cNvPr>
              <p:cNvCxnSpPr>
                <a:cxnSpLocks/>
              </p:cNvCxnSpPr>
              <p:nvPr/>
            </p:nvCxnSpPr>
            <p:spPr>
              <a:xfrm rot="16200000">
                <a:off x="1498519" y="506122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D1D40F42-D6F8-AA40-B9F6-596AEF8507FE}"/>
                      </a:ext>
                    </a:extLst>
                  </p:cNvPr>
                  <p:cNvSpPr/>
                  <p:nvPr/>
                </p:nvSpPr>
                <p:spPr>
                  <a:xfrm>
                    <a:off x="1112812" y="5038328"/>
                    <a:ext cx="28655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32" name="Rectangle 131">
                    <a:extLst>
                      <a:ext uri="{FF2B5EF4-FFF2-40B4-BE49-F238E27FC236}">
                        <a16:creationId xmlns:a16="http://schemas.microsoft.com/office/drawing/2014/main" id="{D1D40F42-D6F8-AA40-B9F6-596AEF8507FE}"/>
                      </a:ext>
                    </a:extLst>
                  </p:cNvPr>
                  <p:cNvSpPr>
                    <a:spLocks noRot="1" noChangeAspect="1" noMove="1" noResize="1" noEditPoints="1" noAdjustHandles="1" noChangeArrowheads="1" noChangeShapeType="1" noTextEdit="1"/>
                  </p:cNvSpPr>
                  <p:nvPr/>
                </p:nvSpPr>
                <p:spPr>
                  <a:xfrm>
                    <a:off x="1112812" y="5038328"/>
                    <a:ext cx="286552" cy="307777"/>
                  </a:xfrm>
                  <a:prstGeom prst="rect">
                    <a:avLst/>
                  </a:prstGeom>
                  <a:blipFill>
                    <a:blip r:embed="rId30"/>
                    <a:stretch>
                      <a:fillRect/>
                    </a:stretch>
                  </a:blipFill>
                </p:spPr>
                <p:txBody>
                  <a:bodyPr/>
                  <a:lstStyle/>
                  <a:p>
                    <a:r>
                      <a:rPr lang="en-US">
                        <a:noFill/>
                      </a:rPr>
                      <a:t> </a:t>
                    </a:r>
                  </a:p>
                </p:txBody>
              </p:sp>
            </mc:Fallback>
          </mc:AlternateContent>
          <p:sp>
            <p:nvSpPr>
              <p:cNvPr id="201" name="Arc 200">
                <a:extLst>
                  <a:ext uri="{FF2B5EF4-FFF2-40B4-BE49-F238E27FC236}">
                    <a16:creationId xmlns:a16="http://schemas.microsoft.com/office/drawing/2014/main" id="{665C7CC0-49E5-FC45-86C9-439F11E2C6AB}"/>
                  </a:ext>
                </a:extLst>
              </p:cNvPr>
              <p:cNvSpPr>
                <a:spLocks noChangeAspect="1"/>
              </p:cNvSpPr>
              <p:nvPr/>
            </p:nvSpPr>
            <p:spPr>
              <a:xfrm>
                <a:off x="101168" y="5151127"/>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cxnSp>
          <p:nvCxnSpPr>
            <p:cNvPr id="203" name="Straight Connector 202">
              <a:extLst>
                <a:ext uri="{FF2B5EF4-FFF2-40B4-BE49-F238E27FC236}">
                  <a16:creationId xmlns:a16="http://schemas.microsoft.com/office/drawing/2014/main" id="{FD465040-2313-304F-88FE-4171EE2A9850}"/>
                </a:ext>
              </a:extLst>
            </p:cNvPr>
            <p:cNvCxnSpPr>
              <a:cxnSpLocks/>
            </p:cNvCxnSpPr>
            <p:nvPr/>
          </p:nvCxnSpPr>
          <p:spPr>
            <a:xfrm flipV="1">
              <a:off x="212700" y="4085618"/>
              <a:ext cx="11683108" cy="0"/>
            </a:xfrm>
            <a:prstGeom prst="line">
              <a:avLst/>
            </a:prstGeom>
            <a:ln w="25400" cmpd="dbl">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49AFBA-0973-2D4A-A1F1-AC5D8CB06EB0}"/>
                  </a:ext>
                </a:extLst>
              </p:cNvPr>
              <p:cNvSpPr txBox="1"/>
              <p:nvPr/>
            </p:nvSpPr>
            <p:spPr>
              <a:xfrm>
                <a:off x="9241618" y="1558854"/>
                <a:ext cx="3537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oMath>
                  </m:oMathPara>
                </a14:m>
                <a:endParaRPr lang="en-US" dirty="0"/>
              </a:p>
            </p:txBody>
          </p:sp>
        </mc:Choice>
        <mc:Fallback xmlns="">
          <p:sp>
            <p:nvSpPr>
              <p:cNvPr id="2" name="TextBox 1">
                <a:extLst>
                  <a:ext uri="{FF2B5EF4-FFF2-40B4-BE49-F238E27FC236}">
                    <a16:creationId xmlns:a16="http://schemas.microsoft.com/office/drawing/2014/main" id="{9049AFBA-0973-2D4A-A1F1-AC5D8CB06EB0}"/>
                  </a:ext>
                </a:extLst>
              </p:cNvPr>
              <p:cNvSpPr txBox="1">
                <a:spLocks noRot="1" noChangeAspect="1" noMove="1" noResize="1" noEditPoints="1" noAdjustHandles="1" noChangeArrowheads="1" noChangeShapeType="1" noTextEdit="1"/>
              </p:cNvSpPr>
              <p:nvPr/>
            </p:nvSpPr>
            <p:spPr>
              <a:xfrm>
                <a:off x="9241618" y="1558854"/>
                <a:ext cx="353751" cy="369332"/>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41DEBCC-9715-3E4F-A434-C2B2878B4BC4}"/>
                  </a:ext>
                </a:extLst>
              </p:cNvPr>
              <p:cNvSpPr txBox="1"/>
              <p:nvPr/>
            </p:nvSpPr>
            <p:spPr>
              <a:xfrm>
                <a:off x="2767985" y="1521141"/>
                <a:ext cx="3431580" cy="537135"/>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800" i="1" smtClean="0">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𝑖</m:t>
                          </m:r>
                          <m:r>
                            <a:rPr lang="sr-Latn-RS" sz="2800" i="1">
                              <a:latin typeface="Cambria Math" panose="02040503050406030204" pitchFamily="18" charset="0"/>
                              <a:ea typeface="Cambria Math" panose="02040503050406030204" pitchFamily="18" charset="0"/>
                            </a:rPr>
                            <m:t>𝜑</m:t>
                          </m:r>
                        </m:sup>
                      </m:sSup>
                      <m:r>
                        <a:rPr lang="sr-Latn-RS" sz="2800" i="1">
                          <a:latin typeface="Cambria Math" panose="02040503050406030204" pitchFamily="18" charset="0"/>
                        </a:rPr>
                        <m:t>=</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cos</m:t>
                          </m:r>
                        </m:fName>
                        <m:e>
                          <m:r>
                            <a:rPr lang="sr-Latn-RS" sz="2800" i="1">
                              <a:latin typeface="Cambria Math" panose="02040503050406030204" pitchFamily="18" charset="0"/>
                              <a:ea typeface="Cambria Math" panose="02040503050406030204" pitchFamily="18" charset="0"/>
                            </a:rPr>
                            <m:t>𝜑</m:t>
                          </m:r>
                        </m:e>
                      </m:func>
                      <m:r>
                        <a:rPr lang="en-US" sz="2800" b="0" i="1" smtClean="0">
                          <a:latin typeface="Cambria Math" panose="02040503050406030204" pitchFamily="18" charset="0"/>
                          <a:ea typeface="Cambria Math" panose="02040503050406030204" pitchFamily="18" charset="0"/>
                        </a:rPr>
                        <m:t>+</m:t>
                      </m:r>
                      <m:r>
                        <a:rPr lang="sr-Latn-RS" sz="2800" i="1">
                          <a:latin typeface="Cambria Math" panose="02040503050406030204" pitchFamily="18" charset="0"/>
                        </a:rPr>
                        <m:t>𝑖</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sin</m:t>
                          </m:r>
                        </m:fName>
                        <m:e>
                          <m:r>
                            <a:rPr lang="sr-Latn-RS" sz="2800" i="1">
                              <a:latin typeface="Cambria Math" panose="02040503050406030204" pitchFamily="18" charset="0"/>
                              <a:ea typeface="Cambria Math" panose="02040503050406030204" pitchFamily="18" charset="0"/>
                            </a:rPr>
                            <m:t>𝜑</m:t>
                          </m:r>
                        </m:e>
                      </m:func>
                    </m:oMath>
                  </m:oMathPara>
                </a14:m>
                <a:endParaRPr lang="en-US" sz="2800" dirty="0"/>
              </a:p>
            </p:txBody>
          </p:sp>
        </mc:Choice>
        <mc:Fallback xmlns="">
          <p:sp>
            <p:nvSpPr>
              <p:cNvPr id="87" name="TextBox 86">
                <a:extLst>
                  <a:ext uri="{FF2B5EF4-FFF2-40B4-BE49-F238E27FC236}">
                    <a16:creationId xmlns:a16="http://schemas.microsoft.com/office/drawing/2014/main" id="{041DEBCC-9715-3E4F-A434-C2B2878B4BC4}"/>
                  </a:ext>
                </a:extLst>
              </p:cNvPr>
              <p:cNvSpPr txBox="1">
                <a:spLocks noRot="1" noChangeAspect="1" noMove="1" noResize="1" noEditPoints="1" noAdjustHandles="1" noChangeArrowheads="1" noChangeShapeType="1" noTextEdit="1"/>
              </p:cNvSpPr>
              <p:nvPr/>
            </p:nvSpPr>
            <p:spPr>
              <a:xfrm>
                <a:off x="2767985" y="1521141"/>
                <a:ext cx="3431580" cy="537135"/>
              </a:xfrm>
              <a:prstGeom prst="rect">
                <a:avLst/>
              </a:prstGeom>
              <a:blipFill>
                <a:blip r:embed="rId32"/>
                <a:stretch>
                  <a:fillRect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4DAF63C4-2F9B-9847-9087-205EF1E5B856}"/>
                  </a:ext>
                </a:extLst>
              </p:cNvPr>
              <p:cNvSpPr txBox="1"/>
              <p:nvPr/>
            </p:nvSpPr>
            <p:spPr>
              <a:xfrm>
                <a:off x="2754774" y="2121145"/>
                <a:ext cx="3478068" cy="1212255"/>
              </a:xfrm>
              <a:prstGeom prst="rect">
                <a:avLst/>
              </a:prstGeom>
              <a:noFill/>
            </p:spPr>
            <p:txBody>
              <a:bodyPr wrap="none" rtlCol="0">
                <a:spAutoFit/>
              </a:bodyPr>
              <a:lstStyle/>
              <a:p>
                <a14:m>
                  <m:oMath xmlns:m="http://schemas.openxmlformats.org/officeDocument/2006/math">
                    <m:r>
                      <a:rPr lang="en-US" sz="2400" i="1">
                        <a:latin typeface="Cambria Math" panose="02040503050406030204" pitchFamily="18" charset="0"/>
                      </a:rPr>
                      <m:t>𝑒</m:t>
                    </m:r>
                    <m:r>
                      <a:rPr lang="en-US" sz="2400" i="1">
                        <a:latin typeface="Cambria Math" panose="02040503050406030204" pitchFamily="18" charset="0"/>
                        <a:ea typeface="Cambria Math" panose="02040503050406030204" pitchFamily="18" charset="0"/>
                      </a:rPr>
                      <m:t>≈2.71</m:t>
                    </m:r>
                  </m:oMath>
                </a14:m>
                <a:r>
                  <a:rPr lang="en-US" sz="2400" dirty="0">
                    <a:latin typeface="Cambria Math" panose="02040503050406030204" pitchFamily="18" charset="0"/>
                  </a:rPr>
                  <a:t>: Euler’s number</a:t>
                </a:r>
              </a:p>
              <a:p>
                <a14:m>
                  <m:oMath xmlns:m="http://schemas.openxmlformats.org/officeDocument/2006/math">
                    <m:r>
                      <a:rPr lang="sr-Latn-RS" sz="2400" i="1">
                        <a:latin typeface="Cambria Math" panose="02040503050406030204" pitchFamily="18" charset="0"/>
                        <a:ea typeface="Cambria Math" panose="02040503050406030204" pitchFamily="18" charset="0"/>
                      </a:rPr>
                      <m:t>𝜑</m:t>
                    </m:r>
                    <m:r>
                      <a:rPr lang="en-US" sz="2400" i="1">
                        <a:latin typeface="Cambria Math" panose="02040503050406030204" pitchFamily="18" charset="0"/>
                        <a:ea typeface="Cambria Math" panose="02040503050406030204" pitchFamily="18" charset="0"/>
                      </a:rPr>
                      <m:t>  </m:t>
                    </m:r>
                  </m:oMath>
                </a14:m>
                <a:r>
                  <a:rPr lang="en-US" sz="2400" dirty="0"/>
                  <a:t>            : phase angle</a:t>
                </a:r>
                <a:endParaRPr lang="en-US" sz="2400" dirty="0">
                  <a:latin typeface="Cambria Math" panose="02040503050406030204" pitchFamily="18" charset="0"/>
                </a:endParaRPr>
              </a:p>
              <a:p>
                <a14:m>
                  <m:oMath xmlns:m="http://schemas.openxmlformats.org/officeDocument/2006/math">
                    <m:sSup>
                      <m:sSupPr>
                        <m:ctrlPr>
                          <a:rPr lang="en-ZA" sz="2400" i="1" smtClean="0">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ea typeface="Cambria Math" panose="02040503050406030204" pitchFamily="18" charset="0"/>
                          </a:rPr>
                          <m:t>𝜑</m:t>
                        </m:r>
                      </m:sup>
                    </m:sSup>
                  </m:oMath>
                </a14:m>
                <a:r>
                  <a:rPr lang="sr-Latn-RS" sz="2400" dirty="0">
                    <a:ea typeface="Cambria Math" panose="02040503050406030204" pitchFamily="18" charset="0"/>
                  </a:rPr>
                  <a:t>           : </a:t>
                </a:r>
                <a:r>
                  <a:rPr lang="en-US" sz="2400" dirty="0"/>
                  <a:t>phase factor</a:t>
                </a:r>
                <a:endParaRPr lang="sr-Latn-RS" sz="2400" dirty="0">
                  <a:ea typeface="Cambria Math" panose="02040503050406030204" pitchFamily="18" charset="0"/>
                </a:endParaRPr>
              </a:p>
            </p:txBody>
          </p:sp>
        </mc:Choice>
        <mc:Fallback xmlns="">
          <p:sp>
            <p:nvSpPr>
              <p:cNvPr id="88" name="TextBox 87">
                <a:extLst>
                  <a:ext uri="{FF2B5EF4-FFF2-40B4-BE49-F238E27FC236}">
                    <a16:creationId xmlns:a16="http://schemas.microsoft.com/office/drawing/2014/main" id="{4DAF63C4-2F9B-9847-9087-205EF1E5B856}"/>
                  </a:ext>
                </a:extLst>
              </p:cNvPr>
              <p:cNvSpPr txBox="1">
                <a:spLocks noRot="1" noChangeAspect="1" noMove="1" noResize="1" noEditPoints="1" noAdjustHandles="1" noChangeArrowheads="1" noChangeShapeType="1" noTextEdit="1"/>
              </p:cNvSpPr>
              <p:nvPr/>
            </p:nvSpPr>
            <p:spPr>
              <a:xfrm>
                <a:off x="2754774" y="2121145"/>
                <a:ext cx="3478068" cy="1212255"/>
              </a:xfrm>
              <a:prstGeom prst="rect">
                <a:avLst/>
              </a:prstGeom>
              <a:blipFill>
                <a:blip r:embed="rId33"/>
                <a:stretch>
                  <a:fillRect t="-3125" r="-1455" b="-10417"/>
                </a:stretch>
              </a:blipFill>
            </p:spPr>
            <p:txBody>
              <a:bodyPr/>
              <a:lstStyle/>
              <a:p>
                <a:r>
                  <a:rPr lang="en-US">
                    <a:noFill/>
                  </a:rPr>
                  <a:t> </a:t>
                </a:r>
              </a:p>
            </p:txBody>
          </p:sp>
        </mc:Fallback>
      </mc:AlternateContent>
    </p:spTree>
    <p:extLst>
      <p:ext uri="{BB962C8B-B14F-4D97-AF65-F5344CB8AC3E}">
        <p14:creationId xmlns:p14="http://schemas.microsoft.com/office/powerpoint/2010/main" val="16710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dissolve">
                                      <p:cBhvr>
                                        <p:cTn id="7"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a:xfrm>
            <a:off x="0" y="0"/>
            <a:ext cx="12192000" cy="928688"/>
          </a:xfrm>
        </p:spPr>
        <p:txBody>
          <a:bodyPr/>
          <a:lstStyle/>
          <a:p>
            <a:r>
              <a:rPr lang="en-ZA" dirty="0"/>
              <a:t>2D Vector Model vs. Bloch Sphere Model</a:t>
            </a:r>
            <a:endParaRPr lang="en-US" dirty="0"/>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15</a:t>
            </a:fld>
            <a:endParaRPr lang="en-US" dirty="0"/>
          </a:p>
        </p:txBody>
      </p:sp>
      <p:sp>
        <p:nvSpPr>
          <p:cNvPr id="58" name="Oval 57">
            <a:extLst>
              <a:ext uri="{FF2B5EF4-FFF2-40B4-BE49-F238E27FC236}">
                <a16:creationId xmlns:a16="http://schemas.microsoft.com/office/drawing/2014/main" id="{B55C9FA8-1DFA-DB43-8767-6BD8297A131D}"/>
              </a:ext>
            </a:extLst>
          </p:cNvPr>
          <p:cNvSpPr>
            <a:spLocks noChangeAspect="1"/>
          </p:cNvSpPr>
          <p:nvPr/>
        </p:nvSpPr>
        <p:spPr>
          <a:xfrm>
            <a:off x="573974" y="1952755"/>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F08CDD00-FAF8-B742-B353-DE48B126F8D6}"/>
              </a:ext>
            </a:extLst>
          </p:cNvPr>
          <p:cNvCxnSpPr>
            <a:cxnSpLocks/>
            <a:endCxn id="58" idx="7"/>
          </p:cNvCxnSpPr>
          <p:nvPr/>
        </p:nvCxnSpPr>
        <p:spPr>
          <a:xfrm flipV="1">
            <a:off x="2490269" y="2517609"/>
            <a:ext cx="1375918" cy="1331056"/>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70BFFF40-9310-A949-A458-B7BB61B2D3B2}"/>
                  </a:ext>
                </a:extLst>
              </p:cNvPr>
              <p:cNvSpPr/>
              <p:nvPr/>
            </p:nvSpPr>
            <p:spPr>
              <a:xfrm>
                <a:off x="3784925" y="2092852"/>
                <a:ext cx="59400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𝑆</m:t>
                          </m:r>
                        </m:e>
                      </m:d>
                    </m:oMath>
                  </m:oMathPara>
                </a14:m>
                <a:endParaRPr lang="en-US" sz="2200" dirty="0"/>
              </a:p>
            </p:txBody>
          </p:sp>
        </mc:Choice>
        <mc:Fallback xmlns="">
          <p:sp>
            <p:nvSpPr>
              <p:cNvPr id="69" name="Rectangle 68">
                <a:extLst>
                  <a:ext uri="{FF2B5EF4-FFF2-40B4-BE49-F238E27FC236}">
                    <a16:creationId xmlns:a16="http://schemas.microsoft.com/office/drawing/2014/main" id="{70BFFF40-9310-A949-A458-B7BB61B2D3B2}"/>
                  </a:ext>
                </a:extLst>
              </p:cNvPr>
              <p:cNvSpPr>
                <a:spLocks noRot="1" noChangeAspect="1" noMove="1" noResize="1" noEditPoints="1" noAdjustHandles="1" noChangeArrowheads="1" noChangeShapeType="1" noTextEdit="1"/>
              </p:cNvSpPr>
              <p:nvPr/>
            </p:nvSpPr>
            <p:spPr>
              <a:xfrm>
                <a:off x="3784925" y="2092852"/>
                <a:ext cx="594009"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D5708D4E-877D-034B-8AEF-6F2ED7ED52BE}"/>
                  </a:ext>
                </a:extLst>
              </p:cNvPr>
              <p:cNvSpPr/>
              <p:nvPr/>
            </p:nvSpPr>
            <p:spPr>
              <a:xfrm>
                <a:off x="1812373" y="1969253"/>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r>
                            <a:rPr lang="sr-Latn-RS" sz="2200" b="0" i="1" smtClean="0">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71" name="Rectangle 70">
                <a:extLst>
                  <a:ext uri="{FF2B5EF4-FFF2-40B4-BE49-F238E27FC236}">
                    <a16:creationId xmlns:a16="http://schemas.microsoft.com/office/drawing/2014/main" id="{D5708D4E-877D-034B-8AEF-6F2ED7ED52BE}"/>
                  </a:ext>
                </a:extLst>
              </p:cNvPr>
              <p:cNvSpPr>
                <a:spLocks noRot="1" noChangeAspect="1" noMove="1" noResize="1" noEditPoints="1" noAdjustHandles="1" noChangeArrowheads="1" noChangeShapeType="1" noTextEdit="1"/>
              </p:cNvSpPr>
              <p:nvPr/>
            </p:nvSpPr>
            <p:spPr>
              <a:xfrm>
                <a:off x="1812373" y="1969253"/>
                <a:ext cx="594906" cy="43088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E9CFF078-3CEB-3340-8232-4974452C6950}"/>
                  </a:ext>
                </a:extLst>
              </p:cNvPr>
              <p:cNvSpPr/>
              <p:nvPr/>
            </p:nvSpPr>
            <p:spPr>
              <a:xfrm>
                <a:off x="3812992" y="3306667"/>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r>
                            <a:rPr lang="sr-Latn-RS" sz="2200" b="0" i="1" smtClean="0">
                              <a:latin typeface="Cambria Math" panose="02040503050406030204" pitchFamily="18" charset="0"/>
                              <a:ea typeface="Cambria Math" panose="02040503050406030204" pitchFamily="18" charset="0"/>
                            </a:rPr>
                            <m:t>0</m:t>
                          </m:r>
                        </m:e>
                      </m:d>
                    </m:oMath>
                  </m:oMathPara>
                </a14:m>
                <a:endParaRPr lang="en-US" sz="2200" dirty="0"/>
              </a:p>
            </p:txBody>
          </p:sp>
        </mc:Choice>
        <mc:Fallback xmlns="">
          <p:sp>
            <p:nvSpPr>
              <p:cNvPr id="72" name="Rectangle 71">
                <a:extLst>
                  <a:ext uri="{FF2B5EF4-FFF2-40B4-BE49-F238E27FC236}">
                    <a16:creationId xmlns:a16="http://schemas.microsoft.com/office/drawing/2014/main" id="{E9CFF078-3CEB-3340-8232-4974452C6950}"/>
                  </a:ext>
                </a:extLst>
              </p:cNvPr>
              <p:cNvSpPr>
                <a:spLocks noRot="1" noChangeAspect="1" noMove="1" noResize="1" noEditPoints="1" noAdjustHandles="1" noChangeArrowheads="1" noChangeShapeType="1" noTextEdit="1"/>
              </p:cNvSpPr>
              <p:nvPr/>
            </p:nvSpPr>
            <p:spPr>
              <a:xfrm>
                <a:off x="3812992" y="3306667"/>
                <a:ext cx="594906" cy="43088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62104C52-A09A-0045-A138-3BF594F0116E}"/>
                  </a:ext>
                </a:extLst>
              </p:cNvPr>
              <p:cNvSpPr/>
              <p:nvPr/>
            </p:nvSpPr>
            <p:spPr>
              <a:xfrm>
                <a:off x="2557365" y="4180329"/>
                <a:ext cx="1243737"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𝑎</m:t>
                          </m:r>
                        </m:e>
                        <m:sub>
                          <m:r>
                            <a:rPr lang="en-US" sz="2200" b="0" i="1" smtClean="0">
                              <a:latin typeface="Cambria Math" panose="02040503050406030204" pitchFamily="18" charset="0"/>
                              <a:ea typeface="Cambria Math" panose="02040503050406030204" pitchFamily="18" charset="0"/>
                            </a:rPr>
                            <m:t>0</m:t>
                          </m:r>
                        </m:sub>
                      </m:sSub>
                      <m:r>
                        <a:rPr lang="sr-Latn-RS" sz="2200" b="0" i="1" smtClean="0">
                          <a:latin typeface="Cambria Math" panose="02040503050406030204" pitchFamily="18" charset="0"/>
                          <a:ea typeface="Cambria Math" panose="02040503050406030204" pitchFamily="18" charset="0"/>
                        </a:rPr>
                        <m:t>=</m:t>
                      </m:r>
                      <m:f>
                        <m:fPr>
                          <m:ctrlPr>
                            <a:rPr lang="sr-Latn-RS" sz="2200" b="0" i="1" smtClean="0">
                              <a:latin typeface="Cambria Math" panose="02040503050406030204" pitchFamily="18" charset="0"/>
                              <a:ea typeface="Cambria Math" panose="02040503050406030204" pitchFamily="18" charset="0"/>
                            </a:rPr>
                          </m:ctrlPr>
                        </m:fPr>
                        <m:num>
                          <m:r>
                            <a:rPr lang="sr-Latn-RS" sz="2200" b="0" i="1" smtClean="0">
                              <a:latin typeface="Cambria Math" panose="02040503050406030204" pitchFamily="18" charset="0"/>
                              <a:ea typeface="Cambria Math" panose="02040503050406030204" pitchFamily="18" charset="0"/>
                            </a:rPr>
                            <m:t>1</m:t>
                          </m:r>
                        </m:num>
                        <m:den>
                          <m:rad>
                            <m:radPr>
                              <m:degHide m:val="on"/>
                              <m:ctrlPr>
                                <a:rPr lang="sr-Latn-RS" sz="2200" i="1">
                                  <a:latin typeface="Cambria Math" panose="02040503050406030204" pitchFamily="18" charset="0"/>
                                  <a:ea typeface="Cambria Math" panose="02040503050406030204" pitchFamily="18" charset="0"/>
                                </a:rPr>
                              </m:ctrlPr>
                            </m:radPr>
                            <m:deg/>
                            <m:e>
                              <m:r>
                                <a:rPr lang="sr-Latn-RS" sz="2200" i="1">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75" name="Rectangle 74">
                <a:extLst>
                  <a:ext uri="{FF2B5EF4-FFF2-40B4-BE49-F238E27FC236}">
                    <a16:creationId xmlns:a16="http://schemas.microsoft.com/office/drawing/2014/main" id="{62104C52-A09A-0045-A138-3BF594F0116E}"/>
                  </a:ext>
                </a:extLst>
              </p:cNvPr>
              <p:cNvSpPr>
                <a:spLocks noRot="1" noChangeAspect="1" noMove="1" noResize="1" noEditPoints="1" noAdjustHandles="1" noChangeArrowheads="1" noChangeShapeType="1" noTextEdit="1"/>
              </p:cNvSpPr>
              <p:nvPr/>
            </p:nvSpPr>
            <p:spPr>
              <a:xfrm>
                <a:off x="2557365" y="4180329"/>
                <a:ext cx="1243737" cy="791755"/>
              </a:xfrm>
              <a:prstGeom prst="rect">
                <a:avLst/>
              </a:prstGeom>
              <a:blipFill>
                <a:blip r:embed="rId14"/>
                <a:stretch>
                  <a:fillRect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0FE1FB5C-2617-E147-8EF3-D0EC53918FFF}"/>
                  </a:ext>
                </a:extLst>
              </p:cNvPr>
              <p:cNvSpPr/>
              <p:nvPr/>
            </p:nvSpPr>
            <p:spPr>
              <a:xfrm>
                <a:off x="903405" y="2754720"/>
                <a:ext cx="1237198"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200" i="1" smtClean="0">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𝑎</m:t>
                          </m:r>
                        </m:e>
                        <m:sub>
                          <m:r>
                            <a:rPr lang="en-US" sz="2200" b="0" i="1" smtClean="0">
                              <a:latin typeface="Cambria Math" panose="02040503050406030204" pitchFamily="18" charset="0"/>
                              <a:ea typeface="Cambria Math" panose="02040503050406030204" pitchFamily="18" charset="0"/>
                            </a:rPr>
                            <m:t>1</m:t>
                          </m:r>
                        </m:sub>
                      </m:sSub>
                      <m:r>
                        <a:rPr lang="sr-Latn-RS" sz="2200" b="0" i="1" smtClean="0">
                          <a:latin typeface="Cambria Math" panose="02040503050406030204" pitchFamily="18" charset="0"/>
                          <a:ea typeface="Cambria Math" panose="02040503050406030204" pitchFamily="18" charset="0"/>
                        </a:rPr>
                        <m:t>=</m:t>
                      </m:r>
                      <m:f>
                        <m:fPr>
                          <m:ctrlPr>
                            <a:rPr lang="sr-Latn-RS" sz="2200" b="0" i="1" smtClean="0">
                              <a:latin typeface="Cambria Math" panose="02040503050406030204" pitchFamily="18" charset="0"/>
                              <a:ea typeface="Cambria Math" panose="02040503050406030204" pitchFamily="18" charset="0"/>
                            </a:rPr>
                          </m:ctrlPr>
                        </m:fPr>
                        <m:num>
                          <m:r>
                            <a:rPr lang="sr-Latn-RS" sz="2200" b="0" i="1" smtClean="0">
                              <a:latin typeface="Cambria Math" panose="02040503050406030204" pitchFamily="18" charset="0"/>
                              <a:ea typeface="Cambria Math" panose="02040503050406030204" pitchFamily="18" charset="0"/>
                            </a:rPr>
                            <m:t>1</m:t>
                          </m:r>
                        </m:num>
                        <m:den>
                          <m:rad>
                            <m:radPr>
                              <m:degHide m:val="on"/>
                              <m:ctrlPr>
                                <a:rPr lang="sr-Latn-RS" sz="2200" i="1">
                                  <a:latin typeface="Cambria Math" panose="02040503050406030204" pitchFamily="18" charset="0"/>
                                  <a:ea typeface="Cambria Math" panose="02040503050406030204" pitchFamily="18" charset="0"/>
                                </a:rPr>
                              </m:ctrlPr>
                            </m:radPr>
                            <m:deg/>
                            <m:e>
                              <m:r>
                                <a:rPr lang="sr-Latn-RS" sz="2200" i="1">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76" name="Rectangle 75">
                <a:extLst>
                  <a:ext uri="{FF2B5EF4-FFF2-40B4-BE49-F238E27FC236}">
                    <a16:creationId xmlns:a16="http://schemas.microsoft.com/office/drawing/2014/main" id="{0FE1FB5C-2617-E147-8EF3-D0EC53918FFF}"/>
                  </a:ext>
                </a:extLst>
              </p:cNvPr>
              <p:cNvSpPr>
                <a:spLocks noRot="1" noChangeAspect="1" noMove="1" noResize="1" noEditPoints="1" noAdjustHandles="1" noChangeArrowheads="1" noChangeShapeType="1" noTextEdit="1"/>
              </p:cNvSpPr>
              <p:nvPr/>
            </p:nvSpPr>
            <p:spPr>
              <a:xfrm>
                <a:off x="903405" y="2754720"/>
                <a:ext cx="1237198" cy="791755"/>
              </a:xfrm>
              <a:prstGeom prst="rect">
                <a:avLst/>
              </a:prstGeom>
              <a:blipFill>
                <a:blip r:embed="rId15"/>
                <a:stretch>
                  <a:fillRect b="-3175"/>
                </a:stretch>
              </a:blipFill>
            </p:spPr>
            <p:txBody>
              <a:bodyPr/>
              <a:lstStyle/>
              <a:p>
                <a:r>
                  <a:rPr lang="en-US">
                    <a:noFill/>
                  </a:rPr>
                  <a:t> </a:t>
                </a:r>
              </a:p>
            </p:txBody>
          </p:sp>
        </mc:Fallback>
      </mc:AlternateContent>
      <p:cxnSp>
        <p:nvCxnSpPr>
          <p:cNvPr id="78" name="Straight Connector 77">
            <a:extLst>
              <a:ext uri="{FF2B5EF4-FFF2-40B4-BE49-F238E27FC236}">
                <a16:creationId xmlns:a16="http://schemas.microsoft.com/office/drawing/2014/main" id="{CF3B16CB-D114-AF43-820A-D82ECC13405A}"/>
              </a:ext>
            </a:extLst>
          </p:cNvPr>
          <p:cNvCxnSpPr>
            <a:cxnSpLocks/>
            <a:stCxn id="58" idx="7"/>
          </p:cNvCxnSpPr>
          <p:nvPr/>
        </p:nvCxnSpPr>
        <p:spPr>
          <a:xfrm>
            <a:off x="3866187" y="2517609"/>
            <a:ext cx="0" cy="134225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3E96EE-ABF7-D546-B08B-47C79E1D7784}"/>
              </a:ext>
            </a:extLst>
          </p:cNvPr>
          <p:cNvCxnSpPr>
            <a:cxnSpLocks/>
          </p:cNvCxnSpPr>
          <p:nvPr/>
        </p:nvCxnSpPr>
        <p:spPr>
          <a:xfrm flipH="1">
            <a:off x="2490269" y="2526248"/>
            <a:ext cx="1375918"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82" name="Left Brace 81">
            <a:extLst>
              <a:ext uri="{FF2B5EF4-FFF2-40B4-BE49-F238E27FC236}">
                <a16:creationId xmlns:a16="http://schemas.microsoft.com/office/drawing/2014/main" id="{245F4094-580B-B540-9481-C3E82EB3267D}"/>
              </a:ext>
            </a:extLst>
          </p:cNvPr>
          <p:cNvSpPr/>
          <p:nvPr/>
        </p:nvSpPr>
        <p:spPr>
          <a:xfrm>
            <a:off x="2098588" y="2526248"/>
            <a:ext cx="263444" cy="1322417"/>
          </a:xfrm>
          <a:prstGeom prst="leftBrace">
            <a:avLst>
              <a:gd name="adj1" fmla="val 5654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Left Brace 82">
            <a:extLst>
              <a:ext uri="{FF2B5EF4-FFF2-40B4-BE49-F238E27FC236}">
                <a16:creationId xmlns:a16="http://schemas.microsoft.com/office/drawing/2014/main" id="{F11143F9-2179-424A-A9CF-F8525E0B8EB3}"/>
              </a:ext>
            </a:extLst>
          </p:cNvPr>
          <p:cNvSpPr/>
          <p:nvPr/>
        </p:nvSpPr>
        <p:spPr>
          <a:xfrm rot="16200000">
            <a:off x="3014668" y="3439506"/>
            <a:ext cx="263444" cy="1322417"/>
          </a:xfrm>
          <a:prstGeom prst="leftBrace">
            <a:avLst>
              <a:gd name="adj1" fmla="val 5654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6" name="Straight Arrow Connector 85">
            <a:extLst>
              <a:ext uri="{FF2B5EF4-FFF2-40B4-BE49-F238E27FC236}">
                <a16:creationId xmlns:a16="http://schemas.microsoft.com/office/drawing/2014/main" id="{A30457B5-40F9-B94E-8295-E504BF29C7E7}"/>
              </a:ext>
            </a:extLst>
          </p:cNvPr>
          <p:cNvCxnSpPr>
            <a:cxnSpLocks/>
            <a:endCxn id="58" idx="6"/>
          </p:cNvCxnSpPr>
          <p:nvPr/>
        </p:nvCxnSpPr>
        <p:spPr>
          <a:xfrm>
            <a:off x="2490269" y="3857352"/>
            <a:ext cx="1940772"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9155B775-BD1B-4F47-9941-1F7B8FBF83AD}"/>
              </a:ext>
            </a:extLst>
          </p:cNvPr>
          <p:cNvCxnSpPr>
            <a:cxnSpLocks/>
          </p:cNvCxnSpPr>
          <p:nvPr/>
        </p:nvCxnSpPr>
        <p:spPr>
          <a:xfrm rot="16200000">
            <a:off x="1519883" y="2898128"/>
            <a:ext cx="1940772"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DBCDBD38-A94B-934A-90E1-C0442C269508}"/>
              </a:ext>
            </a:extLst>
          </p:cNvPr>
          <p:cNvSpPr/>
          <p:nvPr/>
        </p:nvSpPr>
        <p:spPr>
          <a:xfrm>
            <a:off x="7055593" y="3366410"/>
            <a:ext cx="3853023" cy="1464341"/>
          </a:xfrm>
          <a:prstGeom prst="ellipse">
            <a:avLst/>
          </a:prstGeom>
          <a:solidFill>
            <a:schemeClr val="accent4">
              <a:lumMod val="20000"/>
              <a:lumOff val="80000"/>
              <a:alpha val="54000"/>
            </a:schemeClr>
          </a:solid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Parallelogram 109">
            <a:extLst>
              <a:ext uri="{FF2B5EF4-FFF2-40B4-BE49-F238E27FC236}">
                <a16:creationId xmlns:a16="http://schemas.microsoft.com/office/drawing/2014/main" id="{160F51F4-B00C-794D-8320-1C005FA1F563}"/>
              </a:ext>
            </a:extLst>
          </p:cNvPr>
          <p:cNvSpPr/>
          <p:nvPr/>
        </p:nvSpPr>
        <p:spPr>
          <a:xfrm rot="21030453">
            <a:off x="8648254" y="1914420"/>
            <a:ext cx="994052" cy="2141987"/>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53754 w 1295987"/>
              <a:gd name="connsiteY3" fmla="*/ 1485311 h 2111996"/>
              <a:gd name="connsiteX4" fmla="*/ 0 w 1295987"/>
              <a:gd name="connsiteY4" fmla="*/ 2111996 h 211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987" h="2111996">
                <a:moveTo>
                  <a:pt x="0" y="2111996"/>
                </a:moveTo>
                <a:lnTo>
                  <a:pt x="351973" y="537856"/>
                </a:lnTo>
                <a:lnTo>
                  <a:pt x="1295987" y="0"/>
                </a:lnTo>
                <a:lnTo>
                  <a:pt x="953754" y="1485311"/>
                </a:lnTo>
                <a:lnTo>
                  <a:pt x="0" y="2111996"/>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1D95909-75A4-F247-8671-0694C893C8E6}"/>
              </a:ext>
            </a:extLst>
          </p:cNvPr>
          <p:cNvSpPr>
            <a:spLocks noChangeAspect="1"/>
          </p:cNvSpPr>
          <p:nvPr/>
        </p:nvSpPr>
        <p:spPr>
          <a:xfrm>
            <a:off x="7035881" y="203149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F7727B08-EBC2-9A4F-8228-697836BCB6A8}"/>
              </a:ext>
            </a:extLst>
          </p:cNvPr>
          <p:cNvCxnSpPr>
            <a:cxnSpLocks/>
          </p:cNvCxnSpPr>
          <p:nvPr/>
        </p:nvCxnSpPr>
        <p:spPr>
          <a:xfrm>
            <a:off x="8964414" y="391036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D007043-7D31-D047-B1EE-09B594EEB781}"/>
              </a:ext>
            </a:extLst>
          </p:cNvPr>
          <p:cNvSpPr/>
          <p:nvPr/>
        </p:nvSpPr>
        <p:spPr>
          <a:xfrm>
            <a:off x="7801518" y="2055244"/>
            <a:ext cx="2356701" cy="1167396"/>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FBE11F57-359C-7B44-B146-EEE4092782CB}"/>
              </a:ext>
            </a:extLst>
          </p:cNvPr>
          <p:cNvSpPr/>
          <p:nvPr/>
        </p:nvSpPr>
        <p:spPr>
          <a:xfrm rot="9527851" flipH="1">
            <a:off x="7979944" y="1961888"/>
            <a:ext cx="1832329" cy="3932958"/>
          </a:xfrm>
          <a:prstGeom prst="arc">
            <a:avLst>
              <a:gd name="adj1" fmla="val 16079390"/>
              <a:gd name="adj2" fmla="val 4769972"/>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EE97122-B6A3-274A-9E69-C5400475CEC0}"/>
                  </a:ext>
                </a:extLst>
              </p:cNvPr>
              <p:cNvSpPr/>
              <p:nvPr/>
            </p:nvSpPr>
            <p:spPr>
              <a:xfrm>
                <a:off x="9825747" y="2979252"/>
                <a:ext cx="63113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𝑆</m:t>
                          </m:r>
                        </m:e>
                      </m:d>
                    </m:oMath>
                  </m:oMathPara>
                </a14:m>
                <a:endParaRPr lang="en-US" sz="2400" dirty="0"/>
              </a:p>
            </p:txBody>
          </p:sp>
        </mc:Choice>
        <mc:Fallback xmlns="">
          <p:sp>
            <p:nvSpPr>
              <p:cNvPr id="27" name="Rectangle 26">
                <a:extLst>
                  <a:ext uri="{FF2B5EF4-FFF2-40B4-BE49-F238E27FC236}">
                    <a16:creationId xmlns:a16="http://schemas.microsoft.com/office/drawing/2014/main" id="{CEE97122-B6A3-274A-9E69-C5400475CEC0}"/>
                  </a:ext>
                </a:extLst>
              </p:cNvPr>
              <p:cNvSpPr>
                <a:spLocks noRot="1" noChangeAspect="1" noMove="1" noResize="1" noEditPoints="1" noAdjustHandles="1" noChangeArrowheads="1" noChangeShapeType="1" noTextEdit="1"/>
              </p:cNvSpPr>
              <p:nvPr/>
            </p:nvSpPr>
            <p:spPr>
              <a:xfrm>
                <a:off x="9825747" y="2979252"/>
                <a:ext cx="631134" cy="461665"/>
              </a:xfrm>
              <a:prstGeom prst="rect">
                <a:avLst/>
              </a:prstGeom>
              <a:blipFill>
                <a:blip r:embed="rId16"/>
                <a:stretch>
                  <a:fillRect/>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7D6CAF44-8A5C-034A-A118-085850F29B52}"/>
              </a:ext>
            </a:extLst>
          </p:cNvPr>
          <p:cNvSpPr/>
          <p:nvPr/>
        </p:nvSpPr>
        <p:spPr>
          <a:xfrm>
            <a:off x="8819115" y="229420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DBE92BC-B6BD-6940-9FC6-3C61F0D9EF5B}"/>
              </a:ext>
            </a:extLst>
          </p:cNvPr>
          <p:cNvSpPr/>
          <p:nvPr/>
        </p:nvSpPr>
        <p:spPr>
          <a:xfrm>
            <a:off x="8819482" y="534774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270AF3D-5D2D-7E47-AC1A-06DB8935A82B}"/>
                  </a:ext>
                </a:extLst>
              </p:cNvPr>
              <p:cNvSpPr txBox="1"/>
              <p:nvPr/>
            </p:nvSpPr>
            <p:spPr>
              <a:xfrm>
                <a:off x="7145008" y="5144212"/>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50" name="TextBox 49">
                <a:extLst>
                  <a:ext uri="{FF2B5EF4-FFF2-40B4-BE49-F238E27FC236}">
                    <a16:creationId xmlns:a16="http://schemas.microsoft.com/office/drawing/2014/main" id="{0270AF3D-5D2D-7E47-AC1A-06DB8935A82B}"/>
                  </a:ext>
                </a:extLst>
              </p:cNvPr>
              <p:cNvSpPr txBox="1">
                <a:spLocks noRot="1" noChangeAspect="1" noMove="1" noResize="1" noEditPoints="1" noAdjustHandles="1" noChangeArrowheads="1" noChangeShapeType="1" noTextEdit="1"/>
              </p:cNvSpPr>
              <p:nvPr/>
            </p:nvSpPr>
            <p:spPr>
              <a:xfrm>
                <a:off x="7145008" y="5144212"/>
                <a:ext cx="426399"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99A65D6-F7DE-AB4A-A6EF-EBBACF75A5DE}"/>
                  </a:ext>
                </a:extLst>
              </p:cNvPr>
              <p:cNvSpPr txBox="1"/>
              <p:nvPr/>
            </p:nvSpPr>
            <p:spPr>
              <a:xfrm>
                <a:off x="8573812" y="144448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51" name="TextBox 50">
                <a:extLst>
                  <a:ext uri="{FF2B5EF4-FFF2-40B4-BE49-F238E27FC236}">
                    <a16:creationId xmlns:a16="http://schemas.microsoft.com/office/drawing/2014/main" id="{999A65D6-F7DE-AB4A-A6EF-EBBACF75A5DE}"/>
                  </a:ext>
                </a:extLst>
              </p:cNvPr>
              <p:cNvSpPr txBox="1">
                <a:spLocks noRot="1" noChangeAspect="1" noMove="1" noResize="1" noEditPoints="1" noAdjustHandles="1" noChangeArrowheads="1" noChangeShapeType="1" noTextEdit="1"/>
              </p:cNvSpPr>
              <p:nvPr/>
            </p:nvSpPr>
            <p:spPr>
              <a:xfrm>
                <a:off x="8573812" y="1444483"/>
                <a:ext cx="367985"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62CF359-3C1A-5C4F-9380-FAE12B471D91}"/>
                  </a:ext>
                </a:extLst>
              </p:cNvPr>
              <p:cNvSpPr txBox="1"/>
              <p:nvPr/>
            </p:nvSpPr>
            <p:spPr>
              <a:xfrm>
                <a:off x="11013876" y="4124976"/>
                <a:ext cx="4303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52" name="TextBox 51">
                <a:extLst>
                  <a:ext uri="{FF2B5EF4-FFF2-40B4-BE49-F238E27FC236}">
                    <a16:creationId xmlns:a16="http://schemas.microsoft.com/office/drawing/2014/main" id="{D62CF359-3C1A-5C4F-9380-FAE12B471D91}"/>
                  </a:ext>
                </a:extLst>
              </p:cNvPr>
              <p:cNvSpPr txBox="1">
                <a:spLocks noRot="1" noChangeAspect="1" noMove="1" noResize="1" noEditPoints="1" noAdjustHandles="1" noChangeArrowheads="1" noChangeShapeType="1" noTextEdit="1"/>
              </p:cNvSpPr>
              <p:nvPr/>
            </p:nvSpPr>
            <p:spPr>
              <a:xfrm>
                <a:off x="11013876" y="4124976"/>
                <a:ext cx="430374" cy="461665"/>
              </a:xfrm>
              <a:prstGeom prst="rect">
                <a:avLst/>
              </a:prstGeom>
              <a:blipFill>
                <a:blip r:embed="rId19"/>
                <a:stretch>
                  <a:fillRect b="-8108"/>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5AEDD25-7AE8-C04D-90FE-1B6DEA3EBF20}"/>
              </a:ext>
            </a:extLst>
          </p:cNvPr>
          <p:cNvCxnSpPr>
            <a:cxnSpLocks/>
          </p:cNvCxnSpPr>
          <p:nvPr/>
        </p:nvCxnSpPr>
        <p:spPr>
          <a:xfrm flipH="1" flipV="1">
            <a:off x="7738677" y="350049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BD96C0C-B6D4-FE4E-9168-1DE372082CDB}"/>
              </a:ext>
            </a:extLst>
          </p:cNvPr>
          <p:cNvCxnSpPr>
            <a:cxnSpLocks/>
            <a:stCxn id="36" idx="0"/>
          </p:cNvCxnSpPr>
          <p:nvPr/>
        </p:nvCxnSpPr>
        <p:spPr>
          <a:xfrm flipH="1" flipV="1">
            <a:off x="8965551" y="3936603"/>
            <a:ext cx="14082" cy="1411140"/>
          </a:xfrm>
          <a:prstGeom prst="line">
            <a:avLst/>
          </a:prstGeom>
          <a:ln w="25400">
            <a:solidFill>
              <a:srgbClr val="04AF70"/>
            </a:solidFill>
            <a:prstDash val="solid"/>
            <a:headEnd type="triangle"/>
            <a:tailEnd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6CC21F9F-3B6A-4648-AC81-9DEF55254B2E}"/>
                  </a:ext>
                </a:extLst>
              </p:cNvPr>
              <p:cNvSpPr/>
              <p:nvPr/>
            </p:nvSpPr>
            <p:spPr>
              <a:xfrm>
                <a:off x="8923339" y="147057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73" name="Rectangle 72">
                <a:extLst>
                  <a:ext uri="{FF2B5EF4-FFF2-40B4-BE49-F238E27FC236}">
                    <a16:creationId xmlns:a16="http://schemas.microsoft.com/office/drawing/2014/main" id="{6CC21F9F-3B6A-4648-AC81-9DEF55254B2E}"/>
                  </a:ext>
                </a:extLst>
              </p:cNvPr>
              <p:cNvSpPr>
                <a:spLocks noRot="1" noChangeAspect="1" noMove="1" noResize="1" noEditPoints="1" noAdjustHandles="1" noChangeArrowheads="1" noChangeShapeType="1" noTextEdit="1"/>
              </p:cNvSpPr>
              <p:nvPr/>
            </p:nvSpPr>
            <p:spPr>
              <a:xfrm>
                <a:off x="8923339" y="1470573"/>
                <a:ext cx="707886" cy="52322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DE128EF2-98A3-E247-B560-0D74162277C4}"/>
                  </a:ext>
                </a:extLst>
              </p:cNvPr>
              <p:cNvSpPr/>
              <p:nvPr/>
            </p:nvSpPr>
            <p:spPr>
              <a:xfrm>
                <a:off x="8671666" y="555620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1</m:t>
                          </m:r>
                        </m:e>
                      </m:d>
                    </m:oMath>
                  </m:oMathPara>
                </a14:m>
                <a:endParaRPr lang="en-US" sz="2800" dirty="0"/>
              </a:p>
            </p:txBody>
          </p:sp>
        </mc:Choice>
        <mc:Fallback xmlns="">
          <p:sp>
            <p:nvSpPr>
              <p:cNvPr id="74" name="Rectangle 73">
                <a:extLst>
                  <a:ext uri="{FF2B5EF4-FFF2-40B4-BE49-F238E27FC236}">
                    <a16:creationId xmlns:a16="http://schemas.microsoft.com/office/drawing/2014/main" id="{DE128EF2-98A3-E247-B560-0D74162277C4}"/>
                  </a:ext>
                </a:extLst>
              </p:cNvPr>
              <p:cNvSpPr>
                <a:spLocks noRot="1" noChangeAspect="1" noMove="1" noResize="1" noEditPoints="1" noAdjustHandles="1" noChangeArrowheads="1" noChangeShapeType="1" noTextEdit="1"/>
              </p:cNvSpPr>
              <p:nvPr/>
            </p:nvSpPr>
            <p:spPr>
              <a:xfrm>
                <a:off x="8671666" y="5556208"/>
                <a:ext cx="707886" cy="523220"/>
              </a:xfrm>
              <a:prstGeom prst="rect">
                <a:avLst/>
              </a:prstGeom>
              <a:blipFill>
                <a:blip r:embed="rId21"/>
                <a:stretch>
                  <a:fillRect/>
                </a:stretch>
              </a:blipFill>
            </p:spPr>
            <p:txBody>
              <a:bodyPr/>
              <a:lstStyle/>
              <a:p>
                <a:r>
                  <a:rPr lang="en-US">
                    <a:noFill/>
                  </a:rPr>
                  <a:t> </a:t>
                </a:r>
              </a:p>
            </p:txBody>
          </p:sp>
        </mc:Fallback>
      </mc:AlternateContent>
      <p:cxnSp>
        <p:nvCxnSpPr>
          <p:cNvPr id="91" name="Straight Connector 90">
            <a:extLst>
              <a:ext uri="{FF2B5EF4-FFF2-40B4-BE49-F238E27FC236}">
                <a16:creationId xmlns:a16="http://schemas.microsoft.com/office/drawing/2014/main" id="{7F47E0A1-032D-0A45-8C87-4D2436F54FC4}"/>
              </a:ext>
            </a:extLst>
          </p:cNvPr>
          <p:cNvCxnSpPr>
            <a:cxnSpLocks/>
          </p:cNvCxnSpPr>
          <p:nvPr/>
        </p:nvCxnSpPr>
        <p:spPr>
          <a:xfrm>
            <a:off x="9025609" y="3979426"/>
            <a:ext cx="676711" cy="59657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DDAB8E5-1E0C-2A40-B1A8-D54B8E62B921}"/>
              </a:ext>
            </a:extLst>
          </p:cNvPr>
          <p:cNvCxnSpPr>
            <a:cxnSpLocks/>
          </p:cNvCxnSpPr>
          <p:nvPr/>
        </p:nvCxnSpPr>
        <p:spPr>
          <a:xfrm>
            <a:off x="9693129" y="3444410"/>
            <a:ext cx="0" cy="107777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915E717D-F4D3-FB47-8078-7209AA2FC550}"/>
                  </a:ext>
                </a:extLst>
              </p:cNvPr>
              <p:cNvSpPr txBox="1"/>
              <p:nvPr/>
            </p:nvSpPr>
            <p:spPr>
              <a:xfrm>
                <a:off x="8795646" y="4099616"/>
                <a:ext cx="46859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2400" i="1">
                          <a:latin typeface="Cambria Math" panose="02040503050406030204" pitchFamily="18" charset="0"/>
                          <a:ea typeface="Cambria Math" panose="02040503050406030204" pitchFamily="18" charset="0"/>
                        </a:rPr>
                        <m:t>𝜑</m:t>
                      </m:r>
                    </m:oMath>
                  </m:oMathPara>
                </a14:m>
                <a:endParaRPr lang="en-US" sz="2400" dirty="0"/>
              </a:p>
            </p:txBody>
          </p:sp>
        </mc:Choice>
        <mc:Fallback xmlns="">
          <p:sp>
            <p:nvSpPr>
              <p:cNvPr id="97" name="TextBox 96">
                <a:extLst>
                  <a:ext uri="{FF2B5EF4-FFF2-40B4-BE49-F238E27FC236}">
                    <a16:creationId xmlns:a16="http://schemas.microsoft.com/office/drawing/2014/main" id="{915E717D-F4D3-FB47-8078-7209AA2FC550}"/>
                  </a:ext>
                </a:extLst>
              </p:cNvPr>
              <p:cNvSpPr txBox="1">
                <a:spLocks noRot="1" noChangeAspect="1" noMove="1" noResize="1" noEditPoints="1" noAdjustHandles="1" noChangeArrowheads="1" noChangeShapeType="1" noTextEdit="1"/>
              </p:cNvSpPr>
              <p:nvPr/>
            </p:nvSpPr>
            <p:spPr>
              <a:xfrm>
                <a:off x="8795646" y="4099616"/>
                <a:ext cx="468590" cy="461665"/>
              </a:xfrm>
              <a:prstGeom prst="rect">
                <a:avLst/>
              </a:prstGeom>
              <a:blipFill>
                <a:blip r:embed="rId22"/>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4414E890-F70A-9146-9B19-48BD3CAF9227}"/>
                  </a:ext>
                </a:extLst>
              </p:cNvPr>
              <p:cNvSpPr txBox="1"/>
              <p:nvPr/>
            </p:nvSpPr>
            <p:spPr>
              <a:xfrm>
                <a:off x="8839701" y="3433304"/>
                <a:ext cx="50308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2400" i="1">
                          <a:latin typeface="Cambria Math" panose="02040503050406030204" pitchFamily="18" charset="0"/>
                          <a:ea typeface="Cambria Math" panose="02040503050406030204" pitchFamily="18" charset="0"/>
                        </a:rPr>
                        <m:t> </m:t>
                      </m:r>
                      <m:r>
                        <a:rPr lang="el-GR" sz="2400" i="1">
                          <a:latin typeface="Cambria Math" panose="02040503050406030204" pitchFamily="18" charset="0"/>
                          <a:ea typeface="Cambria Math" panose="02040503050406030204" pitchFamily="18" charset="0"/>
                        </a:rPr>
                        <m:t>𝜃</m:t>
                      </m:r>
                    </m:oMath>
                  </m:oMathPara>
                </a14:m>
                <a:endParaRPr lang="en-US" sz="2400" dirty="0"/>
              </a:p>
            </p:txBody>
          </p:sp>
        </mc:Choice>
        <mc:Fallback xmlns="">
          <p:sp>
            <p:nvSpPr>
              <p:cNvPr id="99" name="TextBox 98">
                <a:extLst>
                  <a:ext uri="{FF2B5EF4-FFF2-40B4-BE49-F238E27FC236}">
                    <a16:creationId xmlns:a16="http://schemas.microsoft.com/office/drawing/2014/main" id="{4414E890-F70A-9146-9B19-48BD3CAF9227}"/>
                  </a:ext>
                </a:extLst>
              </p:cNvPr>
              <p:cNvSpPr txBox="1">
                <a:spLocks noRot="1" noChangeAspect="1" noMove="1" noResize="1" noEditPoints="1" noAdjustHandles="1" noChangeArrowheads="1" noChangeShapeType="1" noTextEdit="1"/>
              </p:cNvSpPr>
              <p:nvPr/>
            </p:nvSpPr>
            <p:spPr>
              <a:xfrm>
                <a:off x="8839701" y="3433304"/>
                <a:ext cx="503086" cy="461665"/>
              </a:xfrm>
              <a:prstGeom prst="rect">
                <a:avLst/>
              </a:prstGeom>
              <a:blipFill>
                <a:blip r:embed="rId23"/>
                <a:stretch>
                  <a:fillRect l="-7500" b="-18421"/>
                </a:stretch>
              </a:blipFill>
            </p:spPr>
            <p:txBody>
              <a:bodyPr/>
              <a:lstStyle/>
              <a:p>
                <a:r>
                  <a:rPr lang="en-US">
                    <a:noFill/>
                  </a:rPr>
                  <a:t> </a:t>
                </a:r>
              </a:p>
            </p:txBody>
          </p:sp>
        </mc:Fallback>
      </mc:AlternateContent>
      <p:sp>
        <p:nvSpPr>
          <p:cNvPr id="102" name="Freeform 101">
            <a:extLst>
              <a:ext uri="{FF2B5EF4-FFF2-40B4-BE49-F238E27FC236}">
                <a16:creationId xmlns:a16="http://schemas.microsoft.com/office/drawing/2014/main" id="{C9D6CE09-3785-FA43-91ED-F7F9843ED876}"/>
              </a:ext>
            </a:extLst>
          </p:cNvPr>
          <p:cNvSpPr/>
          <p:nvPr/>
        </p:nvSpPr>
        <p:spPr>
          <a:xfrm rot="1218765" flipH="1" flipV="1">
            <a:off x="8949930" y="3486463"/>
            <a:ext cx="452846" cy="137978"/>
          </a:xfrm>
          <a:custGeom>
            <a:avLst/>
            <a:gdLst>
              <a:gd name="connsiteX0" fmla="*/ 0 w 517676"/>
              <a:gd name="connsiteY0" fmla="*/ 9676 h 96804"/>
              <a:gd name="connsiteX1" fmla="*/ 193523 w 517676"/>
              <a:gd name="connsiteY1" fmla="*/ 96762 h 96804"/>
              <a:gd name="connsiteX2" fmla="*/ 517676 w 517676"/>
              <a:gd name="connsiteY2" fmla="*/ 0 h 96804"/>
              <a:gd name="connsiteX0" fmla="*/ 0 w 517676"/>
              <a:gd name="connsiteY0" fmla="*/ 9676 h 82309"/>
              <a:gd name="connsiteX1" fmla="*/ 237065 w 517676"/>
              <a:gd name="connsiteY1" fmla="*/ 82247 h 82309"/>
              <a:gd name="connsiteX2" fmla="*/ 517676 w 517676"/>
              <a:gd name="connsiteY2" fmla="*/ 0 h 82309"/>
              <a:gd name="connsiteX0" fmla="*/ 0 w 517676"/>
              <a:gd name="connsiteY0" fmla="*/ 9676 h 56009"/>
              <a:gd name="connsiteX1" fmla="*/ 301973 w 517676"/>
              <a:gd name="connsiteY1" fmla="*/ 55703 h 56009"/>
              <a:gd name="connsiteX2" fmla="*/ 517676 w 517676"/>
              <a:gd name="connsiteY2" fmla="*/ 0 h 56009"/>
              <a:gd name="connsiteX0" fmla="*/ 0 w 517676"/>
              <a:gd name="connsiteY0" fmla="*/ 9676 h 62500"/>
              <a:gd name="connsiteX1" fmla="*/ 256537 w 517676"/>
              <a:gd name="connsiteY1" fmla="*/ 62339 h 62500"/>
              <a:gd name="connsiteX2" fmla="*/ 517676 w 517676"/>
              <a:gd name="connsiteY2" fmla="*/ 0 h 62500"/>
            </a:gdLst>
            <a:ahLst/>
            <a:cxnLst>
              <a:cxn ang="0">
                <a:pos x="connsiteX0" y="connsiteY0"/>
              </a:cxn>
              <a:cxn ang="0">
                <a:pos x="connsiteX1" y="connsiteY1"/>
              </a:cxn>
              <a:cxn ang="0">
                <a:pos x="connsiteX2" y="connsiteY2"/>
              </a:cxn>
            </a:cxnLst>
            <a:rect l="l" t="t" r="r" b="b"/>
            <a:pathLst>
              <a:path w="517676" h="62500">
                <a:moveTo>
                  <a:pt x="0" y="9676"/>
                </a:moveTo>
                <a:cubicBezTo>
                  <a:pt x="53622" y="54025"/>
                  <a:pt x="170258" y="63952"/>
                  <a:pt x="256537" y="62339"/>
                </a:cubicBezTo>
                <a:cubicBezTo>
                  <a:pt x="342816" y="60726"/>
                  <a:pt x="398739" y="47574"/>
                  <a:pt x="51767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985F1127-A949-5C42-AD79-E867AB9F70D6}"/>
              </a:ext>
            </a:extLst>
          </p:cNvPr>
          <p:cNvSpPr txBox="1"/>
          <p:nvPr/>
        </p:nvSpPr>
        <p:spPr>
          <a:xfrm>
            <a:off x="10062058" y="6044890"/>
            <a:ext cx="1799660" cy="461665"/>
          </a:xfrm>
          <a:prstGeom prst="rect">
            <a:avLst/>
          </a:prstGeom>
          <a:noFill/>
        </p:spPr>
        <p:txBody>
          <a:bodyPr wrap="none" rtlCol="0">
            <a:spAutoFit/>
          </a:bodyPr>
          <a:lstStyle/>
          <a:p>
            <a:r>
              <a:rPr lang="en-US" sz="2400" dirty="0"/>
              <a:t>Bloch sphere</a:t>
            </a:r>
          </a:p>
        </p:txBody>
      </p:sp>
      <p:sp>
        <p:nvSpPr>
          <p:cNvPr id="110" name="Parallelogram 109">
            <a:extLst>
              <a:ext uri="{FF2B5EF4-FFF2-40B4-BE49-F238E27FC236}">
                <a16:creationId xmlns:a16="http://schemas.microsoft.com/office/drawing/2014/main" id="{AC21036A-3FB9-F547-8C00-C7C936553EC9}"/>
              </a:ext>
            </a:extLst>
          </p:cNvPr>
          <p:cNvSpPr/>
          <p:nvPr/>
        </p:nvSpPr>
        <p:spPr>
          <a:xfrm rot="21030453">
            <a:off x="7951175" y="2464707"/>
            <a:ext cx="1224933" cy="2232511"/>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F3ED8609-E687-3E4C-B64D-FE53FB6F7744}"/>
              </a:ext>
            </a:extLst>
          </p:cNvPr>
          <p:cNvCxnSpPr>
            <a:cxnSpLocks/>
          </p:cNvCxnSpPr>
          <p:nvPr/>
        </p:nvCxnSpPr>
        <p:spPr>
          <a:xfrm flipH="1">
            <a:off x="7492601" y="3910704"/>
            <a:ext cx="1477841" cy="1630701"/>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44CD0BC-1989-3E45-ADE1-8D4443785752}"/>
              </a:ext>
            </a:extLst>
          </p:cNvPr>
          <p:cNvCxnSpPr>
            <a:cxnSpLocks/>
          </p:cNvCxnSpPr>
          <p:nvPr/>
        </p:nvCxnSpPr>
        <p:spPr>
          <a:xfrm flipV="1">
            <a:off x="8970443" y="170615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B38DB5-73C7-3F4A-9188-238D1A60E130}"/>
              </a:ext>
            </a:extLst>
          </p:cNvPr>
          <p:cNvCxnSpPr>
            <a:cxnSpLocks/>
          </p:cNvCxnSpPr>
          <p:nvPr/>
        </p:nvCxnSpPr>
        <p:spPr>
          <a:xfrm flipV="1">
            <a:off x="8979868" y="3462434"/>
            <a:ext cx="713261" cy="457699"/>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14" name="Arc 113">
            <a:extLst>
              <a:ext uri="{FF2B5EF4-FFF2-40B4-BE49-F238E27FC236}">
                <a16:creationId xmlns:a16="http://schemas.microsoft.com/office/drawing/2014/main" id="{B18D6638-A532-8A49-8EF7-42CB94279FEB}"/>
              </a:ext>
            </a:extLst>
          </p:cNvPr>
          <p:cNvSpPr/>
          <p:nvPr/>
        </p:nvSpPr>
        <p:spPr>
          <a:xfrm rot="10420827">
            <a:off x="8769978" y="3992785"/>
            <a:ext cx="581756" cy="233056"/>
          </a:xfrm>
          <a:prstGeom prst="arc">
            <a:avLst>
              <a:gd name="adj1" fmla="val 12730472"/>
              <a:gd name="adj2" fmla="val 2156796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2639A93D-1E72-DD4A-8144-5A2797278792}"/>
              </a:ext>
            </a:extLst>
          </p:cNvPr>
          <p:cNvCxnSpPr>
            <a:cxnSpLocks/>
            <a:endCxn id="110" idx="2"/>
          </p:cNvCxnSpPr>
          <p:nvPr/>
        </p:nvCxnSpPr>
        <p:spPr>
          <a:xfrm flipV="1">
            <a:off x="8972592" y="2378985"/>
            <a:ext cx="0" cy="1541148"/>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EB15914-7A80-914B-89FF-E4FF7C996CCD}"/>
              </a:ext>
            </a:extLst>
          </p:cNvPr>
          <p:cNvSpPr txBox="1"/>
          <p:nvPr/>
        </p:nvSpPr>
        <p:spPr>
          <a:xfrm>
            <a:off x="1983476" y="6034456"/>
            <a:ext cx="1391728" cy="461665"/>
          </a:xfrm>
          <a:prstGeom prst="rect">
            <a:avLst/>
          </a:prstGeom>
          <a:noFill/>
        </p:spPr>
        <p:txBody>
          <a:bodyPr wrap="none" rtlCol="0">
            <a:spAutoFit/>
          </a:bodyPr>
          <a:lstStyle/>
          <a:p>
            <a:r>
              <a:rPr lang="en-US" sz="2400" dirty="0"/>
              <a:t>2D model</a:t>
            </a:r>
          </a:p>
        </p:txBody>
      </p:sp>
    </p:spTree>
    <p:extLst>
      <p:ext uri="{BB962C8B-B14F-4D97-AF65-F5344CB8AC3E}">
        <p14:creationId xmlns:p14="http://schemas.microsoft.com/office/powerpoint/2010/main" val="1869508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5E3684-F255-124D-BDC9-7D0770DAF4DC}"/>
              </a:ext>
            </a:extLst>
          </p:cNvPr>
          <p:cNvSpPr>
            <a:spLocks noGrp="1"/>
          </p:cNvSpPr>
          <p:nvPr>
            <p:ph type="sldNum" sz="quarter" idx="12"/>
          </p:nvPr>
        </p:nvSpPr>
        <p:spPr/>
        <p:txBody>
          <a:bodyPr/>
          <a:lstStyle/>
          <a:p>
            <a:fld id="{591A223C-FA10-BC46-A853-03BA373D023C}" type="slidenum">
              <a:rPr lang="en-US" smtClean="0"/>
              <a:t>16</a:t>
            </a:fld>
            <a:endParaRPr lang="en-US"/>
          </a:p>
        </p:txBody>
      </p:sp>
      <p:sp>
        <p:nvSpPr>
          <p:cNvPr id="3" name="Title 2">
            <a:extLst>
              <a:ext uri="{FF2B5EF4-FFF2-40B4-BE49-F238E27FC236}">
                <a16:creationId xmlns:a16="http://schemas.microsoft.com/office/drawing/2014/main" id="{DB9FD14F-2143-5C41-8945-C596ACF6733D}"/>
              </a:ext>
            </a:extLst>
          </p:cNvPr>
          <p:cNvSpPr>
            <a:spLocks noGrp="1"/>
          </p:cNvSpPr>
          <p:nvPr>
            <p:ph type="title"/>
          </p:nvPr>
        </p:nvSpPr>
        <p:spPr/>
        <p:txBody>
          <a:bodyPr/>
          <a:lstStyle/>
          <a:p>
            <a:r>
              <a:rPr lang="en-ZA" b="1" dirty="0"/>
              <a:t>From a 2D Model to the Bloch Sphere</a:t>
            </a:r>
            <a:endParaRPr lang="en-US" dirty="0"/>
          </a:p>
        </p:txBody>
      </p:sp>
      <p:sp>
        <p:nvSpPr>
          <p:cNvPr id="4" name="Oval 3">
            <a:extLst>
              <a:ext uri="{FF2B5EF4-FFF2-40B4-BE49-F238E27FC236}">
                <a16:creationId xmlns:a16="http://schemas.microsoft.com/office/drawing/2014/main" id="{2666C113-8BD0-8847-9886-421139BA2C3A}"/>
              </a:ext>
            </a:extLst>
          </p:cNvPr>
          <p:cNvSpPr/>
          <p:nvPr/>
        </p:nvSpPr>
        <p:spPr>
          <a:xfrm>
            <a:off x="381587" y="2283166"/>
            <a:ext cx="2992675" cy="1137366"/>
          </a:xfrm>
          <a:prstGeom prst="ellipse">
            <a:avLst/>
          </a:prstGeom>
          <a:solidFill>
            <a:schemeClr val="accent4">
              <a:lumMod val="20000"/>
              <a:lumOff val="80000"/>
              <a:alpha val="54000"/>
            </a:schemeClr>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arallelogram 109">
            <a:extLst>
              <a:ext uri="{FF2B5EF4-FFF2-40B4-BE49-F238E27FC236}">
                <a16:creationId xmlns:a16="http://schemas.microsoft.com/office/drawing/2014/main" id="{8C109F14-916C-A044-A703-217A590D9E2B}"/>
              </a:ext>
            </a:extLst>
          </p:cNvPr>
          <p:cNvSpPr/>
          <p:nvPr/>
        </p:nvSpPr>
        <p:spPr>
          <a:xfrm rot="21030453">
            <a:off x="1737258" y="1076667"/>
            <a:ext cx="749805" cy="1640405"/>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987" h="2111996">
                <a:moveTo>
                  <a:pt x="0" y="2111996"/>
                </a:moveTo>
                <a:lnTo>
                  <a:pt x="351973" y="537856"/>
                </a:lnTo>
                <a:lnTo>
                  <a:pt x="1295987" y="0"/>
                </a:lnTo>
                <a:lnTo>
                  <a:pt x="949042" y="1411713"/>
                </a:lnTo>
                <a:lnTo>
                  <a:pt x="0" y="2111996"/>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EA95DCB-4875-E14F-BA5A-6F32D524EA55}"/>
              </a:ext>
            </a:extLst>
          </p:cNvPr>
          <p:cNvSpPr>
            <a:spLocks noChangeAspect="1"/>
          </p:cNvSpPr>
          <p:nvPr/>
        </p:nvSpPr>
        <p:spPr>
          <a:xfrm>
            <a:off x="366277" y="1246328"/>
            <a:ext cx="2995816" cy="29958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A4095DB-061B-A847-9CB9-0AAD156A9C97}"/>
              </a:ext>
            </a:extLst>
          </p:cNvPr>
          <p:cNvCxnSpPr>
            <a:cxnSpLocks/>
          </p:cNvCxnSpPr>
          <p:nvPr/>
        </p:nvCxnSpPr>
        <p:spPr>
          <a:xfrm>
            <a:off x="1864184" y="2705658"/>
            <a:ext cx="1677231" cy="54208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9DD0DB0-018B-034E-B2E7-353E674A8C19}"/>
              </a:ext>
            </a:extLst>
          </p:cNvPr>
          <p:cNvSpPr/>
          <p:nvPr/>
        </p:nvSpPr>
        <p:spPr>
          <a:xfrm>
            <a:off x="960953" y="1259442"/>
            <a:ext cx="1830469" cy="926317"/>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a:extLst>
              <a:ext uri="{FF2B5EF4-FFF2-40B4-BE49-F238E27FC236}">
                <a16:creationId xmlns:a16="http://schemas.microsoft.com/office/drawing/2014/main" id="{A309AFDE-46E9-1347-B9BE-D1EA7FFBB538}"/>
              </a:ext>
            </a:extLst>
          </p:cNvPr>
          <p:cNvSpPr/>
          <p:nvPr/>
        </p:nvSpPr>
        <p:spPr>
          <a:xfrm rot="9527851" flipH="1">
            <a:off x="1099538" y="1192262"/>
            <a:ext cx="1423185" cy="3054761"/>
          </a:xfrm>
          <a:prstGeom prst="arc">
            <a:avLst>
              <a:gd name="adj1" fmla="val 16079390"/>
              <a:gd name="adj2" fmla="val 4769972"/>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7AC4DBD-9EFC-9D49-BB25-0CB20190D33E}"/>
                  </a:ext>
                </a:extLst>
              </p:cNvPr>
              <p:cNvSpPr/>
              <p:nvPr/>
            </p:nvSpPr>
            <p:spPr>
              <a:xfrm>
                <a:off x="816331" y="1867217"/>
                <a:ext cx="5198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𝑆</m:t>
                          </m:r>
                        </m:e>
                      </m:d>
                    </m:oMath>
                  </m:oMathPara>
                </a14:m>
                <a:endParaRPr lang="en-US" dirty="0"/>
              </a:p>
            </p:txBody>
          </p:sp>
        </mc:Choice>
        <mc:Fallback xmlns="">
          <p:sp>
            <p:nvSpPr>
              <p:cNvPr id="10" name="Rectangle 9">
                <a:extLst>
                  <a:ext uri="{FF2B5EF4-FFF2-40B4-BE49-F238E27FC236}">
                    <a16:creationId xmlns:a16="http://schemas.microsoft.com/office/drawing/2014/main" id="{E7AC4DBD-9EFC-9D49-BB25-0CB20190D33E}"/>
                  </a:ext>
                </a:extLst>
              </p:cNvPr>
              <p:cNvSpPr>
                <a:spLocks noRot="1" noChangeAspect="1" noMove="1" noResize="1" noEditPoints="1" noAdjustHandles="1" noChangeArrowheads="1" noChangeShapeType="1" noTextEdit="1"/>
              </p:cNvSpPr>
              <p:nvPr/>
            </p:nvSpPr>
            <p:spPr>
              <a:xfrm>
                <a:off x="816331" y="1867217"/>
                <a:ext cx="519886" cy="369332"/>
              </a:xfrm>
              <a:prstGeom prst="rect">
                <a:avLst/>
              </a:prstGeom>
              <a:blipFill>
                <a:blip r:embed="rId3"/>
                <a:stretch>
                  <a:fillRect/>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A56CEA5C-916C-3044-9F58-6B3B7E3F7888}"/>
              </a:ext>
            </a:extLst>
          </p:cNvPr>
          <p:cNvSpPr/>
          <p:nvPr/>
        </p:nvSpPr>
        <p:spPr>
          <a:xfrm>
            <a:off x="1751614" y="3822083"/>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F0FCD0E-33BF-FA4B-9CBE-69DF45DCC7EF}"/>
                  </a:ext>
                </a:extLst>
              </p:cNvPr>
              <p:cNvSpPr txBox="1"/>
              <p:nvPr/>
            </p:nvSpPr>
            <p:spPr>
              <a:xfrm>
                <a:off x="227019" y="3846901"/>
                <a:ext cx="3679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13" name="TextBox 12">
                <a:extLst>
                  <a:ext uri="{FF2B5EF4-FFF2-40B4-BE49-F238E27FC236}">
                    <a16:creationId xmlns:a16="http://schemas.microsoft.com/office/drawing/2014/main" id="{3F0FCD0E-33BF-FA4B-9CBE-69DF45DCC7EF}"/>
                  </a:ext>
                </a:extLst>
              </p:cNvPr>
              <p:cNvSpPr txBox="1">
                <a:spLocks noRot="1" noChangeAspect="1" noMove="1" noResize="1" noEditPoints="1" noAdjustHandles="1" noChangeArrowheads="1" noChangeShapeType="1" noTextEdit="1"/>
              </p:cNvSpPr>
              <p:nvPr/>
            </p:nvSpPr>
            <p:spPr>
              <a:xfrm>
                <a:off x="227019" y="3846901"/>
                <a:ext cx="36798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3AA3492-E29F-2640-9F0A-8DE7CE7EA72F}"/>
                  </a:ext>
                </a:extLst>
              </p:cNvPr>
              <p:cNvSpPr txBox="1"/>
              <p:nvPr/>
            </p:nvSpPr>
            <p:spPr>
              <a:xfrm>
                <a:off x="1560800" y="790389"/>
                <a:ext cx="2858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oMath>
                  </m:oMathPara>
                </a14:m>
                <a:endParaRPr lang="en-US" dirty="0"/>
              </a:p>
            </p:txBody>
          </p:sp>
        </mc:Choice>
        <mc:Fallback xmlns="">
          <p:sp>
            <p:nvSpPr>
              <p:cNvPr id="14" name="TextBox 13">
                <a:extLst>
                  <a:ext uri="{FF2B5EF4-FFF2-40B4-BE49-F238E27FC236}">
                    <a16:creationId xmlns:a16="http://schemas.microsoft.com/office/drawing/2014/main" id="{73AA3492-E29F-2640-9F0A-8DE7CE7EA72F}"/>
                  </a:ext>
                </a:extLst>
              </p:cNvPr>
              <p:cNvSpPr txBox="1">
                <a:spLocks noRot="1" noChangeAspect="1" noMove="1" noResize="1" noEditPoints="1" noAdjustHandles="1" noChangeArrowheads="1" noChangeShapeType="1" noTextEdit="1"/>
              </p:cNvSpPr>
              <p:nvPr/>
            </p:nvSpPr>
            <p:spPr>
              <a:xfrm>
                <a:off x="1560800" y="790389"/>
                <a:ext cx="285817" cy="369332"/>
              </a:xfrm>
              <a:prstGeom prst="rect">
                <a:avLst/>
              </a:prstGeom>
              <a:blipFill>
                <a:blip r:embed="rId5"/>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93F54B4E-AD7A-C14C-948D-D4C72CB04389}"/>
              </a:ext>
            </a:extLst>
          </p:cNvPr>
          <p:cNvCxnSpPr>
            <a:cxnSpLocks/>
          </p:cNvCxnSpPr>
          <p:nvPr/>
        </p:nvCxnSpPr>
        <p:spPr>
          <a:xfrm flipH="1" flipV="1">
            <a:off x="912144" y="2387309"/>
            <a:ext cx="972851" cy="31835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91DCE67-5514-1D40-B0FC-277964CCB69C}"/>
                  </a:ext>
                </a:extLst>
              </p:cNvPr>
              <p:cNvSpPr/>
              <p:nvPr/>
            </p:nvSpPr>
            <p:spPr>
              <a:xfrm>
                <a:off x="1790592" y="9063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0</m:t>
                          </m:r>
                        </m:e>
                      </m:d>
                    </m:oMath>
                  </m:oMathPara>
                </a14:m>
                <a:endParaRPr lang="en-US" dirty="0"/>
              </a:p>
            </p:txBody>
          </p:sp>
        </mc:Choice>
        <mc:Fallback xmlns="">
          <p:sp>
            <p:nvSpPr>
              <p:cNvPr id="18" name="Rectangle 17">
                <a:extLst>
                  <a:ext uri="{FF2B5EF4-FFF2-40B4-BE49-F238E27FC236}">
                    <a16:creationId xmlns:a16="http://schemas.microsoft.com/office/drawing/2014/main" id="{E91DCE67-5514-1D40-B0FC-277964CCB69C}"/>
                  </a:ext>
                </a:extLst>
              </p:cNvPr>
              <p:cNvSpPr>
                <a:spLocks noRot="1" noChangeAspect="1" noMove="1" noResize="1" noEditPoints="1" noAdjustHandles="1" noChangeArrowheads="1" noChangeShapeType="1" noTextEdit="1"/>
              </p:cNvSpPr>
              <p:nvPr/>
            </p:nvSpPr>
            <p:spPr>
              <a:xfrm>
                <a:off x="1790592" y="906391"/>
                <a:ext cx="521810" cy="369332"/>
              </a:xfrm>
              <a:prstGeom prst="rect">
                <a:avLst/>
              </a:prstGeom>
              <a:blipFill>
                <a:blip r:embed="rId6"/>
                <a:stretch>
                  <a:fillRect/>
                </a:stretch>
              </a:blipFill>
            </p:spPr>
            <p:txBody>
              <a:bodyPr/>
              <a:lstStyle/>
              <a:p>
                <a:r>
                  <a:rPr lang="en-US">
                    <a:noFill/>
                  </a:rPr>
                  <a:t> </a:t>
                </a:r>
              </a:p>
            </p:txBody>
          </p:sp>
        </mc:Fallback>
      </mc:AlternateContent>
      <p:sp>
        <p:nvSpPr>
          <p:cNvPr id="25" name="Parallelogram 109">
            <a:extLst>
              <a:ext uri="{FF2B5EF4-FFF2-40B4-BE49-F238E27FC236}">
                <a16:creationId xmlns:a16="http://schemas.microsoft.com/office/drawing/2014/main" id="{B602A457-FBDA-DA44-AF25-64A6ABBB098E}"/>
              </a:ext>
            </a:extLst>
          </p:cNvPr>
          <p:cNvSpPr/>
          <p:nvPr/>
        </p:nvSpPr>
        <p:spPr>
          <a:xfrm rot="21030453">
            <a:off x="1077193" y="1582805"/>
            <a:ext cx="951416" cy="1734010"/>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0EB71E63-7E4C-C740-9871-044EDEFFB1CC}"/>
                  </a:ext>
                </a:extLst>
              </p:cNvPr>
              <p:cNvSpPr/>
              <p:nvPr/>
            </p:nvSpPr>
            <p:spPr>
              <a:xfrm>
                <a:off x="1021108" y="3357750"/>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1</m:t>
                          </m:r>
                        </m:e>
                      </m:d>
                    </m:oMath>
                  </m:oMathPara>
                </a14:m>
                <a:endParaRPr lang="en-US" dirty="0"/>
              </a:p>
            </p:txBody>
          </p:sp>
        </mc:Choice>
        <mc:Fallback xmlns="">
          <p:sp>
            <p:nvSpPr>
              <p:cNvPr id="19" name="Rectangle 18">
                <a:extLst>
                  <a:ext uri="{FF2B5EF4-FFF2-40B4-BE49-F238E27FC236}">
                    <a16:creationId xmlns:a16="http://schemas.microsoft.com/office/drawing/2014/main" id="{0EB71E63-7E4C-C740-9871-044EDEFFB1CC}"/>
                  </a:ext>
                </a:extLst>
              </p:cNvPr>
              <p:cNvSpPr>
                <a:spLocks noRot="1" noChangeAspect="1" noMove="1" noResize="1" noEditPoints="1" noAdjustHandles="1" noChangeArrowheads="1" noChangeShapeType="1" noTextEdit="1"/>
              </p:cNvSpPr>
              <p:nvPr/>
            </p:nvSpPr>
            <p:spPr>
              <a:xfrm>
                <a:off x="1021108" y="3357750"/>
                <a:ext cx="521810" cy="369332"/>
              </a:xfrm>
              <a:prstGeom prst="rect">
                <a:avLst/>
              </a:prstGeom>
              <a:blipFill>
                <a:blip r:embed="rId7"/>
                <a:stretch>
                  <a:fillRect/>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BCEE0D74-1E2F-5140-B993-110A0E7CFB4F}"/>
              </a:ext>
            </a:extLst>
          </p:cNvPr>
          <p:cNvCxnSpPr>
            <a:cxnSpLocks/>
          </p:cNvCxnSpPr>
          <p:nvPr/>
        </p:nvCxnSpPr>
        <p:spPr>
          <a:xfrm flipV="1">
            <a:off x="1868867" y="993630"/>
            <a:ext cx="0" cy="1719616"/>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CB9C9A4-67A7-A24B-B30C-2275D056926F}"/>
              </a:ext>
            </a:extLst>
          </p:cNvPr>
          <p:cNvCxnSpPr>
            <a:cxnSpLocks/>
          </p:cNvCxnSpPr>
          <p:nvPr/>
        </p:nvCxnSpPr>
        <p:spPr>
          <a:xfrm flipH="1" flipV="1">
            <a:off x="1394032" y="2124320"/>
            <a:ext cx="482155" cy="588926"/>
          </a:xfrm>
          <a:prstGeom prst="line">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D2598C5-2469-F14C-84EF-B41EC64AC291}"/>
              </a:ext>
            </a:extLst>
          </p:cNvPr>
          <p:cNvCxnSpPr>
            <a:cxnSpLocks/>
            <a:stCxn id="5" idx="0"/>
          </p:cNvCxnSpPr>
          <p:nvPr/>
        </p:nvCxnSpPr>
        <p:spPr>
          <a:xfrm flipH="1" flipV="1">
            <a:off x="1875721" y="1494821"/>
            <a:ext cx="1936" cy="1188000"/>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40BC63D-454C-E04B-8F2C-02B991AFC69A}"/>
                  </a:ext>
                </a:extLst>
              </p:cNvPr>
              <p:cNvSpPr txBox="1"/>
              <p:nvPr/>
            </p:nvSpPr>
            <p:spPr>
              <a:xfrm>
                <a:off x="1603065" y="2244875"/>
                <a:ext cx="36080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𝛼</m:t>
                      </m:r>
                    </m:oMath>
                  </m:oMathPara>
                </a14:m>
                <a:endParaRPr lang="en-US" sz="1600" dirty="0"/>
              </a:p>
            </p:txBody>
          </p:sp>
        </mc:Choice>
        <mc:Fallback xmlns="">
          <p:sp>
            <p:nvSpPr>
              <p:cNvPr id="23" name="TextBox 22">
                <a:extLst>
                  <a:ext uri="{FF2B5EF4-FFF2-40B4-BE49-F238E27FC236}">
                    <a16:creationId xmlns:a16="http://schemas.microsoft.com/office/drawing/2014/main" id="{440BC63D-454C-E04B-8F2C-02B991AFC69A}"/>
                  </a:ext>
                </a:extLst>
              </p:cNvPr>
              <p:cNvSpPr txBox="1">
                <a:spLocks noRot="1" noChangeAspect="1" noMove="1" noResize="1" noEditPoints="1" noAdjustHandles="1" noChangeArrowheads="1" noChangeShapeType="1" noTextEdit="1"/>
              </p:cNvSpPr>
              <p:nvPr/>
            </p:nvSpPr>
            <p:spPr>
              <a:xfrm>
                <a:off x="1603065" y="2244875"/>
                <a:ext cx="360803" cy="338554"/>
              </a:xfrm>
              <a:prstGeom prst="rect">
                <a:avLst/>
              </a:prstGeom>
              <a:blipFill>
                <a:blip r:embed="rId8"/>
                <a:stretch>
                  <a:fillRect/>
                </a:stretch>
              </a:blipFill>
            </p:spPr>
            <p:txBody>
              <a:bodyPr/>
              <a:lstStyle/>
              <a:p>
                <a:r>
                  <a:rPr lang="en-US">
                    <a:noFill/>
                  </a:rPr>
                  <a:t> </a:t>
                </a:r>
              </a:p>
            </p:txBody>
          </p:sp>
        </mc:Fallback>
      </mc:AlternateContent>
      <p:sp>
        <p:nvSpPr>
          <p:cNvPr id="24" name="Freeform 23">
            <a:extLst>
              <a:ext uri="{FF2B5EF4-FFF2-40B4-BE49-F238E27FC236}">
                <a16:creationId xmlns:a16="http://schemas.microsoft.com/office/drawing/2014/main" id="{CCB8B6E6-1912-3D4B-BE33-976686FAAF30}"/>
              </a:ext>
            </a:extLst>
          </p:cNvPr>
          <p:cNvSpPr/>
          <p:nvPr/>
        </p:nvSpPr>
        <p:spPr>
          <a:xfrm rot="19280117" flipH="1" flipV="1">
            <a:off x="1587049" y="2295818"/>
            <a:ext cx="265464" cy="70784"/>
          </a:xfrm>
          <a:custGeom>
            <a:avLst/>
            <a:gdLst>
              <a:gd name="connsiteX0" fmla="*/ 0 w 517676"/>
              <a:gd name="connsiteY0" fmla="*/ 9676 h 96804"/>
              <a:gd name="connsiteX1" fmla="*/ 193523 w 517676"/>
              <a:gd name="connsiteY1" fmla="*/ 96762 h 96804"/>
              <a:gd name="connsiteX2" fmla="*/ 517676 w 517676"/>
              <a:gd name="connsiteY2" fmla="*/ 0 h 96804"/>
              <a:gd name="connsiteX0" fmla="*/ 0 w 517676"/>
              <a:gd name="connsiteY0" fmla="*/ 9676 h 82309"/>
              <a:gd name="connsiteX1" fmla="*/ 237065 w 517676"/>
              <a:gd name="connsiteY1" fmla="*/ 82247 h 82309"/>
              <a:gd name="connsiteX2" fmla="*/ 517676 w 517676"/>
              <a:gd name="connsiteY2" fmla="*/ 0 h 82309"/>
              <a:gd name="connsiteX0" fmla="*/ 0 w 517676"/>
              <a:gd name="connsiteY0" fmla="*/ 9676 h 56009"/>
              <a:gd name="connsiteX1" fmla="*/ 301973 w 517676"/>
              <a:gd name="connsiteY1" fmla="*/ 55703 h 56009"/>
              <a:gd name="connsiteX2" fmla="*/ 517676 w 517676"/>
              <a:gd name="connsiteY2" fmla="*/ 0 h 56009"/>
              <a:gd name="connsiteX0" fmla="*/ 0 w 517676"/>
              <a:gd name="connsiteY0" fmla="*/ 9676 h 62500"/>
              <a:gd name="connsiteX1" fmla="*/ 256537 w 517676"/>
              <a:gd name="connsiteY1" fmla="*/ 62339 h 62500"/>
              <a:gd name="connsiteX2" fmla="*/ 517676 w 517676"/>
              <a:gd name="connsiteY2" fmla="*/ 0 h 62500"/>
            </a:gdLst>
            <a:ahLst/>
            <a:cxnLst>
              <a:cxn ang="0">
                <a:pos x="connsiteX0" y="connsiteY0"/>
              </a:cxn>
              <a:cxn ang="0">
                <a:pos x="connsiteX1" y="connsiteY1"/>
              </a:cxn>
              <a:cxn ang="0">
                <a:pos x="connsiteX2" y="connsiteY2"/>
              </a:cxn>
            </a:cxnLst>
            <a:rect l="l" t="t" r="r" b="b"/>
            <a:pathLst>
              <a:path w="517676" h="62500">
                <a:moveTo>
                  <a:pt x="0" y="9676"/>
                </a:moveTo>
                <a:cubicBezTo>
                  <a:pt x="53622" y="54025"/>
                  <a:pt x="170258" y="63952"/>
                  <a:pt x="256537" y="62339"/>
                </a:cubicBezTo>
                <a:cubicBezTo>
                  <a:pt x="342816" y="60726"/>
                  <a:pt x="398739" y="47574"/>
                  <a:pt x="51767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9D230FE-2B15-1B40-87DD-1FD3A904BFDD}"/>
                  </a:ext>
                </a:extLst>
              </p:cNvPr>
              <p:cNvSpPr txBox="1"/>
              <p:nvPr/>
            </p:nvSpPr>
            <p:spPr>
              <a:xfrm rot="18908654">
                <a:off x="1387630" y="2899179"/>
                <a:ext cx="604653" cy="338554"/>
              </a:xfrm>
              <a:prstGeom prst="rect">
                <a:avLst/>
              </a:prstGeom>
              <a:noFill/>
            </p:spPr>
            <p:txBody>
              <a:bodyPr wrap="none" rtlCol="0">
                <a:spAutoFit/>
              </a:bodyPr>
              <a:lstStyle/>
              <a:p>
                <a:r>
                  <a:rPr lang="en-US" sz="1600" b="0" dirty="0">
                    <a:solidFill>
                      <a:schemeClr val="accent6">
                        <a:lumMod val="50000"/>
                      </a:schemeClr>
                    </a:solidFill>
                    <a:ea typeface="Cambria Math" panose="02040503050406030204" pitchFamily="18" charset="0"/>
                  </a:rPr>
                  <a:t>s</a:t>
                </a:r>
                <a14:m>
                  <m:oMath xmlns:m="http://schemas.openxmlformats.org/officeDocument/2006/math">
                    <m:r>
                      <m:rPr>
                        <m:sty m:val="p"/>
                      </m:rPr>
                      <a:rPr lang="en-US" sz="1600" b="0" i="0" smtClean="0">
                        <a:solidFill>
                          <a:schemeClr val="accent6">
                            <a:lumMod val="50000"/>
                          </a:schemeClr>
                        </a:solidFill>
                        <a:latin typeface="Cambria Math" panose="02040503050406030204" pitchFamily="18" charset="0"/>
                        <a:ea typeface="Cambria Math" panose="02040503050406030204" pitchFamily="18" charset="0"/>
                      </a:rPr>
                      <m:t>in</m:t>
                    </m:r>
                    <m:r>
                      <m:rPr>
                        <m:nor/>
                      </m:rPr>
                      <a:rPr lang="en-US" sz="1600" b="0" i="0" smtClean="0">
                        <a:solidFill>
                          <a:schemeClr val="accent6">
                            <a:lumMod val="50000"/>
                          </a:schemeClr>
                        </a:solidFill>
                        <a:latin typeface="Cambria Math" panose="02040503050406030204" pitchFamily="18" charset="0"/>
                        <a:ea typeface="Cambria Math" panose="02040503050406030204" pitchFamily="18" charset="0"/>
                      </a:rPr>
                      <m:t> </m:t>
                    </m:r>
                    <m:r>
                      <m:rPr>
                        <m:sty m:val="p"/>
                      </m:rPr>
                      <a:rPr lang="el-GR" sz="1600" b="0" i="1" smtClean="0">
                        <a:solidFill>
                          <a:schemeClr val="accent6">
                            <a:lumMod val="50000"/>
                          </a:schemeClr>
                        </a:solidFill>
                        <a:latin typeface="Cambria Math" panose="02040503050406030204" pitchFamily="18" charset="0"/>
                        <a:ea typeface="Cambria Math" panose="02040503050406030204" pitchFamily="18" charset="0"/>
                      </a:rPr>
                      <m:t>θ</m:t>
                    </m:r>
                  </m:oMath>
                </a14:m>
                <a:endParaRPr lang="en-US" sz="1600" dirty="0"/>
              </a:p>
            </p:txBody>
          </p:sp>
        </mc:Choice>
        <mc:Fallback xmlns="">
          <p:sp>
            <p:nvSpPr>
              <p:cNvPr id="91" name="TextBox 90">
                <a:extLst>
                  <a:ext uri="{FF2B5EF4-FFF2-40B4-BE49-F238E27FC236}">
                    <a16:creationId xmlns:a16="http://schemas.microsoft.com/office/drawing/2014/main" id="{69D230FE-2B15-1B40-87DD-1FD3A904BFDD}"/>
                  </a:ext>
                </a:extLst>
              </p:cNvPr>
              <p:cNvSpPr txBox="1">
                <a:spLocks noRot="1" noChangeAspect="1" noMove="1" noResize="1" noEditPoints="1" noAdjustHandles="1" noChangeArrowheads="1" noChangeShapeType="1" noTextEdit="1"/>
              </p:cNvSpPr>
              <p:nvPr/>
            </p:nvSpPr>
            <p:spPr>
              <a:xfrm rot="18908654">
                <a:off x="1387630" y="2899179"/>
                <a:ext cx="604653" cy="338554"/>
              </a:xfrm>
              <a:prstGeom prst="rect">
                <a:avLst/>
              </a:prstGeom>
              <a:blipFill>
                <a:blip r:embed="rId9"/>
                <a:stretch>
                  <a:fillRect l="-3774" b="-94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4A6EE76D-7EB4-5845-87A2-7EA38BF093EA}"/>
                  </a:ext>
                </a:extLst>
              </p:cNvPr>
              <p:cNvSpPr/>
              <p:nvPr/>
            </p:nvSpPr>
            <p:spPr>
              <a:xfrm>
                <a:off x="227019" y="4635893"/>
                <a:ext cx="309200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𝑆</m:t>
                              </m:r>
                            </m:e>
                          </m:d>
                          <m:r>
                            <a:rPr lang="en-US" sz="2000" i="1">
                              <a:latin typeface="Cambria Math" panose="02040503050406030204" pitchFamily="18" charset="0"/>
                            </a:rPr>
                            <m:t>=</m:t>
                          </m:r>
                          <m:r>
                            <a:rPr lang="en-US" sz="2000" i="1">
                              <a:latin typeface="Cambria Math" panose="02040503050406030204" pitchFamily="18" charset="0"/>
                            </a:rPr>
                            <m:t>𝑐𝑜𝑠</m:t>
                          </m:r>
                        </m:fName>
                        <m:e>
                          <m:r>
                            <a:rPr lang="en-US" sz="2000" i="1">
                              <a:latin typeface="Cambria Math" panose="02040503050406030204" pitchFamily="18" charset="0"/>
                              <a:ea typeface="Cambria Math" panose="02040503050406030204" pitchFamily="18" charset="0"/>
                            </a:rPr>
                            <m:t>𝛼</m:t>
                          </m:r>
                        </m:e>
                      </m:func>
                      <m:d>
                        <m:dPr>
                          <m:begChr m:val="|"/>
                          <m:endChr m:val="⟩"/>
                          <m:ctrlPr>
                            <a:rPr lang="en-US" sz="2000" i="1">
                              <a:latin typeface="Cambria Math" panose="02040503050406030204" pitchFamily="18" charset="0"/>
                            </a:rPr>
                          </m:ctrlPr>
                        </m:dPr>
                        <m:e>
                          <m:r>
                            <a:rPr lang="en-US" sz="2000">
                              <a:latin typeface="Cambria Math" panose="02040503050406030204" pitchFamily="18" charset="0"/>
                            </a:rPr>
                            <m:t>0</m:t>
                          </m:r>
                        </m:e>
                      </m:d>
                      <m:r>
                        <a:rPr lang="en-US" sz="2000">
                          <a:latin typeface="Cambria Math" panose="02040503050406030204" pitchFamily="18" charset="0"/>
                        </a:rPr>
                        <m:t>+</m:t>
                      </m:r>
                      <m:func>
                        <m:funcPr>
                          <m:ctrlPr>
                            <a:rPr lang="en-US" sz="2000" i="1">
                              <a:latin typeface="Cambria Math" panose="02040503050406030204" pitchFamily="18" charset="0"/>
                            </a:rPr>
                          </m:ctrlPr>
                        </m:funcPr>
                        <m:fName>
                          <m:r>
                            <a:rPr lang="en-US" sz="2000" i="1">
                              <a:latin typeface="Cambria Math" panose="02040503050406030204" pitchFamily="18" charset="0"/>
                            </a:rPr>
                            <m:t> </m:t>
                          </m:r>
                          <m:r>
                            <a:rPr lang="en-US" sz="2000" i="1">
                              <a:latin typeface="Cambria Math" panose="02040503050406030204" pitchFamily="18" charset="0"/>
                            </a:rPr>
                            <m:t>𝑠𝑖𝑛</m:t>
                          </m:r>
                        </m:fName>
                        <m:e>
                          <m:r>
                            <a:rPr lang="en-US" sz="2000" i="1">
                              <a:latin typeface="Cambria Math" panose="02040503050406030204" pitchFamily="18" charset="0"/>
                              <a:ea typeface="Cambria Math" panose="02040503050406030204" pitchFamily="18" charset="0"/>
                            </a:rPr>
                            <m:t>𝛼</m:t>
                          </m:r>
                        </m:e>
                      </m:func>
                      <m:d>
                        <m:dPr>
                          <m:begChr m:val="|"/>
                          <m:endChr m:val="⟩"/>
                          <m:ctrlPr>
                            <a:rPr lang="en-US" sz="2000" i="1">
                              <a:latin typeface="Cambria Math" panose="02040503050406030204" pitchFamily="18" charset="0"/>
                            </a:rPr>
                          </m:ctrlPr>
                        </m:dPr>
                        <m:e>
                          <m:r>
                            <a:rPr lang="en-US" sz="2000">
                              <a:latin typeface="Cambria Math" panose="02040503050406030204" pitchFamily="18" charset="0"/>
                            </a:rPr>
                            <m:t>1</m:t>
                          </m:r>
                        </m:e>
                      </m:d>
                    </m:oMath>
                  </m:oMathPara>
                </a14:m>
                <a:endParaRPr lang="en-US" sz="2000" dirty="0"/>
              </a:p>
            </p:txBody>
          </p:sp>
        </mc:Choice>
        <mc:Fallback xmlns="">
          <p:sp>
            <p:nvSpPr>
              <p:cNvPr id="92" name="Rectangle 91">
                <a:extLst>
                  <a:ext uri="{FF2B5EF4-FFF2-40B4-BE49-F238E27FC236}">
                    <a16:creationId xmlns:a16="http://schemas.microsoft.com/office/drawing/2014/main" id="{4A6EE76D-7EB4-5845-87A2-7EA38BF093EA}"/>
                  </a:ext>
                </a:extLst>
              </p:cNvPr>
              <p:cNvSpPr>
                <a:spLocks noRot="1" noChangeAspect="1" noMove="1" noResize="1" noEditPoints="1" noAdjustHandles="1" noChangeArrowheads="1" noChangeShapeType="1" noTextEdit="1"/>
              </p:cNvSpPr>
              <p:nvPr/>
            </p:nvSpPr>
            <p:spPr>
              <a:xfrm>
                <a:off x="227019" y="4635893"/>
                <a:ext cx="3092000" cy="400110"/>
              </a:xfrm>
              <a:prstGeom prst="rect">
                <a:avLst/>
              </a:prstGeom>
              <a:blipFill>
                <a:blip r:embed="rId10"/>
                <a:stretch>
                  <a:fillRect b="-15152"/>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6B4F4C26-D4BE-3045-BAD9-C08591F47127}"/>
              </a:ext>
            </a:extLst>
          </p:cNvPr>
          <p:cNvCxnSpPr>
            <a:cxnSpLocks/>
          </p:cNvCxnSpPr>
          <p:nvPr/>
        </p:nvCxnSpPr>
        <p:spPr>
          <a:xfrm flipH="1">
            <a:off x="528964" y="2705923"/>
            <a:ext cx="1339902" cy="142044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149D2E-DB73-C64D-A01D-776DE4B835BB}"/>
              </a:ext>
            </a:extLst>
          </p:cNvPr>
          <p:cNvCxnSpPr>
            <a:cxnSpLocks/>
          </p:cNvCxnSpPr>
          <p:nvPr/>
        </p:nvCxnSpPr>
        <p:spPr>
          <a:xfrm flipV="1">
            <a:off x="1250279" y="2704499"/>
            <a:ext cx="625347" cy="660582"/>
          </a:xfrm>
          <a:prstGeom prst="line">
            <a:avLst/>
          </a:prstGeom>
          <a:ln w="38100" cap="rnd">
            <a:solidFill>
              <a:srgbClr val="FF0000"/>
            </a:solidFill>
            <a:prstDash val="solid"/>
            <a:headEnd type="triangle" w="lg" len="lg"/>
            <a:tailEnd w="lg" len="lg"/>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FD23772-1A3E-6549-B25E-C7F0C83AE53D}"/>
              </a:ext>
            </a:extLst>
          </p:cNvPr>
          <p:cNvSpPr/>
          <p:nvPr/>
        </p:nvSpPr>
        <p:spPr>
          <a:xfrm>
            <a:off x="1751329" y="1444021"/>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FF157C95-534C-AA47-82DB-3D64AC707F4F}"/>
                  </a:ext>
                </a:extLst>
              </p:cNvPr>
              <p:cNvSpPr txBox="1"/>
              <p:nvPr/>
            </p:nvSpPr>
            <p:spPr>
              <a:xfrm rot="16200000">
                <a:off x="856828" y="2542758"/>
                <a:ext cx="67518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1600" i="0">
                          <a:solidFill>
                            <a:schemeClr val="accent6">
                              <a:lumMod val="50000"/>
                            </a:schemeClr>
                          </a:solidFill>
                          <a:latin typeface="Cambria Math" panose="02040503050406030204" pitchFamily="18" charset="0"/>
                          <a:ea typeface="Cambria Math" panose="02040503050406030204" pitchFamily="18" charset="0"/>
                        </a:rPr>
                        <m:t>c</m:t>
                      </m:r>
                      <m:r>
                        <m:rPr>
                          <m:nor/>
                        </m:rPr>
                        <a:rPr lang="en-US" sz="1600" b="0" smtClean="0">
                          <a:solidFill>
                            <a:schemeClr val="accent6">
                              <a:lumMod val="50000"/>
                            </a:schemeClr>
                          </a:solidFill>
                          <a:latin typeface="Cambria Math" panose="02040503050406030204" pitchFamily="18" charset="0"/>
                          <a:ea typeface="Cambria Math" panose="02040503050406030204" pitchFamily="18" charset="0"/>
                        </a:rPr>
                        <m:t>os</m:t>
                      </m:r>
                      <m:r>
                        <m:rPr>
                          <m:nor/>
                        </m:rPr>
                        <a:rPr lang="en-US" sz="1600" b="0" i="0" smtClean="0">
                          <a:solidFill>
                            <a:schemeClr val="accent6">
                              <a:lumMod val="50000"/>
                            </a:schemeClr>
                          </a:solidFill>
                          <a:latin typeface="Cambria Math" panose="02040503050406030204" pitchFamily="18" charset="0"/>
                          <a:ea typeface="Cambria Math" panose="02040503050406030204" pitchFamily="18" charset="0"/>
                        </a:rPr>
                        <m:t> </m:t>
                      </m:r>
                      <m:r>
                        <m:rPr>
                          <m:sty m:val="p"/>
                        </m:rPr>
                        <a:rPr lang="el-GR" sz="1600" b="0" i="1" smtClean="0">
                          <a:solidFill>
                            <a:schemeClr val="accent6">
                              <a:lumMod val="50000"/>
                            </a:schemeClr>
                          </a:solidFill>
                          <a:latin typeface="Cambria Math" panose="02040503050406030204" pitchFamily="18" charset="0"/>
                          <a:ea typeface="Cambria Math" panose="02040503050406030204" pitchFamily="18" charset="0"/>
                        </a:rPr>
                        <m:t>θ</m:t>
                      </m:r>
                    </m:oMath>
                  </m:oMathPara>
                </a14:m>
                <a:endParaRPr lang="en-US" sz="1600" dirty="0"/>
              </a:p>
            </p:txBody>
          </p:sp>
        </mc:Choice>
        <mc:Fallback xmlns="">
          <p:sp>
            <p:nvSpPr>
              <p:cNvPr id="90" name="TextBox 89">
                <a:extLst>
                  <a:ext uri="{FF2B5EF4-FFF2-40B4-BE49-F238E27FC236}">
                    <a16:creationId xmlns:a16="http://schemas.microsoft.com/office/drawing/2014/main" id="{FF157C95-534C-AA47-82DB-3D64AC707F4F}"/>
                  </a:ext>
                </a:extLst>
              </p:cNvPr>
              <p:cNvSpPr txBox="1">
                <a:spLocks noRot="1" noChangeAspect="1" noMove="1" noResize="1" noEditPoints="1" noAdjustHandles="1" noChangeArrowheads="1" noChangeShapeType="1" noTextEdit="1"/>
              </p:cNvSpPr>
              <p:nvPr/>
            </p:nvSpPr>
            <p:spPr>
              <a:xfrm rot="16200000">
                <a:off x="856828" y="2542758"/>
                <a:ext cx="675185" cy="338554"/>
              </a:xfrm>
              <a:prstGeom prst="rect">
                <a:avLst/>
              </a:prstGeom>
              <a:blipFill>
                <a:blip r:embed="rId11"/>
                <a:stretch>
                  <a:fillRect r="-11111"/>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EE4E0E41-252B-AD46-939C-958F3165DB3B}"/>
              </a:ext>
            </a:extLst>
          </p:cNvPr>
          <p:cNvCxnSpPr>
            <a:cxnSpLocks/>
          </p:cNvCxnSpPr>
          <p:nvPr/>
        </p:nvCxnSpPr>
        <p:spPr>
          <a:xfrm>
            <a:off x="1394032" y="2109783"/>
            <a:ext cx="0" cy="107837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A0412014-42DF-8041-9DF8-A3F8C4A769B3}"/>
              </a:ext>
            </a:extLst>
          </p:cNvPr>
          <p:cNvSpPr txBox="1"/>
          <p:nvPr/>
        </p:nvSpPr>
        <p:spPr>
          <a:xfrm>
            <a:off x="348879" y="1187152"/>
            <a:ext cx="637037" cy="461665"/>
          </a:xfrm>
          <a:prstGeom prst="rect">
            <a:avLst/>
          </a:prstGeom>
          <a:noFill/>
        </p:spPr>
        <p:txBody>
          <a:bodyPr wrap="square" rtlCol="0">
            <a:spAutoFit/>
          </a:bodyPr>
          <a:lstStyle/>
          <a:p>
            <a:r>
              <a:rPr lang="en-US" sz="2400" dirty="0"/>
              <a:t>(1)</a:t>
            </a:r>
          </a:p>
        </p:txBody>
      </p:sp>
      <p:grpSp>
        <p:nvGrpSpPr>
          <p:cNvPr id="198" name="Group 197">
            <a:extLst>
              <a:ext uri="{FF2B5EF4-FFF2-40B4-BE49-F238E27FC236}">
                <a16:creationId xmlns:a16="http://schemas.microsoft.com/office/drawing/2014/main" id="{409269A1-96D8-094C-A9E2-0DB519857985}"/>
              </a:ext>
            </a:extLst>
          </p:cNvPr>
          <p:cNvGrpSpPr/>
          <p:nvPr/>
        </p:nvGrpSpPr>
        <p:grpSpPr>
          <a:xfrm>
            <a:off x="3374262" y="790389"/>
            <a:ext cx="4563073" cy="4255616"/>
            <a:chOff x="3374262" y="790389"/>
            <a:chExt cx="4563073" cy="4255616"/>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E64F0F9-F549-9F41-8F76-A3ED6C6F419F}"/>
                    </a:ext>
                  </a:extLst>
                </p:cNvPr>
                <p:cNvSpPr txBox="1"/>
                <p:nvPr/>
              </p:nvSpPr>
              <p:spPr>
                <a:xfrm>
                  <a:off x="3456018" y="2872350"/>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15" name="TextBox 14">
                  <a:extLst>
                    <a:ext uri="{FF2B5EF4-FFF2-40B4-BE49-F238E27FC236}">
                      <a16:creationId xmlns:a16="http://schemas.microsoft.com/office/drawing/2014/main" id="{7E64F0F9-F549-9F41-8F76-A3ED6C6F419F}"/>
                    </a:ext>
                  </a:extLst>
                </p:cNvPr>
                <p:cNvSpPr txBox="1">
                  <a:spLocks noRot="1" noChangeAspect="1" noMove="1" noResize="1" noEditPoints="1" noAdjustHandles="1" noChangeArrowheads="1" noChangeShapeType="1" noTextEdit="1"/>
                </p:cNvSpPr>
                <p:nvPr/>
              </p:nvSpPr>
              <p:spPr>
                <a:xfrm>
                  <a:off x="3456018" y="2872350"/>
                  <a:ext cx="371384" cy="369332"/>
                </a:xfrm>
                <a:prstGeom prst="rect">
                  <a:avLst/>
                </a:prstGeom>
                <a:blipFill>
                  <a:blip r:embed="rId25"/>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7FF3F30A-72A1-C743-AB1E-3133F2BBC245}"/>
                    </a:ext>
                  </a:extLst>
                </p:cNvPr>
                <p:cNvSpPr txBox="1"/>
                <p:nvPr/>
              </p:nvSpPr>
              <p:spPr>
                <a:xfrm>
                  <a:off x="7565951" y="2872350"/>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116" name="TextBox 115">
                  <a:extLst>
                    <a:ext uri="{FF2B5EF4-FFF2-40B4-BE49-F238E27FC236}">
                      <a16:creationId xmlns:a16="http://schemas.microsoft.com/office/drawing/2014/main" id="{7FF3F30A-72A1-C743-AB1E-3133F2BBC245}"/>
                    </a:ext>
                  </a:extLst>
                </p:cNvPr>
                <p:cNvSpPr txBox="1">
                  <a:spLocks noRot="1" noChangeAspect="1" noMove="1" noResize="1" noEditPoints="1" noAdjustHandles="1" noChangeArrowheads="1" noChangeShapeType="1" noTextEdit="1"/>
                </p:cNvSpPr>
                <p:nvPr/>
              </p:nvSpPr>
              <p:spPr>
                <a:xfrm>
                  <a:off x="7565951" y="2872350"/>
                  <a:ext cx="371384" cy="369332"/>
                </a:xfrm>
                <a:prstGeom prst="rect">
                  <a:avLst/>
                </a:prstGeom>
                <a:blipFill>
                  <a:blip r:embed="rId25"/>
                  <a:stretch>
                    <a:fillRect b="-6667"/>
                  </a:stretch>
                </a:blipFill>
              </p:spPr>
              <p:txBody>
                <a:bodyPr/>
                <a:lstStyle/>
                <a:p>
                  <a:r>
                    <a:rPr lang="en-US">
                      <a:noFill/>
                    </a:rPr>
                    <a:t> </a:t>
                  </a:r>
                </a:p>
              </p:txBody>
            </p:sp>
          </mc:Fallback>
        </mc:AlternateContent>
        <p:sp>
          <p:nvSpPr>
            <p:cNvPr id="106" name="Oval 105">
              <a:extLst>
                <a:ext uri="{FF2B5EF4-FFF2-40B4-BE49-F238E27FC236}">
                  <a16:creationId xmlns:a16="http://schemas.microsoft.com/office/drawing/2014/main" id="{6140AFC4-14CD-A444-8D7A-DDB3CE8A9736}"/>
                </a:ext>
              </a:extLst>
            </p:cNvPr>
            <p:cNvSpPr/>
            <p:nvPr/>
          </p:nvSpPr>
          <p:spPr>
            <a:xfrm>
              <a:off x="4491520" y="2283166"/>
              <a:ext cx="2992675" cy="1137366"/>
            </a:xfrm>
            <a:prstGeom prst="ellipse">
              <a:avLst/>
            </a:prstGeom>
            <a:solidFill>
              <a:schemeClr val="accent4">
                <a:lumMod val="20000"/>
                <a:lumOff val="80000"/>
                <a:alpha val="54000"/>
              </a:schemeClr>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41374994-DF10-2648-AA5A-942F2AC1C7EC}"/>
                </a:ext>
              </a:extLst>
            </p:cNvPr>
            <p:cNvSpPr>
              <a:spLocks noChangeAspect="1"/>
            </p:cNvSpPr>
            <p:nvPr/>
          </p:nvSpPr>
          <p:spPr>
            <a:xfrm>
              <a:off x="4476210" y="1246328"/>
              <a:ext cx="2995816" cy="29958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Arrow Connector 108">
              <a:extLst>
                <a:ext uri="{FF2B5EF4-FFF2-40B4-BE49-F238E27FC236}">
                  <a16:creationId xmlns:a16="http://schemas.microsoft.com/office/drawing/2014/main" id="{62B80487-CBAD-A642-841A-F305BCB3EE60}"/>
                </a:ext>
              </a:extLst>
            </p:cNvPr>
            <p:cNvCxnSpPr>
              <a:cxnSpLocks/>
            </p:cNvCxnSpPr>
            <p:nvPr/>
          </p:nvCxnSpPr>
          <p:spPr>
            <a:xfrm>
              <a:off x="5974117" y="2705658"/>
              <a:ext cx="1677231" cy="54208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Arc 110">
              <a:extLst>
                <a:ext uri="{FF2B5EF4-FFF2-40B4-BE49-F238E27FC236}">
                  <a16:creationId xmlns:a16="http://schemas.microsoft.com/office/drawing/2014/main" id="{6CF9DF5E-867A-1443-B6F8-A343CBA28C54}"/>
                </a:ext>
              </a:extLst>
            </p:cNvPr>
            <p:cNvSpPr/>
            <p:nvPr/>
          </p:nvSpPr>
          <p:spPr>
            <a:xfrm rot="9527851" flipH="1">
              <a:off x="5209471" y="1192262"/>
              <a:ext cx="1423185" cy="3054761"/>
            </a:xfrm>
            <a:prstGeom prst="arc">
              <a:avLst>
                <a:gd name="adj1" fmla="val 16079390"/>
                <a:gd name="adj2" fmla="val 4769972"/>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19750F06-7D7D-AF41-A833-000BBBCDA331}"/>
                    </a:ext>
                  </a:extLst>
                </p:cNvPr>
                <p:cNvSpPr/>
                <p:nvPr/>
              </p:nvSpPr>
              <p:spPr>
                <a:xfrm>
                  <a:off x="6518441" y="1974547"/>
                  <a:ext cx="5198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𝑆</m:t>
                            </m:r>
                          </m:e>
                        </m:d>
                      </m:oMath>
                    </m:oMathPara>
                  </a14:m>
                  <a:endParaRPr lang="en-US" dirty="0"/>
                </a:p>
              </p:txBody>
            </p:sp>
          </mc:Choice>
          <mc:Fallback xmlns="">
            <p:sp>
              <p:nvSpPr>
                <p:cNvPr id="112" name="Rectangle 111">
                  <a:extLst>
                    <a:ext uri="{FF2B5EF4-FFF2-40B4-BE49-F238E27FC236}">
                      <a16:creationId xmlns:a16="http://schemas.microsoft.com/office/drawing/2014/main" id="{19750F06-7D7D-AF41-A833-000BBBCDA331}"/>
                    </a:ext>
                  </a:extLst>
                </p:cNvPr>
                <p:cNvSpPr>
                  <a:spLocks noRot="1" noChangeAspect="1" noMove="1" noResize="1" noEditPoints="1" noAdjustHandles="1" noChangeArrowheads="1" noChangeShapeType="1" noTextEdit="1"/>
                </p:cNvSpPr>
                <p:nvPr/>
              </p:nvSpPr>
              <p:spPr>
                <a:xfrm>
                  <a:off x="6518441" y="1974547"/>
                  <a:ext cx="519886" cy="369332"/>
                </a:xfrm>
                <a:prstGeom prst="rect">
                  <a:avLst/>
                </a:prstGeom>
                <a:blipFill>
                  <a:blip r:embed="rId26"/>
                  <a:stretch>
                    <a:fillRect/>
                  </a:stretch>
                </a:blipFill>
              </p:spPr>
              <p:txBody>
                <a:bodyPr/>
                <a:lstStyle/>
                <a:p>
                  <a:r>
                    <a:rPr lang="en-US">
                      <a:noFill/>
                    </a:rPr>
                    <a:t> </a:t>
                  </a:r>
                </a:p>
              </p:txBody>
            </p:sp>
          </mc:Fallback>
        </mc:AlternateContent>
        <p:sp>
          <p:nvSpPr>
            <p:cNvPr id="113" name="Oval 112">
              <a:extLst>
                <a:ext uri="{FF2B5EF4-FFF2-40B4-BE49-F238E27FC236}">
                  <a16:creationId xmlns:a16="http://schemas.microsoft.com/office/drawing/2014/main" id="{85BCD79A-FB68-7C4C-A28B-C10A08F196DE}"/>
                </a:ext>
              </a:extLst>
            </p:cNvPr>
            <p:cNvSpPr/>
            <p:nvPr/>
          </p:nvSpPr>
          <p:spPr>
            <a:xfrm>
              <a:off x="5861547" y="3822083"/>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D8C9C87-57A2-3B4B-8B3C-E90D032AF766}"/>
                    </a:ext>
                  </a:extLst>
                </p:cNvPr>
                <p:cNvSpPr txBox="1"/>
                <p:nvPr/>
              </p:nvSpPr>
              <p:spPr>
                <a:xfrm>
                  <a:off x="4336952" y="3846901"/>
                  <a:ext cx="3679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114" name="TextBox 113">
                  <a:extLst>
                    <a:ext uri="{FF2B5EF4-FFF2-40B4-BE49-F238E27FC236}">
                      <a16:creationId xmlns:a16="http://schemas.microsoft.com/office/drawing/2014/main" id="{2D8C9C87-57A2-3B4B-8B3C-E90D032AF766}"/>
                    </a:ext>
                  </a:extLst>
                </p:cNvPr>
                <p:cNvSpPr txBox="1">
                  <a:spLocks noRot="1" noChangeAspect="1" noMove="1" noResize="1" noEditPoints="1" noAdjustHandles="1" noChangeArrowheads="1" noChangeShapeType="1" noTextEdit="1"/>
                </p:cNvSpPr>
                <p:nvPr/>
              </p:nvSpPr>
              <p:spPr>
                <a:xfrm>
                  <a:off x="4336952" y="3846901"/>
                  <a:ext cx="36798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53382DB4-C865-D644-8678-80B481988D80}"/>
                    </a:ext>
                  </a:extLst>
                </p:cNvPr>
                <p:cNvSpPr txBox="1"/>
                <p:nvPr/>
              </p:nvSpPr>
              <p:spPr>
                <a:xfrm>
                  <a:off x="5670733" y="790389"/>
                  <a:ext cx="2858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oMath>
                    </m:oMathPara>
                  </a14:m>
                  <a:endParaRPr lang="en-US" dirty="0"/>
                </a:p>
              </p:txBody>
            </p:sp>
          </mc:Choice>
          <mc:Fallback xmlns="">
            <p:sp>
              <p:nvSpPr>
                <p:cNvPr id="115" name="TextBox 114">
                  <a:extLst>
                    <a:ext uri="{FF2B5EF4-FFF2-40B4-BE49-F238E27FC236}">
                      <a16:creationId xmlns:a16="http://schemas.microsoft.com/office/drawing/2014/main" id="{53382DB4-C865-D644-8678-80B481988D80}"/>
                    </a:ext>
                  </a:extLst>
                </p:cNvPr>
                <p:cNvSpPr txBox="1">
                  <a:spLocks noRot="1" noChangeAspect="1" noMove="1" noResize="1" noEditPoints="1" noAdjustHandles="1" noChangeArrowheads="1" noChangeShapeType="1" noTextEdit="1"/>
                </p:cNvSpPr>
                <p:nvPr/>
              </p:nvSpPr>
              <p:spPr>
                <a:xfrm>
                  <a:off x="5670733" y="790389"/>
                  <a:ext cx="285817" cy="369332"/>
                </a:xfrm>
                <a:prstGeom prst="rect">
                  <a:avLst/>
                </a:prstGeom>
                <a:blipFill>
                  <a:blip r:embed="rId28"/>
                  <a:stretch>
                    <a:fillRect/>
                  </a:stretch>
                </a:blipFill>
              </p:spPr>
              <p:txBody>
                <a:bodyPr/>
                <a:lstStyle/>
                <a:p>
                  <a:r>
                    <a:rPr lang="en-US">
                      <a:noFill/>
                    </a:rPr>
                    <a:t> </a:t>
                  </a:r>
                </a:p>
              </p:txBody>
            </p:sp>
          </mc:Fallback>
        </mc:AlternateContent>
        <p:cxnSp>
          <p:nvCxnSpPr>
            <p:cNvPr id="117" name="Straight Connector 116">
              <a:extLst>
                <a:ext uri="{FF2B5EF4-FFF2-40B4-BE49-F238E27FC236}">
                  <a16:creationId xmlns:a16="http://schemas.microsoft.com/office/drawing/2014/main" id="{24FE7188-0613-FF4C-91C6-3246CACEEC4F}"/>
                </a:ext>
              </a:extLst>
            </p:cNvPr>
            <p:cNvCxnSpPr>
              <a:cxnSpLocks/>
            </p:cNvCxnSpPr>
            <p:nvPr/>
          </p:nvCxnSpPr>
          <p:spPr>
            <a:xfrm flipH="1" flipV="1">
              <a:off x="5022077" y="2387309"/>
              <a:ext cx="972851" cy="31835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82474614-92A6-6B45-9C66-C7A26C632530}"/>
                    </a:ext>
                  </a:extLst>
                </p:cNvPr>
                <p:cNvSpPr/>
                <p:nvPr/>
              </p:nvSpPr>
              <p:spPr>
                <a:xfrm>
                  <a:off x="5900525" y="9063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0</m:t>
                            </m:r>
                          </m:e>
                        </m:d>
                      </m:oMath>
                    </m:oMathPara>
                  </a14:m>
                  <a:endParaRPr lang="en-US" dirty="0"/>
                </a:p>
              </p:txBody>
            </p:sp>
          </mc:Choice>
          <mc:Fallback xmlns="">
            <p:sp>
              <p:nvSpPr>
                <p:cNvPr id="118" name="Rectangle 117">
                  <a:extLst>
                    <a:ext uri="{FF2B5EF4-FFF2-40B4-BE49-F238E27FC236}">
                      <a16:creationId xmlns:a16="http://schemas.microsoft.com/office/drawing/2014/main" id="{82474614-92A6-6B45-9C66-C7A26C632530}"/>
                    </a:ext>
                  </a:extLst>
                </p:cNvPr>
                <p:cNvSpPr>
                  <a:spLocks noRot="1" noChangeAspect="1" noMove="1" noResize="1" noEditPoints="1" noAdjustHandles="1" noChangeArrowheads="1" noChangeShapeType="1" noTextEdit="1"/>
                </p:cNvSpPr>
                <p:nvPr/>
              </p:nvSpPr>
              <p:spPr>
                <a:xfrm>
                  <a:off x="5900525" y="906391"/>
                  <a:ext cx="521810"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980BF48C-1273-7B48-96E9-FB399C4D8F99}"/>
                    </a:ext>
                  </a:extLst>
                </p:cNvPr>
                <p:cNvSpPr/>
                <p:nvPr/>
              </p:nvSpPr>
              <p:spPr>
                <a:xfrm>
                  <a:off x="5131041" y="3357750"/>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1</m:t>
                            </m:r>
                          </m:e>
                        </m:d>
                      </m:oMath>
                    </m:oMathPara>
                  </a14:m>
                  <a:endParaRPr lang="en-US" dirty="0"/>
                </a:p>
              </p:txBody>
            </p:sp>
          </mc:Choice>
          <mc:Fallback xmlns="">
            <p:sp>
              <p:nvSpPr>
                <p:cNvPr id="120" name="Rectangle 119">
                  <a:extLst>
                    <a:ext uri="{FF2B5EF4-FFF2-40B4-BE49-F238E27FC236}">
                      <a16:creationId xmlns:a16="http://schemas.microsoft.com/office/drawing/2014/main" id="{980BF48C-1273-7B48-96E9-FB399C4D8F99}"/>
                    </a:ext>
                  </a:extLst>
                </p:cNvPr>
                <p:cNvSpPr>
                  <a:spLocks noRot="1" noChangeAspect="1" noMove="1" noResize="1" noEditPoints="1" noAdjustHandles="1" noChangeArrowheads="1" noChangeShapeType="1" noTextEdit="1"/>
                </p:cNvSpPr>
                <p:nvPr/>
              </p:nvSpPr>
              <p:spPr>
                <a:xfrm>
                  <a:off x="5131041" y="3357750"/>
                  <a:ext cx="521810" cy="369332"/>
                </a:xfrm>
                <a:prstGeom prst="rect">
                  <a:avLst/>
                </a:prstGeom>
                <a:blipFill>
                  <a:blip r:embed="rId30"/>
                  <a:stretch>
                    <a:fillRect/>
                  </a:stretch>
                </a:blipFill>
              </p:spPr>
              <p:txBody>
                <a:bodyPr/>
                <a:lstStyle/>
                <a:p>
                  <a:r>
                    <a:rPr lang="en-US">
                      <a:noFill/>
                    </a:rPr>
                    <a:t> </a:t>
                  </a:r>
                </a:p>
              </p:txBody>
            </p:sp>
          </mc:Fallback>
        </mc:AlternateContent>
        <p:cxnSp>
          <p:nvCxnSpPr>
            <p:cNvPr id="121" name="Straight Arrow Connector 120">
              <a:extLst>
                <a:ext uri="{FF2B5EF4-FFF2-40B4-BE49-F238E27FC236}">
                  <a16:creationId xmlns:a16="http://schemas.microsoft.com/office/drawing/2014/main" id="{DD4E21F8-1A0E-214D-9442-80F8BD842D08}"/>
                </a:ext>
              </a:extLst>
            </p:cNvPr>
            <p:cNvCxnSpPr>
              <a:cxnSpLocks/>
            </p:cNvCxnSpPr>
            <p:nvPr/>
          </p:nvCxnSpPr>
          <p:spPr>
            <a:xfrm flipV="1">
              <a:off x="5978800" y="993630"/>
              <a:ext cx="0" cy="1719616"/>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F6B863D-B575-5744-955F-CB9E14E3F6D5}"/>
                </a:ext>
              </a:extLst>
            </p:cNvPr>
            <p:cNvCxnSpPr>
              <a:cxnSpLocks/>
            </p:cNvCxnSpPr>
            <p:nvPr/>
          </p:nvCxnSpPr>
          <p:spPr>
            <a:xfrm flipV="1">
              <a:off x="5986120" y="2127148"/>
              <a:ext cx="445895" cy="586098"/>
            </a:xfrm>
            <a:prstGeom prst="line">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5665381B-6425-414C-BEC9-BA978DB34094}"/>
                </a:ext>
              </a:extLst>
            </p:cNvPr>
            <p:cNvCxnSpPr>
              <a:cxnSpLocks/>
            </p:cNvCxnSpPr>
            <p:nvPr/>
          </p:nvCxnSpPr>
          <p:spPr>
            <a:xfrm flipH="1" flipV="1">
              <a:off x="5985654" y="1494821"/>
              <a:ext cx="1936" cy="1188000"/>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A5185A79-E4D9-0143-A380-C9069E406151}"/>
                    </a:ext>
                  </a:extLst>
                </p:cNvPr>
                <p:cNvSpPr txBox="1"/>
                <p:nvPr/>
              </p:nvSpPr>
              <p:spPr>
                <a:xfrm>
                  <a:off x="5911346" y="2230940"/>
                  <a:ext cx="36080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𝛼</m:t>
                        </m:r>
                      </m:oMath>
                    </m:oMathPara>
                  </a14:m>
                  <a:endParaRPr lang="en-US" sz="1600" dirty="0"/>
                </a:p>
              </p:txBody>
            </p:sp>
          </mc:Choice>
          <mc:Fallback xmlns="">
            <p:sp>
              <p:nvSpPr>
                <p:cNvPr id="124" name="TextBox 123">
                  <a:extLst>
                    <a:ext uri="{FF2B5EF4-FFF2-40B4-BE49-F238E27FC236}">
                      <a16:creationId xmlns:a16="http://schemas.microsoft.com/office/drawing/2014/main" id="{A5185A79-E4D9-0143-A380-C9069E406151}"/>
                    </a:ext>
                  </a:extLst>
                </p:cNvPr>
                <p:cNvSpPr txBox="1">
                  <a:spLocks noRot="1" noChangeAspect="1" noMove="1" noResize="1" noEditPoints="1" noAdjustHandles="1" noChangeArrowheads="1" noChangeShapeType="1" noTextEdit="1"/>
                </p:cNvSpPr>
                <p:nvPr/>
              </p:nvSpPr>
              <p:spPr>
                <a:xfrm>
                  <a:off x="5911346" y="2230940"/>
                  <a:ext cx="360803" cy="338554"/>
                </a:xfrm>
                <a:prstGeom prst="rect">
                  <a:avLst/>
                </a:prstGeom>
                <a:blipFill>
                  <a:blip r:embed="rId31"/>
                  <a:stretch>
                    <a:fillRect/>
                  </a:stretch>
                </a:blipFill>
              </p:spPr>
              <p:txBody>
                <a:bodyPr/>
                <a:lstStyle/>
                <a:p>
                  <a:r>
                    <a:rPr lang="en-US">
                      <a:noFill/>
                    </a:rPr>
                    <a:t> </a:t>
                  </a:r>
                </a:p>
              </p:txBody>
            </p:sp>
          </mc:Fallback>
        </mc:AlternateContent>
        <p:sp>
          <p:nvSpPr>
            <p:cNvPr id="125" name="Freeform 124">
              <a:extLst>
                <a:ext uri="{FF2B5EF4-FFF2-40B4-BE49-F238E27FC236}">
                  <a16:creationId xmlns:a16="http://schemas.microsoft.com/office/drawing/2014/main" id="{9F7299C5-BF9F-624F-9FFA-31DE32256EA7}"/>
                </a:ext>
              </a:extLst>
            </p:cNvPr>
            <p:cNvSpPr/>
            <p:nvPr/>
          </p:nvSpPr>
          <p:spPr>
            <a:xfrm rot="1051130" flipH="1" flipV="1">
              <a:off x="5994498" y="2251435"/>
              <a:ext cx="265464" cy="45719"/>
            </a:xfrm>
            <a:custGeom>
              <a:avLst/>
              <a:gdLst>
                <a:gd name="connsiteX0" fmla="*/ 0 w 517676"/>
                <a:gd name="connsiteY0" fmla="*/ 9676 h 96804"/>
                <a:gd name="connsiteX1" fmla="*/ 193523 w 517676"/>
                <a:gd name="connsiteY1" fmla="*/ 96762 h 96804"/>
                <a:gd name="connsiteX2" fmla="*/ 517676 w 517676"/>
                <a:gd name="connsiteY2" fmla="*/ 0 h 96804"/>
                <a:gd name="connsiteX0" fmla="*/ 0 w 517676"/>
                <a:gd name="connsiteY0" fmla="*/ 9676 h 82309"/>
                <a:gd name="connsiteX1" fmla="*/ 237065 w 517676"/>
                <a:gd name="connsiteY1" fmla="*/ 82247 h 82309"/>
                <a:gd name="connsiteX2" fmla="*/ 517676 w 517676"/>
                <a:gd name="connsiteY2" fmla="*/ 0 h 82309"/>
                <a:gd name="connsiteX0" fmla="*/ 0 w 517676"/>
                <a:gd name="connsiteY0" fmla="*/ 9676 h 56009"/>
                <a:gd name="connsiteX1" fmla="*/ 301973 w 517676"/>
                <a:gd name="connsiteY1" fmla="*/ 55703 h 56009"/>
                <a:gd name="connsiteX2" fmla="*/ 517676 w 517676"/>
                <a:gd name="connsiteY2" fmla="*/ 0 h 56009"/>
                <a:gd name="connsiteX0" fmla="*/ 0 w 517676"/>
                <a:gd name="connsiteY0" fmla="*/ 9676 h 62500"/>
                <a:gd name="connsiteX1" fmla="*/ 256537 w 517676"/>
                <a:gd name="connsiteY1" fmla="*/ 62339 h 62500"/>
                <a:gd name="connsiteX2" fmla="*/ 517676 w 517676"/>
                <a:gd name="connsiteY2" fmla="*/ 0 h 62500"/>
              </a:gdLst>
              <a:ahLst/>
              <a:cxnLst>
                <a:cxn ang="0">
                  <a:pos x="connsiteX0" y="connsiteY0"/>
                </a:cxn>
                <a:cxn ang="0">
                  <a:pos x="connsiteX1" y="connsiteY1"/>
                </a:cxn>
                <a:cxn ang="0">
                  <a:pos x="connsiteX2" y="connsiteY2"/>
                </a:cxn>
              </a:cxnLst>
              <a:rect l="l" t="t" r="r" b="b"/>
              <a:pathLst>
                <a:path w="517676" h="62500">
                  <a:moveTo>
                    <a:pt x="0" y="9676"/>
                  </a:moveTo>
                  <a:cubicBezTo>
                    <a:pt x="53622" y="54025"/>
                    <a:pt x="170258" y="63952"/>
                    <a:pt x="256537" y="62339"/>
                  </a:cubicBezTo>
                  <a:cubicBezTo>
                    <a:pt x="342816" y="60726"/>
                    <a:pt x="398739" y="47574"/>
                    <a:pt x="51767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92FDCB1F-B356-984C-99A7-F80FEC8CDB7A}"/>
                    </a:ext>
                  </a:extLst>
                </p:cNvPr>
                <p:cNvSpPr txBox="1"/>
                <p:nvPr/>
              </p:nvSpPr>
              <p:spPr>
                <a:xfrm>
                  <a:off x="6142057" y="3382004"/>
                  <a:ext cx="972061" cy="346570"/>
                </a:xfrm>
                <a:prstGeom prst="rect">
                  <a:avLst/>
                </a:prstGeom>
                <a:noFill/>
              </p:spPr>
              <p:txBody>
                <a:bodyPr wrap="none" rtlCol="0">
                  <a:spAutoFit/>
                </a:bodyPr>
                <a:lstStyle/>
                <a:p>
                  <a14:m>
                    <m:oMath xmlns:m="http://schemas.openxmlformats.org/officeDocument/2006/math">
                      <m:sSup>
                        <m:sSupPr>
                          <m:ctrlPr>
                            <a:rPr lang="en-US" sz="1600" i="1" smtClean="0">
                              <a:solidFill>
                                <a:schemeClr val="tx1"/>
                              </a:solidFill>
                              <a:latin typeface="Cambria Math" panose="02040503050406030204" pitchFamily="18" charset="0"/>
                            </a:rPr>
                          </m:ctrlPr>
                        </m:sSupPr>
                        <m:e>
                          <m:r>
                            <a:rPr lang="en-US" sz="1600" i="1">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𝑒</m:t>
                          </m:r>
                        </m:e>
                        <m:sup>
                          <m:r>
                            <a:rPr lang="en-US" sz="1600" i="1">
                              <a:solidFill>
                                <a:schemeClr val="tx1"/>
                              </a:solidFill>
                              <a:latin typeface="Cambria Math" panose="02040503050406030204" pitchFamily="18" charset="0"/>
                            </a:rPr>
                            <m:t>𝑖</m:t>
                          </m:r>
                          <m:r>
                            <a:rPr lang="en-US" sz="1600" i="1">
                              <a:solidFill>
                                <a:schemeClr val="tx1"/>
                              </a:solidFill>
                              <a:latin typeface="Cambria Math" panose="02040503050406030204" pitchFamily="18" charset="0"/>
                            </a:rPr>
                            <m:t>𝜑</m:t>
                          </m:r>
                        </m:sup>
                      </m:sSup>
                      <m:r>
                        <a:rPr lang="en-US" sz="1600" i="1">
                          <a:solidFill>
                            <a:schemeClr val="tx1"/>
                          </a:solidFill>
                          <a:latin typeface="Cambria Math" panose="02040503050406030204" pitchFamily="18" charset="0"/>
                        </a:rPr>
                        <m:t> </m:t>
                      </m:r>
                    </m:oMath>
                  </a14:m>
                  <a:r>
                    <a:rPr lang="en-US" sz="1600" b="0" dirty="0">
                      <a:solidFill>
                        <a:schemeClr val="tx1"/>
                      </a:solidFill>
                      <a:ea typeface="Cambria Math" panose="02040503050406030204" pitchFamily="18" charset="0"/>
                    </a:rPr>
                    <a:t>s</a:t>
                  </a:r>
                  <a14:m>
                    <m:oMath xmlns:m="http://schemas.openxmlformats.org/officeDocument/2006/math">
                      <m:r>
                        <m:rPr>
                          <m:sty m:val="p"/>
                        </m:rPr>
                        <a:rPr lang="en-US" sz="1600" b="0" i="0" smtClean="0">
                          <a:solidFill>
                            <a:schemeClr val="tx1"/>
                          </a:solidFill>
                          <a:latin typeface="Cambria Math" panose="02040503050406030204" pitchFamily="18" charset="0"/>
                          <a:ea typeface="Cambria Math" panose="02040503050406030204" pitchFamily="18" charset="0"/>
                        </a:rPr>
                        <m:t>in</m:t>
                      </m:r>
                      <m:r>
                        <m:rPr>
                          <m:nor/>
                        </m:rPr>
                        <a:rPr lang="en-US" sz="1600" b="0" i="0" smtClean="0">
                          <a:solidFill>
                            <a:schemeClr val="tx1"/>
                          </a:solidFill>
                          <a:latin typeface="Cambria Math" panose="02040503050406030204" pitchFamily="18" charset="0"/>
                          <a:ea typeface="Cambria Math" panose="02040503050406030204" pitchFamily="18" charset="0"/>
                        </a:rPr>
                        <m:t> </m:t>
                      </m:r>
                      <m:r>
                        <m:rPr>
                          <m:sty m:val="p"/>
                        </m:rPr>
                        <a:rPr lang="el-GR" sz="1600" b="0" i="1" smtClean="0">
                          <a:solidFill>
                            <a:schemeClr val="tx1"/>
                          </a:solidFill>
                          <a:latin typeface="Cambria Math" panose="02040503050406030204" pitchFamily="18" charset="0"/>
                          <a:ea typeface="Cambria Math" panose="02040503050406030204" pitchFamily="18" charset="0"/>
                        </a:rPr>
                        <m:t>θ</m:t>
                      </m:r>
                    </m:oMath>
                  </a14:m>
                  <a:endParaRPr lang="en-US" sz="1600" dirty="0">
                    <a:solidFill>
                      <a:schemeClr val="tx1"/>
                    </a:solidFill>
                  </a:endParaRPr>
                </a:p>
              </p:txBody>
            </p:sp>
          </mc:Choice>
          <mc:Fallback xmlns="">
            <p:sp>
              <p:nvSpPr>
                <p:cNvPr id="126" name="TextBox 125">
                  <a:extLst>
                    <a:ext uri="{FF2B5EF4-FFF2-40B4-BE49-F238E27FC236}">
                      <a16:creationId xmlns:a16="http://schemas.microsoft.com/office/drawing/2014/main" id="{92FDCB1F-B356-984C-99A7-F80FEC8CDB7A}"/>
                    </a:ext>
                  </a:extLst>
                </p:cNvPr>
                <p:cNvSpPr txBox="1">
                  <a:spLocks noRot="1" noChangeAspect="1" noMove="1" noResize="1" noEditPoints="1" noAdjustHandles="1" noChangeArrowheads="1" noChangeShapeType="1" noTextEdit="1"/>
                </p:cNvSpPr>
                <p:nvPr/>
              </p:nvSpPr>
              <p:spPr>
                <a:xfrm>
                  <a:off x="6142057" y="3382004"/>
                  <a:ext cx="972061" cy="346570"/>
                </a:xfrm>
                <a:prstGeom prst="rect">
                  <a:avLst/>
                </a:prstGeom>
                <a:blipFill>
                  <a:blip r:embed="rId32"/>
                  <a:stretch>
                    <a:fillRect l="-1299"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Rectangle 126">
                  <a:extLst>
                    <a:ext uri="{FF2B5EF4-FFF2-40B4-BE49-F238E27FC236}">
                      <a16:creationId xmlns:a16="http://schemas.microsoft.com/office/drawing/2014/main" id="{35E83095-BD95-1041-AD26-30458A7AFE4C}"/>
                    </a:ext>
                  </a:extLst>
                </p:cNvPr>
                <p:cNvSpPr/>
                <p:nvPr/>
              </p:nvSpPr>
              <p:spPr>
                <a:xfrm>
                  <a:off x="4157963" y="4635893"/>
                  <a:ext cx="3453894" cy="4101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𝑆</m:t>
                                </m:r>
                              </m:e>
                            </m:d>
                            <m:r>
                              <a:rPr lang="en-US" sz="2000" i="1">
                                <a:latin typeface="Cambria Math" panose="02040503050406030204" pitchFamily="18" charset="0"/>
                              </a:rPr>
                              <m:t>=</m:t>
                            </m:r>
                            <m:r>
                              <a:rPr lang="en-US" sz="2000" i="1">
                                <a:latin typeface="Cambria Math" panose="02040503050406030204" pitchFamily="18" charset="0"/>
                              </a:rPr>
                              <m:t>𝑐𝑜𝑠</m:t>
                            </m:r>
                          </m:fName>
                          <m:e>
                            <m:r>
                              <a:rPr lang="en-US" sz="2000" i="1">
                                <a:latin typeface="Cambria Math" panose="02040503050406030204" pitchFamily="18" charset="0"/>
                                <a:ea typeface="Cambria Math" panose="02040503050406030204" pitchFamily="18" charset="0"/>
                              </a:rPr>
                              <m:t>𝛼</m:t>
                            </m:r>
                          </m:e>
                        </m:func>
                        <m:d>
                          <m:dPr>
                            <m:begChr m:val="|"/>
                            <m:endChr m:val="⟩"/>
                            <m:ctrlPr>
                              <a:rPr lang="en-US" sz="2000" i="1">
                                <a:latin typeface="Cambria Math" panose="02040503050406030204" pitchFamily="18" charset="0"/>
                              </a:rPr>
                            </m:ctrlPr>
                          </m:dPr>
                          <m:e>
                            <m:r>
                              <a:rPr lang="en-US" sz="2000">
                                <a:latin typeface="Cambria Math" panose="02040503050406030204" pitchFamily="18" charset="0"/>
                              </a:rPr>
                              <m:t>0</m:t>
                            </m:r>
                          </m:e>
                        </m:d>
                        <m:r>
                          <a:rPr lang="en-US" sz="2000">
                            <a:latin typeface="Cambria Math" panose="02040503050406030204" pitchFamily="18" charset="0"/>
                          </a:rPr>
                          <m:t>+</m:t>
                        </m:r>
                        <m:func>
                          <m:funcPr>
                            <m:ctrlPr>
                              <a:rPr lang="en-US" sz="2000" i="1">
                                <a:latin typeface="Cambria Math" panose="02040503050406030204" pitchFamily="18" charset="0"/>
                              </a:rPr>
                            </m:ctrlPr>
                          </m:funcPr>
                          <m:fName>
                            <m:sSup>
                              <m:sSupPr>
                                <m:ctrlPr>
                                  <a:rPr lang="en-US" sz="2000" i="1">
                                    <a:latin typeface="Cambria Math" panose="02040503050406030204" pitchFamily="18" charset="0"/>
                                  </a:rPr>
                                </m:ctrlPr>
                              </m:sSupPr>
                              <m:e>
                                <m:r>
                                  <a:rPr lang="en-US" sz="2000" i="1">
                                    <a:latin typeface="Cambria Math" panose="02040503050406030204" pitchFamily="18" charset="0"/>
                                  </a:rPr>
                                  <m:t> </m:t>
                                </m:r>
                                <m:r>
                                  <a:rPr lang="en-US" sz="2000" i="1">
                                    <a:latin typeface="Cambria Math" panose="02040503050406030204" pitchFamily="18" charset="0"/>
                                  </a:rPr>
                                  <m:t>𝑒</m:t>
                                </m:r>
                              </m:e>
                              <m:sup>
                                <m:r>
                                  <a:rPr lang="en-US" sz="2000" i="1">
                                    <a:latin typeface="Cambria Math" panose="02040503050406030204" pitchFamily="18" charset="0"/>
                                  </a:rPr>
                                  <m:t>𝑖</m:t>
                                </m:r>
                                <m:r>
                                  <a:rPr lang="en-US" sz="2000" i="1">
                                    <a:latin typeface="Cambria Math" panose="02040503050406030204" pitchFamily="18" charset="0"/>
                                  </a:rPr>
                                  <m:t>𝜑</m:t>
                                </m:r>
                              </m:sup>
                            </m:sSup>
                            <m:r>
                              <a:rPr lang="en-US" sz="2000" i="1">
                                <a:latin typeface="Cambria Math" panose="02040503050406030204" pitchFamily="18" charset="0"/>
                              </a:rPr>
                              <m:t>𝑠𝑖𝑛</m:t>
                            </m:r>
                          </m:fName>
                          <m:e>
                            <m:r>
                              <a:rPr lang="en-US" sz="2000" i="1">
                                <a:latin typeface="Cambria Math" panose="02040503050406030204" pitchFamily="18" charset="0"/>
                                <a:ea typeface="Cambria Math" panose="02040503050406030204" pitchFamily="18" charset="0"/>
                              </a:rPr>
                              <m:t>𝛼</m:t>
                            </m:r>
                          </m:e>
                        </m:func>
                        <m:d>
                          <m:dPr>
                            <m:begChr m:val="|"/>
                            <m:endChr m:val="⟩"/>
                            <m:ctrlPr>
                              <a:rPr lang="en-US" sz="2000" i="1">
                                <a:latin typeface="Cambria Math" panose="02040503050406030204" pitchFamily="18" charset="0"/>
                              </a:rPr>
                            </m:ctrlPr>
                          </m:dPr>
                          <m:e>
                            <m:r>
                              <a:rPr lang="en-US" sz="2000">
                                <a:latin typeface="Cambria Math" panose="02040503050406030204" pitchFamily="18" charset="0"/>
                              </a:rPr>
                              <m:t>1</m:t>
                            </m:r>
                          </m:e>
                        </m:d>
                      </m:oMath>
                    </m:oMathPara>
                  </a14:m>
                  <a:endParaRPr lang="en-US" sz="2000" dirty="0"/>
                </a:p>
              </p:txBody>
            </p:sp>
          </mc:Choice>
          <mc:Fallback xmlns="">
            <p:sp>
              <p:nvSpPr>
                <p:cNvPr id="127" name="Rectangle 126">
                  <a:extLst>
                    <a:ext uri="{FF2B5EF4-FFF2-40B4-BE49-F238E27FC236}">
                      <a16:creationId xmlns:a16="http://schemas.microsoft.com/office/drawing/2014/main" id="{35E83095-BD95-1041-AD26-30458A7AFE4C}"/>
                    </a:ext>
                  </a:extLst>
                </p:cNvPr>
                <p:cNvSpPr>
                  <a:spLocks noRot="1" noChangeAspect="1" noMove="1" noResize="1" noEditPoints="1" noAdjustHandles="1" noChangeArrowheads="1" noChangeShapeType="1" noTextEdit="1"/>
                </p:cNvSpPr>
                <p:nvPr/>
              </p:nvSpPr>
              <p:spPr>
                <a:xfrm>
                  <a:off x="4157963" y="4635893"/>
                  <a:ext cx="3453894" cy="410112"/>
                </a:xfrm>
                <a:prstGeom prst="rect">
                  <a:avLst/>
                </a:prstGeom>
                <a:blipFill>
                  <a:blip r:embed="rId33"/>
                  <a:stretch>
                    <a:fillRect b="-18182"/>
                  </a:stretch>
                </a:blipFill>
              </p:spPr>
              <p:txBody>
                <a:bodyPr/>
                <a:lstStyle/>
                <a:p>
                  <a:r>
                    <a:rPr lang="en-US">
                      <a:noFill/>
                    </a:rPr>
                    <a:t> </a:t>
                  </a:r>
                </a:p>
              </p:txBody>
            </p:sp>
          </mc:Fallback>
        </mc:AlternateContent>
        <p:cxnSp>
          <p:nvCxnSpPr>
            <p:cNvPr id="128" name="Straight Arrow Connector 127">
              <a:extLst>
                <a:ext uri="{FF2B5EF4-FFF2-40B4-BE49-F238E27FC236}">
                  <a16:creationId xmlns:a16="http://schemas.microsoft.com/office/drawing/2014/main" id="{EE161C9B-C310-CF47-9BE2-A884ED8C5D30}"/>
                </a:ext>
              </a:extLst>
            </p:cNvPr>
            <p:cNvCxnSpPr>
              <a:cxnSpLocks/>
            </p:cNvCxnSpPr>
            <p:nvPr/>
          </p:nvCxnSpPr>
          <p:spPr>
            <a:xfrm flipH="1">
              <a:off x="4638897" y="2705923"/>
              <a:ext cx="1339902" cy="142044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7E19DB6C-510E-6C43-957F-F6241332E6FD}"/>
                </a:ext>
              </a:extLst>
            </p:cNvPr>
            <p:cNvCxnSpPr>
              <a:cxnSpLocks/>
            </p:cNvCxnSpPr>
            <p:nvPr/>
          </p:nvCxnSpPr>
          <p:spPr>
            <a:xfrm flipV="1">
              <a:off x="5360212" y="2704499"/>
              <a:ext cx="625347" cy="660582"/>
            </a:xfrm>
            <a:prstGeom prst="line">
              <a:avLst/>
            </a:prstGeom>
            <a:ln w="38100" cap="rnd">
              <a:solidFill>
                <a:srgbClr val="FF0000"/>
              </a:solidFill>
              <a:prstDash val="solid"/>
              <a:headEnd type="triangle" w="lg" len="lg"/>
              <a:tailEnd w="lg" len="lg"/>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2B26E4A8-72C5-724C-A30A-CBC91E2D1204}"/>
                </a:ext>
              </a:extLst>
            </p:cNvPr>
            <p:cNvSpPr/>
            <p:nvPr/>
          </p:nvSpPr>
          <p:spPr>
            <a:xfrm>
              <a:off x="5861262" y="1444021"/>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2888997E-5D23-A24F-9F4B-4FFA739846AF}"/>
                    </a:ext>
                  </a:extLst>
                </p:cNvPr>
                <p:cNvSpPr txBox="1"/>
                <p:nvPr/>
              </p:nvSpPr>
              <p:spPr>
                <a:xfrm rot="16200000">
                  <a:off x="6197985" y="2638084"/>
                  <a:ext cx="67518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1600" i="0">
                            <a:solidFill>
                              <a:schemeClr val="accent6">
                                <a:lumMod val="50000"/>
                              </a:schemeClr>
                            </a:solidFill>
                            <a:latin typeface="Cambria Math" panose="02040503050406030204" pitchFamily="18" charset="0"/>
                            <a:ea typeface="Cambria Math" panose="02040503050406030204" pitchFamily="18" charset="0"/>
                          </a:rPr>
                          <m:t>c</m:t>
                        </m:r>
                        <m:r>
                          <m:rPr>
                            <m:nor/>
                          </m:rPr>
                          <a:rPr lang="en-US" sz="1600" b="0" smtClean="0">
                            <a:solidFill>
                              <a:schemeClr val="accent6">
                                <a:lumMod val="50000"/>
                              </a:schemeClr>
                            </a:solidFill>
                            <a:latin typeface="Cambria Math" panose="02040503050406030204" pitchFamily="18" charset="0"/>
                            <a:ea typeface="Cambria Math" panose="02040503050406030204" pitchFamily="18" charset="0"/>
                          </a:rPr>
                          <m:t>os</m:t>
                        </m:r>
                        <m:r>
                          <m:rPr>
                            <m:nor/>
                          </m:rPr>
                          <a:rPr lang="en-US" sz="1600" b="0" i="0" smtClean="0">
                            <a:solidFill>
                              <a:schemeClr val="accent6">
                                <a:lumMod val="50000"/>
                              </a:schemeClr>
                            </a:solidFill>
                            <a:latin typeface="Cambria Math" panose="02040503050406030204" pitchFamily="18" charset="0"/>
                            <a:ea typeface="Cambria Math" panose="02040503050406030204" pitchFamily="18" charset="0"/>
                          </a:rPr>
                          <m:t> </m:t>
                        </m:r>
                        <m:r>
                          <m:rPr>
                            <m:sty m:val="p"/>
                          </m:rPr>
                          <a:rPr lang="el-GR" sz="1600" b="0" i="1" smtClean="0">
                            <a:solidFill>
                              <a:schemeClr val="accent6">
                                <a:lumMod val="50000"/>
                              </a:schemeClr>
                            </a:solidFill>
                            <a:latin typeface="Cambria Math" panose="02040503050406030204" pitchFamily="18" charset="0"/>
                            <a:ea typeface="Cambria Math" panose="02040503050406030204" pitchFamily="18" charset="0"/>
                          </a:rPr>
                          <m:t>θ</m:t>
                        </m:r>
                      </m:oMath>
                    </m:oMathPara>
                  </a14:m>
                  <a:endParaRPr lang="en-US" sz="1600" dirty="0"/>
                </a:p>
              </p:txBody>
            </p:sp>
          </mc:Choice>
          <mc:Fallback xmlns="">
            <p:sp>
              <p:nvSpPr>
                <p:cNvPr id="131" name="TextBox 130">
                  <a:extLst>
                    <a:ext uri="{FF2B5EF4-FFF2-40B4-BE49-F238E27FC236}">
                      <a16:creationId xmlns:a16="http://schemas.microsoft.com/office/drawing/2014/main" id="{2888997E-5D23-A24F-9F4B-4FFA739846AF}"/>
                    </a:ext>
                  </a:extLst>
                </p:cNvPr>
                <p:cNvSpPr txBox="1">
                  <a:spLocks noRot="1" noChangeAspect="1" noMove="1" noResize="1" noEditPoints="1" noAdjustHandles="1" noChangeArrowheads="1" noChangeShapeType="1" noTextEdit="1"/>
                </p:cNvSpPr>
                <p:nvPr/>
              </p:nvSpPr>
              <p:spPr>
                <a:xfrm rot="16200000">
                  <a:off x="6197985" y="2638084"/>
                  <a:ext cx="675185" cy="338554"/>
                </a:xfrm>
                <a:prstGeom prst="rect">
                  <a:avLst/>
                </a:prstGeom>
                <a:blipFill>
                  <a:blip r:embed="rId34"/>
                  <a:stretch>
                    <a:fillRect r="-10714"/>
                  </a:stretch>
                </a:blipFill>
              </p:spPr>
              <p:txBody>
                <a:bodyPr/>
                <a:lstStyle/>
                <a:p>
                  <a:r>
                    <a:rPr lang="en-US">
                      <a:noFill/>
                    </a:rPr>
                    <a:t> </a:t>
                  </a:r>
                </a:p>
              </p:txBody>
            </p:sp>
          </mc:Fallback>
        </mc:AlternateContent>
        <p:cxnSp>
          <p:nvCxnSpPr>
            <p:cNvPr id="134" name="Straight Connector 133">
              <a:extLst>
                <a:ext uri="{FF2B5EF4-FFF2-40B4-BE49-F238E27FC236}">
                  <a16:creationId xmlns:a16="http://schemas.microsoft.com/office/drawing/2014/main" id="{D92A4313-398B-E148-8EE5-67277F1DBF8C}"/>
                </a:ext>
              </a:extLst>
            </p:cNvPr>
            <p:cNvCxnSpPr>
              <a:cxnSpLocks/>
            </p:cNvCxnSpPr>
            <p:nvPr/>
          </p:nvCxnSpPr>
          <p:spPr>
            <a:xfrm>
              <a:off x="6071961" y="2759561"/>
              <a:ext cx="368845" cy="50980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EBBA99D-DB42-4143-9F53-F3D24C8B7113}"/>
                </a:ext>
              </a:extLst>
            </p:cNvPr>
            <p:cNvCxnSpPr>
              <a:cxnSpLocks/>
            </p:cNvCxnSpPr>
            <p:nvPr/>
          </p:nvCxnSpPr>
          <p:spPr>
            <a:xfrm>
              <a:off x="6440806" y="2154003"/>
              <a:ext cx="0" cy="111535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07ADF28F-A223-7943-93A4-EDD25462B737}"/>
                    </a:ext>
                  </a:extLst>
                </p:cNvPr>
                <p:cNvSpPr txBox="1"/>
                <p:nvPr/>
              </p:nvSpPr>
              <p:spPr>
                <a:xfrm>
                  <a:off x="5813680" y="2689479"/>
                  <a:ext cx="37503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600" i="1">
                            <a:latin typeface="Cambria Math" panose="02040503050406030204" pitchFamily="18" charset="0"/>
                            <a:ea typeface="Cambria Math" panose="02040503050406030204" pitchFamily="18" charset="0"/>
                          </a:rPr>
                          <m:t>𝜑</m:t>
                        </m:r>
                      </m:oMath>
                    </m:oMathPara>
                  </a14:m>
                  <a:endParaRPr lang="en-US" sz="1600" dirty="0"/>
                </a:p>
              </p:txBody>
            </p:sp>
          </mc:Choice>
          <mc:Fallback xmlns="">
            <p:sp>
              <p:nvSpPr>
                <p:cNvPr id="136" name="TextBox 135">
                  <a:extLst>
                    <a:ext uri="{FF2B5EF4-FFF2-40B4-BE49-F238E27FC236}">
                      <a16:creationId xmlns:a16="http://schemas.microsoft.com/office/drawing/2014/main" id="{07ADF28F-A223-7943-93A4-EDD25462B737}"/>
                    </a:ext>
                  </a:extLst>
                </p:cNvPr>
                <p:cNvSpPr txBox="1">
                  <a:spLocks noRot="1" noChangeAspect="1" noMove="1" noResize="1" noEditPoints="1" noAdjustHandles="1" noChangeArrowheads="1" noChangeShapeType="1" noTextEdit="1"/>
                </p:cNvSpPr>
                <p:nvPr/>
              </p:nvSpPr>
              <p:spPr>
                <a:xfrm>
                  <a:off x="5813680" y="2689479"/>
                  <a:ext cx="375039" cy="338554"/>
                </a:xfrm>
                <a:prstGeom prst="rect">
                  <a:avLst/>
                </a:prstGeom>
                <a:blipFill>
                  <a:blip r:embed="rId35"/>
                  <a:stretch>
                    <a:fillRect b="-3704"/>
                  </a:stretch>
                </a:blipFill>
              </p:spPr>
              <p:txBody>
                <a:bodyPr/>
                <a:lstStyle/>
                <a:p>
                  <a:r>
                    <a:rPr lang="en-US">
                      <a:noFill/>
                    </a:rPr>
                    <a:t> </a:t>
                  </a:r>
                </a:p>
              </p:txBody>
            </p:sp>
          </mc:Fallback>
        </mc:AlternateContent>
        <p:sp>
          <p:nvSpPr>
            <p:cNvPr id="138" name="Arc 137">
              <a:extLst>
                <a:ext uri="{FF2B5EF4-FFF2-40B4-BE49-F238E27FC236}">
                  <a16:creationId xmlns:a16="http://schemas.microsoft.com/office/drawing/2014/main" id="{0E91BA33-BA76-444A-9D6A-9D4F9E481CE0}"/>
                </a:ext>
              </a:extLst>
            </p:cNvPr>
            <p:cNvSpPr/>
            <p:nvPr/>
          </p:nvSpPr>
          <p:spPr>
            <a:xfrm rot="11038940">
              <a:off x="5730837" y="2922038"/>
              <a:ext cx="493319" cy="136021"/>
            </a:xfrm>
            <a:prstGeom prst="arc">
              <a:avLst>
                <a:gd name="adj1" fmla="val 11030310"/>
                <a:gd name="adj2" fmla="val 2139128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0" name="Freeform 139">
              <a:extLst>
                <a:ext uri="{FF2B5EF4-FFF2-40B4-BE49-F238E27FC236}">
                  <a16:creationId xmlns:a16="http://schemas.microsoft.com/office/drawing/2014/main" id="{19F2C5CA-6D61-F94C-B641-5A2453B8D88B}"/>
                </a:ext>
              </a:extLst>
            </p:cNvPr>
            <p:cNvSpPr/>
            <p:nvPr/>
          </p:nvSpPr>
          <p:spPr>
            <a:xfrm>
              <a:off x="6111586" y="3085740"/>
              <a:ext cx="250896" cy="379267"/>
            </a:xfrm>
            <a:custGeom>
              <a:avLst/>
              <a:gdLst>
                <a:gd name="connsiteX0" fmla="*/ 295024 w 295024"/>
                <a:gd name="connsiteY0" fmla="*/ 301336 h 301336"/>
                <a:gd name="connsiteX1" fmla="*/ 9274 w 295024"/>
                <a:gd name="connsiteY1" fmla="*/ 150668 h 301336"/>
                <a:gd name="connsiteX2" fmla="*/ 97597 w 295024"/>
                <a:gd name="connsiteY2" fmla="*/ 0 h 301336"/>
                <a:gd name="connsiteX0" fmla="*/ 250896 w 250896"/>
                <a:gd name="connsiteY0" fmla="*/ 379267 h 379267"/>
                <a:gd name="connsiteX1" fmla="*/ 6710 w 250896"/>
                <a:gd name="connsiteY1" fmla="*/ 150668 h 379267"/>
                <a:gd name="connsiteX2" fmla="*/ 95033 w 250896"/>
                <a:gd name="connsiteY2" fmla="*/ 0 h 379267"/>
              </a:gdLst>
              <a:ahLst/>
              <a:cxnLst>
                <a:cxn ang="0">
                  <a:pos x="connsiteX0" y="connsiteY0"/>
                </a:cxn>
                <a:cxn ang="0">
                  <a:pos x="connsiteX1" y="connsiteY1"/>
                </a:cxn>
                <a:cxn ang="0">
                  <a:pos x="connsiteX2" y="connsiteY2"/>
                </a:cxn>
              </a:cxnLst>
              <a:rect l="l" t="t" r="r" b="b"/>
              <a:pathLst>
                <a:path w="250896" h="379267">
                  <a:moveTo>
                    <a:pt x="250896" y="379267"/>
                  </a:moveTo>
                  <a:cubicBezTo>
                    <a:pt x="124473" y="329044"/>
                    <a:pt x="32687" y="213879"/>
                    <a:pt x="6710" y="150668"/>
                  </a:cubicBezTo>
                  <a:cubicBezTo>
                    <a:pt x="-19267" y="87457"/>
                    <a:pt x="34419" y="50222"/>
                    <a:pt x="95033" y="0"/>
                  </a:cubicBezTo>
                </a:path>
              </a:pathLst>
            </a:custGeom>
            <a:noFill/>
            <a:ln>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FC22F0B9-256D-6F40-BBEF-D57387FD8AC7}"/>
                    </a:ext>
                  </a:extLst>
                </p:cNvPr>
                <p:cNvSpPr txBox="1"/>
                <p:nvPr/>
              </p:nvSpPr>
              <p:spPr>
                <a:xfrm>
                  <a:off x="3422163" y="4508910"/>
                  <a:ext cx="614142"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oMath>
                    </m:oMathPara>
                  </a14:m>
                  <a:endParaRPr lang="en-US" dirty="0"/>
                </a:p>
              </p:txBody>
            </p:sp>
          </mc:Choice>
          <mc:Fallback xmlns="">
            <p:sp>
              <p:nvSpPr>
                <p:cNvPr id="178" name="TextBox 177">
                  <a:extLst>
                    <a:ext uri="{FF2B5EF4-FFF2-40B4-BE49-F238E27FC236}">
                      <a16:creationId xmlns:a16="http://schemas.microsoft.com/office/drawing/2014/main" id="{FC22F0B9-256D-6F40-BBEF-D57387FD8AC7}"/>
                    </a:ext>
                  </a:extLst>
                </p:cNvPr>
                <p:cNvSpPr txBox="1">
                  <a:spLocks noRot="1" noChangeAspect="1" noMove="1" noResize="1" noEditPoints="1" noAdjustHandles="1" noChangeArrowheads="1" noChangeShapeType="1" noTextEdit="1"/>
                </p:cNvSpPr>
                <p:nvPr/>
              </p:nvSpPr>
              <p:spPr>
                <a:xfrm>
                  <a:off x="3422163" y="4508910"/>
                  <a:ext cx="614142" cy="378245"/>
                </a:xfrm>
                <a:prstGeom prst="rect">
                  <a:avLst/>
                </a:prstGeom>
                <a:blipFill>
                  <a:blip r:embed="rId36"/>
                  <a:stretch>
                    <a:fillRect b="-12903"/>
                  </a:stretch>
                </a:blipFill>
              </p:spPr>
              <p:txBody>
                <a:bodyPr/>
                <a:lstStyle/>
                <a:p>
                  <a:r>
                    <a:rPr lang="en-US">
                      <a:noFill/>
                    </a:rPr>
                    <a:t> </a:t>
                  </a:r>
                </a:p>
              </p:txBody>
            </p:sp>
          </mc:Fallback>
        </mc:AlternateContent>
        <p:cxnSp>
          <p:nvCxnSpPr>
            <p:cNvPr id="180" name="Straight Arrow Connector 179">
              <a:extLst>
                <a:ext uri="{FF2B5EF4-FFF2-40B4-BE49-F238E27FC236}">
                  <a16:creationId xmlns:a16="http://schemas.microsoft.com/office/drawing/2014/main" id="{5D06FC81-6B96-4C44-AAFD-1DA27DB93792}"/>
                </a:ext>
              </a:extLst>
            </p:cNvPr>
            <p:cNvCxnSpPr>
              <a:cxnSpLocks/>
            </p:cNvCxnSpPr>
            <p:nvPr/>
          </p:nvCxnSpPr>
          <p:spPr>
            <a:xfrm>
              <a:off x="3374262" y="4887155"/>
              <a:ext cx="720000"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91" name="TextBox 190">
              <a:extLst>
                <a:ext uri="{FF2B5EF4-FFF2-40B4-BE49-F238E27FC236}">
                  <a16:creationId xmlns:a16="http://schemas.microsoft.com/office/drawing/2014/main" id="{08B38529-6AE4-E046-975E-7B30B8877556}"/>
                </a:ext>
              </a:extLst>
            </p:cNvPr>
            <p:cNvSpPr txBox="1"/>
            <p:nvPr/>
          </p:nvSpPr>
          <p:spPr>
            <a:xfrm>
              <a:off x="4446584" y="1187152"/>
              <a:ext cx="637037" cy="461665"/>
            </a:xfrm>
            <a:prstGeom prst="rect">
              <a:avLst/>
            </a:prstGeom>
            <a:noFill/>
          </p:spPr>
          <p:txBody>
            <a:bodyPr wrap="square" rtlCol="0">
              <a:spAutoFit/>
            </a:bodyPr>
            <a:lstStyle/>
            <a:p>
              <a:r>
                <a:rPr lang="en-US" sz="2400" dirty="0"/>
                <a:t>(2)</a:t>
              </a:r>
            </a:p>
          </p:txBody>
        </p:sp>
        <p:sp>
          <p:nvSpPr>
            <p:cNvPr id="196" name="Oval 195">
              <a:extLst>
                <a:ext uri="{FF2B5EF4-FFF2-40B4-BE49-F238E27FC236}">
                  <a16:creationId xmlns:a16="http://schemas.microsoft.com/office/drawing/2014/main" id="{067E8AEE-65E6-C14D-B2EB-85052322308C}"/>
                </a:ext>
              </a:extLst>
            </p:cNvPr>
            <p:cNvSpPr/>
            <p:nvPr/>
          </p:nvSpPr>
          <p:spPr>
            <a:xfrm>
              <a:off x="5058882" y="1259442"/>
              <a:ext cx="1830469" cy="926317"/>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A20F42F1-2D70-584E-84F9-542B3EE875AC}"/>
              </a:ext>
            </a:extLst>
          </p:cNvPr>
          <p:cNvSpPr txBox="1"/>
          <p:nvPr/>
        </p:nvSpPr>
        <p:spPr>
          <a:xfrm>
            <a:off x="2511130" y="5414248"/>
            <a:ext cx="2601738" cy="400110"/>
          </a:xfrm>
          <a:prstGeom prst="rect">
            <a:avLst/>
          </a:prstGeom>
          <a:noFill/>
        </p:spPr>
        <p:txBody>
          <a:bodyPr wrap="none" rtlCol="0">
            <a:spAutoFit/>
          </a:bodyPr>
          <a:lstStyle/>
          <a:p>
            <a:r>
              <a:rPr lang="en-ZA" sz="2000" dirty="0"/>
              <a:t>initial geometric model</a:t>
            </a:r>
            <a:endParaRPr lang="en-US" sz="2000" dirty="0"/>
          </a:p>
        </p:txBody>
      </p:sp>
      <p:grpSp>
        <p:nvGrpSpPr>
          <p:cNvPr id="22" name="Group 21">
            <a:extLst>
              <a:ext uri="{FF2B5EF4-FFF2-40B4-BE49-F238E27FC236}">
                <a16:creationId xmlns:a16="http://schemas.microsoft.com/office/drawing/2014/main" id="{7D6BBAFB-BA2C-E441-A5D2-64B0A7CEDC21}"/>
              </a:ext>
            </a:extLst>
          </p:cNvPr>
          <p:cNvGrpSpPr/>
          <p:nvPr/>
        </p:nvGrpSpPr>
        <p:grpSpPr>
          <a:xfrm>
            <a:off x="7523417" y="417725"/>
            <a:ext cx="4523851" cy="6290543"/>
            <a:chOff x="7523417" y="417725"/>
            <a:chExt cx="4523851" cy="6290543"/>
          </a:xfrm>
        </p:grpSpPr>
        <p:grpSp>
          <p:nvGrpSpPr>
            <p:cNvPr id="199" name="Group 198">
              <a:extLst>
                <a:ext uri="{FF2B5EF4-FFF2-40B4-BE49-F238E27FC236}">
                  <a16:creationId xmlns:a16="http://schemas.microsoft.com/office/drawing/2014/main" id="{3A79BDC0-7379-4849-AF55-458827058E49}"/>
                </a:ext>
              </a:extLst>
            </p:cNvPr>
            <p:cNvGrpSpPr/>
            <p:nvPr/>
          </p:nvGrpSpPr>
          <p:grpSpPr>
            <a:xfrm>
              <a:off x="7523417" y="790389"/>
              <a:ext cx="4523851" cy="5917879"/>
              <a:chOff x="7523417" y="790389"/>
              <a:chExt cx="4523851" cy="5917879"/>
            </a:xfrm>
          </p:grpSpPr>
          <p:grpSp>
            <p:nvGrpSpPr>
              <p:cNvPr id="189" name="Group 188">
                <a:extLst>
                  <a:ext uri="{FF2B5EF4-FFF2-40B4-BE49-F238E27FC236}">
                    <a16:creationId xmlns:a16="http://schemas.microsoft.com/office/drawing/2014/main" id="{A1FAB0B2-C4ED-0A41-B725-A34F920428C0}"/>
                  </a:ext>
                </a:extLst>
              </p:cNvPr>
              <p:cNvGrpSpPr/>
              <p:nvPr/>
            </p:nvGrpSpPr>
            <p:grpSpPr>
              <a:xfrm>
                <a:off x="7523417" y="790389"/>
                <a:ext cx="4523851" cy="5917879"/>
                <a:chOff x="7523417" y="790389"/>
                <a:chExt cx="4523851" cy="5917879"/>
              </a:xfrm>
            </p:grpSpPr>
            <p:sp>
              <p:nvSpPr>
                <p:cNvPr id="187" name="Rectangle 186">
                  <a:extLst>
                    <a:ext uri="{FF2B5EF4-FFF2-40B4-BE49-F238E27FC236}">
                      <a16:creationId xmlns:a16="http://schemas.microsoft.com/office/drawing/2014/main" id="{8A51E191-2AEA-0B47-9759-4F41AC50316D}"/>
                    </a:ext>
                  </a:extLst>
                </p:cNvPr>
                <p:cNvSpPr/>
                <p:nvPr/>
              </p:nvSpPr>
              <p:spPr>
                <a:xfrm>
                  <a:off x="8601453" y="4414345"/>
                  <a:ext cx="3038888" cy="201981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BBD9A973-30E4-DF4C-A8D7-875871206B57}"/>
                    </a:ext>
                  </a:extLst>
                </p:cNvPr>
                <p:cNvSpPr/>
                <p:nvPr/>
              </p:nvSpPr>
              <p:spPr>
                <a:xfrm>
                  <a:off x="8601453" y="2283166"/>
                  <a:ext cx="2992675" cy="1137366"/>
                </a:xfrm>
                <a:prstGeom prst="ellipse">
                  <a:avLst/>
                </a:prstGeom>
                <a:solidFill>
                  <a:schemeClr val="accent4">
                    <a:lumMod val="20000"/>
                    <a:lumOff val="80000"/>
                    <a:alpha val="54000"/>
                  </a:schemeClr>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0D330D27-9CD9-184B-A188-6C93DAF96F5E}"/>
                    </a:ext>
                  </a:extLst>
                </p:cNvPr>
                <p:cNvSpPr>
                  <a:spLocks noChangeAspect="1"/>
                </p:cNvSpPr>
                <p:nvPr/>
              </p:nvSpPr>
              <p:spPr>
                <a:xfrm>
                  <a:off x="8586143" y="1246328"/>
                  <a:ext cx="2995816" cy="29958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3" name="Straight Arrow Connector 142">
                  <a:extLst>
                    <a:ext uri="{FF2B5EF4-FFF2-40B4-BE49-F238E27FC236}">
                      <a16:creationId xmlns:a16="http://schemas.microsoft.com/office/drawing/2014/main" id="{5A920715-75E0-EF44-AFD6-D503D0EED2E5}"/>
                    </a:ext>
                  </a:extLst>
                </p:cNvPr>
                <p:cNvCxnSpPr>
                  <a:cxnSpLocks/>
                </p:cNvCxnSpPr>
                <p:nvPr/>
              </p:nvCxnSpPr>
              <p:spPr>
                <a:xfrm>
                  <a:off x="10084050" y="2705658"/>
                  <a:ext cx="1677231" cy="54208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C86BF97-616E-714C-9C33-C0DFCE3AC8F0}"/>
                    </a:ext>
                  </a:extLst>
                </p:cNvPr>
                <p:cNvSpPr/>
                <p:nvPr/>
              </p:nvSpPr>
              <p:spPr>
                <a:xfrm>
                  <a:off x="9180819" y="1264772"/>
                  <a:ext cx="1830469" cy="906726"/>
                </a:xfrm>
                <a:prstGeom prst="ellipse">
                  <a:avLst/>
                </a:pr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Arc 144">
                  <a:extLst>
                    <a:ext uri="{FF2B5EF4-FFF2-40B4-BE49-F238E27FC236}">
                      <a16:creationId xmlns:a16="http://schemas.microsoft.com/office/drawing/2014/main" id="{08D27FB8-6C24-0741-8F0C-E3790605B48C}"/>
                    </a:ext>
                  </a:extLst>
                </p:cNvPr>
                <p:cNvSpPr/>
                <p:nvPr/>
              </p:nvSpPr>
              <p:spPr>
                <a:xfrm rot="9527851" flipH="1">
                  <a:off x="9319404" y="1192262"/>
                  <a:ext cx="1423185" cy="3054761"/>
                </a:xfrm>
                <a:prstGeom prst="arc">
                  <a:avLst>
                    <a:gd name="adj1" fmla="val 16079390"/>
                    <a:gd name="adj2" fmla="val 4769972"/>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6" name="Rectangle 145">
                      <a:extLst>
                        <a:ext uri="{FF2B5EF4-FFF2-40B4-BE49-F238E27FC236}">
                          <a16:creationId xmlns:a16="http://schemas.microsoft.com/office/drawing/2014/main" id="{E66325F3-92D0-1145-9391-5CF021704D82}"/>
                        </a:ext>
                      </a:extLst>
                    </p:cNvPr>
                    <p:cNvSpPr/>
                    <p:nvPr/>
                  </p:nvSpPr>
                  <p:spPr>
                    <a:xfrm>
                      <a:off x="10628374" y="1974547"/>
                      <a:ext cx="5198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𝑆</m:t>
                                </m:r>
                              </m:e>
                            </m:d>
                          </m:oMath>
                        </m:oMathPara>
                      </a14:m>
                      <a:endParaRPr lang="en-US" dirty="0"/>
                    </a:p>
                  </p:txBody>
                </p:sp>
              </mc:Choice>
              <mc:Fallback xmlns="">
                <p:sp>
                  <p:nvSpPr>
                    <p:cNvPr id="146" name="Rectangle 145">
                      <a:extLst>
                        <a:ext uri="{FF2B5EF4-FFF2-40B4-BE49-F238E27FC236}">
                          <a16:creationId xmlns:a16="http://schemas.microsoft.com/office/drawing/2014/main" id="{E66325F3-92D0-1145-9391-5CF021704D82}"/>
                        </a:ext>
                      </a:extLst>
                    </p:cNvPr>
                    <p:cNvSpPr>
                      <a:spLocks noRot="1" noChangeAspect="1" noMove="1" noResize="1" noEditPoints="1" noAdjustHandles="1" noChangeArrowheads="1" noChangeShapeType="1" noTextEdit="1"/>
                    </p:cNvSpPr>
                    <p:nvPr/>
                  </p:nvSpPr>
                  <p:spPr>
                    <a:xfrm>
                      <a:off x="10628374" y="1974547"/>
                      <a:ext cx="519886" cy="369332"/>
                    </a:xfrm>
                    <a:prstGeom prst="rect">
                      <a:avLst/>
                    </a:prstGeom>
                    <a:blipFill>
                      <a:blip r:embed="rId12"/>
                      <a:stretch>
                        <a:fillRect/>
                      </a:stretch>
                    </a:blipFill>
                  </p:spPr>
                  <p:txBody>
                    <a:bodyPr/>
                    <a:lstStyle/>
                    <a:p>
                      <a:r>
                        <a:rPr lang="en-US">
                          <a:noFill/>
                        </a:rPr>
                        <a:t> </a:t>
                      </a:r>
                    </a:p>
                  </p:txBody>
                </p:sp>
              </mc:Fallback>
            </mc:AlternateContent>
            <p:sp>
              <p:nvSpPr>
                <p:cNvPr id="147" name="Oval 146">
                  <a:extLst>
                    <a:ext uri="{FF2B5EF4-FFF2-40B4-BE49-F238E27FC236}">
                      <a16:creationId xmlns:a16="http://schemas.microsoft.com/office/drawing/2014/main" id="{1AC72515-7ED7-0344-BCAD-3FCA1FC802EB}"/>
                    </a:ext>
                  </a:extLst>
                </p:cNvPr>
                <p:cNvSpPr/>
                <p:nvPr/>
              </p:nvSpPr>
              <p:spPr>
                <a:xfrm>
                  <a:off x="9971480" y="3822083"/>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6CED4738-E623-DE40-9654-FE6741A1158B}"/>
                        </a:ext>
                      </a:extLst>
                    </p:cNvPr>
                    <p:cNvSpPr txBox="1"/>
                    <p:nvPr/>
                  </p:nvSpPr>
                  <p:spPr>
                    <a:xfrm>
                      <a:off x="8446885" y="3846901"/>
                      <a:ext cx="3679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148" name="TextBox 147">
                      <a:extLst>
                        <a:ext uri="{FF2B5EF4-FFF2-40B4-BE49-F238E27FC236}">
                          <a16:creationId xmlns:a16="http://schemas.microsoft.com/office/drawing/2014/main" id="{6CED4738-E623-DE40-9654-FE6741A1158B}"/>
                        </a:ext>
                      </a:extLst>
                    </p:cNvPr>
                    <p:cNvSpPr txBox="1">
                      <a:spLocks noRot="1" noChangeAspect="1" noMove="1" noResize="1" noEditPoints="1" noAdjustHandles="1" noChangeArrowheads="1" noChangeShapeType="1" noTextEdit="1"/>
                    </p:cNvSpPr>
                    <p:nvPr/>
                  </p:nvSpPr>
                  <p:spPr>
                    <a:xfrm>
                      <a:off x="8446885" y="3846901"/>
                      <a:ext cx="36798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72CDA555-7964-134E-A5FE-F23BBED62DDC}"/>
                        </a:ext>
                      </a:extLst>
                    </p:cNvPr>
                    <p:cNvSpPr txBox="1"/>
                    <p:nvPr/>
                  </p:nvSpPr>
                  <p:spPr>
                    <a:xfrm>
                      <a:off x="9780666" y="790389"/>
                      <a:ext cx="2858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oMath>
                        </m:oMathPara>
                      </a14:m>
                      <a:endParaRPr lang="en-US" dirty="0"/>
                    </a:p>
                  </p:txBody>
                </p:sp>
              </mc:Choice>
              <mc:Fallback xmlns="">
                <p:sp>
                  <p:nvSpPr>
                    <p:cNvPr id="149" name="TextBox 148">
                      <a:extLst>
                        <a:ext uri="{FF2B5EF4-FFF2-40B4-BE49-F238E27FC236}">
                          <a16:creationId xmlns:a16="http://schemas.microsoft.com/office/drawing/2014/main" id="{72CDA555-7964-134E-A5FE-F23BBED62DDC}"/>
                        </a:ext>
                      </a:extLst>
                    </p:cNvPr>
                    <p:cNvSpPr txBox="1">
                      <a:spLocks noRot="1" noChangeAspect="1" noMove="1" noResize="1" noEditPoints="1" noAdjustHandles="1" noChangeArrowheads="1" noChangeShapeType="1" noTextEdit="1"/>
                    </p:cNvSpPr>
                    <p:nvPr/>
                  </p:nvSpPr>
                  <p:spPr>
                    <a:xfrm>
                      <a:off x="9780666" y="790389"/>
                      <a:ext cx="28581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5C912C8D-3403-5A4F-880D-8B9111086C1F}"/>
                        </a:ext>
                      </a:extLst>
                    </p:cNvPr>
                    <p:cNvSpPr txBox="1"/>
                    <p:nvPr/>
                  </p:nvSpPr>
                  <p:spPr>
                    <a:xfrm>
                      <a:off x="11675884" y="2872350"/>
                      <a:ext cx="37138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150" name="TextBox 149">
                      <a:extLst>
                        <a:ext uri="{FF2B5EF4-FFF2-40B4-BE49-F238E27FC236}">
                          <a16:creationId xmlns:a16="http://schemas.microsoft.com/office/drawing/2014/main" id="{5C912C8D-3403-5A4F-880D-8B9111086C1F}"/>
                        </a:ext>
                      </a:extLst>
                    </p:cNvPr>
                    <p:cNvSpPr txBox="1">
                      <a:spLocks noRot="1" noChangeAspect="1" noMove="1" noResize="1" noEditPoints="1" noAdjustHandles="1" noChangeArrowheads="1" noChangeShapeType="1" noTextEdit="1"/>
                    </p:cNvSpPr>
                    <p:nvPr/>
                  </p:nvSpPr>
                  <p:spPr>
                    <a:xfrm>
                      <a:off x="11675884" y="2872350"/>
                      <a:ext cx="371384" cy="369332"/>
                    </a:xfrm>
                    <a:prstGeom prst="rect">
                      <a:avLst/>
                    </a:prstGeom>
                    <a:blipFill>
                      <a:blip r:embed="rId14"/>
                      <a:stretch>
                        <a:fillRect b="-6667"/>
                      </a:stretch>
                    </a:blipFill>
                  </p:spPr>
                  <p:txBody>
                    <a:bodyPr/>
                    <a:lstStyle/>
                    <a:p>
                      <a:r>
                        <a:rPr lang="en-US">
                          <a:noFill/>
                        </a:rPr>
                        <a:t> </a:t>
                      </a:r>
                    </a:p>
                  </p:txBody>
                </p:sp>
              </mc:Fallback>
            </mc:AlternateContent>
            <p:cxnSp>
              <p:nvCxnSpPr>
                <p:cNvPr id="151" name="Straight Connector 150">
                  <a:extLst>
                    <a:ext uri="{FF2B5EF4-FFF2-40B4-BE49-F238E27FC236}">
                      <a16:creationId xmlns:a16="http://schemas.microsoft.com/office/drawing/2014/main" id="{3807255B-E8ED-0749-928F-D790AD9D6761}"/>
                    </a:ext>
                  </a:extLst>
                </p:cNvPr>
                <p:cNvCxnSpPr>
                  <a:cxnSpLocks/>
                </p:cNvCxnSpPr>
                <p:nvPr/>
              </p:nvCxnSpPr>
              <p:spPr>
                <a:xfrm flipH="1" flipV="1">
                  <a:off x="9132010" y="2387309"/>
                  <a:ext cx="972851" cy="31835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Rectangle 151">
                      <a:extLst>
                        <a:ext uri="{FF2B5EF4-FFF2-40B4-BE49-F238E27FC236}">
                          <a16:creationId xmlns:a16="http://schemas.microsoft.com/office/drawing/2014/main" id="{C7DECAF4-85C0-FA46-97AA-63BD92C4508E}"/>
                        </a:ext>
                      </a:extLst>
                    </p:cNvPr>
                    <p:cNvSpPr/>
                    <p:nvPr/>
                  </p:nvSpPr>
                  <p:spPr>
                    <a:xfrm>
                      <a:off x="10010458" y="90639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0</m:t>
                                </m:r>
                              </m:e>
                            </m:d>
                          </m:oMath>
                        </m:oMathPara>
                      </a14:m>
                      <a:endParaRPr lang="en-US" dirty="0"/>
                    </a:p>
                  </p:txBody>
                </p:sp>
              </mc:Choice>
              <mc:Fallback xmlns="">
                <p:sp>
                  <p:nvSpPr>
                    <p:cNvPr id="152" name="Rectangle 151">
                      <a:extLst>
                        <a:ext uri="{FF2B5EF4-FFF2-40B4-BE49-F238E27FC236}">
                          <a16:creationId xmlns:a16="http://schemas.microsoft.com/office/drawing/2014/main" id="{C7DECAF4-85C0-FA46-97AA-63BD92C4508E}"/>
                        </a:ext>
                      </a:extLst>
                    </p:cNvPr>
                    <p:cNvSpPr>
                      <a:spLocks noRot="1" noChangeAspect="1" noMove="1" noResize="1" noEditPoints="1" noAdjustHandles="1" noChangeArrowheads="1" noChangeShapeType="1" noTextEdit="1"/>
                    </p:cNvSpPr>
                    <p:nvPr/>
                  </p:nvSpPr>
                  <p:spPr>
                    <a:xfrm>
                      <a:off x="10010458" y="906391"/>
                      <a:ext cx="521810"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Rectangle 152">
                      <a:extLst>
                        <a:ext uri="{FF2B5EF4-FFF2-40B4-BE49-F238E27FC236}">
                          <a16:creationId xmlns:a16="http://schemas.microsoft.com/office/drawing/2014/main" id="{E32AE648-1B5E-6A49-ABD4-775E5FFD426A}"/>
                        </a:ext>
                      </a:extLst>
                    </p:cNvPr>
                    <p:cNvSpPr/>
                    <p:nvPr/>
                  </p:nvSpPr>
                  <p:spPr>
                    <a:xfrm>
                      <a:off x="9519761" y="3784855"/>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sr-Latn-RS" b="0" i="1" smtClean="0">
                                    <a:latin typeface="Cambria Math" panose="02040503050406030204" pitchFamily="18" charset="0"/>
                                    <a:ea typeface="Cambria Math" panose="02040503050406030204" pitchFamily="18" charset="0"/>
                                  </a:rPr>
                                  <m:t>1</m:t>
                                </m:r>
                              </m:e>
                            </m:d>
                          </m:oMath>
                        </m:oMathPara>
                      </a14:m>
                      <a:endParaRPr lang="en-US" dirty="0"/>
                    </a:p>
                  </p:txBody>
                </p:sp>
              </mc:Choice>
              <mc:Fallback xmlns="">
                <p:sp>
                  <p:nvSpPr>
                    <p:cNvPr id="153" name="Rectangle 152">
                      <a:extLst>
                        <a:ext uri="{FF2B5EF4-FFF2-40B4-BE49-F238E27FC236}">
                          <a16:creationId xmlns:a16="http://schemas.microsoft.com/office/drawing/2014/main" id="{E32AE648-1B5E-6A49-ABD4-775E5FFD426A}"/>
                        </a:ext>
                      </a:extLst>
                    </p:cNvPr>
                    <p:cNvSpPr>
                      <a:spLocks noRot="1" noChangeAspect="1" noMove="1" noResize="1" noEditPoints="1" noAdjustHandles="1" noChangeArrowheads="1" noChangeShapeType="1" noTextEdit="1"/>
                    </p:cNvSpPr>
                    <p:nvPr/>
                  </p:nvSpPr>
                  <p:spPr>
                    <a:xfrm>
                      <a:off x="9519761" y="3784855"/>
                      <a:ext cx="521810" cy="369332"/>
                    </a:xfrm>
                    <a:prstGeom prst="rect">
                      <a:avLst/>
                    </a:prstGeom>
                    <a:blipFill>
                      <a:blip r:embed="rId16"/>
                      <a:stretch>
                        <a:fillRect/>
                      </a:stretch>
                    </a:blipFill>
                  </p:spPr>
                  <p:txBody>
                    <a:bodyPr/>
                    <a:lstStyle/>
                    <a:p>
                      <a:r>
                        <a:rPr lang="en-US">
                          <a:noFill/>
                        </a:rPr>
                        <a:t> </a:t>
                      </a:r>
                    </a:p>
                  </p:txBody>
                </p:sp>
              </mc:Fallback>
            </mc:AlternateContent>
            <p:cxnSp>
              <p:nvCxnSpPr>
                <p:cNvPr id="154" name="Straight Arrow Connector 153">
                  <a:extLst>
                    <a:ext uri="{FF2B5EF4-FFF2-40B4-BE49-F238E27FC236}">
                      <a16:creationId xmlns:a16="http://schemas.microsoft.com/office/drawing/2014/main" id="{F6350F16-FE5E-3743-BAA7-CB907F8B0249}"/>
                    </a:ext>
                  </a:extLst>
                </p:cNvPr>
                <p:cNvCxnSpPr>
                  <a:cxnSpLocks/>
                </p:cNvCxnSpPr>
                <p:nvPr/>
              </p:nvCxnSpPr>
              <p:spPr>
                <a:xfrm flipV="1">
                  <a:off x="10088733" y="993630"/>
                  <a:ext cx="0" cy="1719616"/>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5ABDD5B3-C30F-9440-A2E3-D54736B96508}"/>
                    </a:ext>
                  </a:extLst>
                </p:cNvPr>
                <p:cNvCxnSpPr>
                  <a:cxnSpLocks/>
                </p:cNvCxnSpPr>
                <p:nvPr/>
              </p:nvCxnSpPr>
              <p:spPr>
                <a:xfrm flipV="1">
                  <a:off x="10096053" y="2140648"/>
                  <a:ext cx="453328" cy="572598"/>
                </a:xfrm>
                <a:prstGeom prst="line">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5C76B1F9-A29B-A041-9BF6-EE71A86BF18D}"/>
                    </a:ext>
                  </a:extLst>
                </p:cNvPr>
                <p:cNvCxnSpPr>
                  <a:cxnSpLocks/>
                </p:cNvCxnSpPr>
                <p:nvPr/>
              </p:nvCxnSpPr>
              <p:spPr>
                <a:xfrm flipH="1" flipV="1">
                  <a:off x="10095587" y="1494821"/>
                  <a:ext cx="1936" cy="1188000"/>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8C0BC3BA-4BEF-E541-86D6-303EAC9A0747}"/>
                        </a:ext>
                      </a:extLst>
                    </p:cNvPr>
                    <p:cNvSpPr txBox="1"/>
                    <p:nvPr/>
                  </p:nvSpPr>
                  <p:spPr>
                    <a:xfrm>
                      <a:off x="9986693" y="2230940"/>
                      <a:ext cx="39748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600" i="1">
                                <a:latin typeface="Cambria Math" panose="02040503050406030204" pitchFamily="18" charset="0"/>
                                <a:ea typeface="Cambria Math" panose="02040503050406030204" pitchFamily="18" charset="0"/>
                              </a:rPr>
                              <m:t> </m:t>
                            </m:r>
                            <m:r>
                              <a:rPr lang="el-GR" sz="1600" i="1">
                                <a:latin typeface="Cambria Math" panose="02040503050406030204" pitchFamily="18" charset="0"/>
                                <a:ea typeface="Cambria Math" panose="02040503050406030204" pitchFamily="18" charset="0"/>
                              </a:rPr>
                              <m:t>𝜃</m:t>
                            </m:r>
                          </m:oMath>
                        </m:oMathPara>
                      </a14:m>
                      <a:endParaRPr lang="en-US" sz="1600" dirty="0"/>
                    </a:p>
                  </p:txBody>
                </p:sp>
              </mc:Choice>
              <mc:Fallback xmlns="">
                <p:sp>
                  <p:nvSpPr>
                    <p:cNvPr id="157" name="TextBox 156">
                      <a:extLst>
                        <a:ext uri="{FF2B5EF4-FFF2-40B4-BE49-F238E27FC236}">
                          <a16:creationId xmlns:a16="http://schemas.microsoft.com/office/drawing/2014/main" id="{8C0BC3BA-4BEF-E541-86D6-303EAC9A0747}"/>
                        </a:ext>
                      </a:extLst>
                    </p:cNvPr>
                    <p:cNvSpPr txBox="1">
                      <a:spLocks noRot="1" noChangeAspect="1" noMove="1" noResize="1" noEditPoints="1" noAdjustHandles="1" noChangeArrowheads="1" noChangeShapeType="1" noTextEdit="1"/>
                    </p:cNvSpPr>
                    <p:nvPr/>
                  </p:nvSpPr>
                  <p:spPr>
                    <a:xfrm>
                      <a:off x="9986693" y="2230940"/>
                      <a:ext cx="397480" cy="338554"/>
                    </a:xfrm>
                    <a:prstGeom prst="rect">
                      <a:avLst/>
                    </a:prstGeom>
                    <a:blipFill>
                      <a:blip r:embed="rId17"/>
                      <a:stretch>
                        <a:fillRect b="-11111"/>
                      </a:stretch>
                    </a:blipFill>
                  </p:spPr>
                  <p:txBody>
                    <a:bodyPr/>
                    <a:lstStyle/>
                    <a:p>
                      <a:r>
                        <a:rPr lang="en-US">
                          <a:noFill/>
                        </a:rPr>
                        <a:t> </a:t>
                      </a:r>
                    </a:p>
                  </p:txBody>
                </p:sp>
              </mc:Fallback>
            </mc:AlternateContent>
            <p:sp>
              <p:nvSpPr>
                <p:cNvPr id="158" name="Freeform 157">
                  <a:extLst>
                    <a:ext uri="{FF2B5EF4-FFF2-40B4-BE49-F238E27FC236}">
                      <a16:creationId xmlns:a16="http://schemas.microsoft.com/office/drawing/2014/main" id="{F01B0434-0D08-B44F-B4D3-966E68814D5A}"/>
                    </a:ext>
                  </a:extLst>
                </p:cNvPr>
                <p:cNvSpPr/>
                <p:nvPr/>
              </p:nvSpPr>
              <p:spPr>
                <a:xfrm rot="1051130" flipH="1" flipV="1">
                  <a:off x="10104431" y="2251435"/>
                  <a:ext cx="265464" cy="45719"/>
                </a:xfrm>
                <a:custGeom>
                  <a:avLst/>
                  <a:gdLst>
                    <a:gd name="connsiteX0" fmla="*/ 0 w 517676"/>
                    <a:gd name="connsiteY0" fmla="*/ 9676 h 96804"/>
                    <a:gd name="connsiteX1" fmla="*/ 193523 w 517676"/>
                    <a:gd name="connsiteY1" fmla="*/ 96762 h 96804"/>
                    <a:gd name="connsiteX2" fmla="*/ 517676 w 517676"/>
                    <a:gd name="connsiteY2" fmla="*/ 0 h 96804"/>
                    <a:gd name="connsiteX0" fmla="*/ 0 w 517676"/>
                    <a:gd name="connsiteY0" fmla="*/ 9676 h 82309"/>
                    <a:gd name="connsiteX1" fmla="*/ 237065 w 517676"/>
                    <a:gd name="connsiteY1" fmla="*/ 82247 h 82309"/>
                    <a:gd name="connsiteX2" fmla="*/ 517676 w 517676"/>
                    <a:gd name="connsiteY2" fmla="*/ 0 h 82309"/>
                    <a:gd name="connsiteX0" fmla="*/ 0 w 517676"/>
                    <a:gd name="connsiteY0" fmla="*/ 9676 h 56009"/>
                    <a:gd name="connsiteX1" fmla="*/ 301973 w 517676"/>
                    <a:gd name="connsiteY1" fmla="*/ 55703 h 56009"/>
                    <a:gd name="connsiteX2" fmla="*/ 517676 w 517676"/>
                    <a:gd name="connsiteY2" fmla="*/ 0 h 56009"/>
                    <a:gd name="connsiteX0" fmla="*/ 0 w 517676"/>
                    <a:gd name="connsiteY0" fmla="*/ 9676 h 62500"/>
                    <a:gd name="connsiteX1" fmla="*/ 256537 w 517676"/>
                    <a:gd name="connsiteY1" fmla="*/ 62339 h 62500"/>
                    <a:gd name="connsiteX2" fmla="*/ 517676 w 517676"/>
                    <a:gd name="connsiteY2" fmla="*/ 0 h 62500"/>
                  </a:gdLst>
                  <a:ahLst/>
                  <a:cxnLst>
                    <a:cxn ang="0">
                      <a:pos x="connsiteX0" y="connsiteY0"/>
                    </a:cxn>
                    <a:cxn ang="0">
                      <a:pos x="connsiteX1" y="connsiteY1"/>
                    </a:cxn>
                    <a:cxn ang="0">
                      <a:pos x="connsiteX2" y="connsiteY2"/>
                    </a:cxn>
                  </a:cxnLst>
                  <a:rect l="l" t="t" r="r" b="b"/>
                  <a:pathLst>
                    <a:path w="517676" h="62500">
                      <a:moveTo>
                        <a:pt x="0" y="9676"/>
                      </a:moveTo>
                      <a:cubicBezTo>
                        <a:pt x="53622" y="54025"/>
                        <a:pt x="170258" y="63952"/>
                        <a:pt x="256537" y="62339"/>
                      </a:cubicBezTo>
                      <a:cubicBezTo>
                        <a:pt x="342816" y="60726"/>
                        <a:pt x="398739" y="47574"/>
                        <a:pt x="51767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BDD9ED1D-F67E-4443-9A3F-B3AD2F962B5F}"/>
                        </a:ext>
                      </a:extLst>
                    </p:cNvPr>
                    <p:cNvSpPr txBox="1"/>
                    <p:nvPr/>
                  </p:nvSpPr>
                  <p:spPr>
                    <a:xfrm>
                      <a:off x="10251990" y="3382004"/>
                      <a:ext cx="972061" cy="346570"/>
                    </a:xfrm>
                    <a:prstGeom prst="rect">
                      <a:avLst/>
                    </a:prstGeom>
                    <a:noFill/>
                  </p:spPr>
                  <p:txBody>
                    <a:bodyPr wrap="none" rtlCol="0">
                      <a:spAutoFit/>
                    </a:bodyPr>
                    <a:lstStyle/>
                    <a:p>
                      <a14:m>
                        <m:oMath xmlns:m="http://schemas.openxmlformats.org/officeDocument/2006/math">
                          <m:sSup>
                            <m:sSupPr>
                              <m:ctrlPr>
                                <a:rPr lang="en-US" sz="1600" i="1" smtClean="0">
                                  <a:solidFill>
                                    <a:schemeClr val="tx1"/>
                                  </a:solidFill>
                                  <a:latin typeface="Cambria Math" panose="02040503050406030204" pitchFamily="18" charset="0"/>
                                </a:rPr>
                              </m:ctrlPr>
                            </m:sSupPr>
                            <m:e>
                              <m:r>
                                <a:rPr lang="en-US" sz="1600" i="1">
                                  <a:solidFill>
                                    <a:schemeClr val="tx1"/>
                                  </a:solidFill>
                                  <a:latin typeface="Cambria Math" panose="02040503050406030204" pitchFamily="18" charset="0"/>
                                </a:rPr>
                                <m:t> </m:t>
                              </m:r>
                              <m:r>
                                <a:rPr lang="en-US" sz="1600" i="1">
                                  <a:solidFill>
                                    <a:schemeClr val="tx1"/>
                                  </a:solidFill>
                                  <a:latin typeface="Cambria Math" panose="02040503050406030204" pitchFamily="18" charset="0"/>
                                </a:rPr>
                                <m:t>𝑒</m:t>
                              </m:r>
                            </m:e>
                            <m:sup>
                              <m:r>
                                <a:rPr lang="en-US" sz="1600" i="1">
                                  <a:solidFill>
                                    <a:schemeClr val="tx1"/>
                                  </a:solidFill>
                                  <a:latin typeface="Cambria Math" panose="02040503050406030204" pitchFamily="18" charset="0"/>
                                </a:rPr>
                                <m:t>𝑖</m:t>
                              </m:r>
                              <m:r>
                                <a:rPr lang="en-US" sz="1600" i="1">
                                  <a:solidFill>
                                    <a:schemeClr val="tx1"/>
                                  </a:solidFill>
                                  <a:latin typeface="Cambria Math" panose="02040503050406030204" pitchFamily="18" charset="0"/>
                                </a:rPr>
                                <m:t>𝜑</m:t>
                              </m:r>
                            </m:sup>
                          </m:sSup>
                          <m:r>
                            <a:rPr lang="en-US" sz="1600" i="1">
                              <a:solidFill>
                                <a:schemeClr val="tx1"/>
                              </a:solidFill>
                              <a:latin typeface="Cambria Math" panose="02040503050406030204" pitchFamily="18" charset="0"/>
                            </a:rPr>
                            <m:t> </m:t>
                          </m:r>
                        </m:oMath>
                      </a14:m>
                      <a:r>
                        <a:rPr lang="en-US" sz="1600" b="0" dirty="0">
                          <a:solidFill>
                            <a:schemeClr val="tx1"/>
                          </a:solidFill>
                          <a:ea typeface="Cambria Math" panose="02040503050406030204" pitchFamily="18" charset="0"/>
                        </a:rPr>
                        <a:t>s</a:t>
                      </a:r>
                      <a14:m>
                        <m:oMath xmlns:m="http://schemas.openxmlformats.org/officeDocument/2006/math">
                          <m:r>
                            <m:rPr>
                              <m:sty m:val="p"/>
                            </m:rPr>
                            <a:rPr lang="en-US" sz="1600" b="0" i="0" smtClean="0">
                              <a:solidFill>
                                <a:schemeClr val="tx1"/>
                              </a:solidFill>
                              <a:latin typeface="Cambria Math" panose="02040503050406030204" pitchFamily="18" charset="0"/>
                              <a:ea typeface="Cambria Math" panose="02040503050406030204" pitchFamily="18" charset="0"/>
                            </a:rPr>
                            <m:t>in</m:t>
                          </m:r>
                          <m:r>
                            <m:rPr>
                              <m:nor/>
                            </m:rPr>
                            <a:rPr lang="en-US" sz="1600" b="0" i="0" smtClean="0">
                              <a:solidFill>
                                <a:schemeClr val="tx1"/>
                              </a:solidFill>
                              <a:latin typeface="Cambria Math" panose="02040503050406030204" pitchFamily="18" charset="0"/>
                              <a:ea typeface="Cambria Math" panose="02040503050406030204" pitchFamily="18" charset="0"/>
                            </a:rPr>
                            <m:t> </m:t>
                          </m:r>
                          <m:r>
                            <m:rPr>
                              <m:sty m:val="p"/>
                            </m:rPr>
                            <a:rPr lang="el-GR" sz="1600" b="0" i="1" smtClean="0">
                              <a:solidFill>
                                <a:schemeClr val="tx1"/>
                              </a:solidFill>
                              <a:latin typeface="Cambria Math" panose="02040503050406030204" pitchFamily="18" charset="0"/>
                              <a:ea typeface="Cambria Math" panose="02040503050406030204" pitchFamily="18" charset="0"/>
                            </a:rPr>
                            <m:t>θ</m:t>
                          </m:r>
                        </m:oMath>
                      </a14:m>
                      <a:endParaRPr lang="en-US" sz="1600" dirty="0">
                        <a:solidFill>
                          <a:schemeClr val="tx1"/>
                        </a:solidFill>
                      </a:endParaRPr>
                    </a:p>
                  </p:txBody>
                </p:sp>
              </mc:Choice>
              <mc:Fallback xmlns="">
                <p:sp>
                  <p:nvSpPr>
                    <p:cNvPr id="159" name="TextBox 158">
                      <a:extLst>
                        <a:ext uri="{FF2B5EF4-FFF2-40B4-BE49-F238E27FC236}">
                          <a16:creationId xmlns:a16="http://schemas.microsoft.com/office/drawing/2014/main" id="{BDD9ED1D-F67E-4443-9A3F-B3AD2F962B5F}"/>
                        </a:ext>
                      </a:extLst>
                    </p:cNvPr>
                    <p:cNvSpPr txBox="1">
                      <a:spLocks noRot="1" noChangeAspect="1" noMove="1" noResize="1" noEditPoints="1" noAdjustHandles="1" noChangeArrowheads="1" noChangeShapeType="1" noTextEdit="1"/>
                    </p:cNvSpPr>
                    <p:nvPr/>
                  </p:nvSpPr>
                  <p:spPr>
                    <a:xfrm>
                      <a:off x="10251990" y="3382004"/>
                      <a:ext cx="972061" cy="346570"/>
                    </a:xfrm>
                    <a:prstGeom prst="rect">
                      <a:avLst/>
                    </a:prstGeom>
                    <a:blipFill>
                      <a:blip r:embed="rId18"/>
                      <a:stretch>
                        <a:fillRect b="-17241"/>
                      </a:stretch>
                    </a:blipFill>
                  </p:spPr>
                  <p:txBody>
                    <a:bodyPr/>
                    <a:lstStyle/>
                    <a:p>
                      <a:r>
                        <a:rPr lang="en-US">
                          <a:noFill/>
                        </a:rPr>
                        <a:t> </a:t>
                      </a:r>
                    </a:p>
                  </p:txBody>
                </p:sp>
              </mc:Fallback>
            </mc:AlternateContent>
            <p:cxnSp>
              <p:nvCxnSpPr>
                <p:cNvPr id="161" name="Straight Arrow Connector 160">
                  <a:extLst>
                    <a:ext uri="{FF2B5EF4-FFF2-40B4-BE49-F238E27FC236}">
                      <a16:creationId xmlns:a16="http://schemas.microsoft.com/office/drawing/2014/main" id="{369CBC83-0115-F34D-ACC2-5EDD8AED605B}"/>
                    </a:ext>
                  </a:extLst>
                </p:cNvPr>
                <p:cNvCxnSpPr>
                  <a:cxnSpLocks/>
                </p:cNvCxnSpPr>
                <p:nvPr/>
              </p:nvCxnSpPr>
              <p:spPr>
                <a:xfrm flipH="1">
                  <a:off x="8748830" y="2705923"/>
                  <a:ext cx="1339902" cy="142044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3A9B7579-4998-7446-8991-9D63A7B2CEBD}"/>
                    </a:ext>
                  </a:extLst>
                </p:cNvPr>
                <p:cNvCxnSpPr>
                  <a:cxnSpLocks/>
                  <a:stCxn id="147" idx="4"/>
                </p:cNvCxnSpPr>
                <p:nvPr/>
              </p:nvCxnSpPr>
              <p:spPr>
                <a:xfrm flipH="1" flipV="1">
                  <a:off x="10095493" y="2704499"/>
                  <a:ext cx="378" cy="1269156"/>
                </a:xfrm>
                <a:prstGeom prst="line">
                  <a:avLst/>
                </a:prstGeom>
                <a:ln w="38100" cap="rnd">
                  <a:solidFill>
                    <a:srgbClr val="FF0000"/>
                  </a:solidFill>
                  <a:prstDash val="solid"/>
                  <a:headEnd type="triangle" w="lg" len="lg"/>
                  <a:tailEnd w="lg" len="lg"/>
                </a:ln>
              </p:spPr>
              <p:style>
                <a:lnRef idx="1">
                  <a:schemeClr val="accent1"/>
                </a:lnRef>
                <a:fillRef idx="0">
                  <a:schemeClr val="accent1"/>
                </a:fillRef>
                <a:effectRef idx="0">
                  <a:schemeClr val="accent1"/>
                </a:effectRef>
                <a:fontRef idx="minor">
                  <a:schemeClr val="tx1"/>
                </a:fontRef>
              </p:style>
            </p:cxnSp>
            <p:sp>
              <p:nvSpPr>
                <p:cNvPr id="163" name="Oval 162">
                  <a:extLst>
                    <a:ext uri="{FF2B5EF4-FFF2-40B4-BE49-F238E27FC236}">
                      <a16:creationId xmlns:a16="http://schemas.microsoft.com/office/drawing/2014/main" id="{E932EE77-A26D-DD46-9BB6-6528C109A5EF}"/>
                    </a:ext>
                  </a:extLst>
                </p:cNvPr>
                <p:cNvSpPr/>
                <p:nvPr/>
              </p:nvSpPr>
              <p:spPr>
                <a:xfrm>
                  <a:off x="9971195" y="1444021"/>
                  <a:ext cx="248781" cy="15157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3C7FEFCE-87B9-2C4D-A4FB-72047EF37272}"/>
                        </a:ext>
                      </a:extLst>
                    </p:cNvPr>
                    <p:cNvSpPr txBox="1"/>
                    <p:nvPr/>
                  </p:nvSpPr>
                  <p:spPr>
                    <a:xfrm rot="16200000">
                      <a:off x="10307918" y="2638084"/>
                      <a:ext cx="67518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1600" i="0">
                                <a:solidFill>
                                  <a:schemeClr val="accent6">
                                    <a:lumMod val="50000"/>
                                  </a:schemeClr>
                                </a:solidFill>
                                <a:latin typeface="Cambria Math" panose="02040503050406030204" pitchFamily="18" charset="0"/>
                                <a:ea typeface="Cambria Math" panose="02040503050406030204" pitchFamily="18" charset="0"/>
                              </a:rPr>
                              <m:t>c</m:t>
                            </m:r>
                            <m:r>
                              <m:rPr>
                                <m:nor/>
                              </m:rPr>
                              <a:rPr lang="en-US" sz="1600" b="0" smtClean="0">
                                <a:solidFill>
                                  <a:schemeClr val="accent6">
                                    <a:lumMod val="50000"/>
                                  </a:schemeClr>
                                </a:solidFill>
                                <a:latin typeface="Cambria Math" panose="02040503050406030204" pitchFamily="18" charset="0"/>
                                <a:ea typeface="Cambria Math" panose="02040503050406030204" pitchFamily="18" charset="0"/>
                              </a:rPr>
                              <m:t>os</m:t>
                            </m:r>
                            <m:r>
                              <m:rPr>
                                <m:nor/>
                              </m:rPr>
                              <a:rPr lang="en-US" sz="1600" b="0" i="0" smtClean="0">
                                <a:solidFill>
                                  <a:schemeClr val="accent6">
                                    <a:lumMod val="50000"/>
                                  </a:schemeClr>
                                </a:solidFill>
                                <a:latin typeface="Cambria Math" panose="02040503050406030204" pitchFamily="18" charset="0"/>
                                <a:ea typeface="Cambria Math" panose="02040503050406030204" pitchFamily="18" charset="0"/>
                              </a:rPr>
                              <m:t> </m:t>
                            </m:r>
                            <m:r>
                              <m:rPr>
                                <m:sty m:val="p"/>
                              </m:rPr>
                              <a:rPr lang="el-GR" sz="1600" b="0" i="1" smtClean="0">
                                <a:solidFill>
                                  <a:schemeClr val="accent6">
                                    <a:lumMod val="50000"/>
                                  </a:schemeClr>
                                </a:solidFill>
                                <a:latin typeface="Cambria Math" panose="02040503050406030204" pitchFamily="18" charset="0"/>
                                <a:ea typeface="Cambria Math" panose="02040503050406030204" pitchFamily="18" charset="0"/>
                              </a:rPr>
                              <m:t>θ</m:t>
                            </m:r>
                          </m:oMath>
                        </m:oMathPara>
                      </a14:m>
                      <a:endParaRPr lang="en-US" sz="1600" dirty="0"/>
                    </a:p>
                  </p:txBody>
                </p:sp>
              </mc:Choice>
              <mc:Fallback xmlns="">
                <p:sp>
                  <p:nvSpPr>
                    <p:cNvPr id="164" name="TextBox 163">
                      <a:extLst>
                        <a:ext uri="{FF2B5EF4-FFF2-40B4-BE49-F238E27FC236}">
                          <a16:creationId xmlns:a16="http://schemas.microsoft.com/office/drawing/2014/main" id="{3C7FEFCE-87B9-2C4D-A4FB-72047EF37272}"/>
                        </a:ext>
                      </a:extLst>
                    </p:cNvPr>
                    <p:cNvSpPr txBox="1">
                      <a:spLocks noRot="1" noChangeAspect="1" noMove="1" noResize="1" noEditPoints="1" noAdjustHandles="1" noChangeArrowheads="1" noChangeShapeType="1" noTextEdit="1"/>
                    </p:cNvSpPr>
                    <p:nvPr/>
                  </p:nvSpPr>
                  <p:spPr>
                    <a:xfrm rot="16200000">
                      <a:off x="10307918" y="2638084"/>
                      <a:ext cx="675185" cy="338554"/>
                    </a:xfrm>
                    <a:prstGeom prst="rect">
                      <a:avLst/>
                    </a:prstGeom>
                    <a:blipFill>
                      <a:blip r:embed="rId19"/>
                      <a:stretch>
                        <a:fillRect r="-10714"/>
                      </a:stretch>
                    </a:blipFill>
                  </p:spPr>
                  <p:txBody>
                    <a:bodyPr/>
                    <a:lstStyle/>
                    <a:p>
                      <a:r>
                        <a:rPr lang="en-US">
                          <a:noFill/>
                        </a:rPr>
                        <a:t> </a:t>
                      </a:r>
                    </a:p>
                  </p:txBody>
                </p:sp>
              </mc:Fallback>
            </mc:AlternateContent>
            <p:cxnSp>
              <p:nvCxnSpPr>
                <p:cNvPr id="165" name="Straight Connector 164">
                  <a:extLst>
                    <a:ext uri="{FF2B5EF4-FFF2-40B4-BE49-F238E27FC236}">
                      <a16:creationId xmlns:a16="http://schemas.microsoft.com/office/drawing/2014/main" id="{EC6E52D4-EA30-F44E-A72D-0D5F3564C0CD}"/>
                    </a:ext>
                  </a:extLst>
                </p:cNvPr>
                <p:cNvCxnSpPr>
                  <a:cxnSpLocks/>
                </p:cNvCxnSpPr>
                <p:nvPr/>
              </p:nvCxnSpPr>
              <p:spPr>
                <a:xfrm>
                  <a:off x="10181894" y="2759561"/>
                  <a:ext cx="368845" cy="50980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E8505AA-B65F-A84F-91B8-BA4FB3826F15}"/>
                    </a:ext>
                  </a:extLst>
                </p:cNvPr>
                <p:cNvCxnSpPr>
                  <a:cxnSpLocks/>
                </p:cNvCxnSpPr>
                <p:nvPr/>
              </p:nvCxnSpPr>
              <p:spPr>
                <a:xfrm>
                  <a:off x="10550739" y="2154003"/>
                  <a:ext cx="0" cy="111535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28B4D445-F21F-6140-A04E-238BF850EC18}"/>
                        </a:ext>
                      </a:extLst>
                    </p:cNvPr>
                    <p:cNvSpPr txBox="1"/>
                    <p:nvPr/>
                  </p:nvSpPr>
                  <p:spPr>
                    <a:xfrm>
                      <a:off x="9923613" y="2689479"/>
                      <a:ext cx="37503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600" i="1">
                                <a:latin typeface="Cambria Math" panose="02040503050406030204" pitchFamily="18" charset="0"/>
                                <a:ea typeface="Cambria Math" panose="02040503050406030204" pitchFamily="18" charset="0"/>
                              </a:rPr>
                              <m:t>𝜑</m:t>
                            </m:r>
                          </m:oMath>
                        </m:oMathPara>
                      </a14:m>
                      <a:endParaRPr lang="en-US" sz="1600" dirty="0"/>
                    </a:p>
                  </p:txBody>
                </p:sp>
              </mc:Choice>
              <mc:Fallback xmlns="">
                <p:sp>
                  <p:nvSpPr>
                    <p:cNvPr id="167" name="TextBox 166">
                      <a:extLst>
                        <a:ext uri="{FF2B5EF4-FFF2-40B4-BE49-F238E27FC236}">
                          <a16:creationId xmlns:a16="http://schemas.microsoft.com/office/drawing/2014/main" id="{28B4D445-F21F-6140-A04E-238BF850EC18}"/>
                        </a:ext>
                      </a:extLst>
                    </p:cNvPr>
                    <p:cNvSpPr txBox="1">
                      <a:spLocks noRot="1" noChangeAspect="1" noMove="1" noResize="1" noEditPoints="1" noAdjustHandles="1" noChangeArrowheads="1" noChangeShapeType="1" noTextEdit="1"/>
                    </p:cNvSpPr>
                    <p:nvPr/>
                  </p:nvSpPr>
                  <p:spPr>
                    <a:xfrm>
                      <a:off x="9923613" y="2689479"/>
                      <a:ext cx="375039" cy="338554"/>
                    </a:xfrm>
                    <a:prstGeom prst="rect">
                      <a:avLst/>
                    </a:prstGeom>
                    <a:blipFill>
                      <a:blip r:embed="rId20"/>
                      <a:stretch>
                        <a:fillRect b="-3704"/>
                      </a:stretch>
                    </a:blipFill>
                  </p:spPr>
                  <p:txBody>
                    <a:bodyPr/>
                    <a:lstStyle/>
                    <a:p>
                      <a:r>
                        <a:rPr lang="en-US">
                          <a:noFill/>
                        </a:rPr>
                        <a:t> </a:t>
                      </a:r>
                    </a:p>
                  </p:txBody>
                </p:sp>
              </mc:Fallback>
            </mc:AlternateContent>
            <p:sp>
              <p:nvSpPr>
                <p:cNvPr id="168" name="Arc 167">
                  <a:extLst>
                    <a:ext uri="{FF2B5EF4-FFF2-40B4-BE49-F238E27FC236}">
                      <a16:creationId xmlns:a16="http://schemas.microsoft.com/office/drawing/2014/main" id="{3317A0D0-78B4-5F43-B1AD-05550538034C}"/>
                    </a:ext>
                  </a:extLst>
                </p:cNvPr>
                <p:cNvSpPr/>
                <p:nvPr/>
              </p:nvSpPr>
              <p:spPr>
                <a:xfrm rot="11038940">
                  <a:off x="9840770" y="2922038"/>
                  <a:ext cx="493319" cy="136021"/>
                </a:xfrm>
                <a:prstGeom prst="arc">
                  <a:avLst>
                    <a:gd name="adj1" fmla="val 11030310"/>
                    <a:gd name="adj2" fmla="val 2139128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Freeform 168">
                  <a:extLst>
                    <a:ext uri="{FF2B5EF4-FFF2-40B4-BE49-F238E27FC236}">
                      <a16:creationId xmlns:a16="http://schemas.microsoft.com/office/drawing/2014/main" id="{F8FB6ACA-A1E6-7A46-B6F5-4340974AD85A}"/>
                    </a:ext>
                  </a:extLst>
                </p:cNvPr>
                <p:cNvSpPr/>
                <p:nvPr/>
              </p:nvSpPr>
              <p:spPr>
                <a:xfrm>
                  <a:off x="10221519" y="3085740"/>
                  <a:ext cx="250896" cy="379267"/>
                </a:xfrm>
                <a:custGeom>
                  <a:avLst/>
                  <a:gdLst>
                    <a:gd name="connsiteX0" fmla="*/ 295024 w 295024"/>
                    <a:gd name="connsiteY0" fmla="*/ 301336 h 301336"/>
                    <a:gd name="connsiteX1" fmla="*/ 9274 w 295024"/>
                    <a:gd name="connsiteY1" fmla="*/ 150668 h 301336"/>
                    <a:gd name="connsiteX2" fmla="*/ 97597 w 295024"/>
                    <a:gd name="connsiteY2" fmla="*/ 0 h 301336"/>
                    <a:gd name="connsiteX0" fmla="*/ 250896 w 250896"/>
                    <a:gd name="connsiteY0" fmla="*/ 379267 h 379267"/>
                    <a:gd name="connsiteX1" fmla="*/ 6710 w 250896"/>
                    <a:gd name="connsiteY1" fmla="*/ 150668 h 379267"/>
                    <a:gd name="connsiteX2" fmla="*/ 95033 w 250896"/>
                    <a:gd name="connsiteY2" fmla="*/ 0 h 379267"/>
                  </a:gdLst>
                  <a:ahLst/>
                  <a:cxnLst>
                    <a:cxn ang="0">
                      <a:pos x="connsiteX0" y="connsiteY0"/>
                    </a:cxn>
                    <a:cxn ang="0">
                      <a:pos x="connsiteX1" y="connsiteY1"/>
                    </a:cxn>
                    <a:cxn ang="0">
                      <a:pos x="connsiteX2" y="connsiteY2"/>
                    </a:cxn>
                  </a:cxnLst>
                  <a:rect l="l" t="t" r="r" b="b"/>
                  <a:pathLst>
                    <a:path w="250896" h="379267">
                      <a:moveTo>
                        <a:pt x="250896" y="379267"/>
                      </a:moveTo>
                      <a:cubicBezTo>
                        <a:pt x="124473" y="329044"/>
                        <a:pt x="32687" y="213879"/>
                        <a:pt x="6710" y="150668"/>
                      </a:cubicBezTo>
                      <a:cubicBezTo>
                        <a:pt x="-19267" y="87457"/>
                        <a:pt x="34419" y="50222"/>
                        <a:pt x="95033" y="0"/>
                      </a:cubicBezTo>
                    </a:path>
                  </a:pathLst>
                </a:custGeom>
                <a:noFill/>
                <a:ln>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B5414EB6-9A3B-254A-994C-D7F6D9CF7482}"/>
                        </a:ext>
                      </a:extLst>
                    </p:cNvPr>
                    <p:cNvSpPr txBox="1"/>
                    <p:nvPr/>
                  </p:nvSpPr>
                  <p:spPr>
                    <a:xfrm>
                      <a:off x="7523417" y="4242144"/>
                      <a:ext cx="841192" cy="613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rPr>
                                  <m:t>𝜃</m:t>
                                </m:r>
                              </m:num>
                              <m:den>
                                <m:r>
                                  <a:rPr lang="en-US" i="1">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182" name="TextBox 181">
                      <a:extLst>
                        <a:ext uri="{FF2B5EF4-FFF2-40B4-BE49-F238E27FC236}">
                          <a16:creationId xmlns:a16="http://schemas.microsoft.com/office/drawing/2014/main" id="{B5414EB6-9A3B-254A-994C-D7F6D9CF7482}"/>
                        </a:ext>
                      </a:extLst>
                    </p:cNvPr>
                    <p:cNvSpPr txBox="1">
                      <a:spLocks noRot="1" noChangeAspect="1" noMove="1" noResize="1" noEditPoints="1" noAdjustHandles="1" noChangeArrowheads="1" noChangeShapeType="1" noTextEdit="1"/>
                    </p:cNvSpPr>
                    <p:nvPr/>
                  </p:nvSpPr>
                  <p:spPr>
                    <a:xfrm>
                      <a:off x="7523417" y="4242144"/>
                      <a:ext cx="841192" cy="613245"/>
                    </a:xfrm>
                    <a:prstGeom prst="rect">
                      <a:avLst/>
                    </a:prstGeom>
                    <a:blipFill>
                      <a:blip r:embed="rId37"/>
                      <a:stretch>
                        <a:fillRect b="-4082"/>
                      </a:stretch>
                    </a:blipFill>
                  </p:spPr>
                  <p:txBody>
                    <a:bodyPr/>
                    <a:lstStyle/>
                    <a:p>
                      <a:r>
                        <a:rPr lang="en-US">
                          <a:noFill/>
                        </a:rPr>
                        <a:t> </a:t>
                      </a:r>
                    </a:p>
                  </p:txBody>
                </p:sp>
              </mc:Fallback>
            </mc:AlternateContent>
            <p:cxnSp>
              <p:nvCxnSpPr>
                <p:cNvPr id="183" name="Straight Arrow Connector 182">
                  <a:extLst>
                    <a:ext uri="{FF2B5EF4-FFF2-40B4-BE49-F238E27FC236}">
                      <a16:creationId xmlns:a16="http://schemas.microsoft.com/office/drawing/2014/main" id="{ACF7BB0A-1321-BC49-8153-25E15C5385DB}"/>
                    </a:ext>
                  </a:extLst>
                </p:cNvPr>
                <p:cNvCxnSpPr>
                  <a:cxnSpLocks/>
                </p:cNvCxnSpPr>
                <p:nvPr/>
              </p:nvCxnSpPr>
              <p:spPr>
                <a:xfrm>
                  <a:off x="7603447" y="4887155"/>
                  <a:ext cx="720000"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Rectangle 183">
                      <a:extLst>
                        <a:ext uri="{FF2B5EF4-FFF2-40B4-BE49-F238E27FC236}">
                          <a16:creationId xmlns:a16="http://schemas.microsoft.com/office/drawing/2014/main" id="{5457EBE0-4AEA-0342-9670-7854CDBAF77D}"/>
                        </a:ext>
                      </a:extLst>
                    </p:cNvPr>
                    <p:cNvSpPr/>
                    <p:nvPr/>
                  </p:nvSpPr>
                  <p:spPr>
                    <a:xfrm>
                      <a:off x="8527758" y="4523924"/>
                      <a:ext cx="3112583" cy="61324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𝑆</m:t>
                                </m:r>
                              </m:e>
                            </m:d>
                            <m:r>
                              <a:rPr lang="en-US" i="0">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d>
                              <m:dPr>
                                <m:begChr m:val="|"/>
                                <m:endChr m:val="⟩"/>
                                <m:ctrlPr>
                                  <a:rPr lang="en-US" i="1">
                                    <a:latin typeface="Cambria Math" panose="02040503050406030204" pitchFamily="18" charset="0"/>
                                  </a:rPr>
                                </m:ctrlPr>
                              </m:dPr>
                              <m:e>
                                <m:r>
                                  <a:rPr lang="en-US" i="0">
                                    <a:latin typeface="Cambria Math" panose="02040503050406030204" pitchFamily="18" charset="0"/>
                                  </a:rPr>
                                  <m:t>0</m:t>
                                </m:r>
                              </m:e>
                            </m:d>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func>
                              <m:funcPr>
                                <m:ctrlPr>
                                  <a:rPr lang="en-US" i="1">
                                    <a:latin typeface="Cambria Math" panose="02040503050406030204" pitchFamily="18" charset="0"/>
                                  </a:rPr>
                                </m:ctrlPr>
                              </m:funcPr>
                              <m:fName>
                                <m:r>
                                  <a:rPr lang="en-US" i="1">
                                    <a:latin typeface="Cambria Math" panose="02040503050406030204" pitchFamily="18" charset="0"/>
                                  </a:rPr>
                                  <m:t>𝑠𝑖𝑛</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d>
                              <m:dPr>
                                <m:begChr m:val="|"/>
                                <m:endChr m:val="⟩"/>
                                <m:ctrlPr>
                                  <a:rPr lang="en-US" i="1">
                                    <a:latin typeface="Cambria Math" panose="02040503050406030204" pitchFamily="18" charset="0"/>
                                  </a:rPr>
                                </m:ctrlPr>
                              </m:dPr>
                              <m:e>
                                <m:r>
                                  <a:rPr lang="en-US" i="0">
                                    <a:latin typeface="Cambria Math" panose="02040503050406030204" pitchFamily="18" charset="0"/>
                                  </a:rPr>
                                  <m:t>1</m:t>
                                </m:r>
                              </m:e>
                            </m:d>
                          </m:oMath>
                        </m:oMathPara>
                      </a14:m>
                      <a:endParaRPr lang="en-US" dirty="0"/>
                    </a:p>
                  </p:txBody>
                </p:sp>
              </mc:Choice>
              <mc:Fallback xmlns="">
                <p:sp>
                  <p:nvSpPr>
                    <p:cNvPr id="184" name="Rectangle 183">
                      <a:extLst>
                        <a:ext uri="{FF2B5EF4-FFF2-40B4-BE49-F238E27FC236}">
                          <a16:creationId xmlns:a16="http://schemas.microsoft.com/office/drawing/2014/main" id="{5457EBE0-4AEA-0342-9670-7854CDBAF77D}"/>
                        </a:ext>
                      </a:extLst>
                    </p:cNvPr>
                    <p:cNvSpPr>
                      <a:spLocks noRot="1" noChangeAspect="1" noMove="1" noResize="1" noEditPoints="1" noAdjustHandles="1" noChangeArrowheads="1" noChangeShapeType="1" noTextEdit="1"/>
                    </p:cNvSpPr>
                    <p:nvPr/>
                  </p:nvSpPr>
                  <p:spPr>
                    <a:xfrm>
                      <a:off x="8527758" y="4523924"/>
                      <a:ext cx="3112583" cy="613245"/>
                    </a:xfrm>
                    <a:prstGeom prst="rect">
                      <a:avLst/>
                    </a:prstGeom>
                    <a:blipFill>
                      <a:blip r:embed="rId22"/>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5" name="Rectangle 184">
                      <a:extLst>
                        <a:ext uri="{FF2B5EF4-FFF2-40B4-BE49-F238E27FC236}">
                          <a16:creationId xmlns:a16="http://schemas.microsoft.com/office/drawing/2014/main" id="{9C7957A8-49DB-544A-B901-EAA143F222D7}"/>
                        </a:ext>
                      </a:extLst>
                    </p:cNvPr>
                    <p:cNvSpPr/>
                    <p:nvPr/>
                  </p:nvSpPr>
                  <p:spPr>
                    <a:xfrm>
                      <a:off x="8607236" y="6338936"/>
                      <a:ext cx="29184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0≤</m:t>
                            </m:r>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𝜋</m:t>
                            </m:r>
                            <m:r>
                              <a:rPr lang="en-US">
                                <a:latin typeface="Cambria Math" panose="02040503050406030204" pitchFamily="18" charset="0"/>
                              </a:rPr>
                              <m:t>,  0≤</m:t>
                            </m:r>
                            <m:r>
                              <a:rPr lang="en-US" i="1">
                                <a:latin typeface="Cambria Math" panose="02040503050406030204" pitchFamily="18" charset="0"/>
                              </a:rPr>
                              <m:t>𝜑</m:t>
                            </m:r>
                            <m:r>
                              <a:rPr lang="en-US">
                                <a:latin typeface="Cambria Math" panose="02040503050406030204" pitchFamily="18" charset="0"/>
                              </a:rPr>
                              <m:t>&lt;2</m:t>
                            </m:r>
                            <m:r>
                              <a:rPr lang="en-US" i="1">
                                <a:latin typeface="Cambria Math" panose="02040503050406030204" pitchFamily="18" charset="0"/>
                              </a:rPr>
                              <m:t>𝜋</m:t>
                            </m:r>
                          </m:oMath>
                        </m:oMathPara>
                      </a14:m>
                      <a:endParaRPr lang="en-US" dirty="0"/>
                    </a:p>
                  </p:txBody>
                </p:sp>
              </mc:Choice>
              <mc:Fallback xmlns="">
                <p:sp>
                  <p:nvSpPr>
                    <p:cNvPr id="185" name="Rectangle 184">
                      <a:extLst>
                        <a:ext uri="{FF2B5EF4-FFF2-40B4-BE49-F238E27FC236}">
                          <a16:creationId xmlns:a16="http://schemas.microsoft.com/office/drawing/2014/main" id="{9C7957A8-49DB-544A-B901-EAA143F222D7}"/>
                        </a:ext>
                      </a:extLst>
                    </p:cNvPr>
                    <p:cNvSpPr>
                      <a:spLocks noRot="1" noChangeAspect="1" noMove="1" noResize="1" noEditPoints="1" noAdjustHandles="1" noChangeArrowheads="1" noChangeShapeType="1" noTextEdit="1"/>
                    </p:cNvSpPr>
                    <p:nvPr/>
                  </p:nvSpPr>
                  <p:spPr>
                    <a:xfrm>
                      <a:off x="8607236" y="6338936"/>
                      <a:ext cx="2918491" cy="369332"/>
                    </a:xfrm>
                    <a:prstGeom prst="rect">
                      <a:avLst/>
                    </a:prstGeom>
                    <a:blipFill>
                      <a:blip r:embed="rId2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Rectangle 185">
                      <a:extLst>
                        <a:ext uri="{FF2B5EF4-FFF2-40B4-BE49-F238E27FC236}">
                          <a16:creationId xmlns:a16="http://schemas.microsoft.com/office/drawing/2014/main" id="{D5DEB9C8-1010-BF41-AFD6-20FDDDC3311F}"/>
                        </a:ext>
                      </a:extLst>
                    </p:cNvPr>
                    <p:cNvSpPr/>
                    <p:nvPr/>
                  </p:nvSpPr>
                  <p:spPr>
                    <a:xfrm>
                      <a:off x="9058899" y="5163209"/>
                      <a:ext cx="2015167" cy="117397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𝑆</m:t>
                                </m:r>
                              </m:e>
                            </m:d>
                            <m:r>
                              <a:rPr lang="en-US" i="0">
                                <a:latin typeface="Cambria Math" panose="02040503050406030204" pitchFamily="18" charset="0"/>
                              </a:rPr>
                              <m:t>=</m:t>
                            </m:r>
                            <m:d>
                              <m:dPr>
                                <m:ctrlPr>
                                  <a:rPr lang="en-US" i="1">
                                    <a:latin typeface="Cambria Math" panose="02040503050406030204" pitchFamily="18" charset="0"/>
                                  </a:rPr>
                                </m:ctrlPr>
                              </m:dPr>
                              <m:e>
                                <m:m>
                                  <m:mPr>
                                    <m:plcHide m:val="on"/>
                                    <m:mcs>
                                      <m:mc>
                                        <m:mcPr>
                                          <m:count m:val="1"/>
                                          <m:mcJc m:val="center"/>
                                        </m:mcPr>
                                      </m:mc>
                                    </m:mcs>
                                    <m:ctrlPr>
                                      <a:rPr lang="en-US" i="1">
                                        <a:latin typeface="Cambria Math" panose="02040503050406030204" pitchFamily="18" charset="0"/>
                                      </a:rPr>
                                    </m:ctrlPr>
                                  </m:mPr>
                                  <m:mr>
                                    <m:e>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e>
                                  </m:mr>
                                  <m:mr>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i="1">
                                              <a:latin typeface="Cambria Math" panose="02040503050406030204" pitchFamily="18" charset="0"/>
                                            </a:rPr>
                                            <m:t>𝜑</m:t>
                                          </m:r>
                                        </m:sup>
                                      </m:sSup>
                                      <m:func>
                                        <m:funcPr>
                                          <m:ctrlPr>
                                            <a:rPr lang="en-US" i="1">
                                              <a:latin typeface="Cambria Math" panose="02040503050406030204" pitchFamily="18" charset="0"/>
                                            </a:rPr>
                                          </m:ctrlPr>
                                        </m:funcPr>
                                        <m:fName>
                                          <m:r>
                                            <a:rPr lang="en-US" i="1">
                                              <a:latin typeface="Cambria Math" panose="02040503050406030204" pitchFamily="18" charset="0"/>
                                            </a:rPr>
                                            <m:t>𝑠𝑖𝑛</m:t>
                                          </m:r>
                                        </m:fName>
                                        <m:e>
                                          <m:f>
                                            <m:fPr>
                                              <m:ctrlPr>
                                                <a:rPr lang="en-US" i="1">
                                                  <a:latin typeface="Cambria Math" panose="02040503050406030204" pitchFamily="18" charset="0"/>
                                                </a:rPr>
                                              </m:ctrlPr>
                                            </m:fPr>
                                            <m:num>
                                              <m:r>
                                                <a:rPr lang="en-US" i="1">
                                                  <a:latin typeface="Cambria Math" panose="02040503050406030204" pitchFamily="18" charset="0"/>
                                                </a:rPr>
                                                <m:t>𝜃</m:t>
                                              </m:r>
                                            </m:num>
                                            <m:den>
                                              <m:r>
                                                <a:rPr lang="en-US" i="0">
                                                  <a:latin typeface="Cambria Math" panose="02040503050406030204" pitchFamily="18" charset="0"/>
                                                </a:rPr>
                                                <m:t>2</m:t>
                                              </m:r>
                                            </m:den>
                                          </m:f>
                                        </m:e>
                                      </m:func>
                                    </m:e>
                                  </m:mr>
                                </m:m>
                              </m:e>
                            </m:d>
                          </m:oMath>
                        </m:oMathPara>
                      </a14:m>
                      <a:endParaRPr lang="en-US" dirty="0"/>
                    </a:p>
                  </p:txBody>
                </p:sp>
              </mc:Choice>
              <mc:Fallback xmlns="">
                <p:sp>
                  <p:nvSpPr>
                    <p:cNvPr id="186" name="Rectangle 185">
                      <a:extLst>
                        <a:ext uri="{FF2B5EF4-FFF2-40B4-BE49-F238E27FC236}">
                          <a16:creationId xmlns:a16="http://schemas.microsoft.com/office/drawing/2014/main" id="{D5DEB9C8-1010-BF41-AFD6-20FDDDC3311F}"/>
                        </a:ext>
                      </a:extLst>
                    </p:cNvPr>
                    <p:cNvSpPr>
                      <a:spLocks noRot="1" noChangeAspect="1" noMove="1" noResize="1" noEditPoints="1" noAdjustHandles="1" noChangeArrowheads="1" noChangeShapeType="1" noTextEdit="1"/>
                    </p:cNvSpPr>
                    <p:nvPr/>
                  </p:nvSpPr>
                  <p:spPr>
                    <a:xfrm>
                      <a:off x="9058899" y="5163209"/>
                      <a:ext cx="2015167" cy="1173976"/>
                    </a:xfrm>
                    <a:prstGeom prst="rect">
                      <a:avLst/>
                    </a:prstGeom>
                    <a:blipFill>
                      <a:blip r:embed="rId24"/>
                      <a:stretch>
                        <a:fillRect b="-2151"/>
                      </a:stretch>
                    </a:blipFill>
                  </p:spPr>
                  <p:txBody>
                    <a:bodyPr/>
                    <a:lstStyle/>
                    <a:p>
                      <a:r>
                        <a:rPr lang="en-US">
                          <a:noFill/>
                        </a:rPr>
                        <a:t> </a:t>
                      </a:r>
                    </a:p>
                  </p:txBody>
                </p:sp>
              </mc:Fallback>
            </mc:AlternateContent>
          </p:grpSp>
          <p:sp>
            <p:nvSpPr>
              <p:cNvPr id="192" name="TextBox 191">
                <a:extLst>
                  <a:ext uri="{FF2B5EF4-FFF2-40B4-BE49-F238E27FC236}">
                    <a16:creationId xmlns:a16="http://schemas.microsoft.com/office/drawing/2014/main" id="{79A22C5C-ECCA-9F4B-9AE9-6DFC3BBC47C7}"/>
                  </a:ext>
                </a:extLst>
              </p:cNvPr>
              <p:cNvSpPr txBox="1"/>
              <p:nvPr/>
            </p:nvSpPr>
            <p:spPr>
              <a:xfrm>
                <a:off x="8583078" y="1187152"/>
                <a:ext cx="637037" cy="461665"/>
              </a:xfrm>
              <a:prstGeom prst="rect">
                <a:avLst/>
              </a:prstGeom>
              <a:noFill/>
            </p:spPr>
            <p:txBody>
              <a:bodyPr wrap="square" rtlCol="0">
                <a:spAutoFit/>
              </a:bodyPr>
              <a:lstStyle/>
              <a:p>
                <a:r>
                  <a:rPr lang="en-US" sz="2400" dirty="0"/>
                  <a:t>(3)</a:t>
                </a:r>
              </a:p>
            </p:txBody>
          </p:sp>
        </p:grpSp>
        <p:sp>
          <p:nvSpPr>
            <p:cNvPr id="103" name="TextBox 102">
              <a:extLst>
                <a:ext uri="{FF2B5EF4-FFF2-40B4-BE49-F238E27FC236}">
                  <a16:creationId xmlns:a16="http://schemas.microsoft.com/office/drawing/2014/main" id="{EF63BB49-05DC-FD40-8414-C34D052B30B2}"/>
                </a:ext>
              </a:extLst>
            </p:cNvPr>
            <p:cNvSpPr txBox="1"/>
            <p:nvPr/>
          </p:nvSpPr>
          <p:spPr>
            <a:xfrm>
              <a:off x="9355718" y="417725"/>
              <a:ext cx="1532599" cy="400110"/>
            </a:xfrm>
            <a:prstGeom prst="rect">
              <a:avLst/>
            </a:prstGeom>
            <a:noFill/>
          </p:spPr>
          <p:txBody>
            <a:bodyPr wrap="none" rtlCol="0">
              <a:spAutoFit/>
            </a:bodyPr>
            <a:lstStyle/>
            <a:p>
              <a:r>
                <a:rPr lang="en-ZA" sz="2000" dirty="0"/>
                <a:t>Bloch sphere</a:t>
              </a:r>
              <a:endParaRPr lang="en-US" sz="2000" dirty="0"/>
            </a:p>
          </p:txBody>
        </p:sp>
      </p:grpSp>
    </p:spTree>
    <p:extLst>
      <p:ext uri="{BB962C8B-B14F-4D97-AF65-F5344CB8AC3E}">
        <p14:creationId xmlns:p14="http://schemas.microsoft.com/office/powerpoint/2010/main" val="243713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dissolve">
                                      <p:cBhvr>
                                        <p:cTn id="7" dur="5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FFC8277C-5585-8746-A63B-49D11F4AC62C}"/>
              </a:ext>
            </a:extLst>
          </p:cNvPr>
          <p:cNvSpPr/>
          <p:nvPr/>
        </p:nvSpPr>
        <p:spPr>
          <a:xfrm>
            <a:off x="357418" y="3472653"/>
            <a:ext cx="11136510" cy="3020222"/>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DF73249E-D3D9-3D4A-980C-49A0336E4D87}"/>
              </a:ext>
            </a:extLst>
          </p:cNvPr>
          <p:cNvSpPr/>
          <p:nvPr/>
        </p:nvSpPr>
        <p:spPr>
          <a:xfrm>
            <a:off x="357418" y="1102816"/>
            <a:ext cx="11136510" cy="219570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A0337F8E-9114-AF49-8ADF-DB487DCA1B79}"/>
              </a:ext>
            </a:extLst>
          </p:cNvPr>
          <p:cNvSpPr>
            <a:spLocks noGrp="1"/>
          </p:cNvSpPr>
          <p:nvPr>
            <p:ph type="sldNum" sz="quarter" idx="12"/>
          </p:nvPr>
        </p:nvSpPr>
        <p:spPr/>
        <p:txBody>
          <a:bodyPr/>
          <a:lstStyle/>
          <a:p>
            <a:fld id="{591A223C-FA10-BC46-A853-03BA373D023C}" type="slidenum">
              <a:rPr lang="en-US" smtClean="0"/>
              <a:t>17</a:t>
            </a:fld>
            <a:endParaRPr lang="en-US"/>
          </a:p>
        </p:txBody>
      </p:sp>
      <p:sp>
        <p:nvSpPr>
          <p:cNvPr id="3" name="Title 2">
            <a:extLst>
              <a:ext uri="{FF2B5EF4-FFF2-40B4-BE49-F238E27FC236}">
                <a16:creationId xmlns:a16="http://schemas.microsoft.com/office/drawing/2014/main" id="{6223B914-9CAB-E54C-9942-EAB3F8C4EBB7}"/>
              </a:ext>
            </a:extLst>
          </p:cNvPr>
          <p:cNvSpPr>
            <a:spLocks noGrp="1"/>
          </p:cNvSpPr>
          <p:nvPr>
            <p:ph type="title"/>
          </p:nvPr>
        </p:nvSpPr>
        <p:spPr>
          <a:xfrm>
            <a:off x="0" y="0"/>
            <a:ext cx="12192000" cy="928688"/>
          </a:xfrm>
        </p:spPr>
        <p:txBody>
          <a:bodyPr/>
          <a:lstStyle/>
          <a:p>
            <a:r>
              <a:rPr lang="en-ZA" dirty="0"/>
              <a:t>Qubit State Equations</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B7991B5-F00C-AE45-A4AD-A7496E559810}"/>
                  </a:ext>
                </a:extLst>
              </p:cNvPr>
              <p:cNvSpPr/>
              <p:nvPr/>
            </p:nvSpPr>
            <p:spPr>
              <a:xfrm>
                <a:off x="600778" y="1605326"/>
                <a:ext cx="6084679" cy="10165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tx1"/>
                              </a:solidFill>
                              <a:latin typeface="Cambria Math" panose="02040503050406030204" pitchFamily="18" charset="0"/>
                              <a:ea typeface="Cambria Math" panose="02040503050406030204" pitchFamily="18" charset="0"/>
                            </a:rPr>
                          </m:ctrlPr>
                        </m:dPr>
                        <m:e>
                          <m:r>
                            <m:rPr>
                              <m:nor/>
                            </m:rPr>
                            <a:rPr lang="sr-Latn-RS" sz="4000" b="0" smtClean="0">
                              <a:solidFill>
                                <a:schemeClr val="tx1"/>
                              </a:solidFill>
                              <a:latin typeface="Cambria Math" panose="02040503050406030204" pitchFamily="18" charset="0"/>
                              <a:ea typeface="Cambria Math" panose="02040503050406030204" pitchFamily="18" charset="0"/>
                            </a:rPr>
                            <m:t>S</m:t>
                          </m:r>
                        </m:e>
                      </m:d>
                      <m:r>
                        <a:rPr lang="sr-Latn-RS" sz="4000" b="0" i="1" smtClean="0">
                          <a:solidFill>
                            <a:schemeClr val="tx1"/>
                          </a:solidFill>
                          <a:latin typeface="Cambria Math" panose="02040503050406030204" pitchFamily="18" charset="0"/>
                          <a:ea typeface="Cambria Math" panose="02040503050406030204" pitchFamily="18" charset="0"/>
                        </a:rPr>
                        <m:t>=</m:t>
                      </m:r>
                      <m:d>
                        <m:dPr>
                          <m:ctrlPr>
                            <a:rPr lang="en-US" sz="4000" i="1">
                              <a:latin typeface="Cambria Math" panose="02040503050406030204" pitchFamily="18" charset="0"/>
                            </a:rPr>
                          </m:ctrlPr>
                        </m:dPr>
                        <m:e>
                          <m:m>
                            <m:mPr>
                              <m:plcHide m:val="on"/>
                              <m:mcs>
                                <m:mc>
                                  <m:mcPr>
                                    <m:count m:val="1"/>
                                    <m:mcJc m:val="center"/>
                                  </m:mcPr>
                                </m:mc>
                              </m:mcs>
                              <m:ctrlPr>
                                <a:rPr lang="en-US" sz="4000" i="1">
                                  <a:latin typeface="Cambria Math" panose="02040503050406030204" pitchFamily="18" charset="0"/>
                                </a:rPr>
                              </m:ctrlPr>
                            </m:mPr>
                            <m:mr>
                              <m:e>
                                <m:r>
                                  <a:rPr lang="sr-Latn-RS" sz="4000" b="0" i="1" smtClean="0">
                                    <a:latin typeface="Cambria Math" panose="02040503050406030204" pitchFamily="18" charset="0"/>
                                  </a:rPr>
                                  <m:t>𝑎</m:t>
                                </m:r>
                              </m:e>
                            </m:mr>
                            <m:mr>
                              <m:e>
                                <m:r>
                                  <a:rPr lang="sr-Latn-RS" sz="4000" b="0" i="1" smtClean="0">
                                    <a:latin typeface="Cambria Math" panose="02040503050406030204" pitchFamily="18" charset="0"/>
                                  </a:rPr>
                                  <m:t>𝑏</m:t>
                                </m:r>
                              </m:e>
                            </m:mr>
                          </m:m>
                        </m:e>
                      </m:d>
                      <m:r>
                        <a:rPr lang="sr-Latn-RS" sz="4000" b="0" i="1" smtClean="0">
                          <a:latin typeface="Cambria Math" panose="02040503050406030204" pitchFamily="18" charset="0"/>
                        </a:rPr>
                        <m:t>=</m:t>
                      </m:r>
                      <m:sSub>
                        <m:sSubPr>
                          <m:ctrlPr>
                            <a:rPr lang="sr-Latn-RS" sz="4000" b="0" i="1" smtClean="0">
                              <a:latin typeface="Cambria Math" panose="02040503050406030204" pitchFamily="18" charset="0"/>
                            </a:rPr>
                          </m:ctrlPr>
                        </m:sSubPr>
                        <m:e>
                          <m:r>
                            <a:rPr lang="en-US" sz="4000" b="0" i="1" smtClean="0">
                              <a:latin typeface="Cambria Math" panose="02040503050406030204" pitchFamily="18" charset="0"/>
                            </a:rPr>
                            <m:t>𝑎</m:t>
                          </m:r>
                        </m:e>
                        <m:sub>
                          <m:r>
                            <a:rPr lang="en-US" sz="4000" b="0" i="1" smtClean="0">
                              <a:latin typeface="Cambria Math" panose="02040503050406030204" pitchFamily="18" charset="0"/>
                            </a:rPr>
                            <m:t>0</m:t>
                          </m:r>
                        </m:sub>
                      </m:sSub>
                      <m:d>
                        <m:dPr>
                          <m:begChr m:val="|"/>
                          <m:endChr m:val="⟩"/>
                          <m:ctrlPr>
                            <a:rPr lang="en-US" sz="4000" i="1" smtClean="0">
                              <a:solidFill>
                                <a:schemeClr val="tx1"/>
                              </a:solidFill>
                              <a:latin typeface="Cambria Math" panose="02040503050406030204" pitchFamily="18" charset="0"/>
                              <a:ea typeface="Cambria Math" panose="02040503050406030204" pitchFamily="18" charset="0"/>
                            </a:rPr>
                          </m:ctrlPr>
                        </m:dPr>
                        <m:e>
                          <m:r>
                            <m:rPr>
                              <m:nor/>
                            </m:rPr>
                            <a:rPr lang="en-US" sz="4000">
                              <a:solidFill>
                                <a:schemeClr val="tx1"/>
                              </a:solidFill>
                              <a:latin typeface="Cambria Math" panose="02040503050406030204" pitchFamily="18" charset="0"/>
                              <a:ea typeface="Cambria Math" panose="02040503050406030204" pitchFamily="18" charset="0"/>
                            </a:rPr>
                            <m:t>0</m:t>
                          </m:r>
                        </m:e>
                      </m:d>
                      <m:r>
                        <a:rPr lang="sr-Latn-RS" sz="4000" b="0" i="1" smtClean="0">
                          <a:solidFill>
                            <a:schemeClr val="tx1"/>
                          </a:solidFill>
                          <a:latin typeface="Cambria Math" panose="02040503050406030204" pitchFamily="18" charset="0"/>
                          <a:ea typeface="Cambria Math" panose="02040503050406030204" pitchFamily="18" charset="0"/>
                        </a:rPr>
                        <m:t>+</m:t>
                      </m:r>
                      <m:sSub>
                        <m:sSubPr>
                          <m:ctrlPr>
                            <a:rPr lang="sr-Latn-RS" sz="4000" i="1">
                              <a:latin typeface="Cambria Math" panose="02040503050406030204" pitchFamily="18" charset="0"/>
                            </a:rPr>
                          </m:ctrlPr>
                        </m:sSubPr>
                        <m:e>
                          <m:r>
                            <a:rPr lang="en-US" sz="4000" i="1">
                              <a:latin typeface="Cambria Math" panose="02040503050406030204" pitchFamily="18" charset="0"/>
                            </a:rPr>
                            <m:t>𝑎</m:t>
                          </m:r>
                        </m:e>
                        <m:sub>
                          <m:r>
                            <a:rPr lang="en-US" sz="4000" b="0" i="1" smtClean="0">
                              <a:latin typeface="Cambria Math" panose="02040503050406030204" pitchFamily="18" charset="0"/>
                            </a:rPr>
                            <m:t>1</m:t>
                          </m:r>
                        </m:sub>
                      </m:sSub>
                      <m:d>
                        <m:dPr>
                          <m:begChr m:val="|"/>
                          <m:endChr m:val="⟩"/>
                          <m:ctrlPr>
                            <a:rPr lang="en-US" sz="4000" i="1" smtClean="0">
                              <a:solidFill>
                                <a:schemeClr val="tx1"/>
                              </a:solidFill>
                              <a:latin typeface="Cambria Math" panose="02040503050406030204" pitchFamily="18" charset="0"/>
                              <a:ea typeface="Cambria Math" panose="02040503050406030204" pitchFamily="18" charset="0"/>
                            </a:rPr>
                          </m:ctrlPr>
                        </m:dPr>
                        <m:e>
                          <m:r>
                            <m:rPr>
                              <m:nor/>
                            </m:rPr>
                            <a:rPr lang="sr-Latn-RS" sz="4000" b="0" i="0" smtClean="0">
                              <a:solidFill>
                                <a:schemeClr val="tx1"/>
                              </a:solidFill>
                              <a:latin typeface="Cambria Math" panose="02040503050406030204" pitchFamily="18" charset="0"/>
                              <a:ea typeface="Cambria Math" panose="02040503050406030204" pitchFamily="18" charset="0"/>
                            </a:rPr>
                            <m:t>1</m:t>
                          </m:r>
                        </m:e>
                      </m:d>
                    </m:oMath>
                  </m:oMathPara>
                </a14:m>
                <a:endParaRPr lang="en-US" sz="4000" dirty="0">
                  <a:solidFill>
                    <a:schemeClr val="tx1"/>
                  </a:solidFill>
                </a:endParaRPr>
              </a:p>
            </p:txBody>
          </p:sp>
        </mc:Choice>
        <mc:Fallback xmlns="">
          <p:sp>
            <p:nvSpPr>
              <p:cNvPr id="5" name="Rectangle 4">
                <a:extLst>
                  <a:ext uri="{FF2B5EF4-FFF2-40B4-BE49-F238E27FC236}">
                    <a16:creationId xmlns:a16="http://schemas.microsoft.com/office/drawing/2014/main" id="{AB7991B5-F00C-AE45-A4AD-A7496E559810}"/>
                  </a:ext>
                </a:extLst>
              </p:cNvPr>
              <p:cNvSpPr>
                <a:spLocks noRot="1" noChangeAspect="1" noMove="1" noResize="1" noEditPoints="1" noAdjustHandles="1" noChangeArrowheads="1" noChangeShapeType="1" noTextEdit="1"/>
              </p:cNvSpPr>
              <p:nvPr/>
            </p:nvSpPr>
            <p:spPr>
              <a:xfrm>
                <a:off x="600778" y="1605326"/>
                <a:ext cx="6084679" cy="1016560"/>
              </a:xfrm>
              <a:prstGeom prst="rect">
                <a:avLst/>
              </a:prstGeom>
              <a:blipFill>
                <a:blip r:embed="rId3"/>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155DC06-0C6C-4741-B3BD-868E426A0B66}"/>
                  </a:ext>
                </a:extLst>
              </p:cNvPr>
              <p:cNvSpPr/>
              <p:nvPr/>
            </p:nvSpPr>
            <p:spPr>
              <a:xfrm>
                <a:off x="554642" y="3621691"/>
                <a:ext cx="10009279" cy="2496261"/>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latin typeface="Cambria Math" panose="02040503050406030204" pitchFamily="18" charset="0"/>
                            </a:rPr>
                          </m:ctrlPr>
                        </m:dPr>
                        <m:e>
                          <m:r>
                            <a:rPr lang="en-US" sz="4000" i="1">
                              <a:latin typeface="Cambria Math" panose="02040503050406030204" pitchFamily="18" charset="0"/>
                            </a:rPr>
                            <m:t>𝑆</m:t>
                          </m:r>
                        </m:e>
                      </m:d>
                      <m:r>
                        <a:rPr lang="en-US" sz="4000" i="0">
                          <a:latin typeface="Cambria Math" panose="02040503050406030204" pitchFamily="18" charset="0"/>
                        </a:rPr>
                        <m:t>=</m:t>
                      </m:r>
                      <m:d>
                        <m:dPr>
                          <m:ctrlPr>
                            <a:rPr lang="en-US" sz="4000" i="1">
                              <a:latin typeface="Cambria Math" panose="02040503050406030204" pitchFamily="18" charset="0"/>
                            </a:rPr>
                          </m:ctrlPr>
                        </m:dPr>
                        <m:e>
                          <m:m>
                            <m:mPr>
                              <m:plcHide m:val="on"/>
                              <m:mcs>
                                <m:mc>
                                  <m:mcPr>
                                    <m:count m:val="1"/>
                                    <m:mcJc m:val="center"/>
                                  </m:mcPr>
                                </m:mc>
                              </m:mcs>
                              <m:ctrlPr>
                                <a:rPr lang="en-US" sz="4000" i="1">
                                  <a:latin typeface="Cambria Math" panose="02040503050406030204" pitchFamily="18" charset="0"/>
                                </a:rPr>
                              </m:ctrlPr>
                            </m:mPr>
                            <m:mr>
                              <m:e>
                                <m:func>
                                  <m:funcPr>
                                    <m:ctrlPr>
                                      <a:rPr lang="en-US" sz="4000" i="1">
                                        <a:latin typeface="Cambria Math" panose="02040503050406030204" pitchFamily="18" charset="0"/>
                                      </a:rPr>
                                    </m:ctrlPr>
                                  </m:funcPr>
                                  <m:fName>
                                    <m:r>
                                      <a:rPr lang="en-US" sz="4000" i="1">
                                        <a:latin typeface="Cambria Math" panose="02040503050406030204" pitchFamily="18" charset="0"/>
                                      </a:rPr>
                                      <m:t>𝑐𝑜𝑠</m:t>
                                    </m:r>
                                  </m:fName>
                                  <m:e>
                                    <m:f>
                                      <m:fPr>
                                        <m:ctrlPr>
                                          <a:rPr lang="en-US" sz="4000" i="1">
                                            <a:latin typeface="Cambria Math" panose="02040503050406030204" pitchFamily="18" charset="0"/>
                                          </a:rPr>
                                        </m:ctrlPr>
                                      </m:fPr>
                                      <m:num>
                                        <m:r>
                                          <a:rPr lang="en-US" sz="4000" i="1">
                                            <a:latin typeface="Cambria Math" panose="02040503050406030204" pitchFamily="18" charset="0"/>
                                          </a:rPr>
                                          <m:t>𝜃</m:t>
                                        </m:r>
                                      </m:num>
                                      <m:den>
                                        <m:r>
                                          <a:rPr lang="en-US" sz="4000" i="0">
                                            <a:latin typeface="Cambria Math" panose="02040503050406030204" pitchFamily="18" charset="0"/>
                                          </a:rPr>
                                          <m:t>2</m:t>
                                        </m:r>
                                      </m:den>
                                    </m:f>
                                  </m:e>
                                </m:func>
                              </m:e>
                            </m:mr>
                            <m:mr>
                              <m:e>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𝑖</m:t>
                                    </m:r>
                                    <m:r>
                                      <a:rPr lang="en-US" sz="4000" i="1">
                                        <a:latin typeface="Cambria Math" panose="02040503050406030204" pitchFamily="18" charset="0"/>
                                      </a:rPr>
                                      <m:t>𝜑</m:t>
                                    </m:r>
                                  </m:sup>
                                </m:sSup>
                                <m:func>
                                  <m:funcPr>
                                    <m:ctrlPr>
                                      <a:rPr lang="en-US" sz="4000" i="1">
                                        <a:latin typeface="Cambria Math" panose="02040503050406030204" pitchFamily="18" charset="0"/>
                                      </a:rPr>
                                    </m:ctrlPr>
                                  </m:funcPr>
                                  <m:fName>
                                    <m:r>
                                      <a:rPr lang="en-US" sz="4000" i="1">
                                        <a:latin typeface="Cambria Math" panose="02040503050406030204" pitchFamily="18" charset="0"/>
                                      </a:rPr>
                                      <m:t>𝑠𝑖𝑛</m:t>
                                    </m:r>
                                  </m:fName>
                                  <m:e>
                                    <m:f>
                                      <m:fPr>
                                        <m:ctrlPr>
                                          <a:rPr lang="en-US" sz="4000" i="1">
                                            <a:latin typeface="Cambria Math" panose="02040503050406030204" pitchFamily="18" charset="0"/>
                                          </a:rPr>
                                        </m:ctrlPr>
                                      </m:fPr>
                                      <m:num>
                                        <m:r>
                                          <a:rPr lang="en-US" sz="4000" i="1">
                                            <a:latin typeface="Cambria Math" panose="02040503050406030204" pitchFamily="18" charset="0"/>
                                          </a:rPr>
                                          <m:t>𝜃</m:t>
                                        </m:r>
                                      </m:num>
                                      <m:den>
                                        <m:r>
                                          <a:rPr lang="en-US" sz="4000" i="0">
                                            <a:latin typeface="Cambria Math" panose="02040503050406030204" pitchFamily="18" charset="0"/>
                                          </a:rPr>
                                          <m:t>2</m:t>
                                        </m:r>
                                      </m:den>
                                    </m:f>
                                  </m:e>
                                </m:func>
                              </m:e>
                            </m:mr>
                          </m:m>
                        </m:e>
                      </m:d>
                      <m:r>
                        <a:rPr lang="en-US" sz="4000">
                          <a:latin typeface="Cambria Math" panose="02040503050406030204" pitchFamily="18" charset="0"/>
                        </a:rPr>
                        <m:t>=</m:t>
                      </m:r>
                      <m:func>
                        <m:funcPr>
                          <m:ctrlPr>
                            <a:rPr lang="en-US" sz="4000" i="1">
                              <a:latin typeface="Cambria Math" panose="02040503050406030204" pitchFamily="18" charset="0"/>
                            </a:rPr>
                          </m:ctrlPr>
                        </m:funcPr>
                        <m:fName>
                          <m:r>
                            <a:rPr lang="en-US" sz="4000" i="1">
                              <a:latin typeface="Cambria Math" panose="02040503050406030204" pitchFamily="18" charset="0"/>
                            </a:rPr>
                            <m:t>𝑐𝑜𝑠</m:t>
                          </m:r>
                        </m:fName>
                        <m:e>
                          <m:f>
                            <m:fPr>
                              <m:ctrlPr>
                                <a:rPr lang="en-US" sz="4000" i="1">
                                  <a:latin typeface="Cambria Math" panose="02040503050406030204" pitchFamily="18" charset="0"/>
                                </a:rPr>
                              </m:ctrlPr>
                            </m:fPr>
                            <m:num>
                              <m:r>
                                <a:rPr lang="en-US" sz="4000" i="1">
                                  <a:latin typeface="Cambria Math" panose="02040503050406030204" pitchFamily="18" charset="0"/>
                                </a:rPr>
                                <m:t>𝜃</m:t>
                              </m:r>
                            </m:num>
                            <m:den>
                              <m:r>
                                <a:rPr lang="en-US" sz="4000">
                                  <a:latin typeface="Cambria Math" panose="02040503050406030204" pitchFamily="18" charset="0"/>
                                </a:rPr>
                                <m:t>2</m:t>
                              </m:r>
                            </m:den>
                          </m:f>
                        </m:e>
                      </m:func>
                      <m:d>
                        <m:dPr>
                          <m:begChr m:val="|"/>
                          <m:endChr m:val="⟩"/>
                          <m:ctrlPr>
                            <a:rPr lang="en-US" sz="4000" i="1">
                              <a:latin typeface="Cambria Math" panose="02040503050406030204" pitchFamily="18" charset="0"/>
                            </a:rPr>
                          </m:ctrlPr>
                        </m:dPr>
                        <m:e>
                          <m:r>
                            <a:rPr lang="en-US" sz="4000">
                              <a:latin typeface="Cambria Math" panose="02040503050406030204" pitchFamily="18" charset="0"/>
                            </a:rPr>
                            <m:t>0</m:t>
                          </m:r>
                        </m:e>
                      </m:d>
                      <m:r>
                        <a:rPr lang="en-US" sz="4000">
                          <a:latin typeface="Cambria Math" panose="02040503050406030204" pitchFamily="18" charset="0"/>
                        </a:rPr>
                        <m:t>+</m:t>
                      </m:r>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𝑖</m:t>
                          </m:r>
                          <m:r>
                            <a:rPr lang="en-US" sz="4000" i="1">
                              <a:latin typeface="Cambria Math" panose="02040503050406030204" pitchFamily="18" charset="0"/>
                            </a:rPr>
                            <m:t>𝜑</m:t>
                          </m:r>
                        </m:sup>
                      </m:sSup>
                      <m:func>
                        <m:funcPr>
                          <m:ctrlPr>
                            <a:rPr lang="en-US" sz="4000" i="1">
                              <a:latin typeface="Cambria Math" panose="02040503050406030204" pitchFamily="18" charset="0"/>
                            </a:rPr>
                          </m:ctrlPr>
                        </m:funcPr>
                        <m:fName>
                          <m:r>
                            <a:rPr lang="en-US" sz="4000" i="1">
                              <a:latin typeface="Cambria Math" panose="02040503050406030204" pitchFamily="18" charset="0"/>
                            </a:rPr>
                            <m:t>𝑠𝑖𝑛</m:t>
                          </m:r>
                        </m:fName>
                        <m:e>
                          <m:f>
                            <m:fPr>
                              <m:ctrlPr>
                                <a:rPr lang="en-US" sz="4000" i="1">
                                  <a:latin typeface="Cambria Math" panose="02040503050406030204" pitchFamily="18" charset="0"/>
                                </a:rPr>
                              </m:ctrlPr>
                            </m:fPr>
                            <m:num>
                              <m:r>
                                <a:rPr lang="en-US" sz="4000" i="1">
                                  <a:latin typeface="Cambria Math" panose="02040503050406030204" pitchFamily="18" charset="0"/>
                                </a:rPr>
                                <m:t>𝜃</m:t>
                              </m:r>
                            </m:num>
                            <m:den>
                              <m:r>
                                <a:rPr lang="en-US" sz="4000">
                                  <a:latin typeface="Cambria Math" panose="02040503050406030204" pitchFamily="18" charset="0"/>
                                </a:rPr>
                                <m:t>2</m:t>
                              </m:r>
                            </m:den>
                          </m:f>
                        </m:e>
                      </m:func>
                      <m:d>
                        <m:dPr>
                          <m:begChr m:val="|"/>
                          <m:endChr m:val="⟩"/>
                          <m:ctrlPr>
                            <a:rPr lang="en-US" sz="4000" i="1">
                              <a:latin typeface="Cambria Math" panose="02040503050406030204" pitchFamily="18" charset="0"/>
                            </a:rPr>
                          </m:ctrlPr>
                        </m:dPr>
                        <m:e>
                          <m:r>
                            <a:rPr lang="en-US" sz="4000">
                              <a:latin typeface="Cambria Math" panose="02040503050406030204" pitchFamily="18" charset="0"/>
                            </a:rPr>
                            <m:t>1</m:t>
                          </m:r>
                        </m:e>
                      </m:d>
                    </m:oMath>
                  </m:oMathPara>
                </a14:m>
                <a:endParaRPr lang="en-US" sz="4000" dirty="0"/>
              </a:p>
            </p:txBody>
          </p:sp>
        </mc:Choice>
        <mc:Fallback xmlns="">
          <p:sp>
            <p:nvSpPr>
              <p:cNvPr id="13" name="Rectangle 12">
                <a:extLst>
                  <a:ext uri="{FF2B5EF4-FFF2-40B4-BE49-F238E27FC236}">
                    <a16:creationId xmlns:a16="http://schemas.microsoft.com/office/drawing/2014/main" id="{4155DC06-0C6C-4741-B3BD-868E426A0B66}"/>
                  </a:ext>
                </a:extLst>
              </p:cNvPr>
              <p:cNvSpPr>
                <a:spLocks noRot="1" noChangeAspect="1" noMove="1" noResize="1" noEditPoints="1" noAdjustHandles="1" noChangeArrowheads="1" noChangeShapeType="1" noTextEdit="1"/>
              </p:cNvSpPr>
              <p:nvPr/>
            </p:nvSpPr>
            <p:spPr>
              <a:xfrm>
                <a:off x="554642" y="3621691"/>
                <a:ext cx="10009279" cy="2496261"/>
              </a:xfrm>
              <a:prstGeom prst="rect">
                <a:avLst/>
              </a:prstGeom>
              <a:blipFill>
                <a:blip r:embed="rId4"/>
                <a:stretch>
                  <a:fillRect b="-40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69E0816-887A-EE47-A812-FAF1A9FF8479}"/>
                  </a:ext>
                </a:extLst>
              </p:cNvPr>
              <p:cNvSpPr/>
              <p:nvPr/>
            </p:nvSpPr>
            <p:spPr>
              <a:xfrm>
                <a:off x="5254482" y="5620659"/>
                <a:ext cx="6131871"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600" smtClean="0">
                          <a:solidFill>
                            <a:schemeClr val="tx1">
                              <a:lumMod val="65000"/>
                              <a:lumOff val="35000"/>
                            </a:schemeClr>
                          </a:solidFill>
                          <a:latin typeface="Cambria Math" panose="02040503050406030204" pitchFamily="18" charset="0"/>
                        </a:rPr>
                        <m:t>(</m:t>
                      </m:r>
                      <m:r>
                        <a:rPr lang="en-US" sz="3600" b="0" i="0" smtClean="0">
                          <a:solidFill>
                            <a:schemeClr val="tx1">
                              <a:lumMod val="65000"/>
                              <a:lumOff val="35000"/>
                            </a:schemeClr>
                          </a:solidFill>
                          <a:latin typeface="Cambria Math" panose="02040503050406030204" pitchFamily="18" charset="0"/>
                        </a:rPr>
                        <m:t>0≤</m:t>
                      </m:r>
                      <m:r>
                        <a:rPr lang="en-US" sz="3600" i="1">
                          <a:solidFill>
                            <a:schemeClr val="tx1">
                              <a:lumMod val="65000"/>
                              <a:lumOff val="35000"/>
                            </a:schemeClr>
                          </a:solidFill>
                          <a:latin typeface="Cambria Math" panose="02040503050406030204" pitchFamily="18" charset="0"/>
                        </a:rPr>
                        <m:t>𝜃</m:t>
                      </m:r>
                      <m:r>
                        <a:rPr lang="en-US" sz="3600" b="0" i="0" smtClean="0">
                          <a:solidFill>
                            <a:schemeClr val="tx1">
                              <a:lumMod val="65000"/>
                              <a:lumOff val="35000"/>
                            </a:schemeClr>
                          </a:solidFill>
                          <a:latin typeface="Cambria Math" panose="02040503050406030204" pitchFamily="18" charset="0"/>
                        </a:rPr>
                        <m:t>&lt;</m:t>
                      </m:r>
                      <m:r>
                        <a:rPr lang="en-US" sz="3600" i="1">
                          <a:solidFill>
                            <a:schemeClr val="tx1">
                              <a:lumMod val="65000"/>
                              <a:lumOff val="35000"/>
                            </a:schemeClr>
                          </a:solidFill>
                          <a:latin typeface="Cambria Math" panose="02040503050406030204" pitchFamily="18" charset="0"/>
                        </a:rPr>
                        <m:t>𝜋</m:t>
                      </m:r>
                      <m:r>
                        <a:rPr lang="en-US" sz="3600" b="0" i="0" smtClean="0">
                          <a:solidFill>
                            <a:schemeClr val="tx1">
                              <a:lumMod val="65000"/>
                              <a:lumOff val="35000"/>
                            </a:schemeClr>
                          </a:solidFill>
                          <a:latin typeface="Cambria Math" panose="02040503050406030204" pitchFamily="18" charset="0"/>
                        </a:rPr>
                        <m:t>,</m:t>
                      </m:r>
                      <m:r>
                        <a:rPr lang="en-US" sz="3600" i="0">
                          <a:solidFill>
                            <a:schemeClr val="tx1">
                              <a:lumMod val="65000"/>
                              <a:lumOff val="35000"/>
                            </a:schemeClr>
                          </a:solidFill>
                          <a:latin typeface="Cambria Math" panose="02040503050406030204" pitchFamily="18" charset="0"/>
                        </a:rPr>
                        <m:t>   0≤</m:t>
                      </m:r>
                      <m:r>
                        <a:rPr lang="en-US" sz="3600" i="1">
                          <a:solidFill>
                            <a:schemeClr val="tx1">
                              <a:lumMod val="65000"/>
                              <a:lumOff val="35000"/>
                            </a:schemeClr>
                          </a:solidFill>
                          <a:latin typeface="Cambria Math" panose="02040503050406030204" pitchFamily="18" charset="0"/>
                        </a:rPr>
                        <m:t>𝜑</m:t>
                      </m:r>
                      <m:r>
                        <a:rPr lang="en-US" sz="3600" b="0" i="0" smtClean="0">
                          <a:solidFill>
                            <a:schemeClr val="tx1">
                              <a:lumMod val="65000"/>
                              <a:lumOff val="35000"/>
                            </a:schemeClr>
                          </a:solidFill>
                          <a:latin typeface="Cambria Math" panose="02040503050406030204" pitchFamily="18" charset="0"/>
                        </a:rPr>
                        <m:t>&lt;</m:t>
                      </m:r>
                      <m:r>
                        <a:rPr lang="en-US" sz="3600" i="0">
                          <a:solidFill>
                            <a:schemeClr val="tx1">
                              <a:lumMod val="65000"/>
                              <a:lumOff val="35000"/>
                            </a:schemeClr>
                          </a:solidFill>
                          <a:latin typeface="Cambria Math" panose="02040503050406030204" pitchFamily="18" charset="0"/>
                        </a:rPr>
                        <m:t>2</m:t>
                      </m:r>
                      <m:r>
                        <a:rPr lang="en-US" sz="3600" i="1">
                          <a:solidFill>
                            <a:schemeClr val="tx1">
                              <a:lumMod val="65000"/>
                              <a:lumOff val="35000"/>
                            </a:schemeClr>
                          </a:solidFill>
                          <a:latin typeface="Cambria Math" panose="02040503050406030204" pitchFamily="18" charset="0"/>
                        </a:rPr>
                        <m:t>𝜋</m:t>
                      </m:r>
                      <m:r>
                        <a:rPr lang="sr-Latn-RS" sz="3600" b="0" i="1" smtClean="0">
                          <a:solidFill>
                            <a:schemeClr val="tx1">
                              <a:lumMod val="65000"/>
                              <a:lumOff val="35000"/>
                            </a:schemeClr>
                          </a:solidFill>
                          <a:latin typeface="Cambria Math" panose="02040503050406030204" pitchFamily="18" charset="0"/>
                        </a:rPr>
                        <m:t>)</m:t>
                      </m:r>
                    </m:oMath>
                  </m:oMathPara>
                </a14:m>
                <a:endParaRPr lang="en-US" sz="3600" dirty="0">
                  <a:solidFill>
                    <a:schemeClr val="tx1">
                      <a:lumMod val="65000"/>
                      <a:lumOff val="35000"/>
                    </a:schemeClr>
                  </a:solidFill>
                </a:endParaRPr>
              </a:p>
            </p:txBody>
          </p:sp>
        </mc:Choice>
        <mc:Fallback xmlns="">
          <p:sp>
            <p:nvSpPr>
              <p:cNvPr id="15" name="Rectangle 14">
                <a:extLst>
                  <a:ext uri="{FF2B5EF4-FFF2-40B4-BE49-F238E27FC236}">
                    <a16:creationId xmlns:a16="http://schemas.microsoft.com/office/drawing/2014/main" id="{969E0816-887A-EE47-A812-FAF1A9FF8479}"/>
                  </a:ext>
                </a:extLst>
              </p:cNvPr>
              <p:cNvSpPr>
                <a:spLocks noRot="1" noChangeAspect="1" noMove="1" noResize="1" noEditPoints="1" noAdjustHandles="1" noChangeArrowheads="1" noChangeShapeType="1" noTextEdit="1"/>
              </p:cNvSpPr>
              <p:nvPr/>
            </p:nvSpPr>
            <p:spPr>
              <a:xfrm>
                <a:off x="5254482" y="5620659"/>
                <a:ext cx="6131871" cy="646331"/>
              </a:xfrm>
              <a:prstGeom prst="rect">
                <a:avLst/>
              </a:prstGeom>
              <a:blipFill>
                <a:blip r:embed="rId5"/>
                <a:stretch>
                  <a:fillRect l="-620" r="-413" b="-25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C8DF9A4-2187-E64C-8A71-9EBB09429CB8}"/>
                  </a:ext>
                </a:extLst>
              </p:cNvPr>
              <p:cNvSpPr txBox="1"/>
              <p:nvPr/>
            </p:nvSpPr>
            <p:spPr>
              <a:xfrm>
                <a:off x="5772004" y="3131876"/>
                <a:ext cx="82311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r-Latn-RS" sz="4000" i="1">
                              <a:latin typeface="Cambria Math" panose="02040503050406030204" pitchFamily="18" charset="0"/>
                            </a:rPr>
                          </m:ctrlPr>
                        </m:sSubPr>
                        <m:e>
                          <m:r>
                            <a:rPr lang="en-US" sz="4000" i="1">
                              <a:latin typeface="Cambria Math" panose="02040503050406030204" pitchFamily="18" charset="0"/>
                            </a:rPr>
                            <m:t>𝑎</m:t>
                          </m:r>
                        </m:e>
                        <m:sub>
                          <m:r>
                            <a:rPr lang="en-US" sz="4000" i="1">
                              <a:latin typeface="Cambria Math" panose="02040503050406030204" pitchFamily="18" charset="0"/>
                            </a:rPr>
                            <m:t>0</m:t>
                          </m:r>
                        </m:sub>
                      </m:sSub>
                    </m:oMath>
                  </m:oMathPara>
                </a14:m>
                <a:endParaRPr lang="en-US" sz="4000" dirty="0">
                  <a:solidFill>
                    <a:schemeClr val="tx1">
                      <a:lumMod val="50000"/>
                      <a:lumOff val="50000"/>
                    </a:schemeClr>
                  </a:solidFill>
                </a:endParaRPr>
              </a:p>
            </p:txBody>
          </p:sp>
        </mc:Choice>
        <mc:Fallback xmlns="">
          <p:sp>
            <p:nvSpPr>
              <p:cNvPr id="6" name="TextBox 5">
                <a:extLst>
                  <a:ext uri="{FF2B5EF4-FFF2-40B4-BE49-F238E27FC236}">
                    <a16:creationId xmlns:a16="http://schemas.microsoft.com/office/drawing/2014/main" id="{CC8DF9A4-2187-E64C-8A71-9EBB09429CB8}"/>
                  </a:ext>
                </a:extLst>
              </p:cNvPr>
              <p:cNvSpPr txBox="1">
                <a:spLocks noRot="1" noChangeAspect="1" noMove="1" noResize="1" noEditPoints="1" noAdjustHandles="1" noChangeArrowheads="1" noChangeShapeType="1" noTextEdit="1"/>
              </p:cNvSpPr>
              <p:nvPr/>
            </p:nvSpPr>
            <p:spPr>
              <a:xfrm>
                <a:off x="5772004" y="3131876"/>
                <a:ext cx="823110" cy="707886"/>
              </a:xfrm>
              <a:prstGeom prst="rect">
                <a:avLst/>
              </a:prstGeom>
              <a:blipFill>
                <a:blip r:embed="rId6"/>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0123D0-7395-C44E-9750-DF6C917A944C}"/>
                  </a:ext>
                </a:extLst>
              </p:cNvPr>
              <p:cNvSpPr txBox="1"/>
              <p:nvPr/>
            </p:nvSpPr>
            <p:spPr>
              <a:xfrm>
                <a:off x="8807917" y="3194221"/>
                <a:ext cx="81124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r-Latn-RS" sz="4000" i="1" smtClean="0">
                              <a:latin typeface="Cambria Math" panose="02040503050406030204" pitchFamily="18" charset="0"/>
                            </a:rPr>
                          </m:ctrlPr>
                        </m:sSubPr>
                        <m:e>
                          <m:r>
                            <a:rPr lang="en-US" sz="4000" i="1">
                              <a:latin typeface="Cambria Math" panose="02040503050406030204" pitchFamily="18" charset="0"/>
                            </a:rPr>
                            <m:t>𝑎</m:t>
                          </m:r>
                        </m:e>
                        <m:sub>
                          <m:r>
                            <a:rPr lang="en-US" sz="4000" b="0" i="1" smtClean="0">
                              <a:latin typeface="Cambria Math" panose="02040503050406030204" pitchFamily="18" charset="0"/>
                            </a:rPr>
                            <m:t>1</m:t>
                          </m:r>
                        </m:sub>
                      </m:sSub>
                    </m:oMath>
                  </m:oMathPara>
                </a14:m>
                <a:endParaRPr lang="en-US" sz="4000" dirty="0">
                  <a:solidFill>
                    <a:schemeClr val="tx1">
                      <a:lumMod val="50000"/>
                      <a:lumOff val="50000"/>
                    </a:schemeClr>
                  </a:solidFill>
                </a:endParaRPr>
              </a:p>
            </p:txBody>
          </p:sp>
        </mc:Choice>
        <mc:Fallback xmlns="">
          <p:sp>
            <p:nvSpPr>
              <p:cNvPr id="20" name="TextBox 19">
                <a:extLst>
                  <a:ext uri="{FF2B5EF4-FFF2-40B4-BE49-F238E27FC236}">
                    <a16:creationId xmlns:a16="http://schemas.microsoft.com/office/drawing/2014/main" id="{B40123D0-7395-C44E-9750-DF6C917A944C}"/>
                  </a:ext>
                </a:extLst>
              </p:cNvPr>
              <p:cNvSpPr txBox="1">
                <a:spLocks noRot="1" noChangeAspect="1" noMove="1" noResize="1" noEditPoints="1" noAdjustHandles="1" noChangeArrowheads="1" noChangeShapeType="1" noTextEdit="1"/>
              </p:cNvSpPr>
              <p:nvPr/>
            </p:nvSpPr>
            <p:spPr>
              <a:xfrm>
                <a:off x="8807917" y="3194221"/>
                <a:ext cx="811248" cy="707886"/>
              </a:xfrm>
              <a:prstGeom prst="rect">
                <a:avLst/>
              </a:prstGeom>
              <a:blipFill>
                <a:blip r:embed="rId7"/>
                <a:stretch>
                  <a:fillRect b="-7273"/>
                </a:stretch>
              </a:blipFill>
            </p:spPr>
            <p:txBody>
              <a:bodyPr/>
              <a:lstStyle/>
              <a:p>
                <a:r>
                  <a:rPr lang="en-US">
                    <a:noFill/>
                  </a:rPr>
                  <a:t> </a:t>
                </a:r>
              </a:p>
            </p:txBody>
          </p:sp>
        </mc:Fallback>
      </mc:AlternateContent>
      <p:sp>
        <p:nvSpPr>
          <p:cNvPr id="7" name="Right Brace 6">
            <a:extLst>
              <a:ext uri="{FF2B5EF4-FFF2-40B4-BE49-F238E27FC236}">
                <a16:creationId xmlns:a16="http://schemas.microsoft.com/office/drawing/2014/main" id="{CF5A1D0B-CD13-7041-B0CF-27E4C40968D7}"/>
              </a:ext>
            </a:extLst>
          </p:cNvPr>
          <p:cNvSpPr/>
          <p:nvPr/>
        </p:nvSpPr>
        <p:spPr>
          <a:xfrm rot="5400000">
            <a:off x="5716272" y="2743647"/>
            <a:ext cx="759453" cy="2390851"/>
          </a:xfrm>
          <a:prstGeom prst="rightBrace">
            <a:avLst>
              <a:gd name="adj1" fmla="val 27984"/>
              <a:gd name="adj2" fmla="val 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2C8FED2-FA49-4647-A60D-674B5C1C1445}"/>
              </a:ext>
            </a:extLst>
          </p:cNvPr>
          <p:cNvSpPr/>
          <p:nvPr/>
        </p:nvSpPr>
        <p:spPr>
          <a:xfrm rot="5400000">
            <a:off x="8721732" y="2743647"/>
            <a:ext cx="759453" cy="2390851"/>
          </a:xfrm>
          <a:prstGeom prst="rightBrace">
            <a:avLst>
              <a:gd name="adj1" fmla="val 27984"/>
              <a:gd name="adj2" fmla="val 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8781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BAB45F-61DD-9345-8898-5A070BD6ECEC}"/>
              </a:ext>
            </a:extLst>
          </p:cNvPr>
          <p:cNvSpPr>
            <a:spLocks noGrp="1"/>
          </p:cNvSpPr>
          <p:nvPr>
            <p:ph type="title"/>
          </p:nvPr>
        </p:nvSpPr>
        <p:spPr/>
        <p:txBody>
          <a:bodyPr/>
          <a:lstStyle/>
          <a:p>
            <a:r>
              <a:rPr lang="en-ZA" dirty="0"/>
              <a:t>Changing the Basis</a:t>
            </a:r>
            <a:endParaRPr lang="en-US" dirty="0"/>
          </a:p>
        </p:txBody>
      </p:sp>
      <p:sp>
        <p:nvSpPr>
          <p:cNvPr id="2" name="Slide Number Placeholder 1">
            <a:extLst>
              <a:ext uri="{FF2B5EF4-FFF2-40B4-BE49-F238E27FC236}">
                <a16:creationId xmlns:a16="http://schemas.microsoft.com/office/drawing/2014/main" id="{A4B4B6F8-CCEB-FD42-9F27-28DAC5CE0413}"/>
              </a:ext>
            </a:extLst>
          </p:cNvPr>
          <p:cNvSpPr>
            <a:spLocks noGrp="1"/>
          </p:cNvSpPr>
          <p:nvPr>
            <p:ph type="sldNum" sz="quarter" idx="12"/>
          </p:nvPr>
        </p:nvSpPr>
        <p:spPr/>
        <p:txBody>
          <a:bodyPr/>
          <a:lstStyle/>
          <a:p>
            <a:fld id="{591A223C-FA10-BC46-A853-03BA373D023C}" type="slidenum">
              <a:rPr lang="en-US" smtClean="0"/>
              <a:t>18</a:t>
            </a:fld>
            <a:endParaRPr lang="en-US"/>
          </a:p>
        </p:txBody>
      </p:sp>
      <mc:AlternateContent xmlns:mc="http://schemas.openxmlformats.org/markup-compatibility/2006">
        <mc:Choice xmlns:a14="http://schemas.microsoft.com/office/drawing/2010/main" Requires="a14">
          <p:sp>
            <p:nvSpPr>
              <p:cNvPr id="61" name="Rectangle 60">
                <a:extLst>
                  <a:ext uri="{FF2B5EF4-FFF2-40B4-BE49-F238E27FC236}">
                    <a16:creationId xmlns:a16="http://schemas.microsoft.com/office/drawing/2014/main" id="{0FF215DB-A621-3A4B-AA81-4421834DB791}"/>
                  </a:ext>
                </a:extLst>
              </p:cNvPr>
              <p:cNvSpPr/>
              <p:nvPr/>
            </p:nvSpPr>
            <p:spPr>
              <a:xfrm>
                <a:off x="3712143" y="2217371"/>
                <a:ext cx="1515351" cy="6467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𝑎</m:t>
                                </m:r>
                              </m:e>
                            </m:mr>
                            <m:mr>
                              <m:e>
                                <m:r>
                                  <a:rPr lang="en-US" sz="2400" b="0" i="1" smtClean="0">
                                    <a:latin typeface="Cambria Math" panose="02040503050406030204" pitchFamily="18" charset="0"/>
                                    <a:ea typeface="Cambria Math" panose="02040503050406030204" pitchFamily="18" charset="0"/>
                                  </a:rPr>
                                  <m:t>𝑏</m:t>
                                </m:r>
                              </m:e>
                            </m:mr>
                          </m:m>
                        </m:e>
                      </m:d>
                    </m:oMath>
                  </m:oMathPara>
                </a14:m>
                <a:endParaRPr lang="en-US" sz="2400" dirty="0"/>
              </a:p>
            </p:txBody>
          </p:sp>
        </mc:Choice>
        <mc:Fallback>
          <p:sp>
            <p:nvSpPr>
              <p:cNvPr id="61" name="Rectangle 60">
                <a:extLst>
                  <a:ext uri="{FF2B5EF4-FFF2-40B4-BE49-F238E27FC236}">
                    <a16:creationId xmlns:a16="http://schemas.microsoft.com/office/drawing/2014/main" id="{0FF215DB-A621-3A4B-AA81-4421834DB791}"/>
                  </a:ext>
                </a:extLst>
              </p:cNvPr>
              <p:cNvSpPr>
                <a:spLocks noRot="1" noChangeAspect="1" noMove="1" noResize="1" noEditPoints="1" noAdjustHandles="1" noChangeArrowheads="1" noChangeShapeType="1" noTextEdit="1"/>
              </p:cNvSpPr>
              <p:nvPr/>
            </p:nvSpPr>
            <p:spPr>
              <a:xfrm>
                <a:off x="3712143" y="2217371"/>
                <a:ext cx="1515351" cy="646780"/>
              </a:xfrm>
              <a:prstGeom prst="rect">
                <a:avLst/>
              </a:prstGeom>
              <a:blipFill>
                <a:blip r:embed="rId3"/>
                <a:stretch>
                  <a:fillRect b="-57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Rectangle 61">
                <a:extLst>
                  <a:ext uri="{FF2B5EF4-FFF2-40B4-BE49-F238E27FC236}">
                    <a16:creationId xmlns:a16="http://schemas.microsoft.com/office/drawing/2014/main" id="{FB52F695-4C41-694C-BE58-C5296A11E381}"/>
                  </a:ext>
                </a:extLst>
              </p:cNvPr>
              <p:cNvSpPr/>
              <p:nvPr/>
            </p:nvSpPr>
            <p:spPr>
              <a:xfrm>
                <a:off x="451694" y="1411913"/>
                <a:ext cx="74033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𝑒</m:t>
                              </m:r>
                            </m:e>
                            <m:sub>
                              <m:r>
                                <a:rPr lang="sr-Latn-RS" sz="2400" b="0" i="1" smtClean="0">
                                  <a:latin typeface="Cambria Math" panose="02040503050406030204" pitchFamily="18" charset="0"/>
                                  <a:ea typeface="Cambria Math" panose="02040503050406030204" pitchFamily="18" charset="0"/>
                                </a:rPr>
                                <m:t>1</m:t>
                              </m:r>
                            </m:sub>
                          </m:sSub>
                        </m:e>
                      </m:d>
                    </m:oMath>
                  </m:oMathPara>
                </a14:m>
                <a:endParaRPr lang="en-US" sz="2400" dirty="0"/>
              </a:p>
            </p:txBody>
          </p:sp>
        </mc:Choice>
        <mc:Fallback>
          <p:sp>
            <p:nvSpPr>
              <p:cNvPr id="62" name="Rectangle 61">
                <a:extLst>
                  <a:ext uri="{FF2B5EF4-FFF2-40B4-BE49-F238E27FC236}">
                    <a16:creationId xmlns:a16="http://schemas.microsoft.com/office/drawing/2014/main" id="{FB52F695-4C41-694C-BE58-C5296A11E381}"/>
                  </a:ext>
                </a:extLst>
              </p:cNvPr>
              <p:cNvSpPr>
                <a:spLocks noRot="1" noChangeAspect="1" noMove="1" noResize="1" noEditPoints="1" noAdjustHandles="1" noChangeArrowheads="1" noChangeShapeType="1" noTextEdit="1"/>
              </p:cNvSpPr>
              <p:nvPr/>
            </p:nvSpPr>
            <p:spPr>
              <a:xfrm>
                <a:off x="451694" y="1411913"/>
                <a:ext cx="740331"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Rectangle 62">
                <a:extLst>
                  <a:ext uri="{FF2B5EF4-FFF2-40B4-BE49-F238E27FC236}">
                    <a16:creationId xmlns:a16="http://schemas.microsoft.com/office/drawing/2014/main" id="{20E894B0-A1D5-7248-A3EB-648D6DFD0DAB}"/>
                  </a:ext>
                </a:extLst>
              </p:cNvPr>
              <p:cNvSpPr/>
              <p:nvPr/>
            </p:nvSpPr>
            <p:spPr>
              <a:xfrm>
                <a:off x="3793963" y="4596695"/>
                <a:ext cx="7474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sSub>
                            <m:sSubPr>
                              <m:ctrlPr>
                                <a:rPr lang="en-US" sz="2400" i="1" smtClean="0">
                                  <a:latin typeface="Cambria Math" panose="02040503050406030204" pitchFamily="18" charset="0"/>
                                  <a:ea typeface="Cambria Math" panose="02040503050406030204" pitchFamily="18" charset="0"/>
                                </a:rPr>
                              </m:ctrlPr>
                            </m:sSubPr>
                            <m:e>
                              <m:r>
                                <a:rPr lang="sr-Latn-RS" sz="2400" b="0" i="1" smtClean="0">
                                  <a:latin typeface="Cambria Math" panose="02040503050406030204" pitchFamily="18" charset="0"/>
                                  <a:ea typeface="Cambria Math" panose="02040503050406030204" pitchFamily="18" charset="0"/>
                                </a:rPr>
                                <m:t>𝑒</m:t>
                              </m:r>
                            </m:e>
                            <m:sub>
                              <m:r>
                                <a:rPr lang="sr-Latn-RS" sz="2400" b="0" i="1" smtClean="0">
                                  <a:latin typeface="Cambria Math" panose="02040503050406030204" pitchFamily="18" charset="0"/>
                                  <a:ea typeface="Cambria Math" panose="02040503050406030204" pitchFamily="18" charset="0"/>
                                </a:rPr>
                                <m:t>0</m:t>
                              </m:r>
                            </m:sub>
                          </m:sSub>
                        </m:e>
                      </m:d>
                    </m:oMath>
                  </m:oMathPara>
                </a14:m>
                <a:endParaRPr lang="en-US" sz="2400" dirty="0"/>
              </a:p>
            </p:txBody>
          </p:sp>
        </mc:Choice>
        <mc:Fallback>
          <p:sp>
            <p:nvSpPr>
              <p:cNvPr id="63" name="Rectangle 62">
                <a:extLst>
                  <a:ext uri="{FF2B5EF4-FFF2-40B4-BE49-F238E27FC236}">
                    <a16:creationId xmlns:a16="http://schemas.microsoft.com/office/drawing/2014/main" id="{20E894B0-A1D5-7248-A3EB-648D6DFD0DAB}"/>
                  </a:ext>
                </a:extLst>
              </p:cNvPr>
              <p:cNvSpPr>
                <a:spLocks noRot="1" noChangeAspect="1" noMove="1" noResize="1" noEditPoints="1" noAdjustHandles="1" noChangeArrowheads="1" noChangeShapeType="1" noTextEdit="1"/>
              </p:cNvSpPr>
              <p:nvPr/>
            </p:nvSpPr>
            <p:spPr>
              <a:xfrm>
                <a:off x="3793963" y="4596695"/>
                <a:ext cx="747449" cy="461665"/>
              </a:xfrm>
              <a:prstGeom prst="rect">
                <a:avLst/>
              </a:prstGeom>
              <a:blipFill>
                <a:blip r:embed="rId5"/>
                <a:stretch>
                  <a:fillRect b="-27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4" name="Rectangle 63">
                <a:extLst>
                  <a:ext uri="{FF2B5EF4-FFF2-40B4-BE49-F238E27FC236}">
                    <a16:creationId xmlns:a16="http://schemas.microsoft.com/office/drawing/2014/main" id="{B7C85E6F-02E7-214B-B0D5-839A4ABFF807}"/>
                  </a:ext>
                </a:extLst>
              </p:cNvPr>
              <p:cNvSpPr/>
              <p:nvPr/>
            </p:nvSpPr>
            <p:spPr>
              <a:xfrm>
                <a:off x="2401218" y="4415852"/>
                <a:ext cx="43261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𝑎</m:t>
                      </m:r>
                    </m:oMath>
                  </m:oMathPara>
                </a14:m>
                <a:endParaRPr lang="en-US" sz="2400" dirty="0"/>
              </a:p>
            </p:txBody>
          </p:sp>
        </mc:Choice>
        <mc:Fallback>
          <p:sp>
            <p:nvSpPr>
              <p:cNvPr id="64" name="Rectangle 63">
                <a:extLst>
                  <a:ext uri="{FF2B5EF4-FFF2-40B4-BE49-F238E27FC236}">
                    <a16:creationId xmlns:a16="http://schemas.microsoft.com/office/drawing/2014/main" id="{B7C85E6F-02E7-214B-B0D5-839A4ABFF807}"/>
                  </a:ext>
                </a:extLst>
              </p:cNvPr>
              <p:cNvSpPr>
                <a:spLocks noRot="1" noChangeAspect="1" noMove="1" noResize="1" noEditPoints="1" noAdjustHandles="1" noChangeArrowheads="1" noChangeShapeType="1" noTextEdit="1"/>
              </p:cNvSpPr>
              <p:nvPr/>
            </p:nvSpPr>
            <p:spPr>
              <a:xfrm>
                <a:off x="2401218" y="4415852"/>
                <a:ext cx="432618" cy="461665"/>
              </a:xfrm>
              <a:prstGeom prst="rect">
                <a:avLst/>
              </a:prstGeom>
              <a:blipFill>
                <a:blip r:embed="rId6"/>
                <a:stretch>
                  <a:fillRect/>
                </a:stretch>
              </a:blipFill>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A9F2F89C-0379-5742-81A2-A239A0A507DA}"/>
              </a:ext>
            </a:extLst>
          </p:cNvPr>
          <p:cNvCxnSpPr>
            <a:cxnSpLocks/>
          </p:cNvCxnSpPr>
          <p:nvPr/>
        </p:nvCxnSpPr>
        <p:spPr>
          <a:xfrm>
            <a:off x="3777959" y="2993192"/>
            <a:ext cx="0" cy="1439979"/>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BBE1A93-FD11-AF42-A6F0-E1E3BCE71EC4}"/>
              </a:ext>
            </a:extLst>
          </p:cNvPr>
          <p:cNvCxnSpPr>
            <a:cxnSpLocks/>
          </p:cNvCxnSpPr>
          <p:nvPr/>
        </p:nvCxnSpPr>
        <p:spPr>
          <a:xfrm flipH="1">
            <a:off x="1322078" y="2993192"/>
            <a:ext cx="239006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5216F7-C198-A145-A42E-C63D04E3B7B0}"/>
              </a:ext>
            </a:extLst>
          </p:cNvPr>
          <p:cNvCxnSpPr>
            <a:cxnSpLocks/>
          </p:cNvCxnSpPr>
          <p:nvPr/>
        </p:nvCxnSpPr>
        <p:spPr>
          <a:xfrm>
            <a:off x="1322079" y="4414904"/>
            <a:ext cx="2880000"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44ACEE3-406D-124B-BFB1-80BCFDFB9CEB}"/>
              </a:ext>
            </a:extLst>
          </p:cNvPr>
          <p:cNvCxnSpPr>
            <a:cxnSpLocks/>
          </p:cNvCxnSpPr>
          <p:nvPr/>
        </p:nvCxnSpPr>
        <p:spPr>
          <a:xfrm rot="16200000">
            <a:off x="-117921" y="2993192"/>
            <a:ext cx="2880000"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9" name="Rectangle 68">
                <a:extLst>
                  <a:ext uri="{FF2B5EF4-FFF2-40B4-BE49-F238E27FC236}">
                    <a16:creationId xmlns:a16="http://schemas.microsoft.com/office/drawing/2014/main" id="{E87D937B-78FE-3747-913A-AFB42A3F43EE}"/>
                  </a:ext>
                </a:extLst>
              </p:cNvPr>
              <p:cNvSpPr/>
              <p:nvPr/>
            </p:nvSpPr>
            <p:spPr>
              <a:xfrm>
                <a:off x="805637" y="3291781"/>
                <a:ext cx="42543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𝑏</m:t>
                      </m:r>
                    </m:oMath>
                  </m:oMathPara>
                </a14:m>
                <a:endParaRPr lang="en-US" sz="2400" dirty="0"/>
              </a:p>
            </p:txBody>
          </p:sp>
        </mc:Choice>
        <mc:Fallback>
          <p:sp>
            <p:nvSpPr>
              <p:cNvPr id="69" name="Rectangle 68">
                <a:extLst>
                  <a:ext uri="{FF2B5EF4-FFF2-40B4-BE49-F238E27FC236}">
                    <a16:creationId xmlns:a16="http://schemas.microsoft.com/office/drawing/2014/main" id="{E87D937B-78FE-3747-913A-AFB42A3F43EE}"/>
                  </a:ext>
                </a:extLst>
              </p:cNvPr>
              <p:cNvSpPr>
                <a:spLocks noRot="1" noChangeAspect="1" noMove="1" noResize="1" noEditPoints="1" noAdjustHandles="1" noChangeArrowheads="1" noChangeShapeType="1" noTextEdit="1"/>
              </p:cNvSpPr>
              <p:nvPr/>
            </p:nvSpPr>
            <p:spPr>
              <a:xfrm>
                <a:off x="805637" y="3291781"/>
                <a:ext cx="425436" cy="461665"/>
              </a:xfrm>
              <a:prstGeom prst="rect">
                <a:avLst/>
              </a:prstGeom>
              <a:blipFill>
                <a:blip r:embed="rId7"/>
                <a:stretch>
                  <a:fillRect/>
                </a:stretch>
              </a:blipFill>
            </p:spPr>
            <p:txBody>
              <a:bodyPr/>
              <a:lstStyle/>
              <a:p>
                <a:r>
                  <a:rPr lang="en-US">
                    <a:noFill/>
                  </a:rPr>
                  <a:t> </a:t>
                </a:r>
              </a:p>
            </p:txBody>
          </p:sp>
        </mc:Fallback>
      </mc:AlternateContent>
      <p:sp>
        <p:nvSpPr>
          <p:cNvPr id="70" name="Arc 69">
            <a:extLst>
              <a:ext uri="{FF2B5EF4-FFF2-40B4-BE49-F238E27FC236}">
                <a16:creationId xmlns:a16="http://schemas.microsoft.com/office/drawing/2014/main" id="{A3CF2B07-A458-E346-B712-CA4D9264724C}"/>
              </a:ext>
            </a:extLst>
          </p:cNvPr>
          <p:cNvSpPr/>
          <p:nvPr/>
        </p:nvSpPr>
        <p:spPr>
          <a:xfrm>
            <a:off x="-1588191" y="1607937"/>
            <a:ext cx="5760000" cy="57600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473A1FCB-C20A-104A-8CA4-8AC47497A948}"/>
              </a:ext>
            </a:extLst>
          </p:cNvPr>
          <p:cNvCxnSpPr>
            <a:cxnSpLocks/>
          </p:cNvCxnSpPr>
          <p:nvPr/>
        </p:nvCxnSpPr>
        <p:spPr>
          <a:xfrm flipV="1">
            <a:off x="1322079" y="2993192"/>
            <a:ext cx="2471884" cy="1407479"/>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72" name="Arc 71">
            <a:extLst>
              <a:ext uri="{FF2B5EF4-FFF2-40B4-BE49-F238E27FC236}">
                <a16:creationId xmlns:a16="http://schemas.microsoft.com/office/drawing/2014/main" id="{EF8E0F22-D13A-204C-A66E-1D2C5A6CB131}"/>
              </a:ext>
            </a:extLst>
          </p:cNvPr>
          <p:cNvSpPr/>
          <p:nvPr/>
        </p:nvSpPr>
        <p:spPr>
          <a:xfrm rot="2700000">
            <a:off x="4076197" y="1522508"/>
            <a:ext cx="5760000" cy="57600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73" name="Straight Connector 72">
            <a:extLst>
              <a:ext uri="{FF2B5EF4-FFF2-40B4-BE49-F238E27FC236}">
                <a16:creationId xmlns:a16="http://schemas.microsoft.com/office/drawing/2014/main" id="{B06CF3D3-2F84-D24B-84AE-EBE858BD2697}"/>
              </a:ext>
            </a:extLst>
          </p:cNvPr>
          <p:cNvCxnSpPr>
            <a:cxnSpLocks/>
          </p:cNvCxnSpPr>
          <p:nvPr/>
        </p:nvCxnSpPr>
        <p:spPr>
          <a:xfrm flipH="1">
            <a:off x="7491893" y="3007426"/>
            <a:ext cx="1977848" cy="194134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B488C11-0675-2246-B4E9-096683404192}"/>
              </a:ext>
            </a:extLst>
          </p:cNvPr>
          <p:cNvCxnSpPr>
            <a:cxnSpLocks/>
          </p:cNvCxnSpPr>
          <p:nvPr/>
        </p:nvCxnSpPr>
        <p:spPr>
          <a:xfrm flipH="1" flipV="1">
            <a:off x="8969870" y="2493732"/>
            <a:ext cx="550492" cy="575109"/>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6DCEE1C-7261-9D4D-A89B-E5404682D56B}"/>
              </a:ext>
            </a:extLst>
          </p:cNvPr>
          <p:cNvCxnSpPr>
            <a:cxnSpLocks/>
          </p:cNvCxnSpPr>
          <p:nvPr/>
        </p:nvCxnSpPr>
        <p:spPr>
          <a:xfrm rot="2700000">
            <a:off x="6547362" y="5420742"/>
            <a:ext cx="2880000"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F6D3169-FD65-0142-9CFA-75C6ADED8346}"/>
              </a:ext>
            </a:extLst>
          </p:cNvPr>
          <p:cNvCxnSpPr>
            <a:cxnSpLocks/>
          </p:cNvCxnSpPr>
          <p:nvPr/>
        </p:nvCxnSpPr>
        <p:spPr>
          <a:xfrm rot="18900000">
            <a:off x="6534431" y="3397207"/>
            <a:ext cx="2880000" cy="0"/>
          </a:xfrm>
          <a:prstGeom prst="straightConnector1">
            <a:avLst/>
          </a:prstGeom>
          <a:ln w="381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408F9D2-78F8-2E41-8A39-873400889889}"/>
              </a:ext>
            </a:extLst>
          </p:cNvPr>
          <p:cNvCxnSpPr>
            <a:cxnSpLocks/>
          </p:cNvCxnSpPr>
          <p:nvPr/>
        </p:nvCxnSpPr>
        <p:spPr>
          <a:xfrm flipV="1">
            <a:off x="7008803" y="3007425"/>
            <a:ext cx="2471884" cy="1407479"/>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8" name="Rectangle 77">
                <a:extLst>
                  <a:ext uri="{FF2B5EF4-FFF2-40B4-BE49-F238E27FC236}">
                    <a16:creationId xmlns:a16="http://schemas.microsoft.com/office/drawing/2014/main" id="{4FEBB9EB-34BB-4E42-9913-176D6D913415}"/>
                  </a:ext>
                </a:extLst>
              </p:cNvPr>
              <p:cNvSpPr/>
              <p:nvPr/>
            </p:nvSpPr>
            <p:spPr>
              <a:xfrm>
                <a:off x="9515430" y="2411633"/>
                <a:ext cx="1587999" cy="7362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e>
                            </m:mr>
                            <m:mr>
                              <m:e>
                                <m:r>
                                  <a:rPr lang="en-US" sz="2400" b="0" i="1" smtClean="0">
                                    <a:latin typeface="Cambria Math" panose="02040503050406030204" pitchFamily="18" charset="0"/>
                                    <a:ea typeface="Cambria Math" panose="02040503050406030204" pitchFamily="18" charset="0"/>
                                  </a:rPr>
                                  <m:t>𝑏</m:t>
                                </m:r>
                                <m:r>
                                  <a:rPr lang="en-US" sz="2400" b="0" i="1" smtClean="0">
                                    <a:latin typeface="Cambria Math" panose="02040503050406030204" pitchFamily="18" charset="0"/>
                                    <a:ea typeface="Cambria Math" panose="02040503050406030204" pitchFamily="18" charset="0"/>
                                  </a:rPr>
                                  <m:t>′</m:t>
                                </m:r>
                              </m:e>
                            </m:mr>
                          </m:m>
                        </m:e>
                      </m:d>
                    </m:oMath>
                  </m:oMathPara>
                </a14:m>
                <a:endParaRPr lang="en-US" sz="2400" dirty="0"/>
              </a:p>
            </p:txBody>
          </p:sp>
        </mc:Choice>
        <mc:Fallback>
          <p:sp>
            <p:nvSpPr>
              <p:cNvPr id="78" name="Rectangle 77">
                <a:extLst>
                  <a:ext uri="{FF2B5EF4-FFF2-40B4-BE49-F238E27FC236}">
                    <a16:creationId xmlns:a16="http://schemas.microsoft.com/office/drawing/2014/main" id="{4FEBB9EB-34BB-4E42-9913-176D6D913415}"/>
                  </a:ext>
                </a:extLst>
              </p:cNvPr>
              <p:cNvSpPr>
                <a:spLocks noRot="1" noChangeAspect="1" noMove="1" noResize="1" noEditPoints="1" noAdjustHandles="1" noChangeArrowheads="1" noChangeShapeType="1" noTextEdit="1"/>
              </p:cNvSpPr>
              <p:nvPr/>
            </p:nvSpPr>
            <p:spPr>
              <a:xfrm>
                <a:off x="9515430" y="2411633"/>
                <a:ext cx="1587999" cy="736227"/>
              </a:xfrm>
              <a:prstGeom prst="rect">
                <a:avLst/>
              </a:prstGeom>
              <a:blipFill>
                <a:blip r:embed="rId8"/>
                <a:stretch>
                  <a:fillRect b="-847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Rectangle 78">
                <a:extLst>
                  <a:ext uri="{FF2B5EF4-FFF2-40B4-BE49-F238E27FC236}">
                    <a16:creationId xmlns:a16="http://schemas.microsoft.com/office/drawing/2014/main" id="{DF80AB0E-C254-BD45-8872-3D93135803A9}"/>
                  </a:ext>
                </a:extLst>
              </p:cNvPr>
              <p:cNvSpPr/>
              <p:nvPr/>
            </p:nvSpPr>
            <p:spPr>
              <a:xfrm>
                <a:off x="6799129" y="4642378"/>
                <a:ext cx="50526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p:sp>
            <p:nvSpPr>
              <p:cNvPr id="79" name="Rectangle 78">
                <a:extLst>
                  <a:ext uri="{FF2B5EF4-FFF2-40B4-BE49-F238E27FC236}">
                    <a16:creationId xmlns:a16="http://schemas.microsoft.com/office/drawing/2014/main" id="{DF80AB0E-C254-BD45-8872-3D93135803A9}"/>
                  </a:ext>
                </a:extLst>
              </p:cNvPr>
              <p:cNvSpPr>
                <a:spLocks noRot="1" noChangeAspect="1" noMove="1" noResize="1" noEditPoints="1" noAdjustHandles="1" noChangeArrowheads="1" noChangeShapeType="1" noTextEdit="1"/>
              </p:cNvSpPr>
              <p:nvPr/>
            </p:nvSpPr>
            <p:spPr>
              <a:xfrm>
                <a:off x="6799129" y="4642378"/>
                <a:ext cx="505267"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Rectangle 79">
                <a:extLst>
                  <a:ext uri="{FF2B5EF4-FFF2-40B4-BE49-F238E27FC236}">
                    <a16:creationId xmlns:a16="http://schemas.microsoft.com/office/drawing/2014/main" id="{B22AF3E4-F031-2E4E-A7EC-36DDA3342E6A}"/>
                  </a:ext>
                </a:extLst>
              </p:cNvPr>
              <p:cNvSpPr/>
              <p:nvPr/>
            </p:nvSpPr>
            <p:spPr>
              <a:xfrm>
                <a:off x="7475913" y="2677004"/>
                <a:ext cx="4988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𝑏</m:t>
                      </m:r>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p:sp>
            <p:nvSpPr>
              <p:cNvPr id="80" name="Rectangle 79">
                <a:extLst>
                  <a:ext uri="{FF2B5EF4-FFF2-40B4-BE49-F238E27FC236}">
                    <a16:creationId xmlns:a16="http://schemas.microsoft.com/office/drawing/2014/main" id="{B22AF3E4-F031-2E4E-A7EC-36DDA3342E6A}"/>
                  </a:ext>
                </a:extLst>
              </p:cNvPr>
              <p:cNvSpPr>
                <a:spLocks noRot="1" noChangeAspect="1" noMove="1" noResize="1" noEditPoints="1" noAdjustHandles="1" noChangeArrowheads="1" noChangeShapeType="1" noTextEdit="1"/>
              </p:cNvSpPr>
              <p:nvPr/>
            </p:nvSpPr>
            <p:spPr>
              <a:xfrm>
                <a:off x="7475913" y="2677004"/>
                <a:ext cx="498855"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Rectangle 80">
                <a:extLst>
                  <a:ext uri="{FF2B5EF4-FFF2-40B4-BE49-F238E27FC236}">
                    <a16:creationId xmlns:a16="http://schemas.microsoft.com/office/drawing/2014/main" id="{64F4450C-7A81-E54A-9512-D31EF3151FD9}"/>
                  </a:ext>
                </a:extLst>
              </p:cNvPr>
              <p:cNvSpPr/>
              <p:nvPr/>
            </p:nvSpPr>
            <p:spPr>
              <a:xfrm>
                <a:off x="5732990" y="5937453"/>
                <a:ext cx="3151632"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b="0" i="1" smtClean="0">
                                  <a:solidFill>
                                    <a:schemeClr val="tx1"/>
                                  </a:solidFill>
                                  <a:latin typeface="Cambria Math" panose="02040503050406030204" pitchFamily="18" charset="0"/>
                                  <a:ea typeface="Cambria Math" panose="02040503050406030204" pitchFamily="18" charset="0"/>
                                </a:rPr>
                                <m:t>𝑓</m:t>
                              </m:r>
                            </m:e>
                            <m:sub>
                              <m:r>
                                <a:rPr lang="sr-Latn-RS" sz="2400" i="1">
                                  <a:solidFill>
                                    <a:schemeClr val="tx1"/>
                                  </a:solidFill>
                                  <a:latin typeface="Cambria Math" panose="02040503050406030204" pitchFamily="18" charset="0"/>
                                  <a:ea typeface="Cambria Math" panose="02040503050406030204" pitchFamily="18" charset="0"/>
                                </a:rPr>
                                <m:t>0</m:t>
                              </m:r>
                            </m:sub>
                          </m:sSub>
                        </m:e>
                      </m:d>
                      <m:r>
                        <a:rPr lang="en-US" sz="2400" b="0" i="1" smtClean="0">
                          <a:solidFill>
                            <a:schemeClr val="tx1"/>
                          </a:solidFill>
                          <a:latin typeface="Cambria Math" panose="02040503050406030204" pitchFamily="18" charset="0"/>
                          <a:ea typeface="Cambria Math" panose="02040503050406030204" pitchFamily="18" charset="0"/>
                        </a:rPr>
                        <m:t>=</m:t>
                      </m:r>
                      <m:f>
                        <m:fPr>
                          <m:ctrlPr>
                            <a:rPr lang="en-US" sz="2400" b="0" i="1" smtClean="0">
                              <a:solidFill>
                                <a:schemeClr val="tx1"/>
                              </a:solidFill>
                              <a:latin typeface="Cambria Math" panose="02040503050406030204" pitchFamily="18" charset="0"/>
                              <a:ea typeface="Cambria Math" panose="02040503050406030204" pitchFamily="18" charset="0"/>
                            </a:rPr>
                          </m:ctrlPr>
                        </m:fPr>
                        <m:num>
                          <m:r>
                            <a:rPr lang="en-US" sz="24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2400" b="0" i="1" smtClean="0">
                                  <a:solidFill>
                                    <a:schemeClr val="tx1"/>
                                  </a:solidFill>
                                  <a:latin typeface="Cambria Math" panose="02040503050406030204" pitchFamily="18" charset="0"/>
                                  <a:ea typeface="Cambria Math" panose="02040503050406030204" pitchFamily="18" charset="0"/>
                                </a:rPr>
                              </m:ctrlPr>
                            </m:radPr>
                            <m:deg/>
                            <m:e>
                              <m:r>
                                <a:rPr lang="en-US" sz="2400" b="0" i="1" smtClean="0">
                                  <a:solidFill>
                                    <a:schemeClr val="tx1"/>
                                  </a:solidFill>
                                  <a:latin typeface="Cambria Math" panose="02040503050406030204" pitchFamily="18" charset="0"/>
                                  <a:ea typeface="Cambria Math" panose="02040503050406030204" pitchFamily="18" charset="0"/>
                                </a:rPr>
                                <m:t>2</m:t>
                              </m:r>
                            </m:e>
                          </m:rad>
                        </m:den>
                      </m:f>
                      <m:d>
                        <m:dPr>
                          <m:ctrlPr>
                            <a:rPr lang="en-US" sz="2400" b="0" i="1" smtClean="0">
                              <a:solidFill>
                                <a:schemeClr val="tx1"/>
                              </a:solidFill>
                              <a:latin typeface="Cambria Math" panose="02040503050406030204" pitchFamily="18" charset="0"/>
                              <a:ea typeface="Cambria Math" panose="02040503050406030204" pitchFamily="18" charset="0"/>
                            </a:rPr>
                          </m:ctrlPr>
                        </m:dP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𝑒</m:t>
                                  </m:r>
                                </m:e>
                                <m:sub>
                                  <m:r>
                                    <a:rPr lang="sr-Latn-RS" sz="2400" i="1">
                                      <a:solidFill>
                                        <a:schemeClr val="tx1"/>
                                      </a:solidFill>
                                      <a:latin typeface="Cambria Math" panose="02040503050406030204" pitchFamily="18" charset="0"/>
                                      <a:ea typeface="Cambria Math" panose="02040503050406030204" pitchFamily="18" charset="0"/>
                                    </a:rPr>
                                    <m:t>0</m:t>
                                  </m:r>
                                </m:sub>
                              </m:sSub>
                            </m:e>
                          </m:d>
                          <m:r>
                            <a:rPr lang="en-US" sz="24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𝑒</m:t>
                                  </m:r>
                                </m:e>
                                <m:sub>
                                  <m:r>
                                    <a:rPr lang="en-US" sz="2400" b="0" i="1" smtClean="0">
                                      <a:solidFill>
                                        <a:schemeClr val="tx1"/>
                                      </a:solidFill>
                                      <a:latin typeface="Cambria Math" panose="02040503050406030204" pitchFamily="18" charset="0"/>
                                      <a:ea typeface="Cambria Math" panose="02040503050406030204" pitchFamily="18" charset="0"/>
                                    </a:rPr>
                                    <m:t>1</m:t>
                                  </m:r>
                                </m:sub>
                              </m:sSub>
                            </m:e>
                          </m:d>
                        </m:e>
                      </m:d>
                    </m:oMath>
                  </m:oMathPara>
                </a14:m>
                <a:endParaRPr lang="en-US" sz="2400" dirty="0">
                  <a:solidFill>
                    <a:schemeClr val="tx1"/>
                  </a:solidFill>
                </a:endParaRPr>
              </a:p>
            </p:txBody>
          </p:sp>
        </mc:Choice>
        <mc:Fallback>
          <p:sp>
            <p:nvSpPr>
              <p:cNvPr id="81" name="Rectangle 80">
                <a:extLst>
                  <a:ext uri="{FF2B5EF4-FFF2-40B4-BE49-F238E27FC236}">
                    <a16:creationId xmlns:a16="http://schemas.microsoft.com/office/drawing/2014/main" id="{64F4450C-7A81-E54A-9512-D31EF3151FD9}"/>
                  </a:ext>
                </a:extLst>
              </p:cNvPr>
              <p:cNvSpPr>
                <a:spLocks noRot="1" noChangeAspect="1" noMove="1" noResize="1" noEditPoints="1" noAdjustHandles="1" noChangeArrowheads="1" noChangeShapeType="1" noTextEdit="1"/>
              </p:cNvSpPr>
              <p:nvPr/>
            </p:nvSpPr>
            <p:spPr>
              <a:xfrm>
                <a:off x="5732990" y="5937453"/>
                <a:ext cx="3151632" cy="855299"/>
              </a:xfrm>
              <a:prstGeom prst="rect">
                <a:avLst/>
              </a:prstGeom>
              <a:blipFill>
                <a:blip r:embed="rId11"/>
                <a:stretch>
                  <a:fillRect b="-2985"/>
                </a:stretch>
              </a:blipFill>
            </p:spPr>
            <p:txBody>
              <a:bodyPr/>
              <a:lstStyle/>
              <a:p>
                <a:r>
                  <a:rPr lang="en-US">
                    <a:noFill/>
                  </a:rPr>
                  <a:t> </a:t>
                </a:r>
              </a:p>
            </p:txBody>
          </p:sp>
        </mc:Fallback>
      </mc:AlternateContent>
      <p:cxnSp>
        <p:nvCxnSpPr>
          <p:cNvPr id="82" name="Straight Arrow Connector 81">
            <a:extLst>
              <a:ext uri="{FF2B5EF4-FFF2-40B4-BE49-F238E27FC236}">
                <a16:creationId xmlns:a16="http://schemas.microsoft.com/office/drawing/2014/main" id="{8585C0B4-CCD4-8945-A690-9A6710C2B228}"/>
              </a:ext>
            </a:extLst>
          </p:cNvPr>
          <p:cNvCxnSpPr>
            <a:cxnSpLocks/>
          </p:cNvCxnSpPr>
          <p:nvPr/>
        </p:nvCxnSpPr>
        <p:spPr>
          <a:xfrm>
            <a:off x="6969128" y="4409933"/>
            <a:ext cx="2880000" cy="0"/>
          </a:xfrm>
          <a:prstGeom prst="straightConnector1">
            <a:avLst/>
          </a:prstGeom>
          <a:ln w="38100">
            <a:solidFill>
              <a:schemeClr val="bg1">
                <a:lumMod val="6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A4FE5599-9D5D-D74E-BC2B-759F383916CA}"/>
              </a:ext>
            </a:extLst>
          </p:cNvPr>
          <p:cNvCxnSpPr>
            <a:cxnSpLocks/>
          </p:cNvCxnSpPr>
          <p:nvPr/>
        </p:nvCxnSpPr>
        <p:spPr>
          <a:xfrm rot="16200000">
            <a:off x="5529128" y="2988221"/>
            <a:ext cx="2880000" cy="0"/>
          </a:xfrm>
          <a:prstGeom prst="straightConnector1">
            <a:avLst/>
          </a:prstGeom>
          <a:ln w="38100">
            <a:solidFill>
              <a:schemeClr val="bg1">
                <a:lumMod val="6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4" name="Rectangle 83">
                <a:extLst>
                  <a:ext uri="{FF2B5EF4-FFF2-40B4-BE49-F238E27FC236}">
                    <a16:creationId xmlns:a16="http://schemas.microsoft.com/office/drawing/2014/main" id="{95E9FB36-DB80-1F4E-B1DD-C5FDB88E1E96}"/>
                  </a:ext>
                </a:extLst>
              </p:cNvPr>
              <p:cNvSpPr/>
              <p:nvPr/>
            </p:nvSpPr>
            <p:spPr>
              <a:xfrm>
                <a:off x="6546763" y="954279"/>
                <a:ext cx="74033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bg1">
                                  <a:lumMod val="50000"/>
                                </a:schemeClr>
                              </a:solidFill>
                              <a:latin typeface="Cambria Math" panose="02040503050406030204" pitchFamily="18" charset="0"/>
                              <a:ea typeface="Cambria Math" panose="02040503050406030204" pitchFamily="18" charset="0"/>
                            </a:rPr>
                          </m:ctrlPr>
                        </m:dPr>
                        <m:e>
                          <m:sSub>
                            <m:sSubPr>
                              <m:ctrlPr>
                                <a:rPr lang="en-US" sz="2400" i="1">
                                  <a:solidFill>
                                    <a:schemeClr val="bg1">
                                      <a:lumMod val="50000"/>
                                    </a:schemeClr>
                                  </a:solidFill>
                                  <a:latin typeface="Cambria Math" panose="02040503050406030204" pitchFamily="18" charset="0"/>
                                  <a:ea typeface="Cambria Math" panose="02040503050406030204" pitchFamily="18" charset="0"/>
                                </a:rPr>
                              </m:ctrlPr>
                            </m:sSubPr>
                            <m:e>
                              <m:r>
                                <a:rPr lang="sr-Latn-RS" sz="2400" i="1">
                                  <a:solidFill>
                                    <a:schemeClr val="bg1">
                                      <a:lumMod val="50000"/>
                                    </a:schemeClr>
                                  </a:solidFill>
                                  <a:latin typeface="Cambria Math" panose="02040503050406030204" pitchFamily="18" charset="0"/>
                                  <a:ea typeface="Cambria Math" panose="02040503050406030204" pitchFamily="18" charset="0"/>
                                </a:rPr>
                                <m:t>𝑒</m:t>
                              </m:r>
                            </m:e>
                            <m:sub>
                              <m:r>
                                <a:rPr lang="sr-Latn-RS" sz="2400" b="0" i="1" smtClean="0">
                                  <a:solidFill>
                                    <a:schemeClr val="bg1">
                                      <a:lumMod val="50000"/>
                                    </a:schemeClr>
                                  </a:solidFill>
                                  <a:latin typeface="Cambria Math" panose="02040503050406030204" pitchFamily="18" charset="0"/>
                                  <a:ea typeface="Cambria Math" panose="02040503050406030204" pitchFamily="18" charset="0"/>
                                </a:rPr>
                                <m:t>1</m:t>
                              </m:r>
                            </m:sub>
                          </m:sSub>
                        </m:e>
                      </m:d>
                    </m:oMath>
                  </m:oMathPara>
                </a14:m>
                <a:endParaRPr lang="en-US" sz="2400" dirty="0">
                  <a:solidFill>
                    <a:schemeClr val="bg1">
                      <a:lumMod val="50000"/>
                    </a:schemeClr>
                  </a:solidFill>
                </a:endParaRPr>
              </a:p>
            </p:txBody>
          </p:sp>
        </mc:Choice>
        <mc:Fallback>
          <p:sp>
            <p:nvSpPr>
              <p:cNvPr id="84" name="Rectangle 83">
                <a:extLst>
                  <a:ext uri="{FF2B5EF4-FFF2-40B4-BE49-F238E27FC236}">
                    <a16:creationId xmlns:a16="http://schemas.microsoft.com/office/drawing/2014/main" id="{95E9FB36-DB80-1F4E-B1DD-C5FDB88E1E96}"/>
                  </a:ext>
                </a:extLst>
              </p:cNvPr>
              <p:cNvSpPr>
                <a:spLocks noRot="1" noChangeAspect="1" noMove="1" noResize="1" noEditPoints="1" noAdjustHandles="1" noChangeArrowheads="1" noChangeShapeType="1" noTextEdit="1"/>
              </p:cNvSpPr>
              <p:nvPr/>
            </p:nvSpPr>
            <p:spPr>
              <a:xfrm>
                <a:off x="6546763" y="954279"/>
                <a:ext cx="740331" cy="461665"/>
              </a:xfrm>
              <a:prstGeom prst="rect">
                <a:avLst/>
              </a:prstGeom>
              <a:blipFill>
                <a:blip r:embed="rId12"/>
                <a:stretch>
                  <a:fillRect b="-27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5" name="Rectangle 84">
                <a:extLst>
                  <a:ext uri="{FF2B5EF4-FFF2-40B4-BE49-F238E27FC236}">
                    <a16:creationId xmlns:a16="http://schemas.microsoft.com/office/drawing/2014/main" id="{26559575-229C-034A-903F-38244F525BE1}"/>
                  </a:ext>
                </a:extLst>
              </p:cNvPr>
              <p:cNvSpPr/>
              <p:nvPr/>
            </p:nvSpPr>
            <p:spPr>
              <a:xfrm>
                <a:off x="9889032" y="4139061"/>
                <a:ext cx="7474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bg1">
                                  <a:lumMod val="50000"/>
                                </a:schemeClr>
                              </a:solidFill>
                              <a:latin typeface="Cambria Math" panose="02040503050406030204" pitchFamily="18" charset="0"/>
                              <a:ea typeface="Cambria Math" panose="02040503050406030204" pitchFamily="18" charset="0"/>
                            </a:rPr>
                          </m:ctrlPr>
                        </m:dPr>
                        <m:e>
                          <m:sSub>
                            <m:sSubPr>
                              <m:ctrlPr>
                                <a:rPr lang="en-US" sz="2400" i="1" smtClean="0">
                                  <a:solidFill>
                                    <a:schemeClr val="bg1">
                                      <a:lumMod val="50000"/>
                                    </a:schemeClr>
                                  </a:solidFill>
                                  <a:latin typeface="Cambria Math" panose="02040503050406030204" pitchFamily="18" charset="0"/>
                                  <a:ea typeface="Cambria Math" panose="02040503050406030204" pitchFamily="18" charset="0"/>
                                </a:rPr>
                              </m:ctrlPr>
                            </m:sSubPr>
                            <m:e>
                              <m:r>
                                <a:rPr lang="sr-Latn-RS" sz="2400" b="0" i="1" smtClean="0">
                                  <a:solidFill>
                                    <a:schemeClr val="bg1">
                                      <a:lumMod val="50000"/>
                                    </a:schemeClr>
                                  </a:solidFill>
                                  <a:latin typeface="Cambria Math" panose="02040503050406030204" pitchFamily="18" charset="0"/>
                                  <a:ea typeface="Cambria Math" panose="02040503050406030204" pitchFamily="18" charset="0"/>
                                </a:rPr>
                                <m:t>𝑒</m:t>
                              </m:r>
                            </m:e>
                            <m:sub>
                              <m:r>
                                <a:rPr lang="sr-Latn-RS" sz="2400" b="0" i="1" smtClean="0">
                                  <a:solidFill>
                                    <a:schemeClr val="bg1">
                                      <a:lumMod val="50000"/>
                                    </a:schemeClr>
                                  </a:solidFill>
                                  <a:latin typeface="Cambria Math" panose="02040503050406030204" pitchFamily="18" charset="0"/>
                                  <a:ea typeface="Cambria Math" panose="02040503050406030204" pitchFamily="18" charset="0"/>
                                </a:rPr>
                                <m:t>0</m:t>
                              </m:r>
                            </m:sub>
                          </m:sSub>
                        </m:e>
                      </m:d>
                    </m:oMath>
                  </m:oMathPara>
                </a14:m>
                <a:endParaRPr lang="en-US" sz="2400" dirty="0">
                  <a:solidFill>
                    <a:schemeClr val="bg1">
                      <a:lumMod val="50000"/>
                    </a:schemeClr>
                  </a:solidFill>
                </a:endParaRPr>
              </a:p>
            </p:txBody>
          </p:sp>
        </mc:Choice>
        <mc:Fallback>
          <p:sp>
            <p:nvSpPr>
              <p:cNvPr id="85" name="Rectangle 84">
                <a:extLst>
                  <a:ext uri="{FF2B5EF4-FFF2-40B4-BE49-F238E27FC236}">
                    <a16:creationId xmlns:a16="http://schemas.microsoft.com/office/drawing/2014/main" id="{26559575-229C-034A-903F-38244F525BE1}"/>
                  </a:ext>
                </a:extLst>
              </p:cNvPr>
              <p:cNvSpPr>
                <a:spLocks noRot="1" noChangeAspect="1" noMove="1" noResize="1" noEditPoints="1" noAdjustHandles="1" noChangeArrowheads="1" noChangeShapeType="1" noTextEdit="1"/>
              </p:cNvSpPr>
              <p:nvPr/>
            </p:nvSpPr>
            <p:spPr>
              <a:xfrm>
                <a:off x="9889032" y="4139061"/>
                <a:ext cx="747449" cy="461665"/>
              </a:xfrm>
              <a:prstGeom prst="rect">
                <a:avLst/>
              </a:prstGeom>
              <a:blipFill>
                <a:blip r:embed="rId13"/>
                <a:stretch>
                  <a:fillRect b="-27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6" name="Rectangle 85">
                <a:extLst>
                  <a:ext uri="{FF2B5EF4-FFF2-40B4-BE49-F238E27FC236}">
                    <a16:creationId xmlns:a16="http://schemas.microsoft.com/office/drawing/2014/main" id="{AD240276-539C-5342-8BE9-7C8E2BEE2146}"/>
                  </a:ext>
                </a:extLst>
              </p:cNvPr>
              <p:cNvSpPr/>
              <p:nvPr/>
            </p:nvSpPr>
            <p:spPr>
              <a:xfrm>
                <a:off x="7825773" y="1423963"/>
                <a:ext cx="3144515"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b="0" i="1" smtClean="0">
                                  <a:solidFill>
                                    <a:schemeClr val="tx1"/>
                                  </a:solidFill>
                                  <a:latin typeface="Cambria Math" panose="02040503050406030204" pitchFamily="18" charset="0"/>
                                  <a:ea typeface="Cambria Math" panose="02040503050406030204" pitchFamily="18" charset="0"/>
                                </a:rPr>
                                <m:t>𝑓</m:t>
                              </m:r>
                            </m:e>
                            <m:sub>
                              <m:r>
                                <a:rPr lang="en-US" sz="2400" b="0" i="1" smtClean="0">
                                  <a:solidFill>
                                    <a:schemeClr val="tx1"/>
                                  </a:solidFill>
                                  <a:latin typeface="Cambria Math" panose="02040503050406030204" pitchFamily="18" charset="0"/>
                                  <a:ea typeface="Cambria Math" panose="02040503050406030204" pitchFamily="18" charset="0"/>
                                </a:rPr>
                                <m:t>1</m:t>
                              </m:r>
                            </m:sub>
                          </m:sSub>
                        </m:e>
                      </m:d>
                      <m:r>
                        <a:rPr lang="en-US" sz="2400" b="0" i="1" smtClean="0">
                          <a:solidFill>
                            <a:schemeClr val="tx1"/>
                          </a:solidFill>
                          <a:latin typeface="Cambria Math" panose="02040503050406030204" pitchFamily="18" charset="0"/>
                          <a:ea typeface="Cambria Math" panose="02040503050406030204" pitchFamily="18" charset="0"/>
                        </a:rPr>
                        <m:t>=</m:t>
                      </m:r>
                      <m:f>
                        <m:fPr>
                          <m:ctrlPr>
                            <a:rPr lang="en-US" sz="2400" b="0" i="1" smtClean="0">
                              <a:solidFill>
                                <a:schemeClr val="tx1"/>
                              </a:solidFill>
                              <a:latin typeface="Cambria Math" panose="02040503050406030204" pitchFamily="18" charset="0"/>
                              <a:ea typeface="Cambria Math" panose="02040503050406030204" pitchFamily="18" charset="0"/>
                            </a:rPr>
                          </m:ctrlPr>
                        </m:fPr>
                        <m:num>
                          <m:r>
                            <a:rPr lang="en-US" sz="24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2400" b="0" i="1" smtClean="0">
                                  <a:solidFill>
                                    <a:schemeClr val="tx1"/>
                                  </a:solidFill>
                                  <a:latin typeface="Cambria Math" panose="02040503050406030204" pitchFamily="18" charset="0"/>
                                  <a:ea typeface="Cambria Math" panose="02040503050406030204" pitchFamily="18" charset="0"/>
                                </a:rPr>
                              </m:ctrlPr>
                            </m:radPr>
                            <m:deg/>
                            <m:e>
                              <m:r>
                                <a:rPr lang="en-US" sz="2400" b="0" i="1" smtClean="0">
                                  <a:solidFill>
                                    <a:schemeClr val="tx1"/>
                                  </a:solidFill>
                                  <a:latin typeface="Cambria Math" panose="02040503050406030204" pitchFamily="18" charset="0"/>
                                  <a:ea typeface="Cambria Math" panose="02040503050406030204" pitchFamily="18" charset="0"/>
                                </a:rPr>
                                <m:t>2</m:t>
                              </m:r>
                            </m:e>
                          </m:rad>
                        </m:den>
                      </m:f>
                      <m:d>
                        <m:dPr>
                          <m:ctrlPr>
                            <a:rPr lang="en-US" sz="2400" b="0" i="1" smtClean="0">
                              <a:solidFill>
                                <a:schemeClr val="tx1"/>
                              </a:solidFill>
                              <a:latin typeface="Cambria Math" panose="02040503050406030204" pitchFamily="18" charset="0"/>
                              <a:ea typeface="Cambria Math" panose="02040503050406030204" pitchFamily="18" charset="0"/>
                            </a:rPr>
                          </m:ctrlPr>
                        </m:dPr>
                        <m:e>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𝑒</m:t>
                                  </m:r>
                                </m:e>
                                <m:sub>
                                  <m:r>
                                    <a:rPr lang="sr-Latn-RS" sz="2400" i="1">
                                      <a:solidFill>
                                        <a:schemeClr val="tx1"/>
                                      </a:solidFill>
                                      <a:latin typeface="Cambria Math" panose="02040503050406030204" pitchFamily="18" charset="0"/>
                                      <a:ea typeface="Cambria Math" panose="02040503050406030204" pitchFamily="18" charset="0"/>
                                    </a:rPr>
                                    <m:t>0</m:t>
                                  </m:r>
                                </m:sub>
                              </m:sSub>
                            </m:e>
                          </m:d>
                          <m:r>
                            <a:rPr lang="en-US" sz="24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sSub>
                                <m:sSubPr>
                                  <m:ctrlPr>
                                    <a:rPr lang="en-US" sz="2400" i="1">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𝑒</m:t>
                                  </m:r>
                                </m:e>
                                <m:sub>
                                  <m:r>
                                    <a:rPr lang="en-US" sz="2400" b="0" i="1" smtClean="0">
                                      <a:solidFill>
                                        <a:schemeClr val="tx1"/>
                                      </a:solidFill>
                                      <a:latin typeface="Cambria Math" panose="02040503050406030204" pitchFamily="18" charset="0"/>
                                      <a:ea typeface="Cambria Math" panose="02040503050406030204" pitchFamily="18" charset="0"/>
                                    </a:rPr>
                                    <m:t>1</m:t>
                                  </m:r>
                                </m:sub>
                              </m:sSub>
                            </m:e>
                          </m:d>
                        </m:e>
                      </m:d>
                    </m:oMath>
                  </m:oMathPara>
                </a14:m>
                <a:endParaRPr lang="en-US" sz="2400" dirty="0">
                  <a:solidFill>
                    <a:schemeClr val="tx1"/>
                  </a:solidFill>
                </a:endParaRPr>
              </a:p>
            </p:txBody>
          </p:sp>
        </mc:Choice>
        <mc:Fallback>
          <p:sp>
            <p:nvSpPr>
              <p:cNvPr id="86" name="Rectangle 85">
                <a:extLst>
                  <a:ext uri="{FF2B5EF4-FFF2-40B4-BE49-F238E27FC236}">
                    <a16:creationId xmlns:a16="http://schemas.microsoft.com/office/drawing/2014/main" id="{AD240276-539C-5342-8BE9-7C8E2BEE2146}"/>
                  </a:ext>
                </a:extLst>
              </p:cNvPr>
              <p:cNvSpPr>
                <a:spLocks noRot="1" noChangeAspect="1" noMove="1" noResize="1" noEditPoints="1" noAdjustHandles="1" noChangeArrowheads="1" noChangeShapeType="1" noTextEdit="1"/>
              </p:cNvSpPr>
              <p:nvPr/>
            </p:nvSpPr>
            <p:spPr>
              <a:xfrm>
                <a:off x="7825773" y="1423963"/>
                <a:ext cx="3144515" cy="855299"/>
              </a:xfrm>
              <a:prstGeom prst="rect">
                <a:avLst/>
              </a:prstGeom>
              <a:blipFill>
                <a:blip r:embed="rId14"/>
                <a:stretch>
                  <a:fillRect b="-2941"/>
                </a:stretch>
              </a:blipFill>
            </p:spPr>
            <p:txBody>
              <a:bodyPr/>
              <a:lstStyle/>
              <a:p>
                <a:r>
                  <a:rPr lang="en-US">
                    <a:noFill/>
                  </a:rPr>
                  <a:t> </a:t>
                </a:r>
              </a:p>
            </p:txBody>
          </p:sp>
        </mc:Fallback>
      </mc:AlternateContent>
    </p:spTree>
    <p:extLst>
      <p:ext uri="{BB962C8B-B14F-4D97-AF65-F5344CB8AC3E}">
        <p14:creationId xmlns:p14="http://schemas.microsoft.com/office/powerpoint/2010/main" val="10034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50A5D-89FB-0840-9627-41B2CFFA37C1}"/>
              </a:ext>
            </a:extLst>
          </p:cNvPr>
          <p:cNvSpPr>
            <a:spLocks noGrp="1"/>
          </p:cNvSpPr>
          <p:nvPr>
            <p:ph type="sldNum" sz="quarter" idx="12"/>
          </p:nvPr>
        </p:nvSpPr>
        <p:spPr/>
        <p:txBody>
          <a:bodyPr/>
          <a:lstStyle/>
          <a:p>
            <a:fld id="{591A223C-FA10-BC46-A853-03BA373D023C}" type="slidenum">
              <a:rPr lang="en-US" smtClean="0"/>
              <a:t>19</a:t>
            </a:fld>
            <a:endParaRPr lang="en-US"/>
          </a:p>
        </p:txBody>
      </p:sp>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64ADD0FA-DB25-0346-AD26-C1A2516121A0}"/>
                  </a:ext>
                </a:extLst>
              </p:cNvPr>
              <p:cNvSpPr>
                <a:spLocks noGrp="1"/>
              </p:cNvSpPr>
              <p:nvPr>
                <p:ph type="title"/>
              </p:nvPr>
            </p:nvSpPr>
            <p:spPr>
              <a:xfrm>
                <a:off x="0" y="0"/>
                <a:ext cx="12192000" cy="928688"/>
              </a:xfrm>
            </p:spPr>
            <p:txBody>
              <a:bodyPr/>
              <a:lstStyle/>
              <a:p>
                <a:r>
                  <a:rPr lang="en-US" dirty="0"/>
                  <a:t>Standard Basis: </a:t>
                </a:r>
                <a14:m>
                  <m:oMath xmlns:m="http://schemas.openxmlformats.org/officeDocument/2006/math">
                    <m:r>
                      <a:rPr lang="en-US">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sr-Latn-R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3" name="Title 2">
                <a:extLst>
                  <a:ext uri="{FF2B5EF4-FFF2-40B4-BE49-F238E27FC236}">
                    <a16:creationId xmlns:a16="http://schemas.microsoft.com/office/drawing/2014/main" id="{64ADD0FA-DB25-0346-AD26-C1A2516121A0}"/>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354" b="-274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485DA7-635C-C44D-BA07-0907565C7610}"/>
              </a:ext>
            </a:extLst>
          </p:cNvPr>
          <p:cNvSpPr/>
          <p:nvPr/>
        </p:nvSpPr>
        <p:spPr>
          <a:xfrm>
            <a:off x="398288"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B7EA696-2136-3D4C-8676-22CDC6531A52}"/>
              </a:ext>
            </a:extLst>
          </p:cNvPr>
          <p:cNvSpPr>
            <a:spLocks noChangeAspect="1"/>
          </p:cNvSpPr>
          <p:nvPr/>
        </p:nvSpPr>
        <p:spPr>
          <a:xfrm>
            <a:off x="378576" y="180496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441AEC1-778B-CA49-A109-7EC1C109AC4D}"/>
              </a:ext>
            </a:extLst>
          </p:cNvPr>
          <p:cNvCxnSpPr>
            <a:cxnSpLocks/>
          </p:cNvCxnSpPr>
          <p:nvPr/>
        </p:nvCxnSpPr>
        <p:spPr>
          <a:xfrm>
            <a:off x="2307109" y="368383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ADBB8E5-37CF-D743-875A-3050362E1A13}"/>
                  </a:ext>
                </a:extLst>
              </p:cNvPr>
              <p:cNvSpPr/>
              <p:nvPr/>
            </p:nvSpPr>
            <p:spPr>
              <a:xfrm>
                <a:off x="1469365" y="4929566"/>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sr-Latn-R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7" name="Rectangle 6">
                <a:extLst>
                  <a:ext uri="{FF2B5EF4-FFF2-40B4-BE49-F238E27FC236}">
                    <a16:creationId xmlns:a16="http://schemas.microsoft.com/office/drawing/2014/main" id="{6ADBB8E5-37CF-D743-875A-3050362E1A13}"/>
                  </a:ext>
                </a:extLst>
              </p:cNvPr>
              <p:cNvSpPr>
                <a:spLocks noRot="1" noChangeAspect="1" noMove="1" noResize="1" noEditPoints="1" noAdjustHandles="1" noChangeArrowheads="1" noChangeShapeType="1" noTextEdit="1"/>
              </p:cNvSpPr>
              <p:nvPr/>
            </p:nvSpPr>
            <p:spPr>
              <a:xfrm>
                <a:off x="1469365" y="4929566"/>
                <a:ext cx="631519" cy="461665"/>
              </a:xfrm>
              <a:prstGeom prst="rect">
                <a:avLst/>
              </a:prstGeom>
              <a:blipFill>
                <a:blip r:embed="rId4"/>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6947CC77-F470-CA43-BF73-2250AECDBD1D}"/>
              </a:ext>
            </a:extLst>
          </p:cNvPr>
          <p:cNvSpPr/>
          <p:nvPr/>
        </p:nvSpPr>
        <p:spPr>
          <a:xfrm>
            <a:off x="2161810"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0C1D90A-FADA-7548-A637-5BEA98BE06CC}"/>
              </a:ext>
            </a:extLst>
          </p:cNvPr>
          <p:cNvSpPr/>
          <p:nvPr/>
        </p:nvSpPr>
        <p:spPr>
          <a:xfrm>
            <a:off x="2162177"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41D065-92E7-0E48-95BF-8202FC90CD68}"/>
                  </a:ext>
                </a:extLst>
              </p:cNvPr>
              <p:cNvSpPr txBox="1"/>
              <p:nvPr/>
            </p:nvSpPr>
            <p:spPr>
              <a:xfrm>
                <a:off x="199284"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3241D065-92E7-0E48-95BF-8202FC90CD68}"/>
                  </a:ext>
                </a:extLst>
              </p:cNvPr>
              <p:cNvSpPr txBox="1">
                <a:spLocks noRot="1" noChangeAspect="1" noMove="1" noResize="1" noEditPoints="1" noAdjustHandles="1" noChangeArrowheads="1" noChangeShapeType="1" noTextEdit="1"/>
              </p:cNvSpPr>
              <p:nvPr/>
            </p:nvSpPr>
            <p:spPr>
              <a:xfrm>
                <a:off x="199284" y="5153166"/>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70526-E8AE-E647-B1A7-C5FF811CA8A7}"/>
                  </a:ext>
                </a:extLst>
              </p:cNvPr>
              <p:cNvSpPr txBox="1"/>
              <p:nvPr/>
            </p:nvSpPr>
            <p:spPr>
              <a:xfrm>
                <a:off x="1916507"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1" name="TextBox 10">
                <a:extLst>
                  <a:ext uri="{FF2B5EF4-FFF2-40B4-BE49-F238E27FC236}">
                    <a16:creationId xmlns:a16="http://schemas.microsoft.com/office/drawing/2014/main" id="{42770526-E8AE-E647-B1A7-C5FF811CA8A7}"/>
                  </a:ext>
                </a:extLst>
              </p:cNvPr>
              <p:cNvSpPr txBox="1">
                <a:spLocks noRot="1" noChangeAspect="1" noMove="1" noResize="1" noEditPoints="1" noAdjustHandles="1" noChangeArrowheads="1" noChangeShapeType="1" noTextEdit="1"/>
              </p:cNvSpPr>
              <p:nvPr/>
            </p:nvSpPr>
            <p:spPr>
              <a:xfrm>
                <a:off x="1916507" y="1217953"/>
                <a:ext cx="367985" cy="461665"/>
              </a:xfrm>
              <a:prstGeom prst="rect">
                <a:avLst/>
              </a:prstGeom>
              <a:blipFill>
                <a:blip r:embed="rId6"/>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6EDE3842-8434-2D49-BE22-EB3227FC074E}"/>
              </a:ext>
            </a:extLst>
          </p:cNvPr>
          <p:cNvCxnSpPr>
            <a:cxnSpLocks/>
          </p:cNvCxnSpPr>
          <p:nvPr/>
        </p:nvCxnSpPr>
        <p:spPr>
          <a:xfrm flipH="1" flipV="1">
            <a:off x="1081372"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471867-9696-114B-9C6B-819FF452D1B6}"/>
              </a:ext>
            </a:extLst>
          </p:cNvPr>
          <p:cNvCxnSpPr>
            <a:cxnSpLocks/>
            <a:stCxn id="9" idx="0"/>
          </p:cNvCxnSpPr>
          <p:nvPr/>
        </p:nvCxnSpPr>
        <p:spPr>
          <a:xfrm flipH="1" flipV="1">
            <a:off x="2308246"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2DDB05B-BC07-4D47-9010-E43383C3F951}"/>
                  </a:ext>
                </a:extLst>
              </p:cNvPr>
              <p:cNvSpPr/>
              <p:nvPr/>
            </p:nvSpPr>
            <p:spPr>
              <a:xfrm>
                <a:off x="1457835" y="191651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14" name="Rectangle 13">
                <a:extLst>
                  <a:ext uri="{FF2B5EF4-FFF2-40B4-BE49-F238E27FC236}">
                    <a16:creationId xmlns:a16="http://schemas.microsoft.com/office/drawing/2014/main" id="{F2DDB05B-BC07-4D47-9010-E43383C3F951}"/>
                  </a:ext>
                </a:extLst>
              </p:cNvPr>
              <p:cNvSpPr>
                <a:spLocks noRot="1" noChangeAspect="1" noMove="1" noResize="1" noEditPoints="1" noAdjustHandles="1" noChangeArrowheads="1" noChangeShapeType="1" noTextEdit="1"/>
              </p:cNvSpPr>
              <p:nvPr/>
            </p:nvSpPr>
            <p:spPr>
              <a:xfrm>
                <a:off x="1457835" y="1916518"/>
                <a:ext cx="707886" cy="523220"/>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B43B283-38DA-554B-9600-23BB8D79B161}"/>
              </a:ext>
            </a:extLst>
          </p:cNvPr>
          <p:cNvCxnSpPr>
            <a:cxnSpLocks/>
          </p:cNvCxnSpPr>
          <p:nvPr/>
        </p:nvCxnSpPr>
        <p:spPr>
          <a:xfrm flipH="1">
            <a:off x="588033"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3BBC13-D467-EA4C-A51E-A0F179855B5C}"/>
              </a:ext>
            </a:extLst>
          </p:cNvPr>
          <p:cNvCxnSpPr>
            <a:cxnSpLocks/>
          </p:cNvCxnSpPr>
          <p:nvPr/>
        </p:nvCxnSpPr>
        <p:spPr>
          <a:xfrm flipV="1">
            <a:off x="2313138"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11E389A-51CC-094E-B477-EFE4412EFEB3}"/>
              </a:ext>
            </a:extLst>
          </p:cNvPr>
          <p:cNvCxnSpPr>
            <a:cxnSpLocks/>
          </p:cNvCxnSpPr>
          <p:nvPr/>
        </p:nvCxnSpPr>
        <p:spPr>
          <a:xfrm flipH="1">
            <a:off x="2322144" y="3693603"/>
            <a:ext cx="236" cy="1512000"/>
          </a:xfrm>
          <a:prstGeom prst="line">
            <a:avLst/>
          </a:prstGeom>
          <a:ln w="76200" cap="rnd">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A579A2-EDD5-BB4B-B985-40F8AFF9CE19}"/>
              </a:ext>
            </a:extLst>
          </p:cNvPr>
          <p:cNvCxnSpPr>
            <a:cxnSpLocks/>
          </p:cNvCxnSpPr>
          <p:nvPr/>
        </p:nvCxnSpPr>
        <p:spPr>
          <a:xfrm flipV="1">
            <a:off x="2322262" y="2165457"/>
            <a:ext cx="0" cy="1512000"/>
          </a:xfrm>
          <a:prstGeom prst="straightConnector1">
            <a:avLst/>
          </a:prstGeom>
          <a:ln w="76200" cap="rnd">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298A65D-B8E4-CB46-95EA-CB42507A5BA8}"/>
                  </a:ext>
                </a:extLst>
              </p:cNvPr>
              <p:cNvSpPr txBox="1"/>
              <p:nvPr/>
            </p:nvSpPr>
            <p:spPr>
              <a:xfrm>
                <a:off x="4466518" y="426215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27" name="TextBox 26">
                <a:extLst>
                  <a:ext uri="{FF2B5EF4-FFF2-40B4-BE49-F238E27FC236}">
                    <a16:creationId xmlns:a16="http://schemas.microsoft.com/office/drawing/2014/main" id="{0298A65D-B8E4-CB46-95EA-CB42507A5BA8}"/>
                  </a:ext>
                </a:extLst>
              </p:cNvPr>
              <p:cNvSpPr txBox="1">
                <a:spLocks noRot="1" noChangeAspect="1" noMove="1" noResize="1" noEditPoints="1" noAdjustHandles="1" noChangeArrowheads="1" noChangeShapeType="1" noTextEdit="1"/>
              </p:cNvSpPr>
              <p:nvPr/>
            </p:nvSpPr>
            <p:spPr>
              <a:xfrm>
                <a:off x="4466518" y="4262157"/>
                <a:ext cx="367985" cy="461665"/>
              </a:xfrm>
              <a:prstGeom prst="rect">
                <a:avLst/>
              </a:prstGeom>
              <a:blipFill>
                <a:blip r:embed="rId8"/>
                <a:stretch>
                  <a:fillRect l="-3333"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3BD4287-C73B-1C45-B4A6-D7626E6A368D}"/>
                  </a:ext>
                </a:extLst>
              </p:cNvPr>
              <p:cNvSpPr/>
              <p:nvPr/>
            </p:nvSpPr>
            <p:spPr>
              <a:xfrm>
                <a:off x="4260316" y="2556295"/>
                <a:ext cx="7837658" cy="15942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3000" i="1">
                              <a:latin typeface="Cambria Math" panose="02040503050406030204" pitchFamily="18" charset="0"/>
                            </a:rPr>
                          </m:ctrlPr>
                        </m:mPr>
                        <m:mr>
                          <m:e>
                            <m:d>
                              <m:dPr>
                                <m:begChr m:val="|"/>
                                <m:endChr m:val="⟩"/>
                                <m:ctrlPr>
                                  <a:rPr lang="en-US" sz="3000" i="1">
                                    <a:latin typeface="Cambria Math" panose="02040503050406030204" pitchFamily="18" charset="0"/>
                                  </a:rPr>
                                </m:ctrlPr>
                              </m:dPr>
                              <m:e>
                                <m:r>
                                  <a:rPr lang="en-US" sz="3000" i="1">
                                    <a:latin typeface="Cambria Math" panose="02040503050406030204" pitchFamily="18" charset="0"/>
                                  </a:rPr>
                                  <m:t>𝑆</m:t>
                                </m:r>
                              </m:e>
                            </m:d>
                            <m:groupChr>
                              <m:groupChrPr>
                                <m:chr m:val="→"/>
                                <m:vertJc m:val="bot"/>
                                <m:ctrlPr>
                                  <a:rPr lang="en-US" sz="3000" i="1">
                                    <a:latin typeface="Cambria Math" panose="02040503050406030204" pitchFamily="18" charset="0"/>
                                  </a:rPr>
                                </m:ctrlPr>
                              </m:groupChrPr>
                              <m:e>
                                <m:r>
                                  <a:rPr lang="en-US" sz="3000" i="1">
                                    <a:latin typeface="Cambria Math" panose="02040503050406030204" pitchFamily="18" charset="0"/>
                                  </a:rPr>
                                  <m:t>𝜃</m:t>
                                </m:r>
                                <m:r>
                                  <a:rPr lang="en-US" sz="3000" i="0">
                                    <a:latin typeface="Cambria Math" panose="02040503050406030204" pitchFamily="18" charset="0"/>
                                  </a:rPr>
                                  <m:t>=0,</m:t>
                                </m:r>
                                <m:r>
                                  <a:rPr lang="en-US" sz="3000" i="1">
                                    <a:latin typeface="Cambria Math" panose="02040503050406030204" pitchFamily="18" charset="0"/>
                                  </a:rPr>
                                  <m:t>𝜑</m:t>
                                </m:r>
                                <m:r>
                                  <a:rPr lang="en-US" sz="3000" i="0">
                                    <a:latin typeface="Cambria Math" panose="02040503050406030204" pitchFamily="18" charset="0"/>
                                  </a:rPr>
                                  <m:t>=0</m:t>
                                </m:r>
                              </m:e>
                            </m:groupChr>
                          </m:e>
                          <m:e>
                            <m:r>
                              <a:rPr lang="en-US" sz="3000" i="0">
                                <a:latin typeface="Cambria Math" panose="02040503050406030204" pitchFamily="18" charset="0"/>
                              </a:rPr>
                              <m:t>=</m:t>
                            </m:r>
                            <m:func>
                              <m:funcPr>
                                <m:ctrlPr>
                                  <a:rPr lang="en-US" sz="3000" i="1">
                                    <a:latin typeface="Cambria Math" panose="02040503050406030204" pitchFamily="18" charset="0"/>
                                  </a:rPr>
                                </m:ctrlPr>
                              </m:funcPr>
                              <m:fName>
                                <m:r>
                                  <a:rPr lang="en-US" sz="3000" i="1">
                                    <a:latin typeface="Cambria Math" panose="02040503050406030204" pitchFamily="18" charset="0"/>
                                  </a:rPr>
                                  <m:t>𝑐𝑜𝑠</m:t>
                                </m:r>
                              </m:fName>
                              <m:e>
                                <m:r>
                                  <a:rPr lang="en-US" sz="3000" i="0">
                                    <a:latin typeface="Cambria Math" panose="02040503050406030204" pitchFamily="18" charset="0"/>
                                  </a:rPr>
                                  <m:t>0</m:t>
                                </m:r>
                              </m:e>
                            </m:func>
                            <m:d>
                              <m:dPr>
                                <m:begChr m:val="|"/>
                                <m:endChr m:val="⟩"/>
                                <m:ctrlPr>
                                  <a:rPr lang="en-US" sz="3000" i="1">
                                    <a:latin typeface="Cambria Math" panose="02040503050406030204" pitchFamily="18" charset="0"/>
                                  </a:rPr>
                                </m:ctrlPr>
                              </m:dPr>
                              <m:e>
                                <m:r>
                                  <a:rPr lang="en-US" sz="3000" i="0">
                                    <a:latin typeface="Cambria Math" panose="02040503050406030204" pitchFamily="18" charset="0"/>
                                  </a:rPr>
                                  <m:t>0</m:t>
                                </m:r>
                              </m:e>
                            </m:d>
                            <m:r>
                              <a:rPr lang="en-US" sz="3000" i="0">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𝑖</m:t>
                                </m:r>
                                <m:r>
                                  <a:rPr lang="en-US" sz="3000" i="0">
                                    <a:latin typeface="Cambria Math" panose="02040503050406030204" pitchFamily="18" charset="0"/>
                                  </a:rPr>
                                  <m:t>0</m:t>
                                </m:r>
                              </m:sup>
                            </m:sSup>
                            <m:func>
                              <m:funcPr>
                                <m:ctrlPr>
                                  <a:rPr lang="en-US" sz="3000" i="1">
                                    <a:latin typeface="Cambria Math" panose="02040503050406030204" pitchFamily="18" charset="0"/>
                                  </a:rPr>
                                </m:ctrlPr>
                              </m:funcPr>
                              <m:fName>
                                <m:r>
                                  <a:rPr lang="en-US" sz="3000" i="1">
                                    <a:latin typeface="Cambria Math" panose="02040503050406030204" pitchFamily="18" charset="0"/>
                                  </a:rPr>
                                  <m:t>𝑠𝑖𝑛</m:t>
                                </m:r>
                              </m:fName>
                              <m:e>
                                <m:r>
                                  <a:rPr lang="en-US" sz="3000" i="0">
                                    <a:latin typeface="Cambria Math" panose="02040503050406030204" pitchFamily="18" charset="0"/>
                                  </a:rPr>
                                  <m:t>0</m:t>
                                </m:r>
                              </m:e>
                            </m:func>
                            <m:d>
                              <m:dPr>
                                <m:begChr m:val="|"/>
                                <m:endChr m:val="⟩"/>
                                <m:ctrlPr>
                                  <a:rPr lang="en-US" sz="3000" i="1">
                                    <a:latin typeface="Cambria Math" panose="02040503050406030204" pitchFamily="18" charset="0"/>
                                  </a:rPr>
                                </m:ctrlPr>
                              </m:dPr>
                              <m:e>
                                <m:r>
                                  <a:rPr lang="en-US" sz="3000" i="0">
                                    <a:latin typeface="Cambria Math" panose="02040503050406030204" pitchFamily="18" charset="0"/>
                                  </a:rPr>
                                  <m:t>1</m:t>
                                </m:r>
                              </m:e>
                            </m:d>
                          </m:e>
                          <m:e>
                            <m:r>
                              <a:rPr lang="en-US" sz="3000" i="0">
                                <a:latin typeface="Cambria Math" panose="02040503050406030204" pitchFamily="18" charset="0"/>
                              </a:rPr>
                              <m:t>=</m:t>
                            </m:r>
                            <m:d>
                              <m:dPr>
                                <m:begChr m:val="|"/>
                                <m:endChr m:val="⟩"/>
                                <m:ctrlPr>
                                  <a:rPr lang="en-US" sz="3000" i="1">
                                    <a:latin typeface="Cambria Math" panose="02040503050406030204" pitchFamily="18" charset="0"/>
                                  </a:rPr>
                                </m:ctrlPr>
                              </m:dPr>
                              <m:e>
                                <m:r>
                                  <a:rPr lang="en-US" sz="3000" i="0">
                                    <a:latin typeface="Cambria Math" panose="02040503050406030204" pitchFamily="18" charset="0"/>
                                  </a:rPr>
                                  <m:t>0</m:t>
                                </m:r>
                              </m:e>
                            </m:d>
                          </m:e>
                        </m:mr>
                        <m:mr>
                          <m:e>
                            <m:d>
                              <m:dPr>
                                <m:begChr m:val="|"/>
                                <m:endChr m:val="⟩"/>
                                <m:ctrlPr>
                                  <a:rPr lang="en-US" sz="3000" i="1">
                                    <a:latin typeface="Cambria Math" panose="02040503050406030204" pitchFamily="18" charset="0"/>
                                  </a:rPr>
                                </m:ctrlPr>
                              </m:dPr>
                              <m:e>
                                <m:r>
                                  <a:rPr lang="en-US" sz="3000" i="1">
                                    <a:latin typeface="Cambria Math" panose="02040503050406030204" pitchFamily="18" charset="0"/>
                                  </a:rPr>
                                  <m:t>𝑆</m:t>
                                </m:r>
                              </m:e>
                            </m:d>
                            <m:groupChr>
                              <m:groupChrPr>
                                <m:chr m:val="→"/>
                                <m:vertJc m:val="bot"/>
                                <m:ctrlPr>
                                  <a:rPr lang="en-US" sz="3000" i="1">
                                    <a:latin typeface="Cambria Math" panose="02040503050406030204" pitchFamily="18" charset="0"/>
                                  </a:rPr>
                                </m:ctrlPr>
                              </m:groupChrPr>
                              <m:e>
                                <m:r>
                                  <a:rPr lang="en-US" sz="3000" i="1">
                                    <a:latin typeface="Cambria Math" panose="02040503050406030204" pitchFamily="18" charset="0"/>
                                  </a:rPr>
                                  <m:t>𝜃</m:t>
                                </m:r>
                                <m:r>
                                  <a:rPr lang="en-US" sz="3000" i="0">
                                    <a:latin typeface="Cambria Math" panose="02040503050406030204" pitchFamily="18" charset="0"/>
                                  </a:rPr>
                                  <m:t>=</m:t>
                                </m:r>
                                <m:r>
                                  <a:rPr lang="en-US" sz="3000" i="1">
                                    <a:latin typeface="Cambria Math" panose="02040503050406030204" pitchFamily="18" charset="0"/>
                                  </a:rPr>
                                  <m:t>𝜋</m:t>
                                </m:r>
                                <m:r>
                                  <a:rPr lang="en-US" sz="3000" i="0">
                                    <a:latin typeface="Cambria Math" panose="02040503050406030204" pitchFamily="18" charset="0"/>
                                  </a:rPr>
                                  <m:t>,</m:t>
                                </m:r>
                                <m:r>
                                  <a:rPr lang="en-US" sz="3000" i="1">
                                    <a:latin typeface="Cambria Math" panose="02040503050406030204" pitchFamily="18" charset="0"/>
                                  </a:rPr>
                                  <m:t>𝜑</m:t>
                                </m:r>
                                <m:r>
                                  <a:rPr lang="en-US" sz="3000" i="0">
                                    <a:latin typeface="Cambria Math" panose="02040503050406030204" pitchFamily="18" charset="0"/>
                                  </a:rPr>
                                  <m:t>=0</m:t>
                                </m:r>
                              </m:e>
                            </m:groupChr>
                          </m:e>
                          <m:e>
                            <m:r>
                              <a:rPr lang="en-US" sz="3000" i="0">
                                <a:latin typeface="Cambria Math" panose="02040503050406030204" pitchFamily="18" charset="0"/>
                              </a:rPr>
                              <m:t>=</m:t>
                            </m:r>
                            <m:func>
                              <m:funcPr>
                                <m:ctrlPr>
                                  <a:rPr lang="en-US" sz="3000" i="1">
                                    <a:latin typeface="Cambria Math" panose="02040503050406030204" pitchFamily="18" charset="0"/>
                                  </a:rPr>
                                </m:ctrlPr>
                              </m:funcPr>
                              <m:fName>
                                <m:r>
                                  <a:rPr lang="en-US" sz="3000" i="1">
                                    <a:latin typeface="Cambria Math" panose="02040503050406030204" pitchFamily="18" charset="0"/>
                                  </a:rPr>
                                  <m:t>𝑐𝑜𝑠</m:t>
                                </m:r>
                              </m:fName>
                              <m:e>
                                <m:f>
                                  <m:fPr>
                                    <m:ctrlPr>
                                      <a:rPr lang="en-US" sz="3000" i="1">
                                        <a:latin typeface="Cambria Math" panose="02040503050406030204" pitchFamily="18" charset="0"/>
                                      </a:rPr>
                                    </m:ctrlPr>
                                  </m:fPr>
                                  <m:num>
                                    <m:r>
                                      <a:rPr lang="en-US" sz="3000" i="1">
                                        <a:latin typeface="Cambria Math" panose="02040503050406030204" pitchFamily="18" charset="0"/>
                                      </a:rPr>
                                      <m:t>𝜋</m:t>
                                    </m:r>
                                  </m:num>
                                  <m:den>
                                    <m:r>
                                      <a:rPr lang="en-US" sz="3000" i="0">
                                        <a:latin typeface="Cambria Math" panose="02040503050406030204" pitchFamily="18" charset="0"/>
                                      </a:rPr>
                                      <m:t>2</m:t>
                                    </m:r>
                                  </m:den>
                                </m:f>
                              </m:e>
                            </m:func>
                            <m:d>
                              <m:dPr>
                                <m:begChr m:val="|"/>
                                <m:endChr m:val="⟩"/>
                                <m:ctrlPr>
                                  <a:rPr lang="en-US" sz="3000" i="1">
                                    <a:latin typeface="Cambria Math" panose="02040503050406030204" pitchFamily="18" charset="0"/>
                                  </a:rPr>
                                </m:ctrlPr>
                              </m:dPr>
                              <m:e>
                                <m:r>
                                  <a:rPr lang="en-US" sz="3000" i="0">
                                    <a:latin typeface="Cambria Math" panose="02040503050406030204" pitchFamily="18" charset="0"/>
                                  </a:rPr>
                                  <m:t>0</m:t>
                                </m:r>
                              </m:e>
                            </m:d>
                            <m:r>
                              <a:rPr lang="en-US" sz="3000" i="0">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𝑖</m:t>
                                </m:r>
                                <m:r>
                                  <a:rPr lang="en-US" sz="3000" i="0">
                                    <a:latin typeface="Cambria Math" panose="02040503050406030204" pitchFamily="18" charset="0"/>
                                  </a:rPr>
                                  <m:t>0</m:t>
                                </m:r>
                              </m:sup>
                            </m:sSup>
                            <m:func>
                              <m:funcPr>
                                <m:ctrlPr>
                                  <a:rPr lang="en-US" sz="3000" i="1">
                                    <a:latin typeface="Cambria Math" panose="02040503050406030204" pitchFamily="18" charset="0"/>
                                  </a:rPr>
                                </m:ctrlPr>
                              </m:funcPr>
                              <m:fName>
                                <m:r>
                                  <a:rPr lang="en-US" sz="3000" i="1">
                                    <a:latin typeface="Cambria Math" panose="02040503050406030204" pitchFamily="18" charset="0"/>
                                  </a:rPr>
                                  <m:t>𝑠𝑖𝑛</m:t>
                                </m:r>
                              </m:fName>
                              <m:e>
                                <m:f>
                                  <m:fPr>
                                    <m:ctrlPr>
                                      <a:rPr lang="en-US" sz="3000" i="1">
                                        <a:latin typeface="Cambria Math" panose="02040503050406030204" pitchFamily="18" charset="0"/>
                                      </a:rPr>
                                    </m:ctrlPr>
                                  </m:fPr>
                                  <m:num>
                                    <m:r>
                                      <a:rPr lang="en-US" sz="3000" i="1">
                                        <a:latin typeface="Cambria Math" panose="02040503050406030204" pitchFamily="18" charset="0"/>
                                      </a:rPr>
                                      <m:t>𝜋</m:t>
                                    </m:r>
                                  </m:num>
                                  <m:den>
                                    <m:r>
                                      <a:rPr lang="en-US" sz="3000" i="0">
                                        <a:latin typeface="Cambria Math" panose="02040503050406030204" pitchFamily="18" charset="0"/>
                                      </a:rPr>
                                      <m:t>2</m:t>
                                    </m:r>
                                  </m:den>
                                </m:f>
                              </m:e>
                            </m:func>
                            <m:d>
                              <m:dPr>
                                <m:begChr m:val="|"/>
                                <m:endChr m:val="⟩"/>
                                <m:ctrlPr>
                                  <a:rPr lang="en-US" sz="3000" i="1">
                                    <a:latin typeface="Cambria Math" panose="02040503050406030204" pitchFamily="18" charset="0"/>
                                  </a:rPr>
                                </m:ctrlPr>
                              </m:dPr>
                              <m:e>
                                <m:r>
                                  <a:rPr lang="en-US" sz="3000" i="0">
                                    <a:latin typeface="Cambria Math" panose="02040503050406030204" pitchFamily="18" charset="0"/>
                                  </a:rPr>
                                  <m:t>1</m:t>
                                </m:r>
                              </m:e>
                            </m:d>
                          </m:e>
                          <m:e>
                            <m:r>
                              <a:rPr lang="en-US" sz="3000" i="0">
                                <a:latin typeface="Cambria Math" panose="02040503050406030204" pitchFamily="18" charset="0"/>
                              </a:rPr>
                              <m:t>=</m:t>
                            </m:r>
                            <m:d>
                              <m:dPr>
                                <m:begChr m:val="|"/>
                                <m:endChr m:val="⟩"/>
                                <m:ctrlPr>
                                  <a:rPr lang="en-US" sz="3000" i="1">
                                    <a:latin typeface="Cambria Math" panose="02040503050406030204" pitchFamily="18" charset="0"/>
                                  </a:rPr>
                                </m:ctrlPr>
                              </m:dPr>
                              <m:e>
                                <m:r>
                                  <a:rPr lang="en-US" sz="3000" i="0">
                                    <a:latin typeface="Cambria Math" panose="02040503050406030204" pitchFamily="18" charset="0"/>
                                  </a:rPr>
                                  <m:t>1</m:t>
                                </m:r>
                              </m:e>
                            </m:d>
                          </m:e>
                        </m:mr>
                      </m:m>
                    </m:oMath>
                  </m:oMathPara>
                </a14:m>
                <a:endParaRPr lang="en-US" sz="3000" dirty="0"/>
              </a:p>
            </p:txBody>
          </p:sp>
        </mc:Choice>
        <mc:Fallback xmlns="">
          <p:sp>
            <p:nvSpPr>
              <p:cNvPr id="28" name="Rectangle 27">
                <a:extLst>
                  <a:ext uri="{FF2B5EF4-FFF2-40B4-BE49-F238E27FC236}">
                    <a16:creationId xmlns:a16="http://schemas.microsoft.com/office/drawing/2014/main" id="{33BD4287-C73B-1C45-B4A6-D7626E6A368D}"/>
                  </a:ext>
                </a:extLst>
              </p:cNvPr>
              <p:cNvSpPr>
                <a:spLocks noRot="1" noChangeAspect="1" noMove="1" noResize="1" noEditPoints="1" noAdjustHandles="1" noChangeArrowheads="1" noChangeShapeType="1" noTextEdit="1"/>
              </p:cNvSpPr>
              <p:nvPr/>
            </p:nvSpPr>
            <p:spPr>
              <a:xfrm>
                <a:off x="4260316" y="2556295"/>
                <a:ext cx="7837658" cy="1594219"/>
              </a:xfrm>
              <a:prstGeom prst="rect">
                <a:avLst/>
              </a:prstGeom>
              <a:blipFill>
                <a:blip r:embed="rId9"/>
                <a:stretch>
                  <a:fillRect b="-3150"/>
                </a:stretch>
              </a:blipFill>
            </p:spPr>
            <p:txBody>
              <a:bodyPr/>
              <a:lstStyle/>
              <a:p>
                <a:r>
                  <a:rPr lang="en-US">
                    <a:noFill/>
                  </a:rPr>
                  <a:t> </a:t>
                </a:r>
              </a:p>
            </p:txBody>
          </p:sp>
        </mc:Fallback>
      </mc:AlternateContent>
    </p:spTree>
    <p:extLst>
      <p:ext uri="{BB962C8B-B14F-4D97-AF65-F5344CB8AC3E}">
        <p14:creationId xmlns:p14="http://schemas.microsoft.com/office/powerpoint/2010/main" val="572609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50A5D-89FB-0840-9627-41B2CFFA37C1}"/>
              </a:ext>
            </a:extLst>
          </p:cNvPr>
          <p:cNvSpPr>
            <a:spLocks noGrp="1"/>
          </p:cNvSpPr>
          <p:nvPr>
            <p:ph type="sldNum" sz="quarter" idx="12"/>
          </p:nvPr>
        </p:nvSpPr>
        <p:spPr/>
        <p:txBody>
          <a:bodyPr/>
          <a:lstStyle/>
          <a:p>
            <a:fld id="{591A223C-FA10-BC46-A853-03BA373D023C}" type="slidenum">
              <a:rPr lang="en-US" smtClean="0"/>
              <a:t>20</a:t>
            </a:fld>
            <a:endParaRPr lang="en-US"/>
          </a:p>
        </p:txBody>
      </p:sp>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64ADD0FA-DB25-0346-AD26-C1A2516121A0}"/>
                  </a:ext>
                </a:extLst>
              </p:cNvPr>
              <p:cNvSpPr>
                <a:spLocks noGrp="1"/>
              </p:cNvSpPr>
              <p:nvPr>
                <p:ph type="title"/>
              </p:nvPr>
            </p:nvSpPr>
            <p:spPr>
              <a:xfrm>
                <a:off x="0" y="0"/>
                <a:ext cx="12192000" cy="928688"/>
              </a:xfrm>
            </p:spPr>
            <p:txBody>
              <a:bodyPr/>
              <a:lstStyle/>
              <a:p>
                <a:r>
                  <a:rPr lang="en-ZA" dirty="0"/>
                  <a:t>Diagonal Basis</a:t>
                </a:r>
                <a:r>
                  <a:rPr lang="en-US" dirty="0"/>
                  <a:t>: </a:t>
                </a:r>
                <a14:m>
                  <m:oMath xmlns:m="http://schemas.openxmlformats.org/officeDocument/2006/math">
                    <m:d>
                      <m:dPr>
                        <m:begChr m:val="{"/>
                        <m:endChr m:val="}"/>
                        <m:ctrlPr>
                          <a:rPr lang="en-ZA" i="1">
                            <a:latin typeface="Cambria Math" panose="02040503050406030204" pitchFamily="18" charset="0"/>
                          </a:rPr>
                        </m:ctrlPr>
                      </m:dPr>
                      <m:e>
                        <m:d>
                          <m:dPr>
                            <m:begChr m:val="|"/>
                            <m:endChr m:val="⟩"/>
                            <m:ctrlPr>
                              <a:rPr lang="en-ZA" i="1">
                                <a:latin typeface="Cambria Math" panose="02040503050406030204" pitchFamily="18" charset="0"/>
                              </a:rPr>
                            </m:ctrlPr>
                          </m:dPr>
                          <m:e>
                            <m:r>
                              <a:rPr lang="sr-Latn-RS">
                                <a:latin typeface="Cambria Math" panose="02040503050406030204" pitchFamily="18" charset="0"/>
                              </a:rPr>
                              <m:t>+</m:t>
                            </m:r>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r>
                              <a:rPr lang="sr-Latn-RS" i="1">
                                <a:latin typeface="Cambria Math" panose="02040503050406030204" pitchFamily="18" charset="0"/>
                              </a:rPr>
                              <m:t>−</m:t>
                            </m:r>
                          </m:e>
                        </m:d>
                      </m:e>
                    </m:d>
                  </m:oMath>
                </a14:m>
                <a:r>
                  <a:rPr lang="en-ZA" dirty="0">
                    <a:effectLst/>
                  </a:rPr>
                  <a:t> </a:t>
                </a:r>
                <a:endParaRPr lang="en-US" dirty="0"/>
              </a:p>
            </p:txBody>
          </p:sp>
        </mc:Choice>
        <mc:Fallback xmlns="">
          <p:sp>
            <p:nvSpPr>
              <p:cNvPr id="3" name="Title 2">
                <a:extLst>
                  <a:ext uri="{FF2B5EF4-FFF2-40B4-BE49-F238E27FC236}">
                    <a16:creationId xmlns:a16="http://schemas.microsoft.com/office/drawing/2014/main" id="{64ADD0FA-DB25-0346-AD26-C1A2516121A0}"/>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354" b="-274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485DA7-635C-C44D-BA07-0907565C7610}"/>
              </a:ext>
            </a:extLst>
          </p:cNvPr>
          <p:cNvSpPr/>
          <p:nvPr/>
        </p:nvSpPr>
        <p:spPr>
          <a:xfrm>
            <a:off x="398288"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B7EA696-2136-3D4C-8676-22CDC6531A52}"/>
              </a:ext>
            </a:extLst>
          </p:cNvPr>
          <p:cNvSpPr>
            <a:spLocks noChangeAspect="1"/>
          </p:cNvSpPr>
          <p:nvPr/>
        </p:nvSpPr>
        <p:spPr>
          <a:xfrm>
            <a:off x="378576" y="180496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441AEC1-778B-CA49-A109-7EC1C109AC4D}"/>
              </a:ext>
            </a:extLst>
          </p:cNvPr>
          <p:cNvCxnSpPr>
            <a:cxnSpLocks/>
          </p:cNvCxnSpPr>
          <p:nvPr/>
        </p:nvCxnSpPr>
        <p:spPr>
          <a:xfrm>
            <a:off x="2307109" y="368383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ADBB8E5-37CF-D743-875A-3050362E1A13}"/>
                  </a:ext>
                </a:extLst>
              </p:cNvPr>
              <p:cNvSpPr/>
              <p:nvPr/>
            </p:nvSpPr>
            <p:spPr>
              <a:xfrm>
                <a:off x="1392330" y="4686850"/>
                <a:ext cx="69083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e>
                      </m:d>
                    </m:oMath>
                  </m:oMathPara>
                </a14:m>
                <a:endParaRPr lang="en-US" sz="2400" dirty="0"/>
              </a:p>
            </p:txBody>
          </p:sp>
        </mc:Choice>
        <mc:Fallback xmlns="">
          <p:sp>
            <p:nvSpPr>
              <p:cNvPr id="7" name="Rectangle 6">
                <a:extLst>
                  <a:ext uri="{FF2B5EF4-FFF2-40B4-BE49-F238E27FC236}">
                    <a16:creationId xmlns:a16="http://schemas.microsoft.com/office/drawing/2014/main" id="{6ADBB8E5-37CF-D743-875A-3050362E1A13}"/>
                  </a:ext>
                </a:extLst>
              </p:cNvPr>
              <p:cNvSpPr>
                <a:spLocks noRot="1" noChangeAspect="1" noMove="1" noResize="1" noEditPoints="1" noAdjustHandles="1" noChangeArrowheads="1" noChangeShapeType="1" noTextEdit="1"/>
              </p:cNvSpPr>
              <p:nvPr/>
            </p:nvSpPr>
            <p:spPr>
              <a:xfrm>
                <a:off x="1392330" y="4686850"/>
                <a:ext cx="690830" cy="461665"/>
              </a:xfrm>
              <a:prstGeom prst="rect">
                <a:avLst/>
              </a:prstGeom>
              <a:blipFill>
                <a:blip r:embed="rId4"/>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6947CC77-F470-CA43-BF73-2250AECDBD1D}"/>
              </a:ext>
            </a:extLst>
          </p:cNvPr>
          <p:cNvSpPr/>
          <p:nvPr/>
        </p:nvSpPr>
        <p:spPr>
          <a:xfrm>
            <a:off x="2161810"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0C1D90A-FADA-7548-A637-5BEA98BE06CC}"/>
              </a:ext>
            </a:extLst>
          </p:cNvPr>
          <p:cNvSpPr/>
          <p:nvPr/>
        </p:nvSpPr>
        <p:spPr>
          <a:xfrm>
            <a:off x="2162177"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41D065-92E7-0E48-95BF-8202FC90CD68}"/>
                  </a:ext>
                </a:extLst>
              </p:cNvPr>
              <p:cNvSpPr txBox="1"/>
              <p:nvPr/>
            </p:nvSpPr>
            <p:spPr>
              <a:xfrm>
                <a:off x="199284"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3241D065-92E7-0E48-95BF-8202FC90CD68}"/>
                  </a:ext>
                </a:extLst>
              </p:cNvPr>
              <p:cNvSpPr txBox="1">
                <a:spLocks noRot="1" noChangeAspect="1" noMove="1" noResize="1" noEditPoints="1" noAdjustHandles="1" noChangeArrowheads="1" noChangeShapeType="1" noTextEdit="1"/>
              </p:cNvSpPr>
              <p:nvPr/>
            </p:nvSpPr>
            <p:spPr>
              <a:xfrm>
                <a:off x="199284" y="5153166"/>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70526-E8AE-E647-B1A7-C5FF811CA8A7}"/>
                  </a:ext>
                </a:extLst>
              </p:cNvPr>
              <p:cNvSpPr txBox="1"/>
              <p:nvPr/>
            </p:nvSpPr>
            <p:spPr>
              <a:xfrm>
                <a:off x="1916507"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1" name="TextBox 10">
                <a:extLst>
                  <a:ext uri="{FF2B5EF4-FFF2-40B4-BE49-F238E27FC236}">
                    <a16:creationId xmlns:a16="http://schemas.microsoft.com/office/drawing/2014/main" id="{42770526-E8AE-E647-B1A7-C5FF811CA8A7}"/>
                  </a:ext>
                </a:extLst>
              </p:cNvPr>
              <p:cNvSpPr txBox="1">
                <a:spLocks noRot="1" noChangeAspect="1" noMove="1" noResize="1" noEditPoints="1" noAdjustHandles="1" noChangeArrowheads="1" noChangeShapeType="1" noTextEdit="1"/>
              </p:cNvSpPr>
              <p:nvPr/>
            </p:nvSpPr>
            <p:spPr>
              <a:xfrm>
                <a:off x="1916507" y="1217953"/>
                <a:ext cx="367985" cy="461665"/>
              </a:xfrm>
              <a:prstGeom prst="rect">
                <a:avLst/>
              </a:prstGeom>
              <a:blipFill>
                <a:blip r:embed="rId6"/>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6EDE3842-8434-2D49-BE22-EB3227FC074E}"/>
              </a:ext>
            </a:extLst>
          </p:cNvPr>
          <p:cNvCxnSpPr>
            <a:cxnSpLocks/>
          </p:cNvCxnSpPr>
          <p:nvPr/>
        </p:nvCxnSpPr>
        <p:spPr>
          <a:xfrm flipH="1" flipV="1">
            <a:off x="1081372"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471867-9696-114B-9C6B-819FF452D1B6}"/>
              </a:ext>
            </a:extLst>
          </p:cNvPr>
          <p:cNvCxnSpPr>
            <a:cxnSpLocks/>
            <a:stCxn id="9" idx="0"/>
          </p:cNvCxnSpPr>
          <p:nvPr/>
        </p:nvCxnSpPr>
        <p:spPr>
          <a:xfrm flipH="1" flipV="1">
            <a:off x="2308246"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2DDB05B-BC07-4D47-9010-E43383C3F951}"/>
                  </a:ext>
                </a:extLst>
              </p:cNvPr>
              <p:cNvSpPr/>
              <p:nvPr/>
            </p:nvSpPr>
            <p:spPr>
              <a:xfrm>
                <a:off x="2768089" y="2631273"/>
                <a:ext cx="7768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e>
                      </m:d>
                    </m:oMath>
                  </m:oMathPara>
                </a14:m>
                <a:endParaRPr lang="en-US" sz="2800" dirty="0"/>
              </a:p>
            </p:txBody>
          </p:sp>
        </mc:Choice>
        <mc:Fallback xmlns="">
          <p:sp>
            <p:nvSpPr>
              <p:cNvPr id="14" name="Rectangle 13">
                <a:extLst>
                  <a:ext uri="{FF2B5EF4-FFF2-40B4-BE49-F238E27FC236}">
                    <a16:creationId xmlns:a16="http://schemas.microsoft.com/office/drawing/2014/main" id="{F2DDB05B-BC07-4D47-9010-E43383C3F951}"/>
                  </a:ext>
                </a:extLst>
              </p:cNvPr>
              <p:cNvSpPr>
                <a:spLocks noRot="1" noChangeAspect="1" noMove="1" noResize="1" noEditPoints="1" noAdjustHandles="1" noChangeArrowheads="1" noChangeShapeType="1" noTextEdit="1"/>
              </p:cNvSpPr>
              <p:nvPr/>
            </p:nvSpPr>
            <p:spPr>
              <a:xfrm>
                <a:off x="2768089" y="2631273"/>
                <a:ext cx="776816" cy="523220"/>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B43B283-38DA-554B-9600-23BB8D79B161}"/>
              </a:ext>
            </a:extLst>
          </p:cNvPr>
          <p:cNvCxnSpPr>
            <a:cxnSpLocks/>
          </p:cNvCxnSpPr>
          <p:nvPr/>
        </p:nvCxnSpPr>
        <p:spPr>
          <a:xfrm flipH="1">
            <a:off x="588033"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3BBC13-D467-EA4C-A51E-A0F179855B5C}"/>
              </a:ext>
            </a:extLst>
          </p:cNvPr>
          <p:cNvCxnSpPr>
            <a:cxnSpLocks/>
          </p:cNvCxnSpPr>
          <p:nvPr/>
        </p:nvCxnSpPr>
        <p:spPr>
          <a:xfrm flipV="1">
            <a:off x="2313138"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A579A2-EDD5-BB4B-B985-40F8AFF9CE19}"/>
              </a:ext>
            </a:extLst>
          </p:cNvPr>
          <p:cNvCxnSpPr>
            <a:cxnSpLocks/>
          </p:cNvCxnSpPr>
          <p:nvPr/>
        </p:nvCxnSpPr>
        <p:spPr>
          <a:xfrm flipH="1">
            <a:off x="1498600" y="3677457"/>
            <a:ext cx="823663" cy="869143"/>
          </a:xfrm>
          <a:prstGeom prst="straightConnector1">
            <a:avLst/>
          </a:prstGeom>
          <a:ln w="762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298A65D-B8E4-CB46-95EA-CB42507A5BA8}"/>
                  </a:ext>
                </a:extLst>
              </p:cNvPr>
              <p:cNvSpPr txBox="1"/>
              <p:nvPr/>
            </p:nvSpPr>
            <p:spPr>
              <a:xfrm>
                <a:off x="4466518" y="426215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27" name="TextBox 26">
                <a:extLst>
                  <a:ext uri="{FF2B5EF4-FFF2-40B4-BE49-F238E27FC236}">
                    <a16:creationId xmlns:a16="http://schemas.microsoft.com/office/drawing/2014/main" id="{0298A65D-B8E4-CB46-95EA-CB42507A5BA8}"/>
                  </a:ext>
                </a:extLst>
              </p:cNvPr>
              <p:cNvSpPr txBox="1">
                <a:spLocks noRot="1" noChangeAspect="1" noMove="1" noResize="1" noEditPoints="1" noAdjustHandles="1" noChangeArrowheads="1" noChangeShapeType="1" noTextEdit="1"/>
              </p:cNvSpPr>
              <p:nvPr/>
            </p:nvSpPr>
            <p:spPr>
              <a:xfrm>
                <a:off x="4466518" y="4262157"/>
                <a:ext cx="367985" cy="461665"/>
              </a:xfrm>
              <a:prstGeom prst="rect">
                <a:avLst/>
              </a:prstGeom>
              <a:blipFill>
                <a:blip r:embed="rId8"/>
                <a:stretch>
                  <a:fillRect l="-3333"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3BD4287-C73B-1C45-B4A6-D7626E6A368D}"/>
                  </a:ext>
                </a:extLst>
              </p:cNvPr>
              <p:cNvSpPr/>
              <p:nvPr/>
            </p:nvSpPr>
            <p:spPr>
              <a:xfrm>
                <a:off x="5049710" y="1584487"/>
                <a:ext cx="6831935" cy="43763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ZA" sz="3000" i="1" smtClean="0">
                              <a:latin typeface="Cambria Math" panose="02040503050406030204" pitchFamily="18" charset="0"/>
                            </a:rPr>
                          </m:ctrlPr>
                        </m:mPr>
                        <m:mr>
                          <m:e>
                            <m:m>
                              <m:mPr>
                                <m:mcs>
                                  <m:mc>
                                    <m:mcPr>
                                      <m:count m:val="2"/>
                                      <m:mcJc m:val="center"/>
                                    </m:mcPr>
                                  </m:mc>
                                </m:mcs>
                                <m:ctrlPr>
                                  <a:rPr lang="en-ZA" sz="3000" i="1" smtClean="0">
                                    <a:latin typeface="Cambria Math" panose="02040503050406030204" pitchFamily="18" charset="0"/>
                                  </a:rPr>
                                </m:ctrlPr>
                              </m:mPr>
                              <m:mr>
                                <m:e>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𝑆</m:t>
                                      </m:r>
                                    </m:e>
                                  </m:d>
                                  <m:groupChr>
                                    <m:groupChrPr>
                                      <m:chr m:val="→"/>
                                      <m:vertJc m:val="bot"/>
                                      <m:ctrlPr>
                                        <a:rPr lang="en-ZA" sz="3000" i="1">
                                          <a:latin typeface="Cambria Math" panose="02040503050406030204" pitchFamily="18" charset="0"/>
                                        </a:rPr>
                                      </m:ctrlPr>
                                    </m:groupChrPr>
                                    <m:e>
                                      <m:r>
                                        <a:rPr lang="sr-Latn-RS" sz="3000" b="0" i="1">
                                          <a:latin typeface="Cambria Math" panose="02040503050406030204" pitchFamily="18" charset="0"/>
                                        </a:rPr>
                                        <m:t>𝜃</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r>
                                        <a:rPr lang="sr-Latn-RS" sz="3000" b="0" i="1">
                                          <a:latin typeface="Cambria Math" panose="02040503050406030204" pitchFamily="18" charset="0"/>
                                        </a:rPr>
                                        <m:t>,</m:t>
                                      </m:r>
                                      <m:r>
                                        <a:rPr lang="sr-Latn-RS" sz="3000" b="0" i="1">
                                          <a:latin typeface="Cambria Math" panose="02040503050406030204" pitchFamily="18" charset="0"/>
                                        </a:rPr>
                                        <m:t>𝜑</m:t>
                                      </m:r>
                                      <m:r>
                                        <a:rPr lang="sr-Latn-RS" sz="3000" b="0" i="1">
                                          <a:latin typeface="Cambria Math" panose="02040503050406030204" pitchFamily="18" charset="0"/>
                                        </a:rPr>
                                        <m:t>=0</m:t>
                                      </m:r>
                                    </m:e>
                                  </m:groupChr>
                                </m:e>
                                <m:e>
                                  <m:r>
                                    <a:rPr lang="sr-Latn-RS" sz="3000" b="0" i="1">
                                      <a:latin typeface="Cambria Math" panose="02040503050406030204" pitchFamily="18" charset="0"/>
                                    </a:rPr>
                                    <m:t>=</m:t>
                                  </m:r>
                                  <m:func>
                                    <m:funcPr>
                                      <m:ctrlPr>
                                        <a:rPr lang="en-ZA" sz="3000" i="1">
                                          <a:latin typeface="Cambria Math" panose="02040503050406030204" pitchFamily="18" charset="0"/>
                                        </a:rPr>
                                      </m:ctrlPr>
                                    </m:funcPr>
                                    <m:fName>
                                      <m:r>
                                        <a:rPr lang="sr-Latn-RS" sz="3000" b="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a:latin typeface="Cambria Math" panose="02040503050406030204" pitchFamily="18" charset="0"/>
                                    </a:rPr>
                                    <m:t>+</m:t>
                                  </m:r>
                                  <m:sSup>
                                    <m:sSupPr>
                                      <m:ctrlPr>
                                        <a:rPr lang="en-ZA" sz="3000" i="1">
                                          <a:latin typeface="Cambria Math" panose="02040503050406030204" pitchFamily="18" charset="0"/>
                                        </a:rPr>
                                      </m:ctrlPr>
                                    </m:sSupPr>
                                    <m:e>
                                      <m:r>
                                        <a:rPr lang="sr-Latn-RS" sz="3000" b="0" i="1">
                                          <a:latin typeface="Cambria Math" panose="02040503050406030204" pitchFamily="18" charset="0"/>
                                        </a:rPr>
                                        <m:t>𝑒</m:t>
                                      </m:r>
                                    </m:e>
                                    <m:sup>
                                      <m:r>
                                        <a:rPr lang="sr-Latn-RS" sz="3000" b="0" i="1">
                                          <a:latin typeface="Cambria Math" panose="02040503050406030204" pitchFamily="18" charset="0"/>
                                        </a:rPr>
                                        <m:t>𝑖</m:t>
                                      </m:r>
                                      <m:r>
                                        <a:rPr lang="sr-Latn-RS" sz="3000" b="0" i="1">
                                          <a:latin typeface="Cambria Math" panose="02040503050406030204" pitchFamily="18" charset="0"/>
                                        </a:rPr>
                                        <m:t>0</m:t>
                                      </m:r>
                                    </m:sup>
                                  </m:sSup>
                                  <m:func>
                                    <m:funcPr>
                                      <m:ctrlPr>
                                        <a:rPr lang="en-ZA" sz="3000" i="1">
                                          <a:latin typeface="Cambria Math" panose="02040503050406030204" pitchFamily="18" charset="0"/>
                                        </a:rPr>
                                      </m:ctrlPr>
                                    </m:funcPr>
                                    <m:fName>
                                      <m:r>
                                        <a:rPr lang="sr-Latn-RS" sz="3000" b="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e>
                              </m:mr>
                              <m:mr>
                                <m:e/>
                                <m:e>
                                  <m:r>
                                    <a:rPr lang="sr-Latn-RS" sz="3000" b="0" i="1">
                                      <a:latin typeface="Cambria Math" panose="02040503050406030204" pitchFamily="18" charset="0"/>
                                    </a:rPr>
                                    <m:t>=</m:t>
                                  </m:r>
                                  <m:f>
                                    <m:fPr>
                                      <m:ctrlPr>
                                        <a:rPr lang="en-ZA" sz="3000" i="1">
                                          <a:latin typeface="Cambria Math" panose="02040503050406030204" pitchFamily="18" charset="0"/>
                                        </a:rPr>
                                      </m:ctrlPr>
                                    </m:fPr>
                                    <m:num>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smtClean="0">
                                          <a:latin typeface="Cambria Math" panose="02040503050406030204" pitchFamily="18" charset="0"/>
                                        </a:rPr>
                                        <m:t>+</m:t>
                                      </m:r>
                                      <m:d>
                                        <m:dPr>
                                          <m:begChr m:val="|"/>
                                          <m:endChr m:val="⟩"/>
                                          <m:ctrlPr>
                                            <a:rPr lang="en-ZA" sz="3000" i="1">
                                              <a:latin typeface="Cambria Math" panose="02040503050406030204" pitchFamily="18" charset="0"/>
                                            </a:rPr>
                                          </m:ctrlPr>
                                        </m:dPr>
                                        <m:e>
                                          <m:r>
                                            <a:rPr lang="sr-Latn-RS" sz="3000" b="0" i="1" smtClean="0">
                                              <a:latin typeface="Cambria Math" panose="02040503050406030204" pitchFamily="18" charset="0"/>
                                            </a:rPr>
                                            <m:t>1</m:t>
                                          </m:r>
                                        </m:e>
                                      </m:d>
                                    </m:num>
                                    <m:den>
                                      <m:rad>
                                        <m:radPr>
                                          <m:degHide m:val="on"/>
                                          <m:ctrlPr>
                                            <a:rPr lang="en-ZA" sz="3000" i="1">
                                              <a:latin typeface="Cambria Math" panose="02040503050406030204" pitchFamily="18" charset="0"/>
                                            </a:rPr>
                                          </m:ctrlPr>
                                        </m:radPr>
                                        <m:deg/>
                                        <m:e>
                                          <m:r>
                                            <a:rPr lang="sr-Latn-RS" sz="3000" b="0" i="1">
                                              <a:latin typeface="Cambria Math" panose="02040503050406030204" pitchFamily="18" charset="0"/>
                                            </a:rPr>
                                            <m:t>2</m:t>
                                          </m:r>
                                        </m:e>
                                      </m:rad>
                                    </m:den>
                                  </m:f>
                                  <m:r>
                                    <a:rPr lang="sr-Latn-RS" sz="3000" b="0" i="1">
                                      <a:latin typeface="Cambria Math" panose="02040503050406030204" pitchFamily="18" charset="0"/>
                                    </a:rPr>
                                    <m:t>=</m:t>
                                  </m:r>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m:t>
                                      </m:r>
                                    </m:e>
                                  </m:d>
                                </m:e>
                              </m:mr>
                              <m:mr>
                                <m:e>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𝑆</m:t>
                                      </m:r>
                                    </m:e>
                                  </m:d>
                                  <m:groupChr>
                                    <m:groupChrPr>
                                      <m:chr m:val="→"/>
                                      <m:vertJc m:val="bot"/>
                                      <m:ctrlPr>
                                        <a:rPr lang="en-ZA" sz="3000" i="1">
                                          <a:latin typeface="Cambria Math" panose="02040503050406030204" pitchFamily="18" charset="0"/>
                                        </a:rPr>
                                      </m:ctrlPr>
                                    </m:groupChrPr>
                                    <m:e>
                                      <m:r>
                                        <a:rPr lang="sr-Latn-RS" sz="3000" b="0" i="1">
                                          <a:latin typeface="Cambria Math" panose="02040503050406030204" pitchFamily="18" charset="0"/>
                                        </a:rPr>
                                        <m:t>𝜃</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r>
                                        <a:rPr lang="sr-Latn-RS" sz="3000" b="0" i="1">
                                          <a:latin typeface="Cambria Math" panose="02040503050406030204" pitchFamily="18" charset="0"/>
                                        </a:rPr>
                                        <m:t>,</m:t>
                                      </m:r>
                                      <m:r>
                                        <a:rPr lang="sr-Latn-RS" sz="3000" b="0" i="1">
                                          <a:latin typeface="Cambria Math" panose="02040503050406030204" pitchFamily="18" charset="0"/>
                                        </a:rPr>
                                        <m:t>𝜑</m:t>
                                      </m:r>
                                      <m:r>
                                        <a:rPr lang="sr-Latn-RS" sz="3000" b="0" i="1">
                                          <a:latin typeface="Cambria Math" panose="02040503050406030204" pitchFamily="18" charset="0"/>
                                        </a:rPr>
                                        <m:t>=</m:t>
                                      </m:r>
                                      <m:r>
                                        <a:rPr lang="sr-Latn-RS" sz="3000" b="0" i="1">
                                          <a:latin typeface="Cambria Math" panose="02040503050406030204" pitchFamily="18" charset="0"/>
                                        </a:rPr>
                                        <m:t>𝜋</m:t>
                                      </m:r>
                                    </m:e>
                                  </m:groupChr>
                                </m:e>
                                <m:e>
                                  <m:r>
                                    <a:rPr lang="sr-Latn-RS" sz="3000" b="0" i="1">
                                      <a:latin typeface="Cambria Math" panose="02040503050406030204" pitchFamily="18" charset="0"/>
                                    </a:rPr>
                                    <m:t>=</m:t>
                                  </m:r>
                                  <m:func>
                                    <m:funcPr>
                                      <m:ctrlPr>
                                        <a:rPr lang="en-ZA" sz="3000" i="1">
                                          <a:latin typeface="Cambria Math" panose="02040503050406030204" pitchFamily="18" charset="0"/>
                                        </a:rPr>
                                      </m:ctrlPr>
                                    </m:funcPr>
                                    <m:fName>
                                      <m:r>
                                        <a:rPr lang="sr-Latn-RS" sz="3000" b="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a:latin typeface="Cambria Math" panose="02040503050406030204" pitchFamily="18" charset="0"/>
                                    </a:rPr>
                                    <m:t>+</m:t>
                                  </m:r>
                                  <m:sSup>
                                    <m:sSupPr>
                                      <m:ctrlPr>
                                        <a:rPr lang="en-ZA" sz="3000" i="1">
                                          <a:latin typeface="Cambria Math" panose="02040503050406030204" pitchFamily="18" charset="0"/>
                                        </a:rPr>
                                      </m:ctrlPr>
                                    </m:sSupPr>
                                    <m:e>
                                      <m:r>
                                        <a:rPr lang="sr-Latn-RS" sz="3000" b="0" i="1">
                                          <a:latin typeface="Cambria Math" panose="02040503050406030204" pitchFamily="18" charset="0"/>
                                        </a:rPr>
                                        <m:t>𝑒</m:t>
                                      </m:r>
                                    </m:e>
                                    <m:sup>
                                      <m:r>
                                        <a:rPr lang="sr-Latn-RS" sz="3000" b="0" i="1">
                                          <a:latin typeface="Cambria Math" panose="02040503050406030204" pitchFamily="18" charset="0"/>
                                        </a:rPr>
                                        <m:t>𝑖</m:t>
                                      </m:r>
                                      <m:r>
                                        <a:rPr lang="sr-Latn-RS" sz="3000" b="0" i="1">
                                          <a:latin typeface="Cambria Math" panose="02040503050406030204" pitchFamily="18" charset="0"/>
                                        </a:rPr>
                                        <m:t>𝜋</m:t>
                                      </m:r>
                                    </m:sup>
                                  </m:sSup>
                                  <m:func>
                                    <m:funcPr>
                                      <m:ctrlPr>
                                        <a:rPr lang="en-ZA" sz="3000" i="1">
                                          <a:latin typeface="Cambria Math" panose="02040503050406030204" pitchFamily="18" charset="0"/>
                                        </a:rPr>
                                      </m:ctrlPr>
                                    </m:funcPr>
                                    <m:fName>
                                      <m:r>
                                        <a:rPr lang="sr-Latn-RS" sz="3000" b="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e>
                              </m:mr>
                              <m:mr>
                                <m:e/>
                                <m:e>
                                  <m:r>
                                    <a:rPr lang="sr-Latn-RS" sz="3000" b="0" i="1">
                                      <a:latin typeface="Cambria Math" panose="02040503050406030204" pitchFamily="18" charset="0"/>
                                    </a:rPr>
                                    <m:t>=</m:t>
                                  </m:r>
                                  <m:f>
                                    <m:fPr>
                                      <m:ctrlPr>
                                        <a:rPr lang="en-ZA" sz="3000" i="1">
                                          <a:latin typeface="Cambria Math" panose="02040503050406030204" pitchFamily="18" charset="0"/>
                                        </a:rPr>
                                      </m:ctrlPr>
                                    </m:fPr>
                                    <m:num>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smtClean="0">
                                          <a:latin typeface="Cambria Math" panose="02040503050406030204" pitchFamily="18" charset="0"/>
                                        </a:rPr>
                                        <m:t>−</m:t>
                                      </m:r>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num>
                                    <m:den>
                                      <m:rad>
                                        <m:radPr>
                                          <m:degHide m:val="on"/>
                                          <m:ctrlPr>
                                            <a:rPr lang="en-ZA" sz="3000" i="1">
                                              <a:latin typeface="Cambria Math" panose="02040503050406030204" pitchFamily="18" charset="0"/>
                                            </a:rPr>
                                          </m:ctrlPr>
                                        </m:radPr>
                                        <m:deg/>
                                        <m:e>
                                          <m:r>
                                            <a:rPr lang="sr-Latn-RS" sz="3000" b="0" i="1">
                                              <a:latin typeface="Cambria Math" panose="02040503050406030204" pitchFamily="18" charset="0"/>
                                            </a:rPr>
                                            <m:t>2</m:t>
                                          </m:r>
                                        </m:e>
                                      </m:rad>
                                    </m:den>
                                  </m:f>
                                  <m:r>
                                    <a:rPr lang="sr-Latn-RS" sz="3000" b="0" i="1">
                                      <a:latin typeface="Cambria Math" panose="02040503050406030204" pitchFamily="18" charset="0"/>
                                    </a:rPr>
                                    <m:t>=</m:t>
                                  </m:r>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m:t>
                                      </m:r>
                                    </m:e>
                                  </m:d>
                                </m:e>
                              </m:mr>
                            </m:m>
                          </m:e>
                        </m:mr>
                      </m:m>
                    </m:oMath>
                  </m:oMathPara>
                </a14:m>
                <a:endParaRPr lang="en-US" sz="3000" dirty="0"/>
              </a:p>
            </p:txBody>
          </p:sp>
        </mc:Choice>
        <mc:Fallback xmlns="">
          <p:sp>
            <p:nvSpPr>
              <p:cNvPr id="28" name="Rectangle 27">
                <a:extLst>
                  <a:ext uri="{FF2B5EF4-FFF2-40B4-BE49-F238E27FC236}">
                    <a16:creationId xmlns:a16="http://schemas.microsoft.com/office/drawing/2014/main" id="{33BD4287-C73B-1C45-B4A6-D7626E6A368D}"/>
                  </a:ext>
                </a:extLst>
              </p:cNvPr>
              <p:cNvSpPr>
                <a:spLocks noRot="1" noChangeAspect="1" noMove="1" noResize="1" noEditPoints="1" noAdjustHandles="1" noChangeArrowheads="1" noChangeShapeType="1" noTextEdit="1"/>
              </p:cNvSpPr>
              <p:nvPr/>
            </p:nvSpPr>
            <p:spPr>
              <a:xfrm>
                <a:off x="5049710" y="1584487"/>
                <a:ext cx="6831935" cy="4376326"/>
              </a:xfrm>
              <a:prstGeom prst="rect">
                <a:avLst/>
              </a:prstGeom>
              <a:blipFill>
                <a:blip r:embed="rId9"/>
                <a:stretch>
                  <a:fillRect b="-290"/>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011E389A-51CC-094E-B477-EFE4412EFEB3}"/>
              </a:ext>
            </a:extLst>
          </p:cNvPr>
          <p:cNvCxnSpPr>
            <a:cxnSpLocks/>
          </p:cNvCxnSpPr>
          <p:nvPr/>
        </p:nvCxnSpPr>
        <p:spPr>
          <a:xfrm flipV="1">
            <a:off x="2321961" y="3154897"/>
            <a:ext cx="519245" cy="528128"/>
          </a:xfrm>
          <a:prstGeom prst="line">
            <a:avLst/>
          </a:prstGeom>
          <a:ln w="76200" cap="rnd">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50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50A5D-89FB-0840-9627-41B2CFFA37C1}"/>
              </a:ext>
            </a:extLst>
          </p:cNvPr>
          <p:cNvSpPr>
            <a:spLocks noGrp="1"/>
          </p:cNvSpPr>
          <p:nvPr>
            <p:ph type="sldNum" sz="quarter" idx="12"/>
          </p:nvPr>
        </p:nvSpPr>
        <p:spPr/>
        <p:txBody>
          <a:bodyPr/>
          <a:lstStyle/>
          <a:p>
            <a:fld id="{591A223C-FA10-BC46-A853-03BA373D023C}" type="slidenum">
              <a:rPr lang="en-US" smtClean="0"/>
              <a:t>21</a:t>
            </a:fld>
            <a:endParaRPr lang="en-US"/>
          </a:p>
        </p:txBody>
      </p:sp>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64ADD0FA-DB25-0346-AD26-C1A2516121A0}"/>
                  </a:ext>
                </a:extLst>
              </p:cNvPr>
              <p:cNvSpPr>
                <a:spLocks noGrp="1"/>
              </p:cNvSpPr>
              <p:nvPr>
                <p:ph type="title"/>
              </p:nvPr>
            </p:nvSpPr>
            <p:spPr>
              <a:xfrm>
                <a:off x="0" y="0"/>
                <a:ext cx="12192000" cy="928688"/>
              </a:xfrm>
            </p:spPr>
            <p:txBody>
              <a:bodyPr/>
              <a:lstStyle/>
              <a:p>
                <a:r>
                  <a:rPr lang="en-US" dirty="0"/>
                  <a:t>Circular basis: </a:t>
                </a:r>
                <a14:m>
                  <m:oMath xmlns:m="http://schemas.openxmlformats.org/officeDocument/2006/math">
                    <m:d>
                      <m:dPr>
                        <m:begChr m:val="{"/>
                        <m:endChr m:val="}"/>
                        <m:ctrlPr>
                          <a:rPr lang="en-ZA" i="1">
                            <a:latin typeface="Cambria Math" panose="02040503050406030204" pitchFamily="18" charset="0"/>
                          </a:rPr>
                        </m:ctrlPr>
                      </m:dPr>
                      <m:e>
                        <m:d>
                          <m:dPr>
                            <m:begChr m:val="|"/>
                            <m:endChr m:val="⟩"/>
                            <m:ctrlPr>
                              <a:rPr lang="en-ZA" i="1">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𝑖</m:t>
                            </m:r>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𝑖</m:t>
                            </m:r>
                          </m:e>
                        </m:d>
                      </m:e>
                    </m:d>
                  </m:oMath>
                </a14:m>
                <a:r>
                  <a:rPr lang="en-ZA" dirty="0">
                    <a:effectLst/>
                  </a:rPr>
                  <a:t> </a:t>
                </a:r>
                <a:endParaRPr lang="en-US" dirty="0"/>
              </a:p>
            </p:txBody>
          </p:sp>
        </mc:Choice>
        <mc:Fallback xmlns="">
          <p:sp>
            <p:nvSpPr>
              <p:cNvPr id="3" name="Title 2">
                <a:extLst>
                  <a:ext uri="{FF2B5EF4-FFF2-40B4-BE49-F238E27FC236}">
                    <a16:creationId xmlns:a16="http://schemas.microsoft.com/office/drawing/2014/main" id="{64ADD0FA-DB25-0346-AD26-C1A2516121A0}"/>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354" b="-274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485DA7-635C-C44D-BA07-0907565C7610}"/>
              </a:ext>
            </a:extLst>
          </p:cNvPr>
          <p:cNvSpPr/>
          <p:nvPr/>
        </p:nvSpPr>
        <p:spPr>
          <a:xfrm>
            <a:off x="398288"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B7EA696-2136-3D4C-8676-22CDC6531A52}"/>
              </a:ext>
            </a:extLst>
          </p:cNvPr>
          <p:cNvSpPr>
            <a:spLocks noChangeAspect="1"/>
          </p:cNvSpPr>
          <p:nvPr/>
        </p:nvSpPr>
        <p:spPr>
          <a:xfrm>
            <a:off x="378576" y="180496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441AEC1-778B-CA49-A109-7EC1C109AC4D}"/>
              </a:ext>
            </a:extLst>
          </p:cNvPr>
          <p:cNvCxnSpPr>
            <a:cxnSpLocks/>
          </p:cNvCxnSpPr>
          <p:nvPr/>
        </p:nvCxnSpPr>
        <p:spPr>
          <a:xfrm>
            <a:off x="2307109" y="368383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ADBB8E5-37CF-D743-875A-3050362E1A13}"/>
                  </a:ext>
                </a:extLst>
              </p:cNvPr>
              <p:cNvSpPr/>
              <p:nvPr/>
            </p:nvSpPr>
            <p:spPr>
              <a:xfrm>
                <a:off x="3437262" y="3462769"/>
                <a:ext cx="7983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e>
                      </m:d>
                    </m:oMath>
                  </m:oMathPara>
                </a14:m>
                <a:endParaRPr lang="en-US" sz="2400" dirty="0"/>
              </a:p>
            </p:txBody>
          </p:sp>
        </mc:Choice>
        <mc:Fallback xmlns="">
          <p:sp>
            <p:nvSpPr>
              <p:cNvPr id="7" name="Rectangle 6">
                <a:extLst>
                  <a:ext uri="{FF2B5EF4-FFF2-40B4-BE49-F238E27FC236}">
                    <a16:creationId xmlns:a16="http://schemas.microsoft.com/office/drawing/2014/main" id="{6ADBB8E5-37CF-D743-875A-3050362E1A13}"/>
                  </a:ext>
                </a:extLst>
              </p:cNvPr>
              <p:cNvSpPr>
                <a:spLocks noRot="1" noChangeAspect="1" noMove="1" noResize="1" noEditPoints="1" noAdjustHandles="1" noChangeArrowheads="1" noChangeShapeType="1" noTextEdit="1"/>
              </p:cNvSpPr>
              <p:nvPr/>
            </p:nvSpPr>
            <p:spPr>
              <a:xfrm>
                <a:off x="3437262" y="3462769"/>
                <a:ext cx="798360" cy="461665"/>
              </a:xfrm>
              <a:prstGeom prst="rect">
                <a:avLst/>
              </a:prstGeom>
              <a:blipFill>
                <a:blip r:embed="rId4"/>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6947CC77-F470-CA43-BF73-2250AECDBD1D}"/>
              </a:ext>
            </a:extLst>
          </p:cNvPr>
          <p:cNvSpPr/>
          <p:nvPr/>
        </p:nvSpPr>
        <p:spPr>
          <a:xfrm>
            <a:off x="2161810"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0C1D90A-FADA-7548-A637-5BEA98BE06CC}"/>
              </a:ext>
            </a:extLst>
          </p:cNvPr>
          <p:cNvSpPr/>
          <p:nvPr/>
        </p:nvSpPr>
        <p:spPr>
          <a:xfrm>
            <a:off x="2162177"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41D065-92E7-0E48-95BF-8202FC90CD68}"/>
                  </a:ext>
                </a:extLst>
              </p:cNvPr>
              <p:cNvSpPr txBox="1"/>
              <p:nvPr/>
            </p:nvSpPr>
            <p:spPr>
              <a:xfrm>
                <a:off x="199284"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3241D065-92E7-0E48-95BF-8202FC90CD68}"/>
                  </a:ext>
                </a:extLst>
              </p:cNvPr>
              <p:cNvSpPr txBox="1">
                <a:spLocks noRot="1" noChangeAspect="1" noMove="1" noResize="1" noEditPoints="1" noAdjustHandles="1" noChangeArrowheads="1" noChangeShapeType="1" noTextEdit="1"/>
              </p:cNvSpPr>
              <p:nvPr/>
            </p:nvSpPr>
            <p:spPr>
              <a:xfrm>
                <a:off x="199284" y="5153166"/>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70526-E8AE-E647-B1A7-C5FF811CA8A7}"/>
                  </a:ext>
                </a:extLst>
              </p:cNvPr>
              <p:cNvSpPr txBox="1"/>
              <p:nvPr/>
            </p:nvSpPr>
            <p:spPr>
              <a:xfrm>
                <a:off x="1916507"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1" name="TextBox 10">
                <a:extLst>
                  <a:ext uri="{FF2B5EF4-FFF2-40B4-BE49-F238E27FC236}">
                    <a16:creationId xmlns:a16="http://schemas.microsoft.com/office/drawing/2014/main" id="{42770526-E8AE-E647-B1A7-C5FF811CA8A7}"/>
                  </a:ext>
                </a:extLst>
              </p:cNvPr>
              <p:cNvSpPr txBox="1">
                <a:spLocks noRot="1" noChangeAspect="1" noMove="1" noResize="1" noEditPoints="1" noAdjustHandles="1" noChangeArrowheads="1" noChangeShapeType="1" noTextEdit="1"/>
              </p:cNvSpPr>
              <p:nvPr/>
            </p:nvSpPr>
            <p:spPr>
              <a:xfrm>
                <a:off x="1916507" y="1217953"/>
                <a:ext cx="367985" cy="461665"/>
              </a:xfrm>
              <a:prstGeom prst="rect">
                <a:avLst/>
              </a:prstGeom>
              <a:blipFill>
                <a:blip r:embed="rId6"/>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6EDE3842-8434-2D49-BE22-EB3227FC074E}"/>
              </a:ext>
            </a:extLst>
          </p:cNvPr>
          <p:cNvCxnSpPr>
            <a:cxnSpLocks/>
          </p:cNvCxnSpPr>
          <p:nvPr/>
        </p:nvCxnSpPr>
        <p:spPr>
          <a:xfrm flipH="1" flipV="1">
            <a:off x="1081372"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471867-9696-114B-9C6B-819FF452D1B6}"/>
              </a:ext>
            </a:extLst>
          </p:cNvPr>
          <p:cNvCxnSpPr>
            <a:cxnSpLocks/>
            <a:stCxn id="9" idx="0"/>
          </p:cNvCxnSpPr>
          <p:nvPr/>
        </p:nvCxnSpPr>
        <p:spPr>
          <a:xfrm flipH="1" flipV="1">
            <a:off x="2308246"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2DDB05B-BC07-4D47-9010-E43383C3F951}"/>
                  </a:ext>
                </a:extLst>
              </p:cNvPr>
              <p:cNvSpPr/>
              <p:nvPr/>
            </p:nvSpPr>
            <p:spPr>
              <a:xfrm>
                <a:off x="556330" y="2722422"/>
                <a:ext cx="9020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𝑖</m:t>
                          </m:r>
                        </m:e>
                      </m:d>
                    </m:oMath>
                  </m:oMathPara>
                </a14:m>
                <a:endParaRPr lang="en-US" sz="2800" dirty="0"/>
              </a:p>
            </p:txBody>
          </p:sp>
        </mc:Choice>
        <mc:Fallback xmlns="">
          <p:sp>
            <p:nvSpPr>
              <p:cNvPr id="14" name="Rectangle 13">
                <a:extLst>
                  <a:ext uri="{FF2B5EF4-FFF2-40B4-BE49-F238E27FC236}">
                    <a16:creationId xmlns:a16="http://schemas.microsoft.com/office/drawing/2014/main" id="{F2DDB05B-BC07-4D47-9010-E43383C3F951}"/>
                  </a:ext>
                </a:extLst>
              </p:cNvPr>
              <p:cNvSpPr>
                <a:spLocks noRot="1" noChangeAspect="1" noMove="1" noResize="1" noEditPoints="1" noAdjustHandles="1" noChangeArrowheads="1" noChangeShapeType="1" noTextEdit="1"/>
              </p:cNvSpPr>
              <p:nvPr/>
            </p:nvSpPr>
            <p:spPr>
              <a:xfrm>
                <a:off x="556330" y="2722422"/>
                <a:ext cx="902042" cy="523220"/>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B43B283-38DA-554B-9600-23BB8D79B161}"/>
              </a:ext>
            </a:extLst>
          </p:cNvPr>
          <p:cNvCxnSpPr>
            <a:cxnSpLocks/>
          </p:cNvCxnSpPr>
          <p:nvPr/>
        </p:nvCxnSpPr>
        <p:spPr>
          <a:xfrm flipH="1">
            <a:off x="588033"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3BBC13-D467-EA4C-A51E-A0F179855B5C}"/>
              </a:ext>
            </a:extLst>
          </p:cNvPr>
          <p:cNvCxnSpPr>
            <a:cxnSpLocks/>
          </p:cNvCxnSpPr>
          <p:nvPr/>
        </p:nvCxnSpPr>
        <p:spPr>
          <a:xfrm flipV="1">
            <a:off x="2313138"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11E389A-51CC-094E-B477-EFE4412EFEB3}"/>
              </a:ext>
            </a:extLst>
          </p:cNvPr>
          <p:cNvCxnSpPr>
            <a:cxnSpLocks/>
          </p:cNvCxnSpPr>
          <p:nvPr/>
        </p:nvCxnSpPr>
        <p:spPr>
          <a:xfrm>
            <a:off x="2321961" y="3683025"/>
            <a:ext cx="1651437" cy="530756"/>
          </a:xfrm>
          <a:prstGeom prst="line">
            <a:avLst/>
          </a:prstGeom>
          <a:ln w="76200" cap="rnd">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A579A2-EDD5-BB4B-B985-40F8AFF9CE19}"/>
              </a:ext>
            </a:extLst>
          </p:cNvPr>
          <p:cNvCxnSpPr>
            <a:cxnSpLocks/>
          </p:cNvCxnSpPr>
          <p:nvPr/>
        </p:nvCxnSpPr>
        <p:spPr>
          <a:xfrm flipH="1" flipV="1">
            <a:off x="1149767" y="3277151"/>
            <a:ext cx="1172194" cy="403494"/>
          </a:xfrm>
          <a:prstGeom prst="straightConnector1">
            <a:avLst/>
          </a:prstGeom>
          <a:ln w="76200" cap="rnd">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298A65D-B8E4-CB46-95EA-CB42507A5BA8}"/>
                  </a:ext>
                </a:extLst>
              </p:cNvPr>
              <p:cNvSpPr txBox="1"/>
              <p:nvPr/>
            </p:nvSpPr>
            <p:spPr>
              <a:xfrm>
                <a:off x="4466518" y="426215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27" name="TextBox 26">
                <a:extLst>
                  <a:ext uri="{FF2B5EF4-FFF2-40B4-BE49-F238E27FC236}">
                    <a16:creationId xmlns:a16="http://schemas.microsoft.com/office/drawing/2014/main" id="{0298A65D-B8E4-CB46-95EA-CB42507A5BA8}"/>
                  </a:ext>
                </a:extLst>
              </p:cNvPr>
              <p:cNvSpPr txBox="1">
                <a:spLocks noRot="1" noChangeAspect="1" noMove="1" noResize="1" noEditPoints="1" noAdjustHandles="1" noChangeArrowheads="1" noChangeShapeType="1" noTextEdit="1"/>
              </p:cNvSpPr>
              <p:nvPr/>
            </p:nvSpPr>
            <p:spPr>
              <a:xfrm>
                <a:off x="4466518" y="4262157"/>
                <a:ext cx="367985" cy="461665"/>
              </a:xfrm>
              <a:prstGeom prst="rect">
                <a:avLst/>
              </a:prstGeom>
              <a:blipFill>
                <a:blip r:embed="rId8"/>
                <a:stretch>
                  <a:fillRect l="-3333"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3BD4287-C73B-1C45-B4A6-D7626E6A368D}"/>
                  </a:ext>
                </a:extLst>
              </p:cNvPr>
              <p:cNvSpPr/>
              <p:nvPr/>
            </p:nvSpPr>
            <p:spPr>
              <a:xfrm>
                <a:off x="5049710" y="1584487"/>
                <a:ext cx="7168564" cy="44296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ZA" sz="3000" i="1" smtClean="0">
                              <a:latin typeface="Cambria Math" panose="02040503050406030204" pitchFamily="18" charset="0"/>
                            </a:rPr>
                          </m:ctrlPr>
                        </m:mPr>
                        <m:mr>
                          <m:e>
                            <m:m>
                              <m:mPr>
                                <m:mcs>
                                  <m:mc>
                                    <m:mcPr>
                                      <m:count m:val="2"/>
                                      <m:mcJc m:val="center"/>
                                    </m:mcPr>
                                  </m:mc>
                                </m:mcs>
                                <m:ctrlPr>
                                  <a:rPr lang="en-ZA" sz="3000" i="1" smtClean="0">
                                    <a:latin typeface="Cambria Math" panose="02040503050406030204" pitchFamily="18" charset="0"/>
                                  </a:rPr>
                                </m:ctrlPr>
                              </m:mPr>
                              <m:mr>
                                <m:e>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𝑆</m:t>
                                      </m:r>
                                    </m:e>
                                  </m:d>
                                  <m:groupChr>
                                    <m:groupChrPr>
                                      <m:chr m:val="→"/>
                                      <m:vertJc m:val="bot"/>
                                      <m:ctrlPr>
                                        <a:rPr lang="en-ZA" sz="3000" i="1">
                                          <a:latin typeface="Cambria Math" panose="02040503050406030204" pitchFamily="18" charset="0"/>
                                        </a:rPr>
                                      </m:ctrlPr>
                                    </m:groupChrPr>
                                    <m:e>
                                      <m:r>
                                        <a:rPr lang="sr-Latn-RS" sz="3000" b="0" i="1">
                                          <a:latin typeface="Cambria Math" panose="02040503050406030204" pitchFamily="18" charset="0"/>
                                        </a:rPr>
                                        <m:t>𝜃</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r>
                                        <a:rPr lang="sr-Latn-RS" sz="3000" b="0" i="1">
                                          <a:latin typeface="Cambria Math" panose="02040503050406030204" pitchFamily="18" charset="0"/>
                                        </a:rPr>
                                        <m:t>,</m:t>
                                      </m:r>
                                      <m:r>
                                        <a:rPr lang="sr-Latn-RS" sz="3000" b="0" i="1">
                                          <a:latin typeface="Cambria Math" panose="02040503050406030204" pitchFamily="18" charset="0"/>
                                        </a:rPr>
                                        <m:t>𝜑</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e>
                                  </m:groupChr>
                                </m:e>
                                <m:e>
                                  <m:r>
                                    <a:rPr lang="sr-Latn-RS" sz="3000" b="0" i="1">
                                      <a:latin typeface="Cambria Math" panose="02040503050406030204" pitchFamily="18" charset="0"/>
                                    </a:rPr>
                                    <m:t>=</m:t>
                                  </m:r>
                                  <m:func>
                                    <m:funcPr>
                                      <m:ctrlPr>
                                        <a:rPr lang="en-ZA" sz="3000" i="1">
                                          <a:latin typeface="Cambria Math" panose="02040503050406030204" pitchFamily="18" charset="0"/>
                                        </a:rPr>
                                      </m:ctrlPr>
                                    </m:funcPr>
                                    <m:fName>
                                      <m:r>
                                        <a:rPr lang="sr-Latn-RS" sz="3000" b="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a:latin typeface="Cambria Math" panose="02040503050406030204" pitchFamily="18" charset="0"/>
                                    </a:rPr>
                                    <m:t>+</m:t>
                                  </m:r>
                                  <m:sSup>
                                    <m:sSupPr>
                                      <m:ctrlPr>
                                        <a:rPr lang="en-ZA" sz="3000" i="1">
                                          <a:latin typeface="Cambria Math" panose="02040503050406030204" pitchFamily="18" charset="0"/>
                                        </a:rPr>
                                      </m:ctrlPr>
                                    </m:sSupPr>
                                    <m:e>
                                      <m:r>
                                        <a:rPr lang="sr-Latn-RS" sz="3000" b="0" i="1">
                                          <a:latin typeface="Cambria Math" panose="02040503050406030204" pitchFamily="18" charset="0"/>
                                        </a:rPr>
                                        <m:t>𝑒</m:t>
                                      </m:r>
                                    </m:e>
                                    <m:sup>
                                      <m:r>
                                        <a:rPr lang="sr-Latn-RS" sz="3000" b="0" i="1">
                                          <a:latin typeface="Cambria Math" panose="02040503050406030204" pitchFamily="18" charset="0"/>
                                        </a:rPr>
                                        <m:t>𝑖</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sup>
                                  </m:sSup>
                                  <m:func>
                                    <m:funcPr>
                                      <m:ctrlPr>
                                        <a:rPr lang="en-ZA" sz="3000" i="1">
                                          <a:latin typeface="Cambria Math" panose="02040503050406030204" pitchFamily="18" charset="0"/>
                                        </a:rPr>
                                      </m:ctrlPr>
                                    </m:funcPr>
                                    <m:fName>
                                      <m:r>
                                        <a:rPr lang="sr-Latn-RS" sz="3000" b="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e>
                              </m:mr>
                              <m:mr>
                                <m:e/>
                                <m:e>
                                  <m:r>
                                    <a:rPr lang="sr-Latn-RS" sz="3000" b="0" i="1">
                                      <a:latin typeface="Cambria Math" panose="02040503050406030204" pitchFamily="18" charset="0"/>
                                    </a:rPr>
                                    <m:t>=</m:t>
                                  </m:r>
                                  <m:f>
                                    <m:fPr>
                                      <m:ctrlPr>
                                        <a:rPr lang="en-ZA" sz="3000" i="1">
                                          <a:latin typeface="Cambria Math" panose="02040503050406030204" pitchFamily="18" charset="0"/>
                                        </a:rPr>
                                      </m:ctrlPr>
                                    </m:fPr>
                                    <m:num>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a:latin typeface="Cambria Math" panose="02040503050406030204" pitchFamily="18" charset="0"/>
                                        </a:rPr>
                                        <m:t>+</m:t>
                                      </m:r>
                                      <m:r>
                                        <a:rPr lang="sr-Latn-RS" sz="3000" b="0" i="1" smtClean="0">
                                          <a:latin typeface="Cambria Math" panose="02040503050406030204" pitchFamily="18" charset="0"/>
                                        </a:rPr>
                                        <m:t>𝑖</m:t>
                                      </m:r>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num>
                                    <m:den>
                                      <m:rad>
                                        <m:radPr>
                                          <m:degHide m:val="on"/>
                                          <m:ctrlPr>
                                            <a:rPr lang="en-ZA" sz="3000" i="1">
                                              <a:latin typeface="Cambria Math" panose="02040503050406030204" pitchFamily="18" charset="0"/>
                                            </a:rPr>
                                          </m:ctrlPr>
                                        </m:radPr>
                                        <m:deg/>
                                        <m:e>
                                          <m:r>
                                            <a:rPr lang="sr-Latn-RS" sz="3000" b="0" i="1">
                                              <a:latin typeface="Cambria Math" panose="02040503050406030204" pitchFamily="18" charset="0"/>
                                            </a:rPr>
                                            <m:t>2</m:t>
                                          </m:r>
                                        </m:e>
                                      </m:rad>
                                    </m:den>
                                  </m:f>
                                  <m:r>
                                    <a:rPr lang="sr-Latn-RS" sz="3000" b="0" i="1">
                                      <a:latin typeface="Cambria Math" panose="02040503050406030204" pitchFamily="18" charset="0"/>
                                    </a:rPr>
                                    <m:t>=</m:t>
                                  </m:r>
                                  <m:d>
                                    <m:dPr>
                                      <m:begChr m:val="|"/>
                                      <m:endChr m:val="⟩"/>
                                      <m:ctrlPr>
                                        <a:rPr lang="en-ZA" sz="3000" i="1">
                                          <a:latin typeface="Cambria Math" panose="02040503050406030204" pitchFamily="18" charset="0"/>
                                        </a:rPr>
                                      </m:ctrlPr>
                                    </m:dPr>
                                    <m:e>
                                      <m:r>
                                        <a:rPr lang="en-US" sz="3000" b="0" i="1" smtClean="0">
                                          <a:latin typeface="Cambria Math" panose="02040503050406030204" pitchFamily="18" charset="0"/>
                                        </a:rPr>
                                        <m:t>+</m:t>
                                      </m:r>
                                      <m:r>
                                        <a:rPr lang="en-US" sz="3000" b="0" i="1" smtClean="0">
                                          <a:latin typeface="Cambria Math" panose="02040503050406030204" pitchFamily="18" charset="0"/>
                                        </a:rPr>
                                        <m:t>𝑖</m:t>
                                      </m:r>
                                    </m:e>
                                  </m:d>
                                </m:e>
                              </m:mr>
                              <m:mr>
                                <m:e>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𝑆</m:t>
                                      </m:r>
                                    </m:e>
                                  </m:d>
                                  <m:groupChr>
                                    <m:groupChrPr>
                                      <m:chr m:val="→"/>
                                      <m:vertJc m:val="bot"/>
                                      <m:ctrlPr>
                                        <a:rPr lang="en-ZA" sz="3000" i="1">
                                          <a:latin typeface="Cambria Math" panose="02040503050406030204" pitchFamily="18" charset="0"/>
                                        </a:rPr>
                                      </m:ctrlPr>
                                    </m:groupChrPr>
                                    <m:e>
                                      <m:r>
                                        <a:rPr lang="sr-Latn-RS" sz="3000" b="0" i="1">
                                          <a:latin typeface="Cambria Math" panose="02040503050406030204" pitchFamily="18" charset="0"/>
                                        </a:rPr>
                                        <m:t>𝜃</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2</m:t>
                                          </m:r>
                                        </m:den>
                                      </m:f>
                                      <m:r>
                                        <a:rPr lang="sr-Latn-RS" sz="3000" b="0" i="1">
                                          <a:latin typeface="Cambria Math" panose="02040503050406030204" pitchFamily="18" charset="0"/>
                                        </a:rPr>
                                        <m:t>,</m:t>
                                      </m:r>
                                      <m:r>
                                        <a:rPr lang="sr-Latn-RS" sz="3000" b="0" i="1">
                                          <a:latin typeface="Cambria Math" panose="02040503050406030204" pitchFamily="18" charset="0"/>
                                        </a:rPr>
                                        <m:t>𝜑</m:t>
                                      </m:r>
                                      <m:r>
                                        <a:rPr lang="sr-Latn-RS" sz="3000" b="0" i="1">
                                          <a:latin typeface="Cambria Math" panose="02040503050406030204" pitchFamily="18" charset="0"/>
                                        </a:rPr>
                                        <m:t>=</m:t>
                                      </m:r>
                                      <m:f>
                                        <m:fPr>
                                          <m:ctrlPr>
                                            <a:rPr lang="en-ZA" sz="3000" i="1">
                                              <a:latin typeface="Cambria Math" panose="02040503050406030204" pitchFamily="18" charset="0"/>
                                            </a:rPr>
                                          </m:ctrlPr>
                                        </m:fPr>
                                        <m:num>
                                          <m:r>
                                            <a:rPr lang="sr-Latn-RS" sz="3000" b="0" i="1">
                                              <a:latin typeface="Cambria Math" panose="02040503050406030204" pitchFamily="18" charset="0"/>
                                            </a:rPr>
                                            <m:t>3</m:t>
                                          </m:r>
                                          <m:r>
                                            <a:rPr lang="sr-Latn-RS" sz="3000" b="0" i="1">
                                              <a:latin typeface="Cambria Math" panose="02040503050406030204" pitchFamily="18" charset="0"/>
                                            </a:rPr>
                                            <m:t>𝜋</m:t>
                                          </m:r>
                                        </m:num>
                                        <m:den>
                                          <m:r>
                                            <a:rPr lang="sr-Latn-RS" sz="3000" b="0" i="1">
                                              <a:latin typeface="Cambria Math" panose="02040503050406030204" pitchFamily="18" charset="0"/>
                                            </a:rPr>
                                            <m:t>2</m:t>
                                          </m:r>
                                        </m:den>
                                      </m:f>
                                    </m:e>
                                  </m:groupChr>
                                </m:e>
                                <m:e>
                                  <m:r>
                                    <a:rPr lang="sr-Latn-RS" sz="3000" b="0" i="1">
                                      <a:latin typeface="Cambria Math" panose="02040503050406030204" pitchFamily="18" charset="0"/>
                                    </a:rPr>
                                    <m:t>=</m:t>
                                  </m:r>
                                  <m:func>
                                    <m:funcPr>
                                      <m:ctrlPr>
                                        <a:rPr lang="en-ZA" sz="3000" i="1">
                                          <a:latin typeface="Cambria Math" panose="02040503050406030204" pitchFamily="18" charset="0"/>
                                        </a:rPr>
                                      </m:ctrlPr>
                                    </m:funcPr>
                                    <m:fName>
                                      <m:r>
                                        <a:rPr lang="sr-Latn-RS" sz="3000" b="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a:latin typeface="Cambria Math" panose="02040503050406030204" pitchFamily="18" charset="0"/>
                                    </a:rPr>
                                    <m:t>+</m:t>
                                  </m:r>
                                  <m:sSup>
                                    <m:sSupPr>
                                      <m:ctrlPr>
                                        <a:rPr lang="en-ZA" sz="3000" i="1">
                                          <a:latin typeface="Cambria Math" panose="02040503050406030204" pitchFamily="18" charset="0"/>
                                        </a:rPr>
                                      </m:ctrlPr>
                                    </m:sSupPr>
                                    <m:e>
                                      <m:r>
                                        <a:rPr lang="sr-Latn-RS" sz="3000" b="0" i="1">
                                          <a:latin typeface="Cambria Math" panose="02040503050406030204" pitchFamily="18" charset="0"/>
                                        </a:rPr>
                                        <m:t>𝑒</m:t>
                                      </m:r>
                                    </m:e>
                                    <m:sup>
                                      <m:r>
                                        <a:rPr lang="sr-Latn-RS" sz="3000" b="0" i="1">
                                          <a:latin typeface="Cambria Math" panose="02040503050406030204" pitchFamily="18" charset="0"/>
                                        </a:rPr>
                                        <m:t>𝑖</m:t>
                                      </m:r>
                                      <m:f>
                                        <m:fPr>
                                          <m:ctrlPr>
                                            <a:rPr lang="en-ZA" sz="3000" i="1">
                                              <a:latin typeface="Cambria Math" panose="02040503050406030204" pitchFamily="18" charset="0"/>
                                            </a:rPr>
                                          </m:ctrlPr>
                                        </m:fPr>
                                        <m:num>
                                          <m:r>
                                            <a:rPr lang="sr-Latn-RS" sz="3000" b="0" i="1">
                                              <a:latin typeface="Cambria Math" panose="02040503050406030204" pitchFamily="18" charset="0"/>
                                            </a:rPr>
                                            <m:t>3</m:t>
                                          </m:r>
                                          <m:r>
                                            <a:rPr lang="sr-Latn-RS" sz="3000" b="0" i="1">
                                              <a:latin typeface="Cambria Math" panose="02040503050406030204" pitchFamily="18" charset="0"/>
                                            </a:rPr>
                                            <m:t>𝜋</m:t>
                                          </m:r>
                                        </m:num>
                                        <m:den>
                                          <m:r>
                                            <a:rPr lang="sr-Latn-RS" sz="3000" b="0" i="1">
                                              <a:latin typeface="Cambria Math" panose="02040503050406030204" pitchFamily="18" charset="0"/>
                                            </a:rPr>
                                            <m:t>2</m:t>
                                          </m:r>
                                        </m:den>
                                      </m:f>
                                    </m:sup>
                                  </m:sSup>
                                  <m:func>
                                    <m:funcPr>
                                      <m:ctrlPr>
                                        <a:rPr lang="en-ZA" sz="3000" i="1">
                                          <a:latin typeface="Cambria Math" panose="02040503050406030204" pitchFamily="18" charset="0"/>
                                        </a:rPr>
                                      </m:ctrlPr>
                                    </m:funcPr>
                                    <m:fName>
                                      <m:r>
                                        <a:rPr lang="sr-Latn-RS" sz="3000" b="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b="0" i="1">
                                              <a:latin typeface="Cambria Math" panose="02040503050406030204" pitchFamily="18" charset="0"/>
                                            </a:rPr>
                                            <m:t>𝜋</m:t>
                                          </m:r>
                                        </m:num>
                                        <m:den>
                                          <m:r>
                                            <a:rPr lang="sr-Latn-RS" sz="3000" b="0" i="1">
                                              <a:latin typeface="Cambria Math" panose="02040503050406030204" pitchFamily="18" charset="0"/>
                                            </a:rPr>
                                            <m:t>4</m:t>
                                          </m:r>
                                        </m:den>
                                      </m:f>
                                    </m:e>
                                  </m:func>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e>
                              </m:mr>
                              <m:mr>
                                <m:e/>
                                <m:e>
                                  <m:r>
                                    <a:rPr lang="sr-Latn-RS" sz="3000" b="0" i="1">
                                      <a:latin typeface="Cambria Math" panose="02040503050406030204" pitchFamily="18" charset="0"/>
                                    </a:rPr>
                                    <m:t>=</m:t>
                                  </m:r>
                                  <m:f>
                                    <m:fPr>
                                      <m:ctrlPr>
                                        <a:rPr lang="en-ZA" sz="3000" i="1">
                                          <a:latin typeface="Cambria Math" panose="02040503050406030204" pitchFamily="18" charset="0"/>
                                        </a:rPr>
                                      </m:ctrlPr>
                                    </m:fPr>
                                    <m:num>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0</m:t>
                                          </m:r>
                                        </m:e>
                                      </m:d>
                                      <m:r>
                                        <a:rPr lang="sr-Latn-RS" sz="3000" b="0" i="1" smtClean="0">
                                          <a:latin typeface="Cambria Math" panose="02040503050406030204" pitchFamily="18" charset="0"/>
                                        </a:rPr>
                                        <m:t>−</m:t>
                                      </m:r>
                                      <m:r>
                                        <a:rPr lang="sr-Latn-RS" sz="3000" b="0" i="1" smtClean="0">
                                          <a:latin typeface="Cambria Math" panose="02040503050406030204" pitchFamily="18" charset="0"/>
                                        </a:rPr>
                                        <m:t>𝑖</m:t>
                                      </m:r>
                                      <m:d>
                                        <m:dPr>
                                          <m:begChr m:val="|"/>
                                          <m:endChr m:val="⟩"/>
                                          <m:ctrlPr>
                                            <a:rPr lang="en-ZA" sz="3000" i="1">
                                              <a:latin typeface="Cambria Math" panose="02040503050406030204" pitchFamily="18" charset="0"/>
                                            </a:rPr>
                                          </m:ctrlPr>
                                        </m:dPr>
                                        <m:e>
                                          <m:r>
                                            <a:rPr lang="sr-Latn-RS" sz="3000" b="0" i="1">
                                              <a:latin typeface="Cambria Math" panose="02040503050406030204" pitchFamily="18" charset="0"/>
                                            </a:rPr>
                                            <m:t>1</m:t>
                                          </m:r>
                                        </m:e>
                                      </m:d>
                                    </m:num>
                                    <m:den>
                                      <m:rad>
                                        <m:radPr>
                                          <m:degHide m:val="on"/>
                                          <m:ctrlPr>
                                            <a:rPr lang="en-ZA" sz="3000" i="1">
                                              <a:latin typeface="Cambria Math" panose="02040503050406030204" pitchFamily="18" charset="0"/>
                                            </a:rPr>
                                          </m:ctrlPr>
                                        </m:radPr>
                                        <m:deg/>
                                        <m:e>
                                          <m:r>
                                            <a:rPr lang="sr-Latn-RS" sz="3000" b="0" i="1">
                                              <a:latin typeface="Cambria Math" panose="02040503050406030204" pitchFamily="18" charset="0"/>
                                            </a:rPr>
                                            <m:t>2</m:t>
                                          </m:r>
                                        </m:e>
                                      </m:rad>
                                    </m:den>
                                  </m:f>
                                  <m:r>
                                    <a:rPr lang="sr-Latn-RS" sz="3000" b="0" i="1">
                                      <a:latin typeface="Cambria Math" panose="02040503050406030204" pitchFamily="18" charset="0"/>
                                    </a:rPr>
                                    <m:t>=</m:t>
                                  </m:r>
                                  <m:d>
                                    <m:dPr>
                                      <m:begChr m:val="|"/>
                                      <m:endChr m:val="⟩"/>
                                      <m:ctrlPr>
                                        <a:rPr lang="en-ZA" sz="3000" i="1">
                                          <a:latin typeface="Cambria Math" panose="02040503050406030204" pitchFamily="18" charset="0"/>
                                        </a:rPr>
                                      </m:ctrlPr>
                                    </m:dPr>
                                    <m:e>
                                      <m:r>
                                        <a:rPr lang="en-US" sz="3000" b="0" i="1" smtClean="0">
                                          <a:latin typeface="Cambria Math" panose="02040503050406030204" pitchFamily="18" charset="0"/>
                                        </a:rPr>
                                        <m:t>−</m:t>
                                      </m:r>
                                      <m:r>
                                        <a:rPr lang="en-US" sz="3000" b="0" i="1" smtClean="0">
                                          <a:latin typeface="Cambria Math" panose="02040503050406030204" pitchFamily="18" charset="0"/>
                                        </a:rPr>
                                        <m:t>𝑖</m:t>
                                      </m:r>
                                    </m:e>
                                  </m:d>
                                </m:e>
                              </m:mr>
                            </m:m>
                          </m:e>
                        </m:mr>
                      </m:m>
                    </m:oMath>
                  </m:oMathPara>
                </a14:m>
                <a:endParaRPr lang="en-US" sz="3000" dirty="0"/>
              </a:p>
            </p:txBody>
          </p:sp>
        </mc:Choice>
        <mc:Fallback xmlns="">
          <p:sp>
            <p:nvSpPr>
              <p:cNvPr id="28" name="Rectangle 27">
                <a:extLst>
                  <a:ext uri="{FF2B5EF4-FFF2-40B4-BE49-F238E27FC236}">
                    <a16:creationId xmlns:a16="http://schemas.microsoft.com/office/drawing/2014/main" id="{33BD4287-C73B-1C45-B4A6-D7626E6A368D}"/>
                  </a:ext>
                </a:extLst>
              </p:cNvPr>
              <p:cNvSpPr>
                <a:spLocks noRot="1" noChangeAspect="1" noMove="1" noResize="1" noEditPoints="1" noAdjustHandles="1" noChangeArrowheads="1" noChangeShapeType="1" noTextEdit="1"/>
              </p:cNvSpPr>
              <p:nvPr/>
            </p:nvSpPr>
            <p:spPr>
              <a:xfrm>
                <a:off x="5049710" y="1584487"/>
                <a:ext cx="7168564" cy="4429674"/>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475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50A5D-89FB-0840-9627-41B2CFFA37C1}"/>
              </a:ext>
            </a:extLst>
          </p:cNvPr>
          <p:cNvSpPr>
            <a:spLocks noGrp="1"/>
          </p:cNvSpPr>
          <p:nvPr>
            <p:ph type="sldNum" sz="quarter" idx="12"/>
          </p:nvPr>
        </p:nvSpPr>
        <p:spPr/>
        <p:txBody>
          <a:bodyPr/>
          <a:lstStyle/>
          <a:p>
            <a:fld id="{591A223C-FA10-BC46-A853-03BA373D023C}" type="slidenum">
              <a:rPr lang="en-US" smtClean="0"/>
              <a:t>22</a:t>
            </a:fld>
            <a:endParaRPr lang="en-US"/>
          </a:p>
        </p:txBody>
      </p:sp>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64ADD0FA-DB25-0346-AD26-C1A2516121A0}"/>
                  </a:ext>
                </a:extLst>
              </p:cNvPr>
              <p:cNvSpPr>
                <a:spLocks noGrp="1"/>
              </p:cNvSpPr>
              <p:nvPr>
                <p:ph type="title"/>
              </p:nvPr>
            </p:nvSpPr>
            <p:spPr>
              <a:xfrm>
                <a:off x="0" y="0"/>
                <a:ext cx="12192000" cy="928688"/>
              </a:xfrm>
            </p:spPr>
            <p:txBody>
              <a:bodyPr/>
              <a:lstStyle/>
              <a:p>
                <a:r>
                  <a:rPr lang="en-ZA"/>
                  <a:t>Breitbart </a:t>
                </a:r>
                <a:r>
                  <a:rPr lang="en-ZA" dirty="0"/>
                  <a:t>Bases </a:t>
                </a:r>
                <a:r>
                  <a:rPr lang="en-US" dirty="0"/>
                  <a:t>: </a:t>
                </a:r>
                <a14:m>
                  <m:oMath xmlns:m="http://schemas.openxmlformats.org/officeDocument/2006/math">
                    <m:d>
                      <m:dPr>
                        <m:begChr m:val="{"/>
                        <m:endChr m:val="}"/>
                        <m:ctrlPr>
                          <a:rPr lang="en-ZA" i="1">
                            <a:latin typeface="Cambria Math" panose="02040503050406030204" pitchFamily="18" charset="0"/>
                          </a:rPr>
                        </m:ctrlPr>
                      </m:dPr>
                      <m:e>
                        <m:d>
                          <m:dPr>
                            <m:begChr m:val="|"/>
                            <m:endChr m:val="⟩"/>
                            <m:ctrlPr>
                              <a:rPr lang="en-ZA" i="1">
                                <a:latin typeface="Cambria Math" panose="02040503050406030204" pitchFamily="18" charset="0"/>
                              </a:rPr>
                            </m:ctrlPr>
                          </m:dPr>
                          <m:e>
                            <m:sSub>
                              <m:sSubPr>
                                <m:ctrlPr>
                                  <a:rPr lang="en-ZA"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sSub>
                              <m:sSubPr>
                                <m:ctrlPr>
                                  <a:rPr lang="en-ZA"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e>
                        </m:d>
                      </m:e>
                    </m:d>
                    <m:r>
                      <a:rPr lang="en-US" b="0" i="1" smtClean="0">
                        <a:latin typeface="Cambria Math" panose="02040503050406030204" pitchFamily="18" charset="0"/>
                      </a:rPr>
                      <m:t>,</m:t>
                    </m:r>
                    <m:d>
                      <m:dPr>
                        <m:begChr m:val="{"/>
                        <m:endChr m:val="}"/>
                        <m:ctrlPr>
                          <a:rPr lang="en-ZA" i="1">
                            <a:latin typeface="Cambria Math" panose="02040503050406030204" pitchFamily="18" charset="0"/>
                          </a:rPr>
                        </m:ctrlPr>
                      </m:dPr>
                      <m:e>
                        <m:d>
                          <m:dPr>
                            <m:begChr m:val="|"/>
                            <m:endChr m:val="⟩"/>
                            <m:ctrlPr>
                              <a:rPr lang="en-ZA" i="1">
                                <a:latin typeface="Cambria Math" panose="02040503050406030204" pitchFamily="18" charset="0"/>
                              </a:rPr>
                            </m:ctrlPr>
                          </m:dPr>
                          <m:e>
                            <m:sSub>
                              <m:sSubPr>
                                <m:ctrlPr>
                                  <a:rPr lang="en-ZA" i="1">
                                    <a:latin typeface="Cambria Math" panose="02040503050406030204" pitchFamily="18" charset="0"/>
                                  </a:rPr>
                                </m:ctrlPr>
                              </m:sSubPr>
                              <m:e>
                                <m:r>
                                  <a:rPr lang="en-US" i="1">
                                    <a:latin typeface="Cambria Math" panose="02040503050406030204" pitchFamily="18" charset="0"/>
                                  </a:rPr>
                                  <m:t>𝑏</m:t>
                                </m:r>
                                <m:r>
                                  <a:rPr lang="en-US" b="0" i="1" smtClean="0">
                                    <a:latin typeface="Cambria Math" panose="02040503050406030204" pitchFamily="18" charset="0"/>
                                  </a:rPr>
                                  <m:t>′</m:t>
                                </m:r>
                              </m:e>
                              <m:sub>
                                <m:r>
                                  <a:rPr lang="en-US" b="0" i="1" smtClean="0">
                                    <a:latin typeface="Cambria Math" panose="02040503050406030204" pitchFamily="18" charset="0"/>
                                  </a:rPr>
                                  <m:t>0</m:t>
                                </m:r>
                              </m:sub>
                            </m:sSub>
                          </m:e>
                        </m:d>
                        <m:r>
                          <a:rPr lang="sr-Latn-RS" i="1">
                            <a:latin typeface="Cambria Math" panose="02040503050406030204" pitchFamily="18" charset="0"/>
                          </a:rPr>
                          <m:t>,</m:t>
                        </m:r>
                        <m:d>
                          <m:dPr>
                            <m:begChr m:val="|"/>
                            <m:endChr m:val="⟩"/>
                            <m:ctrlPr>
                              <a:rPr lang="en-ZA" i="1">
                                <a:latin typeface="Cambria Math" panose="02040503050406030204" pitchFamily="18" charset="0"/>
                              </a:rPr>
                            </m:ctrlPr>
                          </m:dPr>
                          <m:e>
                            <m:sSub>
                              <m:sSubPr>
                                <m:ctrlPr>
                                  <a:rPr lang="en-ZA" i="1">
                                    <a:latin typeface="Cambria Math" panose="02040503050406030204" pitchFamily="18" charset="0"/>
                                  </a:rPr>
                                </m:ctrlPr>
                              </m:sSubPr>
                              <m:e>
                                <m:r>
                                  <a:rPr lang="en-US" i="1">
                                    <a:latin typeface="Cambria Math" panose="02040503050406030204" pitchFamily="18" charset="0"/>
                                  </a:rPr>
                                  <m:t>𝑏</m:t>
                                </m:r>
                                <m:r>
                                  <a:rPr lang="en-US" b="0" i="1" smtClean="0">
                                    <a:latin typeface="Cambria Math" panose="02040503050406030204" pitchFamily="18" charset="0"/>
                                  </a:rPr>
                                  <m:t>′</m:t>
                                </m:r>
                              </m:e>
                              <m:sub>
                                <m:r>
                                  <a:rPr lang="en-US" b="0" i="1" smtClean="0">
                                    <a:latin typeface="Cambria Math" panose="02040503050406030204" pitchFamily="18" charset="0"/>
                                  </a:rPr>
                                  <m:t>1</m:t>
                                </m:r>
                              </m:sub>
                            </m:sSub>
                          </m:e>
                        </m:d>
                      </m:e>
                    </m:d>
                  </m:oMath>
                </a14:m>
                <a:endParaRPr lang="en-US" dirty="0"/>
              </a:p>
            </p:txBody>
          </p:sp>
        </mc:Choice>
        <mc:Fallback xmlns="">
          <p:sp>
            <p:nvSpPr>
              <p:cNvPr id="3" name="Title 2">
                <a:extLst>
                  <a:ext uri="{FF2B5EF4-FFF2-40B4-BE49-F238E27FC236}">
                    <a16:creationId xmlns:a16="http://schemas.microsoft.com/office/drawing/2014/main" id="{64ADD0FA-DB25-0346-AD26-C1A2516121A0}"/>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25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485DA7-635C-C44D-BA07-0907565C7610}"/>
              </a:ext>
            </a:extLst>
          </p:cNvPr>
          <p:cNvSpPr/>
          <p:nvPr/>
        </p:nvSpPr>
        <p:spPr>
          <a:xfrm>
            <a:off x="398288"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B7EA696-2136-3D4C-8676-22CDC6531A52}"/>
              </a:ext>
            </a:extLst>
          </p:cNvPr>
          <p:cNvSpPr>
            <a:spLocks noChangeAspect="1"/>
          </p:cNvSpPr>
          <p:nvPr/>
        </p:nvSpPr>
        <p:spPr>
          <a:xfrm>
            <a:off x="378576" y="180496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441AEC1-778B-CA49-A109-7EC1C109AC4D}"/>
              </a:ext>
            </a:extLst>
          </p:cNvPr>
          <p:cNvCxnSpPr>
            <a:cxnSpLocks/>
          </p:cNvCxnSpPr>
          <p:nvPr/>
        </p:nvCxnSpPr>
        <p:spPr>
          <a:xfrm>
            <a:off x="2307109" y="3683833"/>
            <a:ext cx="2004440" cy="650278"/>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947CC77-F470-CA43-BF73-2250AECDBD1D}"/>
              </a:ext>
            </a:extLst>
          </p:cNvPr>
          <p:cNvSpPr/>
          <p:nvPr/>
        </p:nvSpPr>
        <p:spPr>
          <a:xfrm>
            <a:off x="2161810"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0C1D90A-FADA-7548-A637-5BEA98BE06CC}"/>
              </a:ext>
            </a:extLst>
          </p:cNvPr>
          <p:cNvSpPr/>
          <p:nvPr/>
        </p:nvSpPr>
        <p:spPr>
          <a:xfrm>
            <a:off x="2162177"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41D065-92E7-0E48-95BF-8202FC90CD68}"/>
                  </a:ext>
                </a:extLst>
              </p:cNvPr>
              <p:cNvSpPr txBox="1"/>
              <p:nvPr/>
            </p:nvSpPr>
            <p:spPr>
              <a:xfrm>
                <a:off x="199284"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3241D065-92E7-0E48-95BF-8202FC90CD68}"/>
                  </a:ext>
                </a:extLst>
              </p:cNvPr>
              <p:cNvSpPr txBox="1">
                <a:spLocks noRot="1" noChangeAspect="1" noMove="1" noResize="1" noEditPoints="1" noAdjustHandles="1" noChangeArrowheads="1" noChangeShapeType="1" noTextEdit="1"/>
              </p:cNvSpPr>
              <p:nvPr/>
            </p:nvSpPr>
            <p:spPr>
              <a:xfrm>
                <a:off x="199284" y="5153166"/>
                <a:ext cx="42639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70526-E8AE-E647-B1A7-C5FF811CA8A7}"/>
                  </a:ext>
                </a:extLst>
              </p:cNvPr>
              <p:cNvSpPr txBox="1"/>
              <p:nvPr/>
            </p:nvSpPr>
            <p:spPr>
              <a:xfrm>
                <a:off x="1916507"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1" name="TextBox 10">
                <a:extLst>
                  <a:ext uri="{FF2B5EF4-FFF2-40B4-BE49-F238E27FC236}">
                    <a16:creationId xmlns:a16="http://schemas.microsoft.com/office/drawing/2014/main" id="{42770526-E8AE-E647-B1A7-C5FF811CA8A7}"/>
                  </a:ext>
                </a:extLst>
              </p:cNvPr>
              <p:cNvSpPr txBox="1">
                <a:spLocks noRot="1" noChangeAspect="1" noMove="1" noResize="1" noEditPoints="1" noAdjustHandles="1" noChangeArrowheads="1" noChangeShapeType="1" noTextEdit="1"/>
              </p:cNvSpPr>
              <p:nvPr/>
            </p:nvSpPr>
            <p:spPr>
              <a:xfrm>
                <a:off x="1916507" y="1217953"/>
                <a:ext cx="367985" cy="461665"/>
              </a:xfrm>
              <a:prstGeom prst="rect">
                <a:avLst/>
              </a:prstGeom>
              <a:blipFill>
                <a:blip r:embed="rId5"/>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6EDE3842-8434-2D49-BE22-EB3227FC074E}"/>
              </a:ext>
            </a:extLst>
          </p:cNvPr>
          <p:cNvCxnSpPr>
            <a:cxnSpLocks/>
          </p:cNvCxnSpPr>
          <p:nvPr/>
        </p:nvCxnSpPr>
        <p:spPr>
          <a:xfrm flipH="1" flipV="1">
            <a:off x="1081372"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471867-9696-114B-9C6B-819FF452D1B6}"/>
              </a:ext>
            </a:extLst>
          </p:cNvPr>
          <p:cNvCxnSpPr>
            <a:cxnSpLocks/>
            <a:stCxn id="9" idx="0"/>
          </p:cNvCxnSpPr>
          <p:nvPr/>
        </p:nvCxnSpPr>
        <p:spPr>
          <a:xfrm flipH="1" flipV="1">
            <a:off x="2308246"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2DDB05B-BC07-4D47-9010-E43383C3F951}"/>
                  </a:ext>
                </a:extLst>
              </p:cNvPr>
              <p:cNvSpPr/>
              <p:nvPr/>
            </p:nvSpPr>
            <p:spPr>
              <a:xfrm>
                <a:off x="556330" y="2722422"/>
                <a:ext cx="85882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𝑏</m:t>
                              </m:r>
                            </m:e>
                            <m:sub>
                              <m:r>
                                <a:rPr lang="en-US" sz="2800" b="0" i="1" smtClean="0">
                                  <a:latin typeface="Cambria Math" panose="02040503050406030204" pitchFamily="18" charset="0"/>
                                </a:rPr>
                                <m:t>0</m:t>
                              </m:r>
                            </m:sub>
                          </m:sSub>
                        </m:e>
                      </m:d>
                    </m:oMath>
                  </m:oMathPara>
                </a14:m>
                <a:endParaRPr lang="en-US" sz="2800" dirty="0"/>
              </a:p>
            </p:txBody>
          </p:sp>
        </mc:Choice>
        <mc:Fallback xmlns="">
          <p:sp>
            <p:nvSpPr>
              <p:cNvPr id="14" name="Rectangle 13">
                <a:extLst>
                  <a:ext uri="{FF2B5EF4-FFF2-40B4-BE49-F238E27FC236}">
                    <a16:creationId xmlns:a16="http://schemas.microsoft.com/office/drawing/2014/main" id="{F2DDB05B-BC07-4D47-9010-E43383C3F951}"/>
                  </a:ext>
                </a:extLst>
              </p:cNvPr>
              <p:cNvSpPr>
                <a:spLocks noRot="1" noChangeAspect="1" noMove="1" noResize="1" noEditPoints="1" noAdjustHandles="1" noChangeArrowheads="1" noChangeShapeType="1" noTextEdit="1"/>
              </p:cNvSpPr>
              <p:nvPr/>
            </p:nvSpPr>
            <p:spPr>
              <a:xfrm>
                <a:off x="556330" y="2722422"/>
                <a:ext cx="858825" cy="523220"/>
              </a:xfrm>
              <a:prstGeom prst="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B43B283-38DA-554B-9600-23BB8D79B161}"/>
              </a:ext>
            </a:extLst>
          </p:cNvPr>
          <p:cNvCxnSpPr>
            <a:cxnSpLocks/>
          </p:cNvCxnSpPr>
          <p:nvPr/>
        </p:nvCxnSpPr>
        <p:spPr>
          <a:xfrm flipH="1">
            <a:off x="588033"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3BBC13-D467-EA4C-A51E-A0F179855B5C}"/>
              </a:ext>
            </a:extLst>
          </p:cNvPr>
          <p:cNvCxnSpPr>
            <a:cxnSpLocks/>
          </p:cNvCxnSpPr>
          <p:nvPr/>
        </p:nvCxnSpPr>
        <p:spPr>
          <a:xfrm flipV="1">
            <a:off x="2313138"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11E389A-51CC-094E-B477-EFE4412EFEB3}"/>
              </a:ext>
            </a:extLst>
          </p:cNvPr>
          <p:cNvCxnSpPr>
            <a:cxnSpLocks/>
          </p:cNvCxnSpPr>
          <p:nvPr/>
        </p:nvCxnSpPr>
        <p:spPr>
          <a:xfrm flipV="1">
            <a:off x="2321961" y="2540000"/>
            <a:ext cx="484515" cy="1143025"/>
          </a:xfrm>
          <a:prstGeom prst="line">
            <a:avLst/>
          </a:prstGeom>
          <a:ln w="76200" cap="rnd">
            <a:solidFill>
              <a:schemeClr val="accent3">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A579A2-EDD5-BB4B-B985-40F8AFF9CE19}"/>
              </a:ext>
            </a:extLst>
          </p:cNvPr>
          <p:cNvCxnSpPr>
            <a:cxnSpLocks/>
          </p:cNvCxnSpPr>
          <p:nvPr/>
        </p:nvCxnSpPr>
        <p:spPr>
          <a:xfrm flipH="1" flipV="1">
            <a:off x="1491061" y="2895600"/>
            <a:ext cx="830900" cy="785045"/>
          </a:xfrm>
          <a:prstGeom prst="straightConnector1">
            <a:avLst/>
          </a:prstGeom>
          <a:ln w="76200" cap="rnd">
            <a:solidFill>
              <a:schemeClr val="accent4">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E0D802-9605-9347-A241-7957264F421F}"/>
              </a:ext>
            </a:extLst>
          </p:cNvPr>
          <p:cNvCxnSpPr>
            <a:cxnSpLocks/>
          </p:cNvCxnSpPr>
          <p:nvPr/>
        </p:nvCxnSpPr>
        <p:spPr>
          <a:xfrm flipV="1">
            <a:off x="2333904" y="3139880"/>
            <a:ext cx="538836" cy="540766"/>
          </a:xfrm>
          <a:prstGeom prst="line">
            <a:avLst/>
          </a:prstGeom>
          <a:ln w="889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D7EF9D57-D161-554C-94CD-A047C4070DC0}"/>
              </a:ext>
            </a:extLst>
          </p:cNvPr>
          <p:cNvSpPr/>
          <p:nvPr/>
        </p:nvSpPr>
        <p:spPr>
          <a:xfrm>
            <a:off x="1333481" y="2165243"/>
            <a:ext cx="1937417" cy="3071521"/>
          </a:xfrm>
          <a:prstGeom prst="arc">
            <a:avLst>
              <a:gd name="adj1" fmla="val 5398011"/>
              <a:gd name="adj2" fmla="val 16220342"/>
            </a:avLst>
          </a:pr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Arc 28">
            <a:extLst>
              <a:ext uri="{FF2B5EF4-FFF2-40B4-BE49-F238E27FC236}">
                <a16:creationId xmlns:a16="http://schemas.microsoft.com/office/drawing/2014/main" id="{E04C5BCB-4515-9646-ABEB-B40C9B92CE8C}"/>
              </a:ext>
            </a:extLst>
          </p:cNvPr>
          <p:cNvSpPr/>
          <p:nvPr/>
        </p:nvSpPr>
        <p:spPr>
          <a:xfrm flipH="1">
            <a:off x="1543788" y="2148244"/>
            <a:ext cx="1452432" cy="3088520"/>
          </a:xfrm>
          <a:prstGeom prst="arc">
            <a:avLst>
              <a:gd name="adj1" fmla="val 5508754"/>
              <a:gd name="adj2" fmla="val 16053960"/>
            </a:avLst>
          </a:pr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57E799E9-78D0-E742-926B-C258650E4E87}"/>
              </a:ext>
            </a:extLst>
          </p:cNvPr>
          <p:cNvCxnSpPr>
            <a:cxnSpLocks/>
          </p:cNvCxnSpPr>
          <p:nvPr/>
        </p:nvCxnSpPr>
        <p:spPr>
          <a:xfrm flipH="1">
            <a:off x="1773256" y="3741740"/>
            <a:ext cx="539882" cy="1263922"/>
          </a:xfrm>
          <a:prstGeom prst="line">
            <a:avLst/>
          </a:prstGeom>
          <a:ln w="76200" cap="rnd">
            <a:solidFill>
              <a:schemeClr val="accent3">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901E0EB-3765-DE40-AAB2-385F90344727}"/>
              </a:ext>
            </a:extLst>
          </p:cNvPr>
          <p:cNvCxnSpPr>
            <a:cxnSpLocks/>
          </p:cNvCxnSpPr>
          <p:nvPr/>
        </p:nvCxnSpPr>
        <p:spPr>
          <a:xfrm>
            <a:off x="2369581" y="3741740"/>
            <a:ext cx="593471" cy="670679"/>
          </a:xfrm>
          <a:prstGeom prst="straightConnector1">
            <a:avLst/>
          </a:prstGeom>
          <a:ln w="76200" cap="rnd">
            <a:solidFill>
              <a:schemeClr val="accent4">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2A3B2EA-B935-6A4F-AFC8-2C3840A9DFCB}"/>
                  </a:ext>
                </a:extLst>
              </p:cNvPr>
              <p:cNvSpPr/>
              <p:nvPr/>
            </p:nvSpPr>
            <p:spPr>
              <a:xfrm>
                <a:off x="2731423" y="2129342"/>
                <a:ext cx="963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𝑏</m:t>
                              </m:r>
                              <m:r>
                                <a:rPr lang="en-US" sz="2800" b="0" i="1" smtClean="0">
                                  <a:latin typeface="Cambria Math" panose="02040503050406030204" pitchFamily="18" charset="0"/>
                                </a:rPr>
                                <m:t>′</m:t>
                              </m:r>
                            </m:e>
                            <m:sub>
                              <m:r>
                                <a:rPr lang="en-US" sz="2800" b="0" i="1" smtClean="0">
                                  <a:latin typeface="Cambria Math" panose="02040503050406030204" pitchFamily="18" charset="0"/>
                                </a:rPr>
                                <m:t>0</m:t>
                              </m:r>
                            </m:sub>
                          </m:sSub>
                        </m:e>
                      </m:d>
                    </m:oMath>
                  </m:oMathPara>
                </a14:m>
                <a:endParaRPr lang="en-US" sz="2800" dirty="0"/>
              </a:p>
            </p:txBody>
          </p:sp>
        </mc:Choice>
        <mc:Fallback xmlns="">
          <p:sp>
            <p:nvSpPr>
              <p:cNvPr id="35" name="Rectangle 34">
                <a:extLst>
                  <a:ext uri="{FF2B5EF4-FFF2-40B4-BE49-F238E27FC236}">
                    <a16:creationId xmlns:a16="http://schemas.microsoft.com/office/drawing/2014/main" id="{F2A3B2EA-B935-6A4F-AFC8-2C3840A9DFCB}"/>
                  </a:ext>
                </a:extLst>
              </p:cNvPr>
              <p:cNvSpPr>
                <a:spLocks noRot="1" noChangeAspect="1" noMove="1" noResize="1" noEditPoints="1" noAdjustHandles="1" noChangeArrowheads="1" noChangeShapeType="1" noTextEdit="1"/>
              </p:cNvSpPr>
              <p:nvPr/>
            </p:nvSpPr>
            <p:spPr>
              <a:xfrm>
                <a:off x="2731423" y="2129342"/>
                <a:ext cx="963212"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2B037AA4-EE8E-E349-AE84-8875E810DF7F}"/>
                  </a:ext>
                </a:extLst>
              </p:cNvPr>
              <p:cNvSpPr/>
              <p:nvPr/>
            </p:nvSpPr>
            <p:spPr>
              <a:xfrm>
                <a:off x="1248153" y="5003943"/>
                <a:ext cx="95494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𝑏</m:t>
                              </m:r>
                              <m:r>
                                <a:rPr lang="en-US" sz="2800" b="0" i="1" smtClean="0">
                                  <a:latin typeface="Cambria Math" panose="02040503050406030204" pitchFamily="18" charset="0"/>
                                </a:rPr>
                                <m:t>′</m:t>
                              </m:r>
                            </m:e>
                            <m:sub>
                              <m:r>
                                <a:rPr lang="en-US" sz="2800" b="0" i="1" smtClean="0">
                                  <a:latin typeface="Cambria Math" panose="02040503050406030204" pitchFamily="18" charset="0"/>
                                </a:rPr>
                                <m:t>1</m:t>
                              </m:r>
                            </m:sub>
                          </m:sSub>
                        </m:e>
                      </m:d>
                    </m:oMath>
                  </m:oMathPara>
                </a14:m>
                <a:endParaRPr lang="en-US" sz="2800" dirty="0"/>
              </a:p>
            </p:txBody>
          </p:sp>
        </mc:Choice>
        <mc:Fallback xmlns="">
          <p:sp>
            <p:nvSpPr>
              <p:cNvPr id="36" name="Rectangle 35">
                <a:extLst>
                  <a:ext uri="{FF2B5EF4-FFF2-40B4-BE49-F238E27FC236}">
                    <a16:creationId xmlns:a16="http://schemas.microsoft.com/office/drawing/2014/main" id="{2B037AA4-EE8E-E349-AE84-8875E810DF7F}"/>
                  </a:ext>
                </a:extLst>
              </p:cNvPr>
              <p:cNvSpPr>
                <a:spLocks noRot="1" noChangeAspect="1" noMove="1" noResize="1" noEditPoints="1" noAdjustHandles="1" noChangeArrowheads="1" noChangeShapeType="1" noTextEdit="1"/>
              </p:cNvSpPr>
              <p:nvPr/>
            </p:nvSpPr>
            <p:spPr>
              <a:xfrm>
                <a:off x="1248153" y="5003943"/>
                <a:ext cx="95494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8A729515-0FBA-FA4F-A1A1-29B753D52DEF}"/>
                  </a:ext>
                </a:extLst>
              </p:cNvPr>
              <p:cNvSpPr/>
              <p:nvPr/>
            </p:nvSpPr>
            <p:spPr>
              <a:xfrm>
                <a:off x="2872740" y="4138578"/>
                <a:ext cx="850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sSub>
                            <m:sSubPr>
                              <m:ctrlPr>
                                <a:rPr lang="en-ZA" sz="2800" i="1">
                                  <a:latin typeface="Cambria Math" panose="02040503050406030204" pitchFamily="18" charset="0"/>
                                </a:rPr>
                              </m:ctrlPr>
                            </m:sSubPr>
                            <m:e>
                              <m:r>
                                <a:rPr lang="en-US" sz="2800" i="1">
                                  <a:latin typeface="Cambria Math" panose="02040503050406030204" pitchFamily="18" charset="0"/>
                                </a:rPr>
                                <m:t>𝑏</m:t>
                              </m:r>
                            </m:e>
                            <m:sub>
                              <m:r>
                                <a:rPr lang="sr-Latn-RS" sz="2800" b="0" i="1" smtClean="0">
                                  <a:latin typeface="Cambria Math" panose="02040503050406030204" pitchFamily="18" charset="0"/>
                                </a:rPr>
                                <m:t>1</m:t>
                              </m:r>
                            </m:sub>
                          </m:sSub>
                        </m:e>
                      </m:d>
                    </m:oMath>
                  </m:oMathPara>
                </a14:m>
                <a:endParaRPr lang="en-US" sz="2800" dirty="0"/>
              </a:p>
            </p:txBody>
          </p:sp>
        </mc:Choice>
        <mc:Fallback xmlns="">
          <p:sp>
            <p:nvSpPr>
              <p:cNvPr id="37" name="Rectangle 36">
                <a:extLst>
                  <a:ext uri="{FF2B5EF4-FFF2-40B4-BE49-F238E27FC236}">
                    <a16:creationId xmlns:a16="http://schemas.microsoft.com/office/drawing/2014/main" id="{8A729515-0FBA-FA4F-A1A1-29B753D52DEF}"/>
                  </a:ext>
                </a:extLst>
              </p:cNvPr>
              <p:cNvSpPr>
                <a:spLocks noRot="1" noChangeAspect="1" noMove="1" noResize="1" noEditPoints="1" noAdjustHandles="1" noChangeArrowheads="1" noChangeShapeType="1" noTextEdit="1"/>
              </p:cNvSpPr>
              <p:nvPr/>
            </p:nvSpPr>
            <p:spPr>
              <a:xfrm>
                <a:off x="2872740" y="4138578"/>
                <a:ext cx="850554" cy="523220"/>
              </a:xfrm>
              <a:prstGeom prst="rect">
                <a:avLst/>
              </a:prstGeom>
              <a:blipFill>
                <a:blip r:embed="rId10"/>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2E94303A-9330-AB41-AEB9-A2B13BB56CA2}"/>
                  </a:ext>
                </a:extLst>
              </p:cNvPr>
              <p:cNvSpPr/>
              <p:nvPr/>
            </p:nvSpPr>
            <p:spPr>
              <a:xfrm>
                <a:off x="4173159" y="2390952"/>
                <a:ext cx="8085739" cy="23560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3000" i="1" smtClean="0">
                              <a:latin typeface="Cambria Math" panose="02040503050406030204" pitchFamily="18" charset="0"/>
                            </a:rPr>
                          </m:ctrlPr>
                        </m:mPr>
                        <m:mr>
                          <m:e>
                            <m:d>
                              <m:dPr>
                                <m:begChr m:val="|"/>
                                <m:endChr m:val="⟩"/>
                                <m:ctrlPr>
                                  <a:rPr lang="en-US" sz="3000" i="1">
                                    <a:latin typeface="Cambria Math" panose="02040503050406030204" pitchFamily="18" charset="0"/>
                                  </a:rPr>
                                </m:ctrlPr>
                              </m:dPr>
                              <m:e>
                                <m:r>
                                  <a:rPr lang="en-US" sz="3000" i="1">
                                    <a:latin typeface="Cambria Math" panose="02040503050406030204" pitchFamily="18" charset="0"/>
                                  </a:rPr>
                                  <m:t>𝑆</m:t>
                                </m:r>
                              </m:e>
                            </m:d>
                            <m:groupChr>
                              <m:groupChrPr>
                                <m:chr m:val="→"/>
                                <m:vertJc m:val="bot"/>
                                <m:ctrlPr>
                                  <a:rPr lang="en-US" sz="3000" i="1">
                                    <a:latin typeface="Cambria Math" panose="02040503050406030204" pitchFamily="18" charset="0"/>
                                  </a:rPr>
                                </m:ctrlPr>
                              </m:groupChrPr>
                              <m:e>
                                <m:r>
                                  <a:rPr lang="en-US" sz="3000" i="1">
                                    <a:latin typeface="Cambria Math" panose="02040503050406030204" pitchFamily="18" charset="0"/>
                                  </a:rPr>
                                  <m:t>𝜃</m:t>
                                </m:r>
                                <m:r>
                                  <a:rPr lang="en-US" sz="3000" i="0">
                                    <a:latin typeface="Cambria Math" panose="02040503050406030204" pitchFamily="18" charset="0"/>
                                  </a:rPr>
                                  <m:t>=</m:t>
                                </m:r>
                                <m:f>
                                  <m:fPr>
                                    <m:ctrlPr>
                                      <a:rPr lang="en-US" sz="3000" i="1" smtClean="0">
                                        <a:latin typeface="Cambria Math" panose="02040503050406030204" pitchFamily="18" charset="0"/>
                                      </a:rPr>
                                    </m:ctrlPr>
                                  </m:fPr>
                                  <m:num>
                                    <m:r>
                                      <a:rPr lang="sr-Latn-RS" sz="2800" i="1">
                                        <a:latin typeface="Cambria Math" panose="02040503050406030204" pitchFamily="18" charset="0"/>
                                      </a:rPr>
                                      <m:t>𝜋</m:t>
                                    </m:r>
                                  </m:num>
                                  <m:den>
                                    <m:r>
                                      <a:rPr lang="en-US" sz="3000" b="0" i="1" smtClean="0">
                                        <a:latin typeface="Cambria Math" panose="02040503050406030204" pitchFamily="18" charset="0"/>
                                      </a:rPr>
                                      <m:t>4</m:t>
                                    </m:r>
                                  </m:den>
                                </m:f>
                                <m:r>
                                  <a:rPr lang="en-US" sz="3000" b="0" i="1" smtClean="0">
                                    <a:latin typeface="Cambria Math" panose="02040503050406030204" pitchFamily="18" charset="0"/>
                                  </a:rPr>
                                  <m:t>,</m:t>
                                </m:r>
                                <m:r>
                                  <a:rPr lang="en-US" sz="3000" i="0">
                                    <a:latin typeface="Cambria Math" panose="02040503050406030204" pitchFamily="18" charset="0"/>
                                  </a:rPr>
                                  <m:t>,</m:t>
                                </m:r>
                                <m:r>
                                  <a:rPr lang="en-US" sz="3000" i="1">
                                    <a:latin typeface="Cambria Math" panose="02040503050406030204" pitchFamily="18" charset="0"/>
                                  </a:rPr>
                                  <m:t>𝜑</m:t>
                                </m:r>
                                <m:r>
                                  <a:rPr lang="en-US" sz="3000" i="0">
                                    <a:latin typeface="Cambria Math" panose="02040503050406030204" pitchFamily="18" charset="0"/>
                                  </a:rPr>
                                  <m:t>=0</m:t>
                                </m:r>
                              </m:e>
                            </m:groupChr>
                          </m:e>
                          <m:e>
                            <m:r>
                              <a:rPr lang="en-US" sz="3000" i="0">
                                <a:latin typeface="Cambria Math" panose="02040503050406030204" pitchFamily="18" charset="0"/>
                              </a:rPr>
                              <m:t>=</m:t>
                            </m:r>
                            <m:func>
                              <m:funcPr>
                                <m:ctrlPr>
                                  <a:rPr lang="en-ZA" sz="3000" i="1">
                                    <a:latin typeface="Cambria Math" panose="02040503050406030204" pitchFamily="18" charset="0"/>
                                  </a:rPr>
                                </m:ctrlPr>
                              </m:funcPr>
                              <m:fName>
                                <m:r>
                                  <a:rPr lang="sr-Latn-RS" sz="300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i="1">
                                        <a:latin typeface="Cambria Math" panose="02040503050406030204" pitchFamily="18" charset="0"/>
                                      </a:rPr>
                                      <m:t>𝜋</m:t>
                                    </m:r>
                                  </m:num>
                                  <m:den>
                                    <m:r>
                                      <a:rPr lang="sr-Latn-RS" sz="3000" i="1">
                                        <a:latin typeface="Cambria Math" panose="02040503050406030204" pitchFamily="18" charset="0"/>
                                      </a:rPr>
                                      <m:t>8</m:t>
                                    </m:r>
                                  </m:den>
                                </m:f>
                              </m:e>
                            </m:func>
                            <m:d>
                              <m:dPr>
                                <m:begChr m:val="|"/>
                                <m:endChr m:val="⟩"/>
                                <m:ctrlPr>
                                  <a:rPr lang="en-ZA" sz="3000" i="1">
                                    <a:latin typeface="Cambria Math" panose="02040503050406030204" pitchFamily="18" charset="0"/>
                                  </a:rPr>
                                </m:ctrlPr>
                              </m:dPr>
                              <m:e>
                                <m:r>
                                  <a:rPr lang="sr-Latn-RS" sz="3000" i="1">
                                    <a:latin typeface="Cambria Math" panose="02040503050406030204" pitchFamily="18" charset="0"/>
                                  </a:rPr>
                                  <m:t>0</m:t>
                                </m:r>
                              </m:e>
                            </m:d>
                            <m:r>
                              <a:rPr lang="sr-Latn-RS" sz="3000" i="1">
                                <a:latin typeface="Cambria Math" panose="02040503050406030204" pitchFamily="18" charset="0"/>
                              </a:rPr>
                              <m:t>+</m:t>
                            </m:r>
                            <m:func>
                              <m:funcPr>
                                <m:ctrlPr>
                                  <a:rPr lang="en-ZA" sz="3000" i="1">
                                    <a:latin typeface="Cambria Math" panose="02040503050406030204" pitchFamily="18" charset="0"/>
                                  </a:rPr>
                                </m:ctrlPr>
                              </m:funcPr>
                              <m:fName>
                                <m:r>
                                  <a:rPr lang="sr-Latn-RS" sz="300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i="1">
                                        <a:latin typeface="Cambria Math" panose="02040503050406030204" pitchFamily="18" charset="0"/>
                                      </a:rPr>
                                      <m:t>𝜋</m:t>
                                    </m:r>
                                  </m:num>
                                  <m:den>
                                    <m:r>
                                      <a:rPr lang="sr-Latn-RS" sz="3000" i="1">
                                        <a:latin typeface="Cambria Math" panose="02040503050406030204" pitchFamily="18" charset="0"/>
                                      </a:rPr>
                                      <m:t>8</m:t>
                                    </m:r>
                                  </m:den>
                                </m:f>
                              </m:e>
                            </m:func>
                            <m:d>
                              <m:dPr>
                                <m:begChr m:val="|"/>
                                <m:endChr m:val="⟩"/>
                                <m:ctrlPr>
                                  <a:rPr lang="en-ZA" sz="3000" i="1">
                                    <a:latin typeface="Cambria Math" panose="02040503050406030204" pitchFamily="18" charset="0"/>
                                  </a:rPr>
                                </m:ctrlPr>
                              </m:dPr>
                              <m:e>
                                <m:r>
                                  <a:rPr lang="sr-Latn-RS" sz="3000" i="1">
                                    <a:latin typeface="Cambria Math" panose="02040503050406030204" pitchFamily="18" charset="0"/>
                                  </a:rPr>
                                  <m:t>1</m:t>
                                </m:r>
                              </m:e>
                            </m:d>
                          </m:e>
                          <m:e>
                            <m:r>
                              <a:rPr lang="en-US" sz="3000" i="0">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ZA"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0</m:t>
                                    </m:r>
                                  </m:sub>
                                </m:sSub>
                              </m:e>
                            </m:d>
                          </m:e>
                        </m:mr>
                        <m:mr>
                          <m:e>
                            <m:d>
                              <m:dPr>
                                <m:begChr m:val="|"/>
                                <m:endChr m:val="⟩"/>
                                <m:ctrlPr>
                                  <a:rPr lang="en-US" sz="3000" i="1">
                                    <a:latin typeface="Cambria Math" panose="02040503050406030204" pitchFamily="18" charset="0"/>
                                  </a:rPr>
                                </m:ctrlPr>
                              </m:dPr>
                              <m:e>
                                <m:r>
                                  <a:rPr lang="en-US" sz="3000" i="1">
                                    <a:latin typeface="Cambria Math" panose="02040503050406030204" pitchFamily="18" charset="0"/>
                                  </a:rPr>
                                  <m:t>𝑆</m:t>
                                </m:r>
                              </m:e>
                            </m:d>
                            <m:groupChr>
                              <m:groupChrPr>
                                <m:chr m:val="→"/>
                                <m:vertJc m:val="bot"/>
                                <m:ctrlPr>
                                  <a:rPr lang="en-US" sz="3000" i="1">
                                    <a:latin typeface="Cambria Math" panose="02040503050406030204" pitchFamily="18" charset="0"/>
                                  </a:rPr>
                                </m:ctrlPr>
                              </m:groupChrPr>
                              <m:e>
                                <m:r>
                                  <a:rPr lang="en-US" sz="3000" i="1">
                                    <a:latin typeface="Cambria Math" panose="02040503050406030204" pitchFamily="18" charset="0"/>
                                  </a:rPr>
                                  <m:t>𝜃</m:t>
                                </m:r>
                                <m:r>
                                  <a:rPr lang="en-US" sz="3000" i="0">
                                    <a:latin typeface="Cambria Math" panose="02040503050406030204" pitchFamily="18" charset="0"/>
                                  </a:rPr>
                                  <m:t>=</m:t>
                                </m:r>
                                <m:f>
                                  <m:fPr>
                                    <m:ctrlPr>
                                      <a:rPr lang="en-US" sz="3600" i="1">
                                        <a:latin typeface="Cambria Math" panose="02040503050406030204" pitchFamily="18" charset="0"/>
                                      </a:rPr>
                                    </m:ctrlPr>
                                  </m:fPr>
                                  <m:num>
                                    <m:r>
                                      <a:rPr lang="en-US" sz="3600" b="0" i="1" smtClean="0">
                                        <a:latin typeface="Cambria Math" panose="02040503050406030204" pitchFamily="18" charset="0"/>
                                      </a:rPr>
                                      <m:t>3</m:t>
                                    </m:r>
                                    <m:r>
                                      <a:rPr lang="sr-Latn-RS" sz="3200" i="1">
                                        <a:latin typeface="Cambria Math" panose="02040503050406030204" pitchFamily="18" charset="0"/>
                                      </a:rPr>
                                      <m:t>𝜋</m:t>
                                    </m:r>
                                  </m:num>
                                  <m:den>
                                    <m:r>
                                      <a:rPr lang="en-US" sz="3600" i="1">
                                        <a:latin typeface="Cambria Math" panose="02040503050406030204" pitchFamily="18" charset="0"/>
                                      </a:rPr>
                                      <m:t>4</m:t>
                                    </m:r>
                                  </m:den>
                                </m:f>
                                <m:r>
                                  <a:rPr lang="en-US" sz="3000" i="0">
                                    <a:latin typeface="Cambria Math" panose="02040503050406030204" pitchFamily="18" charset="0"/>
                                  </a:rPr>
                                  <m:t>,</m:t>
                                </m:r>
                                <m:r>
                                  <a:rPr lang="en-US" sz="3000" i="1">
                                    <a:latin typeface="Cambria Math" panose="02040503050406030204" pitchFamily="18" charset="0"/>
                                  </a:rPr>
                                  <m:t>𝜑</m:t>
                                </m:r>
                                <m:r>
                                  <a:rPr lang="en-US" sz="3000" i="0">
                                    <a:latin typeface="Cambria Math" panose="02040503050406030204" pitchFamily="18" charset="0"/>
                                  </a:rPr>
                                  <m:t>=</m:t>
                                </m:r>
                                <m:r>
                                  <a:rPr lang="sr-Latn-RS" sz="3200" i="1">
                                    <a:latin typeface="Cambria Math" panose="02040503050406030204" pitchFamily="18" charset="0"/>
                                  </a:rPr>
                                  <m:t>𝜋</m:t>
                                </m:r>
                              </m:e>
                            </m:groupChr>
                          </m:e>
                          <m:e>
                            <m:r>
                              <a:rPr lang="en-US" sz="3000" i="0">
                                <a:latin typeface="Cambria Math" panose="02040503050406030204" pitchFamily="18" charset="0"/>
                              </a:rPr>
                              <m:t>=</m:t>
                            </m:r>
                            <m:func>
                              <m:funcPr>
                                <m:ctrlPr>
                                  <a:rPr lang="en-ZA" sz="3000" i="1">
                                    <a:latin typeface="Cambria Math" panose="02040503050406030204" pitchFamily="18" charset="0"/>
                                  </a:rPr>
                                </m:ctrlPr>
                              </m:funcPr>
                              <m:fName>
                                <m:r>
                                  <a:rPr lang="sr-Latn-RS" sz="3000" i="1">
                                    <a:latin typeface="Cambria Math" panose="02040503050406030204" pitchFamily="18" charset="0"/>
                                  </a:rPr>
                                  <m:t>−</m:t>
                                </m:r>
                                <m:r>
                                  <a:rPr lang="sr-Latn-RS" sz="3000" i="1">
                                    <a:latin typeface="Cambria Math" panose="02040503050406030204" pitchFamily="18" charset="0"/>
                                  </a:rPr>
                                  <m:t>𝑠𝑖𝑛</m:t>
                                </m:r>
                              </m:fName>
                              <m:e>
                                <m:f>
                                  <m:fPr>
                                    <m:ctrlPr>
                                      <a:rPr lang="en-ZA" sz="3000" i="1">
                                        <a:latin typeface="Cambria Math" panose="02040503050406030204" pitchFamily="18" charset="0"/>
                                      </a:rPr>
                                    </m:ctrlPr>
                                  </m:fPr>
                                  <m:num>
                                    <m:r>
                                      <a:rPr lang="sr-Latn-RS" sz="3000" i="1">
                                        <a:latin typeface="Cambria Math" panose="02040503050406030204" pitchFamily="18" charset="0"/>
                                      </a:rPr>
                                      <m:t>𝜋</m:t>
                                    </m:r>
                                  </m:num>
                                  <m:den>
                                    <m:r>
                                      <a:rPr lang="sr-Latn-RS" sz="3000" i="1">
                                        <a:latin typeface="Cambria Math" panose="02040503050406030204" pitchFamily="18" charset="0"/>
                                      </a:rPr>
                                      <m:t>8</m:t>
                                    </m:r>
                                  </m:den>
                                </m:f>
                              </m:e>
                            </m:func>
                            <m:d>
                              <m:dPr>
                                <m:begChr m:val="|"/>
                                <m:endChr m:val="⟩"/>
                                <m:ctrlPr>
                                  <a:rPr lang="en-ZA" sz="3000" i="1">
                                    <a:latin typeface="Cambria Math" panose="02040503050406030204" pitchFamily="18" charset="0"/>
                                  </a:rPr>
                                </m:ctrlPr>
                              </m:dPr>
                              <m:e>
                                <m:r>
                                  <a:rPr lang="sr-Latn-RS" sz="3000" i="1">
                                    <a:latin typeface="Cambria Math" panose="02040503050406030204" pitchFamily="18" charset="0"/>
                                  </a:rPr>
                                  <m:t>0</m:t>
                                </m:r>
                              </m:e>
                            </m:d>
                            <m:r>
                              <a:rPr lang="sr-Latn-RS" sz="3000" i="1">
                                <a:latin typeface="Cambria Math" panose="02040503050406030204" pitchFamily="18" charset="0"/>
                              </a:rPr>
                              <m:t>+</m:t>
                            </m:r>
                            <m:func>
                              <m:funcPr>
                                <m:ctrlPr>
                                  <a:rPr lang="en-ZA" sz="3000" i="1">
                                    <a:latin typeface="Cambria Math" panose="02040503050406030204" pitchFamily="18" charset="0"/>
                                  </a:rPr>
                                </m:ctrlPr>
                              </m:funcPr>
                              <m:fName>
                                <m:r>
                                  <a:rPr lang="sr-Latn-RS" sz="3000" i="1">
                                    <a:latin typeface="Cambria Math" panose="02040503050406030204" pitchFamily="18" charset="0"/>
                                  </a:rPr>
                                  <m:t>𝑐𝑜𝑠</m:t>
                                </m:r>
                              </m:fName>
                              <m:e>
                                <m:f>
                                  <m:fPr>
                                    <m:ctrlPr>
                                      <a:rPr lang="en-ZA" sz="3000" i="1">
                                        <a:latin typeface="Cambria Math" panose="02040503050406030204" pitchFamily="18" charset="0"/>
                                      </a:rPr>
                                    </m:ctrlPr>
                                  </m:fPr>
                                  <m:num>
                                    <m:r>
                                      <a:rPr lang="sr-Latn-RS" sz="3000" i="1">
                                        <a:latin typeface="Cambria Math" panose="02040503050406030204" pitchFamily="18" charset="0"/>
                                      </a:rPr>
                                      <m:t>𝜋</m:t>
                                    </m:r>
                                  </m:num>
                                  <m:den>
                                    <m:r>
                                      <a:rPr lang="sr-Latn-RS" sz="3000" i="1">
                                        <a:latin typeface="Cambria Math" panose="02040503050406030204" pitchFamily="18" charset="0"/>
                                      </a:rPr>
                                      <m:t>8</m:t>
                                    </m:r>
                                  </m:den>
                                </m:f>
                              </m:e>
                            </m:func>
                            <m:d>
                              <m:dPr>
                                <m:begChr m:val="|"/>
                                <m:endChr m:val="⟩"/>
                                <m:ctrlPr>
                                  <a:rPr lang="en-ZA" sz="3000" i="1">
                                    <a:latin typeface="Cambria Math" panose="02040503050406030204" pitchFamily="18" charset="0"/>
                                  </a:rPr>
                                </m:ctrlPr>
                              </m:dPr>
                              <m:e>
                                <m:r>
                                  <a:rPr lang="sr-Latn-RS" sz="3000" i="1">
                                    <a:latin typeface="Cambria Math" panose="02040503050406030204" pitchFamily="18" charset="0"/>
                                  </a:rPr>
                                  <m:t>1</m:t>
                                </m:r>
                              </m:e>
                            </m:d>
                          </m:e>
                          <m:e>
                            <m:r>
                              <a:rPr lang="en-US" sz="3000" i="0">
                                <a:latin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ZA" sz="3200" i="1">
                                        <a:latin typeface="Cambria Math" panose="02040503050406030204" pitchFamily="18" charset="0"/>
                                      </a:rPr>
                                    </m:ctrlPr>
                                  </m:sSubPr>
                                  <m:e>
                                    <m:r>
                                      <a:rPr lang="en-US" sz="3200" i="1">
                                        <a:latin typeface="Cambria Math" panose="02040503050406030204" pitchFamily="18" charset="0"/>
                                      </a:rPr>
                                      <m:t>𝑏</m:t>
                                    </m:r>
                                  </m:e>
                                  <m:sub>
                                    <m:r>
                                      <a:rPr lang="en-US" sz="3200" b="0" i="1" smtClean="0">
                                        <a:latin typeface="Cambria Math" panose="02040503050406030204" pitchFamily="18" charset="0"/>
                                      </a:rPr>
                                      <m:t>1</m:t>
                                    </m:r>
                                  </m:sub>
                                </m:sSub>
                              </m:e>
                            </m:d>
                          </m:e>
                        </m:mr>
                      </m:m>
                    </m:oMath>
                  </m:oMathPara>
                </a14:m>
                <a:endParaRPr lang="en-US" sz="3000" dirty="0"/>
              </a:p>
            </p:txBody>
          </p:sp>
        </mc:Choice>
        <mc:Fallback xmlns="">
          <p:sp>
            <p:nvSpPr>
              <p:cNvPr id="30" name="Rectangle 29">
                <a:extLst>
                  <a:ext uri="{FF2B5EF4-FFF2-40B4-BE49-F238E27FC236}">
                    <a16:creationId xmlns:a16="http://schemas.microsoft.com/office/drawing/2014/main" id="{2E94303A-9330-AB41-AEB9-A2B13BB56CA2}"/>
                  </a:ext>
                </a:extLst>
              </p:cNvPr>
              <p:cNvSpPr>
                <a:spLocks noRot="1" noChangeAspect="1" noMove="1" noResize="1" noEditPoints="1" noAdjustHandles="1" noChangeArrowheads="1" noChangeShapeType="1" noTextEdit="1"/>
              </p:cNvSpPr>
              <p:nvPr/>
            </p:nvSpPr>
            <p:spPr>
              <a:xfrm>
                <a:off x="4173159" y="2390952"/>
                <a:ext cx="8085739" cy="2356030"/>
              </a:xfrm>
              <a:prstGeom prst="rect">
                <a:avLst/>
              </a:prstGeom>
              <a:blipFill>
                <a:blip r:embed="rId11"/>
                <a:stretch>
                  <a:fillRect b="-2674"/>
                </a:stretch>
              </a:blipFill>
            </p:spPr>
            <p:txBody>
              <a:bodyPr/>
              <a:lstStyle/>
              <a:p>
                <a:r>
                  <a:rPr lang="en-US">
                    <a:noFill/>
                  </a:rPr>
                  <a:t> </a:t>
                </a:r>
              </a:p>
            </p:txBody>
          </p:sp>
        </mc:Fallback>
      </mc:AlternateContent>
    </p:spTree>
    <p:extLst>
      <p:ext uri="{BB962C8B-B14F-4D97-AF65-F5344CB8AC3E}">
        <p14:creationId xmlns:p14="http://schemas.microsoft.com/office/powerpoint/2010/main" val="677710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8D11E0-7462-F042-B193-D4ABE7740BD5}"/>
              </a:ext>
            </a:extLst>
          </p:cNvPr>
          <p:cNvSpPr>
            <a:spLocks noGrp="1"/>
          </p:cNvSpPr>
          <p:nvPr>
            <p:ph type="sldNum" sz="quarter" idx="12"/>
          </p:nvPr>
        </p:nvSpPr>
        <p:spPr/>
        <p:txBody>
          <a:bodyPr/>
          <a:lstStyle/>
          <a:p>
            <a:fld id="{591A223C-FA10-BC46-A853-03BA373D023C}" type="slidenum">
              <a:rPr lang="en-US" smtClean="0"/>
              <a:t>23</a:t>
            </a:fld>
            <a:endParaRPr lang="en-US"/>
          </a:p>
        </p:txBody>
      </p:sp>
      <p:sp>
        <p:nvSpPr>
          <p:cNvPr id="3" name="Title 2">
            <a:extLst>
              <a:ext uri="{FF2B5EF4-FFF2-40B4-BE49-F238E27FC236}">
                <a16:creationId xmlns:a16="http://schemas.microsoft.com/office/drawing/2014/main" id="{B24305B1-B31B-1A49-B616-024DE37B1E76}"/>
              </a:ext>
            </a:extLst>
          </p:cNvPr>
          <p:cNvSpPr>
            <a:spLocks noGrp="1"/>
          </p:cNvSpPr>
          <p:nvPr>
            <p:ph type="title"/>
          </p:nvPr>
        </p:nvSpPr>
        <p:spPr>
          <a:xfrm>
            <a:off x="0" y="0"/>
            <a:ext cx="12192000" cy="928688"/>
          </a:xfrm>
        </p:spPr>
        <p:txBody>
          <a:bodyPr/>
          <a:lstStyle/>
          <a:p>
            <a:r>
              <a:rPr lang="en-ZA" dirty="0"/>
              <a:t>Invariance under a Change of Basis</a:t>
            </a:r>
            <a:endParaRPr lang="en-US" dirty="0"/>
          </a:p>
        </p:txBody>
      </p:sp>
      <p:sp>
        <p:nvSpPr>
          <p:cNvPr id="4" name="Oval 3">
            <a:extLst>
              <a:ext uri="{FF2B5EF4-FFF2-40B4-BE49-F238E27FC236}">
                <a16:creationId xmlns:a16="http://schemas.microsoft.com/office/drawing/2014/main" id="{EFA7C7B0-A759-F145-B8F7-09CC69AE0EF9}"/>
              </a:ext>
            </a:extLst>
          </p:cNvPr>
          <p:cNvSpPr/>
          <p:nvPr/>
        </p:nvSpPr>
        <p:spPr>
          <a:xfrm>
            <a:off x="398288"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6E1203D-091E-494A-8388-38BB76C3625C}"/>
              </a:ext>
            </a:extLst>
          </p:cNvPr>
          <p:cNvSpPr>
            <a:spLocks noChangeAspect="1"/>
          </p:cNvSpPr>
          <p:nvPr/>
        </p:nvSpPr>
        <p:spPr>
          <a:xfrm>
            <a:off x="378576" y="1804968"/>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3156E3B-F1C8-B848-AD07-398050BE25AE}"/>
              </a:ext>
            </a:extLst>
          </p:cNvPr>
          <p:cNvCxnSpPr>
            <a:cxnSpLocks/>
          </p:cNvCxnSpPr>
          <p:nvPr/>
        </p:nvCxnSpPr>
        <p:spPr>
          <a:xfrm>
            <a:off x="2307109" y="368383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CB5A021-A532-0243-816F-2B65C56CCDB0}"/>
              </a:ext>
            </a:extLst>
          </p:cNvPr>
          <p:cNvSpPr/>
          <p:nvPr/>
        </p:nvSpPr>
        <p:spPr>
          <a:xfrm>
            <a:off x="2161810"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47F44F2-4033-2F47-BFB3-D35B88B85CF5}"/>
              </a:ext>
            </a:extLst>
          </p:cNvPr>
          <p:cNvSpPr/>
          <p:nvPr/>
        </p:nvSpPr>
        <p:spPr>
          <a:xfrm>
            <a:off x="2162177"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299305-77B6-D44F-A160-3B19DE9B415C}"/>
                  </a:ext>
                </a:extLst>
              </p:cNvPr>
              <p:cNvSpPr txBox="1"/>
              <p:nvPr/>
            </p:nvSpPr>
            <p:spPr>
              <a:xfrm>
                <a:off x="199284"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9" name="TextBox 8">
                <a:extLst>
                  <a:ext uri="{FF2B5EF4-FFF2-40B4-BE49-F238E27FC236}">
                    <a16:creationId xmlns:a16="http://schemas.microsoft.com/office/drawing/2014/main" id="{62299305-77B6-D44F-A160-3B19DE9B415C}"/>
                  </a:ext>
                </a:extLst>
              </p:cNvPr>
              <p:cNvSpPr txBox="1">
                <a:spLocks noRot="1" noChangeAspect="1" noMove="1" noResize="1" noEditPoints="1" noAdjustHandles="1" noChangeArrowheads="1" noChangeShapeType="1" noTextEdit="1"/>
              </p:cNvSpPr>
              <p:nvPr/>
            </p:nvSpPr>
            <p:spPr>
              <a:xfrm>
                <a:off x="199284" y="5153166"/>
                <a:ext cx="42639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CA3969F-F783-D642-A68B-E12A92D62F44}"/>
                  </a:ext>
                </a:extLst>
              </p:cNvPr>
              <p:cNvSpPr txBox="1"/>
              <p:nvPr/>
            </p:nvSpPr>
            <p:spPr>
              <a:xfrm>
                <a:off x="1916507"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0" name="TextBox 9">
                <a:extLst>
                  <a:ext uri="{FF2B5EF4-FFF2-40B4-BE49-F238E27FC236}">
                    <a16:creationId xmlns:a16="http://schemas.microsoft.com/office/drawing/2014/main" id="{8CA3969F-F783-D642-A68B-E12A92D62F44}"/>
                  </a:ext>
                </a:extLst>
              </p:cNvPr>
              <p:cNvSpPr txBox="1">
                <a:spLocks noRot="1" noChangeAspect="1" noMove="1" noResize="1" noEditPoints="1" noAdjustHandles="1" noChangeArrowheads="1" noChangeShapeType="1" noTextEdit="1"/>
              </p:cNvSpPr>
              <p:nvPr/>
            </p:nvSpPr>
            <p:spPr>
              <a:xfrm>
                <a:off x="1916507" y="1217953"/>
                <a:ext cx="367985" cy="461665"/>
              </a:xfrm>
              <a:prstGeom prst="rect">
                <a:avLst/>
              </a:prstGeom>
              <a:blipFill>
                <a:blip r:embed="rId4"/>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F59DE08-207E-754B-975D-7BEE22D043C8}"/>
              </a:ext>
            </a:extLst>
          </p:cNvPr>
          <p:cNvCxnSpPr>
            <a:cxnSpLocks/>
          </p:cNvCxnSpPr>
          <p:nvPr/>
        </p:nvCxnSpPr>
        <p:spPr>
          <a:xfrm flipH="1" flipV="1">
            <a:off x="1081372"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A302EDE-81C5-2F41-A9D0-38CBC378602E}"/>
              </a:ext>
            </a:extLst>
          </p:cNvPr>
          <p:cNvCxnSpPr>
            <a:cxnSpLocks/>
            <a:stCxn id="8" idx="0"/>
          </p:cNvCxnSpPr>
          <p:nvPr/>
        </p:nvCxnSpPr>
        <p:spPr>
          <a:xfrm flipH="1" flipV="1">
            <a:off x="2308246"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3D7EDAE-EEEB-A944-B4A3-35DD564E0D94}"/>
              </a:ext>
            </a:extLst>
          </p:cNvPr>
          <p:cNvCxnSpPr>
            <a:cxnSpLocks/>
          </p:cNvCxnSpPr>
          <p:nvPr/>
        </p:nvCxnSpPr>
        <p:spPr>
          <a:xfrm flipH="1">
            <a:off x="588033"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52A0B62-9801-A842-9A88-4C0320C5C876}"/>
              </a:ext>
            </a:extLst>
          </p:cNvPr>
          <p:cNvCxnSpPr>
            <a:cxnSpLocks/>
          </p:cNvCxnSpPr>
          <p:nvPr/>
        </p:nvCxnSpPr>
        <p:spPr>
          <a:xfrm flipV="1">
            <a:off x="2313138"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E7D3A97-393A-CE42-9161-2F0065FF873B}"/>
                  </a:ext>
                </a:extLst>
              </p:cNvPr>
              <p:cNvSpPr txBox="1"/>
              <p:nvPr/>
            </p:nvSpPr>
            <p:spPr>
              <a:xfrm>
                <a:off x="4466518" y="426215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18" name="TextBox 17">
                <a:extLst>
                  <a:ext uri="{FF2B5EF4-FFF2-40B4-BE49-F238E27FC236}">
                    <a16:creationId xmlns:a16="http://schemas.microsoft.com/office/drawing/2014/main" id="{DE7D3A97-393A-CE42-9161-2F0065FF873B}"/>
                  </a:ext>
                </a:extLst>
              </p:cNvPr>
              <p:cNvSpPr txBox="1">
                <a:spLocks noRot="1" noChangeAspect="1" noMove="1" noResize="1" noEditPoints="1" noAdjustHandles="1" noChangeArrowheads="1" noChangeShapeType="1" noTextEdit="1"/>
              </p:cNvSpPr>
              <p:nvPr/>
            </p:nvSpPr>
            <p:spPr>
              <a:xfrm>
                <a:off x="4466518" y="4262157"/>
                <a:ext cx="367985" cy="461665"/>
              </a:xfrm>
              <a:prstGeom prst="rect">
                <a:avLst/>
              </a:prstGeom>
              <a:blipFill>
                <a:blip r:embed="rId5"/>
                <a:stretch>
                  <a:fillRect l="-3333" b="-8333"/>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F94F1657-FB3E-C241-BA21-CFC0D3C649A8}"/>
              </a:ext>
            </a:extLst>
          </p:cNvPr>
          <p:cNvCxnSpPr>
            <a:cxnSpLocks/>
          </p:cNvCxnSpPr>
          <p:nvPr/>
        </p:nvCxnSpPr>
        <p:spPr>
          <a:xfrm flipV="1">
            <a:off x="2333904" y="3139880"/>
            <a:ext cx="538836" cy="540766"/>
          </a:xfrm>
          <a:prstGeom prst="line">
            <a:avLst/>
          </a:prstGeom>
          <a:ln w="889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2613F92-53B2-E448-8275-F8B9E5B93383}"/>
              </a:ext>
            </a:extLst>
          </p:cNvPr>
          <p:cNvCxnSpPr>
            <a:cxnSpLocks/>
          </p:cNvCxnSpPr>
          <p:nvPr/>
        </p:nvCxnSpPr>
        <p:spPr>
          <a:xfrm flipH="1">
            <a:off x="2322144" y="3693603"/>
            <a:ext cx="236" cy="1512000"/>
          </a:xfrm>
          <a:prstGeom prst="line">
            <a:avLst/>
          </a:prstGeom>
          <a:ln w="76200" cap="rnd">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CA6B1CF-3162-8845-A69C-22740031C587}"/>
              </a:ext>
            </a:extLst>
          </p:cNvPr>
          <p:cNvCxnSpPr>
            <a:cxnSpLocks/>
          </p:cNvCxnSpPr>
          <p:nvPr/>
        </p:nvCxnSpPr>
        <p:spPr>
          <a:xfrm flipV="1">
            <a:off x="2322262" y="2165457"/>
            <a:ext cx="0" cy="1512000"/>
          </a:xfrm>
          <a:prstGeom prst="straightConnector1">
            <a:avLst/>
          </a:prstGeom>
          <a:ln w="76200" cap="rnd">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3C61296-512D-274B-8EE5-EF2C7F7A0DBA}"/>
              </a:ext>
            </a:extLst>
          </p:cNvPr>
          <p:cNvCxnSpPr>
            <a:cxnSpLocks/>
          </p:cNvCxnSpPr>
          <p:nvPr/>
        </p:nvCxnSpPr>
        <p:spPr>
          <a:xfrm flipH="1">
            <a:off x="1498600" y="3677457"/>
            <a:ext cx="823663" cy="869143"/>
          </a:xfrm>
          <a:prstGeom prst="straightConnector1">
            <a:avLst/>
          </a:prstGeom>
          <a:ln w="762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BDF7AE7-6709-3A47-82C7-FE71E42AA55C}"/>
              </a:ext>
            </a:extLst>
          </p:cNvPr>
          <p:cNvCxnSpPr>
            <a:cxnSpLocks/>
          </p:cNvCxnSpPr>
          <p:nvPr/>
        </p:nvCxnSpPr>
        <p:spPr>
          <a:xfrm flipV="1">
            <a:off x="2321961" y="3154897"/>
            <a:ext cx="519245" cy="528128"/>
          </a:xfrm>
          <a:prstGeom prst="line">
            <a:avLst/>
          </a:prstGeom>
          <a:ln w="76200" cap="rnd">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9BEE058-3C59-DB48-8AEB-0F45A891226B}"/>
                  </a:ext>
                </a:extLst>
              </p:cNvPr>
              <p:cNvSpPr/>
              <p:nvPr/>
            </p:nvSpPr>
            <p:spPr>
              <a:xfrm>
                <a:off x="4099134" y="1528568"/>
                <a:ext cx="2212913" cy="16600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e>
                      </m:d>
                      <m:r>
                        <a:rPr lang="en-US" sz="240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sr-Latn-RS"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r>
                        <a:rPr lang="en-US" sz="240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35" name="Rectangle 34">
                <a:extLst>
                  <a:ext uri="{FF2B5EF4-FFF2-40B4-BE49-F238E27FC236}">
                    <a16:creationId xmlns:a16="http://schemas.microsoft.com/office/drawing/2014/main" id="{A9BEE058-3C59-DB48-8AEB-0F45A891226B}"/>
                  </a:ext>
                </a:extLst>
              </p:cNvPr>
              <p:cNvSpPr>
                <a:spLocks noRot="1" noChangeAspect="1" noMove="1" noResize="1" noEditPoints="1" noAdjustHandles="1" noChangeArrowheads="1" noChangeShapeType="1" noTextEdit="1"/>
              </p:cNvSpPr>
              <p:nvPr/>
            </p:nvSpPr>
            <p:spPr>
              <a:xfrm>
                <a:off x="4099134" y="1528568"/>
                <a:ext cx="2212913" cy="1660070"/>
              </a:xfrm>
              <a:prstGeom prst="rect">
                <a:avLst/>
              </a:prstGeom>
              <a:blipFill>
                <a:blip r:embed="rId6"/>
                <a:stretch>
                  <a:fillRect b="-7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46DCBBE-F3C1-794A-879B-5F53ED7D7755}"/>
                  </a:ext>
                </a:extLst>
              </p:cNvPr>
              <p:cNvSpPr/>
              <p:nvPr/>
            </p:nvSpPr>
            <p:spPr>
              <a:xfrm>
                <a:off x="6550440" y="1429078"/>
                <a:ext cx="5252655"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i="1" smtClean="0">
                          <a:latin typeface="Cambria Math" panose="02040503050406030204" pitchFamily="18" charset="0"/>
                          <a:ea typeface="Cambria Math" panose="02040503050406030204" pitchFamily="18" charset="0"/>
                        </a:rPr>
                        <m:t> </m:t>
                      </m:r>
                      <m:d>
                        <m:dPr>
                          <m:begChr m:val="|"/>
                          <m:endChr m:val="⟩"/>
                          <m:ctrlPr>
                            <a:rPr lang="en-US" sz="2400" i="1" smtClean="0">
                              <a:latin typeface="Cambria Math" panose="02040503050406030204" pitchFamily="18" charset="0"/>
                            </a:rPr>
                          </m:ctrlPr>
                        </m:dPr>
                        <m:e>
                          <m:r>
                            <a:rPr lang="sr-Latn-RS" sz="2400" b="0" i="1" smtClean="0">
                              <a:latin typeface="Cambria Math" panose="02040503050406030204" pitchFamily="18" charset="0"/>
                            </a:rPr>
                            <m:t>+</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m:t>
                          </m:r>
                        </m:e>
                      </m:d>
                      <m:r>
                        <a:rPr lang="sr-Latn-RS" sz="2400" i="1">
                          <a:latin typeface="Cambria Math" panose="02040503050406030204" pitchFamily="18" charset="0"/>
                        </a:rPr>
                        <m:t>=</m:t>
                      </m:r>
                      <m:f>
                        <m:fPr>
                          <m:ctrlPr>
                            <a:rPr lang="sr-Latn-RS" sz="2400" i="1" smtClean="0">
                              <a:latin typeface="Cambria Math" panose="02040503050406030204" pitchFamily="18" charset="0"/>
                            </a:rPr>
                          </m:ctrlPr>
                        </m:fPr>
                        <m:num>
                          <m:r>
                            <a:rPr lang="sr-Latn-RS" sz="2400" b="0" i="1" smtClean="0">
                              <a:latin typeface="Cambria Math" panose="02040503050406030204" pitchFamily="18" charset="0"/>
                            </a:rPr>
                            <m:t>2</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r>
                        <a:rPr lang="en-US" sz="2400" b="0" i="1" smtClean="0">
                          <a:latin typeface="Cambria Math" panose="02040503050406030204" pitchFamily="18" charset="0"/>
                          <a:ea typeface="Cambria Math" panose="02040503050406030204" pitchFamily="18" charset="0"/>
                        </a:rPr>
                        <m:t>          </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sr-Latn-RS" sz="2400" b="0" i="1" smtClean="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36" name="Rectangle 35">
                <a:extLst>
                  <a:ext uri="{FF2B5EF4-FFF2-40B4-BE49-F238E27FC236}">
                    <a16:creationId xmlns:a16="http://schemas.microsoft.com/office/drawing/2014/main" id="{446DCBBE-F3C1-794A-879B-5F53ED7D7755}"/>
                  </a:ext>
                </a:extLst>
              </p:cNvPr>
              <p:cNvSpPr>
                <a:spLocks noRot="1" noChangeAspect="1" noMove="1" noResize="1" noEditPoints="1" noAdjustHandles="1" noChangeArrowheads="1" noChangeShapeType="1" noTextEdit="1"/>
              </p:cNvSpPr>
              <p:nvPr/>
            </p:nvSpPr>
            <p:spPr>
              <a:xfrm>
                <a:off x="6550440" y="1429078"/>
                <a:ext cx="5252655" cy="876202"/>
              </a:xfrm>
              <a:prstGeom prst="rect">
                <a:avLst/>
              </a:prstGeom>
              <a:blipFill>
                <a:blip r:embed="rId7"/>
                <a:stretch>
                  <a:fillRect l="-242"/>
                </a:stretch>
              </a:blipFill>
            </p:spPr>
            <p:txBody>
              <a:bodyPr/>
              <a:lstStyle/>
              <a:p>
                <a:r>
                  <a:rPr lang="en-US">
                    <a:noFill/>
                  </a:rPr>
                  <a:t> </a:t>
                </a:r>
              </a:p>
            </p:txBody>
          </p:sp>
        </mc:Fallback>
      </mc:AlternateContent>
      <p:sp>
        <p:nvSpPr>
          <p:cNvPr id="37" name="Right Brace 36">
            <a:extLst>
              <a:ext uri="{FF2B5EF4-FFF2-40B4-BE49-F238E27FC236}">
                <a16:creationId xmlns:a16="http://schemas.microsoft.com/office/drawing/2014/main" id="{EC1BC1F9-47B5-3548-8A64-896AEC2EF43B}"/>
              </a:ext>
            </a:extLst>
          </p:cNvPr>
          <p:cNvSpPr/>
          <p:nvPr/>
        </p:nvSpPr>
        <p:spPr>
          <a:xfrm>
            <a:off x="6325585" y="1559230"/>
            <a:ext cx="419725" cy="1629408"/>
          </a:xfrm>
          <a:prstGeom prst="rightBrace">
            <a:avLst>
              <a:gd name="adj1" fmla="val 2619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9A3F3C4B-4013-4540-BDB5-0F5E25C33FE4}"/>
                  </a:ext>
                </a:extLst>
              </p:cNvPr>
              <p:cNvSpPr/>
              <p:nvPr/>
            </p:nvSpPr>
            <p:spPr>
              <a:xfrm>
                <a:off x="6563978" y="2358603"/>
                <a:ext cx="534723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i="1" smtClean="0">
                          <a:latin typeface="Cambria Math" panose="02040503050406030204" pitchFamily="18" charset="0"/>
                          <a:ea typeface="Cambria Math" panose="02040503050406030204" pitchFamily="18" charset="0"/>
                        </a:rPr>
                        <m:t> </m:t>
                      </m:r>
                      <m:d>
                        <m:dPr>
                          <m:begChr m:val="|"/>
                          <m:endChr m:val="⟩"/>
                          <m:ctrlPr>
                            <a:rPr lang="en-US" sz="2400" i="1" smtClean="0">
                              <a:latin typeface="Cambria Math" panose="02040503050406030204" pitchFamily="18" charset="0"/>
                            </a:rPr>
                          </m:ctrlPr>
                        </m:dPr>
                        <m:e>
                          <m:r>
                            <a:rPr lang="sr-Latn-RS" sz="2400" b="0" i="1" smtClean="0">
                              <a:latin typeface="Cambria Math" panose="02040503050406030204" pitchFamily="18" charset="0"/>
                            </a:rPr>
                            <m:t>+</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m:t>
                          </m:r>
                        </m:e>
                      </m:d>
                      <m:r>
                        <a:rPr lang="sr-Latn-RS" sz="2400" i="1">
                          <a:latin typeface="Cambria Math" panose="02040503050406030204" pitchFamily="18" charset="0"/>
                        </a:rPr>
                        <m:t>=</m:t>
                      </m:r>
                      <m:f>
                        <m:fPr>
                          <m:ctrlPr>
                            <a:rPr lang="sr-Latn-RS" sz="2400" i="1" smtClean="0">
                              <a:latin typeface="Cambria Math" panose="02040503050406030204" pitchFamily="18" charset="0"/>
                            </a:rPr>
                          </m:ctrlPr>
                        </m:fPr>
                        <m:num>
                          <m:r>
                            <a:rPr lang="sr-Latn-RS" sz="2400" b="0" i="1" smtClean="0">
                              <a:latin typeface="Cambria Math" panose="02040503050406030204" pitchFamily="18" charset="0"/>
                            </a:rPr>
                            <m:t>−2</m:t>
                          </m:r>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r>
                        <a:rPr lang="en-U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1</m:t>
                          </m:r>
                        </m:e>
                      </m:d>
                      <m:r>
                        <a:rPr lang="sr-Latn-RS" sz="2400" b="0" i="1" smtClean="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r>
                            <a:rPr lang="sr-Latn-RS" sz="2400" b="0" i="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34" name="Rectangle 33">
                <a:extLst>
                  <a:ext uri="{FF2B5EF4-FFF2-40B4-BE49-F238E27FC236}">
                    <a16:creationId xmlns:a16="http://schemas.microsoft.com/office/drawing/2014/main" id="{9A3F3C4B-4013-4540-BDB5-0F5E25C33FE4}"/>
                  </a:ext>
                </a:extLst>
              </p:cNvPr>
              <p:cNvSpPr>
                <a:spLocks noRot="1" noChangeAspect="1" noMove="1" noResize="1" noEditPoints="1" noAdjustHandles="1" noChangeArrowheads="1" noChangeShapeType="1" noTextEdit="1"/>
              </p:cNvSpPr>
              <p:nvPr/>
            </p:nvSpPr>
            <p:spPr>
              <a:xfrm>
                <a:off x="6563978" y="2358603"/>
                <a:ext cx="5347233" cy="876202"/>
              </a:xfrm>
              <a:prstGeom prst="rect">
                <a:avLst/>
              </a:prstGeom>
              <a:blipFill>
                <a:blip r:embed="rId8"/>
                <a:stretch>
                  <a:fillRect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3A322C3A-8F10-944F-B875-CCEE1F15DE7E}"/>
                  </a:ext>
                </a:extLst>
              </p:cNvPr>
              <p:cNvSpPr/>
              <p:nvPr/>
            </p:nvSpPr>
            <p:spPr>
              <a:xfrm>
                <a:off x="764362" y="4051050"/>
                <a:ext cx="69083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e>
                      </m:d>
                    </m:oMath>
                  </m:oMathPara>
                </a14:m>
                <a:endParaRPr lang="en-US" sz="2400" dirty="0"/>
              </a:p>
            </p:txBody>
          </p:sp>
        </mc:Choice>
        <mc:Fallback xmlns="">
          <p:sp>
            <p:nvSpPr>
              <p:cNvPr id="38" name="Rectangle 37">
                <a:extLst>
                  <a:ext uri="{FF2B5EF4-FFF2-40B4-BE49-F238E27FC236}">
                    <a16:creationId xmlns:a16="http://schemas.microsoft.com/office/drawing/2014/main" id="{3A322C3A-8F10-944F-B875-CCEE1F15DE7E}"/>
                  </a:ext>
                </a:extLst>
              </p:cNvPr>
              <p:cNvSpPr>
                <a:spLocks noRot="1" noChangeAspect="1" noMove="1" noResize="1" noEditPoints="1" noAdjustHandles="1" noChangeArrowheads="1" noChangeShapeType="1" noTextEdit="1"/>
              </p:cNvSpPr>
              <p:nvPr/>
            </p:nvSpPr>
            <p:spPr>
              <a:xfrm>
                <a:off x="764362" y="4051050"/>
                <a:ext cx="69083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19879A9A-652A-9C47-8DDA-4F239A113DFA}"/>
                  </a:ext>
                </a:extLst>
              </p:cNvPr>
              <p:cNvSpPr/>
              <p:nvPr/>
            </p:nvSpPr>
            <p:spPr>
              <a:xfrm>
                <a:off x="2806476" y="3234805"/>
                <a:ext cx="7768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e>
                      </m:d>
                    </m:oMath>
                  </m:oMathPara>
                </a14:m>
                <a:endParaRPr lang="en-US" sz="2800" dirty="0"/>
              </a:p>
            </p:txBody>
          </p:sp>
        </mc:Choice>
        <mc:Fallback xmlns="">
          <p:sp>
            <p:nvSpPr>
              <p:cNvPr id="39" name="Rectangle 38">
                <a:extLst>
                  <a:ext uri="{FF2B5EF4-FFF2-40B4-BE49-F238E27FC236}">
                    <a16:creationId xmlns:a16="http://schemas.microsoft.com/office/drawing/2014/main" id="{19879A9A-652A-9C47-8DDA-4F239A113DFA}"/>
                  </a:ext>
                </a:extLst>
              </p:cNvPr>
              <p:cNvSpPr>
                <a:spLocks noRot="1" noChangeAspect="1" noMove="1" noResize="1" noEditPoints="1" noAdjustHandles="1" noChangeArrowheads="1" noChangeShapeType="1" noTextEdit="1"/>
              </p:cNvSpPr>
              <p:nvPr/>
            </p:nvSpPr>
            <p:spPr>
              <a:xfrm>
                <a:off x="2806476" y="3234805"/>
                <a:ext cx="776816"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83A8488A-973A-214A-9609-9F139009C138}"/>
                  </a:ext>
                </a:extLst>
              </p:cNvPr>
              <p:cNvSpPr/>
              <p:nvPr/>
            </p:nvSpPr>
            <p:spPr>
              <a:xfrm>
                <a:off x="2018143" y="5707602"/>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sr-Latn-RS" sz="2400" b="0" i="1" smtClean="0">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40" name="Rectangle 39">
                <a:extLst>
                  <a:ext uri="{FF2B5EF4-FFF2-40B4-BE49-F238E27FC236}">
                    <a16:creationId xmlns:a16="http://schemas.microsoft.com/office/drawing/2014/main" id="{83A8488A-973A-214A-9609-9F139009C138}"/>
                  </a:ext>
                </a:extLst>
              </p:cNvPr>
              <p:cNvSpPr>
                <a:spLocks noRot="1" noChangeAspect="1" noMove="1" noResize="1" noEditPoints="1" noAdjustHandles="1" noChangeArrowheads="1" noChangeShapeType="1" noTextEdit="1"/>
              </p:cNvSpPr>
              <p:nvPr/>
            </p:nvSpPr>
            <p:spPr>
              <a:xfrm>
                <a:off x="2018143" y="5707602"/>
                <a:ext cx="631519"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94B6A2C-360B-0946-AB71-C18CB9FF020E}"/>
                  </a:ext>
                </a:extLst>
              </p:cNvPr>
              <p:cNvSpPr/>
              <p:nvPr/>
            </p:nvSpPr>
            <p:spPr>
              <a:xfrm>
                <a:off x="1457835" y="191651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b="0" i="1" smtClean="0">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41" name="Rectangle 40">
                <a:extLst>
                  <a:ext uri="{FF2B5EF4-FFF2-40B4-BE49-F238E27FC236}">
                    <a16:creationId xmlns:a16="http://schemas.microsoft.com/office/drawing/2014/main" id="{794B6A2C-360B-0946-AB71-C18CB9FF020E}"/>
                  </a:ext>
                </a:extLst>
              </p:cNvPr>
              <p:cNvSpPr>
                <a:spLocks noRot="1" noChangeAspect="1" noMove="1" noResize="1" noEditPoints="1" noAdjustHandles="1" noChangeArrowheads="1" noChangeShapeType="1" noTextEdit="1"/>
              </p:cNvSpPr>
              <p:nvPr/>
            </p:nvSpPr>
            <p:spPr>
              <a:xfrm>
                <a:off x="1457835" y="1916518"/>
                <a:ext cx="707886" cy="523220"/>
              </a:xfrm>
              <a:prstGeom prst="rect">
                <a:avLst/>
              </a:prstGeom>
              <a:blipFill>
                <a:blip r:embed="rId12"/>
                <a:stretch>
                  <a:fillRect/>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235FCC84-2FFA-E448-A446-D9F5560928B5}"/>
              </a:ext>
            </a:extLst>
          </p:cNvPr>
          <p:cNvGrpSpPr/>
          <p:nvPr/>
        </p:nvGrpSpPr>
        <p:grpSpPr>
          <a:xfrm>
            <a:off x="4650510" y="4901784"/>
            <a:ext cx="7448154" cy="1591091"/>
            <a:chOff x="4650510" y="4901784"/>
            <a:chExt cx="7448154" cy="1591091"/>
          </a:xfrm>
        </p:grpSpPr>
        <p:sp>
          <p:nvSpPr>
            <p:cNvPr id="25" name="Rounded Rectangle 24">
              <a:extLst>
                <a:ext uri="{FF2B5EF4-FFF2-40B4-BE49-F238E27FC236}">
                  <a16:creationId xmlns:a16="http://schemas.microsoft.com/office/drawing/2014/main" id="{45E50527-D437-964A-9990-A409C952582A}"/>
                </a:ext>
              </a:extLst>
            </p:cNvPr>
            <p:cNvSpPr/>
            <p:nvPr/>
          </p:nvSpPr>
          <p:spPr>
            <a:xfrm>
              <a:off x="4650510" y="4901784"/>
              <a:ext cx="7441151" cy="159109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B5F3DA8-BE83-4446-9AB6-7895E4172259}"/>
                </a:ext>
              </a:extLst>
            </p:cNvPr>
            <p:cNvGrpSpPr/>
            <p:nvPr/>
          </p:nvGrpSpPr>
          <p:grpSpPr>
            <a:xfrm>
              <a:off x="4699844" y="5086702"/>
              <a:ext cx="7398820" cy="1196742"/>
              <a:chOff x="4699844" y="5086702"/>
              <a:chExt cx="7398820" cy="1196742"/>
            </a:xfrm>
          </p:grpSpPr>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3CA8DDB-BFB8-704C-8F5C-CECF79617D1A}"/>
                      </a:ext>
                    </a:extLst>
                  </p:cNvPr>
                  <p:cNvSpPr/>
                  <p:nvPr/>
                </p:nvSpPr>
                <p:spPr>
                  <a:xfrm>
                    <a:off x="4724372" y="5086702"/>
                    <a:ext cx="156145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𝑋</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0</m:t>
                              </m:r>
                            </m:e>
                          </m:d>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1</m:t>
                              </m:r>
                            </m:e>
                          </m:d>
                          <m:r>
                            <m:rPr>
                              <m:nor/>
                            </m:rPr>
                            <a:rPr lang="en-US" sz="2200" dirty="0"/>
                            <m:t> </m:t>
                          </m:r>
                        </m:oMath>
                      </m:oMathPara>
                    </a14:m>
                    <a:endParaRPr lang="en-US" sz="2200" dirty="0"/>
                  </a:p>
                </p:txBody>
              </p:sp>
            </mc:Choice>
            <mc:Fallback xmlns="">
              <p:sp>
                <p:nvSpPr>
                  <p:cNvPr id="21" name="Rectangle 20">
                    <a:extLst>
                      <a:ext uri="{FF2B5EF4-FFF2-40B4-BE49-F238E27FC236}">
                        <a16:creationId xmlns:a16="http://schemas.microsoft.com/office/drawing/2014/main" id="{D3CA8DDB-BFB8-704C-8F5C-CECF79617D1A}"/>
                      </a:ext>
                    </a:extLst>
                  </p:cNvPr>
                  <p:cNvSpPr>
                    <a:spLocks noRot="1" noChangeAspect="1" noMove="1" noResize="1" noEditPoints="1" noAdjustHandles="1" noChangeArrowheads="1" noChangeShapeType="1" noTextEdit="1"/>
                  </p:cNvSpPr>
                  <p:nvPr/>
                </p:nvSpPr>
                <p:spPr>
                  <a:xfrm>
                    <a:off x="4724372" y="5086702"/>
                    <a:ext cx="1561453" cy="430887"/>
                  </a:xfrm>
                  <a:prstGeom prst="rect">
                    <a:avLst/>
                  </a:prstGeom>
                  <a:blipFill>
                    <a:blip r:embed="rId14"/>
                    <a:stretch>
                      <a:fillRect t="-5882"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0286CDE3-3EFF-A249-8EC4-EF4D296F94A6}"/>
                      </a:ext>
                    </a:extLst>
                  </p:cNvPr>
                  <p:cNvSpPr/>
                  <p:nvPr/>
                </p:nvSpPr>
                <p:spPr>
                  <a:xfrm>
                    <a:off x="4699844" y="5472453"/>
                    <a:ext cx="7398820"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𝑋</m:t>
                          </m:r>
                          <m:d>
                            <m:dPr>
                              <m:begChr m:val="|"/>
                              <m:endChr m:val="⟩"/>
                              <m:ctrlPr>
                                <a:rPr lang="en-US" sz="2200" i="1">
                                  <a:latin typeface="Cambria Math" panose="02040503050406030204" pitchFamily="18" charset="0"/>
                                </a:rPr>
                              </m:ctrlPr>
                            </m:dPr>
                            <m:e>
                              <m:r>
                                <a:rPr lang="en-US" sz="2200" b="0" i="0" smtClean="0">
                                  <a:latin typeface="Cambria Math" panose="02040503050406030204" pitchFamily="18" charset="0"/>
                                </a:rPr>
                                <m:t>0</m:t>
                              </m:r>
                            </m:e>
                          </m:d>
                          <m:r>
                            <a:rPr lang="en-US" sz="2200" b="0" i="1" smtClean="0">
                              <a:latin typeface="Cambria Math" panose="02040503050406030204" pitchFamily="18" charset="0"/>
                            </a:rPr>
                            <m:t>=</m:t>
                          </m:r>
                          <m:r>
                            <a:rPr lang="en-US" sz="2200" b="0" i="1" smtClean="0">
                              <a:latin typeface="Cambria Math" panose="02040503050406030204" pitchFamily="18" charset="0"/>
                            </a:rPr>
                            <m:t>𝑋</m:t>
                          </m:r>
                          <m:f>
                            <m:fPr>
                              <m:ctrlPr>
                                <a:rPr lang="en-US" sz="2200" i="1">
                                  <a:latin typeface="Cambria Math" panose="02040503050406030204" pitchFamily="18" charset="0"/>
                                </a:rPr>
                              </m:ctrlPr>
                            </m:fPr>
                            <m:num>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e>
                              </m:d>
                              <m:r>
                                <a:rPr lang="en-US" sz="2200">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e>
                              </m:d>
                            </m:num>
                            <m:den>
                              <m:rad>
                                <m:radPr>
                                  <m:degHide m:val="on"/>
                                  <m:ctrlPr>
                                    <a:rPr lang="en-US" sz="2200" i="1">
                                      <a:latin typeface="Cambria Math" panose="02040503050406030204" pitchFamily="18" charset="0"/>
                                    </a:rPr>
                                  </m:ctrlPr>
                                </m:radPr>
                                <m:deg/>
                                <m:e>
                                  <m:r>
                                    <a:rPr lang="en-US" sz="2200">
                                      <a:latin typeface="Cambria Math" panose="02040503050406030204" pitchFamily="18" charset="0"/>
                                    </a:rPr>
                                    <m:t>2</m:t>
                                  </m:r>
                                </m:e>
                              </m:rad>
                            </m:den>
                          </m:f>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2</m:t>
                                  </m:r>
                                </m:e>
                              </m:rad>
                            </m:den>
                          </m:f>
                          <m:r>
                            <a:rPr lang="en-US" sz="2200" i="1">
                              <a:latin typeface="Cambria Math" panose="02040503050406030204" pitchFamily="18" charset="0"/>
                            </a:rPr>
                            <m:t>𝑋</m:t>
                          </m:r>
                          <m:d>
                            <m:dPr>
                              <m:begChr m:val="|"/>
                              <m:endChr m:val="⟩"/>
                              <m:ctrlPr>
                                <a:rPr lang="en-US" sz="2200" i="1">
                                  <a:latin typeface="Cambria Math" panose="02040503050406030204" pitchFamily="18" charset="0"/>
                                </a:rPr>
                              </m:ctrlPr>
                            </m:dPr>
                            <m:e>
                              <m:r>
                                <a:rPr lang="en-US" sz="2200" b="0" i="0" smtClean="0">
                                  <a:latin typeface="Cambria Math" panose="02040503050406030204" pitchFamily="18" charset="0"/>
                                </a:rPr>
                                <m:t>+</m:t>
                              </m:r>
                            </m:e>
                          </m:d>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ad>
                                <m:radPr>
                                  <m:degHide m:val="on"/>
                                  <m:ctrlPr>
                                    <a:rPr lang="en-US" sz="2200" i="1">
                                      <a:latin typeface="Cambria Math" panose="02040503050406030204" pitchFamily="18" charset="0"/>
                                    </a:rPr>
                                  </m:ctrlPr>
                                </m:radPr>
                                <m:deg/>
                                <m:e>
                                  <m:r>
                                    <a:rPr lang="en-US" sz="2200" i="1">
                                      <a:latin typeface="Cambria Math" panose="02040503050406030204" pitchFamily="18" charset="0"/>
                                    </a:rPr>
                                    <m:t>2</m:t>
                                  </m:r>
                                </m:e>
                              </m:rad>
                            </m:den>
                          </m:f>
                          <m:r>
                            <a:rPr lang="en-US" sz="2200" i="1">
                              <a:latin typeface="Cambria Math" panose="02040503050406030204" pitchFamily="18" charset="0"/>
                            </a:rPr>
                            <m:t>𝑋</m:t>
                          </m:r>
                          <m:d>
                            <m:dPr>
                              <m:begChr m:val="|"/>
                              <m:endChr m:val="⟩"/>
                              <m:ctrlPr>
                                <a:rPr lang="en-US" sz="2200" i="1">
                                  <a:latin typeface="Cambria Math" panose="02040503050406030204" pitchFamily="18" charset="0"/>
                                </a:rPr>
                              </m:ctrlPr>
                            </m:dPr>
                            <m:e>
                              <m:r>
                                <a:rPr lang="en-US" sz="2200" b="0" i="0" smtClean="0">
                                  <a:latin typeface="Cambria Math" panose="02040503050406030204" pitchFamily="18" charset="0"/>
                                </a:rPr>
                                <m:t>−</m:t>
                              </m:r>
                            </m:e>
                          </m:d>
                          <m:r>
                            <a:rPr lang="en-US" sz="2200" b="0" i="1" smtClean="0">
                              <a:latin typeface="Cambria Math" panose="02040503050406030204" pitchFamily="18" charset="0"/>
                            </a:rPr>
                            <m:t>=</m:t>
                          </m:r>
                          <m:f>
                            <m:fPr>
                              <m:ctrlPr>
                                <a:rPr lang="en-US" sz="2200" i="1">
                                  <a:latin typeface="Cambria Math" panose="02040503050406030204" pitchFamily="18" charset="0"/>
                                </a:rPr>
                              </m:ctrlPr>
                            </m:fPr>
                            <m:num>
                              <m:d>
                                <m:dPr>
                                  <m:begChr m:val="|"/>
                                  <m:endChr m:val="⟩"/>
                                  <m:ctrlPr>
                                    <a:rPr lang="en-US" sz="2200" i="1">
                                      <a:latin typeface="Cambria Math" panose="02040503050406030204" pitchFamily="18" charset="0"/>
                                    </a:rPr>
                                  </m:ctrlPr>
                                </m:dPr>
                                <m:e>
                                  <m:r>
                                    <a:rPr lang="en-US" sz="2200" b="0" i="0" smtClean="0">
                                      <a:latin typeface="Cambria Math" panose="02040503050406030204" pitchFamily="18" charset="0"/>
                                    </a:rPr>
                                    <m:t>+</m:t>
                                  </m:r>
                                </m:e>
                              </m:d>
                              <m:r>
                                <a:rPr lang="en-US" sz="2200" b="0" i="0" smtClean="0">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b="0" i="0" smtClean="0">
                                      <a:latin typeface="Cambria Math" panose="02040503050406030204" pitchFamily="18" charset="0"/>
                                    </a:rPr>
                                    <m:t>−</m:t>
                                  </m:r>
                                </m:e>
                              </m:d>
                            </m:num>
                            <m:den>
                              <m:rad>
                                <m:radPr>
                                  <m:degHide m:val="on"/>
                                  <m:ctrlPr>
                                    <a:rPr lang="en-US" sz="2200" i="1">
                                      <a:latin typeface="Cambria Math" panose="02040503050406030204" pitchFamily="18" charset="0"/>
                                    </a:rPr>
                                  </m:ctrlPr>
                                </m:radPr>
                                <m:deg/>
                                <m:e>
                                  <m:r>
                                    <a:rPr lang="en-US" sz="2200">
                                      <a:latin typeface="Cambria Math" panose="02040503050406030204" pitchFamily="18" charset="0"/>
                                    </a:rPr>
                                    <m:t>2</m:t>
                                  </m:r>
                                </m:e>
                              </m:rad>
                            </m:den>
                          </m:f>
                          <m:r>
                            <a:rPr lang="en-US" sz="2200" b="0" i="1" smtClean="0">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1</m:t>
                              </m:r>
                            </m:e>
                          </m:d>
                        </m:oMath>
                      </m:oMathPara>
                    </a14:m>
                    <a:endParaRPr lang="en-US" sz="2200" dirty="0"/>
                  </a:p>
                </p:txBody>
              </p:sp>
            </mc:Choice>
            <mc:Fallback xmlns="">
              <p:sp>
                <p:nvSpPr>
                  <p:cNvPr id="44" name="Rectangle 43">
                    <a:extLst>
                      <a:ext uri="{FF2B5EF4-FFF2-40B4-BE49-F238E27FC236}">
                        <a16:creationId xmlns:a16="http://schemas.microsoft.com/office/drawing/2014/main" id="{0286CDE3-3EFF-A249-8EC4-EF4D296F94A6}"/>
                      </a:ext>
                    </a:extLst>
                  </p:cNvPr>
                  <p:cNvSpPr>
                    <a:spLocks noRot="1" noChangeAspect="1" noMove="1" noResize="1" noEditPoints="1" noAdjustHandles="1" noChangeArrowheads="1" noChangeShapeType="1" noTextEdit="1"/>
                  </p:cNvSpPr>
                  <p:nvPr/>
                </p:nvSpPr>
                <p:spPr>
                  <a:xfrm>
                    <a:off x="4699844" y="5472453"/>
                    <a:ext cx="7398820" cy="810991"/>
                  </a:xfrm>
                  <a:prstGeom prst="rect">
                    <a:avLst/>
                  </a:prstGeom>
                  <a:blipFill>
                    <a:blip r:embed="rId15"/>
                    <a:stretch>
                      <a:fillRect b="-1538"/>
                    </a:stretch>
                  </a:blipFill>
                </p:spPr>
                <p:txBody>
                  <a:bodyPr/>
                  <a:lstStyle/>
                  <a:p>
                    <a:r>
                      <a:rPr lang="en-US">
                        <a:noFill/>
                      </a:rPr>
                      <a:t> </a:t>
                    </a:r>
                  </a:p>
                </p:txBody>
              </p:sp>
            </mc:Fallback>
          </mc:AlternateContent>
        </p:grpSp>
      </p:grpSp>
      <p:sp>
        <p:nvSpPr>
          <p:cNvPr id="45" name="Right Brace 44">
            <a:extLst>
              <a:ext uri="{FF2B5EF4-FFF2-40B4-BE49-F238E27FC236}">
                <a16:creationId xmlns:a16="http://schemas.microsoft.com/office/drawing/2014/main" id="{DC47C151-A982-A54A-BC5D-C86B2EFEA71E}"/>
              </a:ext>
            </a:extLst>
          </p:cNvPr>
          <p:cNvSpPr/>
          <p:nvPr/>
        </p:nvSpPr>
        <p:spPr>
          <a:xfrm flipH="1">
            <a:off x="9296139" y="1473436"/>
            <a:ext cx="419725" cy="1629408"/>
          </a:xfrm>
          <a:prstGeom prst="rightBrace">
            <a:avLst>
              <a:gd name="adj1" fmla="val 2619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6530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Qubit state visualization using a bar chart</a:t>
            </a:r>
            <a:endParaRPr lang="en-US" dirty="0"/>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24</a:t>
            </a:fld>
            <a:endParaRPr lang="en-US"/>
          </a:p>
        </p:txBody>
      </p:sp>
      <p:cxnSp>
        <p:nvCxnSpPr>
          <p:cNvPr id="43" name="Straight Connector 42">
            <a:extLst>
              <a:ext uri="{FF2B5EF4-FFF2-40B4-BE49-F238E27FC236}">
                <a16:creationId xmlns:a16="http://schemas.microsoft.com/office/drawing/2014/main" id="{19DA52E9-4CB4-9E45-9FEE-20C2717A36BB}"/>
              </a:ext>
            </a:extLst>
          </p:cNvPr>
          <p:cNvCxnSpPr>
            <a:cxnSpLocks/>
          </p:cNvCxnSpPr>
          <p:nvPr/>
        </p:nvCxnSpPr>
        <p:spPr>
          <a:xfrm>
            <a:off x="1946117" y="2502043"/>
            <a:ext cx="0" cy="360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DE4096D-F244-984C-BD7E-6E3677190D1B}"/>
              </a:ext>
            </a:extLst>
          </p:cNvPr>
          <p:cNvCxnSpPr>
            <a:cxnSpLocks/>
          </p:cNvCxnSpPr>
          <p:nvPr/>
        </p:nvCxnSpPr>
        <p:spPr>
          <a:xfrm>
            <a:off x="1946117" y="4302043"/>
            <a:ext cx="1861268"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F3797C0F-6F63-CE43-BC9D-AA836E05448C}"/>
              </a:ext>
            </a:extLst>
          </p:cNvPr>
          <p:cNvSpPr/>
          <p:nvPr/>
        </p:nvSpPr>
        <p:spPr>
          <a:xfrm>
            <a:off x="2139969" y="2592722"/>
            <a:ext cx="540000" cy="171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4303973-4D6A-914E-BBEB-F6C509B0ECE5}"/>
              </a:ext>
            </a:extLst>
          </p:cNvPr>
          <p:cNvSpPr/>
          <p:nvPr/>
        </p:nvSpPr>
        <p:spPr>
          <a:xfrm>
            <a:off x="2873820" y="4302043"/>
            <a:ext cx="540000" cy="5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E29FB702-19B6-4C40-82FF-9C2E1A6ACEA4}"/>
                  </a:ext>
                </a:extLst>
              </p:cNvPr>
              <p:cNvSpPr/>
              <p:nvPr/>
            </p:nvSpPr>
            <p:spPr>
              <a:xfrm>
                <a:off x="1339500" y="5918865"/>
                <a:ext cx="652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48" name="Rectangle 47">
                <a:extLst>
                  <a:ext uri="{FF2B5EF4-FFF2-40B4-BE49-F238E27FC236}">
                    <a16:creationId xmlns:a16="http://schemas.microsoft.com/office/drawing/2014/main" id="{E29FB702-19B6-4C40-82FF-9C2E1A6ACEA4}"/>
                  </a:ext>
                </a:extLst>
              </p:cNvPr>
              <p:cNvSpPr>
                <a:spLocks noRot="1" noChangeAspect="1" noMove="1" noResize="1" noEditPoints="1" noAdjustHandles="1" noChangeArrowheads="1" noChangeShapeType="1" noTextEdit="1"/>
              </p:cNvSpPr>
              <p:nvPr/>
            </p:nvSpPr>
            <p:spPr>
              <a:xfrm>
                <a:off x="1339500" y="5918865"/>
                <a:ext cx="652743"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7807657E-45DE-1E47-94EA-75A4E3298B2E}"/>
                  </a:ext>
                </a:extLst>
              </p:cNvPr>
              <p:cNvSpPr/>
              <p:nvPr/>
            </p:nvSpPr>
            <p:spPr>
              <a:xfrm>
                <a:off x="1518538" y="2327671"/>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49" name="Rectangle 48">
                <a:extLst>
                  <a:ext uri="{FF2B5EF4-FFF2-40B4-BE49-F238E27FC236}">
                    <a16:creationId xmlns:a16="http://schemas.microsoft.com/office/drawing/2014/main" id="{7807657E-45DE-1E47-94EA-75A4E3298B2E}"/>
                  </a:ext>
                </a:extLst>
              </p:cNvPr>
              <p:cNvSpPr>
                <a:spLocks noRot="1" noChangeAspect="1" noMove="1" noResize="1" noEditPoints="1" noAdjustHandles="1" noChangeArrowheads="1" noChangeShapeType="1" noTextEdit="1"/>
              </p:cNvSpPr>
              <p:nvPr/>
            </p:nvSpPr>
            <p:spPr>
              <a:xfrm>
                <a:off x="1518538" y="2327671"/>
                <a:ext cx="423514"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FBC4486E-320B-3C4C-92D8-619853FCB992}"/>
                  </a:ext>
                </a:extLst>
              </p:cNvPr>
              <p:cNvSpPr/>
              <p:nvPr/>
            </p:nvSpPr>
            <p:spPr>
              <a:xfrm>
                <a:off x="1945361" y="2223556"/>
                <a:ext cx="92845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0.951</m:t>
                      </m:r>
                    </m:oMath>
                  </m:oMathPara>
                </a14:m>
                <a:endParaRPr lang="en-US" sz="2200" dirty="0"/>
              </a:p>
            </p:txBody>
          </p:sp>
        </mc:Choice>
        <mc:Fallback xmlns="">
          <p:sp>
            <p:nvSpPr>
              <p:cNvPr id="50" name="Rectangle 49">
                <a:extLst>
                  <a:ext uri="{FF2B5EF4-FFF2-40B4-BE49-F238E27FC236}">
                    <a16:creationId xmlns:a16="http://schemas.microsoft.com/office/drawing/2014/main" id="{FBC4486E-320B-3C4C-92D8-619853FCB992}"/>
                  </a:ext>
                </a:extLst>
              </p:cNvPr>
              <p:cNvSpPr>
                <a:spLocks noRot="1" noChangeAspect="1" noMove="1" noResize="1" noEditPoints="1" noAdjustHandles="1" noChangeArrowheads="1" noChangeShapeType="1" noTextEdit="1"/>
              </p:cNvSpPr>
              <p:nvPr/>
            </p:nvSpPr>
            <p:spPr>
              <a:xfrm>
                <a:off x="1945361" y="2223556"/>
                <a:ext cx="928459"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34AD3788-C37C-8E4F-8BDB-AB807E6C2CC5}"/>
                  </a:ext>
                </a:extLst>
              </p:cNvPr>
              <p:cNvSpPr/>
              <p:nvPr/>
            </p:nvSpPr>
            <p:spPr>
              <a:xfrm>
                <a:off x="2532407" y="4830048"/>
                <a:ext cx="113845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−0.309</m:t>
                      </m:r>
                    </m:oMath>
                  </m:oMathPara>
                </a14:m>
                <a:endParaRPr lang="en-US" sz="2200" dirty="0"/>
              </a:p>
            </p:txBody>
          </p:sp>
        </mc:Choice>
        <mc:Fallback xmlns="">
          <p:sp>
            <p:nvSpPr>
              <p:cNvPr id="51" name="Rectangle 50">
                <a:extLst>
                  <a:ext uri="{FF2B5EF4-FFF2-40B4-BE49-F238E27FC236}">
                    <a16:creationId xmlns:a16="http://schemas.microsoft.com/office/drawing/2014/main" id="{34AD3788-C37C-8E4F-8BDB-AB807E6C2CC5}"/>
                  </a:ext>
                </a:extLst>
              </p:cNvPr>
              <p:cNvSpPr>
                <a:spLocks noRot="1" noChangeAspect="1" noMove="1" noResize="1" noEditPoints="1" noAdjustHandles="1" noChangeArrowheads="1" noChangeShapeType="1" noTextEdit="1"/>
              </p:cNvSpPr>
              <p:nvPr/>
            </p:nvSpPr>
            <p:spPr>
              <a:xfrm>
                <a:off x="2532407" y="4830048"/>
                <a:ext cx="1138453"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B66F89F-86E9-774E-AC58-69FBF08BDF52}"/>
                  </a:ext>
                </a:extLst>
              </p:cNvPr>
              <p:cNvSpPr/>
              <p:nvPr/>
            </p:nvSpPr>
            <p:spPr>
              <a:xfrm>
                <a:off x="2094209" y="3824200"/>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0</m:t>
                          </m:r>
                        </m:e>
                      </m:d>
                    </m:oMath>
                  </m:oMathPara>
                </a14:m>
                <a:endParaRPr lang="en-US" sz="2400" dirty="0">
                  <a:solidFill>
                    <a:schemeClr val="bg1"/>
                  </a:solidFill>
                </a:endParaRPr>
              </a:p>
            </p:txBody>
          </p:sp>
        </mc:Choice>
        <mc:Fallback xmlns="">
          <p:sp>
            <p:nvSpPr>
              <p:cNvPr id="52" name="Rectangle 51">
                <a:extLst>
                  <a:ext uri="{FF2B5EF4-FFF2-40B4-BE49-F238E27FC236}">
                    <a16:creationId xmlns:a16="http://schemas.microsoft.com/office/drawing/2014/main" id="{FB66F89F-86E9-774E-AC58-69FBF08BDF52}"/>
                  </a:ext>
                </a:extLst>
              </p:cNvPr>
              <p:cNvSpPr>
                <a:spLocks noRot="1" noChangeAspect="1" noMove="1" noResize="1" noEditPoints="1" noAdjustHandles="1" noChangeArrowheads="1" noChangeShapeType="1" noTextEdit="1"/>
              </p:cNvSpPr>
              <p:nvPr/>
            </p:nvSpPr>
            <p:spPr>
              <a:xfrm>
                <a:off x="2094209" y="3824200"/>
                <a:ext cx="631520"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5F31F68E-D724-CA4A-97AC-6D9311569C9E}"/>
                  </a:ext>
                </a:extLst>
              </p:cNvPr>
              <p:cNvSpPr/>
              <p:nvPr/>
            </p:nvSpPr>
            <p:spPr>
              <a:xfrm>
                <a:off x="2823791" y="4292487"/>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1</m:t>
                          </m:r>
                        </m:e>
                      </m:d>
                    </m:oMath>
                  </m:oMathPara>
                </a14:m>
                <a:endParaRPr lang="en-US" sz="2400" dirty="0">
                  <a:solidFill>
                    <a:schemeClr val="bg1"/>
                  </a:solidFill>
                </a:endParaRPr>
              </a:p>
            </p:txBody>
          </p:sp>
        </mc:Choice>
        <mc:Fallback xmlns="">
          <p:sp>
            <p:nvSpPr>
              <p:cNvPr id="53" name="Rectangle 52">
                <a:extLst>
                  <a:ext uri="{FF2B5EF4-FFF2-40B4-BE49-F238E27FC236}">
                    <a16:creationId xmlns:a16="http://schemas.microsoft.com/office/drawing/2014/main" id="{5F31F68E-D724-CA4A-97AC-6D9311569C9E}"/>
                  </a:ext>
                </a:extLst>
              </p:cNvPr>
              <p:cNvSpPr>
                <a:spLocks noRot="1" noChangeAspect="1" noMove="1" noResize="1" noEditPoints="1" noAdjustHandles="1" noChangeArrowheads="1" noChangeShapeType="1" noTextEdit="1"/>
              </p:cNvSpPr>
              <p:nvPr/>
            </p:nvSpPr>
            <p:spPr>
              <a:xfrm>
                <a:off x="2823791" y="4292487"/>
                <a:ext cx="631519"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82BD80D8-162B-5145-869B-0B9DE0192A39}"/>
                  </a:ext>
                </a:extLst>
              </p:cNvPr>
              <p:cNvSpPr/>
              <p:nvPr/>
            </p:nvSpPr>
            <p:spPr>
              <a:xfrm>
                <a:off x="878961" y="1314512"/>
                <a:ext cx="4254691" cy="52328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a:latin typeface="Cambria Math" panose="02040503050406030204" pitchFamily="18" charset="0"/>
                              <a:ea typeface="Cambria Math" panose="02040503050406030204" pitchFamily="18" charset="0"/>
                            </a:rPr>
                            <m:t>𝑆</m:t>
                          </m:r>
                        </m:e>
                      </m:d>
                      <m:r>
                        <m:rPr>
                          <m:nor/>
                        </m:rPr>
                        <a:rPr lang="en-US" sz="2800" dirty="0">
                          <a:latin typeface="Cambria Math" panose="02040503050406030204" pitchFamily="18" charset="0"/>
                          <a:ea typeface="Cambria Math" panose="02040503050406030204" pitchFamily="18" charset="0"/>
                        </a:rPr>
                        <m:t>=</m:t>
                      </m:r>
                      <m:r>
                        <m:rPr>
                          <m:nor/>
                        </m:rPr>
                        <a:rPr lang="en-US" sz="2800" i="0" dirty="0" smtClean="0">
                          <a:latin typeface="Cambria Math" panose="02040503050406030204" pitchFamily="18" charset="0"/>
                          <a:ea typeface="Cambria Math" panose="02040503050406030204" pitchFamily="18" charset="0"/>
                        </a:rPr>
                        <m:t>0.951</m:t>
                      </m:r>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−0.309</m:t>
                      </m:r>
                      <m:d>
                        <m:dPr>
                          <m:begChr m:val="|"/>
                          <m:endChr m:val="⟩"/>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1</m:t>
                          </m:r>
                        </m:e>
                      </m:d>
                    </m:oMath>
                  </m:oMathPara>
                </a14:m>
                <a:br>
                  <a:rPr lang="en-US" sz="2800" dirty="0"/>
                </a:br>
                <a:endParaRPr lang="en-US" sz="2800" dirty="0"/>
              </a:p>
            </p:txBody>
          </p:sp>
        </mc:Choice>
        <mc:Fallback xmlns="">
          <p:sp>
            <p:nvSpPr>
              <p:cNvPr id="58" name="Rectangle 57">
                <a:extLst>
                  <a:ext uri="{FF2B5EF4-FFF2-40B4-BE49-F238E27FC236}">
                    <a16:creationId xmlns:a16="http://schemas.microsoft.com/office/drawing/2014/main" id="{82BD80D8-162B-5145-869B-0B9DE0192A39}"/>
                  </a:ext>
                </a:extLst>
              </p:cNvPr>
              <p:cNvSpPr>
                <a:spLocks noRot="1" noChangeAspect="1" noMove="1" noResize="1" noEditPoints="1" noAdjustHandles="1" noChangeArrowheads="1" noChangeShapeType="1" noTextEdit="1"/>
              </p:cNvSpPr>
              <p:nvPr/>
            </p:nvSpPr>
            <p:spPr>
              <a:xfrm>
                <a:off x="878961" y="1314512"/>
                <a:ext cx="4254691" cy="523285"/>
              </a:xfrm>
              <a:prstGeom prst="rect">
                <a:avLst/>
              </a:prstGeom>
              <a:blipFill>
                <a:blip r:embed="rId9"/>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94A58686-B558-5648-BFCC-E67524159553}"/>
              </a:ext>
            </a:extLst>
          </p:cNvPr>
          <p:cNvGrpSpPr/>
          <p:nvPr/>
        </p:nvGrpSpPr>
        <p:grpSpPr>
          <a:xfrm>
            <a:off x="6722959" y="1080552"/>
            <a:ext cx="5038109" cy="4295569"/>
            <a:chOff x="6722959" y="1080552"/>
            <a:chExt cx="5038109" cy="4295569"/>
          </a:xfrm>
        </p:grpSpPr>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F085E241-46F3-D14D-9EA8-4E04B06562E9}"/>
                    </a:ext>
                  </a:extLst>
                </p:cNvPr>
                <p:cNvSpPr/>
                <p:nvPr/>
              </p:nvSpPr>
              <p:spPr>
                <a:xfrm>
                  <a:off x="6722959" y="1080552"/>
                  <a:ext cx="4383700" cy="98232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a:latin typeface="Cambria Math" panose="02040503050406030204" pitchFamily="18" charset="0"/>
                                <a:ea typeface="Cambria Math" panose="02040503050406030204" pitchFamily="18" charset="0"/>
                              </a:rPr>
                              <m:t>𝑆</m:t>
                            </m:r>
                          </m:e>
                        </m:d>
                        <m:r>
                          <m:rPr>
                            <m:nor/>
                          </m:rPr>
                          <a:rPr lang="en-US" sz="2800" dirty="0">
                            <a:latin typeface="Cambria Math" panose="02040503050406030204" pitchFamily="18" charset="0"/>
                            <a:ea typeface="Cambria Math" panose="02040503050406030204" pitchFamily="18" charset="0"/>
                          </a:rPr>
                          <m:t>=</m:t>
                        </m:r>
                        <m:f>
                          <m:fPr>
                            <m:ctrlPr>
                              <a:rPr lang="en-US" sz="2800" i="1" dirty="0" smtClean="0">
                                <a:solidFill>
                                  <a:schemeClr val="tx1"/>
                                </a:solidFill>
                                <a:latin typeface="Cambria Math" panose="02040503050406030204" pitchFamily="18" charset="0"/>
                                <a:ea typeface="Cambria Math" panose="02040503050406030204" pitchFamily="18" charset="0"/>
                              </a:rPr>
                            </m:ctrlPr>
                          </m:fPr>
                          <m:num>
                            <m:r>
                              <a:rPr lang="en-US" sz="2800" b="0" i="1" dirty="0"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2800" i="1" dirty="0" smtClean="0">
                                    <a:solidFill>
                                      <a:schemeClr val="tx1"/>
                                    </a:solidFill>
                                    <a:latin typeface="Cambria Math" panose="02040503050406030204" pitchFamily="18" charset="0"/>
                                    <a:ea typeface="Cambria Math" panose="02040503050406030204" pitchFamily="18" charset="0"/>
                                  </a:rPr>
                                </m:ctrlPr>
                              </m:radPr>
                              <m:deg/>
                              <m:e>
                                <m:r>
                                  <a:rPr lang="en-US" sz="2800" b="0" i="1" dirty="0" smtClean="0">
                                    <a:solidFill>
                                      <a:schemeClr val="tx1"/>
                                    </a:solidFill>
                                    <a:latin typeface="Cambria Math" panose="02040503050406030204" pitchFamily="18" charset="0"/>
                                    <a:ea typeface="Cambria Math" panose="02040503050406030204" pitchFamily="18" charset="0"/>
                                  </a:rPr>
                                  <m:t>2</m:t>
                                </m:r>
                              </m:e>
                            </m:rad>
                          </m:den>
                        </m:f>
                        <m:sSup>
                          <m:sSupPr>
                            <m:ctrlPr>
                              <a:rPr lang="en-US" sz="2800" i="1" dirty="0">
                                <a:latin typeface="Cambria Math" panose="02040503050406030204" pitchFamily="18" charset="0"/>
                                <a:ea typeface="Cambria Math" panose="02040503050406030204" pitchFamily="18" charset="0"/>
                              </a:rPr>
                            </m:ctrlPr>
                          </m:sSupPr>
                          <m:e>
                            <m:r>
                              <a:rPr lang="en-US" sz="2800" b="0" i="1" dirty="0">
                                <a:latin typeface="Cambria Math" panose="02040503050406030204" pitchFamily="18" charset="0"/>
                                <a:ea typeface="Cambria Math" panose="02040503050406030204" pitchFamily="18" charset="0"/>
                              </a:rPr>
                              <m:t>𝑒</m:t>
                            </m:r>
                          </m:e>
                          <m:sup>
                            <m:r>
                              <a:rPr lang="en-US" sz="2800" b="0" i="1" dirty="0" smtClean="0">
                                <a:solidFill>
                                  <a:srgbClr val="0000FF"/>
                                </a:solidFill>
                                <a:latin typeface="Cambria Math" panose="02040503050406030204" pitchFamily="18" charset="0"/>
                                <a:ea typeface="Cambria Math" panose="02040503050406030204" pitchFamily="18" charset="0"/>
                              </a:rPr>
                              <m:t>0</m:t>
                            </m:r>
                          </m:sup>
                        </m:sSup>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m:t>
                        </m:r>
                        <m:f>
                          <m:fPr>
                            <m:ctrlPr>
                              <a:rPr lang="en-US" sz="2800" i="1" dirty="0">
                                <a:latin typeface="Cambria Math" panose="02040503050406030204" pitchFamily="18" charset="0"/>
                                <a:ea typeface="Cambria Math" panose="02040503050406030204" pitchFamily="18" charset="0"/>
                              </a:rPr>
                            </m:ctrlPr>
                          </m:fPr>
                          <m:num>
                            <m:r>
                              <a:rPr lang="en-US" sz="2800" b="0" i="1" dirty="0">
                                <a:latin typeface="Cambria Math" panose="02040503050406030204" pitchFamily="18" charset="0"/>
                                <a:ea typeface="Cambria Math" panose="02040503050406030204" pitchFamily="18" charset="0"/>
                              </a:rPr>
                              <m:t>1</m:t>
                            </m:r>
                          </m:num>
                          <m:den>
                            <m:rad>
                              <m:radPr>
                                <m:degHide m:val="on"/>
                                <m:ctrlPr>
                                  <a:rPr lang="en-US" sz="2800" i="1" dirty="0">
                                    <a:latin typeface="Cambria Math" panose="02040503050406030204" pitchFamily="18" charset="0"/>
                                    <a:ea typeface="Cambria Math" panose="02040503050406030204" pitchFamily="18" charset="0"/>
                                  </a:rPr>
                                </m:ctrlPr>
                              </m:radPr>
                              <m:deg/>
                              <m:e>
                                <m:r>
                                  <a:rPr lang="en-US" sz="2800" b="0" i="1" dirty="0">
                                    <a:latin typeface="Cambria Math" panose="02040503050406030204" pitchFamily="18" charset="0"/>
                                    <a:ea typeface="Cambria Math" panose="02040503050406030204" pitchFamily="18" charset="0"/>
                                  </a:rPr>
                                  <m:t>2</m:t>
                                </m:r>
                              </m:e>
                            </m:rad>
                          </m:den>
                        </m:f>
                        <m:sSup>
                          <m:sSupPr>
                            <m:ctrlPr>
                              <a:rPr lang="en-US" sz="280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𝑒</m:t>
                            </m:r>
                          </m:e>
                          <m:sup>
                            <m:r>
                              <a:rPr lang="en-US" sz="2800" b="0" i="1" dirty="0" smtClean="0">
                                <a:latin typeface="Cambria Math" panose="02040503050406030204" pitchFamily="18" charset="0"/>
                                <a:ea typeface="Cambria Math" panose="02040503050406030204" pitchFamily="18" charset="0"/>
                              </a:rPr>
                              <m:t>𝑖</m:t>
                            </m:r>
                            <m:f>
                              <m:fPr>
                                <m:ctrlPr>
                                  <a:rPr lang="en-US" sz="2800" i="1" dirty="0" smtClean="0">
                                    <a:solidFill>
                                      <a:srgbClr val="C15BFF"/>
                                    </a:solidFill>
                                    <a:latin typeface="Cambria Math" panose="02040503050406030204" pitchFamily="18" charset="0"/>
                                    <a:ea typeface="Cambria Math" panose="02040503050406030204" pitchFamily="18" charset="0"/>
                                  </a:rPr>
                                </m:ctrlPr>
                              </m:fPr>
                              <m:num>
                                <m:r>
                                  <a:rPr lang="en-US" sz="2800" b="0" i="1" dirty="0" smtClean="0">
                                    <a:solidFill>
                                      <a:srgbClr val="C15BFF"/>
                                    </a:solidFill>
                                    <a:latin typeface="Cambria Math" panose="02040503050406030204" pitchFamily="18" charset="0"/>
                                    <a:ea typeface="Cambria Math" panose="02040503050406030204" pitchFamily="18" charset="0"/>
                                  </a:rPr>
                                  <m:t>3</m:t>
                                </m:r>
                                <m:r>
                                  <a:rPr lang="en-US" sz="2800" b="0" i="1" dirty="0" smtClean="0">
                                    <a:solidFill>
                                      <a:srgbClr val="C15BFF"/>
                                    </a:solidFill>
                                    <a:latin typeface="Cambria Math" panose="02040503050406030204" pitchFamily="18" charset="0"/>
                                    <a:ea typeface="Cambria Math" panose="02040503050406030204" pitchFamily="18" charset="0"/>
                                  </a:rPr>
                                  <m:t>𝜋</m:t>
                                </m:r>
                              </m:num>
                              <m:den>
                                <m:r>
                                  <a:rPr lang="en-US" sz="2800" b="0" i="1" dirty="0" smtClean="0">
                                    <a:solidFill>
                                      <a:srgbClr val="C15BFF"/>
                                    </a:solidFill>
                                    <a:latin typeface="Cambria Math" panose="02040503050406030204" pitchFamily="18" charset="0"/>
                                    <a:ea typeface="Cambria Math" panose="02040503050406030204" pitchFamily="18" charset="0"/>
                                  </a:rPr>
                                  <m:t>8</m:t>
                                </m:r>
                              </m:den>
                            </m:f>
                          </m:sup>
                        </m:sSup>
                        <m:d>
                          <m:dPr>
                            <m:begChr m:val="|"/>
                            <m:endChr m:val="⟩"/>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1</m:t>
                            </m:r>
                          </m:e>
                        </m:d>
                      </m:oMath>
                    </m:oMathPara>
                  </a14:m>
                  <a:endParaRPr lang="en-US" sz="2800" dirty="0"/>
                </a:p>
              </p:txBody>
            </p:sp>
          </mc:Choice>
          <mc:Fallback xmlns="">
            <p:sp>
              <p:nvSpPr>
                <p:cNvPr id="64" name="Rectangle 63">
                  <a:extLst>
                    <a:ext uri="{FF2B5EF4-FFF2-40B4-BE49-F238E27FC236}">
                      <a16:creationId xmlns:a16="http://schemas.microsoft.com/office/drawing/2014/main" id="{F085E241-46F3-D14D-9EA8-4E04B06562E9}"/>
                    </a:ext>
                  </a:extLst>
                </p:cNvPr>
                <p:cNvSpPr>
                  <a:spLocks noRot="1" noChangeAspect="1" noMove="1" noResize="1" noEditPoints="1" noAdjustHandles="1" noChangeArrowheads="1" noChangeShapeType="1" noTextEdit="1"/>
                </p:cNvSpPr>
                <p:nvPr/>
              </p:nvSpPr>
              <p:spPr>
                <a:xfrm>
                  <a:off x="6722959" y="1080552"/>
                  <a:ext cx="4383700" cy="982320"/>
                </a:xfrm>
                <a:prstGeom prst="rect">
                  <a:avLst/>
                </a:prstGeom>
                <a:blipFill>
                  <a:blip r:embed="rId10"/>
                  <a:stretch>
                    <a:fillRect b="-3846"/>
                  </a:stretch>
                </a:blipFill>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8A95D117-7B48-6142-9440-1E0104248917}"/>
                </a:ext>
              </a:extLst>
            </p:cNvPr>
            <p:cNvCxnSpPr>
              <a:cxnSpLocks/>
            </p:cNvCxnSpPr>
            <p:nvPr/>
          </p:nvCxnSpPr>
          <p:spPr>
            <a:xfrm>
              <a:off x="7251860" y="3034270"/>
              <a:ext cx="0" cy="180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7DC0DAB-6221-4647-A66D-1853388EEE5D}"/>
                </a:ext>
              </a:extLst>
            </p:cNvPr>
            <p:cNvCxnSpPr>
              <a:cxnSpLocks/>
            </p:cNvCxnSpPr>
            <p:nvPr/>
          </p:nvCxnSpPr>
          <p:spPr>
            <a:xfrm>
              <a:off x="7251860" y="4834270"/>
              <a:ext cx="1861268"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679E235-DED9-AC46-9269-CF74C66DB578}"/>
                </a:ext>
              </a:extLst>
            </p:cNvPr>
            <p:cNvSpPr/>
            <p:nvPr/>
          </p:nvSpPr>
          <p:spPr>
            <a:xfrm>
              <a:off x="7445712" y="3750048"/>
              <a:ext cx="540000" cy="1080000"/>
            </a:xfrm>
            <a:prstGeom prst="rect">
              <a:avLst/>
            </a:prstGeom>
            <a:solidFill>
              <a:srgbClr val="3136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D38BF98D-0056-394E-BE6D-23FFFCAD4799}"/>
                    </a:ext>
                  </a:extLst>
                </p:cNvPr>
                <p:cNvSpPr/>
                <p:nvPr/>
              </p:nvSpPr>
              <p:spPr>
                <a:xfrm>
                  <a:off x="6765663" y="4640673"/>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69" name="Rectangle 68">
                  <a:extLst>
                    <a:ext uri="{FF2B5EF4-FFF2-40B4-BE49-F238E27FC236}">
                      <a16:creationId xmlns:a16="http://schemas.microsoft.com/office/drawing/2014/main" id="{D38BF98D-0056-394E-BE6D-23FFFCAD4799}"/>
                    </a:ext>
                  </a:extLst>
                </p:cNvPr>
                <p:cNvSpPr>
                  <a:spLocks noRot="1" noChangeAspect="1" noMove="1" noResize="1" noEditPoints="1" noAdjustHandles="1" noChangeArrowheads="1" noChangeShapeType="1" noTextEdit="1"/>
                </p:cNvSpPr>
                <p:nvPr/>
              </p:nvSpPr>
              <p:spPr>
                <a:xfrm>
                  <a:off x="6765663" y="4640673"/>
                  <a:ext cx="423514"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C0C24C1B-3B50-B440-B7B0-6EEF4A86EE80}"/>
                    </a:ext>
                  </a:extLst>
                </p:cNvPr>
                <p:cNvSpPr/>
                <p:nvPr/>
              </p:nvSpPr>
              <p:spPr>
                <a:xfrm>
                  <a:off x="6824281" y="2859898"/>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70" name="Rectangle 69">
                  <a:extLst>
                    <a:ext uri="{FF2B5EF4-FFF2-40B4-BE49-F238E27FC236}">
                      <a16:creationId xmlns:a16="http://schemas.microsoft.com/office/drawing/2014/main" id="{C0C24C1B-3B50-B440-B7B0-6EEF4A86EE80}"/>
                    </a:ext>
                  </a:extLst>
                </p:cNvPr>
                <p:cNvSpPr>
                  <a:spLocks noRot="1" noChangeAspect="1" noMove="1" noResize="1" noEditPoints="1" noAdjustHandles="1" noChangeArrowheads="1" noChangeShapeType="1" noTextEdit="1"/>
                </p:cNvSpPr>
                <p:nvPr/>
              </p:nvSpPr>
              <p:spPr>
                <a:xfrm>
                  <a:off x="6824281" y="2859898"/>
                  <a:ext cx="42351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444611E5-7606-5742-B5D6-FF256C90E61E}"/>
                    </a:ext>
                  </a:extLst>
                </p:cNvPr>
                <p:cNvSpPr/>
                <p:nvPr/>
              </p:nvSpPr>
              <p:spPr>
                <a:xfrm>
                  <a:off x="7395410" y="4871506"/>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0</m:t>
                            </m:r>
                          </m:e>
                        </m:d>
                      </m:oMath>
                    </m:oMathPara>
                  </a14:m>
                  <a:endParaRPr lang="en-US" sz="2400" dirty="0">
                    <a:solidFill>
                      <a:schemeClr val="tx1"/>
                    </a:solidFill>
                  </a:endParaRPr>
                </a:p>
              </p:txBody>
            </p:sp>
          </mc:Choice>
          <mc:Fallback xmlns="">
            <p:sp>
              <p:nvSpPr>
                <p:cNvPr id="73" name="Rectangle 72">
                  <a:extLst>
                    <a:ext uri="{FF2B5EF4-FFF2-40B4-BE49-F238E27FC236}">
                      <a16:creationId xmlns:a16="http://schemas.microsoft.com/office/drawing/2014/main" id="{444611E5-7606-5742-B5D6-FF256C90E61E}"/>
                    </a:ext>
                  </a:extLst>
                </p:cNvPr>
                <p:cNvSpPr>
                  <a:spLocks noRot="1" noChangeAspect="1" noMove="1" noResize="1" noEditPoints="1" noAdjustHandles="1" noChangeArrowheads="1" noChangeShapeType="1" noTextEdit="1"/>
                </p:cNvSpPr>
                <p:nvPr/>
              </p:nvSpPr>
              <p:spPr>
                <a:xfrm>
                  <a:off x="7395410" y="4871506"/>
                  <a:ext cx="631520"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228F4466-665B-F845-8991-297D05DB57BB}"/>
                    </a:ext>
                  </a:extLst>
                </p:cNvPr>
                <p:cNvSpPr/>
                <p:nvPr/>
              </p:nvSpPr>
              <p:spPr>
                <a:xfrm>
                  <a:off x="8137229" y="4871506"/>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1</m:t>
                            </m:r>
                          </m:e>
                        </m:d>
                      </m:oMath>
                    </m:oMathPara>
                  </a14:m>
                  <a:endParaRPr lang="en-US" sz="2400" dirty="0">
                    <a:solidFill>
                      <a:schemeClr val="tx1"/>
                    </a:solidFill>
                  </a:endParaRPr>
                </a:p>
              </p:txBody>
            </p:sp>
          </mc:Choice>
          <mc:Fallback xmlns="">
            <p:sp>
              <p:nvSpPr>
                <p:cNvPr id="74" name="Rectangle 73">
                  <a:extLst>
                    <a:ext uri="{FF2B5EF4-FFF2-40B4-BE49-F238E27FC236}">
                      <a16:creationId xmlns:a16="http://schemas.microsoft.com/office/drawing/2014/main" id="{228F4466-665B-F845-8991-297D05DB57BB}"/>
                    </a:ext>
                  </a:extLst>
                </p:cNvPr>
                <p:cNvSpPr>
                  <a:spLocks noRot="1" noChangeAspect="1" noMove="1" noResize="1" noEditPoints="1" noAdjustHandles="1" noChangeArrowheads="1" noChangeShapeType="1" noTextEdit="1"/>
                </p:cNvSpPr>
                <p:nvPr/>
              </p:nvSpPr>
              <p:spPr>
                <a:xfrm>
                  <a:off x="8137229" y="4871506"/>
                  <a:ext cx="631519" cy="461665"/>
                </a:xfrm>
                <a:prstGeom prst="rect">
                  <a:avLst/>
                </a:prstGeom>
                <a:blipFill>
                  <a:blip r:embed="rId14"/>
                  <a:stretch>
                    <a:fillRect/>
                  </a:stretch>
                </a:blipFill>
              </p:spPr>
              <p:txBody>
                <a:bodyPr/>
                <a:lstStyle/>
                <a:p>
                  <a:r>
                    <a:rPr lang="en-US">
                      <a:noFill/>
                    </a:rPr>
                    <a:t> </a:t>
                  </a:r>
                </a:p>
              </p:txBody>
            </p:sp>
          </mc:Fallback>
        </mc:AlternateContent>
        <p:sp>
          <p:nvSpPr>
            <p:cNvPr id="76" name="Rectangle 75">
              <a:extLst>
                <a:ext uri="{FF2B5EF4-FFF2-40B4-BE49-F238E27FC236}">
                  <a16:creationId xmlns:a16="http://schemas.microsoft.com/office/drawing/2014/main" id="{5C58E6AA-5B45-2C4E-8363-AB0D27C54192}"/>
                </a:ext>
              </a:extLst>
            </p:cNvPr>
            <p:cNvSpPr/>
            <p:nvPr/>
          </p:nvSpPr>
          <p:spPr>
            <a:xfrm>
              <a:off x="8171388" y="3751540"/>
              <a:ext cx="540000" cy="1080000"/>
            </a:xfrm>
            <a:prstGeom prst="rect">
              <a:avLst/>
            </a:prstGeom>
            <a:solidFill>
              <a:srgbClr val="C15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B4E646A-C9BD-9A47-AB00-A97B3BE1539B}"/>
                    </a:ext>
                  </a:extLst>
                </p:cNvPr>
                <p:cNvSpPr/>
                <p:nvPr/>
              </p:nvSpPr>
              <p:spPr>
                <a:xfrm>
                  <a:off x="6723167" y="3355614"/>
                  <a:ext cx="625620"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ea typeface="Cambria Math" panose="02040503050406030204" pitchFamily="18" charset="0"/>
                              </a:rPr>
                            </m:ctrlPr>
                          </m:fPr>
                          <m:num>
                            <m:r>
                              <a:rPr lang="en-US" sz="2400" i="1" dirty="0">
                                <a:latin typeface="Cambria Math" panose="02040503050406030204" pitchFamily="18" charset="0"/>
                                <a:ea typeface="Cambria Math" panose="02040503050406030204" pitchFamily="18" charset="0"/>
                              </a:rPr>
                              <m:t>1</m:t>
                            </m:r>
                          </m:num>
                          <m:den>
                            <m:rad>
                              <m:radPr>
                                <m:degHide m:val="on"/>
                                <m:ctrlPr>
                                  <a:rPr lang="en-US" sz="2400" i="1" dirty="0">
                                    <a:latin typeface="Cambria Math" panose="02040503050406030204" pitchFamily="18" charset="0"/>
                                    <a:ea typeface="Cambria Math" panose="02040503050406030204" pitchFamily="18" charset="0"/>
                                  </a:rPr>
                                </m:ctrlPr>
                              </m:radPr>
                              <m:deg/>
                              <m:e>
                                <m:r>
                                  <a:rPr lang="en-US" sz="2400" i="1" dirty="0">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3" name="Rectangle 12">
                  <a:extLst>
                    <a:ext uri="{FF2B5EF4-FFF2-40B4-BE49-F238E27FC236}">
                      <a16:creationId xmlns:a16="http://schemas.microsoft.com/office/drawing/2014/main" id="{9B4E646A-C9BD-9A47-AB00-A97B3BE1539B}"/>
                    </a:ext>
                  </a:extLst>
                </p:cNvPr>
                <p:cNvSpPr>
                  <a:spLocks noRot="1" noChangeAspect="1" noMove="1" noResize="1" noEditPoints="1" noAdjustHandles="1" noChangeArrowheads="1" noChangeShapeType="1" noTextEdit="1"/>
                </p:cNvSpPr>
                <p:nvPr/>
              </p:nvSpPr>
              <p:spPr>
                <a:xfrm>
                  <a:off x="6723167" y="3355614"/>
                  <a:ext cx="625620" cy="855299"/>
                </a:xfrm>
                <a:prstGeom prst="rect">
                  <a:avLst/>
                </a:prstGeom>
                <a:blipFill>
                  <a:blip r:embed="rId15"/>
                  <a:stretch>
                    <a:fillRect b="-1471"/>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503314D4-80A8-A144-83FF-1B40C9E05D3D}"/>
                </a:ext>
              </a:extLst>
            </p:cNvPr>
            <p:cNvGrpSpPr/>
            <p:nvPr/>
          </p:nvGrpSpPr>
          <p:grpSpPr>
            <a:xfrm>
              <a:off x="9305673" y="3090730"/>
              <a:ext cx="2455395" cy="2285391"/>
              <a:chOff x="8313183" y="4451319"/>
              <a:chExt cx="2455395" cy="2285391"/>
            </a:xfrm>
          </p:grpSpPr>
          <p:pic>
            <p:nvPicPr>
              <p:cNvPr id="16" name="Picture 15">
                <a:extLst>
                  <a:ext uri="{FF2B5EF4-FFF2-40B4-BE49-F238E27FC236}">
                    <a16:creationId xmlns:a16="http://schemas.microsoft.com/office/drawing/2014/main" id="{1F2F3444-2526-7E42-A75D-52B48A204E72}"/>
                  </a:ext>
                </a:extLst>
              </p:cNvPr>
              <p:cNvPicPr>
                <a:picLocks noChangeAspect="1"/>
              </p:cNvPicPr>
              <p:nvPr/>
            </p:nvPicPr>
            <p:blipFill>
              <a:blip r:embed="rId16"/>
              <a:stretch>
                <a:fillRect/>
              </a:stretch>
            </p:blipFill>
            <p:spPr>
              <a:xfrm>
                <a:off x="8790056" y="4904558"/>
                <a:ext cx="1317487" cy="1317487"/>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E37727E-37C8-F14E-A15D-410220A1FC34}"/>
                      </a:ext>
                    </a:extLst>
                  </p:cNvPr>
                  <p:cNvSpPr/>
                  <p:nvPr/>
                </p:nvSpPr>
                <p:spPr>
                  <a:xfrm>
                    <a:off x="8313183" y="5361374"/>
                    <a:ext cx="4429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Cambria Math" panose="02040503050406030204" pitchFamily="18" charset="0"/>
                            </a:rPr>
                            <m:t>𝜋</m:t>
                          </m:r>
                        </m:oMath>
                      </m:oMathPara>
                    </a14:m>
                    <a:endParaRPr lang="en-US" sz="2400" dirty="0"/>
                  </a:p>
                </p:txBody>
              </p:sp>
            </mc:Choice>
            <mc:Fallback xmlns="">
              <p:sp>
                <p:nvSpPr>
                  <p:cNvPr id="17" name="Rectangle 16">
                    <a:extLst>
                      <a:ext uri="{FF2B5EF4-FFF2-40B4-BE49-F238E27FC236}">
                        <a16:creationId xmlns:a16="http://schemas.microsoft.com/office/drawing/2014/main" id="{8E37727E-37C8-F14E-A15D-410220A1FC34}"/>
                      </a:ext>
                    </a:extLst>
                  </p:cNvPr>
                  <p:cNvSpPr>
                    <a:spLocks noRot="1" noChangeAspect="1" noMove="1" noResize="1" noEditPoints="1" noAdjustHandles="1" noChangeArrowheads="1" noChangeShapeType="1" noTextEdit="1"/>
                  </p:cNvSpPr>
                  <p:nvPr/>
                </p:nvSpPr>
                <p:spPr>
                  <a:xfrm>
                    <a:off x="8313183" y="5361374"/>
                    <a:ext cx="442942"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1AD5736E-590E-3E4A-B2F1-45556448958A}"/>
                      </a:ext>
                    </a:extLst>
                  </p:cNvPr>
                  <p:cNvSpPr/>
                  <p:nvPr/>
                </p:nvSpPr>
                <p:spPr>
                  <a:xfrm>
                    <a:off x="10223349" y="5130540"/>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77" name="Rectangle 76">
                    <a:extLst>
                      <a:ext uri="{FF2B5EF4-FFF2-40B4-BE49-F238E27FC236}">
                        <a16:creationId xmlns:a16="http://schemas.microsoft.com/office/drawing/2014/main" id="{1AD5736E-590E-3E4A-B2F1-45556448958A}"/>
                      </a:ext>
                    </a:extLst>
                  </p:cNvPr>
                  <p:cNvSpPr>
                    <a:spLocks noRot="1" noChangeAspect="1" noMove="1" noResize="1" noEditPoints="1" noAdjustHandles="1" noChangeArrowheads="1" noChangeShapeType="1" noTextEdit="1"/>
                  </p:cNvSpPr>
                  <p:nvPr/>
                </p:nvSpPr>
                <p:spPr>
                  <a:xfrm>
                    <a:off x="10223349" y="5130540"/>
                    <a:ext cx="42351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2452084E-E085-F143-8E02-6BC6343630B5}"/>
                      </a:ext>
                    </a:extLst>
                  </p:cNvPr>
                  <p:cNvSpPr/>
                  <p:nvPr/>
                </p:nvSpPr>
                <p:spPr>
                  <a:xfrm>
                    <a:off x="9070252" y="4451319"/>
                    <a:ext cx="7635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𝜋</m:t>
                          </m:r>
                          <m:r>
                            <a:rPr lang="en-US" sz="2400" b="0" i="1" dirty="0" smtClean="0">
                              <a:latin typeface="Cambria Math" panose="02040503050406030204" pitchFamily="18" charset="0"/>
                              <a:ea typeface="Cambria Math" panose="02040503050406030204" pitchFamily="18" charset="0"/>
                            </a:rPr>
                            <m:t>/2</m:t>
                          </m:r>
                        </m:oMath>
                      </m:oMathPara>
                    </a14:m>
                    <a:endParaRPr lang="en-US" sz="2400" dirty="0"/>
                  </a:p>
                </p:txBody>
              </p:sp>
            </mc:Choice>
            <mc:Fallback xmlns="">
              <p:sp>
                <p:nvSpPr>
                  <p:cNvPr id="78" name="Rectangle 77">
                    <a:extLst>
                      <a:ext uri="{FF2B5EF4-FFF2-40B4-BE49-F238E27FC236}">
                        <a16:creationId xmlns:a16="http://schemas.microsoft.com/office/drawing/2014/main" id="{2452084E-E085-F143-8E02-6BC6343630B5}"/>
                      </a:ext>
                    </a:extLst>
                  </p:cNvPr>
                  <p:cNvSpPr>
                    <a:spLocks noRot="1" noChangeAspect="1" noMove="1" noResize="1" noEditPoints="1" noAdjustHandles="1" noChangeArrowheads="1" noChangeShapeType="1" noTextEdit="1"/>
                  </p:cNvSpPr>
                  <p:nvPr/>
                </p:nvSpPr>
                <p:spPr>
                  <a:xfrm>
                    <a:off x="9070252" y="4451319"/>
                    <a:ext cx="763542" cy="461665"/>
                  </a:xfrm>
                  <a:prstGeom prst="rect">
                    <a:avLst/>
                  </a:prstGeom>
                  <a:blipFill>
                    <a:blip r:embed="rId19"/>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688B4DCE-4272-C84A-98F7-3A0766BDB0CD}"/>
                      </a:ext>
                    </a:extLst>
                  </p:cNvPr>
                  <p:cNvSpPr/>
                  <p:nvPr/>
                </p:nvSpPr>
                <p:spPr>
                  <a:xfrm>
                    <a:off x="8982068" y="6275045"/>
                    <a:ext cx="9334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ea typeface="Cambria Math" panose="02040503050406030204" pitchFamily="18" charset="0"/>
                            </a:rPr>
                            <m:t>3</m:t>
                          </m:r>
                          <m:r>
                            <a:rPr lang="en-US" sz="2400" i="1" dirty="0" smtClean="0">
                              <a:latin typeface="Cambria Math" panose="02040503050406030204" pitchFamily="18" charset="0"/>
                              <a:ea typeface="Cambria Math" panose="02040503050406030204" pitchFamily="18" charset="0"/>
                            </a:rPr>
                            <m:t>𝜋</m:t>
                          </m:r>
                          <m:r>
                            <a:rPr lang="en-US" sz="2400" b="0" i="1" dirty="0" smtClean="0">
                              <a:latin typeface="Cambria Math" panose="02040503050406030204" pitchFamily="18" charset="0"/>
                              <a:ea typeface="Cambria Math" panose="02040503050406030204" pitchFamily="18" charset="0"/>
                            </a:rPr>
                            <m:t>/2</m:t>
                          </m:r>
                        </m:oMath>
                      </m:oMathPara>
                    </a14:m>
                    <a:endParaRPr lang="en-US" sz="2400" dirty="0"/>
                  </a:p>
                </p:txBody>
              </p:sp>
            </mc:Choice>
            <mc:Fallback xmlns="">
              <p:sp>
                <p:nvSpPr>
                  <p:cNvPr id="79" name="Rectangle 78">
                    <a:extLst>
                      <a:ext uri="{FF2B5EF4-FFF2-40B4-BE49-F238E27FC236}">
                        <a16:creationId xmlns:a16="http://schemas.microsoft.com/office/drawing/2014/main" id="{688B4DCE-4272-C84A-98F7-3A0766BDB0CD}"/>
                      </a:ext>
                    </a:extLst>
                  </p:cNvPr>
                  <p:cNvSpPr>
                    <a:spLocks noRot="1" noChangeAspect="1" noMove="1" noResize="1" noEditPoints="1" noAdjustHandles="1" noChangeArrowheads="1" noChangeShapeType="1" noTextEdit="1"/>
                  </p:cNvSpPr>
                  <p:nvPr/>
                </p:nvSpPr>
                <p:spPr>
                  <a:xfrm>
                    <a:off x="8982068" y="6275045"/>
                    <a:ext cx="933461" cy="461665"/>
                  </a:xfrm>
                  <a:prstGeom prst="rect">
                    <a:avLst/>
                  </a:prstGeom>
                  <a:blipFill>
                    <a:blip r:embed="rId20"/>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D68A950-1052-404E-9A58-69CC9675BEDC}"/>
                      </a:ext>
                    </a:extLst>
                  </p:cNvPr>
                  <p:cNvSpPr/>
                  <p:nvPr/>
                </p:nvSpPr>
                <p:spPr>
                  <a:xfrm>
                    <a:off x="10155718" y="5592206"/>
                    <a:ext cx="6128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rPr>
                            <m:t>2</m:t>
                          </m:r>
                          <m:r>
                            <a:rPr lang="en-US" sz="2400" i="1" dirty="0">
                              <a:latin typeface="Cambria Math" panose="02040503050406030204" pitchFamily="18" charset="0"/>
                              <a:ea typeface="Cambria Math" panose="02040503050406030204" pitchFamily="18" charset="0"/>
                            </a:rPr>
                            <m:t>𝜋</m:t>
                          </m:r>
                        </m:oMath>
                      </m:oMathPara>
                    </a14:m>
                    <a:endParaRPr lang="en-US" sz="2400" dirty="0"/>
                  </a:p>
                </p:txBody>
              </p:sp>
            </mc:Choice>
            <mc:Fallback xmlns="">
              <p:sp>
                <p:nvSpPr>
                  <p:cNvPr id="32" name="Rectangle 31">
                    <a:extLst>
                      <a:ext uri="{FF2B5EF4-FFF2-40B4-BE49-F238E27FC236}">
                        <a16:creationId xmlns:a16="http://schemas.microsoft.com/office/drawing/2014/main" id="{6D68A950-1052-404E-9A58-69CC9675BEDC}"/>
                      </a:ext>
                    </a:extLst>
                  </p:cNvPr>
                  <p:cNvSpPr>
                    <a:spLocks noRot="1" noChangeAspect="1" noMove="1" noResize="1" noEditPoints="1" noAdjustHandles="1" noChangeArrowheads="1" noChangeShapeType="1" noTextEdit="1"/>
                  </p:cNvSpPr>
                  <p:nvPr/>
                </p:nvSpPr>
                <p:spPr>
                  <a:xfrm>
                    <a:off x="10155718" y="5592206"/>
                    <a:ext cx="612860" cy="461665"/>
                  </a:xfrm>
                  <a:prstGeom prst="rect">
                    <a:avLst/>
                  </a:prstGeom>
                  <a:blipFill>
                    <a:blip r:embed="rId21"/>
                    <a:stretch>
                      <a:fillRect/>
                    </a:stretch>
                  </a:blipFill>
                </p:spPr>
                <p:txBody>
                  <a:bodyPr/>
                  <a:lstStyle/>
                  <a:p>
                    <a:r>
                      <a:rPr lang="en-US">
                        <a:noFill/>
                      </a:rPr>
                      <a:t> </a:t>
                    </a:r>
                  </a:p>
                </p:txBody>
              </p:sp>
            </mc:Fallback>
          </mc:AlternateContent>
        </p:grpSp>
      </p:grpSp>
      <p:cxnSp>
        <p:nvCxnSpPr>
          <p:cNvPr id="5" name="Straight Connector 4">
            <a:extLst>
              <a:ext uri="{FF2B5EF4-FFF2-40B4-BE49-F238E27FC236}">
                <a16:creationId xmlns:a16="http://schemas.microsoft.com/office/drawing/2014/main" id="{E4D19A59-BA6F-E043-9602-8D115CFF9E0E}"/>
              </a:ext>
            </a:extLst>
          </p:cNvPr>
          <p:cNvCxnSpPr>
            <a:cxnSpLocks/>
          </p:cNvCxnSpPr>
          <p:nvPr/>
        </p:nvCxnSpPr>
        <p:spPr>
          <a:xfrm>
            <a:off x="11191290" y="4231617"/>
            <a:ext cx="544819"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99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8EB21868-D197-704C-8CE6-E77A586744B1}"/>
              </a:ext>
            </a:extLst>
          </p:cNvPr>
          <p:cNvSpPr/>
          <p:nvPr/>
        </p:nvSpPr>
        <p:spPr>
          <a:xfrm>
            <a:off x="120866" y="1005830"/>
            <a:ext cx="4760577" cy="2404516"/>
          </a:xfrm>
          <a:prstGeom prst="roundRect">
            <a:avLst>
              <a:gd name="adj" fmla="val 10533"/>
            </a:avLst>
          </a:prstGeom>
          <a:solidFill>
            <a:srgbClr val="FFFD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ABFBBFF-2076-D143-B83D-3E5E4658F4F2}"/>
              </a:ext>
            </a:extLst>
          </p:cNvPr>
          <p:cNvSpPr>
            <a:spLocks noGrp="1"/>
          </p:cNvSpPr>
          <p:nvPr>
            <p:ph type="title"/>
          </p:nvPr>
        </p:nvSpPr>
        <p:spPr/>
        <p:txBody>
          <a:bodyPr/>
          <a:lstStyle/>
          <a:p>
            <a:r>
              <a:rPr lang="en-US" dirty="0" err="1"/>
              <a:t>Matrrces</a:t>
            </a:r>
            <a:endParaRPr lang="en-US" dirty="0"/>
          </a:p>
        </p:txBody>
      </p:sp>
      <p:sp>
        <p:nvSpPr>
          <p:cNvPr id="2" name="Slide Number Placeholder 1">
            <a:extLst>
              <a:ext uri="{FF2B5EF4-FFF2-40B4-BE49-F238E27FC236}">
                <a16:creationId xmlns:a16="http://schemas.microsoft.com/office/drawing/2014/main" id="{DDE29D92-746D-8B40-B3F0-D843C216C831}"/>
              </a:ext>
            </a:extLst>
          </p:cNvPr>
          <p:cNvSpPr>
            <a:spLocks noGrp="1"/>
          </p:cNvSpPr>
          <p:nvPr>
            <p:ph type="sldNum" sz="quarter" idx="12"/>
          </p:nvPr>
        </p:nvSpPr>
        <p:spPr/>
        <p:txBody>
          <a:bodyPr/>
          <a:lstStyle/>
          <a:p>
            <a:fld id="{591A223C-FA10-BC46-A853-03BA373D023C}" type="slidenum">
              <a:rPr lang="en-US" smtClean="0"/>
              <a:pPr/>
              <a:t>25</a:t>
            </a:fld>
            <a:endParaRPr lang="en-US"/>
          </a:p>
        </p:txBody>
      </p:sp>
      <p:sp>
        <p:nvSpPr>
          <p:cNvPr id="5" name="Rectangle 4">
            <a:extLst>
              <a:ext uri="{FF2B5EF4-FFF2-40B4-BE49-F238E27FC236}">
                <a16:creationId xmlns:a16="http://schemas.microsoft.com/office/drawing/2014/main" id="{B4806A6A-AF0F-2443-AF07-4ACB2322C170}"/>
              </a:ext>
            </a:extLst>
          </p:cNvPr>
          <p:cNvSpPr/>
          <p:nvPr/>
        </p:nvSpPr>
        <p:spPr>
          <a:xfrm>
            <a:off x="213191" y="1496096"/>
            <a:ext cx="4668252" cy="707886"/>
          </a:xfrm>
          <a:prstGeom prst="rect">
            <a:avLst/>
          </a:prstGeom>
        </p:spPr>
        <p:txBody>
          <a:bodyPr wrap="square">
            <a:spAutoFit/>
          </a:bodyPr>
          <a:lstStyle/>
          <a:p>
            <a:pPr algn="ctr"/>
            <a:r>
              <a:rPr lang="en-ZA" sz="2000" dirty="0"/>
              <a:t>A matrix is a rectangular array of numbers organized into rows and columns.</a:t>
            </a:r>
          </a:p>
        </p:txBody>
      </p:sp>
      <p:sp>
        <p:nvSpPr>
          <p:cNvPr id="8" name="TextBox 7">
            <a:extLst>
              <a:ext uri="{FF2B5EF4-FFF2-40B4-BE49-F238E27FC236}">
                <a16:creationId xmlns:a16="http://schemas.microsoft.com/office/drawing/2014/main" id="{9D5FD642-95A3-9640-8E56-AF1136B375E1}"/>
              </a:ext>
            </a:extLst>
          </p:cNvPr>
          <p:cNvSpPr txBox="1"/>
          <p:nvPr/>
        </p:nvSpPr>
        <p:spPr>
          <a:xfrm>
            <a:off x="1998291" y="1005597"/>
            <a:ext cx="1005725" cy="461665"/>
          </a:xfrm>
          <a:prstGeom prst="rect">
            <a:avLst/>
          </a:prstGeom>
          <a:noFill/>
        </p:spPr>
        <p:txBody>
          <a:bodyPr wrap="none" rtlCol="0">
            <a:spAutoFit/>
          </a:bodyPr>
          <a:lstStyle/>
          <a:p>
            <a:r>
              <a:rPr lang="en-US" sz="2400" dirty="0"/>
              <a:t>Matrix</a:t>
            </a:r>
          </a:p>
        </p:txBody>
      </p:sp>
      <p:grpSp>
        <p:nvGrpSpPr>
          <p:cNvPr id="71" name="Group 70">
            <a:extLst>
              <a:ext uri="{FF2B5EF4-FFF2-40B4-BE49-F238E27FC236}">
                <a16:creationId xmlns:a16="http://schemas.microsoft.com/office/drawing/2014/main" id="{0397E209-8A16-4E49-A9A2-4C36897A21DD}"/>
              </a:ext>
            </a:extLst>
          </p:cNvPr>
          <p:cNvGrpSpPr/>
          <p:nvPr/>
        </p:nvGrpSpPr>
        <p:grpSpPr>
          <a:xfrm>
            <a:off x="8982984" y="1002488"/>
            <a:ext cx="3081197" cy="2407858"/>
            <a:chOff x="8982984" y="1002488"/>
            <a:chExt cx="3081197" cy="2407858"/>
          </a:xfrm>
        </p:grpSpPr>
        <p:sp>
          <p:nvSpPr>
            <p:cNvPr id="18" name="Rounded Rectangle 17">
              <a:extLst>
                <a:ext uri="{FF2B5EF4-FFF2-40B4-BE49-F238E27FC236}">
                  <a16:creationId xmlns:a16="http://schemas.microsoft.com/office/drawing/2014/main" id="{6F4CA889-3EDE-2A4D-B6B6-7CA2639F6BD1}"/>
                </a:ext>
              </a:extLst>
            </p:cNvPr>
            <p:cNvSpPr/>
            <p:nvPr/>
          </p:nvSpPr>
          <p:spPr>
            <a:xfrm>
              <a:off x="8982984" y="1005830"/>
              <a:ext cx="3081197" cy="2404516"/>
            </a:xfrm>
            <a:prstGeom prst="roundRect">
              <a:avLst>
                <a:gd name="adj" fmla="val 11147"/>
              </a:avLst>
            </a:prstGeom>
            <a:solidFill>
              <a:srgbClr val="D4F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5F81BF3-665E-7349-9835-F208A5C23CDC}"/>
                </a:ext>
              </a:extLst>
            </p:cNvPr>
            <p:cNvSpPr txBox="1"/>
            <p:nvPr/>
          </p:nvSpPr>
          <p:spPr>
            <a:xfrm>
              <a:off x="9763598" y="1002488"/>
              <a:ext cx="1519968" cy="461665"/>
            </a:xfrm>
            <a:prstGeom prst="rect">
              <a:avLst/>
            </a:prstGeom>
            <a:noFill/>
          </p:spPr>
          <p:txBody>
            <a:bodyPr wrap="none" rtlCol="0">
              <a:spAutoFit/>
            </a:bodyPr>
            <a:lstStyle/>
            <a:p>
              <a:r>
                <a:rPr lang="en-US" sz="2400" dirty="0"/>
                <a:t>Dimension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A866458-F36E-124F-B670-C4A97DA94321}"/>
                    </a:ext>
                  </a:extLst>
                </p:cNvPr>
                <p:cNvSpPr txBox="1"/>
                <p:nvPr/>
              </p:nvSpPr>
              <p:spPr>
                <a:xfrm>
                  <a:off x="9669254" y="1508203"/>
                  <a:ext cx="14341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𝐴</m:t>
                        </m:r>
                        <m:r>
                          <a:rPr lang="en-US" sz="2400" i="1" smtClean="0">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ea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ℂ</m:t>
                            </m:r>
                          </m:e>
                          <m:sup>
                            <m:r>
                              <a:rPr lang="en-US" sz="2400" b="0" i="1" smtClean="0">
                                <a:latin typeface="Cambria Math" panose="02040503050406030204" pitchFamily="18" charset="0"/>
                                <a:ea typeface="Cambria Math" panose="02040503050406030204" pitchFamily="18" charset="0"/>
                              </a:rPr>
                              <m:t>2×2</m:t>
                            </m:r>
                          </m:sup>
                        </m:sSup>
                      </m:oMath>
                    </m:oMathPara>
                  </a14:m>
                  <a:endParaRPr lang="en-US" sz="2400" dirty="0"/>
                </a:p>
              </p:txBody>
            </p:sp>
          </mc:Choice>
          <mc:Fallback xmlns="">
            <p:sp>
              <p:nvSpPr>
                <p:cNvPr id="10" name="TextBox 9">
                  <a:extLst>
                    <a:ext uri="{FF2B5EF4-FFF2-40B4-BE49-F238E27FC236}">
                      <a16:creationId xmlns:a16="http://schemas.microsoft.com/office/drawing/2014/main" id="{AA866458-F36E-124F-B670-C4A97DA94321}"/>
                    </a:ext>
                  </a:extLst>
                </p:cNvPr>
                <p:cNvSpPr txBox="1">
                  <a:spLocks noRot="1" noChangeAspect="1" noMove="1" noResize="1" noEditPoints="1" noAdjustHandles="1" noChangeArrowheads="1" noChangeShapeType="1" noTextEdit="1"/>
                </p:cNvSpPr>
                <p:nvPr/>
              </p:nvSpPr>
              <p:spPr>
                <a:xfrm>
                  <a:off x="9669254" y="1508203"/>
                  <a:ext cx="143417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3E9BE4-B45E-3141-B352-CB1B2FFBC846}"/>
                    </a:ext>
                  </a:extLst>
                </p:cNvPr>
                <p:cNvSpPr txBox="1"/>
                <p:nvPr/>
              </p:nvSpPr>
              <p:spPr>
                <a:xfrm>
                  <a:off x="8982984" y="1970204"/>
                  <a:ext cx="2963209" cy="1323439"/>
                </a:xfrm>
                <a:prstGeom prst="rect">
                  <a:avLst/>
                </a:prstGeom>
                <a:noFill/>
              </p:spPr>
              <p:txBody>
                <a:bodyPr wrap="square" rtlCol="0">
                  <a:spAutoFit/>
                </a:bodyPr>
                <a:lstStyle/>
                <a:p>
                  <a:pPr algn="ctr"/>
                  <a:r>
                    <a:rPr lang="en-US" sz="2000" dirty="0"/>
                    <a:t>Matrix dimension is determined by its number of rows and columns,</a:t>
                  </a:r>
                  <a:br>
                    <a:rPr lang="en-US" sz="2000" dirty="0"/>
                  </a:br>
                  <a:r>
                    <a:rPr lang="en-US" sz="2000" dirty="0"/>
                    <a:t>e.g. </a:t>
                  </a:r>
                  <a14:m>
                    <m:oMath xmlns:m="http://schemas.openxmlformats.org/officeDocument/2006/math">
                      <m:r>
                        <a:rPr lang="en-US" sz="2000" i="1">
                          <a:latin typeface="Cambria Math" panose="02040503050406030204" pitchFamily="18" charset="0"/>
                          <a:ea typeface="Cambria Math" panose="02040503050406030204" pitchFamily="18" charset="0"/>
                        </a:rPr>
                        <m:t>2×2</m:t>
                      </m:r>
                    </m:oMath>
                  </a14:m>
                  <a:r>
                    <a:rPr lang="en-US" sz="2000" dirty="0"/>
                    <a:t>.</a:t>
                  </a:r>
                </a:p>
              </p:txBody>
            </p:sp>
          </mc:Choice>
          <mc:Fallback xmlns="">
            <p:sp>
              <p:nvSpPr>
                <p:cNvPr id="11" name="TextBox 10">
                  <a:extLst>
                    <a:ext uri="{FF2B5EF4-FFF2-40B4-BE49-F238E27FC236}">
                      <a16:creationId xmlns:a16="http://schemas.microsoft.com/office/drawing/2014/main" id="{403E9BE4-B45E-3141-B352-CB1B2FFBC846}"/>
                    </a:ext>
                  </a:extLst>
                </p:cNvPr>
                <p:cNvSpPr txBox="1">
                  <a:spLocks noRot="1" noChangeAspect="1" noMove="1" noResize="1" noEditPoints="1" noAdjustHandles="1" noChangeArrowheads="1" noChangeShapeType="1" noTextEdit="1"/>
                </p:cNvSpPr>
                <p:nvPr/>
              </p:nvSpPr>
              <p:spPr>
                <a:xfrm>
                  <a:off x="8982984" y="1970204"/>
                  <a:ext cx="2963209" cy="1323439"/>
                </a:xfrm>
                <a:prstGeom prst="rect">
                  <a:avLst/>
                </a:prstGeom>
                <a:blipFill>
                  <a:blip r:embed="rId4"/>
                  <a:stretch>
                    <a:fillRect l="-426" t="-1905" r="-2553" b="-6667"/>
                  </a:stretch>
                </a:blipFill>
              </p:spPr>
              <p:txBody>
                <a:bodyPr/>
                <a:lstStyle/>
                <a:p>
                  <a:r>
                    <a:rPr lang="en-US">
                      <a:noFill/>
                    </a:rPr>
                    <a:t> </a:t>
                  </a:r>
                </a:p>
              </p:txBody>
            </p:sp>
          </mc:Fallback>
        </mc:AlternateContent>
      </p:grpSp>
      <p:grpSp>
        <p:nvGrpSpPr>
          <p:cNvPr id="70" name="Group 69">
            <a:extLst>
              <a:ext uri="{FF2B5EF4-FFF2-40B4-BE49-F238E27FC236}">
                <a16:creationId xmlns:a16="http://schemas.microsoft.com/office/drawing/2014/main" id="{505A61DB-6A0A-414C-BC21-C873C4C0818A}"/>
              </a:ext>
            </a:extLst>
          </p:cNvPr>
          <p:cNvGrpSpPr/>
          <p:nvPr/>
        </p:nvGrpSpPr>
        <p:grpSpPr>
          <a:xfrm>
            <a:off x="4982973" y="1005830"/>
            <a:ext cx="3873013" cy="2404516"/>
            <a:chOff x="4982973" y="1005830"/>
            <a:chExt cx="3873013" cy="2404516"/>
          </a:xfrm>
        </p:grpSpPr>
        <p:sp>
          <p:nvSpPr>
            <p:cNvPr id="19" name="Rounded Rectangle 18">
              <a:extLst>
                <a:ext uri="{FF2B5EF4-FFF2-40B4-BE49-F238E27FC236}">
                  <a16:creationId xmlns:a16="http://schemas.microsoft.com/office/drawing/2014/main" id="{C5850289-780B-174B-A739-803C7A790687}"/>
                </a:ext>
              </a:extLst>
            </p:cNvPr>
            <p:cNvSpPr/>
            <p:nvPr/>
          </p:nvSpPr>
          <p:spPr>
            <a:xfrm>
              <a:off x="4996733" y="1005830"/>
              <a:ext cx="3859253" cy="2404516"/>
            </a:xfrm>
            <a:prstGeom prst="roundRect">
              <a:avLst>
                <a:gd name="adj" fmla="val 9920"/>
              </a:avLst>
            </a:prstGeom>
            <a:solidFill>
              <a:srgbClr val="C7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98D47715-7660-5342-A485-58AEB1CF3DED}"/>
                </a:ext>
              </a:extLst>
            </p:cNvPr>
            <p:cNvSpPr/>
            <p:nvPr/>
          </p:nvSpPr>
          <p:spPr>
            <a:xfrm>
              <a:off x="5072275" y="2373931"/>
              <a:ext cx="1562400" cy="360000"/>
            </a:xfrm>
            <a:prstGeom prst="roundRect">
              <a:avLst/>
            </a:prstGeom>
            <a:solidFill>
              <a:srgbClr val="FA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8155BD01-5FA4-BE4F-ADF5-6B459B272951}"/>
                </a:ext>
              </a:extLst>
            </p:cNvPr>
            <p:cNvSpPr/>
            <p:nvPr/>
          </p:nvSpPr>
          <p:spPr>
            <a:xfrm>
              <a:off x="5072275" y="2746412"/>
              <a:ext cx="1562400" cy="360000"/>
            </a:xfrm>
            <a:prstGeom prst="roundRect">
              <a:avLst/>
            </a:prstGeom>
            <a:solidFill>
              <a:srgbClr val="FFDE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C6B9F19-AD4C-704D-9196-CA8E2DF8AB2F}"/>
                    </a:ext>
                  </a:extLst>
                </p:cNvPr>
                <p:cNvSpPr txBox="1"/>
                <p:nvPr/>
              </p:nvSpPr>
              <p:spPr>
                <a:xfrm>
                  <a:off x="5643399" y="1034362"/>
                  <a:ext cx="2558970" cy="491417"/>
                </a:xfrm>
                <a:prstGeom prst="rect">
                  <a:avLst/>
                </a:prstGeom>
                <a:noFill/>
              </p:spPr>
              <p:txBody>
                <a:bodyPr wrap="none" rtlCol="0">
                  <a:spAutoFit/>
                </a:bodyPr>
                <a:lstStyle/>
                <a:p>
                  <a:r>
                    <a:rPr lang="en-US" sz="2400" dirty="0"/>
                    <a:t>Matrix element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𝑖𝑗</m:t>
                          </m:r>
                        </m:sub>
                      </m:sSub>
                    </m:oMath>
                  </a14:m>
                  <a:endParaRPr lang="en-US" sz="2400" dirty="0"/>
                </a:p>
              </p:txBody>
            </p:sp>
          </mc:Choice>
          <mc:Fallback xmlns="">
            <p:sp>
              <p:nvSpPr>
                <p:cNvPr id="12" name="TextBox 11">
                  <a:extLst>
                    <a:ext uri="{FF2B5EF4-FFF2-40B4-BE49-F238E27FC236}">
                      <a16:creationId xmlns:a16="http://schemas.microsoft.com/office/drawing/2014/main" id="{AC6B9F19-AD4C-704D-9196-CA8E2DF8AB2F}"/>
                    </a:ext>
                  </a:extLst>
                </p:cNvPr>
                <p:cNvSpPr txBox="1">
                  <a:spLocks noRot="1" noChangeAspect="1" noMove="1" noResize="1" noEditPoints="1" noAdjustHandles="1" noChangeArrowheads="1" noChangeShapeType="1" noTextEdit="1"/>
                </p:cNvSpPr>
                <p:nvPr/>
              </p:nvSpPr>
              <p:spPr>
                <a:xfrm>
                  <a:off x="5643399" y="1034362"/>
                  <a:ext cx="2558970" cy="491417"/>
                </a:xfrm>
                <a:prstGeom prst="rect">
                  <a:avLst/>
                </a:prstGeom>
                <a:blipFill>
                  <a:blip r:embed="rId5"/>
                  <a:stretch>
                    <a:fillRect l="-3960" t="-5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0F84F61-E437-DF4E-98D7-AAADB3BB06E5}"/>
                    </a:ext>
                  </a:extLst>
                </p:cNvPr>
                <p:cNvSpPr txBox="1"/>
                <p:nvPr/>
              </p:nvSpPr>
              <p:spPr>
                <a:xfrm>
                  <a:off x="5284581" y="1496096"/>
                  <a:ext cx="3423921" cy="732573"/>
                </a:xfrm>
                <a:prstGeom prst="rect">
                  <a:avLst/>
                </a:prstGeom>
                <a:noFill/>
              </p:spPr>
              <p:txBody>
                <a:bodyPr wrap="square" rtlCol="0">
                  <a:spAutoFit/>
                </a:bodyPr>
                <a:lstStyle/>
                <a:p>
                  <a:pPr algn="ctr"/>
                  <a14:m>
                    <m:oMath xmlns:m="http://schemas.openxmlformats.org/officeDocument/2006/math">
                      <m:sSub>
                        <m:sSubPr>
                          <m:ctrlPr>
                            <a:rPr lang="en-ZA" sz="2000" i="1" smtClean="0">
                              <a:latin typeface="Cambria Math" panose="02040503050406030204" pitchFamily="18" charset="0"/>
                            </a:rPr>
                          </m:ctrlPr>
                        </m:sSubPr>
                        <m:e>
                          <m:r>
                            <a:rPr lang="sr-Latn-RS" sz="2000" i="1">
                              <a:latin typeface="Cambria Math" panose="02040503050406030204" pitchFamily="18" charset="0"/>
                            </a:rPr>
                            <m:t>𝑎</m:t>
                          </m:r>
                        </m:e>
                        <m:sub>
                          <m:r>
                            <a:rPr lang="en-US" sz="2000" i="1">
                              <a:latin typeface="Cambria Math" panose="02040503050406030204" pitchFamily="18" charset="0"/>
                            </a:rPr>
                            <m:t>𝑖𝑗</m:t>
                          </m:r>
                        </m:sub>
                      </m:sSub>
                    </m:oMath>
                  </a14:m>
                  <a:r>
                    <a:rPr lang="en-US" sz="2000" dirty="0"/>
                    <a:t> is the element in row </a:t>
                  </a:r>
                  <a14:m>
                    <m:oMath xmlns:m="http://schemas.openxmlformats.org/officeDocument/2006/math">
                      <m:r>
                        <a:rPr lang="en-US" sz="2000" i="1">
                          <a:latin typeface="Cambria Math" panose="02040503050406030204" pitchFamily="18" charset="0"/>
                        </a:rPr>
                        <m:t>𝑖</m:t>
                      </m:r>
                    </m:oMath>
                  </a14:m>
                  <a:r>
                    <a:rPr lang="en-US" sz="2000" dirty="0"/>
                    <a:t> and column </a:t>
                  </a:r>
                  <a14:m>
                    <m:oMath xmlns:m="http://schemas.openxmlformats.org/officeDocument/2006/math">
                      <m:r>
                        <a:rPr lang="en-US" sz="2000" b="0" i="1" smtClean="0">
                          <a:latin typeface="Cambria Math" panose="02040503050406030204" pitchFamily="18" charset="0"/>
                        </a:rPr>
                        <m:t>𝑗</m:t>
                      </m:r>
                    </m:oMath>
                  </a14:m>
                  <a:r>
                    <a:rPr lang="en-US" sz="2000" dirty="0"/>
                    <a:t>.</a:t>
                  </a:r>
                </a:p>
              </p:txBody>
            </p:sp>
          </mc:Choice>
          <mc:Fallback xmlns="">
            <p:sp>
              <p:nvSpPr>
                <p:cNvPr id="13" name="TextBox 12">
                  <a:extLst>
                    <a:ext uri="{FF2B5EF4-FFF2-40B4-BE49-F238E27FC236}">
                      <a16:creationId xmlns:a16="http://schemas.microsoft.com/office/drawing/2014/main" id="{D0F84F61-E437-DF4E-98D7-AAADB3BB06E5}"/>
                    </a:ext>
                  </a:extLst>
                </p:cNvPr>
                <p:cNvSpPr txBox="1">
                  <a:spLocks noRot="1" noChangeAspect="1" noMove="1" noResize="1" noEditPoints="1" noAdjustHandles="1" noChangeArrowheads="1" noChangeShapeType="1" noTextEdit="1"/>
                </p:cNvSpPr>
                <p:nvPr/>
              </p:nvSpPr>
              <p:spPr>
                <a:xfrm>
                  <a:off x="5284581" y="1496096"/>
                  <a:ext cx="3423921" cy="732573"/>
                </a:xfrm>
                <a:prstGeom prst="rect">
                  <a:avLst/>
                </a:prstGeom>
                <a:blipFill>
                  <a:blip r:embed="rId6"/>
                  <a:stretch>
                    <a:fillRect t="-3448" r="-1845" b="-137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93A3F4-6066-AF4E-8055-A6D0C520C2A8}"/>
                    </a:ext>
                  </a:extLst>
                </p:cNvPr>
                <p:cNvSpPr txBox="1"/>
                <p:nvPr/>
              </p:nvSpPr>
              <p:spPr>
                <a:xfrm>
                  <a:off x="4982973" y="2290106"/>
                  <a:ext cx="17341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ZA" sz="2400" i="1" smtClean="0">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12</m:t>
                            </m:r>
                          </m:sub>
                        </m:sSub>
                        <m:r>
                          <a:rPr lang="en-US" sz="2400" b="0" i="1" smtClean="0">
                            <a:latin typeface="Cambria Math" panose="02040503050406030204" pitchFamily="18" charset="0"/>
                          </a:rPr>
                          <m:t>=2+</m:t>
                        </m:r>
                        <m:r>
                          <a:rPr lang="en-US" sz="2400" b="0" i="1" smtClean="0">
                            <a:latin typeface="Cambria Math" panose="02040503050406030204" pitchFamily="18" charset="0"/>
                          </a:rPr>
                          <m:t>𝑖</m:t>
                        </m:r>
                      </m:oMath>
                    </m:oMathPara>
                  </a14:m>
                  <a:endParaRPr lang="en-US" sz="2400" dirty="0"/>
                </a:p>
              </p:txBody>
            </p:sp>
          </mc:Choice>
          <mc:Fallback xmlns="">
            <p:sp>
              <p:nvSpPr>
                <p:cNvPr id="14" name="TextBox 13">
                  <a:extLst>
                    <a:ext uri="{FF2B5EF4-FFF2-40B4-BE49-F238E27FC236}">
                      <a16:creationId xmlns:a16="http://schemas.microsoft.com/office/drawing/2014/main" id="{D593A3F4-6066-AF4E-8055-A6D0C520C2A8}"/>
                    </a:ext>
                  </a:extLst>
                </p:cNvPr>
                <p:cNvSpPr txBox="1">
                  <a:spLocks noRot="1" noChangeAspect="1" noMove="1" noResize="1" noEditPoints="1" noAdjustHandles="1" noChangeArrowheads="1" noChangeShapeType="1" noTextEdit="1"/>
                </p:cNvSpPr>
                <p:nvPr/>
              </p:nvSpPr>
              <p:spPr>
                <a:xfrm>
                  <a:off x="4982973" y="2290106"/>
                  <a:ext cx="1734129" cy="461665"/>
                </a:xfrm>
                <a:prstGeom prst="rect">
                  <a:avLst/>
                </a:prstGeom>
                <a:blipFill>
                  <a:blip r:embed="rId7"/>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C757A22-925E-4D4F-AF57-29F45CB4E7E7}"/>
                </a:ext>
              </a:extLst>
            </p:cNvPr>
            <p:cNvSpPr txBox="1"/>
            <p:nvPr/>
          </p:nvSpPr>
          <p:spPr>
            <a:xfrm>
              <a:off x="6763104" y="2306668"/>
              <a:ext cx="2016065" cy="400110"/>
            </a:xfrm>
            <a:prstGeom prst="rect">
              <a:avLst/>
            </a:prstGeom>
            <a:noFill/>
          </p:spPr>
          <p:txBody>
            <a:bodyPr wrap="none" rtlCol="0">
              <a:spAutoFit/>
            </a:bodyPr>
            <a:lstStyle/>
            <a:p>
              <a:r>
                <a:rPr lang="en-US" sz="2000" dirty="0"/>
                <a:t>(row 1, column 2)</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92BD73-A254-664D-9DEB-DE23D970454C}"/>
                    </a:ext>
                  </a:extLst>
                </p:cNvPr>
                <p:cNvSpPr txBox="1"/>
                <p:nvPr/>
              </p:nvSpPr>
              <p:spPr>
                <a:xfrm>
                  <a:off x="5001734" y="2672217"/>
                  <a:ext cx="174124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ZA" sz="2400" i="1" smtClean="0">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21</m:t>
                            </m:r>
                          </m:sub>
                        </m:sSub>
                        <m:r>
                          <a:rPr lang="en-US" sz="2400" b="0" i="1" smtClean="0">
                            <a:latin typeface="Cambria Math" panose="02040503050406030204" pitchFamily="18" charset="0"/>
                          </a:rPr>
                          <m:t>=3−</m:t>
                        </m:r>
                        <m:r>
                          <a:rPr lang="en-US" sz="2400" b="0" i="1" smtClean="0">
                            <a:latin typeface="Cambria Math" panose="02040503050406030204" pitchFamily="18" charset="0"/>
                          </a:rPr>
                          <m:t>𝑖</m:t>
                        </m:r>
                      </m:oMath>
                    </m:oMathPara>
                  </a14:m>
                  <a:endParaRPr lang="en-US" sz="2400" dirty="0"/>
                </a:p>
              </p:txBody>
            </p:sp>
          </mc:Choice>
          <mc:Fallback xmlns="">
            <p:sp>
              <p:nvSpPr>
                <p:cNvPr id="16" name="TextBox 15">
                  <a:extLst>
                    <a:ext uri="{FF2B5EF4-FFF2-40B4-BE49-F238E27FC236}">
                      <a16:creationId xmlns:a16="http://schemas.microsoft.com/office/drawing/2014/main" id="{0892BD73-A254-664D-9DEB-DE23D970454C}"/>
                    </a:ext>
                  </a:extLst>
                </p:cNvPr>
                <p:cNvSpPr txBox="1">
                  <a:spLocks noRot="1" noChangeAspect="1" noMove="1" noResize="1" noEditPoints="1" noAdjustHandles="1" noChangeArrowheads="1" noChangeShapeType="1" noTextEdit="1"/>
                </p:cNvSpPr>
                <p:nvPr/>
              </p:nvSpPr>
              <p:spPr>
                <a:xfrm>
                  <a:off x="5001734" y="2672217"/>
                  <a:ext cx="1741246" cy="461665"/>
                </a:xfrm>
                <a:prstGeom prst="rect">
                  <a:avLst/>
                </a:prstGeom>
                <a:blipFill>
                  <a:blip r:embed="rId8"/>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7376F31-FF44-254A-ACDA-FD98E7F12FC5}"/>
                </a:ext>
              </a:extLst>
            </p:cNvPr>
            <p:cNvSpPr txBox="1"/>
            <p:nvPr/>
          </p:nvSpPr>
          <p:spPr>
            <a:xfrm>
              <a:off x="6781865" y="2688779"/>
              <a:ext cx="2016065" cy="400110"/>
            </a:xfrm>
            <a:prstGeom prst="rect">
              <a:avLst/>
            </a:prstGeom>
            <a:noFill/>
          </p:spPr>
          <p:txBody>
            <a:bodyPr wrap="none" rtlCol="0">
              <a:spAutoFit/>
            </a:bodyPr>
            <a:lstStyle/>
            <a:p>
              <a:r>
                <a:rPr lang="en-US" sz="2000" dirty="0"/>
                <a:t>(row 2, column 1)</a:t>
              </a:r>
            </a:p>
          </p:txBody>
        </p:sp>
      </p:grpSp>
      <p:sp>
        <p:nvSpPr>
          <p:cNvPr id="21" name="Rounded Rectangle 20">
            <a:extLst>
              <a:ext uri="{FF2B5EF4-FFF2-40B4-BE49-F238E27FC236}">
                <a16:creationId xmlns:a16="http://schemas.microsoft.com/office/drawing/2014/main" id="{4A82935B-CE48-3644-AB55-7867BAC655B9}"/>
              </a:ext>
            </a:extLst>
          </p:cNvPr>
          <p:cNvSpPr/>
          <p:nvPr/>
        </p:nvSpPr>
        <p:spPr>
          <a:xfrm>
            <a:off x="1087200" y="2380828"/>
            <a:ext cx="479439" cy="280219"/>
          </a:xfrm>
          <a:prstGeom prst="roundRect">
            <a:avLst/>
          </a:prstGeom>
          <a:solidFill>
            <a:srgbClr val="C7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599F8795-F0F8-BF49-B7C3-E750FC7F902C}"/>
              </a:ext>
            </a:extLst>
          </p:cNvPr>
          <p:cNvSpPr/>
          <p:nvPr/>
        </p:nvSpPr>
        <p:spPr>
          <a:xfrm>
            <a:off x="1833600" y="2378244"/>
            <a:ext cx="479439" cy="280219"/>
          </a:xfrm>
          <a:prstGeom prst="roundRect">
            <a:avLst/>
          </a:prstGeom>
          <a:solidFill>
            <a:srgbClr val="FA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01293BAD-3FD9-1A48-ABE8-D5A3306C7C16}"/>
              </a:ext>
            </a:extLst>
          </p:cNvPr>
          <p:cNvSpPr/>
          <p:nvPr/>
        </p:nvSpPr>
        <p:spPr>
          <a:xfrm>
            <a:off x="1833600" y="2703772"/>
            <a:ext cx="479439" cy="280219"/>
          </a:xfrm>
          <a:prstGeom prst="roundRect">
            <a:avLst/>
          </a:prstGeom>
          <a:solidFill>
            <a:srgbClr val="D4F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BD2B629E-45B1-1E49-9EEC-5D4AFC2E6594}"/>
              </a:ext>
            </a:extLst>
          </p:cNvPr>
          <p:cNvSpPr/>
          <p:nvPr/>
        </p:nvSpPr>
        <p:spPr>
          <a:xfrm>
            <a:off x="1087200" y="2710366"/>
            <a:ext cx="479439" cy="280219"/>
          </a:xfrm>
          <a:prstGeom prst="roundRect">
            <a:avLst/>
          </a:prstGeom>
          <a:solidFill>
            <a:srgbClr val="FFDE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4D3312-C254-5A44-8510-AADB96A8A8BD}"/>
                  </a:ext>
                </a:extLst>
              </p:cNvPr>
              <p:cNvSpPr txBox="1"/>
              <p:nvPr/>
            </p:nvSpPr>
            <p:spPr>
              <a:xfrm>
                <a:off x="213191" y="2318113"/>
                <a:ext cx="4646528" cy="7082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𝐴</m:t>
                      </m:r>
                      <m:r>
                        <a:rPr lang="en-US" sz="240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2</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22</m:t>
                                    </m:r>
                                  </m:sub>
                                </m:sSub>
                              </m:e>
                            </m:mr>
                          </m:m>
                        </m:e>
                      </m:d>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b="0" i="1" smtClean="0">
                                    <a:latin typeface="Cambria Math" panose="02040503050406030204" pitchFamily="18" charset="0"/>
                                  </a:rPr>
                                  <m:t>1</m:t>
                                </m:r>
                              </m:e>
                              <m:e>
                                <m:r>
                                  <a:rPr lang="en-US" sz="2400" b="0" i="1" smtClean="0">
                                    <a:latin typeface="Cambria Math" panose="02040503050406030204" pitchFamily="18" charset="0"/>
                                  </a:rPr>
                                  <m:t>2+</m:t>
                                </m:r>
                                <m:r>
                                  <a:rPr lang="en-US" sz="2400" b="0" i="1" smtClean="0">
                                    <a:latin typeface="Cambria Math" panose="02040503050406030204" pitchFamily="18" charset="0"/>
                                  </a:rPr>
                                  <m:t>𝑖</m:t>
                                </m:r>
                              </m:e>
                            </m:mr>
                            <m:mr>
                              <m:e>
                                <m:r>
                                  <a:rPr lang="en-US" sz="2400" b="0" i="1" smtClean="0">
                                    <a:latin typeface="Cambria Math" panose="02040503050406030204" pitchFamily="18" charset="0"/>
                                  </a:rPr>
                                  <m:t>3−</m:t>
                                </m:r>
                                <m:r>
                                  <a:rPr lang="en-US" sz="2400" b="0" i="1" smtClean="0">
                                    <a:latin typeface="Cambria Math" panose="02040503050406030204" pitchFamily="18" charset="0"/>
                                  </a:rPr>
                                  <m:t>𝑖</m:t>
                                </m:r>
                              </m:e>
                              <m:e>
                                <m:r>
                                  <a:rPr lang="en-US" sz="2400" b="0" i="1" smtClean="0">
                                    <a:latin typeface="Cambria Math" panose="02040503050406030204" pitchFamily="18" charset="0"/>
                                  </a:rPr>
                                  <m:t>4</m:t>
                                </m:r>
                              </m:e>
                            </m:mr>
                          </m:m>
                        </m:e>
                      </m:d>
                    </m:oMath>
                  </m:oMathPara>
                </a14:m>
                <a:endParaRPr lang="en-US" sz="2400" dirty="0"/>
              </a:p>
            </p:txBody>
          </p:sp>
        </mc:Choice>
        <mc:Fallback xmlns="">
          <p:sp>
            <p:nvSpPr>
              <p:cNvPr id="6" name="TextBox 5">
                <a:extLst>
                  <a:ext uri="{FF2B5EF4-FFF2-40B4-BE49-F238E27FC236}">
                    <a16:creationId xmlns:a16="http://schemas.microsoft.com/office/drawing/2014/main" id="{B44D3312-C254-5A44-8510-AADB96A8A8BD}"/>
                  </a:ext>
                </a:extLst>
              </p:cNvPr>
              <p:cNvSpPr txBox="1">
                <a:spLocks noRot="1" noChangeAspect="1" noMove="1" noResize="1" noEditPoints="1" noAdjustHandles="1" noChangeArrowheads="1" noChangeShapeType="1" noTextEdit="1"/>
              </p:cNvSpPr>
              <p:nvPr/>
            </p:nvSpPr>
            <p:spPr>
              <a:xfrm>
                <a:off x="213191" y="2318113"/>
                <a:ext cx="4646528" cy="708207"/>
              </a:xfrm>
              <a:prstGeom prst="rect">
                <a:avLst/>
              </a:prstGeom>
              <a:blipFill>
                <a:blip r:embed="rId9"/>
                <a:stretch>
                  <a:fillRect b="-7143"/>
                </a:stretch>
              </a:blipFill>
            </p:spPr>
            <p:txBody>
              <a:bodyPr/>
              <a:lstStyle/>
              <a:p>
                <a:r>
                  <a:rPr lang="en-US">
                    <a:noFill/>
                  </a:rPr>
                  <a:t> </a:t>
                </a:r>
              </a:p>
            </p:txBody>
          </p:sp>
        </mc:Fallback>
      </mc:AlternateContent>
      <p:grpSp>
        <p:nvGrpSpPr>
          <p:cNvPr id="75" name="Group 74">
            <a:extLst>
              <a:ext uri="{FF2B5EF4-FFF2-40B4-BE49-F238E27FC236}">
                <a16:creationId xmlns:a16="http://schemas.microsoft.com/office/drawing/2014/main" id="{344ACE60-BB1B-D949-8E94-E91C1DD79EDA}"/>
              </a:ext>
            </a:extLst>
          </p:cNvPr>
          <p:cNvGrpSpPr/>
          <p:nvPr/>
        </p:nvGrpSpPr>
        <p:grpSpPr>
          <a:xfrm>
            <a:off x="7790894" y="3485376"/>
            <a:ext cx="4668252" cy="3348000"/>
            <a:chOff x="7790894" y="3485376"/>
            <a:chExt cx="4668252" cy="3348000"/>
          </a:xfrm>
        </p:grpSpPr>
        <p:sp>
          <p:nvSpPr>
            <p:cNvPr id="61" name="Rounded Rectangle 60">
              <a:extLst>
                <a:ext uri="{FF2B5EF4-FFF2-40B4-BE49-F238E27FC236}">
                  <a16:creationId xmlns:a16="http://schemas.microsoft.com/office/drawing/2014/main" id="{CE7DE2AE-2537-604F-B0D8-A2EE5115CE6D}"/>
                </a:ext>
              </a:extLst>
            </p:cNvPr>
            <p:cNvSpPr/>
            <p:nvPr/>
          </p:nvSpPr>
          <p:spPr>
            <a:xfrm>
              <a:off x="8164762" y="3485376"/>
              <a:ext cx="3920516" cy="3348000"/>
            </a:xfrm>
            <a:prstGeom prst="roundRect">
              <a:avLst>
                <a:gd name="adj" fmla="val 10533"/>
              </a:avLst>
            </a:prstGeom>
            <a:solidFill>
              <a:srgbClr val="FFFD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F57E1A6-D321-D746-B450-F76A2312208C}"/>
                </a:ext>
              </a:extLst>
            </p:cNvPr>
            <p:cNvSpPr txBox="1"/>
            <p:nvPr/>
          </p:nvSpPr>
          <p:spPr>
            <a:xfrm>
              <a:off x="8752978" y="3612597"/>
              <a:ext cx="2744085" cy="461665"/>
            </a:xfrm>
            <a:prstGeom prst="rect">
              <a:avLst/>
            </a:prstGeom>
            <a:noFill/>
          </p:spPr>
          <p:txBody>
            <a:bodyPr wrap="none" rtlCol="0">
              <a:spAutoFit/>
            </a:bodyPr>
            <a:lstStyle/>
            <a:p>
              <a:r>
                <a:rPr lang="en-US" sz="2400" dirty="0"/>
                <a:t>Conjugate transpose</a:t>
              </a:r>
            </a:p>
          </p:txBody>
        </p:sp>
        <p:sp>
          <p:nvSpPr>
            <p:cNvPr id="35" name="Rectangle 34">
              <a:extLst>
                <a:ext uri="{FF2B5EF4-FFF2-40B4-BE49-F238E27FC236}">
                  <a16:creationId xmlns:a16="http://schemas.microsoft.com/office/drawing/2014/main" id="{77E0B5AC-CA01-C84C-829F-A933898D5B1B}"/>
                </a:ext>
              </a:extLst>
            </p:cNvPr>
            <p:cNvSpPr/>
            <p:nvPr/>
          </p:nvSpPr>
          <p:spPr>
            <a:xfrm>
              <a:off x="7790894" y="4068994"/>
              <a:ext cx="4668252" cy="707886"/>
            </a:xfrm>
            <a:prstGeom prst="rect">
              <a:avLst/>
            </a:prstGeom>
          </p:spPr>
          <p:txBody>
            <a:bodyPr wrap="square">
              <a:spAutoFit/>
            </a:bodyPr>
            <a:lstStyle/>
            <a:p>
              <a:pPr algn="ctr"/>
              <a:r>
                <a:rPr lang="en-ZA" sz="2000" dirty="0"/>
                <a:t>The conjugate transpose takes the transpose and complex conjugate.</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C77D95E-5D3B-D14C-90AE-D42C3FAC25BB}"/>
                    </a:ext>
                  </a:extLst>
                </p:cNvPr>
                <p:cNvSpPr txBox="1"/>
                <p:nvPr/>
              </p:nvSpPr>
              <p:spPr>
                <a:xfrm>
                  <a:off x="8285735" y="4991420"/>
                  <a:ext cx="3678571" cy="1507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i="1" smtClean="0">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smtClean="0">
                                        <a:latin typeface="Cambria Math" panose="02040503050406030204" pitchFamily="18" charset="0"/>
                                      </a:rPr>
                                    </m:ctrlPr>
                                  </m:sSupPr>
                                  <m:e>
                                    <m:r>
                                      <a:rPr lang="en-US" sz="2400" i="1">
                                        <a:latin typeface="Cambria Math" panose="02040503050406030204" pitchFamily="18" charset="0"/>
                                      </a:rPr>
                                      <m:t>𝐴</m:t>
                                    </m:r>
                                  </m:e>
                                  <m:sup>
                                    <m:r>
                                      <a:rPr lang="en-US" sz="2400" b="0" i="1" smtClean="0">
                                        <a:latin typeface="Cambria Math" panose="02040503050406030204" pitchFamily="18" charset="0"/>
                                      </a:rPr>
                                      <m:t>∗</m:t>
                                    </m:r>
                                  </m:sup>
                                </m:sSup>
                              </m:e>
                            </m:d>
                          </m:e>
                          <m:sup>
                            <m:r>
                              <a:rPr lang="en-US" sz="2400" i="1">
                                <a:latin typeface="Cambria Math" panose="02040503050406030204" pitchFamily="18" charset="0"/>
                                <a:ea typeface="Cambria Math" panose="02040503050406030204" pitchFamily="18" charset="0"/>
                              </a:rPr>
                              <m:t>†</m:t>
                            </m:r>
                          </m:sup>
                        </m:sSup>
                        <m:r>
                          <a:rPr lang="en-US" sz="240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r>
                                        <a:rPr lang="en-US" sz="2400" b="0" i="1" smtClean="0">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1</m:t>
                                      </m:r>
                                      <m:r>
                                        <a:rPr lang="en-US" sz="2400" b="0" i="1" smtClean="0">
                                          <a:latin typeface="Cambria Math" panose="02040503050406030204" pitchFamily="18" charset="0"/>
                                        </a:rPr>
                                        <m:t>2</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22</m:t>
                                      </m:r>
                                    </m:sub>
                                  </m:sSub>
                                </m:e>
                              </m:mr>
                            </m:m>
                          </m:e>
                        </m:d>
                      </m:oMath>
                    </m:oMathPara>
                  </a14:m>
                  <a:endParaRPr lang="en-US" sz="2400" dirty="0"/>
                </a:p>
                <a:p>
                  <a:endParaRPr lang="en-US" sz="1200" dirty="0"/>
                </a:p>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𝐴</m:t>
                            </m:r>
                          </m:e>
                          <m:sup>
                            <m:r>
                              <a:rPr lang="en-US" sz="2400" i="1">
                                <a:latin typeface="Cambria Math" panose="02040503050406030204" pitchFamily="18" charset="0"/>
                                <a:ea typeface="Cambria Math" panose="02040503050406030204" pitchFamily="18" charset="0"/>
                              </a:rPr>
                              <m:t>†</m:t>
                            </m:r>
                          </m:sup>
                        </m:sSup>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3+</m:t>
                                  </m:r>
                                  <m:r>
                                    <a:rPr lang="en-US" sz="2400" i="1">
                                      <a:latin typeface="Cambria Math" panose="02040503050406030204" pitchFamily="18" charset="0"/>
                                    </a:rPr>
                                    <m:t>𝑖</m:t>
                                  </m:r>
                                </m:e>
                              </m:mr>
                              <m:mr>
                                <m:e>
                                  <m:r>
                                    <a:rPr lang="en-US" sz="2400" i="1">
                                      <a:latin typeface="Cambria Math" panose="02040503050406030204" pitchFamily="18" charset="0"/>
                                    </a:rPr>
                                    <m:t>2−</m:t>
                                  </m:r>
                                  <m:r>
                                    <a:rPr lang="en-US" sz="2400" i="1">
                                      <a:latin typeface="Cambria Math" panose="02040503050406030204" pitchFamily="18" charset="0"/>
                                    </a:rPr>
                                    <m:t>𝑖</m:t>
                                  </m:r>
                                </m:e>
                                <m:e>
                                  <m:r>
                                    <a:rPr lang="en-US" sz="2400" i="1">
                                      <a:latin typeface="Cambria Math" panose="02040503050406030204" pitchFamily="18" charset="0"/>
                                    </a:rPr>
                                    <m:t>4</m:t>
                                  </m:r>
                                </m:e>
                              </m:mr>
                            </m:m>
                          </m:e>
                        </m:d>
                      </m:oMath>
                    </m:oMathPara>
                  </a14:m>
                  <a:endParaRPr lang="en-US" sz="2400" dirty="0"/>
                </a:p>
              </p:txBody>
            </p:sp>
          </mc:Choice>
          <mc:Fallback xmlns="">
            <p:sp>
              <p:nvSpPr>
                <p:cNvPr id="58" name="TextBox 57">
                  <a:extLst>
                    <a:ext uri="{FF2B5EF4-FFF2-40B4-BE49-F238E27FC236}">
                      <a16:creationId xmlns:a16="http://schemas.microsoft.com/office/drawing/2014/main" id="{1C77D95E-5D3B-D14C-90AE-D42C3FAC25BB}"/>
                    </a:ext>
                  </a:extLst>
                </p:cNvPr>
                <p:cNvSpPr txBox="1">
                  <a:spLocks noRot="1" noChangeAspect="1" noMove="1" noResize="1" noEditPoints="1" noAdjustHandles="1" noChangeArrowheads="1" noChangeShapeType="1" noTextEdit="1"/>
                </p:cNvSpPr>
                <p:nvPr/>
              </p:nvSpPr>
              <p:spPr>
                <a:xfrm>
                  <a:off x="8285735" y="4991420"/>
                  <a:ext cx="3678571" cy="1507785"/>
                </a:xfrm>
                <a:prstGeom prst="rect">
                  <a:avLst/>
                </a:prstGeom>
                <a:blipFill>
                  <a:blip r:embed="rId10"/>
                  <a:stretch>
                    <a:fillRect b="-2500"/>
                  </a:stretch>
                </a:blipFill>
              </p:spPr>
              <p:txBody>
                <a:bodyPr/>
                <a:lstStyle/>
                <a:p>
                  <a:r>
                    <a:rPr lang="en-US">
                      <a:noFill/>
                    </a:rPr>
                    <a:t> </a:t>
                  </a:r>
                </a:p>
              </p:txBody>
            </p:sp>
          </mc:Fallback>
        </mc:AlternateContent>
      </p:grpSp>
      <p:grpSp>
        <p:nvGrpSpPr>
          <p:cNvPr id="74" name="Group 73">
            <a:extLst>
              <a:ext uri="{FF2B5EF4-FFF2-40B4-BE49-F238E27FC236}">
                <a16:creationId xmlns:a16="http://schemas.microsoft.com/office/drawing/2014/main" id="{ACE81495-E3F2-924B-AF35-BF7B49AD6FAC}"/>
              </a:ext>
            </a:extLst>
          </p:cNvPr>
          <p:cNvGrpSpPr/>
          <p:nvPr/>
        </p:nvGrpSpPr>
        <p:grpSpPr>
          <a:xfrm>
            <a:off x="4178374" y="3478112"/>
            <a:ext cx="3952206" cy="3348000"/>
            <a:chOff x="4178374" y="3478112"/>
            <a:chExt cx="3952206" cy="3348000"/>
          </a:xfrm>
        </p:grpSpPr>
        <p:sp>
          <p:nvSpPr>
            <p:cNvPr id="62" name="Rounded Rectangle 61">
              <a:extLst>
                <a:ext uri="{FF2B5EF4-FFF2-40B4-BE49-F238E27FC236}">
                  <a16:creationId xmlns:a16="http://schemas.microsoft.com/office/drawing/2014/main" id="{E201170A-222F-9F40-A11C-11AA06D5924C}"/>
                </a:ext>
              </a:extLst>
            </p:cNvPr>
            <p:cNvSpPr/>
            <p:nvPr/>
          </p:nvSpPr>
          <p:spPr>
            <a:xfrm>
              <a:off x="4290030" y="3478112"/>
              <a:ext cx="3728895" cy="3348000"/>
            </a:xfrm>
            <a:prstGeom prst="roundRect">
              <a:avLst>
                <a:gd name="adj" fmla="val 11147"/>
              </a:avLst>
            </a:prstGeom>
            <a:solidFill>
              <a:srgbClr val="D4F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337567C-FD5E-C244-958B-E6D342ADF19D}"/>
                </a:ext>
              </a:extLst>
            </p:cNvPr>
            <p:cNvSpPr txBox="1"/>
            <p:nvPr/>
          </p:nvSpPr>
          <p:spPr>
            <a:xfrm>
              <a:off x="5432036" y="3612597"/>
              <a:ext cx="1444883" cy="461665"/>
            </a:xfrm>
            <a:prstGeom prst="rect">
              <a:avLst/>
            </a:prstGeom>
            <a:noFill/>
          </p:spPr>
          <p:txBody>
            <a:bodyPr wrap="none" rtlCol="0">
              <a:spAutoFit/>
            </a:bodyPr>
            <a:lstStyle/>
            <a:p>
              <a:r>
                <a:rPr lang="en-US" sz="2400" dirty="0"/>
                <a:t>Transpose</a:t>
              </a:r>
            </a:p>
          </p:txBody>
        </p:sp>
        <p:sp>
          <p:nvSpPr>
            <p:cNvPr id="34" name="Rectangle 33">
              <a:extLst>
                <a:ext uri="{FF2B5EF4-FFF2-40B4-BE49-F238E27FC236}">
                  <a16:creationId xmlns:a16="http://schemas.microsoft.com/office/drawing/2014/main" id="{902DAC95-CD91-4845-A629-F62936CBC5F4}"/>
                </a:ext>
              </a:extLst>
            </p:cNvPr>
            <p:cNvSpPr/>
            <p:nvPr/>
          </p:nvSpPr>
          <p:spPr>
            <a:xfrm>
              <a:off x="4178374" y="4068994"/>
              <a:ext cx="3952206" cy="707886"/>
            </a:xfrm>
            <a:prstGeom prst="rect">
              <a:avLst/>
            </a:prstGeom>
          </p:spPr>
          <p:txBody>
            <a:bodyPr wrap="square">
              <a:spAutoFit/>
            </a:bodyPr>
            <a:lstStyle/>
            <a:p>
              <a:pPr algn="ctr"/>
              <a:r>
                <a:rPr lang="en-ZA" sz="2000" dirty="0"/>
                <a:t>The transpose interchanges rows and columns.</a:t>
              </a:r>
            </a:p>
          </p:txBody>
        </p:sp>
        <p:grpSp>
          <p:nvGrpSpPr>
            <p:cNvPr id="63" name="Group 62">
              <a:extLst>
                <a:ext uri="{FF2B5EF4-FFF2-40B4-BE49-F238E27FC236}">
                  <a16:creationId xmlns:a16="http://schemas.microsoft.com/office/drawing/2014/main" id="{26E91834-3F14-9142-AB86-B2A16EC74A0E}"/>
                </a:ext>
              </a:extLst>
            </p:cNvPr>
            <p:cNvGrpSpPr/>
            <p:nvPr/>
          </p:nvGrpSpPr>
          <p:grpSpPr>
            <a:xfrm>
              <a:off x="4661889" y="5049206"/>
              <a:ext cx="2985176" cy="1513941"/>
              <a:chOff x="4843055" y="4991420"/>
              <a:chExt cx="2985176" cy="1513941"/>
            </a:xfrm>
          </p:grpSpPr>
          <p:sp>
            <p:nvSpPr>
              <p:cNvPr id="49" name="Rounded Rectangle 48">
                <a:extLst>
                  <a:ext uri="{FF2B5EF4-FFF2-40B4-BE49-F238E27FC236}">
                    <a16:creationId xmlns:a16="http://schemas.microsoft.com/office/drawing/2014/main" id="{CAC630CC-21EE-2640-9C03-0DC6F0766788}"/>
                  </a:ext>
                </a:extLst>
              </p:cNvPr>
              <p:cNvSpPr/>
              <p:nvPr/>
            </p:nvSpPr>
            <p:spPr>
              <a:xfrm>
                <a:off x="6714870" y="5048488"/>
                <a:ext cx="479439" cy="280219"/>
              </a:xfrm>
              <a:prstGeom prst="roundRect">
                <a:avLst/>
              </a:prstGeom>
              <a:solidFill>
                <a:srgbClr val="FA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B08B0C56-F8FD-5341-B42E-8F3DB5D3CB4D}"/>
                  </a:ext>
                </a:extLst>
              </p:cNvPr>
              <p:cNvSpPr/>
              <p:nvPr/>
            </p:nvSpPr>
            <p:spPr>
              <a:xfrm>
                <a:off x="5992218" y="5400400"/>
                <a:ext cx="479439" cy="280219"/>
              </a:xfrm>
              <a:prstGeom prst="roundRect">
                <a:avLst/>
              </a:prstGeom>
              <a:solidFill>
                <a:srgbClr val="FFDE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c 53">
                <a:extLst>
                  <a:ext uri="{FF2B5EF4-FFF2-40B4-BE49-F238E27FC236}">
                    <a16:creationId xmlns:a16="http://schemas.microsoft.com/office/drawing/2014/main" id="{7C3A2272-E890-D54F-8BAC-D8374ECE0D30}"/>
                  </a:ext>
                </a:extLst>
              </p:cNvPr>
              <p:cNvSpPr/>
              <p:nvPr/>
            </p:nvSpPr>
            <p:spPr>
              <a:xfrm>
                <a:off x="6399126" y="5192555"/>
                <a:ext cx="548634" cy="487778"/>
              </a:xfrm>
              <a:prstGeom prst="arc">
                <a:avLst>
                  <a:gd name="adj1" fmla="val 10862643"/>
                  <a:gd name="adj2" fmla="val 17174182"/>
                </a:avLst>
              </a:prstGeom>
              <a:ln>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Arc 54">
                <a:extLst>
                  <a:ext uri="{FF2B5EF4-FFF2-40B4-BE49-F238E27FC236}">
                    <a16:creationId xmlns:a16="http://schemas.microsoft.com/office/drawing/2014/main" id="{3AC04828-FDBD-B140-8CFD-5BB620F95457}"/>
                  </a:ext>
                </a:extLst>
              </p:cNvPr>
              <p:cNvSpPr/>
              <p:nvPr/>
            </p:nvSpPr>
            <p:spPr>
              <a:xfrm flipH="1" flipV="1">
                <a:off x="6249790" y="5054577"/>
                <a:ext cx="548634" cy="487778"/>
              </a:xfrm>
              <a:prstGeom prst="arc">
                <a:avLst>
                  <a:gd name="adj1" fmla="val 10862643"/>
                  <a:gd name="adj2" fmla="val 17174182"/>
                </a:avLst>
              </a:prstGeom>
              <a:ln>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D42855F-BC41-BA4A-937D-87FD5A3E6D47}"/>
                      </a:ext>
                    </a:extLst>
                  </p:cNvPr>
                  <p:cNvSpPr txBox="1"/>
                  <p:nvPr/>
                </p:nvSpPr>
                <p:spPr>
                  <a:xfrm>
                    <a:off x="4843055" y="4991420"/>
                    <a:ext cx="2985176" cy="15139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𝐴</m:t>
                          </m:r>
                          <m:r>
                            <a:rPr lang="en-US" sz="240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r>
                                          <a:rPr lang="en-US" sz="2400" b="0" i="1" smtClean="0">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1</m:t>
                                        </m:r>
                                        <m:r>
                                          <a:rPr lang="en-US" sz="2400" b="0" i="1" smtClean="0">
                                            <a:latin typeface="Cambria Math" panose="02040503050406030204" pitchFamily="18" charset="0"/>
                                          </a:rPr>
                                          <m:t>2</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22</m:t>
                                        </m:r>
                                      </m:sub>
                                    </m:sSub>
                                  </m:e>
                                </m:mr>
                              </m:m>
                            </m:e>
                          </m:d>
                        </m:oMath>
                      </m:oMathPara>
                    </a14:m>
                    <a:endParaRPr lang="en-US" sz="2400" dirty="0"/>
                  </a:p>
                  <a:p>
                    <a:endParaRPr lang="en-US" sz="1200" dirty="0"/>
                  </a:p>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𝐴</m:t>
                              </m:r>
                            </m:e>
                            <m:sup>
                              <m:r>
                                <a:rPr lang="en-US" sz="2400" i="1">
                                  <a:latin typeface="Cambria Math" panose="02040503050406030204" pitchFamily="18" charset="0"/>
                                </a:rPr>
                                <m:t>𝑇</m:t>
                              </m:r>
                            </m:sup>
                          </m:sSup>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3−</m:t>
                                    </m:r>
                                    <m:r>
                                      <a:rPr lang="en-US" sz="2400" i="1">
                                        <a:latin typeface="Cambria Math" panose="02040503050406030204" pitchFamily="18" charset="0"/>
                                      </a:rPr>
                                      <m:t>𝑖</m:t>
                                    </m:r>
                                  </m:e>
                                </m:mr>
                                <m:mr>
                                  <m:e>
                                    <m:r>
                                      <a:rPr lang="en-US" sz="2400" i="1">
                                        <a:latin typeface="Cambria Math" panose="02040503050406030204" pitchFamily="18" charset="0"/>
                                      </a:rPr>
                                      <m:t>2+</m:t>
                                    </m:r>
                                    <m:r>
                                      <a:rPr lang="en-US" sz="2400" i="1">
                                        <a:latin typeface="Cambria Math" panose="02040503050406030204" pitchFamily="18" charset="0"/>
                                      </a:rPr>
                                      <m:t>𝑖</m:t>
                                    </m:r>
                                  </m:e>
                                  <m:e>
                                    <m:r>
                                      <a:rPr lang="en-US" sz="2400" i="1">
                                        <a:latin typeface="Cambria Math" panose="02040503050406030204" pitchFamily="18" charset="0"/>
                                      </a:rPr>
                                      <m:t>4</m:t>
                                    </m:r>
                                  </m:e>
                                </m:mr>
                              </m:m>
                            </m:e>
                          </m:d>
                        </m:oMath>
                      </m:oMathPara>
                    </a14:m>
                    <a:endParaRPr lang="en-US" sz="2400" dirty="0"/>
                  </a:p>
                </p:txBody>
              </p:sp>
            </mc:Choice>
            <mc:Fallback xmlns="">
              <p:sp>
                <p:nvSpPr>
                  <p:cNvPr id="52" name="TextBox 51">
                    <a:extLst>
                      <a:ext uri="{FF2B5EF4-FFF2-40B4-BE49-F238E27FC236}">
                        <a16:creationId xmlns:a16="http://schemas.microsoft.com/office/drawing/2014/main" id="{9D42855F-BC41-BA4A-937D-87FD5A3E6D47}"/>
                      </a:ext>
                    </a:extLst>
                  </p:cNvPr>
                  <p:cNvSpPr txBox="1">
                    <a:spLocks noRot="1" noChangeAspect="1" noMove="1" noResize="1" noEditPoints="1" noAdjustHandles="1" noChangeArrowheads="1" noChangeShapeType="1" noTextEdit="1"/>
                  </p:cNvSpPr>
                  <p:nvPr/>
                </p:nvSpPr>
                <p:spPr>
                  <a:xfrm>
                    <a:off x="4843055" y="4991420"/>
                    <a:ext cx="2985176" cy="1513941"/>
                  </a:xfrm>
                  <a:prstGeom prst="rect">
                    <a:avLst/>
                  </a:prstGeom>
                  <a:blipFill>
                    <a:blip r:embed="rId11"/>
                    <a:stretch>
                      <a:fillRect b="-1667"/>
                    </a:stretch>
                  </a:blipFill>
                </p:spPr>
                <p:txBody>
                  <a:bodyPr/>
                  <a:lstStyle/>
                  <a:p>
                    <a:r>
                      <a:rPr lang="en-US">
                        <a:noFill/>
                      </a:rPr>
                      <a:t> </a:t>
                    </a:r>
                  </a:p>
                </p:txBody>
              </p:sp>
            </mc:Fallback>
          </mc:AlternateContent>
        </p:grpSp>
      </p:grpSp>
      <p:grpSp>
        <p:nvGrpSpPr>
          <p:cNvPr id="73" name="Group 72">
            <a:extLst>
              <a:ext uri="{FF2B5EF4-FFF2-40B4-BE49-F238E27FC236}">
                <a16:creationId xmlns:a16="http://schemas.microsoft.com/office/drawing/2014/main" id="{43E0FF6E-903A-FD48-BF42-083A723C176C}"/>
              </a:ext>
            </a:extLst>
          </p:cNvPr>
          <p:cNvGrpSpPr/>
          <p:nvPr/>
        </p:nvGrpSpPr>
        <p:grpSpPr>
          <a:xfrm>
            <a:off x="-164676" y="3485376"/>
            <a:ext cx="4668252" cy="3372624"/>
            <a:chOff x="-164676" y="3485376"/>
            <a:chExt cx="4668252" cy="3372624"/>
          </a:xfrm>
        </p:grpSpPr>
        <p:sp>
          <p:nvSpPr>
            <p:cNvPr id="60" name="Rounded Rectangle 59">
              <a:extLst>
                <a:ext uri="{FF2B5EF4-FFF2-40B4-BE49-F238E27FC236}">
                  <a16:creationId xmlns:a16="http://schemas.microsoft.com/office/drawing/2014/main" id="{987C6B27-FE7B-0540-AF3B-90AD7CC118A0}"/>
                </a:ext>
              </a:extLst>
            </p:cNvPr>
            <p:cNvSpPr/>
            <p:nvPr/>
          </p:nvSpPr>
          <p:spPr>
            <a:xfrm>
              <a:off x="190596" y="3485376"/>
              <a:ext cx="4034933" cy="3348000"/>
            </a:xfrm>
            <a:prstGeom prst="roundRect">
              <a:avLst>
                <a:gd name="adj" fmla="val 9920"/>
              </a:avLst>
            </a:prstGeom>
            <a:solidFill>
              <a:srgbClr val="F4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A7472ED-DC12-E44A-95BE-1F8A193323E2}"/>
                </a:ext>
              </a:extLst>
            </p:cNvPr>
            <p:cNvSpPr txBox="1"/>
            <p:nvPr/>
          </p:nvSpPr>
          <p:spPr>
            <a:xfrm>
              <a:off x="1681401" y="3612597"/>
              <a:ext cx="848566" cy="461665"/>
            </a:xfrm>
            <a:prstGeom prst="rect">
              <a:avLst/>
            </a:prstGeom>
            <a:noFill/>
          </p:spPr>
          <p:txBody>
            <a:bodyPr wrap="none" rtlCol="0">
              <a:spAutoFit/>
            </a:bodyPr>
            <a:lstStyle/>
            <a:p>
              <a:r>
                <a:rPr lang="en-US" sz="2400" dirty="0"/>
                <a:t>Trace</a:t>
              </a:r>
            </a:p>
          </p:txBody>
        </p:sp>
        <p:sp>
          <p:nvSpPr>
            <p:cNvPr id="33" name="Rectangle 32">
              <a:extLst>
                <a:ext uri="{FF2B5EF4-FFF2-40B4-BE49-F238E27FC236}">
                  <a16:creationId xmlns:a16="http://schemas.microsoft.com/office/drawing/2014/main" id="{8AC2E2DA-38C6-F24A-A4DC-F16EBF13C4D3}"/>
                </a:ext>
              </a:extLst>
            </p:cNvPr>
            <p:cNvSpPr/>
            <p:nvPr/>
          </p:nvSpPr>
          <p:spPr>
            <a:xfrm>
              <a:off x="-164676" y="4068994"/>
              <a:ext cx="4668252" cy="707886"/>
            </a:xfrm>
            <a:prstGeom prst="rect">
              <a:avLst/>
            </a:prstGeom>
          </p:spPr>
          <p:txBody>
            <a:bodyPr wrap="square">
              <a:spAutoFit/>
            </a:bodyPr>
            <a:lstStyle/>
            <a:p>
              <a:pPr algn="ctr"/>
              <a:r>
                <a:rPr lang="en-ZA" sz="2000" dirty="0"/>
                <a:t>The trace is the sum of the diagonal elements.</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14FB13-E942-DE48-86AE-3901D3103B54}"/>
                    </a:ext>
                  </a:extLst>
                </p:cNvPr>
                <p:cNvSpPr txBox="1"/>
                <p:nvPr/>
              </p:nvSpPr>
              <p:spPr>
                <a:xfrm>
                  <a:off x="161163" y="5502116"/>
                  <a:ext cx="3910558" cy="13558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Tr</m:t>
                        </m:r>
                        <m:d>
                          <m:dPr>
                            <m:ctrlPr>
                              <a:rPr lang="en-US" sz="2400" b="0" i="1" smtClean="0">
                                <a:latin typeface="Cambria Math" panose="02040503050406030204" pitchFamily="18" charset="0"/>
                              </a:rPr>
                            </m:ctrlPr>
                          </m:dPr>
                          <m:e>
                            <m:r>
                              <a:rPr lang="en-US" sz="2400" i="1">
                                <a:latin typeface="Cambria Math" panose="02040503050406030204" pitchFamily="18" charset="0"/>
                              </a:rPr>
                              <m:t>𝐴</m:t>
                            </m:r>
                          </m:e>
                        </m:d>
                        <m:r>
                          <a:rPr lang="en-US" sz="2400" b="0" i="0" smtClean="0">
                            <a:latin typeface="Cambria Math" panose="02040503050406030204" pitchFamily="18" charset="0"/>
                          </a:rPr>
                          <m:t>=</m:t>
                        </m:r>
                        <m:nary>
                          <m:naryPr>
                            <m:chr m:val="∑"/>
                            <m:subHide m:val="on"/>
                            <m:supHide m:val="on"/>
                            <m:ctrlPr>
                              <a:rPr lang="en-US" sz="2400" b="0" i="1" smtClean="0">
                                <a:latin typeface="Cambria Math" panose="02040503050406030204" pitchFamily="18" charset="0"/>
                              </a:rPr>
                            </m:ctrlPr>
                          </m:naryPr>
                          <m:sub/>
                          <m:sup/>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𝑖𝑖</m:t>
                                </m:r>
                              </m:sub>
                            </m:sSub>
                            <m:r>
                              <a:rPr lang="en-US" sz="2400" b="0" i="1"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1</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22</m:t>
                                </m:r>
                              </m:sub>
                            </m:sSub>
                          </m:e>
                        </m:nary>
                      </m:oMath>
                    </m:oMathPara>
                  </a14:m>
                  <a:endParaRPr lang="en-US" sz="2400" dirty="0"/>
                </a:p>
                <a:p>
                  <a:pPr/>
                  <a14:m>
                    <m:oMathPara xmlns:m="http://schemas.openxmlformats.org/officeDocument/2006/math">
                      <m:oMathParaPr>
                        <m:jc m:val="centerGroup"/>
                      </m:oMathParaPr>
                      <m:oMath xmlns:m="http://schemas.openxmlformats.org/officeDocument/2006/math">
                        <m:r>
                          <m:rPr>
                            <m:sty m:val="p"/>
                          </m:rPr>
                          <a:rPr lang="en-US" sz="2400">
                            <a:latin typeface="Cambria Math" panose="02040503050406030204" pitchFamily="18" charset="0"/>
                          </a:rPr>
                          <m:t>Tr</m:t>
                        </m:r>
                        <m:d>
                          <m:dPr>
                            <m:ctrlPr>
                              <a:rPr lang="en-US" sz="2400" i="1">
                                <a:latin typeface="Cambria Math" panose="02040503050406030204" pitchFamily="18" charset="0"/>
                              </a:rPr>
                            </m:ctrlPr>
                          </m:dPr>
                          <m:e>
                            <m:r>
                              <a:rPr lang="en-US" sz="2400" i="1">
                                <a:latin typeface="Cambria Math" panose="02040503050406030204" pitchFamily="18" charset="0"/>
                              </a:rPr>
                              <m:t>𝐴</m:t>
                            </m:r>
                          </m:e>
                        </m:d>
                        <m:r>
                          <a:rPr lang="en-US" sz="2400">
                            <a:latin typeface="Cambria Math" panose="02040503050406030204" pitchFamily="18" charset="0"/>
                          </a:rPr>
                          <m:t>=</m:t>
                        </m:r>
                        <m:r>
                          <a:rPr lang="en-US" sz="2400" b="0" i="0" smtClean="0">
                            <a:latin typeface="Cambria Math" panose="02040503050406030204" pitchFamily="18" charset="0"/>
                          </a:rPr>
                          <m:t>1+4=5</m:t>
                        </m:r>
                      </m:oMath>
                    </m:oMathPara>
                  </a14:m>
                  <a:endParaRPr lang="en-US" sz="2400" dirty="0"/>
                </a:p>
              </p:txBody>
            </p:sp>
          </mc:Choice>
          <mc:Fallback xmlns="">
            <p:sp>
              <p:nvSpPr>
                <p:cNvPr id="36" name="TextBox 35">
                  <a:extLst>
                    <a:ext uri="{FF2B5EF4-FFF2-40B4-BE49-F238E27FC236}">
                      <a16:creationId xmlns:a16="http://schemas.microsoft.com/office/drawing/2014/main" id="{F614FB13-E942-DE48-86AE-3901D3103B54}"/>
                    </a:ext>
                  </a:extLst>
                </p:cNvPr>
                <p:cNvSpPr txBox="1">
                  <a:spLocks noRot="1" noChangeAspect="1" noMove="1" noResize="1" noEditPoints="1" noAdjustHandles="1" noChangeArrowheads="1" noChangeShapeType="1" noTextEdit="1"/>
                </p:cNvSpPr>
                <p:nvPr/>
              </p:nvSpPr>
              <p:spPr>
                <a:xfrm>
                  <a:off x="161163" y="5502116"/>
                  <a:ext cx="3910558" cy="1355884"/>
                </a:xfrm>
                <a:prstGeom prst="rect">
                  <a:avLst/>
                </a:prstGeom>
                <a:blipFill>
                  <a:blip r:embed="rId12"/>
                  <a:stretch>
                    <a:fillRect t="-94444" b="-104630"/>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D3826CAC-3E76-994B-921C-F560FB98D9F5}"/>
                </a:ext>
              </a:extLst>
            </p:cNvPr>
            <p:cNvGrpSpPr/>
            <p:nvPr/>
          </p:nvGrpSpPr>
          <p:grpSpPr>
            <a:xfrm>
              <a:off x="941538" y="4854741"/>
              <a:ext cx="2349809" cy="707245"/>
              <a:chOff x="1247626" y="4798521"/>
              <a:chExt cx="2349809" cy="707245"/>
            </a:xfrm>
          </p:grpSpPr>
          <p:sp>
            <p:nvSpPr>
              <p:cNvPr id="37" name="Rounded Rectangle 36">
                <a:extLst>
                  <a:ext uri="{FF2B5EF4-FFF2-40B4-BE49-F238E27FC236}">
                    <a16:creationId xmlns:a16="http://schemas.microsoft.com/office/drawing/2014/main" id="{48DC59E0-A260-224E-9E87-D6FDEE3CD52A}"/>
                  </a:ext>
                </a:extLst>
              </p:cNvPr>
              <p:cNvSpPr/>
              <p:nvPr/>
            </p:nvSpPr>
            <p:spPr>
              <a:xfrm>
                <a:off x="2121635" y="4861236"/>
                <a:ext cx="479439" cy="280219"/>
              </a:xfrm>
              <a:prstGeom prst="roundRect">
                <a:avLst/>
              </a:prstGeom>
              <a:solidFill>
                <a:srgbClr val="C7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4C95507E-831D-C147-9367-C07E224C4E53}"/>
                  </a:ext>
                </a:extLst>
              </p:cNvPr>
              <p:cNvSpPr/>
              <p:nvPr/>
            </p:nvSpPr>
            <p:spPr>
              <a:xfrm>
                <a:off x="2868035" y="5184180"/>
                <a:ext cx="479439" cy="280219"/>
              </a:xfrm>
              <a:prstGeom prst="roundRect">
                <a:avLst/>
              </a:prstGeom>
              <a:solidFill>
                <a:srgbClr val="D4F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19FA383-5F5E-4043-9F07-3D61E6E8E2EA}"/>
                      </a:ext>
                    </a:extLst>
                  </p:cNvPr>
                  <p:cNvSpPr txBox="1"/>
                  <p:nvPr/>
                </p:nvSpPr>
                <p:spPr>
                  <a:xfrm>
                    <a:off x="1247626" y="4798521"/>
                    <a:ext cx="2349809" cy="707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𝐴</m:t>
                          </m:r>
                          <m:r>
                            <a:rPr lang="en-US" sz="2400" i="1"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r>
                                          <a:rPr lang="en-US" sz="2400" i="1">
                                            <a:latin typeface="Cambria Math" panose="02040503050406030204" pitchFamily="18" charset="0"/>
                                          </a:rPr>
                                          <m:t>2</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21</m:t>
                                        </m:r>
                                      </m:sub>
                                    </m:sSub>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22</m:t>
                                        </m:r>
                                      </m:sub>
                                    </m:sSub>
                                  </m:e>
                                </m:mr>
                              </m:m>
                            </m:e>
                          </m:d>
                        </m:oMath>
                      </m:oMathPara>
                    </a14:m>
                    <a:endParaRPr lang="en-US" sz="2400" dirty="0"/>
                  </a:p>
                </p:txBody>
              </p:sp>
            </mc:Choice>
            <mc:Fallback xmlns="">
              <p:sp>
                <p:nvSpPr>
                  <p:cNvPr id="41" name="TextBox 40">
                    <a:extLst>
                      <a:ext uri="{FF2B5EF4-FFF2-40B4-BE49-F238E27FC236}">
                        <a16:creationId xmlns:a16="http://schemas.microsoft.com/office/drawing/2014/main" id="{119FA383-5F5E-4043-9F07-3D61E6E8E2EA}"/>
                      </a:ext>
                    </a:extLst>
                  </p:cNvPr>
                  <p:cNvSpPr txBox="1">
                    <a:spLocks noRot="1" noChangeAspect="1" noMove="1" noResize="1" noEditPoints="1" noAdjustHandles="1" noChangeArrowheads="1" noChangeShapeType="1" noTextEdit="1"/>
                  </p:cNvSpPr>
                  <p:nvPr/>
                </p:nvSpPr>
                <p:spPr>
                  <a:xfrm>
                    <a:off x="1247626" y="4798521"/>
                    <a:ext cx="2349809" cy="707245"/>
                  </a:xfrm>
                  <a:prstGeom prst="rect">
                    <a:avLst/>
                  </a:prstGeom>
                  <a:blipFill>
                    <a:blip r:embed="rId13"/>
                    <a:stretch>
                      <a:fillRect b="-3509"/>
                    </a:stretch>
                  </a:blipFill>
                </p:spPr>
                <p:txBody>
                  <a:bodyPr/>
                  <a:lstStyle/>
                  <a:p>
                    <a:r>
                      <a:rPr lang="en-US">
                        <a:noFill/>
                      </a:rPr>
                      <a:t> </a:t>
                    </a:r>
                  </a:p>
                </p:txBody>
              </p:sp>
            </mc:Fallback>
          </mc:AlternateContent>
        </p:grpSp>
        <p:sp>
          <p:nvSpPr>
            <p:cNvPr id="64" name="Arc 63">
              <a:extLst>
                <a:ext uri="{FF2B5EF4-FFF2-40B4-BE49-F238E27FC236}">
                  <a16:creationId xmlns:a16="http://schemas.microsoft.com/office/drawing/2014/main" id="{D989F3CE-66EB-6A4E-89E4-56876ECCF4D9}"/>
                </a:ext>
              </a:extLst>
            </p:cNvPr>
            <p:cNvSpPr/>
            <p:nvPr/>
          </p:nvSpPr>
          <p:spPr>
            <a:xfrm rot="444331">
              <a:off x="2399212" y="4748220"/>
              <a:ext cx="1263994" cy="984360"/>
            </a:xfrm>
            <a:prstGeom prst="arc">
              <a:avLst>
                <a:gd name="adj1" fmla="val 11175132"/>
                <a:gd name="adj2" fmla="val 15068623"/>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88FCBB43-27AD-C548-B8A5-4328D977D859}"/>
                </a:ext>
              </a:extLst>
            </p:cNvPr>
            <p:cNvCxnSpPr>
              <a:cxnSpLocks/>
            </p:cNvCxnSpPr>
            <p:nvPr/>
          </p:nvCxnSpPr>
          <p:spPr>
            <a:xfrm>
              <a:off x="2268362" y="5152112"/>
              <a:ext cx="299703" cy="1176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01FA9AC-BB4C-D548-B359-FA689ACACE3F}"/>
                </a:ext>
              </a:extLst>
            </p:cNvPr>
            <p:cNvSpPr txBox="1"/>
            <p:nvPr/>
          </p:nvSpPr>
          <p:spPr>
            <a:xfrm>
              <a:off x="2925186" y="4580104"/>
              <a:ext cx="1002197" cy="369332"/>
            </a:xfrm>
            <a:prstGeom prst="rect">
              <a:avLst/>
            </a:prstGeom>
            <a:noFill/>
          </p:spPr>
          <p:txBody>
            <a:bodyPr wrap="none" rtlCol="0">
              <a:spAutoFit/>
            </a:bodyPr>
            <a:lstStyle/>
            <a:p>
              <a:r>
                <a:rPr lang="en-US" i="1" dirty="0">
                  <a:solidFill>
                    <a:schemeClr val="tx1">
                      <a:lumMod val="50000"/>
                      <a:lumOff val="50000"/>
                    </a:schemeClr>
                  </a:solidFill>
                </a:rPr>
                <a:t>diagonal</a:t>
              </a:r>
            </a:p>
          </p:txBody>
        </p:sp>
      </p:grpSp>
    </p:spTree>
    <p:extLst>
      <p:ext uri="{BB962C8B-B14F-4D97-AF65-F5344CB8AC3E}">
        <p14:creationId xmlns:p14="http://schemas.microsoft.com/office/powerpoint/2010/main" val="312209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dissolve">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dissolve">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dissolve">
                                      <p:cBhvr>
                                        <p:cTn id="22" dur="500"/>
                                        <p:tgtEl>
                                          <p:spTgt spid="7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5"/>
                                        </p:tgtEl>
                                        <p:attrNameLst>
                                          <p:attrName>style.visibility</p:attrName>
                                        </p:attrNameLst>
                                      </p:cBhvr>
                                      <p:to>
                                        <p:strVal val="visible"/>
                                      </p:to>
                                    </p:set>
                                    <p:animEffect transition="in" filter="dissolve">
                                      <p:cBhvr>
                                        <p:cTn id="2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41">
            <a:extLst>
              <a:ext uri="{FF2B5EF4-FFF2-40B4-BE49-F238E27FC236}">
                <a16:creationId xmlns:a16="http://schemas.microsoft.com/office/drawing/2014/main" id="{73DAA793-6F54-0845-A6F7-6DA5BCE810D2}"/>
              </a:ext>
            </a:extLst>
          </p:cNvPr>
          <p:cNvSpPr/>
          <p:nvPr/>
        </p:nvSpPr>
        <p:spPr>
          <a:xfrm>
            <a:off x="8311327" y="6070907"/>
            <a:ext cx="2274946" cy="540227"/>
          </a:xfrm>
          <a:prstGeom prst="roundRect">
            <a:avLst>
              <a:gd name="adj" fmla="val 1053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7" name="Rounded Rectangle 36">
            <a:extLst>
              <a:ext uri="{FF2B5EF4-FFF2-40B4-BE49-F238E27FC236}">
                <a16:creationId xmlns:a16="http://schemas.microsoft.com/office/drawing/2014/main" id="{35CB0639-6E07-2040-B62E-5A562047C5A9}"/>
              </a:ext>
            </a:extLst>
          </p:cNvPr>
          <p:cNvSpPr/>
          <p:nvPr/>
        </p:nvSpPr>
        <p:spPr>
          <a:xfrm>
            <a:off x="5996650" y="1071857"/>
            <a:ext cx="6075918" cy="2567628"/>
          </a:xfrm>
          <a:prstGeom prst="roundRect">
            <a:avLst>
              <a:gd name="adj" fmla="val 10533"/>
            </a:avLst>
          </a:prstGeom>
          <a:solidFill>
            <a:srgbClr val="C7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1">
            <a:extLst>
              <a:ext uri="{FF2B5EF4-FFF2-40B4-BE49-F238E27FC236}">
                <a16:creationId xmlns:a16="http://schemas.microsoft.com/office/drawing/2014/main" id="{3A91AF02-09B0-E642-9F77-97A7DFA2E384}"/>
              </a:ext>
            </a:extLst>
          </p:cNvPr>
          <p:cNvSpPr>
            <a:spLocks noGrp="1"/>
          </p:cNvSpPr>
          <p:nvPr>
            <p:ph type="title"/>
          </p:nvPr>
        </p:nvSpPr>
        <p:spPr/>
        <p:txBody>
          <a:bodyPr/>
          <a:lstStyle/>
          <a:p>
            <a:r>
              <a:rPr lang="en-US" dirty="0"/>
              <a:t>Outer product</a:t>
            </a:r>
          </a:p>
        </p:txBody>
      </p:sp>
      <p:sp>
        <p:nvSpPr>
          <p:cNvPr id="3" name="Slide Number Placeholder 2">
            <a:extLst>
              <a:ext uri="{FF2B5EF4-FFF2-40B4-BE49-F238E27FC236}">
                <a16:creationId xmlns:a16="http://schemas.microsoft.com/office/drawing/2014/main" id="{963BA209-F9CC-EF4D-A2EE-CE47C38D9E26}"/>
              </a:ext>
            </a:extLst>
          </p:cNvPr>
          <p:cNvSpPr>
            <a:spLocks noGrp="1"/>
          </p:cNvSpPr>
          <p:nvPr>
            <p:ph type="sldNum" sz="quarter" idx="12"/>
          </p:nvPr>
        </p:nvSpPr>
        <p:spPr/>
        <p:txBody>
          <a:bodyPr/>
          <a:lstStyle/>
          <a:p>
            <a:fld id="{591A223C-FA10-BC46-A853-03BA373D023C}" type="slidenum">
              <a:rPr lang="en-US" smtClean="0"/>
              <a:t>26</a:t>
            </a:fld>
            <a:endParaRPr lang="en-US"/>
          </a:p>
        </p:txBody>
      </p:sp>
      <p:sp>
        <p:nvSpPr>
          <p:cNvPr id="6" name="Rounded Rectangle 5">
            <a:extLst>
              <a:ext uri="{FF2B5EF4-FFF2-40B4-BE49-F238E27FC236}">
                <a16:creationId xmlns:a16="http://schemas.microsoft.com/office/drawing/2014/main" id="{F406E3E6-CB44-C54D-98B2-106ABA313F16}"/>
              </a:ext>
            </a:extLst>
          </p:cNvPr>
          <p:cNvSpPr/>
          <p:nvPr/>
        </p:nvSpPr>
        <p:spPr>
          <a:xfrm>
            <a:off x="106016" y="1040403"/>
            <a:ext cx="5725158" cy="3119018"/>
          </a:xfrm>
          <a:prstGeom prst="roundRect">
            <a:avLst>
              <a:gd name="adj" fmla="val 10533"/>
            </a:avLst>
          </a:prstGeom>
          <a:solidFill>
            <a:srgbClr val="FFFD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Rectangle 6">
            <a:extLst>
              <a:ext uri="{FF2B5EF4-FFF2-40B4-BE49-F238E27FC236}">
                <a16:creationId xmlns:a16="http://schemas.microsoft.com/office/drawing/2014/main" id="{370EAD5D-A1FE-FB40-9C6F-C21BB3CEA666}"/>
              </a:ext>
            </a:extLst>
          </p:cNvPr>
          <p:cNvSpPr/>
          <p:nvPr/>
        </p:nvSpPr>
        <p:spPr>
          <a:xfrm>
            <a:off x="165976" y="1602112"/>
            <a:ext cx="5620227" cy="707886"/>
          </a:xfrm>
          <a:prstGeom prst="rect">
            <a:avLst/>
          </a:prstGeom>
        </p:spPr>
        <p:txBody>
          <a:bodyPr wrap="square">
            <a:spAutoFit/>
          </a:bodyPr>
          <a:lstStyle/>
          <a:p>
            <a:pPr algn="ctr"/>
            <a:r>
              <a:rPr lang="en-ZA" sz="2000" dirty="0"/>
              <a:t>The outer product is the product of a ket vector and a bra vector. The outer product produces a matrix.</a:t>
            </a:r>
          </a:p>
        </p:txBody>
      </p:sp>
      <p:sp>
        <p:nvSpPr>
          <p:cNvPr id="8" name="TextBox 7">
            <a:extLst>
              <a:ext uri="{FF2B5EF4-FFF2-40B4-BE49-F238E27FC236}">
                <a16:creationId xmlns:a16="http://schemas.microsoft.com/office/drawing/2014/main" id="{05170C4A-F430-B649-B300-02BCBB4F20D7}"/>
              </a:ext>
            </a:extLst>
          </p:cNvPr>
          <p:cNvSpPr txBox="1"/>
          <p:nvPr/>
        </p:nvSpPr>
        <p:spPr>
          <a:xfrm>
            <a:off x="106016" y="1131817"/>
            <a:ext cx="5725158" cy="461665"/>
          </a:xfrm>
          <a:prstGeom prst="rect">
            <a:avLst/>
          </a:prstGeom>
          <a:noFill/>
        </p:spPr>
        <p:txBody>
          <a:bodyPr wrap="square" rtlCol="0">
            <a:spAutoFit/>
          </a:bodyPr>
          <a:lstStyle/>
          <a:p>
            <a:pPr algn="ctr"/>
            <a:r>
              <a:rPr lang="en-US" sz="2400" dirty="0"/>
              <a:t>Outer product</a:t>
            </a:r>
          </a:p>
        </p:txBody>
      </p:sp>
      <p:sp>
        <p:nvSpPr>
          <p:cNvPr id="20" name="TextBox 19">
            <a:extLst>
              <a:ext uri="{FF2B5EF4-FFF2-40B4-BE49-F238E27FC236}">
                <a16:creationId xmlns:a16="http://schemas.microsoft.com/office/drawing/2014/main" id="{49428F6A-7692-7B47-9766-BB77FDCA2A31}"/>
              </a:ext>
            </a:extLst>
          </p:cNvPr>
          <p:cNvSpPr txBox="1"/>
          <p:nvPr/>
        </p:nvSpPr>
        <p:spPr>
          <a:xfrm>
            <a:off x="5996650" y="1131817"/>
            <a:ext cx="6042271" cy="461665"/>
          </a:xfrm>
          <a:prstGeom prst="rect">
            <a:avLst/>
          </a:prstGeom>
          <a:noFill/>
        </p:spPr>
        <p:txBody>
          <a:bodyPr wrap="square" rtlCol="0">
            <a:spAutoFit/>
          </a:bodyPr>
          <a:lstStyle/>
          <a:p>
            <a:pPr algn="ctr"/>
            <a:r>
              <a:rPr lang="en-US" sz="2400" dirty="0"/>
              <a:t>Outer product with itself</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85F7DE3-AB69-EF46-9B97-D5362CA2C532}"/>
                  </a:ext>
                </a:extLst>
              </p:cNvPr>
              <p:cNvSpPr txBox="1"/>
              <p:nvPr/>
            </p:nvSpPr>
            <p:spPr>
              <a:xfrm>
                <a:off x="5996650" y="2585042"/>
                <a:ext cx="6195350" cy="9221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ZA"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m:t>
                      </m:r>
                      <m:d>
                        <m:dPr>
                          <m:begChr m:val="|"/>
                          <m:endChr m:val="⟩"/>
                          <m:ctrlPr>
                            <a:rPr lang="en-ZA" sz="2400" i="1" smtClean="0">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b="0" i="0" smtClean="0">
                          <a:latin typeface="Cambria Math" panose="02040503050406030204" pitchFamily="18" charset="0"/>
                        </a:rPr>
                        <m:t>a</m:t>
                      </m:r>
                      <m:r>
                        <a:rPr lang="sr-Latn-RS" sz="2400">
                          <a:latin typeface="Cambria Math" panose="02040503050406030204" pitchFamily="18" charset="0"/>
                        </a:rPr>
                        <m:t>|</m:t>
                      </m:r>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
                        </m:e>
                      </m:d>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p>
                                  <m:sSupPr>
                                    <m:ctrlPr>
                                      <a:rPr lang="en-ZA" sz="2400" i="1" smtClean="0">
                                        <a:latin typeface="Cambria Math" panose="02040503050406030204" pitchFamily="18" charset="0"/>
                                      </a:rPr>
                                    </m:ctrlPr>
                                  </m:sSupPr>
                                  <m:e>
                                    <m:d>
                                      <m:dPr>
                                        <m:begChr m:val="|"/>
                                        <m:endChr m:val="|"/>
                                        <m:ctrlPr>
                                          <a:rPr lang="en-ZA" sz="2400" i="1" smtClean="0">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d>
                                  </m:e>
                                  <m:sup>
                                    <m:r>
                                      <a:rPr lang="en-US" sz="2400" b="0" i="1" smtClean="0">
                                        <a:latin typeface="Cambria Math" panose="02040503050406030204" pitchFamily="18" charset="0"/>
                                      </a:rPr>
                                      <m:t>2</m:t>
                                    </m:r>
                                  </m:sup>
                                </m:s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i="1">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i="1">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2</m:t>
                                            </m:r>
                                          </m:sub>
                                        </m:sSub>
                                      </m:e>
                                    </m:d>
                                  </m:e>
                                  <m:sup>
                                    <m:r>
                                      <a:rPr lang="en-US" sz="2400" i="1">
                                        <a:latin typeface="Cambria Math" panose="02040503050406030204" pitchFamily="18" charset="0"/>
                                      </a:rPr>
                                      <m:t>2</m:t>
                                    </m:r>
                                  </m:sup>
                                </m:sSup>
                              </m:e>
                            </m:mr>
                          </m:m>
                        </m:e>
                      </m:d>
                    </m:oMath>
                  </m:oMathPara>
                </a14:m>
                <a:endParaRPr lang="en-US" sz="2400" dirty="0"/>
              </a:p>
            </p:txBody>
          </p:sp>
        </mc:Choice>
        <mc:Fallback xmlns="">
          <p:sp>
            <p:nvSpPr>
              <p:cNvPr id="22" name="TextBox 21">
                <a:extLst>
                  <a:ext uri="{FF2B5EF4-FFF2-40B4-BE49-F238E27FC236}">
                    <a16:creationId xmlns:a16="http://schemas.microsoft.com/office/drawing/2014/main" id="{D85F7DE3-AB69-EF46-9B97-D5362CA2C532}"/>
                  </a:ext>
                </a:extLst>
              </p:cNvPr>
              <p:cNvSpPr txBox="1">
                <a:spLocks noRot="1" noChangeAspect="1" noMove="1" noResize="1" noEditPoints="1" noAdjustHandles="1" noChangeArrowheads="1" noChangeShapeType="1" noTextEdit="1"/>
              </p:cNvSpPr>
              <p:nvPr/>
            </p:nvSpPr>
            <p:spPr>
              <a:xfrm>
                <a:off x="5996650" y="2585042"/>
                <a:ext cx="6195350" cy="922176"/>
              </a:xfrm>
              <a:prstGeom prst="rect">
                <a:avLst/>
              </a:prstGeom>
              <a:blipFill>
                <a:blip r:embed="rId3"/>
                <a:stretch>
                  <a:fillRect/>
                </a:stretch>
              </a:blipFill>
            </p:spPr>
            <p:txBody>
              <a:bodyPr/>
              <a:lstStyle/>
              <a:p>
                <a:r>
                  <a:rPr lang="en-US">
                    <a:noFill/>
                  </a:rPr>
                  <a:t> </a:t>
                </a:r>
              </a:p>
            </p:txBody>
          </p:sp>
        </mc:Fallback>
      </mc:AlternateContent>
      <p:sp>
        <p:nvSpPr>
          <p:cNvPr id="30" name="Rounded Rectangle 29">
            <a:extLst>
              <a:ext uri="{FF2B5EF4-FFF2-40B4-BE49-F238E27FC236}">
                <a16:creationId xmlns:a16="http://schemas.microsoft.com/office/drawing/2014/main" id="{DB927F15-22EA-064E-BC67-CB744EE33E5D}"/>
              </a:ext>
            </a:extLst>
          </p:cNvPr>
          <p:cNvSpPr/>
          <p:nvPr/>
        </p:nvSpPr>
        <p:spPr>
          <a:xfrm>
            <a:off x="1101995" y="4701246"/>
            <a:ext cx="4626650" cy="1118907"/>
          </a:xfrm>
          <a:prstGeom prst="roundRect">
            <a:avLst>
              <a:gd name="adj" fmla="val 10533"/>
            </a:avLst>
          </a:prstGeom>
          <a:solidFill>
            <a:srgbClr val="F4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3" name="TextBox 22">
            <a:extLst>
              <a:ext uri="{FF2B5EF4-FFF2-40B4-BE49-F238E27FC236}">
                <a16:creationId xmlns:a16="http://schemas.microsoft.com/office/drawing/2014/main" id="{D5520BDC-EC0B-834F-98DE-44C07718AC27}"/>
              </a:ext>
            </a:extLst>
          </p:cNvPr>
          <p:cNvSpPr txBox="1"/>
          <p:nvPr/>
        </p:nvSpPr>
        <p:spPr>
          <a:xfrm>
            <a:off x="1912857" y="4754035"/>
            <a:ext cx="3004925" cy="400110"/>
          </a:xfrm>
          <a:prstGeom prst="rect">
            <a:avLst/>
          </a:prstGeom>
          <a:noFill/>
        </p:spPr>
        <p:txBody>
          <a:bodyPr wrap="none" rtlCol="0">
            <a:spAutoFit/>
          </a:bodyPr>
          <a:lstStyle/>
          <a:p>
            <a:r>
              <a:rPr lang="en-US" sz="2000" dirty="0"/>
              <a:t>diagonal and inner product</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F9798EB-3DE9-BC49-8339-0A09FD3C4269}"/>
                  </a:ext>
                </a:extLst>
              </p:cNvPr>
              <p:cNvSpPr txBox="1"/>
              <p:nvPr/>
            </p:nvSpPr>
            <p:spPr>
              <a:xfrm>
                <a:off x="1078725" y="5254525"/>
                <a:ext cx="472917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Tr</m:t>
                      </m:r>
                      <m:d>
                        <m:dPr>
                          <m:ctrlPr>
                            <a:rPr lang="en-US" sz="2400" b="0" i="1" smtClean="0">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a:rPr lang="sr-Latn-RS" sz="2400" i="1">
                              <a:latin typeface="Cambria Math" panose="02040503050406030204" pitchFamily="18" charset="0"/>
                            </a:rPr>
                            <m:t>𝑏</m:t>
                          </m:r>
                          <m:r>
                            <a:rPr lang="sr-Latn-RS" sz="2400">
                              <a:latin typeface="Cambria Math" panose="02040503050406030204" pitchFamily="18" charset="0"/>
                            </a:rPr>
                            <m:t>|</m:t>
                          </m:r>
                        </m:e>
                      </m:d>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𝑏</m:t>
                          </m:r>
                        </m:e>
                        <m:e>
                          <m:r>
                            <a:rPr lang="en-US" sz="2400" b="0" i="1" smtClean="0">
                              <a:latin typeface="Cambria Math" panose="02040503050406030204" pitchFamily="18" charset="0"/>
                            </a:rPr>
                            <m:t>𝑎</m:t>
                          </m:r>
                        </m:e>
                      </m:d>
                    </m:oMath>
                  </m:oMathPara>
                </a14:m>
                <a:endParaRPr lang="en-US" sz="2400" dirty="0"/>
              </a:p>
            </p:txBody>
          </p:sp>
        </mc:Choice>
        <mc:Fallback xmlns="">
          <p:sp>
            <p:nvSpPr>
              <p:cNvPr id="25" name="TextBox 24">
                <a:extLst>
                  <a:ext uri="{FF2B5EF4-FFF2-40B4-BE49-F238E27FC236}">
                    <a16:creationId xmlns:a16="http://schemas.microsoft.com/office/drawing/2014/main" id="{BF9798EB-3DE9-BC49-8339-0A09FD3C4269}"/>
                  </a:ext>
                </a:extLst>
              </p:cNvPr>
              <p:cNvSpPr txBox="1">
                <a:spLocks noRot="1" noChangeAspect="1" noMove="1" noResize="1" noEditPoints="1" noAdjustHandles="1" noChangeArrowheads="1" noChangeShapeType="1" noTextEdit="1"/>
              </p:cNvSpPr>
              <p:nvPr/>
            </p:nvSpPr>
            <p:spPr>
              <a:xfrm>
                <a:off x="1078725" y="5254525"/>
                <a:ext cx="4729179" cy="461665"/>
              </a:xfrm>
              <a:prstGeom prst="rect">
                <a:avLst/>
              </a:prstGeom>
              <a:blipFill>
                <a:blip r:embed="rId4"/>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9DB7F3C4-F6E0-C04B-979D-F86461DBFEE4}"/>
                  </a:ext>
                </a:extLst>
              </p:cNvPr>
              <p:cNvSpPr/>
              <p:nvPr/>
            </p:nvSpPr>
            <p:spPr>
              <a:xfrm>
                <a:off x="67609" y="2356218"/>
                <a:ext cx="5572359" cy="17045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sub>
                                </m:sSub>
                              </m:e>
                            </m:mr>
                          </m:m>
                        </m:e>
                      </m:d>
                      <m:r>
                        <a:rPr lang="en-US" sz="2400" i="1">
                          <a:latin typeface="Cambria Math" panose="02040503050406030204" pitchFamily="18" charset="0"/>
                        </a:rPr>
                        <m:t>,  </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𝑏</m:t>
                          </m:r>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en-US" sz="2400" i="1">
                                        <a:latin typeface="Cambria Math" panose="02040503050406030204" pitchFamily="18" charset="0"/>
                                      </a:rPr>
                                      <m:t>𝑏</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e>
                            </m:mr>
                          </m:m>
                        </m:e>
                      </m:d>
                    </m:oMath>
                  </m:oMathPara>
                </a14:m>
                <a:endParaRPr lang="en-US" sz="2400" i="1" dirty="0">
                  <a:latin typeface="Cambria Math" panose="02040503050406030204" pitchFamily="18" charset="0"/>
                </a:endParaRPr>
              </a:p>
              <a:p>
                <a:endParaRPr lang="en-US"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a:rPr lang="sr-Latn-RS" sz="2400" i="1">
                          <a:latin typeface="Cambria Math" panose="02040503050406030204" pitchFamily="18" charset="0"/>
                        </a:rPr>
                        <m:t>𝑏</m:t>
                      </m:r>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sub>
                                </m:sSub>
                              </m:e>
                            </m:mr>
                          </m:m>
                        </m:e>
                      </m:d>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en-US" sz="2400" i="1">
                                        <a:latin typeface="Cambria Math" panose="02040503050406030204" pitchFamily="18" charset="0"/>
                                      </a:rPr>
                                      <m:t>2</m:t>
                                    </m:r>
                                  </m:sub>
                                  <m:sup>
                                    <m:r>
                                      <a:rPr lang="sr-Latn-RS" sz="2400" i="1">
                                        <a:latin typeface="Cambria Math" panose="02040503050406030204" pitchFamily="18" charset="0"/>
                                      </a:rPr>
                                      <m:t>∗</m:t>
                                    </m:r>
                                  </m:sup>
                                </m:sSubSup>
                              </m:e>
                            </m:mr>
                          </m:m>
                        </m:e>
                      </m:d>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
                        </m:e>
                      </m:d>
                    </m:oMath>
                  </m:oMathPara>
                </a14:m>
                <a:endParaRPr lang="en-US" sz="2400" dirty="0"/>
              </a:p>
            </p:txBody>
          </p:sp>
        </mc:Choice>
        <mc:Fallback xmlns="">
          <p:sp>
            <p:nvSpPr>
              <p:cNvPr id="27" name="Rectangle 26">
                <a:extLst>
                  <a:ext uri="{FF2B5EF4-FFF2-40B4-BE49-F238E27FC236}">
                    <a16:creationId xmlns:a16="http://schemas.microsoft.com/office/drawing/2014/main" id="{9DB7F3C4-F6E0-C04B-979D-F86461DBFEE4}"/>
                  </a:ext>
                </a:extLst>
              </p:cNvPr>
              <p:cNvSpPr>
                <a:spLocks noRot="1" noChangeAspect="1" noMove="1" noResize="1" noEditPoints="1" noAdjustHandles="1" noChangeArrowheads="1" noChangeShapeType="1" noTextEdit="1"/>
              </p:cNvSpPr>
              <p:nvPr/>
            </p:nvSpPr>
            <p:spPr>
              <a:xfrm>
                <a:off x="67609" y="2356218"/>
                <a:ext cx="5572359" cy="1704569"/>
              </a:xfrm>
              <a:prstGeom prst="rect">
                <a:avLst/>
              </a:prstGeom>
              <a:blipFill>
                <a:blip r:embed="rId5"/>
                <a:stretch>
                  <a:fillRect/>
                </a:stretch>
              </a:blipFill>
            </p:spPr>
            <p:txBody>
              <a:bodyPr/>
              <a:lstStyle/>
              <a:p>
                <a:r>
                  <a:rPr lang="en-US">
                    <a:noFill/>
                  </a:rPr>
                  <a:t> </a:t>
                </a:r>
              </a:p>
            </p:txBody>
          </p:sp>
        </mc:Fallback>
      </mc:AlternateContent>
      <p:sp>
        <p:nvSpPr>
          <p:cNvPr id="29" name="Right Arrow 28">
            <a:extLst>
              <a:ext uri="{FF2B5EF4-FFF2-40B4-BE49-F238E27FC236}">
                <a16:creationId xmlns:a16="http://schemas.microsoft.com/office/drawing/2014/main" id="{0875E619-632A-7E44-B65D-D4897765C969}"/>
              </a:ext>
            </a:extLst>
          </p:cNvPr>
          <p:cNvSpPr/>
          <p:nvPr/>
        </p:nvSpPr>
        <p:spPr>
          <a:xfrm rot="5400000">
            <a:off x="10725007" y="3820310"/>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5F1AE047-4072-AE45-BB29-0F5BEC8887E3}"/>
              </a:ext>
            </a:extLst>
          </p:cNvPr>
          <p:cNvSpPr/>
          <p:nvPr/>
        </p:nvSpPr>
        <p:spPr>
          <a:xfrm>
            <a:off x="7297175" y="4220708"/>
            <a:ext cx="4626650" cy="799695"/>
          </a:xfrm>
          <a:prstGeom prst="roundRect">
            <a:avLst>
              <a:gd name="adj" fmla="val 10533"/>
            </a:avLst>
          </a:prstGeom>
          <a:solidFill>
            <a:srgbClr val="F4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DB0CF1D-4CE9-BF4B-B9C5-847492078643}"/>
                  </a:ext>
                </a:extLst>
              </p:cNvPr>
              <p:cNvSpPr txBox="1"/>
              <p:nvPr/>
            </p:nvSpPr>
            <p:spPr>
              <a:xfrm>
                <a:off x="7239627" y="4413470"/>
                <a:ext cx="474174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Tr</m:t>
                      </m:r>
                      <m:d>
                        <m:dPr>
                          <m:ctrlPr>
                            <a:rPr lang="en-US" sz="2400" b="0" i="1" smtClean="0">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b="0" i="0" smtClean="0">
                              <a:latin typeface="Cambria Math" panose="02040503050406030204" pitchFamily="18" charset="0"/>
                            </a:rPr>
                            <m:t>a</m:t>
                          </m:r>
                          <m:r>
                            <a:rPr lang="sr-Latn-RS" sz="2400">
                              <a:latin typeface="Cambria Math" panose="02040503050406030204" pitchFamily="18" charset="0"/>
                            </a:rPr>
                            <m:t>|</m:t>
                          </m:r>
                        </m:e>
                      </m:d>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e>
                          <m:r>
                            <a:rPr lang="en-US" sz="2400" b="0" i="1" smtClean="0">
                              <a:latin typeface="Cambria Math" panose="02040503050406030204" pitchFamily="18" charset="0"/>
                            </a:rPr>
                            <m:t>𝑎</m:t>
                          </m:r>
                        </m:e>
                      </m:d>
                    </m:oMath>
                  </m:oMathPara>
                </a14:m>
                <a:endParaRPr lang="en-US" sz="2400" dirty="0"/>
              </a:p>
            </p:txBody>
          </p:sp>
        </mc:Choice>
        <mc:Fallback xmlns="">
          <p:sp>
            <p:nvSpPr>
              <p:cNvPr id="36" name="TextBox 35">
                <a:extLst>
                  <a:ext uri="{FF2B5EF4-FFF2-40B4-BE49-F238E27FC236}">
                    <a16:creationId xmlns:a16="http://schemas.microsoft.com/office/drawing/2014/main" id="{0DB0CF1D-4CE9-BF4B-B9C5-847492078643}"/>
                  </a:ext>
                </a:extLst>
              </p:cNvPr>
              <p:cNvSpPr txBox="1">
                <a:spLocks noRot="1" noChangeAspect="1" noMove="1" noResize="1" noEditPoints="1" noAdjustHandles="1" noChangeArrowheads="1" noChangeShapeType="1" noTextEdit="1"/>
              </p:cNvSpPr>
              <p:nvPr/>
            </p:nvSpPr>
            <p:spPr>
              <a:xfrm>
                <a:off x="7239627" y="4413470"/>
                <a:ext cx="4741746" cy="461665"/>
              </a:xfrm>
              <a:prstGeom prst="rect">
                <a:avLst/>
              </a:prstGeom>
              <a:blipFill>
                <a:blip r:embed="rId6"/>
                <a:stretch>
                  <a:fillRect b="-16667"/>
                </a:stretch>
              </a:blipFill>
            </p:spPr>
            <p:txBody>
              <a:bodyPr/>
              <a:lstStyle/>
              <a:p>
                <a:r>
                  <a:rPr lang="en-US">
                    <a:noFill/>
                  </a:rPr>
                  <a:t> </a:t>
                </a:r>
              </a:p>
            </p:txBody>
          </p:sp>
        </mc:Fallback>
      </mc:AlternateContent>
      <p:sp>
        <p:nvSpPr>
          <p:cNvPr id="38" name="Right Arrow 37">
            <a:extLst>
              <a:ext uri="{FF2B5EF4-FFF2-40B4-BE49-F238E27FC236}">
                <a16:creationId xmlns:a16="http://schemas.microsoft.com/office/drawing/2014/main" id="{0EFCA387-0041-4644-AC77-4A490575DDF9}"/>
              </a:ext>
            </a:extLst>
          </p:cNvPr>
          <p:cNvSpPr/>
          <p:nvPr/>
        </p:nvSpPr>
        <p:spPr>
          <a:xfrm rot="5400000">
            <a:off x="4283225" y="4284309"/>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4784389D-35C7-DD4E-A262-5D00E2B3D640}"/>
                  </a:ext>
                </a:extLst>
              </p:cNvPr>
              <p:cNvSpPr/>
              <p:nvPr/>
            </p:nvSpPr>
            <p:spPr>
              <a:xfrm>
                <a:off x="5996650" y="1648332"/>
                <a:ext cx="6042271" cy="707886"/>
              </a:xfrm>
              <a:prstGeom prst="rect">
                <a:avLst/>
              </a:prstGeom>
            </p:spPr>
            <p:txBody>
              <a:bodyPr wrap="square">
                <a:spAutoFit/>
              </a:bodyPr>
              <a:lstStyle/>
              <a:p>
                <a:pPr algn="ctr"/>
                <a:r>
                  <a:rPr lang="en-ZA" sz="2000" dirty="0"/>
                  <a:t>In quantum mechanics, the outer product of a state vector with itself,  </a:t>
                </a:r>
                <a14:m>
                  <m:oMath xmlns:m="http://schemas.openxmlformats.org/officeDocument/2006/math">
                    <m:r>
                      <a:rPr lang="en-ZA"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𝑎</m:t>
                        </m:r>
                      </m:e>
                    </m:d>
                    <m:r>
                      <a:rPr lang="sr-Latn-RS" sz="2000">
                        <a:latin typeface="Cambria Math" panose="02040503050406030204" pitchFamily="18" charset="0"/>
                      </a:rPr>
                      <m:t>⟨</m:t>
                    </m:r>
                    <m:r>
                      <a:rPr lang="sr-Latn-RS" sz="2000" i="1">
                        <a:latin typeface="Cambria Math" panose="02040503050406030204" pitchFamily="18" charset="0"/>
                      </a:rPr>
                      <m:t>𝑎</m:t>
                    </m:r>
                    <m:r>
                      <a:rPr lang="sr-Latn-RS" sz="2000">
                        <a:latin typeface="Cambria Math" panose="02040503050406030204" pitchFamily="18" charset="0"/>
                      </a:rPr>
                      <m:t>|</m:t>
                    </m:r>
                  </m:oMath>
                </a14:m>
                <a:r>
                  <a:rPr lang="en-ZA" sz="2000" dirty="0"/>
                  <a:t>, is called a density matrix </a:t>
                </a:r>
              </a:p>
            </p:txBody>
          </p:sp>
        </mc:Choice>
        <mc:Fallback xmlns="">
          <p:sp>
            <p:nvSpPr>
              <p:cNvPr id="39" name="Rectangle 38">
                <a:extLst>
                  <a:ext uri="{FF2B5EF4-FFF2-40B4-BE49-F238E27FC236}">
                    <a16:creationId xmlns:a16="http://schemas.microsoft.com/office/drawing/2014/main" id="{4784389D-35C7-DD4E-A262-5D00E2B3D640}"/>
                  </a:ext>
                </a:extLst>
              </p:cNvPr>
              <p:cNvSpPr>
                <a:spLocks noRot="1" noChangeAspect="1" noMove="1" noResize="1" noEditPoints="1" noAdjustHandles="1" noChangeArrowheads="1" noChangeShapeType="1" noTextEdit="1"/>
              </p:cNvSpPr>
              <p:nvPr/>
            </p:nvSpPr>
            <p:spPr>
              <a:xfrm>
                <a:off x="5996650" y="1648332"/>
                <a:ext cx="6042271" cy="707886"/>
              </a:xfrm>
              <a:prstGeom prst="rect">
                <a:avLst/>
              </a:prstGeom>
              <a:blipFill>
                <a:blip r:embed="rId7"/>
                <a:stretch>
                  <a:fillRect t="-3509" r="-210" b="-12281"/>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A344C8E7-2B71-CB45-B367-2643D1D72028}"/>
              </a:ext>
            </a:extLst>
          </p:cNvPr>
          <p:cNvSpPr txBox="1"/>
          <p:nvPr/>
        </p:nvSpPr>
        <p:spPr>
          <a:xfrm>
            <a:off x="6827623" y="5516135"/>
            <a:ext cx="5275419" cy="400110"/>
          </a:xfrm>
          <a:prstGeom prst="rect">
            <a:avLst/>
          </a:prstGeom>
          <a:noFill/>
        </p:spPr>
        <p:txBody>
          <a:bodyPr wrap="none" rtlCol="0">
            <a:spAutoFit/>
          </a:bodyPr>
          <a:lstStyle/>
          <a:p>
            <a:r>
              <a:rPr lang="en-ZA" sz="2000" dirty="0"/>
              <a:t>for a normalized vector, this sum is equal to one.</a:t>
            </a:r>
            <a:endParaRPr lang="en-US" sz="20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7A6C2A1-890B-C141-AFB1-DA570B7FFFF7}"/>
                  </a:ext>
                </a:extLst>
              </p:cNvPr>
              <p:cNvSpPr txBox="1"/>
              <p:nvPr/>
            </p:nvSpPr>
            <p:spPr>
              <a:xfrm>
                <a:off x="8462871" y="6107258"/>
                <a:ext cx="21234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Tr</m:t>
                      </m:r>
                      <m:d>
                        <m:dPr>
                          <m:ctrlPr>
                            <a:rPr lang="en-US" sz="2400" i="1">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a:latin typeface="Cambria Math" panose="02040503050406030204" pitchFamily="18" charset="0"/>
                            </a:rPr>
                            <m:t>a</m:t>
                          </m:r>
                          <m:r>
                            <a:rPr lang="sr-Latn-RS" sz="2400">
                              <a:latin typeface="Cambria Math" panose="02040503050406030204" pitchFamily="18" charset="0"/>
                            </a:rPr>
                            <m:t>|</m:t>
                          </m:r>
                        </m:e>
                      </m:d>
                      <m:r>
                        <a:rPr lang="en-US" sz="2400">
                          <a:latin typeface="Cambria Math" panose="02040503050406030204" pitchFamily="18" charset="0"/>
                        </a:rPr>
                        <m:t>=</m:t>
                      </m:r>
                      <m:r>
                        <a:rPr lang="en-US" sz="2400" b="0" i="0" smtClean="0">
                          <a:latin typeface="Cambria Math" panose="02040503050406030204" pitchFamily="18" charset="0"/>
                        </a:rPr>
                        <m:t>1</m:t>
                      </m:r>
                    </m:oMath>
                  </m:oMathPara>
                </a14:m>
                <a:endParaRPr lang="en-US" sz="2400" dirty="0"/>
              </a:p>
            </p:txBody>
          </p:sp>
        </mc:Choice>
        <mc:Fallback xmlns="">
          <p:sp>
            <p:nvSpPr>
              <p:cNvPr id="41" name="TextBox 40">
                <a:extLst>
                  <a:ext uri="{FF2B5EF4-FFF2-40B4-BE49-F238E27FC236}">
                    <a16:creationId xmlns:a16="http://schemas.microsoft.com/office/drawing/2014/main" id="{17A6C2A1-890B-C141-AFB1-DA570B7FFFF7}"/>
                  </a:ext>
                </a:extLst>
              </p:cNvPr>
              <p:cNvSpPr txBox="1">
                <a:spLocks noRot="1" noChangeAspect="1" noMove="1" noResize="1" noEditPoints="1" noAdjustHandles="1" noChangeArrowheads="1" noChangeShapeType="1" noTextEdit="1"/>
              </p:cNvSpPr>
              <p:nvPr/>
            </p:nvSpPr>
            <p:spPr>
              <a:xfrm>
                <a:off x="8462871" y="6107258"/>
                <a:ext cx="2123402" cy="461665"/>
              </a:xfrm>
              <a:prstGeom prst="rect">
                <a:avLst/>
              </a:prstGeom>
              <a:blipFill>
                <a:blip r:embed="rId8"/>
                <a:stretch>
                  <a:fillRect b="-16216"/>
                </a:stretch>
              </a:blipFill>
            </p:spPr>
            <p:txBody>
              <a:bodyPr/>
              <a:lstStyle/>
              <a:p>
                <a:r>
                  <a:rPr lang="en-US">
                    <a:noFill/>
                  </a:rPr>
                  <a:t> </a:t>
                </a:r>
              </a:p>
            </p:txBody>
          </p:sp>
        </mc:Fallback>
      </mc:AlternateContent>
      <p:sp>
        <p:nvSpPr>
          <p:cNvPr id="43" name="Right Arrow 42">
            <a:extLst>
              <a:ext uri="{FF2B5EF4-FFF2-40B4-BE49-F238E27FC236}">
                <a16:creationId xmlns:a16="http://schemas.microsoft.com/office/drawing/2014/main" id="{84C1E545-C990-394B-ABC8-B7D52C2450FF}"/>
              </a:ext>
            </a:extLst>
          </p:cNvPr>
          <p:cNvSpPr/>
          <p:nvPr/>
        </p:nvSpPr>
        <p:spPr>
          <a:xfrm rot="5400000">
            <a:off x="9251508" y="5144112"/>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199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4BE6-6400-054F-9B89-B50AB0B3CD47}"/>
              </a:ext>
            </a:extLst>
          </p:cNvPr>
          <p:cNvSpPr>
            <a:spLocks noGrp="1"/>
          </p:cNvSpPr>
          <p:nvPr>
            <p:ph type="title"/>
          </p:nvPr>
        </p:nvSpPr>
        <p:spPr>
          <a:xfrm>
            <a:off x="0" y="0"/>
            <a:ext cx="12192000" cy="928688"/>
          </a:xfrm>
        </p:spPr>
        <p:txBody>
          <a:bodyPr/>
          <a:lstStyle/>
          <a:p>
            <a:r>
              <a:rPr lang="en-ZA" dirty="0"/>
              <a:t>Density Matrix Representation</a:t>
            </a:r>
            <a:endParaRPr lang="en-US" dirty="0"/>
          </a:p>
        </p:txBody>
      </p:sp>
      <p:sp>
        <p:nvSpPr>
          <p:cNvPr id="3" name="Slide Number Placeholder 2">
            <a:extLst>
              <a:ext uri="{FF2B5EF4-FFF2-40B4-BE49-F238E27FC236}">
                <a16:creationId xmlns:a16="http://schemas.microsoft.com/office/drawing/2014/main" id="{CB7F10F2-5796-9E4B-A1BB-CFA1052D415F}"/>
              </a:ext>
            </a:extLst>
          </p:cNvPr>
          <p:cNvSpPr>
            <a:spLocks noGrp="1"/>
          </p:cNvSpPr>
          <p:nvPr>
            <p:ph type="sldNum" sz="quarter" idx="12"/>
          </p:nvPr>
        </p:nvSpPr>
        <p:spPr/>
        <p:txBody>
          <a:bodyPr/>
          <a:lstStyle/>
          <a:p>
            <a:fld id="{591A223C-FA10-BC46-A853-03BA373D023C}" type="slidenum">
              <a:rPr lang="en-US" smtClean="0"/>
              <a:t>27</a:t>
            </a:fld>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3C32B23-456C-7744-A99E-EE64765A92E1}"/>
                  </a:ext>
                </a:extLst>
              </p:cNvPr>
              <p:cNvSpPr/>
              <p:nvPr/>
            </p:nvSpPr>
            <p:spPr>
              <a:xfrm>
                <a:off x="730084" y="1254378"/>
                <a:ext cx="1512081" cy="6467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𝑎</m:t>
                                </m:r>
                              </m:e>
                            </m:mr>
                            <m:mr>
                              <m:e>
                                <m:r>
                                  <a:rPr lang="en-US" sz="2400" i="1">
                                    <a:latin typeface="Cambria Math" panose="02040503050406030204" pitchFamily="18" charset="0"/>
                                  </a:rPr>
                                  <m:t>𝑏</m:t>
                                </m:r>
                              </m:e>
                            </m:mr>
                          </m:m>
                        </m:e>
                      </m:d>
                    </m:oMath>
                  </m:oMathPara>
                </a14:m>
                <a:endParaRPr lang="en-US" sz="2400" dirty="0"/>
              </a:p>
            </p:txBody>
          </p:sp>
        </mc:Choice>
        <mc:Fallback xmlns="">
          <p:sp>
            <p:nvSpPr>
              <p:cNvPr id="13" name="Rectangle 12">
                <a:extLst>
                  <a:ext uri="{FF2B5EF4-FFF2-40B4-BE49-F238E27FC236}">
                    <a16:creationId xmlns:a16="http://schemas.microsoft.com/office/drawing/2014/main" id="{03C32B23-456C-7744-A99E-EE64765A92E1}"/>
                  </a:ext>
                </a:extLst>
              </p:cNvPr>
              <p:cNvSpPr>
                <a:spLocks noRot="1" noChangeAspect="1" noMove="1" noResize="1" noEditPoints="1" noAdjustHandles="1" noChangeArrowheads="1" noChangeShapeType="1" noTextEdit="1"/>
              </p:cNvSpPr>
              <p:nvPr/>
            </p:nvSpPr>
            <p:spPr>
              <a:xfrm>
                <a:off x="730084" y="1254378"/>
                <a:ext cx="1512081" cy="646780"/>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61A66EB0-E94B-4D4C-9EA8-72C001D52E5B}"/>
                  </a:ext>
                </a:extLst>
              </p:cNvPr>
              <p:cNvSpPr/>
              <p:nvPr/>
            </p:nvSpPr>
            <p:spPr>
              <a:xfrm>
                <a:off x="3700730" y="1153261"/>
                <a:ext cx="7681975" cy="8490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rPr>
                        <m:t>𝝆</m:t>
                      </m:r>
                      <m:r>
                        <a:rPr lang="en-US" sz="2400" b="1" i="0">
                          <a:latin typeface="Cambria Math" panose="02040503050406030204" pitchFamily="18" charset="0"/>
                        </a:rPr>
                        <m:t>=</m:t>
                      </m:r>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𝑺</m:t>
                          </m:r>
                        </m:e>
                      </m:d>
                      <m:r>
                        <a:rPr lang="en-US" sz="2400" b="1" i="0">
                          <a:latin typeface="Cambria Math" panose="02040503050406030204" pitchFamily="18" charset="0"/>
                        </a:rPr>
                        <m:t>⟨</m:t>
                      </m:r>
                      <m:r>
                        <a:rPr lang="en-US" sz="2400" b="1" i="1">
                          <a:latin typeface="Cambria Math" panose="02040503050406030204" pitchFamily="18" charset="0"/>
                        </a:rPr>
                        <m:t>𝑺</m:t>
                      </m:r>
                      <m:r>
                        <a:rPr lang="en-US" sz="2400" b="1" i="0">
                          <a:latin typeface="Cambria Math" panose="02040503050406030204" pitchFamily="18" charset="0"/>
                        </a:rPr>
                        <m:t>|</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𝑎</m:t>
                                </m:r>
                              </m:e>
                            </m:mr>
                            <m:mr>
                              <m:e>
                                <m:r>
                                  <a:rPr lang="en-US" sz="2400" i="1">
                                    <a:latin typeface="Cambria Math" panose="02040503050406030204" pitchFamily="18" charset="0"/>
                                  </a:rPr>
                                  <m:t>𝑏</m:t>
                                </m:r>
                              </m:e>
                            </m:mr>
                          </m:m>
                        </m:e>
                      </m:d>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m:t>
                                    </m:r>
                                  </m:sup>
                                </m:sSup>
                              </m:e>
                              <m:e>
                                <m:sSup>
                                  <m:sSupPr>
                                    <m:ctrlPr>
                                      <a:rPr lang="en-US" sz="2400" i="1">
                                        <a:latin typeface="Cambria Math" panose="02040503050406030204" pitchFamily="18" charset="0"/>
                                      </a:rPr>
                                    </m:ctrlPr>
                                  </m:sSupPr>
                                  <m:e>
                                    <m:r>
                                      <a:rPr lang="en-US" sz="2400" i="1">
                                        <a:latin typeface="Cambria Math" panose="02040503050406030204" pitchFamily="18" charset="0"/>
                                      </a:rPr>
                                      <m:t>𝑏</m:t>
                                    </m:r>
                                  </m:e>
                                  <m:sup>
                                    <m:r>
                                      <a:rPr lang="en-US" sz="2400" i="0">
                                        <a:latin typeface="Cambria Math" panose="02040503050406030204" pitchFamily="18" charset="0"/>
                                      </a:rPr>
                                      <m:t>∗</m:t>
                                    </m:r>
                                  </m:sup>
                                </m:sSup>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𝑎</m:t>
                                </m:r>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m:t>
                                    </m:r>
                                  </m:sup>
                                </m:sSup>
                              </m:e>
                              <m:e>
                                <m:r>
                                  <a:rPr lang="en-US" sz="2400" i="1">
                                    <a:latin typeface="Cambria Math" panose="02040503050406030204" pitchFamily="18" charset="0"/>
                                  </a:rPr>
                                  <m:t>𝑎</m:t>
                                </m:r>
                                <m:sSup>
                                  <m:sSupPr>
                                    <m:ctrlPr>
                                      <a:rPr lang="en-US" sz="2400" i="1">
                                        <a:latin typeface="Cambria Math" panose="02040503050406030204" pitchFamily="18" charset="0"/>
                                      </a:rPr>
                                    </m:ctrlPr>
                                  </m:sSupPr>
                                  <m:e>
                                    <m:r>
                                      <a:rPr lang="en-US" sz="2400" i="1">
                                        <a:latin typeface="Cambria Math" panose="02040503050406030204" pitchFamily="18" charset="0"/>
                                      </a:rPr>
                                      <m:t>𝑏</m:t>
                                    </m:r>
                                  </m:e>
                                  <m:sup>
                                    <m:r>
                                      <a:rPr lang="en-US" sz="2400" i="0">
                                        <a:latin typeface="Cambria Math" panose="02040503050406030204" pitchFamily="18" charset="0"/>
                                      </a:rPr>
                                      <m:t>∗</m:t>
                                    </m:r>
                                  </m:sup>
                                </m:sSup>
                              </m:e>
                            </m:mr>
                            <m:mr>
                              <m:e>
                                <m:r>
                                  <a:rPr lang="en-US" sz="2400" i="1">
                                    <a:latin typeface="Cambria Math" panose="02040503050406030204" pitchFamily="18" charset="0"/>
                                  </a:rPr>
                                  <m:t>𝑏</m:t>
                                </m:r>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m:t>
                                    </m:r>
                                  </m:sup>
                                </m:sSup>
                              </m:e>
                              <m:e>
                                <m:r>
                                  <a:rPr lang="en-US" sz="2400" i="1">
                                    <a:latin typeface="Cambria Math" panose="02040503050406030204" pitchFamily="18" charset="0"/>
                                  </a:rPr>
                                  <m:t>𝑏</m:t>
                                </m:r>
                                <m:sSup>
                                  <m:sSupPr>
                                    <m:ctrlPr>
                                      <a:rPr lang="en-US" sz="2400" i="1">
                                        <a:latin typeface="Cambria Math" panose="02040503050406030204" pitchFamily="18" charset="0"/>
                                      </a:rPr>
                                    </m:ctrlPr>
                                  </m:sSupPr>
                                  <m:e>
                                    <m:r>
                                      <a:rPr lang="en-US" sz="2400" i="1">
                                        <a:latin typeface="Cambria Math" panose="02040503050406030204" pitchFamily="18" charset="0"/>
                                      </a:rPr>
                                      <m:t>𝑏</m:t>
                                    </m:r>
                                  </m:e>
                                  <m:sup>
                                    <m:r>
                                      <a:rPr lang="en-US" sz="2400" i="0">
                                        <a:latin typeface="Cambria Math" panose="02040503050406030204" pitchFamily="18" charset="0"/>
                                      </a:rPr>
                                      <m:t>∗</m:t>
                                    </m:r>
                                  </m:sup>
                                </m:sSup>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sup>
                                    <m:r>
                                      <a:rPr lang="en-US" sz="2400" i="0">
                                        <a:latin typeface="Cambria Math" panose="02040503050406030204" pitchFamily="18" charset="0"/>
                                      </a:rPr>
                                      <m:t>2</m:t>
                                    </m:r>
                                  </m:sup>
                                </m:sSup>
                              </m:e>
                              <m:e>
                                <m:r>
                                  <a:rPr lang="en-US" sz="2400" i="1">
                                    <a:latin typeface="Cambria Math" panose="02040503050406030204" pitchFamily="18" charset="0"/>
                                  </a:rPr>
                                  <m:t>𝑎</m:t>
                                </m:r>
                                <m:sSup>
                                  <m:sSupPr>
                                    <m:ctrlPr>
                                      <a:rPr lang="en-US" sz="2400" i="1">
                                        <a:latin typeface="Cambria Math" panose="02040503050406030204" pitchFamily="18" charset="0"/>
                                      </a:rPr>
                                    </m:ctrlPr>
                                  </m:sSupPr>
                                  <m:e>
                                    <m:r>
                                      <a:rPr lang="en-US" sz="2400" i="1">
                                        <a:latin typeface="Cambria Math" panose="02040503050406030204" pitchFamily="18" charset="0"/>
                                      </a:rPr>
                                      <m:t>𝑏</m:t>
                                    </m:r>
                                  </m:e>
                                  <m:sup>
                                    <m:r>
                                      <a:rPr lang="en-US" sz="2400" i="0">
                                        <a:latin typeface="Cambria Math" panose="02040503050406030204" pitchFamily="18" charset="0"/>
                                      </a:rPr>
                                      <m:t>∗</m:t>
                                    </m:r>
                                  </m:sup>
                                </m:sSup>
                              </m:e>
                            </m:mr>
                            <m:mr>
                              <m:e>
                                <m:r>
                                  <a:rPr lang="en-US" sz="2400" i="1">
                                    <a:latin typeface="Cambria Math" panose="02040503050406030204" pitchFamily="18" charset="0"/>
                                  </a:rPr>
                                  <m:t>𝑏</m:t>
                                </m:r>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0">
                                        <a:latin typeface="Cambria Math" panose="02040503050406030204" pitchFamily="18" charset="0"/>
                                      </a:rPr>
                                      <m:t>∗</m:t>
                                    </m:r>
                                  </m:sup>
                                </m:sSup>
                              </m:e>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e>
                                  <m:sup>
                                    <m:r>
                                      <a:rPr lang="en-US" sz="2400" i="0">
                                        <a:latin typeface="Cambria Math" panose="02040503050406030204" pitchFamily="18" charset="0"/>
                                      </a:rPr>
                                      <m:t>2</m:t>
                                    </m:r>
                                  </m:sup>
                                </m:sSup>
                              </m:e>
                            </m:mr>
                          </m:m>
                        </m:e>
                      </m:d>
                    </m:oMath>
                  </m:oMathPara>
                </a14:m>
                <a:endParaRPr lang="en-US" sz="2400" dirty="0"/>
              </a:p>
            </p:txBody>
          </p:sp>
        </mc:Choice>
        <mc:Fallback xmlns="">
          <p:sp>
            <p:nvSpPr>
              <p:cNvPr id="14" name="Rectangle 13">
                <a:extLst>
                  <a:ext uri="{FF2B5EF4-FFF2-40B4-BE49-F238E27FC236}">
                    <a16:creationId xmlns:a16="http://schemas.microsoft.com/office/drawing/2014/main" id="{61A66EB0-E94B-4D4C-9EA8-72C001D52E5B}"/>
                  </a:ext>
                </a:extLst>
              </p:cNvPr>
              <p:cNvSpPr>
                <a:spLocks noRot="1" noChangeAspect="1" noMove="1" noResize="1" noEditPoints="1" noAdjustHandles="1" noChangeArrowheads="1" noChangeShapeType="1" noTextEdit="1"/>
              </p:cNvSpPr>
              <p:nvPr/>
            </p:nvSpPr>
            <p:spPr>
              <a:xfrm>
                <a:off x="3700730" y="1153261"/>
                <a:ext cx="7681975" cy="849015"/>
              </a:xfrm>
              <a:prstGeom prst="rect">
                <a:avLst/>
              </a:prstGeom>
              <a:blipFill>
                <a:blip r:embed="rId4"/>
                <a:stretch>
                  <a:fillRect/>
                </a:stretch>
              </a:blipFill>
            </p:spPr>
            <p:txBody>
              <a:bodyPr/>
              <a:lstStyle/>
              <a:p>
                <a:r>
                  <a:rPr lang="en-US">
                    <a:noFill/>
                  </a:rPr>
                  <a:t> </a:t>
                </a:r>
              </a:p>
            </p:txBody>
          </p:sp>
        </mc:Fallback>
      </mc:AlternateContent>
      <p:sp>
        <p:nvSpPr>
          <p:cNvPr id="17" name="Right Arrow 16">
            <a:extLst>
              <a:ext uri="{FF2B5EF4-FFF2-40B4-BE49-F238E27FC236}">
                <a16:creationId xmlns:a16="http://schemas.microsoft.com/office/drawing/2014/main" id="{5EF652DA-75A0-DF45-BDB6-751A3F7D7402}"/>
              </a:ext>
            </a:extLst>
          </p:cNvPr>
          <p:cNvSpPr/>
          <p:nvPr/>
        </p:nvSpPr>
        <p:spPr>
          <a:xfrm>
            <a:off x="2727082" y="1432860"/>
            <a:ext cx="488731" cy="28981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3133F5-2CC5-7742-9B68-71D919743885}"/>
              </a:ext>
            </a:extLst>
          </p:cNvPr>
          <p:cNvGrpSpPr/>
          <p:nvPr/>
        </p:nvGrpSpPr>
        <p:grpSpPr>
          <a:xfrm>
            <a:off x="257058" y="2073828"/>
            <a:ext cx="7829667" cy="1692410"/>
            <a:chOff x="257058" y="2073828"/>
            <a:chExt cx="7829667" cy="1692410"/>
          </a:xfrm>
        </p:grpSpPr>
        <p:sp>
          <p:nvSpPr>
            <p:cNvPr id="18" name="Rounded Rectangle 17">
              <a:extLst>
                <a:ext uri="{FF2B5EF4-FFF2-40B4-BE49-F238E27FC236}">
                  <a16:creationId xmlns:a16="http://schemas.microsoft.com/office/drawing/2014/main" id="{A8EACC27-E414-3E4D-B1AB-7F5B7CA20B0D}"/>
                </a:ext>
              </a:extLst>
            </p:cNvPr>
            <p:cNvSpPr/>
            <p:nvPr/>
          </p:nvSpPr>
          <p:spPr>
            <a:xfrm>
              <a:off x="257058" y="2105809"/>
              <a:ext cx="7829667" cy="1660429"/>
            </a:xfrm>
            <a:prstGeom prst="roundRect">
              <a:avLst>
                <a:gd name="adj" fmla="val 80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683981E-5B58-8546-B2CC-55A2CB6B4D74}"/>
                </a:ext>
              </a:extLst>
            </p:cNvPr>
            <p:cNvSpPr txBox="1"/>
            <p:nvPr/>
          </p:nvSpPr>
          <p:spPr>
            <a:xfrm>
              <a:off x="257059" y="2073828"/>
              <a:ext cx="1305550" cy="461665"/>
            </a:xfrm>
            <a:prstGeom prst="rect">
              <a:avLst/>
            </a:prstGeom>
            <a:noFill/>
          </p:spPr>
          <p:txBody>
            <a:bodyPr wrap="none" rtlCol="0">
              <a:spAutoFit/>
            </a:bodyPr>
            <a:lstStyle/>
            <a:p>
              <a:r>
                <a:rPr lang="en-US" sz="2400" dirty="0">
                  <a:latin typeface="+mj-lt"/>
                </a:rPr>
                <a:t>Example:</a:t>
              </a: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54FB46B-C111-774E-9DC1-5A088EE6F466}"/>
                    </a:ext>
                  </a:extLst>
                </p:cNvPr>
                <p:cNvSpPr/>
                <p:nvPr/>
              </p:nvSpPr>
              <p:spPr>
                <a:xfrm>
                  <a:off x="257059" y="2367679"/>
                  <a:ext cx="7680629" cy="1231812"/>
                </a:xfrm>
                <a:prstGeom prst="rect">
                  <a:avLst/>
                </a:prstGeom>
              </p:spPr>
              <p:txBody>
                <a:bodyPr wrap="none">
                  <a:spAutoFit/>
                </a:bodyPr>
                <a:lstStyle/>
                <a:p>
                  <a14:m>
                    <m:oMath xmlns:m="http://schemas.openxmlformats.org/officeDocument/2006/math">
                      <m:d>
                        <m:dPr>
                          <m:begChr m:val="|"/>
                          <m:endChr m:val="⟩"/>
                          <m:ctrlPr>
                            <a:rPr lang="en-US" sz="2300" i="1" smtClean="0">
                              <a:latin typeface="Cambria Math" panose="02040503050406030204" pitchFamily="18" charset="0"/>
                            </a:rPr>
                          </m:ctrlPr>
                        </m:dPr>
                        <m:e>
                          <m:r>
                            <a:rPr lang="en-US" sz="2300" b="0" i="1" smtClean="0">
                              <a:latin typeface="Cambria Math" panose="02040503050406030204" pitchFamily="18" charset="0"/>
                            </a:rPr>
                            <m:t>𝑆</m:t>
                          </m:r>
                        </m:e>
                      </m:d>
                      <m:r>
                        <a:rPr lang="en-US" sz="2300" i="0">
                          <a:latin typeface="Cambria Math" panose="02040503050406030204" pitchFamily="18" charset="0"/>
                        </a:rPr>
                        <m:t>=</m:t>
                      </m:r>
                      <m:f>
                        <m:fPr>
                          <m:ctrlPr>
                            <a:rPr lang="en-US" sz="2300" i="1">
                              <a:latin typeface="Cambria Math" panose="02040503050406030204" pitchFamily="18" charset="0"/>
                            </a:rPr>
                          </m:ctrlPr>
                        </m:fPr>
                        <m:num>
                          <m:r>
                            <a:rPr lang="en-US" sz="2300" i="0">
                              <a:latin typeface="Cambria Math" panose="02040503050406030204" pitchFamily="18" charset="0"/>
                            </a:rPr>
                            <m:t>1</m:t>
                          </m:r>
                        </m:num>
                        <m:den>
                          <m:rad>
                            <m:radPr>
                              <m:degHide m:val="on"/>
                              <m:ctrlPr>
                                <a:rPr lang="en-US" sz="2300" i="1">
                                  <a:latin typeface="Cambria Math" panose="02040503050406030204" pitchFamily="18" charset="0"/>
                                </a:rPr>
                              </m:ctrlPr>
                            </m:radPr>
                            <m:deg/>
                            <m:e>
                              <m:r>
                                <a:rPr lang="en-US" sz="2300" i="0">
                                  <a:latin typeface="Cambria Math" panose="02040503050406030204" pitchFamily="18" charset="0"/>
                                </a:rPr>
                                <m:t>2</m:t>
                              </m:r>
                            </m:e>
                          </m:rad>
                        </m:den>
                      </m:f>
                      <m:d>
                        <m:dPr>
                          <m:begChr m:val="|"/>
                          <m:endChr m:val="⟩"/>
                          <m:ctrlPr>
                            <a:rPr lang="en-US" sz="2300" i="1">
                              <a:latin typeface="Cambria Math" panose="02040503050406030204" pitchFamily="18" charset="0"/>
                            </a:rPr>
                          </m:ctrlPr>
                        </m:dPr>
                        <m:e>
                          <m:r>
                            <a:rPr lang="en-US" sz="2300" i="0">
                              <a:latin typeface="Cambria Math" panose="02040503050406030204" pitchFamily="18" charset="0"/>
                            </a:rPr>
                            <m:t>0</m:t>
                          </m:r>
                        </m:e>
                      </m:d>
                      <m:r>
                        <a:rPr lang="en-US" sz="2300" i="0">
                          <a:latin typeface="Cambria Math" panose="02040503050406030204" pitchFamily="18" charset="0"/>
                        </a:rPr>
                        <m:t>+</m:t>
                      </m:r>
                      <m:f>
                        <m:fPr>
                          <m:ctrlPr>
                            <a:rPr lang="en-US" sz="2300" i="1">
                              <a:latin typeface="Cambria Math" panose="02040503050406030204" pitchFamily="18" charset="0"/>
                            </a:rPr>
                          </m:ctrlPr>
                        </m:fPr>
                        <m:num>
                          <m:r>
                            <a:rPr lang="en-US" sz="2300" i="0">
                              <a:latin typeface="Cambria Math" panose="02040503050406030204" pitchFamily="18" charset="0"/>
                            </a:rPr>
                            <m:t>1+</m:t>
                          </m:r>
                          <m:r>
                            <a:rPr lang="en-US" sz="2300" i="1">
                              <a:latin typeface="Cambria Math" panose="02040503050406030204" pitchFamily="18" charset="0"/>
                            </a:rPr>
                            <m:t>𝑖</m:t>
                          </m:r>
                        </m:num>
                        <m:den>
                          <m:r>
                            <a:rPr lang="en-US" sz="2300" i="0">
                              <a:latin typeface="Cambria Math" panose="02040503050406030204" pitchFamily="18" charset="0"/>
                            </a:rPr>
                            <m:t>2</m:t>
                          </m:r>
                        </m:den>
                      </m:f>
                      <m:d>
                        <m:dPr>
                          <m:begChr m:val="|"/>
                          <m:endChr m:val="⟩"/>
                          <m:ctrlPr>
                            <a:rPr lang="en-US" sz="2300" i="1">
                              <a:latin typeface="Cambria Math" panose="02040503050406030204" pitchFamily="18" charset="0"/>
                            </a:rPr>
                          </m:ctrlPr>
                        </m:dPr>
                        <m:e>
                          <m:r>
                            <a:rPr lang="en-US" sz="2300" i="0">
                              <a:latin typeface="Cambria Math" panose="02040503050406030204" pitchFamily="18" charset="0"/>
                            </a:rPr>
                            <m:t>1</m:t>
                          </m:r>
                        </m:e>
                      </m:d>
                      <m:r>
                        <a:rPr lang="en-US" sz="2300" i="1" smtClean="0">
                          <a:latin typeface="Cambria Math" panose="02040503050406030204" pitchFamily="18" charset="0"/>
                          <a:ea typeface="Cambria Math" panose="02040503050406030204" pitchFamily="18" charset="0"/>
                        </a:rPr>
                        <m:t>⟹</m:t>
                      </m:r>
                    </m:oMath>
                  </a14:m>
                  <a:r>
                    <a:rPr lang="en-US" sz="2300" dirty="0"/>
                    <a:t> </a:t>
                  </a:r>
                  <a14:m>
                    <m:oMath xmlns:m="http://schemas.openxmlformats.org/officeDocument/2006/math">
                      <m:r>
                        <a:rPr lang="en-US" sz="2300" i="1">
                          <a:latin typeface="Cambria Math" panose="02040503050406030204" pitchFamily="18" charset="0"/>
                        </a:rPr>
                        <m:t>𝜌</m:t>
                      </m:r>
                      <m:r>
                        <a:rPr lang="en-US" sz="2300" i="1">
                          <a:latin typeface="Cambria Math" panose="02040503050406030204" pitchFamily="18" charset="0"/>
                        </a:rPr>
                        <m:t>=</m:t>
                      </m:r>
                      <m:d>
                        <m:dPr>
                          <m:ctrlPr>
                            <a:rPr lang="en-US" sz="2300" i="1">
                              <a:latin typeface="Cambria Math" panose="02040503050406030204" pitchFamily="18" charset="0"/>
                            </a:rPr>
                          </m:ctrlPr>
                        </m:dPr>
                        <m:e>
                          <m:m>
                            <m:mPr>
                              <m:plcHide m:val="on"/>
                              <m:mcs>
                                <m:mc>
                                  <m:mcPr>
                                    <m:count m:val="1"/>
                                    <m:mcJc m:val="center"/>
                                  </m:mcPr>
                                </m:mc>
                              </m:mcs>
                              <m:ctrlPr>
                                <a:rPr lang="en-US" sz="2300" i="1">
                                  <a:latin typeface="Cambria Math" panose="02040503050406030204" pitchFamily="18" charset="0"/>
                                </a:rPr>
                              </m:ctrlPr>
                            </m:mPr>
                            <m:mr>
                              <m:e>
                                <m:f>
                                  <m:fPr>
                                    <m:ctrlPr>
                                      <a:rPr lang="en-US" sz="2300" i="1">
                                        <a:latin typeface="Cambria Math" panose="02040503050406030204" pitchFamily="18" charset="0"/>
                                      </a:rPr>
                                    </m:ctrlPr>
                                  </m:fPr>
                                  <m:num>
                                    <m:r>
                                      <a:rPr lang="en-US" sz="2300">
                                        <a:latin typeface="Cambria Math" panose="02040503050406030204" pitchFamily="18" charset="0"/>
                                      </a:rPr>
                                      <m:t>1</m:t>
                                    </m:r>
                                  </m:num>
                                  <m:den>
                                    <m:rad>
                                      <m:radPr>
                                        <m:degHide m:val="on"/>
                                        <m:ctrlPr>
                                          <a:rPr lang="en-US" sz="2300" i="1">
                                            <a:latin typeface="Cambria Math" panose="02040503050406030204" pitchFamily="18" charset="0"/>
                                          </a:rPr>
                                        </m:ctrlPr>
                                      </m:radPr>
                                      <m:deg/>
                                      <m:e>
                                        <m:r>
                                          <a:rPr lang="en-US" sz="2300">
                                            <a:latin typeface="Cambria Math" panose="02040503050406030204" pitchFamily="18" charset="0"/>
                                          </a:rPr>
                                          <m:t>2</m:t>
                                        </m:r>
                                      </m:e>
                                    </m:rad>
                                  </m:den>
                                </m:f>
                              </m:e>
                            </m:mr>
                            <m:mr>
                              <m:e>
                                <m:f>
                                  <m:fPr>
                                    <m:ctrlPr>
                                      <a:rPr lang="en-US" sz="2300" i="1">
                                        <a:latin typeface="Cambria Math" panose="02040503050406030204" pitchFamily="18" charset="0"/>
                                      </a:rPr>
                                    </m:ctrlPr>
                                  </m:fPr>
                                  <m:num>
                                    <m:r>
                                      <a:rPr lang="en-US" sz="2300">
                                        <a:latin typeface="Cambria Math" panose="02040503050406030204" pitchFamily="18" charset="0"/>
                                      </a:rPr>
                                      <m:t>1+</m:t>
                                    </m:r>
                                    <m:r>
                                      <a:rPr lang="en-US" sz="2300" i="1">
                                        <a:latin typeface="Cambria Math" panose="02040503050406030204" pitchFamily="18" charset="0"/>
                                      </a:rPr>
                                      <m:t>𝑖</m:t>
                                    </m:r>
                                  </m:num>
                                  <m:den>
                                    <m:r>
                                      <a:rPr lang="en-US" sz="2300">
                                        <a:latin typeface="Cambria Math" panose="02040503050406030204" pitchFamily="18" charset="0"/>
                                      </a:rPr>
                                      <m:t>2</m:t>
                                    </m:r>
                                  </m:den>
                                </m:f>
                              </m:e>
                            </m:mr>
                          </m:m>
                        </m:e>
                      </m:d>
                      <m:d>
                        <m:dPr>
                          <m:ctrlPr>
                            <a:rPr lang="en-US" sz="2300" i="1">
                              <a:latin typeface="Cambria Math" panose="02040503050406030204" pitchFamily="18" charset="0"/>
                            </a:rPr>
                          </m:ctrlPr>
                        </m:dPr>
                        <m:e>
                          <m:m>
                            <m:mPr>
                              <m:plcHide m:val="on"/>
                              <m:mcs>
                                <m:mc>
                                  <m:mcPr>
                                    <m:count m:val="2"/>
                                    <m:mcJc m:val="center"/>
                                  </m:mcPr>
                                </m:mc>
                              </m:mcs>
                              <m:ctrlPr>
                                <a:rPr lang="en-US" sz="2300" i="1">
                                  <a:latin typeface="Cambria Math" panose="02040503050406030204" pitchFamily="18" charset="0"/>
                                </a:rPr>
                              </m:ctrlPr>
                            </m:mPr>
                            <m:mr>
                              <m:e>
                                <m:f>
                                  <m:fPr>
                                    <m:ctrlPr>
                                      <a:rPr lang="en-US" sz="2300" i="1">
                                        <a:latin typeface="Cambria Math" panose="02040503050406030204" pitchFamily="18" charset="0"/>
                                      </a:rPr>
                                    </m:ctrlPr>
                                  </m:fPr>
                                  <m:num>
                                    <m:r>
                                      <a:rPr lang="en-US" sz="2300">
                                        <a:latin typeface="Cambria Math" panose="02040503050406030204" pitchFamily="18" charset="0"/>
                                      </a:rPr>
                                      <m:t>1</m:t>
                                    </m:r>
                                  </m:num>
                                  <m:den>
                                    <m:rad>
                                      <m:radPr>
                                        <m:degHide m:val="on"/>
                                        <m:ctrlPr>
                                          <a:rPr lang="en-US" sz="2300" i="1">
                                            <a:latin typeface="Cambria Math" panose="02040503050406030204" pitchFamily="18" charset="0"/>
                                          </a:rPr>
                                        </m:ctrlPr>
                                      </m:radPr>
                                      <m:deg/>
                                      <m:e>
                                        <m:r>
                                          <a:rPr lang="en-US" sz="2300">
                                            <a:latin typeface="Cambria Math" panose="02040503050406030204" pitchFamily="18" charset="0"/>
                                          </a:rPr>
                                          <m:t>2</m:t>
                                        </m:r>
                                      </m:e>
                                    </m:rad>
                                  </m:den>
                                </m:f>
                              </m:e>
                              <m:e>
                                <m:f>
                                  <m:fPr>
                                    <m:ctrlPr>
                                      <a:rPr lang="en-US" sz="2300" i="1">
                                        <a:latin typeface="Cambria Math" panose="02040503050406030204" pitchFamily="18" charset="0"/>
                                      </a:rPr>
                                    </m:ctrlPr>
                                  </m:fPr>
                                  <m:num>
                                    <m:r>
                                      <a:rPr lang="en-US" sz="2300">
                                        <a:latin typeface="Cambria Math" panose="02040503050406030204" pitchFamily="18" charset="0"/>
                                      </a:rPr>
                                      <m:t>1−</m:t>
                                    </m:r>
                                    <m:r>
                                      <a:rPr lang="en-US" sz="2300" i="1">
                                        <a:latin typeface="Cambria Math" panose="02040503050406030204" pitchFamily="18" charset="0"/>
                                      </a:rPr>
                                      <m:t>𝑖</m:t>
                                    </m:r>
                                  </m:num>
                                  <m:den>
                                    <m:r>
                                      <a:rPr lang="en-US" sz="2300">
                                        <a:latin typeface="Cambria Math" panose="02040503050406030204" pitchFamily="18" charset="0"/>
                                      </a:rPr>
                                      <m:t>2</m:t>
                                    </m:r>
                                  </m:den>
                                </m:f>
                              </m:e>
                            </m:mr>
                          </m:m>
                        </m:e>
                      </m:d>
                      <m:r>
                        <a:rPr lang="en-US" sz="2300">
                          <a:latin typeface="Cambria Math" panose="02040503050406030204" pitchFamily="18" charset="0"/>
                        </a:rPr>
                        <m:t>=</m:t>
                      </m:r>
                      <m:d>
                        <m:dPr>
                          <m:ctrlPr>
                            <a:rPr lang="en-US" sz="2300" i="1">
                              <a:latin typeface="Cambria Math" panose="02040503050406030204" pitchFamily="18" charset="0"/>
                            </a:rPr>
                          </m:ctrlPr>
                        </m:dPr>
                        <m:e>
                          <m:m>
                            <m:mPr>
                              <m:plcHide m:val="on"/>
                              <m:mcs>
                                <m:mc>
                                  <m:mcPr>
                                    <m:count m:val="2"/>
                                    <m:mcJc m:val="center"/>
                                  </m:mcPr>
                                </m:mc>
                              </m:mcs>
                              <m:ctrlPr>
                                <a:rPr lang="en-US" sz="2300" i="1">
                                  <a:latin typeface="Cambria Math" panose="02040503050406030204" pitchFamily="18" charset="0"/>
                                </a:rPr>
                              </m:ctrlPr>
                            </m:mPr>
                            <m:mr>
                              <m:e>
                                <m:f>
                                  <m:fPr>
                                    <m:ctrlPr>
                                      <a:rPr lang="en-US" sz="2300" i="1">
                                        <a:latin typeface="Cambria Math" panose="02040503050406030204" pitchFamily="18" charset="0"/>
                                      </a:rPr>
                                    </m:ctrlPr>
                                  </m:fPr>
                                  <m:num>
                                    <m:r>
                                      <a:rPr lang="en-US" sz="2300">
                                        <a:latin typeface="Cambria Math" panose="02040503050406030204" pitchFamily="18" charset="0"/>
                                      </a:rPr>
                                      <m:t>1</m:t>
                                    </m:r>
                                  </m:num>
                                  <m:den>
                                    <m:r>
                                      <a:rPr lang="en-US" sz="2300">
                                        <a:latin typeface="Cambria Math" panose="02040503050406030204" pitchFamily="18" charset="0"/>
                                      </a:rPr>
                                      <m:t>2</m:t>
                                    </m:r>
                                  </m:den>
                                </m:f>
                              </m:e>
                              <m:e>
                                <m:f>
                                  <m:fPr>
                                    <m:ctrlPr>
                                      <a:rPr lang="en-US" sz="2300" i="1">
                                        <a:latin typeface="Cambria Math" panose="02040503050406030204" pitchFamily="18" charset="0"/>
                                      </a:rPr>
                                    </m:ctrlPr>
                                  </m:fPr>
                                  <m:num>
                                    <m:r>
                                      <a:rPr lang="en-US" sz="2300">
                                        <a:latin typeface="Cambria Math" panose="02040503050406030204" pitchFamily="18" charset="0"/>
                                      </a:rPr>
                                      <m:t>1−</m:t>
                                    </m:r>
                                    <m:r>
                                      <a:rPr lang="en-US" sz="2300" i="1">
                                        <a:latin typeface="Cambria Math" panose="02040503050406030204" pitchFamily="18" charset="0"/>
                                      </a:rPr>
                                      <m:t>𝑖</m:t>
                                    </m:r>
                                  </m:num>
                                  <m:den>
                                    <m:r>
                                      <a:rPr lang="en-US" sz="2300">
                                        <a:latin typeface="Cambria Math" panose="02040503050406030204" pitchFamily="18" charset="0"/>
                                      </a:rPr>
                                      <m:t>2</m:t>
                                    </m:r>
                                    <m:rad>
                                      <m:radPr>
                                        <m:degHide m:val="on"/>
                                        <m:ctrlPr>
                                          <a:rPr lang="en-US" sz="2300" i="1">
                                            <a:latin typeface="Cambria Math" panose="02040503050406030204" pitchFamily="18" charset="0"/>
                                          </a:rPr>
                                        </m:ctrlPr>
                                      </m:radPr>
                                      <m:deg/>
                                      <m:e>
                                        <m:r>
                                          <a:rPr lang="en-US" sz="2300">
                                            <a:latin typeface="Cambria Math" panose="02040503050406030204" pitchFamily="18" charset="0"/>
                                          </a:rPr>
                                          <m:t>2</m:t>
                                        </m:r>
                                      </m:e>
                                    </m:rad>
                                  </m:den>
                                </m:f>
                              </m:e>
                            </m:mr>
                            <m:mr>
                              <m:e>
                                <m:f>
                                  <m:fPr>
                                    <m:ctrlPr>
                                      <a:rPr lang="en-US" sz="2300" i="1">
                                        <a:latin typeface="Cambria Math" panose="02040503050406030204" pitchFamily="18" charset="0"/>
                                      </a:rPr>
                                    </m:ctrlPr>
                                  </m:fPr>
                                  <m:num>
                                    <m:r>
                                      <a:rPr lang="en-US" sz="2300">
                                        <a:latin typeface="Cambria Math" panose="02040503050406030204" pitchFamily="18" charset="0"/>
                                      </a:rPr>
                                      <m:t>1+</m:t>
                                    </m:r>
                                    <m:r>
                                      <a:rPr lang="en-US" sz="2300" i="1">
                                        <a:latin typeface="Cambria Math" panose="02040503050406030204" pitchFamily="18" charset="0"/>
                                      </a:rPr>
                                      <m:t>𝑖</m:t>
                                    </m:r>
                                  </m:num>
                                  <m:den>
                                    <m:r>
                                      <a:rPr lang="en-US" sz="2300">
                                        <a:latin typeface="Cambria Math" panose="02040503050406030204" pitchFamily="18" charset="0"/>
                                      </a:rPr>
                                      <m:t>2</m:t>
                                    </m:r>
                                    <m:rad>
                                      <m:radPr>
                                        <m:degHide m:val="on"/>
                                        <m:ctrlPr>
                                          <a:rPr lang="en-US" sz="2300" i="1">
                                            <a:latin typeface="Cambria Math" panose="02040503050406030204" pitchFamily="18" charset="0"/>
                                          </a:rPr>
                                        </m:ctrlPr>
                                      </m:radPr>
                                      <m:deg/>
                                      <m:e>
                                        <m:r>
                                          <a:rPr lang="en-US" sz="2300">
                                            <a:latin typeface="Cambria Math" panose="02040503050406030204" pitchFamily="18" charset="0"/>
                                          </a:rPr>
                                          <m:t>2</m:t>
                                        </m:r>
                                      </m:e>
                                    </m:rad>
                                  </m:den>
                                </m:f>
                              </m:e>
                              <m:e>
                                <m:f>
                                  <m:fPr>
                                    <m:ctrlPr>
                                      <a:rPr lang="en-US" sz="2300" i="1">
                                        <a:latin typeface="Cambria Math" panose="02040503050406030204" pitchFamily="18" charset="0"/>
                                      </a:rPr>
                                    </m:ctrlPr>
                                  </m:fPr>
                                  <m:num>
                                    <m:r>
                                      <a:rPr lang="en-US" sz="2300">
                                        <a:latin typeface="Cambria Math" panose="02040503050406030204" pitchFamily="18" charset="0"/>
                                      </a:rPr>
                                      <m:t>1</m:t>
                                    </m:r>
                                  </m:num>
                                  <m:den>
                                    <m:r>
                                      <a:rPr lang="en-US" sz="2300">
                                        <a:latin typeface="Cambria Math" panose="02040503050406030204" pitchFamily="18" charset="0"/>
                                      </a:rPr>
                                      <m:t>2</m:t>
                                    </m:r>
                                  </m:den>
                                </m:f>
                              </m:e>
                            </m:mr>
                          </m:m>
                        </m:e>
                      </m:d>
                    </m:oMath>
                  </a14:m>
                  <a:endParaRPr lang="en-US" sz="2300" dirty="0"/>
                </a:p>
              </p:txBody>
            </p:sp>
          </mc:Choice>
          <mc:Fallback xmlns="">
            <p:sp>
              <p:nvSpPr>
                <p:cNvPr id="20" name="Rectangle 19">
                  <a:extLst>
                    <a:ext uri="{FF2B5EF4-FFF2-40B4-BE49-F238E27FC236}">
                      <a16:creationId xmlns:a16="http://schemas.microsoft.com/office/drawing/2014/main" id="{554FB46B-C111-774E-9DC1-5A088EE6F466}"/>
                    </a:ext>
                  </a:extLst>
                </p:cNvPr>
                <p:cNvSpPr>
                  <a:spLocks noRot="1" noChangeAspect="1" noMove="1" noResize="1" noEditPoints="1" noAdjustHandles="1" noChangeArrowheads="1" noChangeShapeType="1" noTextEdit="1"/>
                </p:cNvSpPr>
                <p:nvPr/>
              </p:nvSpPr>
              <p:spPr>
                <a:xfrm>
                  <a:off x="257059" y="2367679"/>
                  <a:ext cx="7680629" cy="1231812"/>
                </a:xfrm>
                <a:prstGeom prst="rect">
                  <a:avLst/>
                </a:prstGeom>
                <a:blipFill>
                  <a:blip r:embed="rId5"/>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4C9B5B3C-D3EC-7842-968A-27AAE9158F6F}"/>
              </a:ext>
            </a:extLst>
          </p:cNvPr>
          <p:cNvGrpSpPr/>
          <p:nvPr/>
        </p:nvGrpSpPr>
        <p:grpSpPr>
          <a:xfrm>
            <a:off x="369274" y="3814121"/>
            <a:ext cx="4715616" cy="2561946"/>
            <a:chOff x="369274" y="3814121"/>
            <a:chExt cx="4715616" cy="2561946"/>
          </a:xfrm>
        </p:grpSpPr>
        <p:pic>
          <p:nvPicPr>
            <p:cNvPr id="22" name="Picture 21">
              <a:extLst>
                <a:ext uri="{FF2B5EF4-FFF2-40B4-BE49-F238E27FC236}">
                  <a16:creationId xmlns:a16="http://schemas.microsoft.com/office/drawing/2014/main" id="{1BB11535-6F43-4245-8B0C-C2BB7943B87D}"/>
                </a:ext>
              </a:extLst>
            </p:cNvPr>
            <p:cNvPicPr>
              <a:picLocks noChangeAspect="1"/>
            </p:cNvPicPr>
            <p:nvPr/>
          </p:nvPicPr>
          <p:blipFill>
            <a:blip r:embed="rId6"/>
            <a:stretch>
              <a:fillRect/>
            </a:stretch>
          </p:blipFill>
          <p:spPr>
            <a:xfrm>
              <a:off x="369274" y="4258275"/>
              <a:ext cx="4715616" cy="2117792"/>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D29FBF1-CD81-654F-869E-B6F43B5D62C7}"/>
                    </a:ext>
                  </a:extLst>
                </p:cNvPr>
                <p:cNvSpPr txBox="1"/>
                <p:nvPr/>
              </p:nvSpPr>
              <p:spPr>
                <a:xfrm>
                  <a:off x="1045330" y="3814121"/>
                  <a:ext cx="88158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sr-Latn-RS" sz="2000">
                            <a:latin typeface="Cambria Math" panose="02040503050406030204" pitchFamily="18" charset="0"/>
                          </a:rPr>
                          <m:t>Re</m:t>
                        </m:r>
                        <m:d>
                          <m:dPr>
                            <m:ctrlPr>
                              <a:rPr lang="en-ZA" sz="2000" i="1">
                                <a:latin typeface="Cambria Math" panose="02040503050406030204" pitchFamily="18" charset="0"/>
                              </a:rPr>
                            </m:ctrlPr>
                          </m:dPr>
                          <m:e>
                            <m:r>
                              <a:rPr lang="sr-Latn-RS" sz="2000" i="1">
                                <a:latin typeface="Cambria Math" panose="02040503050406030204" pitchFamily="18" charset="0"/>
                              </a:rPr>
                              <m:t>𝜌</m:t>
                            </m:r>
                          </m:e>
                        </m:d>
                      </m:oMath>
                    </m:oMathPara>
                  </a14:m>
                  <a:endParaRPr lang="en-US" sz="2000" dirty="0"/>
                </a:p>
              </p:txBody>
            </p:sp>
          </mc:Choice>
          <mc:Fallback xmlns="">
            <p:sp>
              <p:nvSpPr>
                <p:cNvPr id="23" name="TextBox 22">
                  <a:extLst>
                    <a:ext uri="{FF2B5EF4-FFF2-40B4-BE49-F238E27FC236}">
                      <a16:creationId xmlns:a16="http://schemas.microsoft.com/office/drawing/2014/main" id="{1D29FBF1-CD81-654F-869E-B6F43B5D62C7}"/>
                    </a:ext>
                  </a:extLst>
                </p:cNvPr>
                <p:cNvSpPr txBox="1">
                  <a:spLocks noRot="1" noChangeAspect="1" noMove="1" noResize="1" noEditPoints="1" noAdjustHandles="1" noChangeArrowheads="1" noChangeShapeType="1" noTextEdit="1"/>
                </p:cNvSpPr>
                <p:nvPr/>
              </p:nvSpPr>
              <p:spPr>
                <a:xfrm>
                  <a:off x="1045330" y="3814121"/>
                  <a:ext cx="881588" cy="400110"/>
                </a:xfrm>
                <a:prstGeom prst="rect">
                  <a:avLst/>
                </a:prstGeom>
                <a:blipFill>
                  <a:blip r:embed="rId7"/>
                  <a:stretch>
                    <a:fillRect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4132E1D-3DB1-CA46-955B-48AAEC049ABD}"/>
                    </a:ext>
                  </a:extLst>
                </p:cNvPr>
                <p:cNvSpPr txBox="1"/>
                <p:nvPr/>
              </p:nvSpPr>
              <p:spPr>
                <a:xfrm>
                  <a:off x="3628029" y="3814121"/>
                  <a:ext cx="89922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Im</m:t>
                        </m:r>
                        <m:d>
                          <m:dPr>
                            <m:ctrlPr>
                              <a:rPr lang="en-ZA" sz="2000" i="1">
                                <a:latin typeface="Cambria Math" panose="02040503050406030204" pitchFamily="18" charset="0"/>
                              </a:rPr>
                            </m:ctrlPr>
                          </m:dPr>
                          <m:e>
                            <m:r>
                              <a:rPr lang="sr-Latn-RS" sz="2000" i="1">
                                <a:latin typeface="Cambria Math" panose="02040503050406030204" pitchFamily="18" charset="0"/>
                              </a:rPr>
                              <m:t>𝜌</m:t>
                            </m:r>
                          </m:e>
                        </m:d>
                      </m:oMath>
                    </m:oMathPara>
                  </a14:m>
                  <a:endParaRPr lang="en-US" sz="2000" dirty="0"/>
                </a:p>
              </p:txBody>
            </p:sp>
          </mc:Choice>
          <mc:Fallback xmlns="">
            <p:sp>
              <p:nvSpPr>
                <p:cNvPr id="24" name="TextBox 23">
                  <a:extLst>
                    <a:ext uri="{FF2B5EF4-FFF2-40B4-BE49-F238E27FC236}">
                      <a16:creationId xmlns:a16="http://schemas.microsoft.com/office/drawing/2014/main" id="{B4132E1D-3DB1-CA46-955B-48AAEC049ABD}"/>
                    </a:ext>
                  </a:extLst>
                </p:cNvPr>
                <p:cNvSpPr txBox="1">
                  <a:spLocks noRot="1" noChangeAspect="1" noMove="1" noResize="1" noEditPoints="1" noAdjustHandles="1" noChangeArrowheads="1" noChangeShapeType="1" noTextEdit="1"/>
                </p:cNvSpPr>
                <p:nvPr/>
              </p:nvSpPr>
              <p:spPr>
                <a:xfrm>
                  <a:off x="3628029" y="3814121"/>
                  <a:ext cx="899221" cy="400110"/>
                </a:xfrm>
                <a:prstGeom prst="rect">
                  <a:avLst/>
                </a:prstGeom>
                <a:blipFill>
                  <a:blip r:embed="rId8"/>
                  <a:stretch>
                    <a:fillRect b="-3125"/>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E8E5A582-A740-134A-8EDD-F22A24D5386B}"/>
              </a:ext>
            </a:extLst>
          </p:cNvPr>
          <p:cNvGrpSpPr/>
          <p:nvPr/>
        </p:nvGrpSpPr>
        <p:grpSpPr>
          <a:xfrm>
            <a:off x="5601216" y="3814121"/>
            <a:ext cx="6543010" cy="3043879"/>
            <a:chOff x="5385086" y="3814121"/>
            <a:chExt cx="6253326" cy="2932160"/>
          </a:xfrm>
        </p:grpSpPr>
        <p:pic>
          <p:nvPicPr>
            <p:cNvPr id="21" name="Picture 20">
              <a:extLst>
                <a:ext uri="{FF2B5EF4-FFF2-40B4-BE49-F238E27FC236}">
                  <a16:creationId xmlns:a16="http://schemas.microsoft.com/office/drawing/2014/main" id="{CAE72D1E-AE2F-CC49-933F-08EDF93417E6}"/>
                </a:ext>
              </a:extLst>
            </p:cNvPr>
            <p:cNvPicPr>
              <a:picLocks noChangeAspect="1"/>
            </p:cNvPicPr>
            <p:nvPr/>
          </p:nvPicPr>
          <p:blipFill>
            <a:blip r:embed="rId9"/>
            <a:stretch>
              <a:fillRect/>
            </a:stretch>
          </p:blipFill>
          <p:spPr>
            <a:xfrm>
              <a:off x="5860725" y="3888061"/>
              <a:ext cx="5777687" cy="2858220"/>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ED0CF58-58BF-3D41-BE92-508E651CD31B}"/>
                    </a:ext>
                  </a:extLst>
                </p:cNvPr>
                <p:cNvSpPr txBox="1"/>
                <p:nvPr/>
              </p:nvSpPr>
              <p:spPr>
                <a:xfrm>
                  <a:off x="5385086" y="3888060"/>
                  <a:ext cx="88158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sr-Latn-RS" sz="2000">
                            <a:latin typeface="Cambria Math" panose="02040503050406030204" pitchFamily="18" charset="0"/>
                          </a:rPr>
                          <m:t>Re</m:t>
                        </m:r>
                        <m:d>
                          <m:dPr>
                            <m:ctrlPr>
                              <a:rPr lang="en-ZA" sz="2000" i="1">
                                <a:latin typeface="Cambria Math" panose="02040503050406030204" pitchFamily="18" charset="0"/>
                              </a:rPr>
                            </m:ctrlPr>
                          </m:dPr>
                          <m:e>
                            <m:r>
                              <a:rPr lang="sr-Latn-RS" sz="2000" i="1">
                                <a:latin typeface="Cambria Math" panose="02040503050406030204" pitchFamily="18" charset="0"/>
                              </a:rPr>
                              <m:t>𝜌</m:t>
                            </m:r>
                          </m:e>
                        </m:d>
                      </m:oMath>
                    </m:oMathPara>
                  </a14:m>
                  <a:endParaRPr lang="en-US" sz="2000" dirty="0"/>
                </a:p>
              </p:txBody>
            </p:sp>
          </mc:Choice>
          <mc:Fallback xmlns="">
            <p:sp>
              <p:nvSpPr>
                <p:cNvPr id="25" name="TextBox 24">
                  <a:extLst>
                    <a:ext uri="{FF2B5EF4-FFF2-40B4-BE49-F238E27FC236}">
                      <a16:creationId xmlns:a16="http://schemas.microsoft.com/office/drawing/2014/main" id="{9ED0CF58-58BF-3D41-BE92-508E651CD31B}"/>
                    </a:ext>
                  </a:extLst>
                </p:cNvPr>
                <p:cNvSpPr txBox="1">
                  <a:spLocks noRot="1" noChangeAspect="1" noMove="1" noResize="1" noEditPoints="1" noAdjustHandles="1" noChangeArrowheads="1" noChangeShapeType="1" noTextEdit="1"/>
                </p:cNvSpPr>
                <p:nvPr/>
              </p:nvSpPr>
              <p:spPr>
                <a:xfrm>
                  <a:off x="5385086" y="3888060"/>
                  <a:ext cx="881588"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A94AA0F-4D54-ED40-939A-D94BF2D4A88A}"/>
                    </a:ext>
                  </a:extLst>
                </p:cNvPr>
                <p:cNvSpPr txBox="1"/>
                <p:nvPr/>
              </p:nvSpPr>
              <p:spPr>
                <a:xfrm>
                  <a:off x="8549579" y="3814121"/>
                  <a:ext cx="89922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Im</m:t>
                        </m:r>
                        <m:d>
                          <m:dPr>
                            <m:ctrlPr>
                              <a:rPr lang="en-ZA" sz="2000" i="1">
                                <a:latin typeface="Cambria Math" panose="02040503050406030204" pitchFamily="18" charset="0"/>
                              </a:rPr>
                            </m:ctrlPr>
                          </m:dPr>
                          <m:e>
                            <m:r>
                              <a:rPr lang="sr-Latn-RS" sz="2000" i="1">
                                <a:latin typeface="Cambria Math" panose="02040503050406030204" pitchFamily="18" charset="0"/>
                              </a:rPr>
                              <m:t>𝜌</m:t>
                            </m:r>
                          </m:e>
                        </m:d>
                      </m:oMath>
                    </m:oMathPara>
                  </a14:m>
                  <a:endParaRPr lang="en-US" sz="2000" dirty="0"/>
                </a:p>
              </p:txBody>
            </p:sp>
          </mc:Choice>
          <mc:Fallback xmlns="">
            <p:sp>
              <p:nvSpPr>
                <p:cNvPr id="26" name="TextBox 25">
                  <a:extLst>
                    <a:ext uri="{FF2B5EF4-FFF2-40B4-BE49-F238E27FC236}">
                      <a16:creationId xmlns:a16="http://schemas.microsoft.com/office/drawing/2014/main" id="{DA94AA0F-4D54-ED40-939A-D94BF2D4A88A}"/>
                    </a:ext>
                  </a:extLst>
                </p:cNvPr>
                <p:cNvSpPr txBox="1">
                  <a:spLocks noRot="1" noChangeAspect="1" noMove="1" noResize="1" noEditPoints="1" noAdjustHandles="1" noChangeArrowheads="1" noChangeShapeType="1" noTextEdit="1"/>
                </p:cNvSpPr>
                <p:nvPr/>
              </p:nvSpPr>
              <p:spPr>
                <a:xfrm>
                  <a:off x="8549579" y="3814121"/>
                  <a:ext cx="899221" cy="400110"/>
                </a:xfrm>
                <a:prstGeom prst="rect">
                  <a:avLst/>
                </a:prstGeom>
                <a:blipFill>
                  <a:blip r:embed="rId1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28436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checkerboard(across)">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7B0536-C14C-BB4A-8AE5-779015DFD961}"/>
              </a:ext>
            </a:extLst>
          </p:cNvPr>
          <p:cNvPicPr>
            <a:picLocks noChangeAspect="1"/>
          </p:cNvPicPr>
          <p:nvPr/>
        </p:nvPicPr>
        <p:blipFill>
          <a:blip r:embed="rId3"/>
          <a:stretch>
            <a:fillRect/>
          </a:stretch>
        </p:blipFill>
        <p:spPr>
          <a:xfrm>
            <a:off x="4954182" y="1073150"/>
            <a:ext cx="6311900" cy="5283200"/>
          </a:xfrm>
          <a:prstGeom prst="rect">
            <a:avLst/>
          </a:prstGeom>
        </p:spPr>
      </p:pic>
      <p:cxnSp>
        <p:nvCxnSpPr>
          <p:cNvPr id="7" name="Straight Arrow Connector 6">
            <a:extLst>
              <a:ext uri="{FF2B5EF4-FFF2-40B4-BE49-F238E27FC236}">
                <a16:creationId xmlns:a16="http://schemas.microsoft.com/office/drawing/2014/main" id="{3725B2AB-FB1E-F547-AFF1-92428ADD5B35}"/>
              </a:ext>
            </a:extLst>
          </p:cNvPr>
          <p:cNvCxnSpPr>
            <a:cxnSpLocks/>
          </p:cNvCxnSpPr>
          <p:nvPr/>
        </p:nvCxnSpPr>
        <p:spPr>
          <a:xfrm flipV="1">
            <a:off x="8919993" y="1832769"/>
            <a:ext cx="58530" cy="980662"/>
          </a:xfrm>
          <a:prstGeom prst="straightConnector1">
            <a:avLst/>
          </a:prstGeom>
          <a:ln w="101600">
            <a:solidFill>
              <a:schemeClr val="accent2"/>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F65F6A3-8C67-A048-B141-791471F64A0E}"/>
              </a:ext>
            </a:extLst>
          </p:cNvPr>
          <p:cNvSpPr txBox="1"/>
          <p:nvPr/>
        </p:nvSpPr>
        <p:spPr>
          <a:xfrm>
            <a:off x="534290" y="1478826"/>
            <a:ext cx="5724644" cy="707886"/>
          </a:xfrm>
          <a:prstGeom prst="rect">
            <a:avLst/>
          </a:prstGeom>
          <a:noFill/>
        </p:spPr>
        <p:txBody>
          <a:bodyPr wrap="none" rtlCol="0">
            <a:spAutoFit/>
          </a:bodyPr>
          <a:lstStyle/>
          <a:p>
            <a:r>
              <a:rPr lang="en-ZA" sz="4000" dirty="0">
                <a:latin typeface="Comic Sans MS" panose="030F0902030302020204" pitchFamily="66" charset="0"/>
              </a:rPr>
              <a:t>Quantum Measurement</a:t>
            </a:r>
            <a:endParaRPr lang="en-US" sz="4000" dirty="0">
              <a:latin typeface="Comic Sans MS" panose="030F0902030302020204" pitchFamily="66" charset="0"/>
            </a:endParaRPr>
          </a:p>
        </p:txBody>
      </p:sp>
      <p:sp>
        <p:nvSpPr>
          <p:cNvPr id="6" name="Slide Number Placeholder 2">
            <a:extLst>
              <a:ext uri="{FF2B5EF4-FFF2-40B4-BE49-F238E27FC236}">
                <a16:creationId xmlns:a16="http://schemas.microsoft.com/office/drawing/2014/main" id="{F487C484-8D25-2342-A1D2-57DB21D34955}"/>
              </a:ext>
            </a:extLst>
          </p:cNvPr>
          <p:cNvSpPr>
            <a:spLocks noGrp="1"/>
          </p:cNvSpPr>
          <p:nvPr>
            <p:ph type="sldNum" sz="quarter" idx="12"/>
          </p:nvPr>
        </p:nvSpPr>
        <p:spPr>
          <a:xfrm>
            <a:off x="16043" y="6522720"/>
            <a:ext cx="898357" cy="335280"/>
          </a:xfrm>
        </p:spPr>
        <p:txBody>
          <a:bodyPr/>
          <a:lstStyle/>
          <a:p>
            <a:pPr algn="l"/>
            <a:fld id="{591A223C-FA10-BC46-A853-03BA373D023C}" type="slidenum">
              <a:rPr lang="en-US" smtClean="0"/>
              <a:pPr algn="l"/>
              <a:t>28</a:t>
            </a:fld>
            <a:endParaRPr lang="en-US"/>
          </a:p>
        </p:txBody>
      </p:sp>
    </p:spTree>
    <p:extLst>
      <p:ext uri="{BB962C8B-B14F-4D97-AF65-F5344CB8AC3E}">
        <p14:creationId xmlns:p14="http://schemas.microsoft.com/office/powerpoint/2010/main" val="2175769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C54A-77D3-5B45-9B34-89B0FF8A3EB0}"/>
              </a:ext>
            </a:extLst>
          </p:cNvPr>
          <p:cNvSpPr>
            <a:spLocks noGrp="1"/>
          </p:cNvSpPr>
          <p:nvPr>
            <p:ph type="title"/>
          </p:nvPr>
        </p:nvSpPr>
        <p:spPr/>
        <p:txBody>
          <a:bodyPr/>
          <a:lstStyle/>
          <a:p>
            <a:r>
              <a:rPr lang="en-ZA" dirty="0"/>
              <a:t>Key matrix types in quantum computing</a:t>
            </a:r>
            <a:endParaRPr lang="en-US" dirty="0"/>
          </a:p>
        </p:txBody>
      </p:sp>
      <p:sp>
        <p:nvSpPr>
          <p:cNvPr id="3" name="Slide Number Placeholder 2">
            <a:extLst>
              <a:ext uri="{FF2B5EF4-FFF2-40B4-BE49-F238E27FC236}">
                <a16:creationId xmlns:a16="http://schemas.microsoft.com/office/drawing/2014/main" id="{7F5EB73F-4C89-0148-B942-52FE0A2CF62B}"/>
              </a:ext>
            </a:extLst>
          </p:cNvPr>
          <p:cNvSpPr>
            <a:spLocks noGrp="1"/>
          </p:cNvSpPr>
          <p:nvPr>
            <p:ph type="sldNum" sz="quarter" idx="12"/>
          </p:nvPr>
        </p:nvSpPr>
        <p:spPr/>
        <p:txBody>
          <a:bodyPr/>
          <a:lstStyle/>
          <a:p>
            <a:fld id="{591A223C-FA10-BC46-A853-03BA373D023C}" type="slidenum">
              <a:rPr lang="en-US" smtClean="0"/>
              <a:t>29</a:t>
            </a:fld>
            <a:endParaRPr lang="en-US"/>
          </a:p>
        </p:txBody>
      </p:sp>
      <mc:AlternateContent xmlns:mc="http://schemas.openxmlformats.org/markup-compatibility/2006" xmlns:a14="http://schemas.microsoft.com/office/drawing/2010/main">
        <mc:Choice Requires="a14">
          <p:graphicFrame>
            <p:nvGraphicFramePr>
              <p:cNvPr id="6" name="Diagram 5">
                <a:extLst>
                  <a:ext uri="{FF2B5EF4-FFF2-40B4-BE49-F238E27FC236}">
                    <a16:creationId xmlns:a16="http://schemas.microsoft.com/office/drawing/2014/main" id="{2A4671B4-526C-2D4F-B18D-0A2DB732C9F5}"/>
                  </a:ext>
                </a:extLst>
              </p:cNvPr>
              <p:cNvGraphicFramePr/>
              <p:nvPr>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Diagram 5">
                <a:extLst>
                  <a:ext uri="{FF2B5EF4-FFF2-40B4-BE49-F238E27FC236}">
                    <a16:creationId xmlns:a16="http://schemas.microsoft.com/office/drawing/2014/main" id="{2A4671B4-526C-2D4F-B18D-0A2DB732C9F5}"/>
                  </a:ext>
                </a:extLst>
              </p:cNvPr>
              <p:cNvGraphicFramePr/>
              <p:nvPr>
                <p:extLst>
                  <p:ext uri="{D42A27DB-BD31-4B8C-83A1-F6EECF244321}">
                    <p14:modId xmlns:p14="http://schemas.microsoft.com/office/powerpoint/2010/main" val="1916078444"/>
                  </p:ext>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605165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84C768E-66F8-B547-A480-4BA84E5DBA7F}"/>
              </a:ext>
            </a:extLst>
          </p:cNvPr>
          <p:cNvSpPr/>
          <p:nvPr/>
        </p:nvSpPr>
        <p:spPr>
          <a:xfrm>
            <a:off x="7061687" y="3798381"/>
            <a:ext cx="4459613" cy="962874"/>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971404-9632-4441-91BD-7861DC32E6BB}"/>
              </a:ext>
            </a:extLst>
          </p:cNvPr>
          <p:cNvSpPr/>
          <p:nvPr/>
        </p:nvSpPr>
        <p:spPr>
          <a:xfrm>
            <a:off x="7038172" y="2649231"/>
            <a:ext cx="4459613" cy="96287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D0036DA-21BD-AB45-AA89-7051620B7780}"/>
              </a:ext>
            </a:extLst>
          </p:cNvPr>
          <p:cNvSpPr/>
          <p:nvPr/>
        </p:nvSpPr>
        <p:spPr>
          <a:xfrm>
            <a:off x="7061687" y="1500081"/>
            <a:ext cx="4459613" cy="96287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45AF8-A831-DB47-987E-6E116CDEDDAD}"/>
              </a:ext>
            </a:extLst>
          </p:cNvPr>
          <p:cNvSpPr>
            <a:spLocks noGrp="1"/>
          </p:cNvSpPr>
          <p:nvPr>
            <p:ph type="title"/>
          </p:nvPr>
        </p:nvSpPr>
        <p:spPr/>
        <p:txBody>
          <a:bodyPr/>
          <a:lstStyle/>
          <a:p>
            <a:r>
              <a:rPr lang="en-ZA" dirty="0"/>
              <a:t>Pauli matrices</a:t>
            </a:r>
            <a:endParaRPr lang="en-US" dirty="0"/>
          </a:p>
        </p:txBody>
      </p:sp>
      <p:sp>
        <p:nvSpPr>
          <p:cNvPr id="3" name="Slide Number Placeholder 2">
            <a:extLst>
              <a:ext uri="{FF2B5EF4-FFF2-40B4-BE49-F238E27FC236}">
                <a16:creationId xmlns:a16="http://schemas.microsoft.com/office/drawing/2014/main" id="{31759312-D90F-694A-A8CF-2E1A81886C29}"/>
              </a:ext>
            </a:extLst>
          </p:cNvPr>
          <p:cNvSpPr>
            <a:spLocks noGrp="1"/>
          </p:cNvSpPr>
          <p:nvPr>
            <p:ph type="sldNum" sz="quarter" idx="12"/>
          </p:nvPr>
        </p:nvSpPr>
        <p:spPr/>
        <p:txBody>
          <a:bodyPr/>
          <a:lstStyle/>
          <a:p>
            <a:fld id="{591A223C-FA10-BC46-A853-03BA373D023C}" type="slidenum">
              <a:rPr lang="en-US" smtClean="0"/>
              <a:t>30</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2EA356D-1CA7-E942-8E8E-CFC876F8D90B}"/>
                  </a:ext>
                </a:extLst>
              </p:cNvPr>
              <p:cNvSpPr/>
              <p:nvPr/>
            </p:nvSpPr>
            <p:spPr>
              <a:xfrm>
                <a:off x="7175987" y="1576119"/>
                <a:ext cx="3723583"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𝑋</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1</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𝑥</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0</m:t>
                                </m:r>
                              </m:e>
                              <m:e>
                                <m:r>
                                  <a:rPr lang="en-US" sz="2800">
                                    <a:latin typeface="Cambria Math" panose="02040503050406030204" pitchFamily="18" charset="0"/>
                                  </a:rPr>
                                  <m:t>1</m:t>
                                </m:r>
                              </m:e>
                            </m:mr>
                            <m:mr>
                              <m:e>
                                <m:r>
                                  <a:rPr lang="en-US" sz="2800">
                                    <a:latin typeface="Cambria Math" panose="02040503050406030204" pitchFamily="18" charset="0"/>
                                  </a:rPr>
                                  <m:t>1</m:t>
                                </m:r>
                              </m:e>
                              <m:e>
                                <m:r>
                                  <a:rPr lang="en-US" sz="2800">
                                    <a:latin typeface="Cambria Math" panose="02040503050406030204" pitchFamily="18" charset="0"/>
                                  </a:rPr>
                                  <m:t>0</m:t>
                                </m:r>
                              </m:e>
                            </m:mr>
                          </m:m>
                        </m:e>
                      </m:d>
                    </m:oMath>
                  </m:oMathPara>
                </a14:m>
                <a:endParaRPr lang="en-US" sz="2800" dirty="0"/>
              </a:p>
            </p:txBody>
          </p:sp>
        </mc:Choice>
        <mc:Fallback xmlns="">
          <p:sp>
            <p:nvSpPr>
              <p:cNvPr id="6" name="Rectangle 5">
                <a:extLst>
                  <a:ext uri="{FF2B5EF4-FFF2-40B4-BE49-F238E27FC236}">
                    <a16:creationId xmlns:a16="http://schemas.microsoft.com/office/drawing/2014/main" id="{F2EA356D-1CA7-E942-8E8E-CFC876F8D90B}"/>
                  </a:ext>
                </a:extLst>
              </p:cNvPr>
              <p:cNvSpPr>
                <a:spLocks noRot="1" noChangeAspect="1" noMove="1" noResize="1" noEditPoints="1" noAdjustHandles="1" noChangeArrowheads="1" noChangeShapeType="1" noTextEdit="1"/>
              </p:cNvSpPr>
              <p:nvPr/>
            </p:nvSpPr>
            <p:spPr>
              <a:xfrm>
                <a:off x="7175987" y="1576119"/>
                <a:ext cx="3723583" cy="810799"/>
              </a:xfrm>
              <a:prstGeom prst="rect">
                <a:avLst/>
              </a:prstGeom>
              <a:blipFill>
                <a:blip r:embed="rId3"/>
                <a:stretch>
                  <a:fillRect b="-6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A602B15-811F-2C44-BD32-A6E4EC399CFE}"/>
                  </a:ext>
                </a:extLst>
              </p:cNvPr>
              <p:cNvSpPr/>
              <p:nvPr/>
            </p:nvSpPr>
            <p:spPr>
              <a:xfrm>
                <a:off x="7175987" y="2721381"/>
                <a:ext cx="3922164"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𝑌</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2</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𝑦</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0</m:t>
                                </m:r>
                              </m:e>
                              <m:e>
                                <m:r>
                                  <a:rPr lang="en-US" sz="2800">
                                    <a:latin typeface="Cambria Math" panose="02040503050406030204" pitchFamily="18" charset="0"/>
                                  </a:rPr>
                                  <m:t>−</m:t>
                                </m:r>
                                <m:r>
                                  <a:rPr lang="en-US" sz="2800" i="1">
                                    <a:latin typeface="Cambria Math" panose="02040503050406030204" pitchFamily="18" charset="0"/>
                                  </a:rPr>
                                  <m:t>𝑖</m:t>
                                </m:r>
                              </m:e>
                            </m:mr>
                            <m:mr>
                              <m:e>
                                <m:r>
                                  <a:rPr lang="en-US" sz="2800" i="1">
                                    <a:latin typeface="Cambria Math" panose="02040503050406030204" pitchFamily="18" charset="0"/>
                                  </a:rPr>
                                  <m:t>𝑖</m:t>
                                </m:r>
                              </m:e>
                              <m:e>
                                <m:r>
                                  <a:rPr lang="en-US" sz="2800">
                                    <a:latin typeface="Cambria Math" panose="02040503050406030204" pitchFamily="18" charset="0"/>
                                  </a:rPr>
                                  <m:t>0</m:t>
                                </m:r>
                              </m:e>
                            </m:mr>
                          </m:m>
                        </m:e>
                      </m:d>
                    </m:oMath>
                  </m:oMathPara>
                </a14:m>
                <a:endParaRPr lang="en-US" sz="2800" dirty="0"/>
              </a:p>
            </p:txBody>
          </p:sp>
        </mc:Choice>
        <mc:Fallback xmlns="">
          <p:sp>
            <p:nvSpPr>
              <p:cNvPr id="7" name="Rectangle 6">
                <a:extLst>
                  <a:ext uri="{FF2B5EF4-FFF2-40B4-BE49-F238E27FC236}">
                    <a16:creationId xmlns:a16="http://schemas.microsoft.com/office/drawing/2014/main" id="{9A602B15-811F-2C44-BD32-A6E4EC399CFE}"/>
                  </a:ext>
                </a:extLst>
              </p:cNvPr>
              <p:cNvSpPr>
                <a:spLocks noRot="1" noChangeAspect="1" noMove="1" noResize="1" noEditPoints="1" noAdjustHandles="1" noChangeArrowheads="1" noChangeShapeType="1" noTextEdit="1"/>
              </p:cNvSpPr>
              <p:nvPr/>
            </p:nvSpPr>
            <p:spPr>
              <a:xfrm>
                <a:off x="7175987" y="2721381"/>
                <a:ext cx="3922164" cy="810799"/>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25F9344-05E5-AC4E-91BB-773AFE4144B2}"/>
                  </a:ext>
                </a:extLst>
              </p:cNvPr>
              <p:cNvSpPr/>
              <p:nvPr/>
            </p:nvSpPr>
            <p:spPr>
              <a:xfrm>
                <a:off x="7175987" y="3866643"/>
                <a:ext cx="3964611"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𝑍</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3</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𝑧</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−1</m:t>
                                </m:r>
                              </m:e>
                            </m:mr>
                          </m:m>
                        </m:e>
                      </m:d>
                    </m:oMath>
                  </m:oMathPara>
                </a14:m>
                <a:endParaRPr lang="en-US" sz="2800" dirty="0"/>
              </a:p>
            </p:txBody>
          </p:sp>
        </mc:Choice>
        <mc:Fallback xmlns="">
          <p:sp>
            <p:nvSpPr>
              <p:cNvPr id="8" name="Rectangle 7">
                <a:extLst>
                  <a:ext uri="{FF2B5EF4-FFF2-40B4-BE49-F238E27FC236}">
                    <a16:creationId xmlns:a16="http://schemas.microsoft.com/office/drawing/2014/main" id="{825F9344-05E5-AC4E-91BB-773AFE4144B2}"/>
                  </a:ext>
                </a:extLst>
              </p:cNvPr>
              <p:cNvSpPr>
                <a:spLocks noRot="1" noChangeAspect="1" noMove="1" noResize="1" noEditPoints="1" noAdjustHandles="1" noChangeArrowheads="1" noChangeShapeType="1" noTextEdit="1"/>
              </p:cNvSpPr>
              <p:nvPr/>
            </p:nvSpPr>
            <p:spPr>
              <a:xfrm>
                <a:off x="7175987" y="3866643"/>
                <a:ext cx="3964611" cy="810799"/>
              </a:xfrm>
              <a:prstGeom prst="rect">
                <a:avLst/>
              </a:prstGeom>
              <a:blipFill>
                <a:blip r:embed="rId5"/>
                <a:stretch>
                  <a:fillRect b="-769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9C325B84-419E-E344-8EE6-E18324769D22}"/>
              </a:ext>
            </a:extLst>
          </p:cNvPr>
          <p:cNvSpPr/>
          <p:nvPr/>
        </p:nvSpPr>
        <p:spPr>
          <a:xfrm>
            <a:off x="732715" y="5052059"/>
            <a:ext cx="3104055" cy="400110"/>
          </a:xfrm>
          <a:prstGeom prst="rect">
            <a:avLst/>
          </a:prstGeom>
        </p:spPr>
        <p:txBody>
          <a:bodyPr wrap="none">
            <a:spAutoFit/>
          </a:bodyPr>
          <a:lstStyle/>
          <a:p>
            <a:r>
              <a:rPr lang="en-ZA" sz="2000" dirty="0"/>
              <a:t>Wolfgang Pauli</a:t>
            </a:r>
            <a:r>
              <a:rPr lang="en-US" sz="2000" dirty="0"/>
              <a:t> (1900–1958)</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BAEB757-7839-694A-B56C-AD6436353B36}"/>
                  </a:ext>
                </a:extLst>
              </p:cNvPr>
              <p:cNvSpPr/>
              <p:nvPr/>
            </p:nvSpPr>
            <p:spPr>
              <a:xfrm>
                <a:off x="7175986" y="4958606"/>
                <a:ext cx="2809808"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𝐼</m:t>
                          </m:r>
                          <m:r>
                            <a:rPr lang="en-US" sz="2800">
                              <a:latin typeface="Cambria Math" panose="02040503050406030204" pitchFamily="18" charset="0"/>
                            </a:rPr>
                            <m:t>=</m:t>
                          </m:r>
                          <m:r>
                            <a:rPr lang="en-US" sz="2800" i="1">
                              <a:latin typeface="Cambria Math" panose="02040503050406030204" pitchFamily="18" charset="0"/>
                            </a:rPr>
                            <m:t>𝜎</m:t>
                          </m:r>
                        </m:e>
                        <m:sub>
                          <m:r>
                            <a:rPr lang="sr-Latn-RS" sz="2800" b="0" i="0" smtClean="0">
                              <a:latin typeface="Cambria Math" panose="02040503050406030204" pitchFamily="18" charset="0"/>
                            </a:rPr>
                            <m:t>0</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sr-Latn-RS" sz="2800" b="0" i="0" smtClean="0">
                                    <a:latin typeface="Cambria Math" panose="02040503050406030204" pitchFamily="18" charset="0"/>
                                  </a:rPr>
                                  <m:t>1</m:t>
                                </m:r>
                              </m:e>
                              <m:e>
                                <m:r>
                                  <a:rPr lang="sr-Latn-RS" sz="2800" b="0" i="0" smtClean="0">
                                    <a:latin typeface="Cambria Math" panose="02040503050406030204" pitchFamily="18" charset="0"/>
                                  </a:rPr>
                                  <m:t>0</m:t>
                                </m:r>
                              </m:e>
                            </m:mr>
                            <m:mr>
                              <m:e>
                                <m:r>
                                  <a:rPr lang="sr-Latn-RS" sz="2800" b="0" i="0" smtClean="0">
                                    <a:latin typeface="Cambria Math" panose="02040503050406030204" pitchFamily="18" charset="0"/>
                                  </a:rPr>
                                  <m:t>0</m:t>
                                </m:r>
                              </m:e>
                              <m:e>
                                <m:r>
                                  <a:rPr lang="sr-Latn-RS" sz="2800" b="0" i="0" smtClean="0">
                                    <a:latin typeface="Cambria Math" panose="02040503050406030204" pitchFamily="18" charset="0"/>
                                  </a:rPr>
                                  <m:t>1</m:t>
                                </m:r>
                              </m:e>
                            </m:mr>
                          </m:m>
                        </m:e>
                      </m:d>
                    </m:oMath>
                  </m:oMathPara>
                </a14:m>
                <a:endParaRPr lang="en-US" sz="2800" dirty="0"/>
              </a:p>
            </p:txBody>
          </p:sp>
        </mc:Choice>
        <mc:Fallback xmlns="">
          <p:sp>
            <p:nvSpPr>
              <p:cNvPr id="16" name="Rectangle 15">
                <a:extLst>
                  <a:ext uri="{FF2B5EF4-FFF2-40B4-BE49-F238E27FC236}">
                    <a16:creationId xmlns:a16="http://schemas.microsoft.com/office/drawing/2014/main" id="{5BAEB757-7839-694A-B56C-AD6436353B36}"/>
                  </a:ext>
                </a:extLst>
              </p:cNvPr>
              <p:cNvSpPr>
                <a:spLocks noRot="1" noChangeAspect="1" noMove="1" noResize="1" noEditPoints="1" noAdjustHandles="1" noChangeArrowheads="1" noChangeShapeType="1" noTextEdit="1"/>
              </p:cNvSpPr>
              <p:nvPr/>
            </p:nvSpPr>
            <p:spPr>
              <a:xfrm>
                <a:off x="7175986" y="4958606"/>
                <a:ext cx="2809808" cy="810799"/>
              </a:xfrm>
              <a:prstGeom prst="rect">
                <a:avLst/>
              </a:prstGeom>
              <a:blipFill>
                <a:blip r:embed="rId6"/>
                <a:stretch>
                  <a:fillRect b="-76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586DF91-E250-2E44-BB91-ED19F05F1269}"/>
              </a:ext>
            </a:extLst>
          </p:cNvPr>
          <p:cNvPicPr>
            <a:picLocks noChangeAspect="1"/>
          </p:cNvPicPr>
          <p:nvPr/>
        </p:nvPicPr>
        <p:blipFill>
          <a:blip r:embed="rId7"/>
          <a:stretch>
            <a:fillRect/>
          </a:stretch>
        </p:blipFill>
        <p:spPr>
          <a:xfrm>
            <a:off x="771643" y="1284277"/>
            <a:ext cx="3156490" cy="3772991"/>
          </a:xfrm>
          <a:prstGeom prst="rect">
            <a:avLst/>
          </a:prstGeom>
        </p:spPr>
      </p:pic>
    </p:spTree>
    <p:extLst>
      <p:ext uri="{BB962C8B-B14F-4D97-AF65-F5344CB8AC3E}">
        <p14:creationId xmlns:p14="http://schemas.microsoft.com/office/powerpoint/2010/main" val="3618067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B10D74C2-5244-FD4F-9BF9-B3D9F6F2027A}"/>
              </a:ext>
            </a:extLst>
          </p:cNvPr>
          <p:cNvSpPr/>
          <p:nvPr/>
        </p:nvSpPr>
        <p:spPr>
          <a:xfrm>
            <a:off x="6596743" y="1328032"/>
            <a:ext cx="5257800" cy="3211311"/>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849B6-0FC7-8947-B0F5-1EF97F6A3923}"/>
              </a:ext>
            </a:extLst>
          </p:cNvPr>
          <p:cNvSpPr>
            <a:spLocks noGrp="1"/>
          </p:cNvSpPr>
          <p:nvPr>
            <p:ph type="title"/>
          </p:nvPr>
        </p:nvSpPr>
        <p:spPr/>
        <p:txBody>
          <a:bodyPr>
            <a:normAutofit/>
          </a:bodyPr>
          <a:lstStyle/>
          <a:p>
            <a:r>
              <a:rPr lang="en-ZA" dirty="0"/>
              <a:t>Eigenvalues and eigenvectors</a:t>
            </a:r>
            <a:endParaRPr lang="en-US" dirty="0"/>
          </a:p>
        </p:txBody>
      </p:sp>
      <p:sp>
        <p:nvSpPr>
          <p:cNvPr id="3" name="Slide Number Placeholder 2">
            <a:extLst>
              <a:ext uri="{FF2B5EF4-FFF2-40B4-BE49-F238E27FC236}">
                <a16:creationId xmlns:a16="http://schemas.microsoft.com/office/drawing/2014/main" id="{DB6F5299-1E31-C24C-A85B-3752149AED52}"/>
              </a:ext>
            </a:extLst>
          </p:cNvPr>
          <p:cNvSpPr>
            <a:spLocks noGrp="1"/>
          </p:cNvSpPr>
          <p:nvPr>
            <p:ph type="sldNum" sz="quarter" idx="12"/>
          </p:nvPr>
        </p:nvSpPr>
        <p:spPr/>
        <p:txBody>
          <a:bodyPr/>
          <a:lstStyle/>
          <a:p>
            <a:fld id="{591A223C-FA10-BC46-A853-03BA373D023C}" type="slidenum">
              <a:rPr lang="en-US" smtClean="0"/>
              <a:t>31</a:t>
            </a:fld>
            <a:endParaRPr lang="en-US"/>
          </a:p>
        </p:txBody>
      </p:sp>
      <p:grpSp>
        <p:nvGrpSpPr>
          <p:cNvPr id="25" name="Group 24">
            <a:extLst>
              <a:ext uri="{FF2B5EF4-FFF2-40B4-BE49-F238E27FC236}">
                <a16:creationId xmlns:a16="http://schemas.microsoft.com/office/drawing/2014/main" id="{4A0F0B8E-F9AD-6E41-81E7-4095ED98BE9F}"/>
              </a:ext>
            </a:extLst>
          </p:cNvPr>
          <p:cNvGrpSpPr/>
          <p:nvPr/>
        </p:nvGrpSpPr>
        <p:grpSpPr>
          <a:xfrm>
            <a:off x="7365954" y="4845132"/>
            <a:ext cx="4368568" cy="1341953"/>
            <a:chOff x="4011313" y="4751578"/>
            <a:chExt cx="4368568" cy="1341953"/>
          </a:xfrm>
        </p:grpSpPr>
        <p:sp>
          <p:nvSpPr>
            <p:cNvPr id="7" name="TextBox 6">
              <a:extLst>
                <a:ext uri="{FF2B5EF4-FFF2-40B4-BE49-F238E27FC236}">
                  <a16:creationId xmlns:a16="http://schemas.microsoft.com/office/drawing/2014/main" id="{8EEECB8D-C3A4-A146-8BF4-A0CD0EF1D0CD}"/>
                </a:ext>
              </a:extLst>
            </p:cNvPr>
            <p:cNvSpPr txBox="1"/>
            <p:nvPr/>
          </p:nvSpPr>
          <p:spPr>
            <a:xfrm>
              <a:off x="4011313" y="4751578"/>
              <a:ext cx="1323632" cy="461665"/>
            </a:xfrm>
            <a:prstGeom prst="rect">
              <a:avLst/>
            </a:prstGeom>
            <a:noFill/>
          </p:spPr>
          <p:txBody>
            <a:bodyPr wrap="none" rtlCol="0">
              <a:spAutoFit/>
            </a:bodyPr>
            <a:lstStyle/>
            <a:p>
              <a:r>
                <a:rPr lang="en-US" sz="2400" dirty="0"/>
                <a:t>Example: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CED248-ADE0-CA49-94BF-69FB6949E6AA}"/>
                    </a:ext>
                  </a:extLst>
                </p:cNvPr>
                <p:cNvSpPr txBox="1"/>
                <p:nvPr/>
              </p:nvSpPr>
              <p:spPr>
                <a:xfrm>
                  <a:off x="4011313" y="5383593"/>
                  <a:ext cx="4368568" cy="709938"/>
                </a:xfrm>
                <a:prstGeom prst="rect">
                  <a:avLst/>
                </a:prstGeom>
                <a:noFill/>
              </p:spPr>
              <p:txBody>
                <a:bodyPr wrap="none" rtlCol="0">
                  <a:spAutoFit/>
                </a:bodyPr>
                <a:lstStyle/>
                <a:p>
                  <a14:m>
                    <m:oMath xmlns:m="http://schemas.openxmlformats.org/officeDocument/2006/math">
                      <m:r>
                        <a:rPr lang="sr-Latn-RS" sz="2400" b="0" i="1" smtClean="0">
                          <a:latin typeface="Cambria Math" panose="02040503050406030204" pitchFamily="18" charset="0"/>
                        </a:rPr>
                        <m:t>𝐼</m:t>
                      </m:r>
                      <m:d>
                        <m:dPr>
                          <m:begChr m:val="|"/>
                          <m:endChr m:val="⟩"/>
                          <m:ctrlPr>
                            <a:rPr lang="en-US" sz="2400" i="1">
                              <a:latin typeface="Cambria Math" panose="02040503050406030204" pitchFamily="18" charset="0"/>
                            </a:rPr>
                          </m:ctrlPr>
                        </m:dPr>
                        <m:e>
                          <m:r>
                            <a:rPr lang="en-US" sz="2400" b="0" i="1">
                              <a:latin typeface="Cambria Math" panose="02040503050406030204" pitchFamily="18" charset="0"/>
                            </a:rPr>
                            <m:t>𝑥</m:t>
                          </m:r>
                        </m:e>
                      </m:d>
                      <m:r>
                        <a:rPr lang="en-US" sz="2400" b="1" i="1" smtClean="0">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mcs>
                                <m:mc>
                                  <m:mcPr>
                                    <m:count m:val="2"/>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1</m:t>
                                </m:r>
                              </m:e>
                              <m:e>
                                <m:r>
                                  <a:rPr lang="en-US" sz="2400" i="1">
                                    <a:latin typeface="Cambria Math" panose="02040503050406030204" pitchFamily="18" charset="0"/>
                                    <a:ea typeface="Cambria Math" panose="02040503050406030204" pitchFamily="18" charset="0"/>
                                  </a:rPr>
                                  <m:t>0</m:t>
                                </m:r>
                              </m:e>
                            </m:mr>
                            <m:mr>
                              <m:e>
                                <m:r>
                                  <a:rPr lang="en-US" sz="2400" i="1">
                                    <a:latin typeface="Cambria Math" panose="02040503050406030204" pitchFamily="18" charset="0"/>
                                    <a:ea typeface="Cambria Math" panose="02040503050406030204" pitchFamily="18" charset="0"/>
                                  </a:rPr>
                                  <m:t>0</m:t>
                                </m:r>
                              </m:e>
                              <m:e>
                                <m:r>
                                  <a:rPr lang="en-US" sz="2400" i="1">
                                    <a:latin typeface="Cambria Math" panose="02040503050406030204" pitchFamily="18" charset="0"/>
                                    <a:ea typeface="Cambria Math" panose="02040503050406030204" pitchFamily="18" charset="0"/>
                                  </a:rPr>
                                  <m:t>1</m:t>
                                </m:r>
                              </m:e>
                            </m:mr>
                          </m:m>
                        </m:e>
                      </m:d>
                      <m:d>
                        <m:dPr>
                          <m:ctrlPr>
                            <a:rPr lang="en-US" sz="2400" b="1"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𝑥</m:t>
                                </m:r>
                              </m:e>
                            </m:mr>
                            <m:mr>
                              <m:e>
                                <m:r>
                                  <a:rPr lang="en-US" sz="2400" b="0" i="1" smtClean="0">
                                    <a:latin typeface="Cambria Math" panose="02040503050406030204" pitchFamily="18" charset="0"/>
                                    <a:ea typeface="Cambria Math" panose="02040503050406030204" pitchFamily="18" charset="0"/>
                                  </a:rPr>
                                  <m:t>𝑦</m:t>
                                </m:r>
                              </m:e>
                            </m:mr>
                          </m:m>
                        </m:e>
                      </m:d>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𝑥</m:t>
                                </m:r>
                              </m:e>
                            </m:mr>
                            <m:mr>
                              <m:e>
                                <m:r>
                                  <a:rPr lang="en-US" sz="2400" i="1">
                                    <a:latin typeface="Cambria Math" panose="02040503050406030204" pitchFamily="18" charset="0"/>
                                    <a:ea typeface="Cambria Math" panose="02040503050406030204" pitchFamily="18" charset="0"/>
                                  </a:rPr>
                                  <m:t>𝑦</m:t>
                                </m:r>
                              </m:e>
                            </m:mr>
                          </m:m>
                        </m:e>
                      </m:d>
                      <m:r>
                        <a:rPr lang="en-US" sz="2400" b="1"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oMath>
                  </a14:m>
                  <a:r>
                    <a:rPr lang="en-US" sz="2400" dirty="0"/>
                    <a:t>=1</a:t>
                  </a:r>
                </a:p>
              </p:txBody>
            </p:sp>
          </mc:Choice>
          <mc:Fallback xmlns="">
            <p:sp>
              <p:nvSpPr>
                <p:cNvPr id="8" name="TextBox 7">
                  <a:extLst>
                    <a:ext uri="{FF2B5EF4-FFF2-40B4-BE49-F238E27FC236}">
                      <a16:creationId xmlns:a16="http://schemas.microsoft.com/office/drawing/2014/main" id="{A2CED248-ADE0-CA49-94BF-69FB6949E6AA}"/>
                    </a:ext>
                  </a:extLst>
                </p:cNvPr>
                <p:cNvSpPr txBox="1">
                  <a:spLocks noRot="1" noChangeAspect="1" noMove="1" noResize="1" noEditPoints="1" noAdjustHandles="1" noChangeArrowheads="1" noChangeShapeType="1" noTextEdit="1"/>
                </p:cNvSpPr>
                <p:nvPr/>
              </p:nvSpPr>
              <p:spPr>
                <a:xfrm>
                  <a:off x="4011313" y="5383593"/>
                  <a:ext cx="4368568" cy="709938"/>
                </a:xfrm>
                <a:prstGeom prst="rect">
                  <a:avLst/>
                </a:prstGeom>
                <a:blipFill>
                  <a:blip r:embed="rId3"/>
                  <a:stretch>
                    <a:fillRect l="-290" r="-870" b="-877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70856C-8C1B-A643-939D-2EDE7EA2B49B}"/>
                  </a:ext>
                </a:extLst>
              </p:cNvPr>
              <p:cNvSpPr txBox="1"/>
              <p:nvPr/>
            </p:nvSpPr>
            <p:spPr>
              <a:xfrm>
                <a:off x="6881618" y="2066324"/>
                <a:ext cx="2575449"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𝐴</m:t>
                      </m:r>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𝜆</m:t>
                      </m:r>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𝑥</m:t>
                          </m:r>
                        </m:e>
                      </m:d>
                    </m:oMath>
                  </m:oMathPara>
                </a14:m>
                <a:endParaRPr lang="en-US" sz="3600" dirty="0"/>
              </a:p>
            </p:txBody>
          </p:sp>
        </mc:Choice>
        <mc:Fallback xmlns="">
          <p:sp>
            <p:nvSpPr>
              <p:cNvPr id="12" name="TextBox 11">
                <a:extLst>
                  <a:ext uri="{FF2B5EF4-FFF2-40B4-BE49-F238E27FC236}">
                    <a16:creationId xmlns:a16="http://schemas.microsoft.com/office/drawing/2014/main" id="{2D70856C-8C1B-A643-939D-2EDE7EA2B49B}"/>
                  </a:ext>
                </a:extLst>
              </p:cNvPr>
              <p:cNvSpPr txBox="1">
                <a:spLocks noRot="1" noChangeAspect="1" noMove="1" noResize="1" noEditPoints="1" noAdjustHandles="1" noChangeArrowheads="1" noChangeShapeType="1" noTextEdit="1"/>
              </p:cNvSpPr>
              <p:nvPr/>
            </p:nvSpPr>
            <p:spPr>
              <a:xfrm>
                <a:off x="6881618" y="2066324"/>
                <a:ext cx="2575449"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5CA3E87-5192-CD4A-BC6D-69777927A8F7}"/>
                  </a:ext>
                </a:extLst>
              </p:cNvPr>
              <p:cNvSpPr txBox="1"/>
              <p:nvPr/>
            </p:nvSpPr>
            <p:spPr>
              <a:xfrm>
                <a:off x="7365954" y="2933687"/>
                <a:ext cx="2536272" cy="954107"/>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ea typeface="Cambria Math" panose="02040503050406030204" pitchFamily="18" charset="0"/>
                      </a:rPr>
                      <m:t>𝜆</m:t>
                    </m:r>
                  </m:oMath>
                </a14:m>
                <a:r>
                  <a:rPr lang="en-US" sz="2800" dirty="0"/>
                  <a:t>.  : eigenvalue</a:t>
                </a:r>
              </a:p>
              <a:p>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oMath>
                </a14:m>
                <a:r>
                  <a:rPr lang="en-US" sz="2800" dirty="0"/>
                  <a:t>: eigenvector</a:t>
                </a:r>
              </a:p>
            </p:txBody>
          </p:sp>
        </mc:Choice>
        <mc:Fallback xmlns="">
          <p:sp>
            <p:nvSpPr>
              <p:cNvPr id="14" name="TextBox 13">
                <a:extLst>
                  <a:ext uri="{FF2B5EF4-FFF2-40B4-BE49-F238E27FC236}">
                    <a16:creationId xmlns:a16="http://schemas.microsoft.com/office/drawing/2014/main" id="{C5CA3E87-5192-CD4A-BC6D-69777927A8F7}"/>
                  </a:ext>
                </a:extLst>
              </p:cNvPr>
              <p:cNvSpPr txBox="1">
                <a:spLocks noRot="1" noChangeAspect="1" noMove="1" noResize="1" noEditPoints="1" noAdjustHandles="1" noChangeArrowheads="1" noChangeShapeType="1" noTextEdit="1"/>
              </p:cNvSpPr>
              <p:nvPr/>
            </p:nvSpPr>
            <p:spPr>
              <a:xfrm>
                <a:off x="7365954" y="2933687"/>
                <a:ext cx="2536272" cy="954107"/>
              </a:xfrm>
              <a:prstGeom prst="rect">
                <a:avLst/>
              </a:prstGeom>
              <a:blipFill>
                <a:blip r:embed="rId8"/>
                <a:stretch>
                  <a:fillRect l="-1493" t="-5263" r="-2488" b="-15789"/>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E1829DC-18E2-5A48-887E-F86BB48EC0F2}"/>
              </a:ext>
            </a:extLst>
          </p:cNvPr>
          <p:cNvCxnSpPr>
            <a:cxnSpLocks/>
          </p:cNvCxnSpPr>
          <p:nvPr/>
        </p:nvCxnSpPr>
        <p:spPr>
          <a:xfrm>
            <a:off x="1288379" y="5333913"/>
            <a:ext cx="3859354" cy="3"/>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443C9D9-F52D-C347-A986-E9AB77FA39F7}"/>
              </a:ext>
            </a:extLst>
          </p:cNvPr>
          <p:cNvCxnSpPr>
            <a:cxnSpLocks/>
          </p:cNvCxnSpPr>
          <p:nvPr/>
        </p:nvCxnSpPr>
        <p:spPr>
          <a:xfrm flipV="1">
            <a:off x="1288379" y="1461204"/>
            <a:ext cx="0" cy="3859354"/>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DE312C-EDE1-BF4D-B4C4-4686FF87DC37}"/>
              </a:ext>
            </a:extLst>
          </p:cNvPr>
          <p:cNvCxnSpPr>
            <a:cxnSpLocks/>
          </p:cNvCxnSpPr>
          <p:nvPr/>
        </p:nvCxnSpPr>
        <p:spPr>
          <a:xfrm flipV="1">
            <a:off x="1288379" y="2344208"/>
            <a:ext cx="2433893" cy="3003062"/>
          </a:xfrm>
          <a:prstGeom prst="straightConnector1">
            <a:avLst/>
          </a:prstGeom>
          <a:ln w="25400">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467602-E951-DA4D-9ADE-C1375828E30F}"/>
              </a:ext>
            </a:extLst>
          </p:cNvPr>
          <p:cNvCxnSpPr>
            <a:cxnSpLocks/>
          </p:cNvCxnSpPr>
          <p:nvPr/>
        </p:nvCxnSpPr>
        <p:spPr>
          <a:xfrm>
            <a:off x="3722273" y="2344208"/>
            <a:ext cx="0" cy="298970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07030E-2D91-804F-947B-4DB5C5F92B05}"/>
              </a:ext>
            </a:extLst>
          </p:cNvPr>
          <p:cNvCxnSpPr>
            <a:cxnSpLocks/>
          </p:cNvCxnSpPr>
          <p:nvPr/>
        </p:nvCxnSpPr>
        <p:spPr>
          <a:xfrm flipV="1">
            <a:off x="1288379" y="2344205"/>
            <a:ext cx="2433893" cy="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D3DDB42-C446-3D4F-9954-5E0C7B23F677}"/>
              </a:ext>
            </a:extLst>
          </p:cNvPr>
          <p:cNvCxnSpPr>
            <a:cxnSpLocks noChangeAspect="1"/>
          </p:cNvCxnSpPr>
          <p:nvPr/>
        </p:nvCxnSpPr>
        <p:spPr>
          <a:xfrm flipV="1">
            <a:off x="1288378" y="3553579"/>
            <a:ext cx="1447258" cy="1783997"/>
          </a:xfrm>
          <a:prstGeom prst="straightConnector1">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6FFACBE-621B-2F4B-85F3-6F4A240836C3}"/>
              </a:ext>
            </a:extLst>
          </p:cNvPr>
          <p:cNvCxnSpPr>
            <a:cxnSpLocks/>
          </p:cNvCxnSpPr>
          <p:nvPr/>
        </p:nvCxnSpPr>
        <p:spPr>
          <a:xfrm flipH="1">
            <a:off x="2735636" y="3571567"/>
            <a:ext cx="0" cy="176234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7D406C-ADD2-0D41-809C-48B46710B9EC}"/>
              </a:ext>
            </a:extLst>
          </p:cNvPr>
          <p:cNvCxnSpPr>
            <a:cxnSpLocks/>
          </p:cNvCxnSpPr>
          <p:nvPr/>
        </p:nvCxnSpPr>
        <p:spPr>
          <a:xfrm>
            <a:off x="1288378" y="3571567"/>
            <a:ext cx="1447258"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9B040EA-3ABC-2040-93EB-6481B403FD79}"/>
                  </a:ext>
                </a:extLst>
              </p:cNvPr>
              <p:cNvSpPr/>
              <p:nvPr/>
            </p:nvSpPr>
            <p:spPr>
              <a:xfrm>
                <a:off x="1444735" y="3943068"/>
                <a:ext cx="785408" cy="58477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40" name="Rectangle 39">
                <a:extLst>
                  <a:ext uri="{FF2B5EF4-FFF2-40B4-BE49-F238E27FC236}">
                    <a16:creationId xmlns:a16="http://schemas.microsoft.com/office/drawing/2014/main" id="{19B040EA-3ABC-2040-93EB-6481B403FD79}"/>
                  </a:ext>
                </a:extLst>
              </p:cNvPr>
              <p:cNvSpPr>
                <a:spLocks noRot="1" noChangeAspect="1" noMove="1" noResize="1" noEditPoints="1" noAdjustHandles="1" noChangeArrowheads="1" noChangeShapeType="1" noTextEdit="1"/>
              </p:cNvSpPr>
              <p:nvPr/>
            </p:nvSpPr>
            <p:spPr>
              <a:xfrm>
                <a:off x="1444735" y="3943068"/>
                <a:ext cx="785408" cy="5847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9558E00-699E-914B-BA76-AD06E3E749B6}"/>
                  </a:ext>
                </a:extLst>
              </p:cNvPr>
              <p:cNvSpPr/>
              <p:nvPr/>
            </p:nvSpPr>
            <p:spPr>
              <a:xfrm>
                <a:off x="3393397" y="5415815"/>
                <a:ext cx="58509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ea typeface="Cambria Math" panose="02040503050406030204" pitchFamily="18" charset="0"/>
                        </a:rPr>
                        <m:t>𝜆</m:t>
                      </m:r>
                      <m:r>
                        <a:rPr lang="en-US" sz="2400" b="0" i="1">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1" name="Rectangle 40">
                <a:extLst>
                  <a:ext uri="{FF2B5EF4-FFF2-40B4-BE49-F238E27FC236}">
                    <a16:creationId xmlns:a16="http://schemas.microsoft.com/office/drawing/2014/main" id="{89558E00-699E-914B-BA76-AD06E3E749B6}"/>
                  </a:ext>
                </a:extLst>
              </p:cNvPr>
              <p:cNvSpPr>
                <a:spLocks noRot="1" noChangeAspect="1" noMove="1" noResize="1" noEditPoints="1" noAdjustHandles="1" noChangeArrowheads="1" noChangeShapeType="1" noTextEdit="1"/>
              </p:cNvSpPr>
              <p:nvPr/>
            </p:nvSpPr>
            <p:spPr>
              <a:xfrm>
                <a:off x="3393397" y="5415815"/>
                <a:ext cx="58509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17FA7F5-4F34-4146-AD9A-6AFC38FFDD87}"/>
                  </a:ext>
                </a:extLst>
              </p:cNvPr>
              <p:cNvSpPr/>
              <p:nvPr/>
            </p:nvSpPr>
            <p:spPr>
              <a:xfrm>
                <a:off x="2505326" y="5424189"/>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𝑥</m:t>
                      </m:r>
                    </m:oMath>
                  </m:oMathPara>
                </a14:m>
                <a:endParaRPr lang="en-US" sz="2400" dirty="0"/>
              </a:p>
            </p:txBody>
          </p:sp>
        </mc:Choice>
        <mc:Fallback xmlns="">
          <p:sp>
            <p:nvSpPr>
              <p:cNvPr id="42" name="Rectangle 41">
                <a:extLst>
                  <a:ext uri="{FF2B5EF4-FFF2-40B4-BE49-F238E27FC236}">
                    <a16:creationId xmlns:a16="http://schemas.microsoft.com/office/drawing/2014/main" id="{B17FA7F5-4F34-4146-AD9A-6AFC38FFDD87}"/>
                  </a:ext>
                </a:extLst>
              </p:cNvPr>
              <p:cNvSpPr>
                <a:spLocks noRot="1" noChangeAspect="1" noMove="1" noResize="1" noEditPoints="1" noAdjustHandles="1" noChangeArrowheads="1" noChangeShapeType="1" noTextEdit="1"/>
              </p:cNvSpPr>
              <p:nvPr/>
            </p:nvSpPr>
            <p:spPr>
              <a:xfrm>
                <a:off x="2505326" y="5424189"/>
                <a:ext cx="426399"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05784ABB-38B2-894B-A057-B1AB445691E0}"/>
                  </a:ext>
                </a:extLst>
              </p:cNvPr>
              <p:cNvSpPr/>
              <p:nvPr/>
            </p:nvSpPr>
            <p:spPr>
              <a:xfrm>
                <a:off x="549222" y="2087211"/>
                <a:ext cx="5890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𝑦</m:t>
                      </m:r>
                    </m:oMath>
                  </m:oMathPara>
                </a14:m>
                <a:endParaRPr lang="en-US" sz="2400" dirty="0"/>
              </a:p>
            </p:txBody>
          </p:sp>
        </mc:Choice>
        <mc:Fallback xmlns="">
          <p:sp>
            <p:nvSpPr>
              <p:cNvPr id="43" name="Rectangle 42">
                <a:extLst>
                  <a:ext uri="{FF2B5EF4-FFF2-40B4-BE49-F238E27FC236}">
                    <a16:creationId xmlns:a16="http://schemas.microsoft.com/office/drawing/2014/main" id="{05784ABB-38B2-894B-A057-B1AB445691E0}"/>
                  </a:ext>
                </a:extLst>
              </p:cNvPr>
              <p:cNvSpPr>
                <a:spLocks noRot="1" noChangeAspect="1" noMove="1" noResize="1" noEditPoints="1" noAdjustHandles="1" noChangeArrowheads="1" noChangeShapeType="1" noTextEdit="1"/>
              </p:cNvSpPr>
              <p:nvPr/>
            </p:nvSpPr>
            <p:spPr>
              <a:xfrm>
                <a:off x="549222" y="2087211"/>
                <a:ext cx="589071" cy="461665"/>
              </a:xfrm>
              <a:prstGeom prst="rect">
                <a:avLst/>
              </a:prstGeom>
              <a:blipFill>
                <a:blip r:embed="rId13"/>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22699E18-031A-0B48-AA75-3D73D5DBAE80}"/>
                  </a:ext>
                </a:extLst>
              </p:cNvPr>
              <p:cNvSpPr/>
              <p:nvPr/>
            </p:nvSpPr>
            <p:spPr>
              <a:xfrm>
                <a:off x="645115" y="3265396"/>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4" name="Rectangle 43">
                <a:extLst>
                  <a:ext uri="{FF2B5EF4-FFF2-40B4-BE49-F238E27FC236}">
                    <a16:creationId xmlns:a16="http://schemas.microsoft.com/office/drawing/2014/main" id="{22699E18-031A-0B48-AA75-3D73D5DBAE80}"/>
                  </a:ext>
                </a:extLst>
              </p:cNvPr>
              <p:cNvSpPr>
                <a:spLocks noRot="1" noChangeAspect="1" noMove="1" noResize="1" noEditPoints="1" noAdjustHandles="1" noChangeArrowheads="1" noChangeShapeType="1" noTextEdit="1"/>
              </p:cNvSpPr>
              <p:nvPr/>
            </p:nvSpPr>
            <p:spPr>
              <a:xfrm>
                <a:off x="645115" y="3265396"/>
                <a:ext cx="430374" cy="461665"/>
              </a:xfrm>
              <a:prstGeom prst="rect">
                <a:avLst/>
              </a:prstGeom>
              <a:blipFill>
                <a:blip r:embed="rId14"/>
                <a:stretch>
                  <a:fillRect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76C464C-C733-4F42-827D-ACB944C3974D}"/>
                  </a:ext>
                </a:extLst>
              </p:cNvPr>
              <p:cNvSpPr txBox="1"/>
              <p:nvPr/>
            </p:nvSpPr>
            <p:spPr>
              <a:xfrm>
                <a:off x="3081528" y="2986792"/>
                <a:ext cx="230967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𝐴</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𝑥</m:t>
                          </m:r>
                        </m:e>
                      </m:d>
                      <m:r>
                        <a:rPr lang="en-US" sz="3200" b="0" i="1" smtClean="0">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24" name="TextBox 23">
                <a:extLst>
                  <a:ext uri="{FF2B5EF4-FFF2-40B4-BE49-F238E27FC236}">
                    <a16:creationId xmlns:a16="http://schemas.microsoft.com/office/drawing/2014/main" id="{076C464C-C733-4F42-827D-ACB944C3974D}"/>
                  </a:ext>
                </a:extLst>
              </p:cNvPr>
              <p:cNvSpPr txBox="1">
                <a:spLocks noRot="1" noChangeAspect="1" noMove="1" noResize="1" noEditPoints="1" noAdjustHandles="1" noChangeArrowheads="1" noChangeShapeType="1" noTextEdit="1"/>
              </p:cNvSpPr>
              <p:nvPr/>
            </p:nvSpPr>
            <p:spPr>
              <a:xfrm>
                <a:off x="3081528" y="2986792"/>
                <a:ext cx="2309671" cy="584775"/>
              </a:xfrm>
              <a:prstGeom prst="rect">
                <a:avLst/>
              </a:prstGeom>
              <a:blipFill>
                <a:blip r:embed="rId15"/>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76AEED3-A518-EB4B-9F22-D34EB47F8B4E}"/>
              </a:ext>
            </a:extLst>
          </p:cNvPr>
          <p:cNvSpPr txBox="1"/>
          <p:nvPr/>
        </p:nvSpPr>
        <p:spPr>
          <a:xfrm>
            <a:off x="8079814" y="1461204"/>
            <a:ext cx="2718373" cy="461665"/>
          </a:xfrm>
          <a:prstGeom prst="rect">
            <a:avLst/>
          </a:prstGeom>
          <a:noFill/>
        </p:spPr>
        <p:txBody>
          <a:bodyPr wrap="none" rtlCol="0">
            <a:spAutoFit/>
          </a:bodyPr>
          <a:lstStyle/>
          <a:p>
            <a:r>
              <a:rPr lang="en-ZA" sz="2400" dirty="0"/>
              <a:t>eigenvalue equation</a:t>
            </a:r>
            <a:endParaRPr lang="en-US" sz="2400" dirty="0"/>
          </a:p>
        </p:txBody>
      </p:sp>
    </p:spTree>
    <p:extLst>
      <p:ext uri="{BB962C8B-B14F-4D97-AF65-F5344CB8AC3E}">
        <p14:creationId xmlns:p14="http://schemas.microsoft.com/office/powerpoint/2010/main" val="131989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6E0A5F-5B7C-D94C-B664-E93B1FADEC3A}"/>
              </a:ext>
            </a:extLst>
          </p:cNvPr>
          <p:cNvSpPr>
            <a:spLocks noGrp="1"/>
          </p:cNvSpPr>
          <p:nvPr>
            <p:ph type="title"/>
          </p:nvPr>
        </p:nvSpPr>
        <p:spPr/>
        <p:txBody>
          <a:bodyPr/>
          <a:lstStyle/>
          <a:p>
            <a:r>
              <a:rPr lang="en-ZA" dirty="0"/>
              <a:t>The spectral decomposition theorem</a:t>
            </a:r>
            <a:endParaRPr lang="en-US" dirty="0"/>
          </a:p>
        </p:txBody>
      </p:sp>
      <p:sp>
        <p:nvSpPr>
          <p:cNvPr id="2" name="Slide Number Placeholder 1">
            <a:extLst>
              <a:ext uri="{FF2B5EF4-FFF2-40B4-BE49-F238E27FC236}">
                <a16:creationId xmlns:a16="http://schemas.microsoft.com/office/drawing/2014/main" id="{44DA5D2E-D866-E246-AF93-7F6659D3C75F}"/>
              </a:ext>
            </a:extLst>
          </p:cNvPr>
          <p:cNvSpPr>
            <a:spLocks noGrp="1"/>
          </p:cNvSpPr>
          <p:nvPr>
            <p:ph type="sldNum" sz="quarter" idx="12"/>
          </p:nvPr>
        </p:nvSpPr>
        <p:spPr/>
        <p:txBody>
          <a:bodyPr/>
          <a:lstStyle/>
          <a:p>
            <a:fld id="{591A223C-FA10-BC46-A853-03BA373D023C}" type="slidenum">
              <a:rPr lang="en-US" smtClean="0"/>
              <a:t>32</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3C54C48-382C-8142-A631-3A08402D2240}"/>
                  </a:ext>
                </a:extLst>
              </p:cNvPr>
              <p:cNvSpPr/>
              <p:nvPr/>
            </p:nvSpPr>
            <p:spPr>
              <a:xfrm>
                <a:off x="382038" y="1423911"/>
                <a:ext cx="11427922" cy="965264"/>
              </a:xfrm>
              <a:prstGeom prst="rect">
                <a:avLst/>
              </a:prstGeom>
            </p:spPr>
            <p:txBody>
              <a:bodyPr wrap="square">
                <a:spAutoFit/>
              </a:bodyPr>
              <a:lstStyle/>
              <a:p>
                <a:pPr algn="ctr"/>
                <a:r>
                  <a:rPr lang="en-ZA" sz="2800" dirty="0"/>
                  <a:t>Any normal operator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sz="2800" dirty="0"/>
                  <a:t>, which satisfies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sSup>
                      <m:sSupPr>
                        <m:ctrlPr>
                          <a:rPr lang="en-ZA" sz="2800" i="1">
                            <a:latin typeface="Cambria Math" panose="02040503050406030204" pitchFamily="18" charset="0"/>
                          </a:rPr>
                        </m:ctrlPr>
                      </m:sSup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800" i="1">
                            <a:latin typeface="Cambria Math" panose="02040503050406030204" pitchFamily="18" charset="0"/>
                          </a:rPr>
                        </m:ctrlPr>
                      </m:sSup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sz="2800" dirty="0"/>
                  <a:t>, can be expressed using spectral decomposition.</a:t>
                </a:r>
              </a:p>
            </p:txBody>
          </p:sp>
        </mc:Choice>
        <mc:Fallback xmlns="">
          <p:sp>
            <p:nvSpPr>
              <p:cNvPr id="4" name="Rectangle 3">
                <a:extLst>
                  <a:ext uri="{FF2B5EF4-FFF2-40B4-BE49-F238E27FC236}">
                    <a16:creationId xmlns:a16="http://schemas.microsoft.com/office/drawing/2014/main" id="{E3C54C48-382C-8142-A631-3A08402D2240}"/>
                  </a:ext>
                </a:extLst>
              </p:cNvPr>
              <p:cNvSpPr>
                <a:spLocks noRot="1" noChangeAspect="1" noMove="1" noResize="1" noEditPoints="1" noAdjustHandles="1" noChangeArrowheads="1" noChangeShapeType="1" noTextEdit="1"/>
              </p:cNvSpPr>
              <p:nvPr/>
            </p:nvSpPr>
            <p:spPr>
              <a:xfrm>
                <a:off x="382038" y="1423911"/>
                <a:ext cx="11427922" cy="965264"/>
              </a:xfrm>
              <a:prstGeom prst="rect">
                <a:avLst/>
              </a:prstGeom>
              <a:blipFill>
                <a:blip r:embed="rId3"/>
                <a:stretch>
                  <a:fillRect t="-3896" r="-111" b="-168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517AE3C-8530-DE4F-B054-AE06E63B9884}"/>
                  </a:ext>
                </a:extLst>
              </p:cNvPr>
              <p:cNvSpPr/>
              <p:nvPr/>
            </p:nvSpPr>
            <p:spPr>
              <a:xfrm>
                <a:off x="4191639" y="2861659"/>
                <a:ext cx="4615174" cy="1137876"/>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𝐴</m:t>
                      </m:r>
                      <m:r>
                        <a:rPr lang="en-US" sz="2800" i="0">
                          <a:latin typeface="Cambria Math" panose="02040503050406030204" pitchFamily="18" charset="0"/>
                        </a:rPr>
                        <m:t>=</m:t>
                      </m:r>
                      <m:nary>
                        <m:naryPr>
                          <m:chr m:val="∑"/>
                          <m:limLoc m:val="undOvr"/>
                          <m:supHide m:val="on"/>
                          <m:ctrlPr>
                            <a:rPr lang="en-US" sz="2800" i="1">
                              <a:latin typeface="Cambria Math" panose="02040503050406030204" pitchFamily="18" charset="0"/>
                            </a:rPr>
                          </m:ctrlPr>
                        </m:naryPr>
                        <m:sub>
                          <m:r>
                            <a:rPr lang="en-US" sz="2800" i="1">
                              <a:latin typeface="Cambria Math" panose="02040503050406030204" pitchFamily="18" charset="0"/>
                            </a:rPr>
                            <m:t>𝑖</m:t>
                          </m:r>
                        </m:sub>
                        <m:sup/>
                        <m:e>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e>
                      </m:nary>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en-US" sz="2800" i="1">
                                  <a:latin typeface="Cambria Math" panose="02040503050406030204" pitchFamily="18" charset="0"/>
                                </a:rPr>
                                <m:t>𝑖</m:t>
                              </m:r>
                            </m:sub>
                          </m:sSub>
                        </m:e>
                      </m:d>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en-US" sz="2800" i="1">
                                  <a:latin typeface="Cambria Math" panose="02040503050406030204" pitchFamily="18" charset="0"/>
                                </a:rPr>
                                <m:t>𝑖</m:t>
                              </m:r>
                            </m:sub>
                          </m:sSub>
                        </m:e>
                      </m:d>
                      <m:r>
                        <a:rPr lang="en-US" sz="2800" i="0">
                          <a:latin typeface="Cambria Math" panose="02040503050406030204" pitchFamily="18" charset="0"/>
                        </a:rPr>
                        <m:t>=</m:t>
                      </m:r>
                      <m:nary>
                        <m:naryPr>
                          <m:chr m:val="∑"/>
                          <m:limLoc m:val="undOvr"/>
                          <m:supHide m:val="on"/>
                          <m:ctrlPr>
                            <a:rPr lang="en-US" sz="2800" i="1">
                              <a:latin typeface="Cambria Math" panose="02040503050406030204" pitchFamily="18" charset="0"/>
                            </a:rPr>
                          </m:ctrlPr>
                        </m:naryPr>
                        <m:sub>
                          <m:r>
                            <a:rPr lang="en-US" sz="2800" i="1">
                              <a:latin typeface="Cambria Math" panose="02040503050406030204" pitchFamily="18" charset="0"/>
                            </a:rPr>
                            <m:t>𝑖</m:t>
                          </m:r>
                        </m:sub>
                        <m:sup/>
                        <m:e>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e>
                      </m:nary>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𝑖</m:t>
                          </m:r>
                        </m:sub>
                      </m:sSub>
                    </m:oMath>
                  </m:oMathPara>
                </a14:m>
                <a:endParaRPr lang="en-US" sz="2800" dirty="0"/>
              </a:p>
            </p:txBody>
          </p:sp>
        </mc:Choice>
        <mc:Fallback xmlns="">
          <p:sp>
            <p:nvSpPr>
              <p:cNvPr id="5" name="Rectangle 4">
                <a:extLst>
                  <a:ext uri="{FF2B5EF4-FFF2-40B4-BE49-F238E27FC236}">
                    <a16:creationId xmlns:a16="http://schemas.microsoft.com/office/drawing/2014/main" id="{B517AE3C-8530-DE4F-B054-AE06E63B9884}"/>
                  </a:ext>
                </a:extLst>
              </p:cNvPr>
              <p:cNvSpPr>
                <a:spLocks noRot="1" noChangeAspect="1" noMove="1" noResize="1" noEditPoints="1" noAdjustHandles="1" noChangeArrowheads="1" noChangeShapeType="1" noTextEdit="1"/>
              </p:cNvSpPr>
              <p:nvPr/>
            </p:nvSpPr>
            <p:spPr>
              <a:xfrm>
                <a:off x="4191639" y="2861659"/>
                <a:ext cx="4615174" cy="1137876"/>
              </a:xfrm>
              <a:prstGeom prst="rect">
                <a:avLst/>
              </a:prstGeom>
              <a:blipFill>
                <a:blip r:embed="rId4"/>
                <a:stretch>
                  <a:fillRect l="-10714" t="-128571" r="-549" b="-1802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E0D90F5-CAE9-F344-B0B6-85144F554752}"/>
                  </a:ext>
                </a:extLst>
              </p:cNvPr>
              <p:cNvSpPr/>
              <p:nvPr/>
            </p:nvSpPr>
            <p:spPr>
              <a:xfrm>
                <a:off x="1066799" y="4481876"/>
                <a:ext cx="9753601" cy="1384995"/>
              </a:xfrm>
              <a:prstGeom prst="rect">
                <a:avLst/>
              </a:prstGeom>
            </p:spPr>
            <p:txBody>
              <a:bodyPr wrap="square">
                <a:spAutoFit/>
              </a:bodyPr>
              <a:lstStyle/>
              <a:p>
                <a14:m>
                  <m:oMath xmlns:m="http://schemas.openxmlformats.org/officeDocument/2006/math">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𝜆</m:t>
                        </m:r>
                      </m:e>
                      <m:sub>
                        <m:r>
                          <m:rPr>
                            <m:sty m:val="p"/>
                          </m:rPr>
                          <a:rPr lang="sr-Latn-RS" sz="2800">
                            <a:latin typeface="Cambria Math" panose="02040503050406030204" pitchFamily="18" charset="0"/>
                            <a:ea typeface="Times New Roman" panose="02020603050405020304" pitchFamily="18" charset="0"/>
                            <a:cs typeface="Times New Roman" panose="02020603050405020304" pitchFamily="18" charset="0"/>
                          </a:rPr>
                          <m:t>i</m:t>
                        </m:r>
                      </m:sub>
                    </m:sSub>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eigenvalues of </a:t>
                </a:r>
                <a14:m>
                  <m:oMath xmlns:m="http://schemas.openxmlformats.org/officeDocument/2006/math">
                    <m:r>
                      <a:rPr lang="en-US" sz="2800" i="1">
                        <a:latin typeface="Cambria Math" panose="02040503050406030204" pitchFamily="18" charset="0"/>
                      </a:rPr>
                      <m:t>𝐴</m:t>
                    </m:r>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a:t>
                </a:r>
              </a:p>
              <a:p>
                <a14:m>
                  <m:oMath xmlns:m="http://schemas.openxmlformats.org/officeDocument/2006/math">
                    <m:d>
                      <m:dPr>
                        <m:begChr m:val="|"/>
                        <m:endChr m:val="⟩"/>
                        <m:ctrlPr>
                          <a:rPr lang="en-ZA" sz="2800" i="1">
                            <a:effectLst/>
                            <a:latin typeface="Cambria Math" panose="02040503050406030204" pitchFamily="18"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m:rPr>
                                <m:sty m:val="p"/>
                              </m:rPr>
                              <a:rPr lang="sr-Latn-RS" sz="2800">
                                <a:latin typeface="Cambria Math" panose="02040503050406030204" pitchFamily="18" charset="0"/>
                                <a:ea typeface="Times New Roman" panose="02020603050405020304" pitchFamily="18" charset="0"/>
                                <a:cs typeface="Times New Roman" panose="02020603050405020304" pitchFamily="18" charset="0"/>
                              </a:rPr>
                              <m:t>i</m:t>
                            </m:r>
                          </m:sub>
                        </m:sSub>
                      </m:e>
                    </m:d>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corresponding eigenvectors</a:t>
                </a:r>
                <a:r>
                  <a:rPr lang="sr-Latn-RS" sz="2800" dirty="0">
                    <a:latin typeface="Cambria" panose="02040503050406030204" pitchFamily="18" charset="0"/>
                    <a:cs typeface="Times New Roman" panose="02020603050405020304" pitchFamily="18" charset="0"/>
                  </a:rPr>
                  <a:t>,</a:t>
                </a:r>
                <a:endParaRPr lang="sr-Latn-RS" sz="2800" dirty="0">
                  <a:latin typeface="Cambria" panose="02040503050406030204" pitchFamily="18" charset="0"/>
                  <a:ea typeface="Times New Roman" panose="02020603050405020304" pitchFamily="18" charset="0"/>
                  <a:cs typeface="Times New Roman" panose="02020603050405020304" pitchFamily="18" charset="0"/>
                </a:endParaRPr>
              </a:p>
              <a:p>
                <a14:m>
                  <m:oMath xmlns:m="http://schemas.openxmlformats.org/officeDocument/2006/math">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800" i="1">
                            <a:effectLst/>
                            <a:latin typeface="Cambria Math" panose="02040503050406030204" pitchFamily="18"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e>
                    </m:d>
                    <m:d>
                      <m:dPr>
                        <m:begChr m:val="⟨"/>
                        <m:endChr m:val="|"/>
                        <m:ctrlPr>
                          <a:rPr lang="en-ZA" sz="2800" i="1">
                            <a:effectLst/>
                            <a:latin typeface="Cambria Math" panose="02040503050406030204" pitchFamily="18" charset="0"/>
                            <a:cs typeface="Menlo Regular" panose="020B0609030804020204" pitchFamily="49"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e>
                    </m:d>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projection operators onto the eigenspaces</a:t>
                </a:r>
                <a:r>
                  <a:rPr lang="sr-Latn-RS" sz="2800" dirty="0">
                    <a:latin typeface="Cambria" panose="02040503050406030204" pitchFamily="18" charset="0"/>
                    <a:ea typeface="Times New Roman" panose="02020603050405020304" pitchFamily="18" charset="0"/>
                    <a:cs typeface="Times New Roman" panose="02020603050405020304" pitchFamily="18" charset="0"/>
                  </a:rPr>
                  <a:t>.</a:t>
                </a:r>
                <a:r>
                  <a:rPr lang="en-ZA" sz="2800" dirty="0">
                    <a:effectLst/>
                  </a:rPr>
                  <a:t> </a:t>
                </a:r>
                <a:endParaRPr lang="en-US" sz="2800" dirty="0"/>
              </a:p>
            </p:txBody>
          </p:sp>
        </mc:Choice>
        <mc:Fallback xmlns="">
          <p:sp>
            <p:nvSpPr>
              <p:cNvPr id="7" name="Rectangle 6">
                <a:extLst>
                  <a:ext uri="{FF2B5EF4-FFF2-40B4-BE49-F238E27FC236}">
                    <a16:creationId xmlns:a16="http://schemas.microsoft.com/office/drawing/2014/main" id="{8E0D90F5-CAE9-F344-B0B6-85144F554752}"/>
                  </a:ext>
                </a:extLst>
              </p:cNvPr>
              <p:cNvSpPr>
                <a:spLocks noRot="1" noChangeAspect="1" noMove="1" noResize="1" noEditPoints="1" noAdjustHandles="1" noChangeArrowheads="1" noChangeShapeType="1" noTextEdit="1"/>
              </p:cNvSpPr>
              <p:nvPr/>
            </p:nvSpPr>
            <p:spPr>
              <a:xfrm>
                <a:off x="1066799" y="4481876"/>
                <a:ext cx="9753601" cy="1384995"/>
              </a:xfrm>
              <a:prstGeom prst="rect">
                <a:avLst/>
              </a:prstGeom>
              <a:blipFill>
                <a:blip r:embed="rId5"/>
                <a:stretch>
                  <a:fillRect l="-391" t="-3636" b="-10000"/>
                </a:stretch>
              </a:blipFill>
            </p:spPr>
            <p:txBody>
              <a:bodyPr/>
              <a:lstStyle/>
              <a:p>
                <a:r>
                  <a:rPr lang="en-US">
                    <a:noFill/>
                  </a:rPr>
                  <a:t> </a:t>
                </a:r>
              </a:p>
            </p:txBody>
          </p:sp>
        </mc:Fallback>
      </mc:AlternateContent>
    </p:spTree>
    <p:extLst>
      <p:ext uri="{BB962C8B-B14F-4D97-AF65-F5344CB8AC3E}">
        <p14:creationId xmlns:p14="http://schemas.microsoft.com/office/powerpoint/2010/main" val="1066431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52ED-F3A0-7542-BED1-3819C419D75A}"/>
              </a:ext>
            </a:extLst>
          </p:cNvPr>
          <p:cNvSpPr>
            <a:spLocks noGrp="1"/>
          </p:cNvSpPr>
          <p:nvPr>
            <p:ph type="title"/>
          </p:nvPr>
        </p:nvSpPr>
        <p:spPr>
          <a:xfrm>
            <a:off x="0" y="0"/>
            <a:ext cx="12192000" cy="928688"/>
          </a:xfrm>
        </p:spPr>
        <p:txBody>
          <a:bodyPr/>
          <a:lstStyle/>
          <a:p>
            <a:r>
              <a:rPr lang="en-US" dirty="0"/>
              <a:t>Born Rule</a:t>
            </a:r>
          </a:p>
        </p:txBody>
      </p:sp>
      <p:grpSp>
        <p:nvGrpSpPr>
          <p:cNvPr id="13" name="Group 12">
            <a:extLst>
              <a:ext uri="{FF2B5EF4-FFF2-40B4-BE49-F238E27FC236}">
                <a16:creationId xmlns:a16="http://schemas.microsoft.com/office/drawing/2014/main" id="{5E6F2330-D87A-7C40-A13A-7E146894F174}"/>
              </a:ext>
            </a:extLst>
          </p:cNvPr>
          <p:cNvGrpSpPr/>
          <p:nvPr/>
        </p:nvGrpSpPr>
        <p:grpSpPr>
          <a:xfrm>
            <a:off x="647368" y="889174"/>
            <a:ext cx="3714893" cy="2576616"/>
            <a:chOff x="168406" y="889174"/>
            <a:chExt cx="3714893" cy="2576616"/>
          </a:xfrm>
        </p:grpSpPr>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BC550CB-FD07-AC4F-88DC-F6D6C14CE528}"/>
                    </a:ext>
                  </a:extLst>
                </p:cNvPr>
                <p:cNvSpPr/>
                <p:nvPr/>
              </p:nvSpPr>
              <p:spPr>
                <a:xfrm>
                  <a:off x="168406" y="889174"/>
                  <a:ext cx="355077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𝑆</m:t>
                            </m:r>
                          </m:e>
                        </m:d>
                        <m:r>
                          <a:rPr lang="en-US" sz="3200" b="0" i="1" smtClean="0">
                            <a:latin typeface="Cambria Math" panose="02040503050406030204" pitchFamily="18" charset="0"/>
                          </a:rPr>
                          <m:t>=</m:t>
                        </m:r>
                        <m:r>
                          <a:rPr lang="en-US" sz="3200" b="0" i="1" smtClean="0">
                            <a:latin typeface="Cambria Math" panose="02040503050406030204" pitchFamily="18" charset="0"/>
                          </a:rPr>
                          <m:t>𝑎</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0</m:t>
                            </m:r>
                          </m:e>
                        </m:d>
                        <m:r>
                          <a:rPr lang="en-US" sz="3200" b="0" i="1" smtClean="0">
                            <a:latin typeface="Cambria Math" panose="02040503050406030204" pitchFamily="18" charset="0"/>
                          </a:rPr>
                          <m:t> +  </m:t>
                        </m:r>
                        <m:r>
                          <a:rPr lang="en-US" sz="3200" b="0" i="1" smtClean="0">
                            <a:latin typeface="Cambria Math" panose="02040503050406030204" pitchFamily="18" charset="0"/>
                          </a:rPr>
                          <m:t>𝑏</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1</m:t>
                            </m:r>
                          </m:e>
                        </m:d>
                      </m:oMath>
                    </m:oMathPara>
                  </a14:m>
                  <a:endParaRPr lang="en-US" sz="3200" dirty="0"/>
                </a:p>
              </p:txBody>
            </p:sp>
          </mc:Choice>
          <mc:Fallback xmlns="">
            <p:sp>
              <p:nvSpPr>
                <p:cNvPr id="49" name="Rectangle 48">
                  <a:extLst>
                    <a:ext uri="{FF2B5EF4-FFF2-40B4-BE49-F238E27FC236}">
                      <a16:creationId xmlns:a16="http://schemas.microsoft.com/office/drawing/2014/main" id="{5BC550CB-FD07-AC4F-88DC-F6D6C14CE528}"/>
                    </a:ext>
                  </a:extLst>
                </p:cNvPr>
                <p:cNvSpPr>
                  <a:spLocks noRot="1" noChangeAspect="1" noMove="1" noResize="1" noEditPoints="1" noAdjustHandles="1" noChangeArrowheads="1" noChangeShapeType="1" noTextEdit="1"/>
                </p:cNvSpPr>
                <p:nvPr/>
              </p:nvSpPr>
              <p:spPr>
                <a:xfrm>
                  <a:off x="168406" y="889174"/>
                  <a:ext cx="3550779" cy="584775"/>
                </a:xfrm>
                <a:prstGeom prst="rect">
                  <a:avLst/>
                </a:prstGeom>
                <a:blipFill>
                  <a:blip r:embed="rId3"/>
                  <a:stretch>
                    <a:fillRect b="-23404"/>
                  </a:stretch>
                </a:blipFill>
              </p:spPr>
              <p:txBody>
                <a:bodyPr/>
                <a:lstStyle/>
                <a:p>
                  <a:r>
                    <a:rPr lang="en-US">
                      <a:noFill/>
                    </a:rPr>
                    <a:t> </a:t>
                  </a:r>
                </a:p>
              </p:txBody>
            </p:sp>
          </mc:Fallback>
        </mc:AlternateContent>
        <p:pic>
          <p:nvPicPr>
            <p:cNvPr id="47" name="Picture 46">
              <a:extLst>
                <a:ext uri="{FF2B5EF4-FFF2-40B4-BE49-F238E27FC236}">
                  <a16:creationId xmlns:a16="http://schemas.microsoft.com/office/drawing/2014/main" id="{213B84D6-7BAA-134A-B502-F4A4626A68BC}"/>
                </a:ext>
              </a:extLst>
            </p:cNvPr>
            <p:cNvPicPr>
              <a:picLocks noChangeAspect="1"/>
            </p:cNvPicPr>
            <p:nvPr/>
          </p:nvPicPr>
          <p:blipFill>
            <a:blip r:embed="rId4"/>
            <a:stretch>
              <a:fillRect/>
            </a:stretch>
          </p:blipFill>
          <p:spPr>
            <a:xfrm>
              <a:off x="1841933" y="1461540"/>
              <a:ext cx="2041366" cy="2004250"/>
            </a:xfrm>
            <a:prstGeom prst="rect">
              <a:avLst/>
            </a:prstGeom>
          </p:spPr>
        </p:pic>
        <p:sp>
          <p:nvSpPr>
            <p:cNvPr id="4" name="TextBox 3">
              <a:extLst>
                <a:ext uri="{FF2B5EF4-FFF2-40B4-BE49-F238E27FC236}">
                  <a16:creationId xmlns:a16="http://schemas.microsoft.com/office/drawing/2014/main" id="{FAA83FB7-330D-904A-8E61-99BA8FAE3E18}"/>
                </a:ext>
              </a:extLst>
            </p:cNvPr>
            <p:cNvSpPr txBox="1"/>
            <p:nvPr/>
          </p:nvSpPr>
          <p:spPr>
            <a:xfrm>
              <a:off x="2102759" y="1786512"/>
              <a:ext cx="369012" cy="523220"/>
            </a:xfrm>
            <a:prstGeom prst="rect">
              <a:avLst/>
            </a:prstGeom>
            <a:noFill/>
          </p:spPr>
          <p:txBody>
            <a:bodyPr wrap="none" rtlCol="0">
              <a:spAutoFit/>
            </a:bodyPr>
            <a:lstStyle/>
            <a:p>
              <a:r>
                <a:rPr lang="en-US" sz="2800" i="1" dirty="0">
                  <a:solidFill>
                    <a:schemeClr val="tx2">
                      <a:lumMod val="75000"/>
                    </a:schemeClr>
                  </a:solidFill>
                  <a:latin typeface="Comic Sans MS" panose="030F0902030302020204" pitchFamily="66" charset="0"/>
                </a:rPr>
                <a:t>a</a:t>
              </a:r>
            </a:p>
          </p:txBody>
        </p:sp>
        <p:sp>
          <p:nvSpPr>
            <p:cNvPr id="21" name="TextBox 20">
              <a:extLst>
                <a:ext uri="{FF2B5EF4-FFF2-40B4-BE49-F238E27FC236}">
                  <a16:creationId xmlns:a16="http://schemas.microsoft.com/office/drawing/2014/main" id="{F46F45BA-86D9-D04F-B7F0-76515C00BB15}"/>
                </a:ext>
              </a:extLst>
            </p:cNvPr>
            <p:cNvSpPr txBox="1"/>
            <p:nvPr/>
          </p:nvSpPr>
          <p:spPr>
            <a:xfrm>
              <a:off x="3025771" y="1748968"/>
              <a:ext cx="397866" cy="523220"/>
            </a:xfrm>
            <a:prstGeom prst="rect">
              <a:avLst/>
            </a:prstGeom>
            <a:noFill/>
          </p:spPr>
          <p:txBody>
            <a:bodyPr wrap="none" rtlCol="0">
              <a:spAutoFit/>
            </a:bodyPr>
            <a:lstStyle/>
            <a:p>
              <a:r>
                <a:rPr lang="en-US" sz="2800" i="1" dirty="0">
                  <a:solidFill>
                    <a:schemeClr val="tx2">
                      <a:lumMod val="75000"/>
                    </a:schemeClr>
                  </a:solidFill>
                  <a:latin typeface="Comic Sans MS" panose="030F0902030302020204" pitchFamily="66" charset="0"/>
                </a:rPr>
                <a:t>b</a:t>
              </a:r>
            </a:p>
          </p:txBody>
        </p:sp>
      </p:grpSp>
      <p:grpSp>
        <p:nvGrpSpPr>
          <p:cNvPr id="12" name="Group 11">
            <a:extLst>
              <a:ext uri="{FF2B5EF4-FFF2-40B4-BE49-F238E27FC236}">
                <a16:creationId xmlns:a16="http://schemas.microsoft.com/office/drawing/2014/main" id="{BC67E36F-B7E4-B941-BC93-0895A74F3CD7}"/>
              </a:ext>
            </a:extLst>
          </p:cNvPr>
          <p:cNvGrpSpPr/>
          <p:nvPr/>
        </p:nvGrpSpPr>
        <p:grpSpPr>
          <a:xfrm>
            <a:off x="892151" y="4880681"/>
            <a:ext cx="9352179" cy="1875578"/>
            <a:chOff x="394901" y="5028247"/>
            <a:chExt cx="9352179" cy="1875578"/>
          </a:xfrm>
        </p:grpSpPr>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9C777B7F-CA51-1040-BBAA-DF194C2EDF63}"/>
                    </a:ext>
                  </a:extLst>
                </p:cNvPr>
                <p:cNvSpPr/>
                <p:nvPr/>
              </p:nvSpPr>
              <p:spPr>
                <a:xfrm>
                  <a:off x="394901" y="5028247"/>
                  <a:ext cx="8601457" cy="1875578"/>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eqArr>
                          <m:eqArrPr>
                            <m:ctrlPr>
                              <a:rPr lang="en-US" sz="2400" i="1" smtClean="0">
                                <a:latin typeface="Cambria Math" panose="02040503050406030204" pitchFamily="18" charset="0"/>
                              </a:rPr>
                            </m:ctrlPr>
                          </m:eqArrPr>
                          <m:e>
                            <m:r>
                              <a:rPr lang="en-US" sz="2400">
                                <a:latin typeface="Cambria Math" panose="02040503050406030204" pitchFamily="18" charset="0"/>
                              </a:rPr>
                              <m:t>&amp;</m:t>
                            </m:r>
                            <m:m>
                              <m:mPr>
                                <m:plcHide m:val="on"/>
                                <m:mcs>
                                  <m:mc>
                                    <m:mcPr>
                                      <m:count m:val="1"/>
                                      <m:mcJc m:val="center"/>
                                    </m:mcPr>
                                  </m:mc>
                                </m:mcs>
                                <m:ctrlPr>
                                  <a:rPr lang="en-US" sz="2400" i="1">
                                    <a:latin typeface="Cambria Math" panose="02040503050406030204" pitchFamily="18" charset="0"/>
                                  </a:rPr>
                                </m:ctrlPr>
                              </m:mPr>
                              <m:m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groupChr>
                                    <m:groupChrPr>
                                      <m:chr m:val="→"/>
                                      <m:vertJc m:val="bot"/>
                                      <m:ctrlPr>
                                        <a:rPr lang="en-US" sz="2400" i="1">
                                          <a:latin typeface="Cambria Math" panose="02040503050406030204" pitchFamily="18" charset="0"/>
                                        </a:rPr>
                                      </m:ctrlPr>
                                    </m:groupChrPr>
                                    <m:e>
                                      <m:r>
                                        <m:rPr>
                                          <m:sty m:val="p"/>
                                        </m:rPr>
                                        <a:rPr lang="en-US" sz="2400">
                                          <a:latin typeface="Cambria Math" panose="02040503050406030204" pitchFamily="18" charset="0"/>
                                        </a:rPr>
                                        <m:t>measurement</m:t>
                                      </m:r>
                                    </m:e>
                                  </m:groupChr>
                                  <m:d>
                                    <m:dPr>
                                      <m:begChr m:val="{"/>
                                      <m:endChr m:val=""/>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 </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with</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probability</m:t>
                                            </m:r>
                                            <m:r>
                                              <a:rPr lang="en-US" sz="2400" b="0" i="0" smtClean="0">
                                                <a:latin typeface="Cambria Math" panose="02040503050406030204" pitchFamily="18" charset="0"/>
                                              </a:rPr>
                                              <m:t> </m:t>
                                            </m:r>
                                            <m:sSup>
                                              <m:sSupPr>
                                                <m:ctrlPr>
                                                  <a:rPr lang="en-US" sz="2400" i="1">
                                                    <a:latin typeface="Cambria Math" panose="02040503050406030204" pitchFamily="18" charset="0"/>
                                                  </a:rPr>
                                                </m:ctrlPr>
                                              </m:sSupPr>
                                              <m:e>
                                                <m:r>
                                                  <a:rPr lang="sr-Latn-R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sup>
                                                <m:r>
                                                  <a:rPr lang="en-US" sz="2400" i="0">
                                                    <a:latin typeface="Cambria Math" panose="02040503050406030204" pitchFamily="18" charset="0"/>
                                                  </a:rPr>
                                                  <m:t>2</m:t>
                                                </m:r>
                                              </m:sup>
                                            </m:sSup>
                                            <m:r>
                                              <a:rPr lang="en-US" sz="2400" i="0">
                                                <a:latin typeface="Cambria Math" panose="02040503050406030204" pitchFamily="18" charset="0"/>
                                              </a:rPr>
                                              <m:t> </m:t>
                                            </m:r>
                                          </m:e>
                                        </m:mr>
                                        <m:mr>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r>
                                              <a:rPr lang="en-US" sz="2400" b="0" i="0" smtClean="0">
                                                <a:latin typeface="Cambria Math" panose="02040503050406030204" pitchFamily="18" charset="0"/>
                                              </a:rPr>
                                              <m:t> </m:t>
                                            </m:r>
                                            <m:r>
                                              <m:rPr>
                                                <m:sty m:val="p"/>
                                              </m:rPr>
                                              <a:rPr lang="en-US" sz="2400">
                                                <a:latin typeface="Cambria Math" panose="02040503050406030204" pitchFamily="18" charset="0"/>
                                              </a:rPr>
                                              <m:t>with</m:t>
                                            </m:r>
                                            <m:r>
                                              <a:rPr lang="en-US" sz="2400">
                                                <a:latin typeface="Cambria Math" panose="02040503050406030204" pitchFamily="18" charset="0"/>
                                              </a:rPr>
                                              <m:t> </m:t>
                                            </m:r>
                                            <m:r>
                                              <m:rPr>
                                                <m:sty m:val="p"/>
                                              </m:rPr>
                                              <a:rPr lang="en-US" sz="2400">
                                                <a:latin typeface="Cambria Math" panose="02040503050406030204" pitchFamily="18" charset="0"/>
                                              </a:rPr>
                                              <m:t>probability</m:t>
                                            </m:r>
                                            <m:r>
                                              <a:rPr lang="en-US" sz="2400" b="0" i="1" smtClean="0">
                                                <a:latin typeface="Cambria Math" panose="02040503050406030204" pitchFamily="18" charset="0"/>
                                              </a:rPr>
                                              <m:t> </m:t>
                                            </m:r>
                                            <m:r>
                                              <a:rPr lang="sr-Latn-RS" sz="2400" b="0" i="1" smtClean="0">
                                                <a:latin typeface="Cambria Math" panose="02040503050406030204" pitchFamily="18" charset="0"/>
                                              </a:rPr>
                                              <m:t>𝑝</m:t>
                                            </m:r>
                                            <m:d>
                                              <m:dPr>
                                                <m:ctrlPr>
                                                  <a:rPr lang="en-US" sz="2400" i="1">
                                                    <a:latin typeface="Cambria Math" panose="02040503050406030204" pitchFamily="18" charset="0"/>
                                                  </a:rPr>
                                                </m:ctrlPr>
                                              </m:dPr>
                                              <m:e>
                                                <m:r>
                                                  <a:rPr lang="en-US" sz="2400" b="0" i="1" smtClean="0">
                                                    <a:latin typeface="Cambria Math" panose="02040503050406030204" pitchFamily="18" charset="0"/>
                                                  </a:rPr>
                                                  <m:t>1</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e>
                                              <m:sup>
                                                <m:r>
                                                  <a:rPr lang="en-US" sz="2400" i="0">
                                                    <a:latin typeface="Cambria Math" panose="02040503050406030204" pitchFamily="18" charset="0"/>
                                                  </a:rPr>
                                                  <m:t>2</m:t>
                                                </m:r>
                                              </m:sup>
                                            </m:sSup>
                                          </m:e>
                                        </m:mr>
                                      </m:m>
                                    </m:e>
                                  </m:d>
                                </m:e>
                              </m:mr>
                              <m:mr>
                                <m:e/>
                              </m:mr>
                              <m:mr>
                                <m:e>
                                  <m:eqArr>
                                    <m:eqArrPr>
                                      <m:ctrlPr>
                                        <a:rPr lang="en-US" sz="2400" b="0" i="1" smtClean="0">
                                          <a:solidFill>
                                            <a:schemeClr val="tx1">
                                              <a:lumMod val="50000"/>
                                              <a:lumOff val="50000"/>
                                            </a:schemeClr>
                                          </a:solidFill>
                                          <a:latin typeface="Cambria Math" panose="02040503050406030204" pitchFamily="18" charset="0"/>
                                        </a:rPr>
                                      </m:ctrlPr>
                                    </m:eqArrPr>
                                    <m:e>
                                      <m:r>
                                        <m:rPr>
                                          <m:sty m:val="p"/>
                                        </m:rPr>
                                        <a:rPr lang="en-US" sz="2400">
                                          <a:latin typeface="Cambria Math" panose="02040503050406030204" pitchFamily="18" charset="0"/>
                                        </a:rPr>
                                        <m:t>with</m:t>
                                      </m:r>
                                      <m:r>
                                        <a:rPr lang="en-US" sz="2400">
                                          <a:latin typeface="Cambria Math" panose="02040503050406030204" pitchFamily="18" charset="0"/>
                                        </a:rPr>
                                        <m:t> </m:t>
                                      </m:r>
                                      <m:r>
                                        <m:rPr>
                                          <m:sty m:val="p"/>
                                        </m:rPr>
                                        <a:rPr lang="en-US" sz="2400">
                                          <a:latin typeface="Cambria Math" panose="02040503050406030204" pitchFamily="18" charset="0"/>
                                        </a:rPr>
                                        <m:t>the</m:t>
                                      </m:r>
                                      <m:r>
                                        <a:rPr lang="en-US" sz="2400">
                                          <a:latin typeface="Cambria Math" panose="02040503050406030204" pitchFamily="18" charset="0"/>
                                        </a:rPr>
                                        <m:t> </m:t>
                                      </m:r>
                                      <m:r>
                                        <m:rPr>
                                          <m:sty m:val="p"/>
                                        </m:rPr>
                                        <a:rPr lang="en-US" sz="2400">
                                          <a:latin typeface="Cambria Math" panose="02040503050406030204" pitchFamily="18" charset="0"/>
                                        </a:rPr>
                                        <m:t>normalization</m:t>
                                      </m:r>
                                      <m:r>
                                        <a:rPr lang="en-US" sz="2400">
                                          <a:latin typeface="Cambria Math" panose="02040503050406030204" pitchFamily="18" charset="0"/>
                                        </a:rPr>
                                        <m:t> </m:t>
                                      </m:r>
                                      <m:r>
                                        <m:rPr>
                                          <m:sty m:val="p"/>
                                        </m:rPr>
                                        <a:rPr lang="en-US" sz="2400">
                                          <a:latin typeface="Cambria Math" panose="02040503050406030204" pitchFamily="18" charset="0"/>
                                        </a:rPr>
                                        <m:t>condition</m:t>
                                      </m:r>
                                    </m:e>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e>
                                        <m:sup>
                                          <m:r>
                                            <a:rPr lang="en-US" sz="2400" i="0">
                                              <a:latin typeface="Cambria Math" panose="02040503050406030204" pitchFamily="18" charset="0"/>
                                            </a:rPr>
                                            <m:t>2</m:t>
                                          </m:r>
                                        </m:sup>
                                      </m:sSup>
                                      <m:r>
                                        <a:rPr lang="en-US" sz="2400" i="0">
                                          <a:latin typeface="Cambria Math" panose="02040503050406030204" pitchFamily="18" charset="0"/>
                                        </a:rPr>
                                        <m:t>=1</m:t>
                                      </m:r>
                                    </m:e>
                                  </m:eqArr>
                                </m:e>
                              </m:mr>
                            </m:m>
                            <m:r>
                              <a:rPr lang="en-US" sz="2400" i="0">
                                <a:latin typeface="Cambria Math" panose="02040503050406030204" pitchFamily="18" charset="0"/>
                              </a:rPr>
                              <m:t>#</m:t>
                            </m:r>
                          </m:e>
                        </m:eqArr>
                      </m:oMath>
                    </m:oMathPara>
                  </a14:m>
                  <a:endParaRPr lang="en-US" sz="2400" dirty="0"/>
                </a:p>
              </p:txBody>
            </p:sp>
          </mc:Choice>
          <mc:Fallback xmlns="">
            <p:sp>
              <p:nvSpPr>
                <p:cNvPr id="68" name="Rectangle 67">
                  <a:extLst>
                    <a:ext uri="{FF2B5EF4-FFF2-40B4-BE49-F238E27FC236}">
                      <a16:creationId xmlns:a16="http://schemas.microsoft.com/office/drawing/2014/main" id="{9C777B7F-CA51-1040-BBAA-DF194C2EDF63}"/>
                    </a:ext>
                  </a:extLst>
                </p:cNvPr>
                <p:cNvSpPr>
                  <a:spLocks noRot="1" noChangeAspect="1" noMove="1" noResize="1" noEditPoints="1" noAdjustHandles="1" noChangeArrowheads="1" noChangeShapeType="1" noTextEdit="1"/>
                </p:cNvSpPr>
                <p:nvPr/>
              </p:nvSpPr>
              <p:spPr>
                <a:xfrm>
                  <a:off x="394901" y="5028247"/>
                  <a:ext cx="8601457" cy="1875578"/>
                </a:xfrm>
                <a:prstGeom prst="rect">
                  <a:avLst/>
                </a:prstGeom>
                <a:blipFill>
                  <a:blip r:embed="rId5"/>
                  <a:stretch>
                    <a:fillRect t="-115541" b="-120270"/>
                  </a:stretch>
                </a:blipFill>
              </p:spPr>
              <p:txBody>
                <a:bodyPr/>
                <a:lstStyle/>
                <a:p>
                  <a:r>
                    <a:rPr lang="en-US">
                      <a:noFill/>
                    </a:rPr>
                    <a:t> </a:t>
                  </a:r>
                </a:p>
              </p:txBody>
            </p:sp>
          </mc:Fallback>
        </mc:AlternateContent>
        <p:sp>
          <p:nvSpPr>
            <p:cNvPr id="69" name="TextBox 68">
              <a:extLst>
                <a:ext uri="{FF2B5EF4-FFF2-40B4-BE49-F238E27FC236}">
                  <a16:creationId xmlns:a16="http://schemas.microsoft.com/office/drawing/2014/main" id="{0217A770-494F-4E4B-A599-597810B82B66}"/>
                </a:ext>
              </a:extLst>
            </p:cNvPr>
            <p:cNvSpPr txBox="1"/>
            <p:nvPr/>
          </p:nvSpPr>
          <p:spPr>
            <a:xfrm>
              <a:off x="8401840" y="6252770"/>
              <a:ext cx="1345240" cy="461665"/>
            </a:xfrm>
            <a:prstGeom prst="rect">
              <a:avLst/>
            </a:prstGeom>
            <a:solidFill>
              <a:srgbClr val="0070C0"/>
            </a:solidFill>
          </p:spPr>
          <p:txBody>
            <a:bodyPr wrap="none" rtlCol="0">
              <a:spAutoFit/>
            </a:bodyPr>
            <a:lstStyle/>
            <a:p>
              <a:r>
                <a:rPr lang="en-US" sz="2400" dirty="0">
                  <a:solidFill>
                    <a:schemeClr val="bg1"/>
                  </a:solidFill>
                </a:rPr>
                <a:t>Born rule</a:t>
              </a:r>
            </a:p>
          </p:txBody>
        </p:sp>
      </p:grpSp>
      <p:grpSp>
        <p:nvGrpSpPr>
          <p:cNvPr id="17" name="Group 16">
            <a:extLst>
              <a:ext uri="{FF2B5EF4-FFF2-40B4-BE49-F238E27FC236}">
                <a16:creationId xmlns:a16="http://schemas.microsoft.com/office/drawing/2014/main" id="{2C093E28-9BE9-0746-98AD-0BAC168AC888}"/>
              </a:ext>
            </a:extLst>
          </p:cNvPr>
          <p:cNvGrpSpPr/>
          <p:nvPr/>
        </p:nvGrpSpPr>
        <p:grpSpPr>
          <a:xfrm>
            <a:off x="1253318" y="895676"/>
            <a:ext cx="4219545" cy="3720803"/>
            <a:chOff x="1253318" y="895676"/>
            <a:chExt cx="4219545" cy="3720803"/>
          </a:xfrm>
        </p:grpSpPr>
        <p:pic>
          <p:nvPicPr>
            <p:cNvPr id="14" name="Picture 13">
              <a:extLst>
                <a:ext uri="{FF2B5EF4-FFF2-40B4-BE49-F238E27FC236}">
                  <a16:creationId xmlns:a16="http://schemas.microsoft.com/office/drawing/2014/main" id="{AD1AB149-C2E1-F34B-9ECE-79B0D0ADB181}"/>
                </a:ext>
              </a:extLst>
            </p:cNvPr>
            <p:cNvPicPr>
              <a:picLocks noChangeAspect="1"/>
            </p:cNvPicPr>
            <p:nvPr/>
          </p:nvPicPr>
          <p:blipFill>
            <a:blip r:embed="rId6"/>
            <a:stretch>
              <a:fillRect/>
            </a:stretch>
          </p:blipFill>
          <p:spPr>
            <a:xfrm rot="14054103">
              <a:off x="3806035" y="758206"/>
              <a:ext cx="1529357" cy="1804298"/>
            </a:xfrm>
            <a:prstGeom prst="rect">
              <a:avLst/>
            </a:prstGeom>
          </p:spPr>
        </p:pic>
        <p:grpSp>
          <p:nvGrpSpPr>
            <p:cNvPr id="9" name="Group 8">
              <a:extLst>
                <a:ext uri="{FF2B5EF4-FFF2-40B4-BE49-F238E27FC236}">
                  <a16:creationId xmlns:a16="http://schemas.microsoft.com/office/drawing/2014/main" id="{FA437F7F-E19E-574A-B65D-43265B72BE2D}"/>
                </a:ext>
              </a:extLst>
            </p:cNvPr>
            <p:cNvGrpSpPr/>
            <p:nvPr/>
          </p:nvGrpSpPr>
          <p:grpSpPr>
            <a:xfrm>
              <a:off x="1253318" y="2282892"/>
              <a:ext cx="4184843" cy="2333587"/>
              <a:chOff x="1253318" y="2282892"/>
              <a:chExt cx="4184843" cy="2333587"/>
            </a:xfrm>
          </p:grpSpPr>
          <p:pic>
            <p:nvPicPr>
              <p:cNvPr id="32" name="Picture 31">
                <a:extLst>
                  <a:ext uri="{FF2B5EF4-FFF2-40B4-BE49-F238E27FC236}">
                    <a16:creationId xmlns:a16="http://schemas.microsoft.com/office/drawing/2014/main" id="{8F3A8458-704A-7742-A1CB-CF0E9D18B264}"/>
                  </a:ext>
                </a:extLst>
              </p:cNvPr>
              <p:cNvPicPr>
                <a:picLocks noChangeAspect="1"/>
              </p:cNvPicPr>
              <p:nvPr/>
            </p:nvPicPr>
            <p:blipFill>
              <a:blip r:embed="rId7"/>
              <a:stretch>
                <a:fillRect/>
              </a:stretch>
            </p:blipFill>
            <p:spPr>
              <a:xfrm>
                <a:off x="1253318" y="3664315"/>
                <a:ext cx="1620000" cy="952164"/>
              </a:xfrm>
              <a:prstGeom prst="rect">
                <a:avLst/>
              </a:prstGeom>
            </p:spPr>
          </p:pic>
          <p:pic>
            <p:nvPicPr>
              <p:cNvPr id="34" name="Picture 33">
                <a:extLst>
                  <a:ext uri="{FF2B5EF4-FFF2-40B4-BE49-F238E27FC236}">
                    <a16:creationId xmlns:a16="http://schemas.microsoft.com/office/drawing/2014/main" id="{AB300E50-094B-BF48-8C01-5783D86E4CC3}"/>
                  </a:ext>
                </a:extLst>
              </p:cNvPr>
              <p:cNvPicPr>
                <a:picLocks noChangeAspect="1"/>
              </p:cNvPicPr>
              <p:nvPr/>
            </p:nvPicPr>
            <p:blipFill>
              <a:blip r:embed="rId8"/>
              <a:stretch>
                <a:fillRect/>
              </a:stretch>
            </p:blipFill>
            <p:spPr>
              <a:xfrm>
                <a:off x="3818161" y="3642460"/>
                <a:ext cx="1620000" cy="952106"/>
              </a:xfrm>
              <a:prstGeom prst="rect">
                <a:avLst/>
              </a:prstGeom>
            </p:spPr>
          </p:pic>
          <p:sp>
            <p:nvSpPr>
              <p:cNvPr id="51" name="Freeform 50">
                <a:extLst>
                  <a:ext uri="{FF2B5EF4-FFF2-40B4-BE49-F238E27FC236}">
                    <a16:creationId xmlns:a16="http://schemas.microsoft.com/office/drawing/2014/main" id="{8724647E-6596-A749-A785-F10D136D3C6C}"/>
                  </a:ext>
                </a:extLst>
              </p:cNvPr>
              <p:cNvSpPr/>
              <p:nvPr/>
            </p:nvSpPr>
            <p:spPr>
              <a:xfrm rot="5400000">
                <a:off x="1759735" y="2854276"/>
                <a:ext cx="1122318" cy="988261"/>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Freeform 52">
                <a:extLst>
                  <a:ext uri="{FF2B5EF4-FFF2-40B4-BE49-F238E27FC236}">
                    <a16:creationId xmlns:a16="http://schemas.microsoft.com/office/drawing/2014/main" id="{38F2DE99-40B3-2E42-95CA-F6BDA155933D}"/>
                  </a:ext>
                </a:extLst>
              </p:cNvPr>
              <p:cNvSpPr/>
              <p:nvPr/>
            </p:nvSpPr>
            <p:spPr>
              <a:xfrm rot="16200000" flipH="1">
                <a:off x="3844953" y="2810128"/>
                <a:ext cx="1122318" cy="988261"/>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B247ABD6-23FF-3245-B2CD-91F9BED295E7}"/>
                      </a:ext>
                    </a:extLst>
                  </p:cNvPr>
                  <p:cNvSpPr/>
                  <p:nvPr/>
                </p:nvSpPr>
                <p:spPr>
                  <a:xfrm>
                    <a:off x="1732594" y="2282892"/>
                    <a:ext cx="963854" cy="7605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a:rPr lang="sr-Latn-RS" sz="4000" b="0" i="1" smtClean="0">
                                  <a:latin typeface="Cambria Math" panose="02040503050406030204" pitchFamily="18" charset="0"/>
                                </a:rPr>
                                <m:t>𝑎</m:t>
                              </m:r>
                            </m:e>
                            <m:sup/>
                          </m:sSup>
                        </m:oMath>
                      </m:oMathPara>
                    </a14:m>
                    <a:endParaRPr lang="en-US" sz="4000" dirty="0"/>
                  </a:p>
                </p:txBody>
              </p:sp>
            </mc:Choice>
            <mc:Fallback xmlns="">
              <p:sp>
                <p:nvSpPr>
                  <p:cNvPr id="59" name="Rectangle 58">
                    <a:extLst>
                      <a:ext uri="{FF2B5EF4-FFF2-40B4-BE49-F238E27FC236}">
                        <a16:creationId xmlns:a16="http://schemas.microsoft.com/office/drawing/2014/main" id="{B247ABD6-23FF-3245-B2CD-91F9BED295E7}"/>
                      </a:ext>
                    </a:extLst>
                  </p:cNvPr>
                  <p:cNvSpPr>
                    <a:spLocks noRot="1" noChangeAspect="1" noMove="1" noResize="1" noEditPoints="1" noAdjustHandles="1" noChangeArrowheads="1" noChangeShapeType="1" noTextEdit="1"/>
                  </p:cNvSpPr>
                  <p:nvPr/>
                </p:nvSpPr>
                <p:spPr>
                  <a:xfrm>
                    <a:off x="1732594" y="2282892"/>
                    <a:ext cx="963854" cy="76059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60290215-2CE5-E94D-8B91-F429714BFB22}"/>
                      </a:ext>
                    </a:extLst>
                  </p:cNvPr>
                  <p:cNvSpPr/>
                  <p:nvPr/>
                </p:nvSpPr>
                <p:spPr>
                  <a:xfrm>
                    <a:off x="4461257" y="2301955"/>
                    <a:ext cx="958019" cy="7605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4000" i="1" smtClean="0">
                                  <a:latin typeface="Cambria Math" panose="02040503050406030204" pitchFamily="18" charset="0"/>
                                </a:rPr>
                              </m:ctrlPr>
                            </m:sSupPr>
                            <m:e>
                              <m:r>
                                <a:rPr lang="sr-Latn-RS" sz="4000" i="1" smtClean="0">
                                  <a:latin typeface="Cambria Math" panose="02040503050406030204" pitchFamily="18" charset="0"/>
                                </a:rPr>
                                <m:t>𝑏</m:t>
                              </m:r>
                            </m:e>
                            <m:sup/>
                          </m:sSup>
                        </m:oMath>
                      </m:oMathPara>
                    </a14:m>
                    <a:endParaRPr lang="en-US" sz="4000" dirty="0"/>
                  </a:p>
                </p:txBody>
              </p:sp>
            </mc:Choice>
            <mc:Fallback xmlns="">
              <p:sp>
                <p:nvSpPr>
                  <p:cNvPr id="60" name="Rectangle 59">
                    <a:extLst>
                      <a:ext uri="{FF2B5EF4-FFF2-40B4-BE49-F238E27FC236}">
                        <a16:creationId xmlns:a16="http://schemas.microsoft.com/office/drawing/2014/main" id="{60290215-2CE5-E94D-8B91-F429714BFB22}"/>
                      </a:ext>
                    </a:extLst>
                  </p:cNvPr>
                  <p:cNvSpPr>
                    <a:spLocks noRot="1" noChangeAspect="1" noMove="1" noResize="1" noEditPoints="1" noAdjustHandles="1" noChangeArrowheads="1" noChangeShapeType="1" noTextEdit="1"/>
                  </p:cNvSpPr>
                  <p:nvPr/>
                </p:nvSpPr>
                <p:spPr>
                  <a:xfrm>
                    <a:off x="4461257" y="2301955"/>
                    <a:ext cx="958019" cy="760593"/>
                  </a:xfrm>
                  <a:prstGeom prst="rect">
                    <a:avLst/>
                  </a:prstGeom>
                  <a:blipFill>
                    <a:blip r:embed="rId10"/>
                    <a:stretch>
                      <a:fillRect l="-2597"/>
                    </a:stretch>
                  </a:blipFill>
                </p:spPr>
                <p:txBody>
                  <a:bodyPr/>
                  <a:lstStyle/>
                  <a:p>
                    <a:r>
                      <a:rPr lang="en-US">
                        <a:noFill/>
                      </a:rPr>
                      <a:t> </a:t>
                    </a:r>
                  </a:p>
                </p:txBody>
              </p:sp>
            </mc:Fallback>
          </mc:AlternateContent>
        </p:grpSp>
      </p:grpSp>
      <p:grpSp>
        <p:nvGrpSpPr>
          <p:cNvPr id="10" name="Group 9">
            <a:extLst>
              <a:ext uri="{FF2B5EF4-FFF2-40B4-BE49-F238E27FC236}">
                <a16:creationId xmlns:a16="http://schemas.microsoft.com/office/drawing/2014/main" id="{9490185B-D555-6049-8A0B-CCE82EDD4EDC}"/>
              </a:ext>
            </a:extLst>
          </p:cNvPr>
          <p:cNvGrpSpPr/>
          <p:nvPr/>
        </p:nvGrpSpPr>
        <p:grpSpPr>
          <a:xfrm>
            <a:off x="2148597" y="2259211"/>
            <a:ext cx="3180004" cy="542343"/>
            <a:chOff x="1669635" y="2259211"/>
            <a:chExt cx="3180004" cy="542343"/>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B36D44B-85DA-D84E-BEBA-023D91ACB1CE}"/>
                    </a:ext>
                  </a:extLst>
                </p:cNvPr>
                <p:cNvSpPr/>
                <p:nvPr/>
              </p:nvSpPr>
              <p:spPr>
                <a:xfrm>
                  <a:off x="4384447" y="2278334"/>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2</m:t>
                        </m:r>
                      </m:oMath>
                    </m:oMathPara>
                  </a14:m>
                  <a:endParaRPr lang="en-US" sz="2800" dirty="0">
                    <a:solidFill>
                      <a:srgbClr val="FF0000"/>
                    </a:solidFill>
                  </a:endParaRPr>
                </a:p>
              </p:txBody>
            </p:sp>
          </mc:Choice>
          <mc:Fallback xmlns="">
            <p:sp>
              <p:nvSpPr>
                <p:cNvPr id="5" name="Rectangle 4">
                  <a:extLst>
                    <a:ext uri="{FF2B5EF4-FFF2-40B4-BE49-F238E27FC236}">
                      <a16:creationId xmlns:a16="http://schemas.microsoft.com/office/drawing/2014/main" id="{FB36D44B-85DA-D84E-BEBA-023D91ACB1CE}"/>
                    </a:ext>
                  </a:extLst>
                </p:cNvPr>
                <p:cNvSpPr>
                  <a:spLocks noRot="1" noChangeAspect="1" noMove="1" noResize="1" noEditPoints="1" noAdjustHandles="1" noChangeArrowheads="1" noChangeShapeType="1" noTextEdit="1"/>
                </p:cNvSpPr>
                <p:nvPr/>
              </p:nvSpPr>
              <p:spPr>
                <a:xfrm>
                  <a:off x="4384447" y="2278334"/>
                  <a:ext cx="465192"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2BBD47AE-48FE-4E4E-8AA5-013AF38B8570}"/>
                    </a:ext>
                  </a:extLst>
                </p:cNvPr>
                <p:cNvSpPr/>
                <p:nvPr/>
              </p:nvSpPr>
              <p:spPr>
                <a:xfrm>
                  <a:off x="1669635" y="2259211"/>
                  <a:ext cx="465192" cy="523220"/>
                </a:xfrm>
                <a:prstGeom prst="rect">
                  <a:avLst/>
                </a:prstGeom>
                <a:effectLst/>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2</m:t>
                        </m:r>
                      </m:oMath>
                    </m:oMathPara>
                  </a14:m>
                  <a:endParaRPr lang="en-US" sz="2800" dirty="0">
                    <a:solidFill>
                      <a:srgbClr val="FF0000"/>
                    </a:solidFill>
                  </a:endParaRPr>
                </a:p>
              </p:txBody>
            </p:sp>
          </mc:Choice>
          <mc:Fallback xmlns="">
            <p:sp>
              <p:nvSpPr>
                <p:cNvPr id="48" name="Rectangle 47">
                  <a:extLst>
                    <a:ext uri="{FF2B5EF4-FFF2-40B4-BE49-F238E27FC236}">
                      <a16:creationId xmlns:a16="http://schemas.microsoft.com/office/drawing/2014/main" id="{2BBD47AE-48FE-4E4E-8AA5-013AF38B8570}"/>
                    </a:ext>
                  </a:extLst>
                </p:cNvPr>
                <p:cNvSpPr>
                  <a:spLocks noRot="1" noChangeAspect="1" noMove="1" noResize="1" noEditPoints="1" noAdjustHandles="1" noChangeArrowheads="1" noChangeShapeType="1" noTextEdit="1"/>
                </p:cNvSpPr>
                <p:nvPr/>
              </p:nvSpPr>
              <p:spPr>
                <a:xfrm>
                  <a:off x="1669635" y="2259211"/>
                  <a:ext cx="465192" cy="523220"/>
                </a:xfrm>
                <a:prstGeom prst="rect">
                  <a:avLst/>
                </a:prstGeom>
                <a:blipFill>
                  <a:blip r:embed="rId13"/>
                  <a:stretch>
                    <a:fillRect/>
                  </a:stretch>
                </a:blipFill>
                <a:effectLst/>
              </p:spPr>
              <p:txBody>
                <a:bodyPr/>
                <a:lstStyle/>
                <a:p>
                  <a:r>
                    <a:rPr lang="en-US">
                      <a:noFill/>
                    </a:rPr>
                    <a:t> </a:t>
                  </a:r>
                </a:p>
              </p:txBody>
            </p:sp>
          </mc:Fallback>
        </mc:AlternateContent>
      </p:grpSp>
      <p:sp>
        <p:nvSpPr>
          <p:cNvPr id="28" name="TextBox 27">
            <a:extLst>
              <a:ext uri="{FF2B5EF4-FFF2-40B4-BE49-F238E27FC236}">
                <a16:creationId xmlns:a16="http://schemas.microsoft.com/office/drawing/2014/main" id="{171D99A1-E45F-E94D-9A1D-DA56473DBEC2}"/>
              </a:ext>
            </a:extLst>
          </p:cNvPr>
          <p:cNvSpPr txBox="1"/>
          <p:nvPr/>
        </p:nvSpPr>
        <p:spPr>
          <a:xfrm>
            <a:off x="8480856" y="4412491"/>
            <a:ext cx="2292102" cy="369332"/>
          </a:xfrm>
          <a:prstGeom prst="rect">
            <a:avLst/>
          </a:prstGeom>
          <a:noFill/>
        </p:spPr>
        <p:txBody>
          <a:bodyPr wrap="none" rtlCol="0">
            <a:spAutoFit/>
          </a:bodyPr>
          <a:lstStyle/>
          <a:p>
            <a:r>
              <a:rPr lang="en-US" dirty="0"/>
              <a:t>Max Born (1882-1970)</a:t>
            </a:r>
          </a:p>
        </p:txBody>
      </p:sp>
      <p:pic>
        <p:nvPicPr>
          <p:cNvPr id="8" name="Picture 7">
            <a:extLst>
              <a:ext uri="{FF2B5EF4-FFF2-40B4-BE49-F238E27FC236}">
                <a16:creationId xmlns:a16="http://schemas.microsoft.com/office/drawing/2014/main" id="{2DCC5863-305C-FC4B-B5AE-7F533EC0DF59}"/>
              </a:ext>
            </a:extLst>
          </p:cNvPr>
          <p:cNvPicPr>
            <a:picLocks noChangeAspect="1"/>
          </p:cNvPicPr>
          <p:nvPr/>
        </p:nvPicPr>
        <p:blipFill>
          <a:blip r:embed="rId14"/>
          <a:stretch>
            <a:fillRect/>
          </a:stretch>
        </p:blipFill>
        <p:spPr>
          <a:xfrm>
            <a:off x="8296651" y="1072745"/>
            <a:ext cx="2717180" cy="3215973"/>
          </a:xfrm>
          <a:prstGeom prst="rect">
            <a:avLst/>
          </a:prstGeom>
        </p:spPr>
      </p:pic>
      <p:sp>
        <p:nvSpPr>
          <p:cNvPr id="26" name="Slide Number Placeholder 2">
            <a:extLst>
              <a:ext uri="{FF2B5EF4-FFF2-40B4-BE49-F238E27FC236}">
                <a16:creationId xmlns:a16="http://schemas.microsoft.com/office/drawing/2014/main" id="{CCC2E10C-DDA3-CE4C-AA89-870512B92D39}"/>
              </a:ext>
            </a:extLst>
          </p:cNvPr>
          <p:cNvSpPr>
            <a:spLocks noGrp="1"/>
          </p:cNvSpPr>
          <p:nvPr>
            <p:ph type="sldNum" sz="quarter" idx="12"/>
          </p:nvPr>
        </p:nvSpPr>
        <p:spPr>
          <a:xfrm>
            <a:off x="0" y="6473190"/>
            <a:ext cx="619760" cy="365125"/>
          </a:xfrm>
        </p:spPr>
        <p:txBody>
          <a:bodyPr/>
          <a:lstStyle/>
          <a:p>
            <a:fld id="{591A223C-FA10-BC46-A853-03BA373D023C}" type="slidenum">
              <a:rPr lang="en-US" smtClean="0"/>
              <a:t>33</a:t>
            </a:fld>
            <a:endParaRPr lang="en-US" dirty="0"/>
          </a:p>
        </p:txBody>
      </p:sp>
    </p:spTree>
    <p:extLst>
      <p:ext uri="{BB962C8B-B14F-4D97-AF65-F5344CB8AC3E}">
        <p14:creationId xmlns:p14="http://schemas.microsoft.com/office/powerpoint/2010/main" val="38142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8AB489-20E3-104D-B614-9A7AFCAC1D49}"/>
              </a:ext>
            </a:extLst>
          </p:cNvPr>
          <p:cNvPicPr>
            <a:picLocks noChangeAspect="1"/>
          </p:cNvPicPr>
          <p:nvPr/>
        </p:nvPicPr>
        <p:blipFill>
          <a:blip r:embed="rId3"/>
          <a:stretch>
            <a:fillRect/>
          </a:stretch>
        </p:blipFill>
        <p:spPr>
          <a:xfrm>
            <a:off x="213747" y="1634603"/>
            <a:ext cx="7864852" cy="3696806"/>
          </a:xfrm>
          <a:prstGeom prst="rect">
            <a:avLst/>
          </a:prstGeom>
        </p:spPr>
      </p:pic>
      <p:sp>
        <p:nvSpPr>
          <p:cNvPr id="3" name="Title 2">
            <a:extLst>
              <a:ext uri="{FF2B5EF4-FFF2-40B4-BE49-F238E27FC236}">
                <a16:creationId xmlns:a16="http://schemas.microsoft.com/office/drawing/2014/main" id="{0FF7B631-7A4B-9046-BB53-19FA6CFB87F6}"/>
              </a:ext>
            </a:extLst>
          </p:cNvPr>
          <p:cNvSpPr>
            <a:spLocks noGrp="1"/>
          </p:cNvSpPr>
          <p:nvPr>
            <p:ph type="title"/>
          </p:nvPr>
        </p:nvSpPr>
        <p:spPr>
          <a:xfrm>
            <a:off x="0" y="0"/>
            <a:ext cx="12192000" cy="928688"/>
          </a:xfrm>
        </p:spPr>
        <p:txBody>
          <a:bodyPr/>
          <a:lstStyle/>
          <a:p>
            <a:r>
              <a:rPr lang="en-ZA" dirty="0" err="1"/>
              <a:t>Born’s</a:t>
            </a:r>
            <a:r>
              <a:rPr lang="en-ZA" dirty="0"/>
              <a:t> Rule – The Famous Footnote</a:t>
            </a:r>
            <a:endParaRPr lang="en-US" dirty="0"/>
          </a:p>
        </p:txBody>
      </p:sp>
      <p:sp>
        <p:nvSpPr>
          <p:cNvPr id="6" name="TextBox 5">
            <a:extLst>
              <a:ext uri="{FF2B5EF4-FFF2-40B4-BE49-F238E27FC236}">
                <a16:creationId xmlns:a16="http://schemas.microsoft.com/office/drawing/2014/main" id="{E2D2463E-A041-1942-B8DA-B32849107C3A}"/>
              </a:ext>
            </a:extLst>
          </p:cNvPr>
          <p:cNvSpPr txBox="1"/>
          <p:nvPr/>
        </p:nvSpPr>
        <p:spPr>
          <a:xfrm>
            <a:off x="213747" y="5417628"/>
            <a:ext cx="5723687" cy="369332"/>
          </a:xfrm>
          <a:prstGeom prst="rect">
            <a:avLst/>
          </a:prstGeom>
          <a:noFill/>
        </p:spPr>
        <p:txBody>
          <a:bodyPr wrap="square" rtlCol="0">
            <a:spAutoFit/>
          </a:bodyPr>
          <a:lstStyle/>
          <a:p>
            <a:r>
              <a:rPr lang="en-ZA" i="1" dirty="0"/>
              <a:t>Max Born, On the Quantum Mechanics of Collision, 1926</a:t>
            </a:r>
            <a:endParaRPr lang="en-ZA" dirty="0"/>
          </a:p>
        </p:txBody>
      </p:sp>
      <p:sp>
        <p:nvSpPr>
          <p:cNvPr id="9" name="Arc 8">
            <a:extLst>
              <a:ext uri="{FF2B5EF4-FFF2-40B4-BE49-F238E27FC236}">
                <a16:creationId xmlns:a16="http://schemas.microsoft.com/office/drawing/2014/main" id="{5A9B8698-5E1F-3142-8C69-87FA6D8EF69C}"/>
              </a:ext>
            </a:extLst>
          </p:cNvPr>
          <p:cNvSpPr/>
          <p:nvPr/>
        </p:nvSpPr>
        <p:spPr>
          <a:xfrm rot="20827800">
            <a:off x="640680" y="4055159"/>
            <a:ext cx="970766" cy="1469036"/>
          </a:xfrm>
          <a:prstGeom prst="arc">
            <a:avLst>
              <a:gd name="adj1" fmla="val 13728845"/>
              <a:gd name="adj2" fmla="val 0"/>
            </a:avLst>
          </a:prstGeom>
          <a:ln w="127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6" name="Group 15">
            <a:extLst>
              <a:ext uri="{FF2B5EF4-FFF2-40B4-BE49-F238E27FC236}">
                <a16:creationId xmlns:a16="http://schemas.microsoft.com/office/drawing/2014/main" id="{736616FF-C6F6-E84F-85A1-9C83E456F47E}"/>
              </a:ext>
            </a:extLst>
          </p:cNvPr>
          <p:cNvGrpSpPr/>
          <p:nvPr/>
        </p:nvGrpSpPr>
        <p:grpSpPr>
          <a:xfrm>
            <a:off x="8242852" y="2552427"/>
            <a:ext cx="4024149" cy="2548768"/>
            <a:chOff x="8242852" y="2552427"/>
            <a:chExt cx="4024149" cy="2548768"/>
          </a:xfrm>
        </p:grpSpPr>
        <p:cxnSp>
          <p:nvCxnSpPr>
            <p:cNvPr id="18" name="Straight Arrow Connector 17">
              <a:extLst>
                <a:ext uri="{FF2B5EF4-FFF2-40B4-BE49-F238E27FC236}">
                  <a16:creationId xmlns:a16="http://schemas.microsoft.com/office/drawing/2014/main" id="{1E89633B-1CEA-5F4D-87A6-F0A9300AC886}"/>
                </a:ext>
              </a:extLst>
            </p:cNvPr>
            <p:cNvCxnSpPr>
              <a:cxnSpLocks/>
            </p:cNvCxnSpPr>
            <p:nvPr/>
          </p:nvCxnSpPr>
          <p:spPr>
            <a:xfrm flipV="1">
              <a:off x="8536043" y="2699922"/>
              <a:ext cx="0" cy="22961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C8174FD-B815-F04A-829C-FB752186BD10}"/>
                </a:ext>
              </a:extLst>
            </p:cNvPr>
            <p:cNvCxnSpPr>
              <a:cxnSpLocks/>
            </p:cNvCxnSpPr>
            <p:nvPr/>
          </p:nvCxnSpPr>
          <p:spPr>
            <a:xfrm>
              <a:off x="8242852" y="4651845"/>
              <a:ext cx="37280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D88FECF7-962A-FD46-B64A-54AABB46E98A}"/>
                    </a:ext>
                  </a:extLst>
                </p:cNvPr>
                <p:cNvSpPr/>
                <p:nvPr/>
              </p:nvSpPr>
              <p:spPr>
                <a:xfrm>
                  <a:off x="8660669" y="2552427"/>
                  <a:ext cx="2111925" cy="430887"/>
                </a:xfrm>
                <a:prstGeom prst="rect">
                  <a:avLst/>
                </a:prstGeom>
              </p:spPr>
              <p:txBody>
                <a:bodyPr wrap="none">
                  <a:spAutoFit/>
                </a:bodyPr>
                <a:lstStyle/>
                <a:p>
                  <a:r>
                    <a:rPr lang="en-US" dirty="0">
                      <a:latin typeface="+mj-lt"/>
                      <a:ea typeface="Cambria Math" panose="02040503050406030204" pitchFamily="18" charset="0"/>
                    </a:rPr>
                    <a:t>wavefunction</a:t>
                  </a:r>
                  <a:r>
                    <a:rPr lang="en-US" sz="2200" dirty="0">
                      <a:solidFill>
                        <a:srgbClr val="0070C0"/>
                      </a:solidFill>
                      <a:ea typeface="Cambria Math" panose="02040503050406030204" pitchFamily="18" charset="0"/>
                    </a:rPr>
                    <a:t> </a:t>
                  </a:r>
                  <a14:m>
                    <m:oMath xmlns:m="http://schemas.openxmlformats.org/officeDocument/2006/math">
                      <m:r>
                        <m:rPr>
                          <m:sty m:val="p"/>
                        </m:rPr>
                        <a:rPr lang="el-GR" sz="2200" i="1" smtClean="0">
                          <a:solidFill>
                            <a:srgbClr val="0070C0"/>
                          </a:solidFill>
                          <a:latin typeface="Cambria Math" panose="02040503050406030204" pitchFamily="18" charset="0"/>
                          <a:ea typeface="Cambria Math" panose="02040503050406030204" pitchFamily="18" charset="0"/>
                        </a:rPr>
                        <m:t>Φ</m:t>
                      </m:r>
                      <m:r>
                        <a:rPr lang="en-US" sz="2200" b="0" i="1" smtClean="0">
                          <a:solidFill>
                            <a:srgbClr val="0070C0"/>
                          </a:solidFill>
                          <a:latin typeface="Cambria Math" panose="02040503050406030204" pitchFamily="18" charset="0"/>
                          <a:ea typeface="Cambria Math" panose="02040503050406030204" pitchFamily="18" charset="0"/>
                        </a:rPr>
                        <m:t>(</m:t>
                      </m:r>
                      <m:r>
                        <a:rPr lang="en-US" sz="2200" b="0" i="1" smtClean="0">
                          <a:solidFill>
                            <a:srgbClr val="0070C0"/>
                          </a:solidFill>
                          <a:latin typeface="Cambria Math" panose="02040503050406030204" pitchFamily="18" charset="0"/>
                          <a:ea typeface="Cambria Math" panose="02040503050406030204" pitchFamily="18" charset="0"/>
                        </a:rPr>
                        <m:t>𝑥</m:t>
                      </m:r>
                      <m:r>
                        <a:rPr lang="en-US" sz="2200" b="0" i="1" smtClean="0">
                          <a:solidFill>
                            <a:srgbClr val="0070C0"/>
                          </a:solidFill>
                          <a:latin typeface="Cambria Math" panose="02040503050406030204" pitchFamily="18" charset="0"/>
                          <a:ea typeface="Cambria Math" panose="02040503050406030204" pitchFamily="18" charset="0"/>
                        </a:rPr>
                        <m:t>)</m:t>
                      </m:r>
                    </m:oMath>
                  </a14:m>
                  <a:endParaRPr lang="en-US" sz="2200" dirty="0">
                    <a:solidFill>
                      <a:srgbClr val="0070C0"/>
                    </a:solidFill>
                  </a:endParaRPr>
                </a:p>
              </p:txBody>
            </p:sp>
          </mc:Choice>
          <mc:Fallback xmlns="">
            <p:sp>
              <p:nvSpPr>
                <p:cNvPr id="22" name="Rectangle 21">
                  <a:extLst>
                    <a:ext uri="{FF2B5EF4-FFF2-40B4-BE49-F238E27FC236}">
                      <a16:creationId xmlns:a16="http://schemas.microsoft.com/office/drawing/2014/main" id="{D88FECF7-962A-FD46-B64A-54AABB46E98A}"/>
                    </a:ext>
                  </a:extLst>
                </p:cNvPr>
                <p:cNvSpPr>
                  <a:spLocks noRot="1" noChangeAspect="1" noMove="1" noResize="1" noEditPoints="1" noAdjustHandles="1" noChangeArrowheads="1" noChangeShapeType="1" noTextEdit="1"/>
                </p:cNvSpPr>
                <p:nvPr/>
              </p:nvSpPr>
              <p:spPr>
                <a:xfrm>
                  <a:off x="8660669" y="2552427"/>
                  <a:ext cx="2111925" cy="430887"/>
                </a:xfrm>
                <a:prstGeom prst="rect">
                  <a:avLst/>
                </a:prstGeom>
                <a:blipFill>
                  <a:blip r:embed="rId4"/>
                  <a:stretch>
                    <a:fillRect l="-2395" r="-1198"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D534BB8-0CCF-1042-AA79-9E0C74153AF8}"/>
                    </a:ext>
                  </a:extLst>
                </p:cNvPr>
                <p:cNvSpPr/>
                <p:nvPr/>
              </p:nvSpPr>
              <p:spPr>
                <a:xfrm>
                  <a:off x="11715276" y="4716474"/>
                  <a:ext cx="376385" cy="3847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900" b="0" i="1" smtClean="0">
                            <a:solidFill>
                              <a:schemeClr val="tx1"/>
                            </a:solidFill>
                            <a:latin typeface="Cambria Math" panose="02040503050406030204" pitchFamily="18" charset="0"/>
                          </a:rPr>
                          <m:t>𝑥</m:t>
                        </m:r>
                      </m:oMath>
                    </m:oMathPara>
                  </a14:m>
                  <a:endParaRPr lang="en-US" sz="1900" dirty="0">
                    <a:solidFill>
                      <a:schemeClr val="tx1"/>
                    </a:solidFill>
                  </a:endParaRPr>
                </a:p>
              </p:txBody>
            </p:sp>
          </mc:Choice>
          <mc:Fallback xmlns="">
            <p:sp>
              <p:nvSpPr>
                <p:cNvPr id="23" name="Rectangle 22">
                  <a:extLst>
                    <a:ext uri="{FF2B5EF4-FFF2-40B4-BE49-F238E27FC236}">
                      <a16:creationId xmlns:a16="http://schemas.microsoft.com/office/drawing/2014/main" id="{AD534BB8-0CCF-1042-AA79-9E0C74153AF8}"/>
                    </a:ext>
                  </a:extLst>
                </p:cNvPr>
                <p:cNvSpPr>
                  <a:spLocks noRot="1" noChangeAspect="1" noMove="1" noResize="1" noEditPoints="1" noAdjustHandles="1" noChangeArrowheads="1" noChangeShapeType="1" noTextEdit="1"/>
                </p:cNvSpPr>
                <p:nvPr/>
              </p:nvSpPr>
              <p:spPr>
                <a:xfrm>
                  <a:off x="11715276" y="4716474"/>
                  <a:ext cx="376385" cy="384721"/>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C661F4BE-C72E-9C47-B1DC-458F1415138B}"/>
                </a:ext>
              </a:extLst>
            </p:cNvPr>
            <p:cNvCxnSpPr>
              <a:cxnSpLocks/>
            </p:cNvCxnSpPr>
            <p:nvPr/>
          </p:nvCxnSpPr>
          <p:spPr>
            <a:xfrm>
              <a:off x="9440743" y="3476371"/>
              <a:ext cx="0" cy="114551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28E987A-E62B-704F-A933-AA137F2235CA}"/>
                </a:ext>
              </a:extLst>
            </p:cNvPr>
            <p:cNvSpPr txBox="1"/>
            <p:nvPr/>
          </p:nvSpPr>
          <p:spPr>
            <a:xfrm>
              <a:off x="11333732" y="4169368"/>
              <a:ext cx="933269" cy="369332"/>
            </a:xfrm>
            <a:prstGeom prst="rect">
              <a:avLst/>
            </a:prstGeom>
            <a:noFill/>
          </p:spPr>
          <p:txBody>
            <a:bodyPr wrap="none" rtlCol="0">
              <a:spAutoFit/>
            </a:bodyPr>
            <a:lstStyle/>
            <a:p>
              <a:r>
                <a:rPr lang="en-US" dirty="0">
                  <a:latin typeface="+mj-lt"/>
                </a:rPr>
                <a:t>position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32EC27E-C3CD-064A-B8AE-77151DBC123E}"/>
                    </a:ext>
                  </a:extLst>
                </p:cNvPr>
                <p:cNvSpPr txBox="1"/>
                <p:nvPr/>
              </p:nvSpPr>
              <p:spPr>
                <a:xfrm>
                  <a:off x="9422321" y="3864940"/>
                  <a:ext cx="977255" cy="368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sr-Latn-RS" i="1">
                                <a:solidFill>
                                  <a:srgbClr val="FF0000"/>
                                </a:solidFill>
                                <a:latin typeface="Cambria Math" panose="02040503050406030204" pitchFamily="18" charset="0"/>
                                <a:ea typeface="Cambria Math" panose="02040503050406030204" pitchFamily="18" charset="0"/>
                              </a:rPr>
                            </m:ctrlPr>
                          </m:sSupPr>
                          <m:e>
                            <m:d>
                              <m:dPr>
                                <m:begChr m:val="|"/>
                                <m:endChr m:val="|"/>
                                <m:ctrlPr>
                                  <a:rPr lang="sr-Latn-RS" i="1">
                                    <a:solidFill>
                                      <a:srgbClr val="FF0000"/>
                                    </a:solidFill>
                                    <a:latin typeface="Cambria Math" panose="02040503050406030204" pitchFamily="18" charset="0"/>
                                    <a:ea typeface="Cambria Math" panose="02040503050406030204" pitchFamily="18" charset="0"/>
                                  </a:rPr>
                                </m:ctrlPr>
                              </m:dPr>
                              <m:e>
                                <m:r>
                                  <m:rPr>
                                    <m:sty m:val="p"/>
                                  </m:rPr>
                                  <a:rPr lang="el-GR">
                                    <a:solidFill>
                                      <a:srgbClr val="FF0000"/>
                                    </a:solidFill>
                                    <a:latin typeface="Cambria Math" panose="02040503050406030204" pitchFamily="18" charset="0"/>
                                    <a:ea typeface="Cambria Math" panose="02040503050406030204" pitchFamily="18" charset="0"/>
                                  </a:rPr>
                                  <m:t>Φ</m:t>
                                </m:r>
                                <m:r>
                                  <a:rPr lang="sr-Latn-RS" i="1">
                                    <a:solidFill>
                                      <a:srgbClr val="FF0000"/>
                                    </a:solidFill>
                                    <a:latin typeface="Cambria Math" panose="02040503050406030204" pitchFamily="18" charset="0"/>
                                    <a:ea typeface="Cambria Math" panose="02040503050406030204" pitchFamily="18" charset="0"/>
                                  </a:rPr>
                                  <m:t>(</m:t>
                                </m:r>
                                <m:r>
                                  <a:rPr lang="sr-Latn-RS" i="1">
                                    <a:solidFill>
                                      <a:srgbClr val="FF0000"/>
                                    </a:solidFill>
                                    <a:latin typeface="Cambria Math" panose="02040503050406030204" pitchFamily="18" charset="0"/>
                                    <a:ea typeface="Cambria Math" panose="02040503050406030204" pitchFamily="18" charset="0"/>
                                  </a:rPr>
                                  <m:t>𝑥</m:t>
                                </m:r>
                                <m:r>
                                  <a:rPr lang="sr-Latn-RS" i="1">
                                    <a:solidFill>
                                      <a:srgbClr val="FF0000"/>
                                    </a:solidFill>
                                    <a:latin typeface="Cambria Math" panose="02040503050406030204" pitchFamily="18" charset="0"/>
                                    <a:ea typeface="Cambria Math" panose="02040503050406030204" pitchFamily="18" charset="0"/>
                                  </a:rPr>
                                  <m:t>)</m:t>
                                </m:r>
                              </m:e>
                            </m:d>
                          </m:e>
                          <m:sup>
                            <m:r>
                              <a:rPr lang="sr-Latn-RS" i="1">
                                <a:solidFill>
                                  <a:srgbClr val="FF0000"/>
                                </a:solidFill>
                                <a:latin typeface="Cambria Math" panose="02040503050406030204" pitchFamily="18" charset="0"/>
                                <a:ea typeface="Cambria Math" panose="02040503050406030204" pitchFamily="18" charset="0"/>
                              </a:rPr>
                              <m:t>2</m:t>
                            </m:r>
                          </m:sup>
                        </m:sSup>
                      </m:oMath>
                    </m:oMathPara>
                  </a14:m>
                  <a:endParaRPr lang="en-US" baseline="30000" dirty="0">
                    <a:latin typeface="+mj-lt"/>
                  </a:endParaRPr>
                </a:p>
              </p:txBody>
            </p:sp>
          </mc:Choice>
          <mc:Fallback xmlns="">
            <p:sp>
              <p:nvSpPr>
                <p:cNvPr id="19" name="TextBox 18">
                  <a:extLst>
                    <a:ext uri="{FF2B5EF4-FFF2-40B4-BE49-F238E27FC236}">
                      <a16:creationId xmlns:a16="http://schemas.microsoft.com/office/drawing/2014/main" id="{B32EC27E-C3CD-064A-B8AE-77151DBC123E}"/>
                    </a:ext>
                  </a:extLst>
                </p:cNvPr>
                <p:cNvSpPr txBox="1">
                  <a:spLocks noRot="1" noChangeAspect="1" noMove="1" noResize="1" noEditPoints="1" noAdjustHandles="1" noChangeArrowheads="1" noChangeShapeType="1" noTextEdit="1"/>
                </p:cNvSpPr>
                <p:nvPr/>
              </p:nvSpPr>
              <p:spPr>
                <a:xfrm>
                  <a:off x="9422321" y="3864940"/>
                  <a:ext cx="977255" cy="368499"/>
                </a:xfrm>
                <a:prstGeom prst="rect">
                  <a:avLst/>
                </a:prstGeom>
                <a:blipFill>
                  <a:blip r:embed="rId6"/>
                  <a:stretch>
                    <a:fillRect b="-16667"/>
                  </a:stretch>
                </a:blipFill>
              </p:spPr>
              <p:txBody>
                <a:bodyPr/>
                <a:lstStyle/>
                <a:p>
                  <a:r>
                    <a:rPr lang="en-US">
                      <a:noFill/>
                    </a:rPr>
                    <a:t> </a:t>
                  </a:r>
                </a:p>
              </p:txBody>
            </p:sp>
          </mc:Fallback>
        </mc:AlternateContent>
        <p:sp>
          <p:nvSpPr>
            <p:cNvPr id="10" name="Freeform 9">
              <a:extLst>
                <a:ext uri="{FF2B5EF4-FFF2-40B4-BE49-F238E27FC236}">
                  <a16:creationId xmlns:a16="http://schemas.microsoft.com/office/drawing/2014/main" id="{F0965FA8-EB18-0542-B1D4-72100E56C471}"/>
                </a:ext>
              </a:extLst>
            </p:cNvPr>
            <p:cNvSpPr/>
            <p:nvPr/>
          </p:nvSpPr>
          <p:spPr>
            <a:xfrm>
              <a:off x="8646553" y="3026693"/>
              <a:ext cx="2469365" cy="1595190"/>
            </a:xfrm>
            <a:custGeom>
              <a:avLst/>
              <a:gdLst>
                <a:gd name="connsiteX0" fmla="*/ 0 w 1866122"/>
                <a:gd name="connsiteY0" fmla="*/ 1026423 h 1063745"/>
                <a:gd name="connsiteX1" fmla="*/ 849086 w 1866122"/>
                <a:gd name="connsiteY1" fmla="*/ 55 h 1063745"/>
                <a:gd name="connsiteX2" fmla="*/ 1866122 w 1866122"/>
                <a:gd name="connsiteY2" fmla="*/ 1063745 h 1063745"/>
                <a:gd name="connsiteX0" fmla="*/ 0 w 1866122"/>
                <a:gd name="connsiteY0" fmla="*/ 1005761 h 1043083"/>
                <a:gd name="connsiteX1" fmla="*/ 967906 w 1866122"/>
                <a:gd name="connsiteY1" fmla="*/ 58 h 1043083"/>
                <a:gd name="connsiteX2" fmla="*/ 1866122 w 1866122"/>
                <a:gd name="connsiteY2" fmla="*/ 1043083 h 1043083"/>
                <a:gd name="connsiteX0" fmla="*/ 0 w 1866122"/>
                <a:gd name="connsiteY0" fmla="*/ 1000596 h 1037918"/>
                <a:gd name="connsiteX1" fmla="*/ 921411 w 1866122"/>
                <a:gd name="connsiteY1" fmla="*/ 59 h 1037918"/>
                <a:gd name="connsiteX2" fmla="*/ 1866122 w 1866122"/>
                <a:gd name="connsiteY2" fmla="*/ 1037918 h 1037918"/>
              </a:gdLst>
              <a:ahLst/>
              <a:cxnLst>
                <a:cxn ang="0">
                  <a:pos x="connsiteX0" y="connsiteY0"/>
                </a:cxn>
                <a:cxn ang="0">
                  <a:pos x="connsiteX1" y="connsiteY1"/>
                </a:cxn>
                <a:cxn ang="0">
                  <a:pos x="connsiteX2" y="connsiteY2"/>
                </a:cxn>
              </a:cxnLst>
              <a:rect l="l" t="t" r="r" b="b"/>
              <a:pathLst>
                <a:path w="1866122" h="1037918">
                  <a:moveTo>
                    <a:pt x="0" y="1000596"/>
                  </a:moveTo>
                  <a:cubicBezTo>
                    <a:pt x="269033" y="484302"/>
                    <a:pt x="610391" y="-6161"/>
                    <a:pt x="921411" y="59"/>
                  </a:cubicBezTo>
                  <a:cubicBezTo>
                    <a:pt x="1232431" y="6279"/>
                    <a:pt x="1513114" y="509183"/>
                    <a:pt x="1866122" y="103791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FE8DC4E8-EB62-B846-8DDB-B8754D50A355}"/>
                </a:ext>
              </a:extLst>
            </p:cNvPr>
            <p:cNvSpPr/>
            <p:nvPr/>
          </p:nvSpPr>
          <p:spPr>
            <a:xfrm>
              <a:off x="8723547" y="3026694"/>
              <a:ext cx="2294722" cy="1520297"/>
            </a:xfrm>
            <a:custGeom>
              <a:avLst/>
              <a:gdLst>
                <a:gd name="connsiteX0" fmla="*/ 0 w 1866122"/>
                <a:gd name="connsiteY0" fmla="*/ 1026423 h 1063745"/>
                <a:gd name="connsiteX1" fmla="*/ 849086 w 1866122"/>
                <a:gd name="connsiteY1" fmla="*/ 55 h 1063745"/>
                <a:gd name="connsiteX2" fmla="*/ 1866122 w 1866122"/>
                <a:gd name="connsiteY2" fmla="*/ 1063745 h 1063745"/>
                <a:gd name="connsiteX0" fmla="*/ 0 w 1866122"/>
                <a:gd name="connsiteY0" fmla="*/ 1005761 h 1043083"/>
                <a:gd name="connsiteX1" fmla="*/ 967906 w 1866122"/>
                <a:gd name="connsiteY1" fmla="*/ 58 h 1043083"/>
                <a:gd name="connsiteX2" fmla="*/ 1866122 w 1866122"/>
                <a:gd name="connsiteY2" fmla="*/ 1043083 h 1043083"/>
                <a:gd name="connsiteX0" fmla="*/ 0 w 1866122"/>
                <a:gd name="connsiteY0" fmla="*/ 1000596 h 1037918"/>
                <a:gd name="connsiteX1" fmla="*/ 921411 w 1866122"/>
                <a:gd name="connsiteY1" fmla="*/ 59 h 1037918"/>
                <a:gd name="connsiteX2" fmla="*/ 1866122 w 1866122"/>
                <a:gd name="connsiteY2" fmla="*/ 1037918 h 1037918"/>
                <a:gd name="connsiteX0" fmla="*/ 0 w 1866122"/>
                <a:gd name="connsiteY0" fmla="*/ 1000581 h 1037903"/>
                <a:gd name="connsiteX1" fmla="*/ 921411 w 1866122"/>
                <a:gd name="connsiteY1" fmla="*/ 44 h 1037903"/>
                <a:gd name="connsiteX2" fmla="*/ 1866122 w 1866122"/>
                <a:gd name="connsiteY2" fmla="*/ 1037903 h 1037903"/>
                <a:gd name="connsiteX0" fmla="*/ 0 w 1866122"/>
                <a:gd name="connsiteY0" fmla="*/ 1000581 h 1037903"/>
                <a:gd name="connsiteX1" fmla="*/ 921411 w 1866122"/>
                <a:gd name="connsiteY1" fmla="*/ 44 h 1037903"/>
                <a:gd name="connsiteX2" fmla="*/ 1866122 w 1866122"/>
                <a:gd name="connsiteY2" fmla="*/ 1037903 h 1037903"/>
                <a:gd name="connsiteX0" fmla="*/ 0 w 1866122"/>
                <a:gd name="connsiteY0" fmla="*/ 1000581 h 1037903"/>
                <a:gd name="connsiteX1" fmla="*/ 921411 w 1866122"/>
                <a:gd name="connsiteY1" fmla="*/ 44 h 1037903"/>
                <a:gd name="connsiteX2" fmla="*/ 1866122 w 1866122"/>
                <a:gd name="connsiteY2" fmla="*/ 1037903 h 1037903"/>
                <a:gd name="connsiteX0" fmla="*/ 0 w 1866122"/>
                <a:gd name="connsiteY0" fmla="*/ 1000581 h 1037903"/>
                <a:gd name="connsiteX1" fmla="*/ 921411 w 1866122"/>
                <a:gd name="connsiteY1" fmla="*/ 44 h 1037903"/>
                <a:gd name="connsiteX2" fmla="*/ 1866122 w 1866122"/>
                <a:gd name="connsiteY2" fmla="*/ 1037903 h 1037903"/>
                <a:gd name="connsiteX0" fmla="*/ 0 w 1866122"/>
                <a:gd name="connsiteY0" fmla="*/ 1000581 h 1037903"/>
                <a:gd name="connsiteX1" fmla="*/ 921411 w 1866122"/>
                <a:gd name="connsiteY1" fmla="*/ 44 h 1037903"/>
                <a:gd name="connsiteX2" fmla="*/ 1866122 w 1866122"/>
                <a:gd name="connsiteY2" fmla="*/ 1037903 h 1037903"/>
                <a:gd name="connsiteX0" fmla="*/ 0 w 1866122"/>
                <a:gd name="connsiteY0" fmla="*/ 985020 h 1022342"/>
                <a:gd name="connsiteX1" fmla="*/ 844459 w 1866122"/>
                <a:gd name="connsiteY1" fmla="*/ 45 h 1022342"/>
                <a:gd name="connsiteX2" fmla="*/ 1866122 w 1866122"/>
                <a:gd name="connsiteY2" fmla="*/ 1022342 h 1022342"/>
                <a:gd name="connsiteX0" fmla="*/ 0 w 1866122"/>
                <a:gd name="connsiteY0" fmla="*/ 985357 h 1022679"/>
                <a:gd name="connsiteX1" fmla="*/ 844459 w 1866122"/>
                <a:gd name="connsiteY1" fmla="*/ 382 h 1022679"/>
                <a:gd name="connsiteX2" fmla="*/ 1866122 w 1866122"/>
                <a:gd name="connsiteY2" fmla="*/ 1022679 h 1022679"/>
                <a:gd name="connsiteX0" fmla="*/ 0 w 1866122"/>
                <a:gd name="connsiteY0" fmla="*/ 985305 h 1022627"/>
                <a:gd name="connsiteX1" fmla="*/ 844459 w 1866122"/>
                <a:gd name="connsiteY1" fmla="*/ 330 h 1022627"/>
                <a:gd name="connsiteX2" fmla="*/ 1866122 w 1866122"/>
                <a:gd name="connsiteY2" fmla="*/ 1022627 h 1022627"/>
                <a:gd name="connsiteX0" fmla="*/ 0 w 1866122"/>
                <a:gd name="connsiteY0" fmla="*/ 985320 h 1022642"/>
                <a:gd name="connsiteX1" fmla="*/ 844459 w 1866122"/>
                <a:gd name="connsiteY1" fmla="*/ 345 h 1022642"/>
                <a:gd name="connsiteX2" fmla="*/ 1866122 w 1866122"/>
                <a:gd name="connsiteY2" fmla="*/ 1022642 h 1022642"/>
                <a:gd name="connsiteX0" fmla="*/ 0 w 1866122"/>
                <a:gd name="connsiteY0" fmla="*/ 990386 h 1027708"/>
                <a:gd name="connsiteX1" fmla="*/ 900009 w 1866122"/>
                <a:gd name="connsiteY1" fmla="*/ 342 h 1027708"/>
                <a:gd name="connsiteX2" fmla="*/ 1866122 w 1866122"/>
                <a:gd name="connsiteY2" fmla="*/ 1027708 h 1027708"/>
                <a:gd name="connsiteX0" fmla="*/ 0 w 1866122"/>
                <a:gd name="connsiteY0" fmla="*/ 990386 h 1027708"/>
                <a:gd name="connsiteX1" fmla="*/ 869148 w 1866122"/>
                <a:gd name="connsiteY1" fmla="*/ 342 h 1027708"/>
                <a:gd name="connsiteX2" fmla="*/ 1866122 w 1866122"/>
                <a:gd name="connsiteY2" fmla="*/ 1027708 h 1027708"/>
                <a:gd name="connsiteX0" fmla="*/ 0 w 1866122"/>
                <a:gd name="connsiteY0" fmla="*/ 990386 h 1027708"/>
                <a:gd name="connsiteX1" fmla="*/ 893837 w 1866122"/>
                <a:gd name="connsiteY1" fmla="*/ 342 h 1027708"/>
                <a:gd name="connsiteX2" fmla="*/ 1866122 w 1866122"/>
                <a:gd name="connsiteY2" fmla="*/ 1027708 h 1027708"/>
                <a:gd name="connsiteX0" fmla="*/ 0 w 1866122"/>
                <a:gd name="connsiteY0" fmla="*/ 1021120 h 1027368"/>
                <a:gd name="connsiteX1" fmla="*/ 893837 w 1866122"/>
                <a:gd name="connsiteY1" fmla="*/ 2 h 1027368"/>
                <a:gd name="connsiteX2" fmla="*/ 1866122 w 1866122"/>
                <a:gd name="connsiteY2" fmla="*/ 1027368 h 1027368"/>
                <a:gd name="connsiteX0" fmla="*/ 0 w 1903845"/>
                <a:gd name="connsiteY0" fmla="*/ 1027951 h 1027952"/>
                <a:gd name="connsiteX1" fmla="*/ 931560 w 1903845"/>
                <a:gd name="connsiteY1" fmla="*/ 1 h 1027952"/>
                <a:gd name="connsiteX2" fmla="*/ 1903845 w 1903845"/>
                <a:gd name="connsiteY2" fmla="*/ 1027367 h 1027952"/>
              </a:gdLst>
              <a:ahLst/>
              <a:cxnLst>
                <a:cxn ang="0">
                  <a:pos x="connsiteX0" y="connsiteY0"/>
                </a:cxn>
                <a:cxn ang="0">
                  <a:pos x="connsiteX1" y="connsiteY1"/>
                </a:cxn>
                <a:cxn ang="0">
                  <a:pos x="connsiteX2" y="connsiteY2"/>
                </a:cxn>
              </a:cxnLst>
              <a:rect l="l" t="t" r="r" b="b"/>
              <a:pathLst>
                <a:path w="1903845" h="1027952">
                  <a:moveTo>
                    <a:pt x="0" y="1027951"/>
                  </a:moveTo>
                  <a:cubicBezTo>
                    <a:pt x="486009" y="676973"/>
                    <a:pt x="614253" y="98"/>
                    <a:pt x="931560" y="1"/>
                  </a:cubicBezTo>
                  <a:cubicBezTo>
                    <a:pt x="1248867" y="-96"/>
                    <a:pt x="1290201" y="611501"/>
                    <a:pt x="1903845" y="1027367"/>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E6CA2635-B49F-374C-A951-1514987417D0}"/>
                    </a:ext>
                  </a:extLst>
                </p:cNvPr>
                <p:cNvSpPr/>
                <p:nvPr/>
              </p:nvSpPr>
              <p:spPr>
                <a:xfrm>
                  <a:off x="9273585" y="4610754"/>
                  <a:ext cx="3679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24" name="Rectangle 23">
                  <a:extLst>
                    <a:ext uri="{FF2B5EF4-FFF2-40B4-BE49-F238E27FC236}">
                      <a16:creationId xmlns:a16="http://schemas.microsoft.com/office/drawing/2014/main" id="{E6CA2635-B49F-374C-A951-1514987417D0}"/>
                    </a:ext>
                  </a:extLst>
                </p:cNvPr>
                <p:cNvSpPr>
                  <a:spLocks noRot="1" noChangeAspect="1" noMove="1" noResize="1" noEditPoints="1" noAdjustHandles="1" noChangeArrowheads="1" noChangeShapeType="1" noTextEdit="1"/>
                </p:cNvSpPr>
                <p:nvPr/>
              </p:nvSpPr>
              <p:spPr>
                <a:xfrm>
                  <a:off x="9273585" y="4610754"/>
                  <a:ext cx="367986" cy="369332"/>
                </a:xfrm>
                <a:prstGeom prst="rect">
                  <a:avLst/>
                </a:prstGeom>
                <a:blipFill>
                  <a:blip r:embed="rId7"/>
                  <a:stretch>
                    <a:fillRect/>
                  </a:stretch>
                </a:blipFill>
              </p:spPr>
              <p:txBody>
                <a:bodyPr/>
                <a:lstStyle/>
                <a:p>
                  <a:r>
                    <a:rPr lang="en-US">
                      <a:noFill/>
                    </a:rPr>
                    <a:t> </a:t>
                  </a:r>
                </a:p>
              </p:txBody>
            </p:sp>
          </mc:Fallback>
        </mc:AlternateContent>
      </p:grpSp>
      <p:sp>
        <p:nvSpPr>
          <p:cNvPr id="27" name="Slide Number Placeholder 2">
            <a:extLst>
              <a:ext uri="{FF2B5EF4-FFF2-40B4-BE49-F238E27FC236}">
                <a16:creationId xmlns:a16="http://schemas.microsoft.com/office/drawing/2014/main" id="{15AE04F6-4CB2-3E4B-85B3-8F490E626385}"/>
              </a:ext>
            </a:extLst>
          </p:cNvPr>
          <p:cNvSpPr>
            <a:spLocks noGrp="1"/>
          </p:cNvSpPr>
          <p:nvPr>
            <p:ph type="sldNum" sz="quarter" idx="12"/>
          </p:nvPr>
        </p:nvSpPr>
        <p:spPr>
          <a:xfrm>
            <a:off x="0" y="6473190"/>
            <a:ext cx="619760" cy="365125"/>
          </a:xfrm>
        </p:spPr>
        <p:txBody>
          <a:bodyPr/>
          <a:lstStyle/>
          <a:p>
            <a:fld id="{591A223C-FA10-BC46-A853-03BA373D023C}" type="slidenum">
              <a:rPr lang="en-US" smtClean="0"/>
              <a:t>34</a:t>
            </a:fld>
            <a:endParaRPr lang="en-US" dirty="0"/>
          </a:p>
        </p:txBody>
      </p:sp>
    </p:spTree>
    <p:extLst>
      <p:ext uri="{BB962C8B-B14F-4D97-AF65-F5344CB8AC3E}">
        <p14:creationId xmlns:p14="http://schemas.microsoft.com/office/powerpoint/2010/main" val="113229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DD73E7B3-2C99-E04D-AE78-B811C86DE88A}"/>
              </a:ext>
            </a:extLst>
          </p:cNvPr>
          <p:cNvGrpSpPr/>
          <p:nvPr/>
        </p:nvGrpSpPr>
        <p:grpSpPr>
          <a:xfrm>
            <a:off x="2945994" y="1043825"/>
            <a:ext cx="6473059" cy="1431085"/>
            <a:chOff x="3911684" y="761267"/>
            <a:chExt cx="6473059" cy="1431085"/>
          </a:xfrm>
        </p:grpSpPr>
        <p:sp>
          <p:nvSpPr>
            <p:cNvPr id="72" name="Rounded Rectangular Callout 71">
              <a:extLst>
                <a:ext uri="{FF2B5EF4-FFF2-40B4-BE49-F238E27FC236}">
                  <a16:creationId xmlns:a16="http://schemas.microsoft.com/office/drawing/2014/main" id="{0E7C5D7E-DCB6-FF42-99DA-383496D401D4}"/>
                </a:ext>
              </a:extLst>
            </p:cNvPr>
            <p:cNvSpPr/>
            <p:nvPr/>
          </p:nvSpPr>
          <p:spPr>
            <a:xfrm>
              <a:off x="3911684" y="761267"/>
              <a:ext cx="6473059" cy="1431085"/>
            </a:xfrm>
            <a:custGeom>
              <a:avLst/>
              <a:gdLst>
                <a:gd name="connsiteX0" fmla="*/ 0 w 7719114"/>
                <a:gd name="connsiteY0" fmla="*/ 171376 h 1028238"/>
                <a:gd name="connsiteX1" fmla="*/ 171376 w 7719114"/>
                <a:gd name="connsiteY1" fmla="*/ 0 h 1028238"/>
                <a:gd name="connsiteX2" fmla="*/ 1286519 w 7719114"/>
                <a:gd name="connsiteY2" fmla="*/ 0 h 1028238"/>
                <a:gd name="connsiteX3" fmla="*/ 1286519 w 7719114"/>
                <a:gd name="connsiteY3" fmla="*/ 0 h 1028238"/>
                <a:gd name="connsiteX4" fmla="*/ 3216298 w 7719114"/>
                <a:gd name="connsiteY4" fmla="*/ 0 h 1028238"/>
                <a:gd name="connsiteX5" fmla="*/ 7547738 w 7719114"/>
                <a:gd name="connsiteY5" fmla="*/ 0 h 1028238"/>
                <a:gd name="connsiteX6" fmla="*/ 7719114 w 7719114"/>
                <a:gd name="connsiteY6" fmla="*/ 171376 h 1028238"/>
                <a:gd name="connsiteX7" fmla="*/ 7719114 w 7719114"/>
                <a:gd name="connsiteY7" fmla="*/ 599806 h 1028238"/>
                <a:gd name="connsiteX8" fmla="*/ 7719114 w 7719114"/>
                <a:gd name="connsiteY8" fmla="*/ 599806 h 1028238"/>
                <a:gd name="connsiteX9" fmla="*/ 7719114 w 7719114"/>
                <a:gd name="connsiteY9" fmla="*/ 856865 h 1028238"/>
                <a:gd name="connsiteX10" fmla="*/ 7719114 w 7719114"/>
                <a:gd name="connsiteY10" fmla="*/ 856862 h 1028238"/>
                <a:gd name="connsiteX11" fmla="*/ 7547738 w 7719114"/>
                <a:gd name="connsiteY11" fmla="*/ 1028238 h 1028238"/>
                <a:gd name="connsiteX12" fmla="*/ 3216298 w 7719114"/>
                <a:gd name="connsiteY12" fmla="*/ 1028238 h 1028238"/>
                <a:gd name="connsiteX13" fmla="*/ 482290 w 7719114"/>
                <a:gd name="connsiteY13" fmla="*/ 1492045 h 1028238"/>
                <a:gd name="connsiteX14" fmla="*/ 1286519 w 7719114"/>
                <a:gd name="connsiteY14" fmla="*/ 1028238 h 1028238"/>
                <a:gd name="connsiteX15" fmla="*/ 171376 w 7719114"/>
                <a:gd name="connsiteY15" fmla="*/ 1028238 h 1028238"/>
                <a:gd name="connsiteX16" fmla="*/ 0 w 7719114"/>
                <a:gd name="connsiteY16" fmla="*/ 856862 h 1028238"/>
                <a:gd name="connsiteX17" fmla="*/ 0 w 7719114"/>
                <a:gd name="connsiteY17" fmla="*/ 856865 h 1028238"/>
                <a:gd name="connsiteX18" fmla="*/ 0 w 7719114"/>
                <a:gd name="connsiteY18" fmla="*/ 599806 h 1028238"/>
                <a:gd name="connsiteX19" fmla="*/ 0 w 7719114"/>
                <a:gd name="connsiteY19" fmla="*/ 599806 h 1028238"/>
                <a:gd name="connsiteX20" fmla="*/ 0 w 7719114"/>
                <a:gd name="connsiteY20" fmla="*/ 171376 h 1028238"/>
                <a:gd name="connsiteX0" fmla="*/ 0 w 7719114"/>
                <a:gd name="connsiteY0" fmla="*/ 171376 h 1492045"/>
                <a:gd name="connsiteX1" fmla="*/ 171376 w 7719114"/>
                <a:gd name="connsiteY1" fmla="*/ 0 h 1492045"/>
                <a:gd name="connsiteX2" fmla="*/ 1286519 w 7719114"/>
                <a:gd name="connsiteY2" fmla="*/ 0 h 1492045"/>
                <a:gd name="connsiteX3" fmla="*/ 1286519 w 7719114"/>
                <a:gd name="connsiteY3" fmla="*/ 0 h 1492045"/>
                <a:gd name="connsiteX4" fmla="*/ 3216298 w 7719114"/>
                <a:gd name="connsiteY4" fmla="*/ 0 h 1492045"/>
                <a:gd name="connsiteX5" fmla="*/ 7547738 w 7719114"/>
                <a:gd name="connsiteY5" fmla="*/ 0 h 1492045"/>
                <a:gd name="connsiteX6" fmla="*/ 7719114 w 7719114"/>
                <a:gd name="connsiteY6" fmla="*/ 171376 h 1492045"/>
                <a:gd name="connsiteX7" fmla="*/ 7719114 w 7719114"/>
                <a:gd name="connsiteY7" fmla="*/ 599806 h 1492045"/>
                <a:gd name="connsiteX8" fmla="*/ 7719114 w 7719114"/>
                <a:gd name="connsiteY8" fmla="*/ 599806 h 1492045"/>
                <a:gd name="connsiteX9" fmla="*/ 7719114 w 7719114"/>
                <a:gd name="connsiteY9" fmla="*/ 856865 h 1492045"/>
                <a:gd name="connsiteX10" fmla="*/ 7719114 w 7719114"/>
                <a:gd name="connsiteY10" fmla="*/ 856862 h 1492045"/>
                <a:gd name="connsiteX11" fmla="*/ 7547738 w 7719114"/>
                <a:gd name="connsiteY11" fmla="*/ 1028238 h 1492045"/>
                <a:gd name="connsiteX12" fmla="*/ 1753258 w 7719114"/>
                <a:gd name="connsiteY12" fmla="*/ 1104438 h 1492045"/>
                <a:gd name="connsiteX13" fmla="*/ 482290 w 7719114"/>
                <a:gd name="connsiteY13" fmla="*/ 1492045 h 1492045"/>
                <a:gd name="connsiteX14" fmla="*/ 1286519 w 7719114"/>
                <a:gd name="connsiteY14" fmla="*/ 1028238 h 1492045"/>
                <a:gd name="connsiteX15" fmla="*/ 171376 w 7719114"/>
                <a:gd name="connsiteY15" fmla="*/ 1028238 h 1492045"/>
                <a:gd name="connsiteX16" fmla="*/ 0 w 7719114"/>
                <a:gd name="connsiteY16" fmla="*/ 856862 h 1492045"/>
                <a:gd name="connsiteX17" fmla="*/ 0 w 7719114"/>
                <a:gd name="connsiteY17" fmla="*/ 856865 h 1492045"/>
                <a:gd name="connsiteX18" fmla="*/ 0 w 7719114"/>
                <a:gd name="connsiteY18" fmla="*/ 599806 h 1492045"/>
                <a:gd name="connsiteX19" fmla="*/ 0 w 7719114"/>
                <a:gd name="connsiteY19" fmla="*/ 599806 h 1492045"/>
                <a:gd name="connsiteX20" fmla="*/ 0 w 7719114"/>
                <a:gd name="connsiteY20" fmla="*/ 171376 h 1492045"/>
                <a:gd name="connsiteX0" fmla="*/ 0 w 7719114"/>
                <a:gd name="connsiteY0" fmla="*/ 171376 h 1492045"/>
                <a:gd name="connsiteX1" fmla="*/ 171376 w 7719114"/>
                <a:gd name="connsiteY1" fmla="*/ 0 h 1492045"/>
                <a:gd name="connsiteX2" fmla="*/ 1286519 w 7719114"/>
                <a:gd name="connsiteY2" fmla="*/ 0 h 1492045"/>
                <a:gd name="connsiteX3" fmla="*/ 1286519 w 7719114"/>
                <a:gd name="connsiteY3" fmla="*/ 0 h 1492045"/>
                <a:gd name="connsiteX4" fmla="*/ 3216298 w 7719114"/>
                <a:gd name="connsiteY4" fmla="*/ 0 h 1492045"/>
                <a:gd name="connsiteX5" fmla="*/ 7547738 w 7719114"/>
                <a:gd name="connsiteY5" fmla="*/ 0 h 1492045"/>
                <a:gd name="connsiteX6" fmla="*/ 7719114 w 7719114"/>
                <a:gd name="connsiteY6" fmla="*/ 171376 h 1492045"/>
                <a:gd name="connsiteX7" fmla="*/ 7719114 w 7719114"/>
                <a:gd name="connsiteY7" fmla="*/ 599806 h 1492045"/>
                <a:gd name="connsiteX8" fmla="*/ 7719114 w 7719114"/>
                <a:gd name="connsiteY8" fmla="*/ 599806 h 1492045"/>
                <a:gd name="connsiteX9" fmla="*/ 7719114 w 7719114"/>
                <a:gd name="connsiteY9" fmla="*/ 856865 h 1492045"/>
                <a:gd name="connsiteX10" fmla="*/ 7719114 w 7719114"/>
                <a:gd name="connsiteY10" fmla="*/ 856862 h 1492045"/>
                <a:gd name="connsiteX11" fmla="*/ 7547738 w 7719114"/>
                <a:gd name="connsiteY11" fmla="*/ 1028238 h 1492045"/>
                <a:gd name="connsiteX12" fmla="*/ 1738018 w 7719114"/>
                <a:gd name="connsiteY12" fmla="*/ 1043478 h 1492045"/>
                <a:gd name="connsiteX13" fmla="*/ 482290 w 7719114"/>
                <a:gd name="connsiteY13" fmla="*/ 1492045 h 1492045"/>
                <a:gd name="connsiteX14" fmla="*/ 1286519 w 7719114"/>
                <a:gd name="connsiteY14" fmla="*/ 1028238 h 1492045"/>
                <a:gd name="connsiteX15" fmla="*/ 171376 w 7719114"/>
                <a:gd name="connsiteY15" fmla="*/ 1028238 h 1492045"/>
                <a:gd name="connsiteX16" fmla="*/ 0 w 7719114"/>
                <a:gd name="connsiteY16" fmla="*/ 856862 h 1492045"/>
                <a:gd name="connsiteX17" fmla="*/ 0 w 7719114"/>
                <a:gd name="connsiteY17" fmla="*/ 856865 h 1492045"/>
                <a:gd name="connsiteX18" fmla="*/ 0 w 7719114"/>
                <a:gd name="connsiteY18" fmla="*/ 599806 h 1492045"/>
                <a:gd name="connsiteX19" fmla="*/ 0 w 7719114"/>
                <a:gd name="connsiteY19" fmla="*/ 599806 h 1492045"/>
                <a:gd name="connsiteX20" fmla="*/ 0 w 7719114"/>
                <a:gd name="connsiteY20" fmla="*/ 171376 h 1492045"/>
                <a:gd name="connsiteX0" fmla="*/ 0 w 7719114"/>
                <a:gd name="connsiteY0" fmla="*/ 171376 h 1431085"/>
                <a:gd name="connsiteX1" fmla="*/ 171376 w 7719114"/>
                <a:gd name="connsiteY1" fmla="*/ 0 h 1431085"/>
                <a:gd name="connsiteX2" fmla="*/ 1286519 w 7719114"/>
                <a:gd name="connsiteY2" fmla="*/ 0 h 1431085"/>
                <a:gd name="connsiteX3" fmla="*/ 1286519 w 7719114"/>
                <a:gd name="connsiteY3" fmla="*/ 0 h 1431085"/>
                <a:gd name="connsiteX4" fmla="*/ 3216298 w 7719114"/>
                <a:gd name="connsiteY4" fmla="*/ 0 h 1431085"/>
                <a:gd name="connsiteX5" fmla="*/ 7547738 w 7719114"/>
                <a:gd name="connsiteY5" fmla="*/ 0 h 1431085"/>
                <a:gd name="connsiteX6" fmla="*/ 7719114 w 7719114"/>
                <a:gd name="connsiteY6" fmla="*/ 171376 h 1431085"/>
                <a:gd name="connsiteX7" fmla="*/ 7719114 w 7719114"/>
                <a:gd name="connsiteY7" fmla="*/ 599806 h 1431085"/>
                <a:gd name="connsiteX8" fmla="*/ 7719114 w 7719114"/>
                <a:gd name="connsiteY8" fmla="*/ 599806 h 1431085"/>
                <a:gd name="connsiteX9" fmla="*/ 7719114 w 7719114"/>
                <a:gd name="connsiteY9" fmla="*/ 856865 h 1431085"/>
                <a:gd name="connsiteX10" fmla="*/ 7719114 w 7719114"/>
                <a:gd name="connsiteY10" fmla="*/ 856862 h 1431085"/>
                <a:gd name="connsiteX11" fmla="*/ 7547738 w 7719114"/>
                <a:gd name="connsiteY11" fmla="*/ 1028238 h 1431085"/>
                <a:gd name="connsiteX12" fmla="*/ 1738018 w 7719114"/>
                <a:gd name="connsiteY12" fmla="*/ 1043478 h 1431085"/>
                <a:gd name="connsiteX13" fmla="*/ 1000450 w 7719114"/>
                <a:gd name="connsiteY13" fmla="*/ 1431085 h 1431085"/>
                <a:gd name="connsiteX14" fmla="*/ 1286519 w 7719114"/>
                <a:gd name="connsiteY14" fmla="*/ 1028238 h 1431085"/>
                <a:gd name="connsiteX15" fmla="*/ 171376 w 7719114"/>
                <a:gd name="connsiteY15" fmla="*/ 1028238 h 1431085"/>
                <a:gd name="connsiteX16" fmla="*/ 0 w 7719114"/>
                <a:gd name="connsiteY16" fmla="*/ 856862 h 1431085"/>
                <a:gd name="connsiteX17" fmla="*/ 0 w 7719114"/>
                <a:gd name="connsiteY17" fmla="*/ 856865 h 1431085"/>
                <a:gd name="connsiteX18" fmla="*/ 0 w 7719114"/>
                <a:gd name="connsiteY18" fmla="*/ 599806 h 1431085"/>
                <a:gd name="connsiteX19" fmla="*/ 0 w 7719114"/>
                <a:gd name="connsiteY19" fmla="*/ 599806 h 1431085"/>
                <a:gd name="connsiteX20" fmla="*/ 0 w 7719114"/>
                <a:gd name="connsiteY20" fmla="*/ 171376 h 143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19114" h="1431085">
                  <a:moveTo>
                    <a:pt x="0" y="171376"/>
                  </a:moveTo>
                  <a:cubicBezTo>
                    <a:pt x="0" y="76728"/>
                    <a:pt x="76728" y="0"/>
                    <a:pt x="171376" y="0"/>
                  </a:cubicBezTo>
                  <a:lnTo>
                    <a:pt x="1286519" y="0"/>
                  </a:lnTo>
                  <a:lnTo>
                    <a:pt x="1286519" y="0"/>
                  </a:lnTo>
                  <a:lnTo>
                    <a:pt x="3216298" y="0"/>
                  </a:lnTo>
                  <a:lnTo>
                    <a:pt x="7547738" y="0"/>
                  </a:lnTo>
                  <a:cubicBezTo>
                    <a:pt x="7642386" y="0"/>
                    <a:pt x="7719114" y="76728"/>
                    <a:pt x="7719114" y="171376"/>
                  </a:cubicBezTo>
                  <a:lnTo>
                    <a:pt x="7719114" y="599806"/>
                  </a:lnTo>
                  <a:lnTo>
                    <a:pt x="7719114" y="599806"/>
                  </a:lnTo>
                  <a:lnTo>
                    <a:pt x="7719114" y="856865"/>
                  </a:lnTo>
                  <a:lnTo>
                    <a:pt x="7719114" y="856862"/>
                  </a:lnTo>
                  <a:cubicBezTo>
                    <a:pt x="7719114" y="951510"/>
                    <a:pt x="7642386" y="1028238"/>
                    <a:pt x="7547738" y="1028238"/>
                  </a:cubicBezTo>
                  <a:lnTo>
                    <a:pt x="1738018" y="1043478"/>
                  </a:lnTo>
                  <a:lnTo>
                    <a:pt x="1000450" y="1431085"/>
                  </a:lnTo>
                  <a:lnTo>
                    <a:pt x="1286519" y="1028238"/>
                  </a:lnTo>
                  <a:lnTo>
                    <a:pt x="171376" y="1028238"/>
                  </a:lnTo>
                  <a:cubicBezTo>
                    <a:pt x="76728" y="1028238"/>
                    <a:pt x="0" y="951510"/>
                    <a:pt x="0" y="856862"/>
                  </a:cubicBezTo>
                  <a:lnTo>
                    <a:pt x="0" y="856865"/>
                  </a:lnTo>
                  <a:lnTo>
                    <a:pt x="0" y="599806"/>
                  </a:lnTo>
                  <a:lnTo>
                    <a:pt x="0" y="599806"/>
                  </a:lnTo>
                  <a:lnTo>
                    <a:pt x="0" y="171376"/>
                  </a:lnTo>
                  <a:close/>
                </a:path>
              </a:pathLst>
            </a:cu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68E1264-8E4C-994C-BFFA-E786895DAE38}"/>
                </a:ext>
              </a:extLst>
            </p:cNvPr>
            <p:cNvSpPr txBox="1"/>
            <p:nvPr/>
          </p:nvSpPr>
          <p:spPr>
            <a:xfrm>
              <a:off x="3989368" y="1126213"/>
              <a:ext cx="2317814" cy="615553"/>
            </a:xfrm>
            <a:prstGeom prst="rect">
              <a:avLst/>
            </a:prstGeom>
            <a:noFill/>
          </p:spPr>
          <p:txBody>
            <a:bodyPr wrap="none" rtlCol="0">
              <a:spAutoFit/>
            </a:bodyPr>
            <a:lstStyle/>
            <a:p>
              <a:r>
                <a:rPr lang="en-ZA" sz="2000" dirty="0"/>
                <a:t>relative frequency </a:t>
              </a:r>
              <a:r>
                <a:rPr lang="en-US" sz="2000" dirty="0"/>
                <a:t> =</a:t>
              </a:r>
              <a:br>
                <a:rPr lang="en-US" sz="2000" dirty="0"/>
              </a:br>
              <a:r>
                <a:rPr lang="en-US" sz="1400" dirty="0"/>
                <a:t>(experimental probability)</a:t>
              </a:r>
            </a:p>
          </p:txBody>
        </p:sp>
        <p:sp>
          <p:nvSpPr>
            <p:cNvPr id="62" name="TextBox 61">
              <a:extLst>
                <a:ext uri="{FF2B5EF4-FFF2-40B4-BE49-F238E27FC236}">
                  <a16:creationId xmlns:a16="http://schemas.microsoft.com/office/drawing/2014/main" id="{70D7CD11-6E3C-5E43-9149-A233BEF3FD49}"/>
                </a:ext>
              </a:extLst>
            </p:cNvPr>
            <p:cNvSpPr txBox="1"/>
            <p:nvPr/>
          </p:nvSpPr>
          <p:spPr>
            <a:xfrm>
              <a:off x="6307182" y="982255"/>
              <a:ext cx="3948517" cy="707886"/>
            </a:xfrm>
            <a:prstGeom prst="rect">
              <a:avLst/>
            </a:prstGeom>
            <a:noFill/>
          </p:spPr>
          <p:txBody>
            <a:bodyPr wrap="none" rtlCol="0">
              <a:spAutoFit/>
            </a:bodyPr>
            <a:lstStyle/>
            <a:p>
              <a:r>
                <a:rPr lang="en-ZA" sz="2000" dirty="0"/>
                <a:t>number of times an outcome occurs​</a:t>
              </a:r>
              <a:endParaRPr lang="en-US" sz="2000" dirty="0"/>
            </a:p>
            <a:p>
              <a:pPr algn="ctr"/>
              <a:r>
                <a:rPr lang="en-US" sz="2000" dirty="0"/>
                <a:t>total number of measurement</a:t>
              </a:r>
            </a:p>
          </p:txBody>
        </p:sp>
        <p:cxnSp>
          <p:nvCxnSpPr>
            <p:cNvPr id="65" name="Straight Connector 64">
              <a:extLst>
                <a:ext uri="{FF2B5EF4-FFF2-40B4-BE49-F238E27FC236}">
                  <a16:creationId xmlns:a16="http://schemas.microsoft.com/office/drawing/2014/main" id="{C4F50438-C78D-124B-9DFF-A9A791CA0786}"/>
                </a:ext>
              </a:extLst>
            </p:cNvPr>
            <p:cNvCxnSpPr>
              <a:cxnSpLocks/>
              <a:endCxn id="62" idx="3"/>
            </p:cNvCxnSpPr>
            <p:nvPr/>
          </p:nvCxnSpPr>
          <p:spPr>
            <a:xfrm flipV="1">
              <a:off x="6311974" y="1336198"/>
              <a:ext cx="3943725" cy="311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EFB1D824-1714-0249-9751-60AC3E02628F}"/>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3" name="Title 2">
            <a:extLst>
              <a:ext uri="{FF2B5EF4-FFF2-40B4-BE49-F238E27FC236}">
                <a16:creationId xmlns:a16="http://schemas.microsoft.com/office/drawing/2014/main" id="{00A5A726-04E0-9A4E-937C-90693769264E}"/>
              </a:ext>
            </a:extLst>
          </p:cNvPr>
          <p:cNvSpPr>
            <a:spLocks noGrp="1"/>
          </p:cNvSpPr>
          <p:nvPr>
            <p:ph type="title"/>
          </p:nvPr>
        </p:nvSpPr>
        <p:spPr>
          <a:xfrm>
            <a:off x="0" y="0"/>
            <a:ext cx="12192000" cy="928688"/>
          </a:xfrm>
        </p:spPr>
        <p:txBody>
          <a:bodyPr/>
          <a:lstStyle/>
          <a:p>
            <a:r>
              <a:rPr lang="en-ZA" dirty="0"/>
              <a:t>Histogram of Measurement Results</a:t>
            </a:r>
            <a:endParaRPr lang="en-US" dirty="0"/>
          </a:p>
        </p:txBody>
      </p:sp>
      <p:pic>
        <p:nvPicPr>
          <p:cNvPr id="5" name="Picture 4">
            <a:extLst>
              <a:ext uri="{FF2B5EF4-FFF2-40B4-BE49-F238E27FC236}">
                <a16:creationId xmlns:a16="http://schemas.microsoft.com/office/drawing/2014/main" id="{7AD771EA-F58F-E34B-B82D-A7100E0A51B3}"/>
              </a:ext>
            </a:extLst>
          </p:cNvPr>
          <p:cNvPicPr>
            <a:picLocks noChangeAspect="1"/>
          </p:cNvPicPr>
          <p:nvPr/>
        </p:nvPicPr>
        <p:blipFill>
          <a:blip r:embed="rId3">
            <a:extLst>
              <a:ext uri="{BEBA8EAE-BF5A-486C-A8C5-ECC9F3942E4B}">
                <a14:imgProps xmlns:a14="http://schemas.microsoft.com/office/drawing/2010/main">
                  <a14:imgLayer>
                    <a14:imgEffect>
                      <a14:artisticLineDrawing/>
                    </a14:imgEffect>
                  </a14:imgLayer>
                </a14:imgProps>
              </a:ext>
            </a:extLst>
          </a:blip>
          <a:stretch>
            <a:fillRect/>
          </a:stretch>
        </p:blipFill>
        <p:spPr>
          <a:xfrm>
            <a:off x="335244" y="2512554"/>
            <a:ext cx="3468253" cy="3468253"/>
          </a:xfrm>
          <a:prstGeom prst="rect">
            <a:avLst/>
          </a:prstGeom>
        </p:spPr>
      </p:pic>
      <p:sp>
        <p:nvSpPr>
          <p:cNvPr id="6" name="Oval 5">
            <a:extLst>
              <a:ext uri="{FF2B5EF4-FFF2-40B4-BE49-F238E27FC236}">
                <a16:creationId xmlns:a16="http://schemas.microsoft.com/office/drawing/2014/main" id="{506C36D0-0504-1541-BA35-5FA3785F0E25}"/>
              </a:ext>
            </a:extLst>
          </p:cNvPr>
          <p:cNvSpPr/>
          <p:nvPr/>
        </p:nvSpPr>
        <p:spPr>
          <a:xfrm>
            <a:off x="350082" y="3480892"/>
            <a:ext cx="3443613" cy="1476815"/>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 name="Freeform 6">
            <a:extLst>
              <a:ext uri="{FF2B5EF4-FFF2-40B4-BE49-F238E27FC236}">
                <a16:creationId xmlns:a16="http://schemas.microsoft.com/office/drawing/2014/main" id="{D50123FF-37C7-CA4A-8AC5-085AF23954CC}"/>
              </a:ext>
            </a:extLst>
          </p:cNvPr>
          <p:cNvSpPr/>
          <p:nvPr/>
        </p:nvSpPr>
        <p:spPr>
          <a:xfrm rot="11968825" flipH="1" flipV="1">
            <a:off x="1015915" y="4254436"/>
            <a:ext cx="886387" cy="1297132"/>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rgbClr val="FF5A00">
              <a:alpha val="5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	</a:t>
            </a:r>
          </a:p>
        </p:txBody>
      </p:sp>
      <p:sp>
        <p:nvSpPr>
          <p:cNvPr id="8" name="Freeform 7">
            <a:extLst>
              <a:ext uri="{FF2B5EF4-FFF2-40B4-BE49-F238E27FC236}">
                <a16:creationId xmlns:a16="http://schemas.microsoft.com/office/drawing/2014/main" id="{FDF4F42E-D215-4E4A-92A8-D27AA0EB13AD}"/>
              </a:ext>
            </a:extLst>
          </p:cNvPr>
          <p:cNvSpPr/>
          <p:nvPr/>
        </p:nvSpPr>
        <p:spPr>
          <a:xfrm rot="9631175" flipH="1">
            <a:off x="1089006" y="2763579"/>
            <a:ext cx="903743" cy="895564"/>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5">
              <a:lumMod val="75000"/>
              <a:alpha val="5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3A4A4F-604D-0049-8714-8DB1364432A2}"/>
                  </a:ext>
                </a:extLst>
              </p:cNvPr>
              <p:cNvSpPr txBox="1"/>
              <p:nvPr/>
            </p:nvSpPr>
            <p:spPr>
              <a:xfrm>
                <a:off x="707855" y="2866578"/>
                <a:ext cx="742149" cy="4445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e>
                        <m:sup>
                          <m:r>
                            <a:rPr lang="en-US" sz="2000" b="0" i="1" smtClean="0">
                              <a:latin typeface="Cambria Math" panose="02040503050406030204" pitchFamily="18" charset="0"/>
                              <a:ea typeface="Cambria Math" panose="02040503050406030204" pitchFamily="18" charset="0"/>
                            </a:rPr>
                            <m:t>2</m:t>
                          </m:r>
                        </m:sup>
                      </m:sSup>
                    </m:oMath>
                  </m:oMathPara>
                </a14:m>
                <a:endParaRPr lang="en-US" sz="2000" dirty="0"/>
              </a:p>
            </p:txBody>
          </p:sp>
        </mc:Choice>
        <mc:Fallback xmlns="">
          <p:sp>
            <p:nvSpPr>
              <p:cNvPr id="9" name="TextBox 8">
                <a:extLst>
                  <a:ext uri="{FF2B5EF4-FFF2-40B4-BE49-F238E27FC236}">
                    <a16:creationId xmlns:a16="http://schemas.microsoft.com/office/drawing/2014/main" id="{293A4A4F-604D-0049-8714-8DB1364432A2}"/>
                  </a:ext>
                </a:extLst>
              </p:cNvPr>
              <p:cNvSpPr txBox="1">
                <a:spLocks noRot="1" noChangeAspect="1" noMove="1" noResize="1" noEditPoints="1" noAdjustHandles="1" noChangeArrowheads="1" noChangeShapeType="1" noTextEdit="1"/>
              </p:cNvSpPr>
              <p:nvPr/>
            </p:nvSpPr>
            <p:spPr>
              <a:xfrm>
                <a:off x="707855" y="2866578"/>
                <a:ext cx="742149" cy="444512"/>
              </a:xfrm>
              <a:prstGeom prst="rect">
                <a:avLst/>
              </a:prstGeom>
              <a:blipFill>
                <a:blip r:embed="rId5"/>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9DE665E4-6990-504C-86A1-9AE41B46A00B}"/>
              </a:ext>
            </a:extLst>
          </p:cNvPr>
          <p:cNvCxnSpPr>
            <a:cxnSpLocks/>
          </p:cNvCxnSpPr>
          <p:nvPr/>
        </p:nvCxnSpPr>
        <p:spPr>
          <a:xfrm flipV="1">
            <a:off x="2064246" y="2628537"/>
            <a:ext cx="0" cy="159542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0B2823F-3838-3D4B-A083-53DD831C3536}"/>
              </a:ext>
            </a:extLst>
          </p:cNvPr>
          <p:cNvSpPr/>
          <p:nvPr/>
        </p:nvSpPr>
        <p:spPr>
          <a:xfrm>
            <a:off x="1923111" y="2768006"/>
            <a:ext cx="287054" cy="174889"/>
          </a:xfrm>
          <a:prstGeom prst="ellipse">
            <a:avLst/>
          </a:prstGeom>
          <a:solidFill>
            <a:schemeClr val="accent5">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Oval 11">
            <a:extLst>
              <a:ext uri="{FF2B5EF4-FFF2-40B4-BE49-F238E27FC236}">
                <a16:creationId xmlns:a16="http://schemas.microsoft.com/office/drawing/2014/main" id="{7744AFB6-63BF-E945-A1FA-90B3D3D703AD}"/>
              </a:ext>
            </a:extLst>
          </p:cNvPr>
          <p:cNvSpPr/>
          <p:nvPr/>
        </p:nvSpPr>
        <p:spPr>
          <a:xfrm>
            <a:off x="1922379" y="5487351"/>
            <a:ext cx="287054" cy="174889"/>
          </a:xfrm>
          <a:prstGeom prst="ellipse">
            <a:avLst/>
          </a:prstGeom>
          <a:solidFill>
            <a:srgbClr val="FF0000">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3" name="Straight Arrow Connector 12">
            <a:extLst>
              <a:ext uri="{FF2B5EF4-FFF2-40B4-BE49-F238E27FC236}">
                <a16:creationId xmlns:a16="http://schemas.microsoft.com/office/drawing/2014/main" id="{29426CAB-532E-E44E-B02C-DD0CF033279D}"/>
              </a:ext>
            </a:extLst>
          </p:cNvPr>
          <p:cNvCxnSpPr>
            <a:cxnSpLocks/>
          </p:cNvCxnSpPr>
          <p:nvPr/>
        </p:nvCxnSpPr>
        <p:spPr>
          <a:xfrm flipV="1">
            <a:off x="2060994" y="4238680"/>
            <a:ext cx="0" cy="1318840"/>
          </a:xfrm>
          <a:prstGeom prst="straightConnector1">
            <a:avLst/>
          </a:prstGeom>
          <a:ln w="12700">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D9F8115-A5DB-0140-89C8-ECBD379E3482}"/>
                  </a:ext>
                </a:extLst>
              </p:cNvPr>
              <p:cNvSpPr/>
              <p:nvPr/>
            </p:nvSpPr>
            <p:spPr>
              <a:xfrm>
                <a:off x="2242287" y="2681415"/>
                <a:ext cx="608056" cy="4445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m:t>
                          </m:r>
                        </m:e>
                      </m:d>
                    </m:oMath>
                  </m:oMathPara>
                </a14:m>
                <a:endParaRPr lang="en-US" sz="2000" dirty="0"/>
              </a:p>
            </p:txBody>
          </p:sp>
        </mc:Choice>
        <mc:Fallback xmlns="">
          <p:sp>
            <p:nvSpPr>
              <p:cNvPr id="14" name="Rectangle 13">
                <a:extLst>
                  <a:ext uri="{FF2B5EF4-FFF2-40B4-BE49-F238E27FC236}">
                    <a16:creationId xmlns:a16="http://schemas.microsoft.com/office/drawing/2014/main" id="{3D9F8115-A5DB-0140-89C8-ECBD379E3482}"/>
                  </a:ext>
                </a:extLst>
              </p:cNvPr>
              <p:cNvSpPr>
                <a:spLocks noRot="1" noChangeAspect="1" noMove="1" noResize="1" noEditPoints="1" noAdjustHandles="1" noChangeArrowheads="1" noChangeShapeType="1" noTextEdit="1"/>
              </p:cNvSpPr>
              <p:nvPr/>
            </p:nvSpPr>
            <p:spPr>
              <a:xfrm>
                <a:off x="2242287" y="2681415"/>
                <a:ext cx="608056" cy="44451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0B2C6D7-6679-F442-8CCD-30A76D5FFE2C}"/>
                  </a:ext>
                </a:extLst>
              </p:cNvPr>
              <p:cNvSpPr/>
              <p:nvPr/>
            </p:nvSpPr>
            <p:spPr>
              <a:xfrm>
                <a:off x="2148970" y="5389777"/>
                <a:ext cx="608056" cy="4445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e>
                      </m:d>
                    </m:oMath>
                  </m:oMathPara>
                </a14:m>
                <a:endParaRPr lang="en-US" sz="2000" dirty="0"/>
              </a:p>
            </p:txBody>
          </p:sp>
        </mc:Choice>
        <mc:Fallback xmlns="">
          <p:sp>
            <p:nvSpPr>
              <p:cNvPr id="15" name="Rectangle 14">
                <a:extLst>
                  <a:ext uri="{FF2B5EF4-FFF2-40B4-BE49-F238E27FC236}">
                    <a16:creationId xmlns:a16="http://schemas.microsoft.com/office/drawing/2014/main" id="{00B2C6D7-6679-F442-8CCD-30A76D5FFE2C}"/>
                  </a:ext>
                </a:extLst>
              </p:cNvPr>
              <p:cNvSpPr>
                <a:spLocks noRot="1" noChangeAspect="1" noMove="1" noResize="1" noEditPoints="1" noAdjustHandles="1" noChangeArrowheads="1" noChangeShapeType="1" noTextEdit="1"/>
              </p:cNvSpPr>
              <p:nvPr/>
            </p:nvSpPr>
            <p:spPr>
              <a:xfrm>
                <a:off x="2148970" y="5389777"/>
                <a:ext cx="608056" cy="44451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1F451AD-20F4-EB4C-B8E3-EECE6852F997}"/>
                  </a:ext>
                </a:extLst>
              </p:cNvPr>
              <p:cNvSpPr/>
              <p:nvPr/>
            </p:nvSpPr>
            <p:spPr>
              <a:xfrm>
                <a:off x="1405832" y="3613059"/>
                <a:ext cx="2591673" cy="44451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𝑆</m:t>
                          </m:r>
                        </m:e>
                      </m:d>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𝑎</m:t>
                      </m:r>
                      <m:d>
                        <m:dPr>
                          <m:begChr m:val="|"/>
                          <m:endChr m:val="⟩"/>
                          <m:ctrlPr>
                            <a:rPr lang="en-US" sz="20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000" i="1">
                              <a:solidFill>
                                <a:schemeClr val="tx1">
                                  <a:lumMod val="65000"/>
                                  <a:lumOff val="35000"/>
                                </a:schemeClr>
                              </a:solidFill>
                              <a:latin typeface="Cambria Math" panose="02040503050406030204" pitchFamily="18" charset="0"/>
                              <a:ea typeface="Cambria Math" panose="02040503050406030204" pitchFamily="18" charset="0"/>
                            </a:rPr>
                            <m:t>0</m:t>
                          </m:r>
                        </m:e>
                      </m:d>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t>𝑏</m:t>
                      </m:r>
                      <m:d>
                        <m:dPr>
                          <m:begChr m:val="|"/>
                          <m:endChr m:val="⟩"/>
                          <m:ctrlPr>
                            <a:rPr lang="en-US" sz="20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1</m:t>
                          </m:r>
                        </m:e>
                      </m:d>
                    </m:oMath>
                  </m:oMathPara>
                </a14:m>
                <a:endParaRPr lang="en-US" sz="2000" dirty="0">
                  <a:solidFill>
                    <a:schemeClr val="tx1">
                      <a:lumMod val="65000"/>
                      <a:lumOff val="35000"/>
                    </a:schemeClr>
                  </a:solidFill>
                </a:endParaRPr>
              </a:p>
            </p:txBody>
          </p:sp>
        </mc:Choice>
        <mc:Fallback xmlns="">
          <p:sp>
            <p:nvSpPr>
              <p:cNvPr id="16" name="Rectangle 15">
                <a:extLst>
                  <a:ext uri="{FF2B5EF4-FFF2-40B4-BE49-F238E27FC236}">
                    <a16:creationId xmlns:a16="http://schemas.microsoft.com/office/drawing/2014/main" id="{51F451AD-20F4-EB4C-B8E3-EECE6852F997}"/>
                  </a:ext>
                </a:extLst>
              </p:cNvPr>
              <p:cNvSpPr>
                <a:spLocks noRot="1" noChangeAspect="1" noMove="1" noResize="1" noEditPoints="1" noAdjustHandles="1" noChangeArrowheads="1" noChangeShapeType="1" noTextEdit="1"/>
              </p:cNvSpPr>
              <p:nvPr/>
            </p:nvSpPr>
            <p:spPr>
              <a:xfrm>
                <a:off x="1405832" y="3613059"/>
                <a:ext cx="2591673" cy="444512"/>
              </a:xfrm>
              <a:prstGeom prst="rect">
                <a:avLst/>
              </a:prstGeom>
              <a:blipFill>
                <a:blip r:embed="rId8"/>
                <a:stretch>
                  <a:fillRect/>
                </a:stretch>
              </a:blipFill>
            </p:spPr>
            <p:txBody>
              <a:bodyPr/>
              <a:lstStyle/>
              <a:p>
                <a:r>
                  <a:rPr lang="en-US">
                    <a:noFill/>
                  </a:rPr>
                  <a:t> </a:t>
                </a:r>
              </a:p>
            </p:txBody>
          </p:sp>
        </mc:Fallback>
      </mc:AlternateContent>
      <p:sp>
        <p:nvSpPr>
          <p:cNvPr id="17" name="Freeform 16">
            <a:extLst>
              <a:ext uri="{FF2B5EF4-FFF2-40B4-BE49-F238E27FC236}">
                <a16:creationId xmlns:a16="http://schemas.microsoft.com/office/drawing/2014/main" id="{F5ADD185-2E05-F140-AC7B-1D84DEACB282}"/>
              </a:ext>
            </a:extLst>
          </p:cNvPr>
          <p:cNvSpPr/>
          <p:nvPr/>
        </p:nvSpPr>
        <p:spPr>
          <a:xfrm>
            <a:off x="2056202" y="1874520"/>
            <a:ext cx="2344472" cy="1864912"/>
          </a:xfrm>
          <a:custGeom>
            <a:avLst/>
            <a:gdLst>
              <a:gd name="connsiteX0" fmla="*/ 0 w 1938803"/>
              <a:gd name="connsiteY0" fmla="*/ 338452 h 1074097"/>
              <a:gd name="connsiteX1" fmla="*/ 570641 w 1938803"/>
              <a:gd name="connsiteY1" fmla="*/ 1567 h 1074097"/>
              <a:gd name="connsiteX2" fmla="*/ 1237534 w 1938803"/>
              <a:gd name="connsiteY2" fmla="*/ 235324 h 1074097"/>
              <a:gd name="connsiteX3" fmla="*/ 1753173 w 1938803"/>
              <a:gd name="connsiteY3" fmla="*/ 744088 h 1074097"/>
              <a:gd name="connsiteX4" fmla="*/ 1938803 w 1938803"/>
              <a:gd name="connsiteY4" fmla="*/ 1074097 h 1074097"/>
              <a:gd name="connsiteX0" fmla="*/ 0 w 1938803"/>
              <a:gd name="connsiteY0" fmla="*/ 339206 h 1074851"/>
              <a:gd name="connsiteX1" fmla="*/ 570641 w 1938803"/>
              <a:gd name="connsiteY1" fmla="*/ 2321 h 1074851"/>
              <a:gd name="connsiteX2" fmla="*/ 1045029 w 1938803"/>
              <a:gd name="connsiteY2" fmla="*/ 497336 h 1074851"/>
              <a:gd name="connsiteX3" fmla="*/ 1753173 w 1938803"/>
              <a:gd name="connsiteY3" fmla="*/ 744842 h 1074851"/>
              <a:gd name="connsiteX4" fmla="*/ 1938803 w 1938803"/>
              <a:gd name="connsiteY4" fmla="*/ 1074851 h 1074851"/>
              <a:gd name="connsiteX0" fmla="*/ 0 w 1938803"/>
              <a:gd name="connsiteY0" fmla="*/ 291698 h 1027343"/>
              <a:gd name="connsiteX1" fmla="*/ 907525 w 1938803"/>
              <a:gd name="connsiteY1" fmla="*/ 2940 h 1027343"/>
              <a:gd name="connsiteX2" fmla="*/ 1045029 w 1938803"/>
              <a:gd name="connsiteY2" fmla="*/ 449828 h 1027343"/>
              <a:gd name="connsiteX3" fmla="*/ 1753173 w 1938803"/>
              <a:gd name="connsiteY3" fmla="*/ 697334 h 1027343"/>
              <a:gd name="connsiteX4" fmla="*/ 1938803 w 1938803"/>
              <a:gd name="connsiteY4" fmla="*/ 1027343 h 1027343"/>
              <a:gd name="connsiteX0" fmla="*/ 0 w 2008968"/>
              <a:gd name="connsiteY0" fmla="*/ 291698 h 1027343"/>
              <a:gd name="connsiteX1" fmla="*/ 907525 w 2008968"/>
              <a:gd name="connsiteY1" fmla="*/ 2940 h 1027343"/>
              <a:gd name="connsiteX2" fmla="*/ 1045029 w 2008968"/>
              <a:gd name="connsiteY2" fmla="*/ 449828 h 1027343"/>
              <a:gd name="connsiteX3" fmla="*/ 1952553 w 2008968"/>
              <a:gd name="connsiteY3" fmla="*/ 594207 h 1027343"/>
              <a:gd name="connsiteX4" fmla="*/ 1938803 w 2008968"/>
              <a:gd name="connsiteY4" fmla="*/ 1027343 h 1027343"/>
              <a:gd name="connsiteX0" fmla="*/ 0 w 1938803"/>
              <a:gd name="connsiteY0" fmla="*/ 291698 h 1027343"/>
              <a:gd name="connsiteX1" fmla="*/ 907525 w 1938803"/>
              <a:gd name="connsiteY1" fmla="*/ 2940 h 1027343"/>
              <a:gd name="connsiteX2" fmla="*/ 1045029 w 1938803"/>
              <a:gd name="connsiteY2" fmla="*/ 449828 h 1027343"/>
              <a:gd name="connsiteX3" fmla="*/ 1842550 w 1938803"/>
              <a:gd name="connsiteY3" fmla="*/ 683585 h 1027343"/>
              <a:gd name="connsiteX4" fmla="*/ 1938803 w 1938803"/>
              <a:gd name="connsiteY4" fmla="*/ 1027343 h 1027343"/>
              <a:gd name="connsiteX0" fmla="*/ 0 w 1938803"/>
              <a:gd name="connsiteY0" fmla="*/ 297132 h 1032777"/>
              <a:gd name="connsiteX1" fmla="*/ 426262 w 1938803"/>
              <a:gd name="connsiteY1" fmla="*/ 173378 h 1032777"/>
              <a:gd name="connsiteX2" fmla="*/ 907525 w 1938803"/>
              <a:gd name="connsiteY2" fmla="*/ 8374 h 1032777"/>
              <a:gd name="connsiteX3" fmla="*/ 1045029 w 1938803"/>
              <a:gd name="connsiteY3" fmla="*/ 455262 h 1032777"/>
              <a:gd name="connsiteX4" fmla="*/ 1842550 w 1938803"/>
              <a:gd name="connsiteY4" fmla="*/ 689019 h 1032777"/>
              <a:gd name="connsiteX5" fmla="*/ 1938803 w 1938803"/>
              <a:gd name="connsiteY5" fmla="*/ 1032777 h 1032777"/>
              <a:gd name="connsiteX0" fmla="*/ 0 w 1938803"/>
              <a:gd name="connsiteY0" fmla="*/ 307374 h 1043019"/>
              <a:gd name="connsiteX1" fmla="*/ 426262 w 1938803"/>
              <a:gd name="connsiteY1" fmla="*/ 183620 h 1043019"/>
              <a:gd name="connsiteX2" fmla="*/ 907525 w 1938803"/>
              <a:gd name="connsiteY2" fmla="*/ 18616 h 1043019"/>
              <a:gd name="connsiteX3" fmla="*/ 1430040 w 1938803"/>
              <a:gd name="connsiteY3" fmla="*/ 80493 h 1043019"/>
              <a:gd name="connsiteX4" fmla="*/ 1842550 w 1938803"/>
              <a:gd name="connsiteY4" fmla="*/ 699261 h 1043019"/>
              <a:gd name="connsiteX5" fmla="*/ 1938803 w 1938803"/>
              <a:gd name="connsiteY5" fmla="*/ 1043019 h 1043019"/>
              <a:gd name="connsiteX0" fmla="*/ 0 w 1938803"/>
              <a:gd name="connsiteY0" fmla="*/ 298125 h 1033770"/>
              <a:gd name="connsiteX1" fmla="*/ 426262 w 1938803"/>
              <a:gd name="connsiteY1" fmla="*/ 174371 h 1033770"/>
              <a:gd name="connsiteX2" fmla="*/ 907525 w 1938803"/>
              <a:gd name="connsiteY2" fmla="*/ 9367 h 1033770"/>
              <a:gd name="connsiteX3" fmla="*/ 1271910 w 1938803"/>
              <a:gd name="connsiteY3" fmla="*/ 476880 h 1033770"/>
              <a:gd name="connsiteX4" fmla="*/ 1842550 w 1938803"/>
              <a:gd name="connsiteY4" fmla="*/ 690012 h 1033770"/>
              <a:gd name="connsiteX5" fmla="*/ 1938803 w 1938803"/>
              <a:gd name="connsiteY5" fmla="*/ 1033770 h 1033770"/>
              <a:gd name="connsiteX0" fmla="*/ 0 w 1938803"/>
              <a:gd name="connsiteY0" fmla="*/ 298125 h 1059170"/>
              <a:gd name="connsiteX1" fmla="*/ 426262 w 1938803"/>
              <a:gd name="connsiteY1" fmla="*/ 174371 h 1059170"/>
              <a:gd name="connsiteX2" fmla="*/ 907525 w 1938803"/>
              <a:gd name="connsiteY2" fmla="*/ 9367 h 1059170"/>
              <a:gd name="connsiteX3" fmla="*/ 1271910 w 1938803"/>
              <a:gd name="connsiteY3" fmla="*/ 476880 h 1059170"/>
              <a:gd name="connsiteX4" fmla="*/ 1842550 w 1938803"/>
              <a:gd name="connsiteY4" fmla="*/ 690012 h 1059170"/>
              <a:gd name="connsiteX5" fmla="*/ 1938803 w 1938803"/>
              <a:gd name="connsiteY5" fmla="*/ 1059170 h 1059170"/>
              <a:gd name="connsiteX0" fmla="*/ 0 w 1938803"/>
              <a:gd name="connsiteY0" fmla="*/ 298125 h 1059170"/>
              <a:gd name="connsiteX1" fmla="*/ 426262 w 1938803"/>
              <a:gd name="connsiteY1" fmla="*/ 174371 h 1059170"/>
              <a:gd name="connsiteX2" fmla="*/ 907525 w 1938803"/>
              <a:gd name="connsiteY2" fmla="*/ 9367 h 1059170"/>
              <a:gd name="connsiteX3" fmla="*/ 1271910 w 1938803"/>
              <a:gd name="connsiteY3" fmla="*/ 476880 h 1059170"/>
              <a:gd name="connsiteX4" fmla="*/ 1842550 w 1938803"/>
              <a:gd name="connsiteY4" fmla="*/ 690012 h 1059170"/>
              <a:gd name="connsiteX5" fmla="*/ 1938803 w 1938803"/>
              <a:gd name="connsiteY5" fmla="*/ 1059170 h 1059170"/>
              <a:gd name="connsiteX0" fmla="*/ 0 w 1957370"/>
              <a:gd name="connsiteY0" fmla="*/ 1483 h 1305598"/>
              <a:gd name="connsiteX1" fmla="*/ 444829 w 1957370"/>
              <a:gd name="connsiteY1" fmla="*/ 420799 h 1305598"/>
              <a:gd name="connsiteX2" fmla="*/ 926092 w 1957370"/>
              <a:gd name="connsiteY2" fmla="*/ 255795 h 1305598"/>
              <a:gd name="connsiteX3" fmla="*/ 1290477 w 1957370"/>
              <a:gd name="connsiteY3" fmla="*/ 723308 h 1305598"/>
              <a:gd name="connsiteX4" fmla="*/ 1861117 w 1957370"/>
              <a:gd name="connsiteY4" fmla="*/ 936440 h 1305598"/>
              <a:gd name="connsiteX5" fmla="*/ 1957370 w 1957370"/>
              <a:gd name="connsiteY5" fmla="*/ 1305598 h 1305598"/>
              <a:gd name="connsiteX0" fmla="*/ 0 w 1957370"/>
              <a:gd name="connsiteY0" fmla="*/ 9429 h 1313544"/>
              <a:gd name="connsiteX1" fmla="*/ 444829 w 1957370"/>
              <a:gd name="connsiteY1" fmla="*/ 428745 h 1313544"/>
              <a:gd name="connsiteX2" fmla="*/ 926092 w 1957370"/>
              <a:gd name="connsiteY2" fmla="*/ 263741 h 1313544"/>
              <a:gd name="connsiteX3" fmla="*/ 1290477 w 1957370"/>
              <a:gd name="connsiteY3" fmla="*/ 731254 h 1313544"/>
              <a:gd name="connsiteX4" fmla="*/ 1861117 w 1957370"/>
              <a:gd name="connsiteY4" fmla="*/ 944386 h 1313544"/>
              <a:gd name="connsiteX5" fmla="*/ 1957370 w 1957370"/>
              <a:gd name="connsiteY5" fmla="*/ 1313544 h 1313544"/>
              <a:gd name="connsiteX0" fmla="*/ 0 w 1957370"/>
              <a:gd name="connsiteY0" fmla="*/ 253163 h 1557278"/>
              <a:gd name="connsiteX1" fmla="*/ 129199 w 1957370"/>
              <a:gd name="connsiteY1" fmla="*/ 4085 h 1557278"/>
              <a:gd name="connsiteX2" fmla="*/ 926092 w 1957370"/>
              <a:gd name="connsiteY2" fmla="*/ 507475 h 1557278"/>
              <a:gd name="connsiteX3" fmla="*/ 1290477 w 1957370"/>
              <a:gd name="connsiteY3" fmla="*/ 974988 h 1557278"/>
              <a:gd name="connsiteX4" fmla="*/ 1861117 w 1957370"/>
              <a:gd name="connsiteY4" fmla="*/ 1188120 h 1557278"/>
              <a:gd name="connsiteX5" fmla="*/ 1957370 w 1957370"/>
              <a:gd name="connsiteY5" fmla="*/ 1557278 h 1557278"/>
              <a:gd name="connsiteX0" fmla="*/ 0 w 1957370"/>
              <a:gd name="connsiteY0" fmla="*/ 252876 h 1556991"/>
              <a:gd name="connsiteX1" fmla="*/ 129199 w 1957370"/>
              <a:gd name="connsiteY1" fmla="*/ 3798 h 1556991"/>
              <a:gd name="connsiteX2" fmla="*/ 707936 w 1957370"/>
              <a:gd name="connsiteY2" fmla="*/ 539679 h 1556991"/>
              <a:gd name="connsiteX3" fmla="*/ 1290477 w 1957370"/>
              <a:gd name="connsiteY3" fmla="*/ 974701 h 1556991"/>
              <a:gd name="connsiteX4" fmla="*/ 1861117 w 1957370"/>
              <a:gd name="connsiteY4" fmla="*/ 1187833 h 1556991"/>
              <a:gd name="connsiteX5" fmla="*/ 1957370 w 1957370"/>
              <a:gd name="connsiteY5" fmla="*/ 1556991 h 155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7370" h="1556991">
                <a:moveTo>
                  <a:pt x="0" y="252876"/>
                </a:moveTo>
                <a:cubicBezTo>
                  <a:pt x="9615" y="165093"/>
                  <a:pt x="-22055" y="51924"/>
                  <a:pt x="129199" y="3798"/>
                </a:cubicBezTo>
                <a:cubicBezTo>
                  <a:pt x="280453" y="-44328"/>
                  <a:pt x="514390" y="377862"/>
                  <a:pt x="707936" y="539679"/>
                </a:cubicBezTo>
                <a:cubicBezTo>
                  <a:pt x="901482" y="701496"/>
                  <a:pt x="1098280" y="866675"/>
                  <a:pt x="1290477" y="974701"/>
                </a:cubicBezTo>
                <a:cubicBezTo>
                  <a:pt x="1482674" y="1082727"/>
                  <a:pt x="1749968" y="1090785"/>
                  <a:pt x="1861117" y="1187833"/>
                </a:cubicBezTo>
                <a:cubicBezTo>
                  <a:pt x="1972266" y="1284881"/>
                  <a:pt x="1954744" y="1452359"/>
                  <a:pt x="1957370" y="1556991"/>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 name="Freeform 17">
            <a:extLst>
              <a:ext uri="{FF2B5EF4-FFF2-40B4-BE49-F238E27FC236}">
                <a16:creationId xmlns:a16="http://schemas.microsoft.com/office/drawing/2014/main" id="{CBB5FAE9-8D33-6A4C-8130-8C94A0F6792D}"/>
              </a:ext>
            </a:extLst>
          </p:cNvPr>
          <p:cNvSpPr/>
          <p:nvPr/>
        </p:nvSpPr>
        <p:spPr>
          <a:xfrm>
            <a:off x="2067532" y="3191125"/>
            <a:ext cx="3214306" cy="3214344"/>
          </a:xfrm>
          <a:custGeom>
            <a:avLst/>
            <a:gdLst>
              <a:gd name="connsiteX0" fmla="*/ 0 w 2709979"/>
              <a:gd name="connsiteY0" fmla="*/ 2352926 h 2813968"/>
              <a:gd name="connsiteX1" fmla="*/ 618767 w 2709979"/>
              <a:gd name="connsiteY1" fmla="*/ 2813563 h 2813968"/>
              <a:gd name="connsiteX2" fmla="*/ 1670670 w 2709979"/>
              <a:gd name="connsiteY2" fmla="*/ 2421678 h 2813968"/>
              <a:gd name="connsiteX3" fmla="*/ 2337564 w 2709979"/>
              <a:gd name="connsiteY3" fmla="*/ 1796036 h 2813968"/>
              <a:gd name="connsiteX4" fmla="*/ 2646947 w 2709979"/>
              <a:gd name="connsiteY4" fmla="*/ 922887 h 2813968"/>
              <a:gd name="connsiteX5" fmla="*/ 2660698 w 2709979"/>
              <a:gd name="connsiteY5" fmla="*/ 35987 h 2813968"/>
              <a:gd name="connsiteX6" fmla="*/ 2110683 w 2709979"/>
              <a:gd name="connsiteY6" fmla="*/ 228493 h 2813968"/>
              <a:gd name="connsiteX7" fmla="*/ 2282562 w 2709979"/>
              <a:gd name="connsiteY7" fmla="*/ 744132 h 2813968"/>
              <a:gd name="connsiteX0" fmla="*/ 0 w 2698222"/>
              <a:gd name="connsiteY0" fmla="*/ 2354251 h 2815293"/>
              <a:gd name="connsiteX1" fmla="*/ 618767 w 2698222"/>
              <a:gd name="connsiteY1" fmla="*/ 2814888 h 2815293"/>
              <a:gd name="connsiteX2" fmla="*/ 1670670 w 2698222"/>
              <a:gd name="connsiteY2" fmla="*/ 2423003 h 2815293"/>
              <a:gd name="connsiteX3" fmla="*/ 2337564 w 2698222"/>
              <a:gd name="connsiteY3" fmla="*/ 1797361 h 2815293"/>
              <a:gd name="connsiteX4" fmla="*/ 2646947 w 2698222"/>
              <a:gd name="connsiteY4" fmla="*/ 924212 h 2815293"/>
              <a:gd name="connsiteX5" fmla="*/ 2660698 w 2698222"/>
              <a:gd name="connsiteY5" fmla="*/ 37312 h 2815293"/>
              <a:gd name="connsiteX6" fmla="*/ 2275687 w 2698222"/>
              <a:gd name="connsiteY6" fmla="*/ 222943 h 2815293"/>
              <a:gd name="connsiteX7" fmla="*/ 2282562 w 2698222"/>
              <a:gd name="connsiteY7" fmla="*/ 745457 h 2815293"/>
              <a:gd name="connsiteX0" fmla="*/ 0 w 2826705"/>
              <a:gd name="connsiteY0" fmla="*/ 2161948 h 2622990"/>
              <a:gd name="connsiteX1" fmla="*/ 618767 w 2826705"/>
              <a:gd name="connsiteY1" fmla="*/ 2622585 h 2622990"/>
              <a:gd name="connsiteX2" fmla="*/ 1670670 w 2826705"/>
              <a:gd name="connsiteY2" fmla="*/ 2230700 h 2622990"/>
              <a:gd name="connsiteX3" fmla="*/ 2337564 w 2826705"/>
              <a:gd name="connsiteY3" fmla="*/ 1605058 h 2622990"/>
              <a:gd name="connsiteX4" fmla="*/ 2646947 w 2826705"/>
              <a:gd name="connsiteY4" fmla="*/ 731909 h 2622990"/>
              <a:gd name="connsiteX5" fmla="*/ 2811952 w 2826705"/>
              <a:gd name="connsiteY5" fmla="*/ 133767 h 2622990"/>
              <a:gd name="connsiteX6" fmla="*/ 2275687 w 2826705"/>
              <a:gd name="connsiteY6" fmla="*/ 30640 h 2622990"/>
              <a:gd name="connsiteX7" fmla="*/ 2282562 w 2826705"/>
              <a:gd name="connsiteY7" fmla="*/ 553154 h 2622990"/>
              <a:gd name="connsiteX0" fmla="*/ 0 w 2826705"/>
              <a:gd name="connsiteY0" fmla="*/ 2176362 h 2637404"/>
              <a:gd name="connsiteX1" fmla="*/ 618767 w 2826705"/>
              <a:gd name="connsiteY1" fmla="*/ 2636999 h 2637404"/>
              <a:gd name="connsiteX2" fmla="*/ 1670670 w 2826705"/>
              <a:gd name="connsiteY2" fmla="*/ 2245114 h 2637404"/>
              <a:gd name="connsiteX3" fmla="*/ 2337564 w 2826705"/>
              <a:gd name="connsiteY3" fmla="*/ 1619472 h 2637404"/>
              <a:gd name="connsiteX4" fmla="*/ 2646947 w 2826705"/>
              <a:gd name="connsiteY4" fmla="*/ 1110708 h 2637404"/>
              <a:gd name="connsiteX5" fmla="*/ 2811952 w 2826705"/>
              <a:gd name="connsiteY5" fmla="*/ 148181 h 2637404"/>
              <a:gd name="connsiteX6" fmla="*/ 2275687 w 2826705"/>
              <a:gd name="connsiteY6" fmla="*/ 45054 h 2637404"/>
              <a:gd name="connsiteX7" fmla="*/ 2282562 w 2826705"/>
              <a:gd name="connsiteY7" fmla="*/ 567568 h 2637404"/>
              <a:gd name="connsiteX0" fmla="*/ 0 w 2826705"/>
              <a:gd name="connsiteY0" fmla="*/ 2176362 h 2651854"/>
              <a:gd name="connsiteX1" fmla="*/ 618767 w 2826705"/>
              <a:gd name="connsiteY1" fmla="*/ 2636999 h 2651854"/>
              <a:gd name="connsiteX2" fmla="*/ 1636487 w 2826705"/>
              <a:gd name="connsiteY2" fmla="*/ 1646908 h 2651854"/>
              <a:gd name="connsiteX3" fmla="*/ 2337564 w 2826705"/>
              <a:gd name="connsiteY3" fmla="*/ 1619472 h 2651854"/>
              <a:gd name="connsiteX4" fmla="*/ 2646947 w 2826705"/>
              <a:gd name="connsiteY4" fmla="*/ 1110708 h 2651854"/>
              <a:gd name="connsiteX5" fmla="*/ 2811952 w 2826705"/>
              <a:gd name="connsiteY5" fmla="*/ 148181 h 2651854"/>
              <a:gd name="connsiteX6" fmla="*/ 2275687 w 2826705"/>
              <a:gd name="connsiteY6" fmla="*/ 45054 h 2651854"/>
              <a:gd name="connsiteX7" fmla="*/ 2282562 w 2826705"/>
              <a:gd name="connsiteY7" fmla="*/ 567568 h 2651854"/>
              <a:gd name="connsiteX0" fmla="*/ 0 w 2826705"/>
              <a:gd name="connsiteY0" fmla="*/ 2158833 h 2634325"/>
              <a:gd name="connsiteX1" fmla="*/ 618767 w 2826705"/>
              <a:gd name="connsiteY1" fmla="*/ 2619470 h 2634325"/>
              <a:gd name="connsiteX2" fmla="*/ 1636487 w 2826705"/>
              <a:gd name="connsiteY2" fmla="*/ 1629379 h 2634325"/>
              <a:gd name="connsiteX3" fmla="*/ 2337564 w 2826705"/>
              <a:gd name="connsiteY3" fmla="*/ 1601943 h 2634325"/>
              <a:gd name="connsiteX4" fmla="*/ 2646947 w 2826705"/>
              <a:gd name="connsiteY4" fmla="*/ 1093179 h 2634325"/>
              <a:gd name="connsiteX5" fmla="*/ 2811952 w 2826705"/>
              <a:gd name="connsiteY5" fmla="*/ 130652 h 2634325"/>
              <a:gd name="connsiteX6" fmla="*/ 2275687 w 2826705"/>
              <a:gd name="connsiteY6" fmla="*/ 27525 h 2634325"/>
              <a:gd name="connsiteX7" fmla="*/ 2275878 w 2826705"/>
              <a:gd name="connsiteY7" fmla="*/ 304776 h 2634325"/>
              <a:gd name="connsiteX8" fmla="*/ 2282562 w 2826705"/>
              <a:gd name="connsiteY8" fmla="*/ 550039 h 2634325"/>
              <a:gd name="connsiteX0" fmla="*/ 0 w 2817685"/>
              <a:gd name="connsiteY0" fmla="*/ 2277237 h 2752729"/>
              <a:gd name="connsiteX1" fmla="*/ 618767 w 2817685"/>
              <a:gd name="connsiteY1" fmla="*/ 2737874 h 2752729"/>
              <a:gd name="connsiteX2" fmla="*/ 1636487 w 2817685"/>
              <a:gd name="connsiteY2" fmla="*/ 1747783 h 2752729"/>
              <a:gd name="connsiteX3" fmla="*/ 2337564 w 2817685"/>
              <a:gd name="connsiteY3" fmla="*/ 1720347 h 2752729"/>
              <a:gd name="connsiteX4" fmla="*/ 2646947 w 2817685"/>
              <a:gd name="connsiteY4" fmla="*/ 1211583 h 2752729"/>
              <a:gd name="connsiteX5" fmla="*/ 2811952 w 2817685"/>
              <a:gd name="connsiteY5" fmla="*/ 249056 h 2752729"/>
              <a:gd name="connsiteX6" fmla="*/ 2447137 w 2817685"/>
              <a:gd name="connsiteY6" fmla="*/ 6229 h 2752729"/>
              <a:gd name="connsiteX7" fmla="*/ 2275878 w 2817685"/>
              <a:gd name="connsiteY7" fmla="*/ 423180 h 2752729"/>
              <a:gd name="connsiteX8" fmla="*/ 2282562 w 2817685"/>
              <a:gd name="connsiteY8" fmla="*/ 668443 h 2752729"/>
              <a:gd name="connsiteX0" fmla="*/ 0 w 2817685"/>
              <a:gd name="connsiteY0" fmla="*/ 2307274 h 2782766"/>
              <a:gd name="connsiteX1" fmla="*/ 618767 w 2817685"/>
              <a:gd name="connsiteY1" fmla="*/ 2767911 h 2782766"/>
              <a:gd name="connsiteX2" fmla="*/ 1636487 w 2817685"/>
              <a:gd name="connsiteY2" fmla="*/ 1777820 h 2782766"/>
              <a:gd name="connsiteX3" fmla="*/ 2337564 w 2817685"/>
              <a:gd name="connsiteY3" fmla="*/ 1750384 h 2782766"/>
              <a:gd name="connsiteX4" fmla="*/ 2646947 w 2817685"/>
              <a:gd name="connsiteY4" fmla="*/ 1241620 h 2782766"/>
              <a:gd name="connsiteX5" fmla="*/ 2811952 w 2817685"/>
              <a:gd name="connsiteY5" fmla="*/ 279093 h 2782766"/>
              <a:gd name="connsiteX6" fmla="*/ 2447137 w 2817685"/>
              <a:gd name="connsiteY6" fmla="*/ 36266 h 2782766"/>
              <a:gd name="connsiteX7" fmla="*/ 2275878 w 2817685"/>
              <a:gd name="connsiteY7" fmla="*/ 453217 h 2782766"/>
              <a:gd name="connsiteX8" fmla="*/ 2282562 w 2817685"/>
              <a:gd name="connsiteY8" fmla="*/ 698480 h 278276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70500 h 275478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89550 h 275478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89550 h 2754786"/>
              <a:gd name="connsiteX0" fmla="*/ 0 w 2813043"/>
              <a:gd name="connsiteY0" fmla="*/ 2794514 h 2922489"/>
              <a:gd name="connsiteX1" fmla="*/ 614125 w 2813043"/>
              <a:gd name="connsiteY1" fmla="*/ 2739931 h 2922489"/>
              <a:gd name="connsiteX2" fmla="*/ 1631845 w 2813043"/>
              <a:gd name="connsiteY2" fmla="*/ 1749840 h 2922489"/>
              <a:gd name="connsiteX3" fmla="*/ 2332922 w 2813043"/>
              <a:gd name="connsiteY3" fmla="*/ 1722404 h 2922489"/>
              <a:gd name="connsiteX4" fmla="*/ 2642305 w 2813043"/>
              <a:gd name="connsiteY4" fmla="*/ 1213640 h 2922489"/>
              <a:gd name="connsiteX5" fmla="*/ 2807310 w 2813043"/>
              <a:gd name="connsiteY5" fmla="*/ 251113 h 2922489"/>
              <a:gd name="connsiteX6" fmla="*/ 2442495 w 2813043"/>
              <a:gd name="connsiteY6" fmla="*/ 8286 h 2922489"/>
              <a:gd name="connsiteX7" fmla="*/ 2271236 w 2813043"/>
              <a:gd name="connsiteY7" fmla="*/ 425237 h 2922489"/>
              <a:gd name="connsiteX8" fmla="*/ 2277920 w 2813043"/>
              <a:gd name="connsiteY8" fmla="*/ 689550 h 2922489"/>
              <a:gd name="connsiteX0" fmla="*/ 0 w 2819103"/>
              <a:gd name="connsiteY0" fmla="*/ 2705733 h 2833708"/>
              <a:gd name="connsiteX1" fmla="*/ 614125 w 2819103"/>
              <a:gd name="connsiteY1" fmla="*/ 2651150 h 2833708"/>
              <a:gd name="connsiteX2" fmla="*/ 1631845 w 2819103"/>
              <a:gd name="connsiteY2" fmla="*/ 1661059 h 2833708"/>
              <a:gd name="connsiteX3" fmla="*/ 2332922 w 2819103"/>
              <a:gd name="connsiteY3" fmla="*/ 1633623 h 2833708"/>
              <a:gd name="connsiteX4" fmla="*/ 2642305 w 2819103"/>
              <a:gd name="connsiteY4" fmla="*/ 1124859 h 2833708"/>
              <a:gd name="connsiteX5" fmla="*/ 2807310 w 2819103"/>
              <a:gd name="connsiteY5" fmla="*/ 162332 h 2833708"/>
              <a:gd name="connsiteX6" fmla="*/ 2323498 w 2819103"/>
              <a:gd name="connsiteY6" fmla="*/ 19713 h 2833708"/>
              <a:gd name="connsiteX7" fmla="*/ 2271236 w 2819103"/>
              <a:gd name="connsiteY7" fmla="*/ 336456 h 2833708"/>
              <a:gd name="connsiteX8" fmla="*/ 2277920 w 2819103"/>
              <a:gd name="connsiteY8" fmla="*/ 600769 h 2833708"/>
              <a:gd name="connsiteX0" fmla="*/ 0 w 2663146"/>
              <a:gd name="connsiteY0" fmla="*/ 2688968 h 2816943"/>
              <a:gd name="connsiteX1" fmla="*/ 614125 w 2663146"/>
              <a:gd name="connsiteY1" fmla="*/ 2634385 h 2816943"/>
              <a:gd name="connsiteX2" fmla="*/ 1631845 w 2663146"/>
              <a:gd name="connsiteY2" fmla="*/ 1644294 h 2816943"/>
              <a:gd name="connsiteX3" fmla="*/ 2332922 w 2663146"/>
              <a:gd name="connsiteY3" fmla="*/ 1616858 h 2816943"/>
              <a:gd name="connsiteX4" fmla="*/ 2642305 w 2663146"/>
              <a:gd name="connsiteY4" fmla="*/ 1108094 h 2816943"/>
              <a:gd name="connsiteX5" fmla="*/ 2600630 w 2663146"/>
              <a:gd name="connsiteY5" fmla="*/ 220723 h 2816943"/>
              <a:gd name="connsiteX6" fmla="*/ 2323498 w 2663146"/>
              <a:gd name="connsiteY6" fmla="*/ 2948 h 2816943"/>
              <a:gd name="connsiteX7" fmla="*/ 2271236 w 2663146"/>
              <a:gd name="connsiteY7" fmla="*/ 319691 h 2816943"/>
              <a:gd name="connsiteX8" fmla="*/ 2277920 w 2663146"/>
              <a:gd name="connsiteY8" fmla="*/ 584004 h 2816943"/>
              <a:gd name="connsiteX0" fmla="*/ 0 w 2607916"/>
              <a:gd name="connsiteY0" fmla="*/ 2689486 h 2817461"/>
              <a:gd name="connsiteX1" fmla="*/ 614125 w 2607916"/>
              <a:gd name="connsiteY1" fmla="*/ 2634903 h 2817461"/>
              <a:gd name="connsiteX2" fmla="*/ 1631845 w 2607916"/>
              <a:gd name="connsiteY2" fmla="*/ 1644812 h 2817461"/>
              <a:gd name="connsiteX3" fmla="*/ 2332922 w 2607916"/>
              <a:gd name="connsiteY3" fmla="*/ 1617376 h 2817461"/>
              <a:gd name="connsiteX4" fmla="*/ 2510781 w 2607916"/>
              <a:gd name="connsiteY4" fmla="*/ 1183768 h 2817461"/>
              <a:gd name="connsiteX5" fmla="*/ 2600630 w 2607916"/>
              <a:gd name="connsiteY5" fmla="*/ 221241 h 2817461"/>
              <a:gd name="connsiteX6" fmla="*/ 2323498 w 2607916"/>
              <a:gd name="connsiteY6" fmla="*/ 3466 h 2817461"/>
              <a:gd name="connsiteX7" fmla="*/ 2271236 w 2607916"/>
              <a:gd name="connsiteY7" fmla="*/ 320209 h 2817461"/>
              <a:gd name="connsiteX8" fmla="*/ 2277920 w 2607916"/>
              <a:gd name="connsiteY8" fmla="*/ 584522 h 2817461"/>
              <a:gd name="connsiteX0" fmla="*/ 0 w 2610997"/>
              <a:gd name="connsiteY0" fmla="*/ 2522290 h 2650265"/>
              <a:gd name="connsiteX1" fmla="*/ 614125 w 2610997"/>
              <a:gd name="connsiteY1" fmla="*/ 2467707 h 2650265"/>
              <a:gd name="connsiteX2" fmla="*/ 1631845 w 2610997"/>
              <a:gd name="connsiteY2" fmla="*/ 1477616 h 2650265"/>
              <a:gd name="connsiteX3" fmla="*/ 2332922 w 2610997"/>
              <a:gd name="connsiteY3" fmla="*/ 1450180 h 2650265"/>
              <a:gd name="connsiteX4" fmla="*/ 2510781 w 2610997"/>
              <a:gd name="connsiteY4" fmla="*/ 1016572 h 2650265"/>
              <a:gd name="connsiteX5" fmla="*/ 2600630 w 2610997"/>
              <a:gd name="connsiteY5" fmla="*/ 54045 h 2650265"/>
              <a:gd name="connsiteX6" fmla="*/ 2271236 w 2610997"/>
              <a:gd name="connsiteY6" fmla="*/ 153013 h 2650265"/>
              <a:gd name="connsiteX7" fmla="*/ 2277920 w 2610997"/>
              <a:gd name="connsiteY7" fmla="*/ 417326 h 2650265"/>
              <a:gd name="connsiteX0" fmla="*/ 0 w 2610997"/>
              <a:gd name="connsiteY0" fmla="*/ 2570055 h 2698030"/>
              <a:gd name="connsiteX1" fmla="*/ 614125 w 2610997"/>
              <a:gd name="connsiteY1" fmla="*/ 2515472 h 2698030"/>
              <a:gd name="connsiteX2" fmla="*/ 1631845 w 2610997"/>
              <a:gd name="connsiteY2" fmla="*/ 1525381 h 2698030"/>
              <a:gd name="connsiteX3" fmla="*/ 2332922 w 2610997"/>
              <a:gd name="connsiteY3" fmla="*/ 1497945 h 2698030"/>
              <a:gd name="connsiteX4" fmla="*/ 2510781 w 2610997"/>
              <a:gd name="connsiteY4" fmla="*/ 1064337 h 2698030"/>
              <a:gd name="connsiteX5" fmla="*/ 2600630 w 2610997"/>
              <a:gd name="connsiteY5" fmla="*/ 101810 h 2698030"/>
              <a:gd name="connsiteX6" fmla="*/ 2271236 w 2610997"/>
              <a:gd name="connsiteY6" fmla="*/ 200778 h 2698030"/>
              <a:gd name="connsiteX7" fmla="*/ 2277920 w 2610997"/>
              <a:gd name="connsiteY7" fmla="*/ 465091 h 2698030"/>
              <a:gd name="connsiteX0" fmla="*/ 0 w 2610997"/>
              <a:gd name="connsiteY0" fmla="*/ 2570055 h 2665955"/>
              <a:gd name="connsiteX1" fmla="*/ 614125 w 2610997"/>
              <a:gd name="connsiteY1" fmla="*/ 2403046 h 2665955"/>
              <a:gd name="connsiteX2" fmla="*/ 1631845 w 2610997"/>
              <a:gd name="connsiteY2" fmla="*/ 1525381 h 2665955"/>
              <a:gd name="connsiteX3" fmla="*/ 2332922 w 2610997"/>
              <a:gd name="connsiteY3" fmla="*/ 1497945 h 2665955"/>
              <a:gd name="connsiteX4" fmla="*/ 2510781 w 2610997"/>
              <a:gd name="connsiteY4" fmla="*/ 1064337 h 2665955"/>
              <a:gd name="connsiteX5" fmla="*/ 2600630 w 2610997"/>
              <a:gd name="connsiteY5" fmla="*/ 101810 h 2665955"/>
              <a:gd name="connsiteX6" fmla="*/ 2271236 w 2610997"/>
              <a:gd name="connsiteY6" fmla="*/ 200778 h 2665955"/>
              <a:gd name="connsiteX7" fmla="*/ 2277920 w 2610997"/>
              <a:gd name="connsiteY7" fmla="*/ 465091 h 2665955"/>
              <a:gd name="connsiteX0" fmla="*/ 0 w 2610997"/>
              <a:gd name="connsiteY0" fmla="*/ 2570055 h 2682128"/>
              <a:gd name="connsiteX1" fmla="*/ 614125 w 2610997"/>
              <a:gd name="connsiteY1" fmla="*/ 2403046 h 2682128"/>
              <a:gd name="connsiteX2" fmla="*/ 1631845 w 2610997"/>
              <a:gd name="connsiteY2" fmla="*/ 1525381 h 2682128"/>
              <a:gd name="connsiteX3" fmla="*/ 2332922 w 2610997"/>
              <a:gd name="connsiteY3" fmla="*/ 1497945 h 2682128"/>
              <a:gd name="connsiteX4" fmla="*/ 2510781 w 2610997"/>
              <a:gd name="connsiteY4" fmla="*/ 1064337 h 2682128"/>
              <a:gd name="connsiteX5" fmla="*/ 2600630 w 2610997"/>
              <a:gd name="connsiteY5" fmla="*/ 101810 h 2682128"/>
              <a:gd name="connsiteX6" fmla="*/ 2271236 w 2610997"/>
              <a:gd name="connsiteY6" fmla="*/ 200778 h 2682128"/>
              <a:gd name="connsiteX7" fmla="*/ 2277920 w 2610997"/>
              <a:gd name="connsiteY7" fmla="*/ 465091 h 2682128"/>
              <a:gd name="connsiteX0" fmla="*/ 0 w 2610997"/>
              <a:gd name="connsiteY0" fmla="*/ 2570055 h 2650341"/>
              <a:gd name="connsiteX1" fmla="*/ 614125 w 2610997"/>
              <a:gd name="connsiteY1" fmla="*/ 2403046 h 2650341"/>
              <a:gd name="connsiteX2" fmla="*/ 1222485 w 2610997"/>
              <a:gd name="connsiteY2" fmla="*/ 2076256 h 2650341"/>
              <a:gd name="connsiteX3" fmla="*/ 1631845 w 2610997"/>
              <a:gd name="connsiteY3" fmla="*/ 1525381 h 2650341"/>
              <a:gd name="connsiteX4" fmla="*/ 2332922 w 2610997"/>
              <a:gd name="connsiteY4" fmla="*/ 1497945 h 2650341"/>
              <a:gd name="connsiteX5" fmla="*/ 2510781 w 2610997"/>
              <a:gd name="connsiteY5" fmla="*/ 1064337 h 2650341"/>
              <a:gd name="connsiteX6" fmla="*/ 2600630 w 2610997"/>
              <a:gd name="connsiteY6" fmla="*/ 101810 h 2650341"/>
              <a:gd name="connsiteX7" fmla="*/ 2271236 w 2610997"/>
              <a:gd name="connsiteY7" fmla="*/ 200778 h 2650341"/>
              <a:gd name="connsiteX8" fmla="*/ 2277920 w 2610997"/>
              <a:gd name="connsiteY8" fmla="*/ 465091 h 2650341"/>
              <a:gd name="connsiteX0" fmla="*/ 0 w 2610997"/>
              <a:gd name="connsiteY0" fmla="*/ 2570055 h 2647998"/>
              <a:gd name="connsiteX1" fmla="*/ 614125 w 2610997"/>
              <a:gd name="connsiteY1" fmla="*/ 2403046 h 2647998"/>
              <a:gd name="connsiteX2" fmla="*/ 1289941 w 2610997"/>
              <a:gd name="connsiteY2" fmla="*/ 2173692 h 2647998"/>
              <a:gd name="connsiteX3" fmla="*/ 1631845 w 2610997"/>
              <a:gd name="connsiteY3" fmla="*/ 1525381 h 2647998"/>
              <a:gd name="connsiteX4" fmla="*/ 2332922 w 2610997"/>
              <a:gd name="connsiteY4" fmla="*/ 1497945 h 2647998"/>
              <a:gd name="connsiteX5" fmla="*/ 2510781 w 2610997"/>
              <a:gd name="connsiteY5" fmla="*/ 1064337 h 2647998"/>
              <a:gd name="connsiteX6" fmla="*/ 2600630 w 2610997"/>
              <a:gd name="connsiteY6" fmla="*/ 101810 h 2647998"/>
              <a:gd name="connsiteX7" fmla="*/ 2271236 w 2610997"/>
              <a:gd name="connsiteY7" fmla="*/ 200778 h 2647998"/>
              <a:gd name="connsiteX8" fmla="*/ 2277920 w 2610997"/>
              <a:gd name="connsiteY8" fmla="*/ 465091 h 2647998"/>
              <a:gd name="connsiteX0" fmla="*/ 0 w 2610997"/>
              <a:gd name="connsiteY0" fmla="*/ 2611330 h 2684142"/>
              <a:gd name="connsiteX1" fmla="*/ 614125 w 2610997"/>
              <a:gd name="connsiteY1" fmla="*/ 2403046 h 2684142"/>
              <a:gd name="connsiteX2" fmla="*/ 1289941 w 2610997"/>
              <a:gd name="connsiteY2" fmla="*/ 2173692 h 2684142"/>
              <a:gd name="connsiteX3" fmla="*/ 1631845 w 2610997"/>
              <a:gd name="connsiteY3" fmla="*/ 1525381 h 2684142"/>
              <a:gd name="connsiteX4" fmla="*/ 2332922 w 2610997"/>
              <a:gd name="connsiteY4" fmla="*/ 1497945 h 2684142"/>
              <a:gd name="connsiteX5" fmla="*/ 2510781 w 2610997"/>
              <a:gd name="connsiteY5" fmla="*/ 1064337 h 2684142"/>
              <a:gd name="connsiteX6" fmla="*/ 2600630 w 2610997"/>
              <a:gd name="connsiteY6" fmla="*/ 101810 h 2684142"/>
              <a:gd name="connsiteX7" fmla="*/ 2271236 w 2610997"/>
              <a:gd name="connsiteY7" fmla="*/ 200778 h 2684142"/>
              <a:gd name="connsiteX8" fmla="*/ 2277920 w 2610997"/>
              <a:gd name="connsiteY8" fmla="*/ 465091 h 2684142"/>
              <a:gd name="connsiteX0" fmla="*/ 0 w 2610997"/>
              <a:gd name="connsiteY0" fmla="*/ 2611330 h 2697282"/>
              <a:gd name="connsiteX1" fmla="*/ 614125 w 2610997"/>
              <a:gd name="connsiteY1" fmla="*/ 2403046 h 2697282"/>
              <a:gd name="connsiteX2" fmla="*/ 1289941 w 2610997"/>
              <a:gd name="connsiteY2" fmla="*/ 2173692 h 2697282"/>
              <a:gd name="connsiteX3" fmla="*/ 1631845 w 2610997"/>
              <a:gd name="connsiteY3" fmla="*/ 1525381 h 2697282"/>
              <a:gd name="connsiteX4" fmla="*/ 2332922 w 2610997"/>
              <a:gd name="connsiteY4" fmla="*/ 1497945 h 2697282"/>
              <a:gd name="connsiteX5" fmla="*/ 2510781 w 2610997"/>
              <a:gd name="connsiteY5" fmla="*/ 1064337 h 2697282"/>
              <a:gd name="connsiteX6" fmla="*/ 2600630 w 2610997"/>
              <a:gd name="connsiteY6" fmla="*/ 101810 h 2697282"/>
              <a:gd name="connsiteX7" fmla="*/ 2271236 w 2610997"/>
              <a:gd name="connsiteY7" fmla="*/ 200778 h 2697282"/>
              <a:gd name="connsiteX8" fmla="*/ 2277920 w 2610997"/>
              <a:gd name="connsiteY8" fmla="*/ 465091 h 2697282"/>
              <a:gd name="connsiteX0" fmla="*/ 0 w 2683583"/>
              <a:gd name="connsiteY0" fmla="*/ 2597663 h 2683615"/>
              <a:gd name="connsiteX1" fmla="*/ 614125 w 2683583"/>
              <a:gd name="connsiteY1" fmla="*/ 2389379 h 2683615"/>
              <a:gd name="connsiteX2" fmla="*/ 1289941 w 2683583"/>
              <a:gd name="connsiteY2" fmla="*/ 2160025 h 2683615"/>
              <a:gd name="connsiteX3" fmla="*/ 1631845 w 2683583"/>
              <a:gd name="connsiteY3" fmla="*/ 1511714 h 2683615"/>
              <a:gd name="connsiteX4" fmla="*/ 2332922 w 2683583"/>
              <a:gd name="connsiteY4" fmla="*/ 1484278 h 2683615"/>
              <a:gd name="connsiteX5" fmla="*/ 2665422 w 2683583"/>
              <a:gd name="connsiteY5" fmla="*/ 848964 h 2683615"/>
              <a:gd name="connsiteX6" fmla="*/ 2600630 w 2683583"/>
              <a:gd name="connsiteY6" fmla="*/ 88143 h 2683615"/>
              <a:gd name="connsiteX7" fmla="*/ 2271236 w 2683583"/>
              <a:gd name="connsiteY7" fmla="*/ 187111 h 2683615"/>
              <a:gd name="connsiteX8" fmla="*/ 2277920 w 2683583"/>
              <a:gd name="connsiteY8" fmla="*/ 451424 h 2683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83583" h="2683615">
                <a:moveTo>
                  <a:pt x="0" y="2597663"/>
                </a:moveTo>
                <a:cubicBezTo>
                  <a:pt x="17761" y="2854002"/>
                  <a:pt x="399135" y="2462319"/>
                  <a:pt x="614125" y="2389379"/>
                </a:cubicBezTo>
                <a:cubicBezTo>
                  <a:pt x="829115" y="2316439"/>
                  <a:pt x="1120321" y="2306303"/>
                  <a:pt x="1289941" y="2160025"/>
                </a:cubicBezTo>
                <a:cubicBezTo>
                  <a:pt x="1459561" y="2013748"/>
                  <a:pt x="1458015" y="1624339"/>
                  <a:pt x="1631845" y="1511714"/>
                </a:cubicBezTo>
                <a:cubicBezTo>
                  <a:pt x="1805675" y="1399090"/>
                  <a:pt x="2160659" y="1594736"/>
                  <a:pt x="2332922" y="1484278"/>
                </a:cubicBezTo>
                <a:cubicBezTo>
                  <a:pt x="2505185" y="1373820"/>
                  <a:pt x="2620804" y="1081653"/>
                  <a:pt x="2665422" y="848964"/>
                </a:cubicBezTo>
                <a:cubicBezTo>
                  <a:pt x="2710040" y="616275"/>
                  <a:pt x="2666328" y="198452"/>
                  <a:pt x="2600630" y="88143"/>
                </a:cubicBezTo>
                <a:cubicBezTo>
                  <a:pt x="2534932" y="-22166"/>
                  <a:pt x="2362599" y="-67589"/>
                  <a:pt x="2271236" y="187111"/>
                </a:cubicBezTo>
                <a:cubicBezTo>
                  <a:pt x="2272382" y="274197"/>
                  <a:pt x="2274160" y="383030"/>
                  <a:pt x="2277920" y="451424"/>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19" name="Group 18">
            <a:extLst>
              <a:ext uri="{FF2B5EF4-FFF2-40B4-BE49-F238E27FC236}">
                <a16:creationId xmlns:a16="http://schemas.microsoft.com/office/drawing/2014/main" id="{7CD3FB41-0736-D942-8126-DF3B64C76F49}"/>
              </a:ext>
            </a:extLst>
          </p:cNvPr>
          <p:cNvGrpSpPr>
            <a:grpSpLocks noChangeAspect="1"/>
          </p:cNvGrpSpPr>
          <p:nvPr/>
        </p:nvGrpSpPr>
        <p:grpSpPr>
          <a:xfrm>
            <a:off x="4242538" y="3713217"/>
            <a:ext cx="672990" cy="715840"/>
            <a:chOff x="4092112" y="1631940"/>
            <a:chExt cx="872105" cy="927632"/>
          </a:xfrm>
        </p:grpSpPr>
        <p:sp>
          <p:nvSpPr>
            <p:cNvPr id="20" name="Rectangle 19">
              <a:extLst>
                <a:ext uri="{FF2B5EF4-FFF2-40B4-BE49-F238E27FC236}">
                  <a16:creationId xmlns:a16="http://schemas.microsoft.com/office/drawing/2014/main" id="{9ED057C9-A73E-FC4F-A624-87DC72046B21}"/>
                </a:ext>
              </a:extLst>
            </p:cNvPr>
            <p:cNvSpPr/>
            <p:nvPr/>
          </p:nvSpPr>
          <p:spPr>
            <a:xfrm>
              <a:off x="4737459" y="1631940"/>
              <a:ext cx="155562" cy="5687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Rectangle 20">
              <a:extLst>
                <a:ext uri="{FF2B5EF4-FFF2-40B4-BE49-F238E27FC236}">
                  <a16:creationId xmlns:a16="http://schemas.microsoft.com/office/drawing/2014/main" id="{98024E8E-9858-5C40-980B-F8EA07E025B8}"/>
                </a:ext>
              </a:extLst>
            </p:cNvPr>
            <p:cNvSpPr/>
            <p:nvPr/>
          </p:nvSpPr>
          <p:spPr>
            <a:xfrm>
              <a:off x="4202094" y="1641003"/>
              <a:ext cx="155562" cy="5687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22" name="Picture 21">
              <a:extLst>
                <a:ext uri="{FF2B5EF4-FFF2-40B4-BE49-F238E27FC236}">
                  <a16:creationId xmlns:a16="http://schemas.microsoft.com/office/drawing/2014/main" id="{3C86BE17-950B-A048-93D3-6BAA8E0C066C}"/>
                </a:ext>
              </a:extLst>
            </p:cNvPr>
            <p:cNvPicPr>
              <a:picLocks noChangeAspect="1"/>
            </p:cNvPicPr>
            <p:nvPr/>
          </p:nvPicPr>
          <p:blipFill>
            <a:blip r:embed="rId9"/>
            <a:stretch>
              <a:fillRect/>
            </a:stretch>
          </p:blipFill>
          <p:spPr>
            <a:xfrm>
              <a:off x="4092112" y="1679749"/>
              <a:ext cx="872105" cy="879823"/>
            </a:xfrm>
            <a:prstGeom prst="rect">
              <a:avLst/>
            </a:prstGeom>
          </p:spPr>
        </p:pic>
      </p:grpSp>
      <p:cxnSp>
        <p:nvCxnSpPr>
          <p:cNvPr id="23" name="Straight Arrow Connector 22">
            <a:extLst>
              <a:ext uri="{FF2B5EF4-FFF2-40B4-BE49-F238E27FC236}">
                <a16:creationId xmlns:a16="http://schemas.microsoft.com/office/drawing/2014/main" id="{BF8E7CBC-DF46-6549-BF5F-97EE90BAB449}"/>
              </a:ext>
            </a:extLst>
          </p:cNvPr>
          <p:cNvCxnSpPr>
            <a:cxnSpLocks/>
          </p:cNvCxnSpPr>
          <p:nvPr/>
        </p:nvCxnSpPr>
        <p:spPr>
          <a:xfrm flipH="1">
            <a:off x="577716" y="4219781"/>
            <a:ext cx="1501831" cy="1347644"/>
          </a:xfrm>
          <a:prstGeom prst="straightConnector1">
            <a:avLst/>
          </a:prstGeom>
          <a:ln w="12700">
            <a:solidFill>
              <a:schemeClr val="bg1">
                <a:lumMod val="75000"/>
              </a:schemeClr>
            </a:solidFill>
            <a:headEnd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81A5BC4-4F52-DD46-94B4-7C59BED8B64E}"/>
              </a:ext>
            </a:extLst>
          </p:cNvPr>
          <p:cNvCxnSpPr>
            <a:cxnSpLocks/>
          </p:cNvCxnSpPr>
          <p:nvPr/>
        </p:nvCxnSpPr>
        <p:spPr>
          <a:xfrm>
            <a:off x="2087139" y="4227373"/>
            <a:ext cx="1938713" cy="273550"/>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DCEACCF-492E-7448-B2FA-71D01C005739}"/>
                  </a:ext>
                </a:extLst>
              </p:cNvPr>
              <p:cNvSpPr txBox="1"/>
              <p:nvPr/>
            </p:nvSpPr>
            <p:spPr>
              <a:xfrm>
                <a:off x="430933" y="4835351"/>
                <a:ext cx="735235" cy="4445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m:t>
                          </m:r>
                        </m:e>
                        <m:sup>
                          <m:r>
                            <a:rPr lang="en-US" sz="2000" b="0" i="1" smtClean="0">
                              <a:latin typeface="Cambria Math" panose="02040503050406030204" pitchFamily="18" charset="0"/>
                              <a:ea typeface="Cambria Math" panose="02040503050406030204" pitchFamily="18" charset="0"/>
                            </a:rPr>
                            <m:t>2</m:t>
                          </m:r>
                        </m:sup>
                      </m:sSup>
                    </m:oMath>
                  </m:oMathPara>
                </a14:m>
                <a:endParaRPr lang="en-US" sz="2000" dirty="0"/>
              </a:p>
            </p:txBody>
          </p:sp>
        </mc:Choice>
        <mc:Fallback xmlns="">
          <p:sp>
            <p:nvSpPr>
              <p:cNvPr id="25" name="TextBox 24">
                <a:extLst>
                  <a:ext uri="{FF2B5EF4-FFF2-40B4-BE49-F238E27FC236}">
                    <a16:creationId xmlns:a16="http://schemas.microsoft.com/office/drawing/2014/main" id="{6DCEACCF-492E-7448-B2FA-71D01C005739}"/>
                  </a:ext>
                </a:extLst>
              </p:cNvPr>
              <p:cNvSpPr txBox="1">
                <a:spLocks noRot="1" noChangeAspect="1" noMove="1" noResize="1" noEditPoints="1" noAdjustHandles="1" noChangeArrowheads="1" noChangeShapeType="1" noTextEdit="1"/>
              </p:cNvSpPr>
              <p:nvPr/>
            </p:nvSpPr>
            <p:spPr>
              <a:xfrm>
                <a:off x="430933" y="4835351"/>
                <a:ext cx="735235" cy="444512"/>
              </a:xfrm>
              <a:prstGeom prst="rect">
                <a:avLst/>
              </a:prstGeom>
              <a:blipFill>
                <a:blip r:embed="rId10"/>
                <a:stretch>
                  <a:fillRect/>
                </a:stretch>
              </a:blipFill>
            </p:spPr>
            <p:txBody>
              <a:bodyPr/>
              <a:lstStyle/>
              <a:p>
                <a:r>
                  <a:rPr lang="en-US">
                    <a:noFill/>
                  </a:rPr>
                  <a:t> </a:t>
                </a:r>
              </a:p>
            </p:txBody>
          </p:sp>
        </mc:Fallback>
      </mc:AlternateContent>
      <p:pic>
        <p:nvPicPr>
          <p:cNvPr id="26" name="Picture 25">
            <a:extLst>
              <a:ext uri="{FF2B5EF4-FFF2-40B4-BE49-F238E27FC236}">
                <a16:creationId xmlns:a16="http://schemas.microsoft.com/office/drawing/2014/main" id="{39F05A9F-5696-DB40-B188-5F6A12703A9D}"/>
              </a:ext>
            </a:extLst>
          </p:cNvPr>
          <p:cNvPicPr>
            <a:picLocks noChangeAspect="1"/>
          </p:cNvPicPr>
          <p:nvPr/>
        </p:nvPicPr>
        <p:blipFill>
          <a:blip r:embed="rId11"/>
          <a:stretch>
            <a:fillRect/>
          </a:stretch>
        </p:blipFill>
        <p:spPr>
          <a:xfrm rot="10800000">
            <a:off x="1863468" y="5829903"/>
            <a:ext cx="432156" cy="494818"/>
          </a:xfrm>
          <a:prstGeom prst="rect">
            <a:avLst/>
          </a:prstGeom>
        </p:spPr>
      </p:pic>
      <p:pic>
        <p:nvPicPr>
          <p:cNvPr id="27" name="Picture 26">
            <a:extLst>
              <a:ext uri="{FF2B5EF4-FFF2-40B4-BE49-F238E27FC236}">
                <a16:creationId xmlns:a16="http://schemas.microsoft.com/office/drawing/2014/main" id="{AAA264C1-2B8B-0C43-8FCA-F141DBBA95A1}"/>
              </a:ext>
            </a:extLst>
          </p:cNvPr>
          <p:cNvPicPr>
            <a:picLocks noChangeAspect="1"/>
          </p:cNvPicPr>
          <p:nvPr/>
        </p:nvPicPr>
        <p:blipFill>
          <a:blip r:embed="rId11"/>
          <a:stretch>
            <a:fillRect/>
          </a:stretch>
        </p:blipFill>
        <p:spPr>
          <a:xfrm>
            <a:off x="1863468" y="2080478"/>
            <a:ext cx="432156" cy="494818"/>
          </a:xfrm>
          <a:prstGeom prst="rect">
            <a:avLst/>
          </a:prstGeom>
        </p:spPr>
      </p:pic>
      <p:grpSp>
        <p:nvGrpSpPr>
          <p:cNvPr id="29" name="Group 28">
            <a:extLst>
              <a:ext uri="{FF2B5EF4-FFF2-40B4-BE49-F238E27FC236}">
                <a16:creationId xmlns:a16="http://schemas.microsoft.com/office/drawing/2014/main" id="{AD2A7201-8927-7E4F-A2FC-4DF22B6A35F6}"/>
              </a:ext>
            </a:extLst>
          </p:cNvPr>
          <p:cNvGrpSpPr/>
          <p:nvPr/>
        </p:nvGrpSpPr>
        <p:grpSpPr>
          <a:xfrm rot="12485602">
            <a:off x="1252982" y="4025063"/>
            <a:ext cx="805845" cy="158952"/>
            <a:chOff x="3345574" y="1911655"/>
            <a:chExt cx="1493651" cy="132547"/>
          </a:xfrm>
        </p:grpSpPr>
        <p:sp>
          <p:nvSpPr>
            <p:cNvPr id="30" name="Freeform 29">
              <a:extLst>
                <a:ext uri="{FF2B5EF4-FFF2-40B4-BE49-F238E27FC236}">
                  <a16:creationId xmlns:a16="http://schemas.microsoft.com/office/drawing/2014/main" id="{5436D4D9-8DE5-6441-8656-A8F6848515AE}"/>
                </a:ext>
              </a:extLst>
            </p:cNvPr>
            <p:cNvSpPr/>
            <p:nvPr/>
          </p:nvSpPr>
          <p:spPr>
            <a:xfrm>
              <a:off x="3345574" y="1974858"/>
              <a:ext cx="1493651" cy="67062"/>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63500" cap="rnd">
              <a:solidFill>
                <a:srgbClr val="0082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1" name="Freeform 30">
              <a:extLst>
                <a:ext uri="{FF2B5EF4-FFF2-40B4-BE49-F238E27FC236}">
                  <a16:creationId xmlns:a16="http://schemas.microsoft.com/office/drawing/2014/main" id="{4F68E5D1-1848-1948-8AC2-4BFEB836BDCA}"/>
                </a:ext>
              </a:extLst>
            </p:cNvPr>
            <p:cNvSpPr/>
            <p:nvPr/>
          </p:nvSpPr>
          <p:spPr>
            <a:xfrm rot="20860336">
              <a:off x="4626250" y="1911655"/>
              <a:ext cx="180000" cy="72000"/>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50800" cap="rnd">
              <a:solidFill>
                <a:srgbClr val="0082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2" name="Freeform 31">
              <a:extLst>
                <a:ext uri="{FF2B5EF4-FFF2-40B4-BE49-F238E27FC236}">
                  <a16:creationId xmlns:a16="http://schemas.microsoft.com/office/drawing/2014/main" id="{0EE07B56-7661-7F43-96BD-19ABD2601FC5}"/>
                </a:ext>
              </a:extLst>
            </p:cNvPr>
            <p:cNvSpPr/>
            <p:nvPr/>
          </p:nvSpPr>
          <p:spPr>
            <a:xfrm rot="357787" flipV="1">
              <a:off x="4652741" y="1972202"/>
              <a:ext cx="180000" cy="72000"/>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50800" cap="rnd">
              <a:solidFill>
                <a:srgbClr val="0082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33" name="Oval 32">
            <a:extLst>
              <a:ext uri="{FF2B5EF4-FFF2-40B4-BE49-F238E27FC236}">
                <a16:creationId xmlns:a16="http://schemas.microsoft.com/office/drawing/2014/main" id="{8C7258B7-999E-CE45-B05A-D5AADC2DFC3C}"/>
              </a:ext>
            </a:extLst>
          </p:cNvPr>
          <p:cNvSpPr/>
          <p:nvPr/>
        </p:nvSpPr>
        <p:spPr>
          <a:xfrm rot="976989">
            <a:off x="1188814" y="3784375"/>
            <a:ext cx="219811" cy="267095"/>
          </a:xfrm>
          <a:prstGeom prst="ellipse">
            <a:avLst/>
          </a:prstGeom>
          <a:solidFill>
            <a:schemeClr val="bg1">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874CB0BE-693F-FF43-B2F5-A22F2D7A91EB}"/>
                  </a:ext>
                </a:extLst>
              </p:cNvPr>
              <p:cNvSpPr/>
              <p:nvPr/>
            </p:nvSpPr>
            <p:spPr>
              <a:xfrm>
                <a:off x="479925" y="3607149"/>
                <a:ext cx="707082" cy="6227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000" i="1">
                                  <a:latin typeface="Cambria Math" panose="02040503050406030204" pitchFamily="18" charset="0"/>
                                  <a:ea typeface="Cambria Math" panose="02040503050406030204" pitchFamily="18" charset="0"/>
                                </a:rPr>
                              </m:ctrlPr>
                            </m:mPr>
                            <m:mr>
                              <m:e>
                                <m:r>
                                  <a:rPr lang="en-US" sz="2000" b="0" i="1" smtClean="0">
                                    <a:latin typeface="Cambria Math" panose="02040503050406030204" pitchFamily="18" charset="0"/>
                                    <a:ea typeface="Cambria Math" panose="02040503050406030204" pitchFamily="18" charset="0"/>
                                  </a:rPr>
                                  <m:t>𝑎</m:t>
                                </m:r>
                              </m:e>
                            </m:mr>
                            <m:mr>
                              <m:e>
                                <m:r>
                                  <a:rPr lang="en-US" sz="2000" b="0" i="1" smtClean="0">
                                    <a:latin typeface="Cambria Math" panose="02040503050406030204" pitchFamily="18" charset="0"/>
                                    <a:ea typeface="Cambria Math" panose="02040503050406030204" pitchFamily="18" charset="0"/>
                                  </a:rPr>
                                  <m:t>𝑏</m:t>
                                </m:r>
                              </m:e>
                            </m:mr>
                          </m:m>
                        </m:e>
                      </m:d>
                    </m:oMath>
                  </m:oMathPara>
                </a14:m>
                <a:endParaRPr lang="en-US" sz="2000" dirty="0"/>
              </a:p>
            </p:txBody>
          </p:sp>
        </mc:Choice>
        <mc:Fallback xmlns="">
          <p:sp>
            <p:nvSpPr>
              <p:cNvPr id="34" name="Rectangle 33">
                <a:extLst>
                  <a:ext uri="{FF2B5EF4-FFF2-40B4-BE49-F238E27FC236}">
                    <a16:creationId xmlns:a16="http://schemas.microsoft.com/office/drawing/2014/main" id="{874CB0BE-693F-FF43-B2F5-A22F2D7A91EB}"/>
                  </a:ext>
                </a:extLst>
              </p:cNvPr>
              <p:cNvSpPr>
                <a:spLocks noRot="1" noChangeAspect="1" noMove="1" noResize="1" noEditPoints="1" noAdjustHandles="1" noChangeArrowheads="1" noChangeShapeType="1" noTextEdit="1"/>
              </p:cNvSpPr>
              <p:nvPr/>
            </p:nvSpPr>
            <p:spPr>
              <a:xfrm>
                <a:off x="479925" y="3607149"/>
                <a:ext cx="707082" cy="622749"/>
              </a:xfrm>
              <a:prstGeom prst="rect">
                <a:avLst/>
              </a:prstGeom>
              <a:blipFill>
                <a:blip r:embed="rId12"/>
                <a:stretch>
                  <a:fillRect/>
                </a:stretch>
              </a:blipFill>
            </p:spPr>
            <p:txBody>
              <a:bodyPr/>
              <a:lstStyle/>
              <a:p>
                <a:r>
                  <a:rPr lang="en-US">
                    <a:noFill/>
                  </a:rPr>
                  <a:t> </a:t>
                </a:r>
              </a:p>
            </p:txBody>
          </p:sp>
        </mc:Fallback>
      </mc:AlternateContent>
      <p:grpSp>
        <p:nvGrpSpPr>
          <p:cNvPr id="73" name="Group 72">
            <a:extLst>
              <a:ext uri="{FF2B5EF4-FFF2-40B4-BE49-F238E27FC236}">
                <a16:creationId xmlns:a16="http://schemas.microsoft.com/office/drawing/2014/main" id="{230AAD96-F87A-4848-BA50-B5D4B38C4D35}"/>
              </a:ext>
            </a:extLst>
          </p:cNvPr>
          <p:cNvGrpSpPr/>
          <p:nvPr/>
        </p:nvGrpSpPr>
        <p:grpSpPr>
          <a:xfrm>
            <a:off x="9071238" y="2087836"/>
            <a:ext cx="2707173" cy="4561520"/>
            <a:chOff x="9071238" y="2087836"/>
            <a:chExt cx="2707173" cy="4561520"/>
          </a:xfrm>
        </p:grpSpPr>
        <p:sp>
          <p:nvSpPr>
            <p:cNvPr id="39" name="Freeform 38">
              <a:extLst>
                <a:ext uri="{FF2B5EF4-FFF2-40B4-BE49-F238E27FC236}">
                  <a16:creationId xmlns:a16="http://schemas.microsoft.com/office/drawing/2014/main" id="{476294B7-FE9A-9A4A-8A47-D45B5B632309}"/>
                </a:ext>
              </a:extLst>
            </p:cNvPr>
            <p:cNvSpPr/>
            <p:nvPr/>
          </p:nvSpPr>
          <p:spPr>
            <a:xfrm>
              <a:off x="9456200" y="6088846"/>
              <a:ext cx="2322211" cy="5508"/>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325">
                  <a:moveTo>
                    <a:pt x="0" y="324"/>
                  </a:moveTo>
                  <a:cubicBezTo>
                    <a:pt x="730" y="324"/>
                    <a:pt x="2112" y="-403"/>
                    <a:pt x="2189" y="324"/>
                  </a:cubicBezTo>
                  <a:cubicBezTo>
                    <a:pt x="3252" y="10325"/>
                    <a:pt x="3544" y="324"/>
                    <a:pt x="4221" y="324"/>
                  </a:cubicBezTo>
                  <a:lnTo>
                    <a:pt x="6270" y="10324"/>
                  </a:lnTo>
                  <a:lnTo>
                    <a:pt x="9194" y="324"/>
                  </a:lnTo>
                  <a:lnTo>
                    <a:pt x="10000" y="3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0" name="Freeform 39">
              <a:extLst>
                <a:ext uri="{FF2B5EF4-FFF2-40B4-BE49-F238E27FC236}">
                  <a16:creationId xmlns:a16="http://schemas.microsoft.com/office/drawing/2014/main" id="{63D35488-BA44-9447-9A8C-C2401B6681EB}"/>
                </a:ext>
              </a:extLst>
            </p:cNvPr>
            <p:cNvSpPr/>
            <p:nvPr/>
          </p:nvSpPr>
          <p:spPr>
            <a:xfrm rot="16200000">
              <a:off x="7736260" y="4270930"/>
              <a:ext cx="3629670" cy="6341"/>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724 h 12076"/>
                <a:gd name="connsiteX1" fmla="*/ 2189 w 10000"/>
                <a:gd name="connsiteY1" fmla="*/ 724 h 12076"/>
                <a:gd name="connsiteX2" fmla="*/ 4221 w 10000"/>
                <a:gd name="connsiteY2" fmla="*/ 724 h 12076"/>
                <a:gd name="connsiteX3" fmla="*/ 6270 w 10000"/>
                <a:gd name="connsiteY3" fmla="*/ 10724 h 12076"/>
                <a:gd name="connsiteX4" fmla="*/ 9194 w 10000"/>
                <a:gd name="connsiteY4" fmla="*/ 724 h 12076"/>
                <a:gd name="connsiteX5" fmla="*/ 10000 w 10000"/>
                <a:gd name="connsiteY5" fmla="*/ 724 h 1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2076">
                  <a:moveTo>
                    <a:pt x="0" y="724"/>
                  </a:moveTo>
                  <a:cubicBezTo>
                    <a:pt x="730" y="724"/>
                    <a:pt x="2137" y="-5"/>
                    <a:pt x="2189" y="724"/>
                  </a:cubicBezTo>
                  <a:cubicBezTo>
                    <a:pt x="3619" y="20725"/>
                    <a:pt x="3444" y="10090"/>
                    <a:pt x="4221" y="724"/>
                  </a:cubicBezTo>
                  <a:cubicBezTo>
                    <a:pt x="4512" y="-2779"/>
                    <a:pt x="5587" y="7391"/>
                    <a:pt x="6270" y="10724"/>
                  </a:cubicBezTo>
                  <a:lnTo>
                    <a:pt x="9194" y="724"/>
                  </a:lnTo>
                  <a:lnTo>
                    <a:pt x="10000" y="7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1" name="Freeform 40">
              <a:extLst>
                <a:ext uri="{FF2B5EF4-FFF2-40B4-BE49-F238E27FC236}">
                  <a16:creationId xmlns:a16="http://schemas.microsoft.com/office/drawing/2014/main" id="{59655EBD-3144-4345-B17C-54AFBD1409AB}"/>
                </a:ext>
              </a:extLst>
            </p:cNvPr>
            <p:cNvSpPr/>
            <p:nvPr/>
          </p:nvSpPr>
          <p:spPr>
            <a:xfrm>
              <a:off x="9740450" y="3781615"/>
              <a:ext cx="595439" cy="230400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2" name="Freeform 41">
              <a:extLst>
                <a:ext uri="{FF2B5EF4-FFF2-40B4-BE49-F238E27FC236}">
                  <a16:creationId xmlns:a16="http://schemas.microsoft.com/office/drawing/2014/main" id="{856691B1-5465-BD4A-9437-3E76C0709A02}"/>
                </a:ext>
              </a:extLst>
            </p:cNvPr>
            <p:cNvSpPr/>
            <p:nvPr/>
          </p:nvSpPr>
          <p:spPr>
            <a:xfrm>
              <a:off x="10816868" y="4800703"/>
              <a:ext cx="595439" cy="129600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5" name="Straight Connector 44">
              <a:extLst>
                <a:ext uri="{FF2B5EF4-FFF2-40B4-BE49-F238E27FC236}">
                  <a16:creationId xmlns:a16="http://schemas.microsoft.com/office/drawing/2014/main" id="{52C2F6F9-9CDF-8949-9FEA-D23804274897}"/>
                </a:ext>
              </a:extLst>
            </p:cNvPr>
            <p:cNvCxnSpPr>
              <a:cxnSpLocks/>
            </p:cNvCxnSpPr>
            <p:nvPr/>
          </p:nvCxnSpPr>
          <p:spPr>
            <a:xfrm>
              <a:off x="9443456" y="2459265"/>
              <a:ext cx="208402" cy="0"/>
            </a:xfrm>
            <a:prstGeom prst="line">
              <a:avLst/>
            </a:prstGeom>
            <a:ln w="127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70CE33A-303E-FB41-984F-FA717BFACD88}"/>
                </a:ext>
              </a:extLst>
            </p:cNvPr>
            <p:cNvSpPr txBox="1"/>
            <p:nvPr/>
          </p:nvSpPr>
          <p:spPr>
            <a:xfrm>
              <a:off x="9096529" y="2087836"/>
              <a:ext cx="322524" cy="461665"/>
            </a:xfrm>
            <a:prstGeom prst="rect">
              <a:avLst/>
            </a:prstGeom>
            <a:noFill/>
          </p:spPr>
          <p:txBody>
            <a:bodyPr wrap="none" rtlCol="0">
              <a:spAutoFit/>
            </a:bodyPr>
            <a:lstStyle/>
            <a:p>
              <a:r>
                <a:rPr lang="en-US" sz="2400" dirty="0">
                  <a:latin typeface="Comic Sans MS" panose="030F0902030302020204" pitchFamily="66" charset="0"/>
                </a:rPr>
                <a:t>1</a:t>
              </a:r>
            </a:p>
          </p:txBody>
        </p:sp>
        <p:sp>
          <p:nvSpPr>
            <p:cNvPr id="47" name="TextBox 46">
              <a:extLst>
                <a:ext uri="{FF2B5EF4-FFF2-40B4-BE49-F238E27FC236}">
                  <a16:creationId xmlns:a16="http://schemas.microsoft.com/office/drawing/2014/main" id="{1CD0811E-25D8-8F44-A8B6-3D17B41BEDCC}"/>
                </a:ext>
              </a:extLst>
            </p:cNvPr>
            <p:cNvSpPr txBox="1"/>
            <p:nvPr/>
          </p:nvSpPr>
          <p:spPr>
            <a:xfrm>
              <a:off x="9872512" y="6187691"/>
              <a:ext cx="372218" cy="461665"/>
            </a:xfrm>
            <a:prstGeom prst="rect">
              <a:avLst/>
            </a:prstGeom>
            <a:noFill/>
          </p:spPr>
          <p:txBody>
            <a:bodyPr wrap="none" rtlCol="0">
              <a:spAutoFit/>
            </a:bodyPr>
            <a:lstStyle/>
            <a:p>
              <a:r>
                <a:rPr lang="en-US" sz="2400" dirty="0">
                  <a:latin typeface="Comic Sans MS" panose="030F0902030302020204" pitchFamily="66" charset="0"/>
                </a:rPr>
                <a:t>0</a:t>
              </a:r>
            </a:p>
          </p:txBody>
        </p:sp>
        <p:sp>
          <p:nvSpPr>
            <p:cNvPr id="48" name="TextBox 47">
              <a:extLst>
                <a:ext uri="{FF2B5EF4-FFF2-40B4-BE49-F238E27FC236}">
                  <a16:creationId xmlns:a16="http://schemas.microsoft.com/office/drawing/2014/main" id="{569C3EEB-22B5-7144-8FCB-8AF9509DE140}"/>
                </a:ext>
              </a:extLst>
            </p:cNvPr>
            <p:cNvSpPr txBox="1"/>
            <p:nvPr/>
          </p:nvSpPr>
          <p:spPr>
            <a:xfrm rot="16200000">
              <a:off x="9341851" y="4789017"/>
              <a:ext cx="1313180" cy="430887"/>
            </a:xfrm>
            <a:prstGeom prst="rect">
              <a:avLst/>
            </a:prstGeom>
            <a:noFill/>
          </p:spPr>
          <p:txBody>
            <a:bodyPr wrap="none" rtlCol="0">
              <a:spAutoFit/>
            </a:bodyPr>
            <a:lstStyle/>
            <a:p>
              <a:r>
                <a:rPr lang="en-US" sz="2200" dirty="0"/>
                <a:t>640 times</a:t>
              </a:r>
            </a:p>
          </p:txBody>
        </p:sp>
        <p:sp>
          <p:nvSpPr>
            <p:cNvPr id="49" name="TextBox 48">
              <a:extLst>
                <a:ext uri="{FF2B5EF4-FFF2-40B4-BE49-F238E27FC236}">
                  <a16:creationId xmlns:a16="http://schemas.microsoft.com/office/drawing/2014/main" id="{1C3DF4ED-E81D-CA43-9D56-3412F231E449}"/>
                </a:ext>
              </a:extLst>
            </p:cNvPr>
            <p:cNvSpPr txBox="1"/>
            <p:nvPr/>
          </p:nvSpPr>
          <p:spPr>
            <a:xfrm rot="16200000">
              <a:off x="10456891" y="5233259"/>
              <a:ext cx="1313180" cy="430887"/>
            </a:xfrm>
            <a:prstGeom prst="rect">
              <a:avLst/>
            </a:prstGeom>
            <a:noFill/>
          </p:spPr>
          <p:txBody>
            <a:bodyPr wrap="none" rtlCol="0">
              <a:spAutoFit/>
            </a:bodyPr>
            <a:lstStyle/>
            <a:p>
              <a:r>
                <a:rPr lang="en-US" sz="2200" dirty="0"/>
                <a:t>360 times</a:t>
              </a:r>
            </a:p>
          </p:txBody>
        </p:sp>
        <p:sp>
          <p:nvSpPr>
            <p:cNvPr id="50" name="TextBox 49">
              <a:extLst>
                <a:ext uri="{FF2B5EF4-FFF2-40B4-BE49-F238E27FC236}">
                  <a16:creationId xmlns:a16="http://schemas.microsoft.com/office/drawing/2014/main" id="{DF9FC52C-EE41-6C4A-8F7A-5356457C5266}"/>
                </a:ext>
              </a:extLst>
            </p:cNvPr>
            <p:cNvSpPr txBox="1"/>
            <p:nvPr/>
          </p:nvSpPr>
          <p:spPr>
            <a:xfrm>
              <a:off x="9674127" y="3288446"/>
              <a:ext cx="728084" cy="461665"/>
            </a:xfrm>
            <a:prstGeom prst="rect">
              <a:avLst/>
            </a:prstGeom>
            <a:noFill/>
          </p:spPr>
          <p:txBody>
            <a:bodyPr wrap="none" rtlCol="0">
              <a:spAutoFit/>
            </a:bodyPr>
            <a:lstStyle/>
            <a:p>
              <a:r>
                <a:rPr lang="en-US" sz="2400" dirty="0"/>
                <a:t>0.64</a:t>
              </a:r>
            </a:p>
          </p:txBody>
        </p:sp>
        <p:sp>
          <p:nvSpPr>
            <p:cNvPr id="53" name="TextBox 52">
              <a:extLst>
                <a:ext uri="{FF2B5EF4-FFF2-40B4-BE49-F238E27FC236}">
                  <a16:creationId xmlns:a16="http://schemas.microsoft.com/office/drawing/2014/main" id="{E4F01D38-D587-B649-9CB1-ACAE5C3CE4B0}"/>
                </a:ext>
              </a:extLst>
            </p:cNvPr>
            <p:cNvSpPr txBox="1"/>
            <p:nvPr/>
          </p:nvSpPr>
          <p:spPr>
            <a:xfrm>
              <a:off x="10882648" y="6187691"/>
              <a:ext cx="322524" cy="461665"/>
            </a:xfrm>
            <a:prstGeom prst="rect">
              <a:avLst/>
            </a:prstGeom>
            <a:noFill/>
          </p:spPr>
          <p:txBody>
            <a:bodyPr wrap="none" rtlCol="0">
              <a:spAutoFit/>
            </a:bodyPr>
            <a:lstStyle/>
            <a:p>
              <a:r>
                <a:rPr lang="en-US" sz="2400" dirty="0">
                  <a:latin typeface="Comic Sans MS" panose="030F0902030302020204" pitchFamily="66" charset="0"/>
                </a:rPr>
                <a:t>1</a:t>
              </a:r>
            </a:p>
          </p:txBody>
        </p:sp>
        <p:sp>
          <p:nvSpPr>
            <p:cNvPr id="54" name="TextBox 53">
              <a:extLst>
                <a:ext uri="{FF2B5EF4-FFF2-40B4-BE49-F238E27FC236}">
                  <a16:creationId xmlns:a16="http://schemas.microsoft.com/office/drawing/2014/main" id="{9DBEC26B-FE5D-F543-A8AF-52A65E488369}"/>
                </a:ext>
              </a:extLst>
            </p:cNvPr>
            <p:cNvSpPr txBox="1"/>
            <p:nvPr/>
          </p:nvSpPr>
          <p:spPr>
            <a:xfrm>
              <a:off x="9071238" y="5909582"/>
              <a:ext cx="372218" cy="461665"/>
            </a:xfrm>
            <a:prstGeom prst="rect">
              <a:avLst/>
            </a:prstGeom>
            <a:noFill/>
          </p:spPr>
          <p:txBody>
            <a:bodyPr wrap="none" rtlCol="0">
              <a:spAutoFit/>
            </a:bodyPr>
            <a:lstStyle/>
            <a:p>
              <a:r>
                <a:rPr lang="en-US" sz="2400" dirty="0">
                  <a:latin typeface="Comic Sans MS" panose="030F0902030302020204" pitchFamily="66" charset="0"/>
                </a:rPr>
                <a:t>0</a:t>
              </a:r>
            </a:p>
          </p:txBody>
        </p:sp>
        <p:sp>
          <p:nvSpPr>
            <p:cNvPr id="55" name="TextBox 54">
              <a:extLst>
                <a:ext uri="{FF2B5EF4-FFF2-40B4-BE49-F238E27FC236}">
                  <a16:creationId xmlns:a16="http://schemas.microsoft.com/office/drawing/2014/main" id="{EC8BCF34-E3CF-2244-B949-8C5442AD69A1}"/>
                </a:ext>
              </a:extLst>
            </p:cNvPr>
            <p:cNvSpPr txBox="1"/>
            <p:nvPr/>
          </p:nvSpPr>
          <p:spPr>
            <a:xfrm>
              <a:off x="10749438" y="4270090"/>
              <a:ext cx="728084" cy="461665"/>
            </a:xfrm>
            <a:prstGeom prst="rect">
              <a:avLst/>
            </a:prstGeom>
            <a:noFill/>
          </p:spPr>
          <p:txBody>
            <a:bodyPr wrap="none" rtlCol="0">
              <a:spAutoFit/>
            </a:bodyPr>
            <a:lstStyle/>
            <a:p>
              <a:r>
                <a:rPr lang="en-US" sz="2400" dirty="0"/>
                <a:t>0.36</a:t>
              </a:r>
            </a:p>
          </p:txBody>
        </p:sp>
      </p:grpSp>
      <p:grpSp>
        <p:nvGrpSpPr>
          <p:cNvPr id="84" name="Group 83">
            <a:extLst>
              <a:ext uri="{FF2B5EF4-FFF2-40B4-BE49-F238E27FC236}">
                <a16:creationId xmlns:a16="http://schemas.microsoft.com/office/drawing/2014/main" id="{07FEE21E-1642-644E-8907-C1F08CB602DD}"/>
              </a:ext>
            </a:extLst>
          </p:cNvPr>
          <p:cNvGrpSpPr/>
          <p:nvPr/>
        </p:nvGrpSpPr>
        <p:grpSpPr>
          <a:xfrm>
            <a:off x="5592498" y="3644227"/>
            <a:ext cx="3049296" cy="1421038"/>
            <a:chOff x="5592498" y="3644227"/>
            <a:chExt cx="3049296" cy="1421038"/>
          </a:xfrm>
        </p:grpSpPr>
        <p:sp>
          <p:nvSpPr>
            <p:cNvPr id="85" name="TextBox 84">
              <a:extLst>
                <a:ext uri="{FF2B5EF4-FFF2-40B4-BE49-F238E27FC236}">
                  <a16:creationId xmlns:a16="http://schemas.microsoft.com/office/drawing/2014/main" id="{08DFA0C4-92F8-1246-9C32-997F36B8DC4D}"/>
                </a:ext>
              </a:extLst>
            </p:cNvPr>
            <p:cNvSpPr txBox="1"/>
            <p:nvPr/>
          </p:nvSpPr>
          <p:spPr>
            <a:xfrm>
              <a:off x="5592498" y="3644227"/>
              <a:ext cx="3049296" cy="1384995"/>
            </a:xfrm>
            <a:prstGeom prst="rect">
              <a:avLst/>
            </a:prstGeom>
            <a:noFill/>
          </p:spPr>
          <p:txBody>
            <a:bodyPr wrap="none" rtlCol="0">
              <a:spAutoFit/>
            </a:bodyPr>
            <a:lstStyle/>
            <a:p>
              <a:r>
                <a:rPr lang="en-US" sz="2400" dirty="0"/>
                <a:t>outcome    n      n/1000</a:t>
              </a:r>
            </a:p>
            <a:p>
              <a:endParaRPr lang="en-US" sz="1200" dirty="0"/>
            </a:p>
            <a:p>
              <a:r>
                <a:rPr lang="en-US" sz="2400" dirty="0"/>
                <a:t>     0          640    0.64</a:t>
              </a:r>
            </a:p>
            <a:p>
              <a:r>
                <a:rPr lang="en-US" sz="2400" dirty="0"/>
                <a:t>     1          360    0.36</a:t>
              </a:r>
            </a:p>
          </p:txBody>
        </p:sp>
        <p:cxnSp>
          <p:nvCxnSpPr>
            <p:cNvPr id="86" name="Straight Connector 85">
              <a:extLst>
                <a:ext uri="{FF2B5EF4-FFF2-40B4-BE49-F238E27FC236}">
                  <a16:creationId xmlns:a16="http://schemas.microsoft.com/office/drawing/2014/main" id="{8CF2D0E6-12D4-1149-8665-3259BD774489}"/>
                </a:ext>
              </a:extLst>
            </p:cNvPr>
            <p:cNvCxnSpPr>
              <a:cxnSpLocks/>
            </p:cNvCxnSpPr>
            <p:nvPr/>
          </p:nvCxnSpPr>
          <p:spPr>
            <a:xfrm>
              <a:off x="5652655" y="4124679"/>
              <a:ext cx="29241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0870F29-381A-6B46-9A51-8585F381C286}"/>
                </a:ext>
              </a:extLst>
            </p:cNvPr>
            <p:cNvCxnSpPr>
              <a:cxnSpLocks/>
            </p:cNvCxnSpPr>
            <p:nvPr/>
          </p:nvCxnSpPr>
          <p:spPr>
            <a:xfrm>
              <a:off x="6784657" y="3675665"/>
              <a:ext cx="0" cy="138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99414F-2729-834D-B9D4-70B507E84CF7}"/>
                </a:ext>
              </a:extLst>
            </p:cNvPr>
            <p:cNvCxnSpPr>
              <a:cxnSpLocks/>
            </p:cNvCxnSpPr>
            <p:nvPr/>
          </p:nvCxnSpPr>
          <p:spPr>
            <a:xfrm>
              <a:off x="7450555" y="3675665"/>
              <a:ext cx="0" cy="138960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763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dissolv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dissolve">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dissolve">
                                      <p:cBhvr>
                                        <p:cTn id="1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Arrow Connector 47">
            <a:extLst>
              <a:ext uri="{FF2B5EF4-FFF2-40B4-BE49-F238E27FC236}">
                <a16:creationId xmlns:a16="http://schemas.microsoft.com/office/drawing/2014/main" id="{C6AB432D-49E8-C243-96A2-98446AC956C7}"/>
              </a:ext>
            </a:extLst>
          </p:cNvPr>
          <p:cNvCxnSpPr>
            <a:cxnSpLocks/>
          </p:cNvCxnSpPr>
          <p:nvPr/>
        </p:nvCxnSpPr>
        <p:spPr>
          <a:xfrm flipH="1">
            <a:off x="1414356" y="3249993"/>
            <a:ext cx="1516617" cy="100772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1B99E26-DFE3-534F-BEE8-24CD777E2BCA}"/>
              </a:ext>
            </a:extLst>
          </p:cNvPr>
          <p:cNvSpPr>
            <a:spLocks noGrp="1"/>
          </p:cNvSpPr>
          <p:nvPr>
            <p:ph type="title"/>
          </p:nvPr>
        </p:nvSpPr>
        <p:spPr>
          <a:xfrm>
            <a:off x="0" y="0"/>
            <a:ext cx="12192000" cy="928688"/>
          </a:xfrm>
        </p:spPr>
        <p:txBody>
          <a:bodyPr/>
          <a:lstStyle/>
          <a:p>
            <a:r>
              <a:rPr lang="en-ZA" dirty="0"/>
              <a:t>Effect of Relative and Global Phase on Measurement Outcomes</a:t>
            </a:r>
            <a:endParaRPr lang="en-US" dirty="0"/>
          </a:p>
        </p:txBody>
      </p:sp>
      <p:sp>
        <p:nvSpPr>
          <p:cNvPr id="3" name="Slide Number Placeholder 2">
            <a:extLst>
              <a:ext uri="{FF2B5EF4-FFF2-40B4-BE49-F238E27FC236}">
                <a16:creationId xmlns:a16="http://schemas.microsoft.com/office/drawing/2014/main" id="{278E5DF3-8E57-9447-B7C3-5FF5DA3A4FE0}"/>
              </a:ext>
            </a:extLst>
          </p:cNvPr>
          <p:cNvSpPr>
            <a:spLocks noGrp="1"/>
          </p:cNvSpPr>
          <p:nvPr>
            <p:ph type="sldNum" sz="quarter" idx="12"/>
          </p:nvPr>
        </p:nvSpPr>
        <p:spPr/>
        <p:txBody>
          <a:bodyPr/>
          <a:lstStyle/>
          <a:p>
            <a:fld id="{591A223C-FA10-BC46-A853-03BA373D023C}" type="slidenum">
              <a:rPr lang="en-US" smtClean="0"/>
              <a:t>36</a:t>
            </a:fld>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6D2032A-E383-CC46-9588-1BEA5565EB6C}"/>
                  </a:ext>
                </a:extLst>
              </p:cNvPr>
              <p:cNvSpPr/>
              <p:nvPr/>
            </p:nvSpPr>
            <p:spPr>
              <a:xfrm>
                <a:off x="8562742" y="895280"/>
                <a:ext cx="2420278" cy="1414362"/>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𝑆</m:t>
                          </m:r>
                        </m:e>
                      </m:d>
                      <m:r>
                        <a:rPr lang="en-US" sz="220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rPr>
                                      <m:t>𝜑</m:t>
                                    </m:r>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func>
                              </m:e>
                            </m:mr>
                          </m:m>
                        </m:e>
                      </m:d>
                    </m:oMath>
                  </m:oMathPara>
                </a14:m>
                <a:endParaRPr lang="en-US" sz="2200" dirty="0"/>
              </a:p>
            </p:txBody>
          </p:sp>
        </mc:Choice>
        <mc:Fallback xmlns="">
          <p:sp>
            <p:nvSpPr>
              <p:cNvPr id="10" name="Rectangle 9">
                <a:extLst>
                  <a:ext uri="{FF2B5EF4-FFF2-40B4-BE49-F238E27FC236}">
                    <a16:creationId xmlns:a16="http://schemas.microsoft.com/office/drawing/2014/main" id="{26D2032A-E383-CC46-9588-1BEA5565EB6C}"/>
                  </a:ext>
                </a:extLst>
              </p:cNvPr>
              <p:cNvSpPr>
                <a:spLocks noRot="1" noChangeAspect="1" noMove="1" noResize="1" noEditPoints="1" noAdjustHandles="1" noChangeArrowheads="1" noChangeShapeType="1" noTextEdit="1"/>
              </p:cNvSpPr>
              <p:nvPr/>
            </p:nvSpPr>
            <p:spPr>
              <a:xfrm>
                <a:off x="8562742" y="895280"/>
                <a:ext cx="2420278" cy="1414362"/>
              </a:xfrm>
              <a:prstGeom prst="rect">
                <a:avLst/>
              </a:prstGeom>
              <a:blipFill>
                <a:blip r:embed="rId3"/>
                <a:stretch>
                  <a:fillRect b="-885"/>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92077208-43B8-D14C-A64A-4C83AD6EEBE9}"/>
              </a:ext>
            </a:extLst>
          </p:cNvPr>
          <p:cNvSpPr/>
          <p:nvPr/>
        </p:nvSpPr>
        <p:spPr>
          <a:xfrm>
            <a:off x="1010571" y="2692824"/>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FFF7048-4C02-1E48-B8EF-2DAFF2E52661}"/>
              </a:ext>
            </a:extLst>
          </p:cNvPr>
          <p:cNvSpPr>
            <a:spLocks noChangeAspect="1"/>
          </p:cNvSpPr>
          <p:nvPr/>
        </p:nvSpPr>
        <p:spPr>
          <a:xfrm>
            <a:off x="990859" y="1357912"/>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5F772BB2-59DB-074F-B2D4-7A3B7955D4E0}"/>
              </a:ext>
            </a:extLst>
          </p:cNvPr>
          <p:cNvCxnSpPr>
            <a:cxnSpLocks/>
          </p:cNvCxnSpPr>
          <p:nvPr/>
        </p:nvCxnSpPr>
        <p:spPr>
          <a:xfrm>
            <a:off x="2919392" y="3236777"/>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66C9A76-1107-D347-869E-F77D968ECB72}"/>
                  </a:ext>
                </a:extLst>
              </p:cNvPr>
              <p:cNvSpPr txBox="1"/>
              <p:nvPr/>
            </p:nvSpPr>
            <p:spPr>
              <a:xfrm>
                <a:off x="1007214" y="4251677"/>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43" name="TextBox 42">
                <a:extLst>
                  <a:ext uri="{FF2B5EF4-FFF2-40B4-BE49-F238E27FC236}">
                    <a16:creationId xmlns:a16="http://schemas.microsoft.com/office/drawing/2014/main" id="{866C9A76-1107-D347-869E-F77D968ECB72}"/>
                  </a:ext>
                </a:extLst>
              </p:cNvPr>
              <p:cNvSpPr txBox="1">
                <a:spLocks noRot="1" noChangeAspect="1" noMove="1" noResize="1" noEditPoints="1" noAdjustHandles="1" noChangeArrowheads="1" noChangeShapeType="1" noTextEdit="1"/>
              </p:cNvSpPr>
              <p:nvPr/>
            </p:nvSpPr>
            <p:spPr>
              <a:xfrm>
                <a:off x="1007214" y="4251677"/>
                <a:ext cx="42639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A76F82D-588E-A242-9B38-C1F293CD04B5}"/>
                  </a:ext>
                </a:extLst>
              </p:cNvPr>
              <p:cNvSpPr txBox="1"/>
              <p:nvPr/>
            </p:nvSpPr>
            <p:spPr>
              <a:xfrm>
                <a:off x="2528790" y="77089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44" name="TextBox 43">
                <a:extLst>
                  <a:ext uri="{FF2B5EF4-FFF2-40B4-BE49-F238E27FC236}">
                    <a16:creationId xmlns:a16="http://schemas.microsoft.com/office/drawing/2014/main" id="{AA76F82D-588E-A242-9B38-C1F293CD04B5}"/>
                  </a:ext>
                </a:extLst>
              </p:cNvPr>
              <p:cNvSpPr txBox="1">
                <a:spLocks noRot="1" noChangeAspect="1" noMove="1" noResize="1" noEditPoints="1" noAdjustHandles="1" noChangeArrowheads="1" noChangeShapeType="1" noTextEdit="1"/>
              </p:cNvSpPr>
              <p:nvPr/>
            </p:nvSpPr>
            <p:spPr>
              <a:xfrm>
                <a:off x="2528790" y="770897"/>
                <a:ext cx="367985" cy="461665"/>
              </a:xfrm>
              <a:prstGeom prst="rect">
                <a:avLst/>
              </a:prstGeom>
              <a:blipFill>
                <a:blip r:embed="rId5"/>
                <a:stretch>
                  <a:fillRect/>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D67D5CC7-5C17-C94A-8C1D-D22A0275260C}"/>
              </a:ext>
            </a:extLst>
          </p:cNvPr>
          <p:cNvCxnSpPr>
            <a:cxnSpLocks/>
          </p:cNvCxnSpPr>
          <p:nvPr/>
        </p:nvCxnSpPr>
        <p:spPr>
          <a:xfrm flipH="1" flipV="1">
            <a:off x="1693655" y="2830082"/>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8353BCD-E94D-574C-A045-FA46A388055E}"/>
              </a:ext>
            </a:extLst>
          </p:cNvPr>
          <p:cNvCxnSpPr>
            <a:cxnSpLocks/>
          </p:cNvCxnSpPr>
          <p:nvPr/>
        </p:nvCxnSpPr>
        <p:spPr>
          <a:xfrm>
            <a:off x="2934611" y="3263017"/>
            <a:ext cx="0" cy="1546214"/>
          </a:xfrm>
          <a:prstGeom prst="line">
            <a:avLst/>
          </a:prstGeom>
          <a:ln w="8890">
            <a:solidFill>
              <a:schemeClr val="bg1">
                <a:lumMod val="5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213401E-3C70-A14C-9D65-B5735E011D53}"/>
              </a:ext>
            </a:extLst>
          </p:cNvPr>
          <p:cNvCxnSpPr>
            <a:cxnSpLocks/>
          </p:cNvCxnSpPr>
          <p:nvPr/>
        </p:nvCxnSpPr>
        <p:spPr>
          <a:xfrm flipV="1">
            <a:off x="2925421" y="1032567"/>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37F9DB4-52D3-2E45-B4C2-5CA78AEE4888}"/>
                  </a:ext>
                </a:extLst>
              </p:cNvPr>
              <p:cNvSpPr txBox="1"/>
              <p:nvPr/>
            </p:nvSpPr>
            <p:spPr>
              <a:xfrm>
                <a:off x="5078801" y="3815101"/>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51" name="TextBox 50">
                <a:extLst>
                  <a:ext uri="{FF2B5EF4-FFF2-40B4-BE49-F238E27FC236}">
                    <a16:creationId xmlns:a16="http://schemas.microsoft.com/office/drawing/2014/main" id="{937F9DB4-52D3-2E45-B4C2-5CA78AEE4888}"/>
                  </a:ext>
                </a:extLst>
              </p:cNvPr>
              <p:cNvSpPr txBox="1">
                <a:spLocks noRot="1" noChangeAspect="1" noMove="1" noResize="1" noEditPoints="1" noAdjustHandles="1" noChangeArrowheads="1" noChangeShapeType="1" noTextEdit="1"/>
              </p:cNvSpPr>
              <p:nvPr/>
            </p:nvSpPr>
            <p:spPr>
              <a:xfrm>
                <a:off x="5078801" y="3815101"/>
                <a:ext cx="367985" cy="461665"/>
              </a:xfrm>
              <a:prstGeom prst="rect">
                <a:avLst/>
              </a:prstGeom>
              <a:blipFill>
                <a:blip r:embed="rId6"/>
                <a:stretch>
                  <a:fillRect b="-8108"/>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30E740B8-B7AB-1343-A25B-142910F3DE9B}"/>
              </a:ext>
            </a:extLst>
          </p:cNvPr>
          <p:cNvGrpSpPr/>
          <p:nvPr/>
        </p:nvGrpSpPr>
        <p:grpSpPr>
          <a:xfrm>
            <a:off x="-49083" y="2336847"/>
            <a:ext cx="6875246" cy="1681772"/>
            <a:chOff x="-712023" y="2362247"/>
            <a:chExt cx="6875246" cy="1681772"/>
          </a:xfrm>
        </p:grpSpPr>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E7715DDF-93DB-CD47-A3BF-58015CA00CF1}"/>
                    </a:ext>
                  </a:extLst>
                </p:cNvPr>
                <p:cNvSpPr/>
                <p:nvPr/>
              </p:nvSpPr>
              <p:spPr>
                <a:xfrm>
                  <a:off x="-712023" y="3147384"/>
                  <a:ext cx="221291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e>
                        </m:d>
                        <m:r>
                          <a:rPr lang="sr-Latn-R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40" name="Rectangle 39">
                  <a:extLst>
                    <a:ext uri="{FF2B5EF4-FFF2-40B4-BE49-F238E27FC236}">
                      <a16:creationId xmlns:a16="http://schemas.microsoft.com/office/drawing/2014/main" id="{E7715DDF-93DB-CD47-A3BF-58015CA00CF1}"/>
                    </a:ext>
                  </a:extLst>
                </p:cNvPr>
                <p:cNvSpPr>
                  <a:spLocks noRot="1" noChangeAspect="1" noMove="1" noResize="1" noEditPoints="1" noAdjustHandles="1" noChangeArrowheads="1" noChangeShapeType="1" noTextEdit="1"/>
                </p:cNvSpPr>
                <p:nvPr/>
              </p:nvSpPr>
              <p:spPr>
                <a:xfrm>
                  <a:off x="-712023" y="3147384"/>
                  <a:ext cx="2212913" cy="876202"/>
                </a:xfrm>
                <a:prstGeom prst="rect">
                  <a:avLst/>
                </a:prstGeom>
                <a:blipFill>
                  <a:blip r:embed="rId7"/>
                  <a:stretch>
                    <a:fillRect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51EB20C4-43C4-304B-8521-F812E6AB4650}"/>
                    </a:ext>
                  </a:extLst>
                </p:cNvPr>
                <p:cNvSpPr/>
                <p:nvPr/>
              </p:nvSpPr>
              <p:spPr>
                <a:xfrm>
                  <a:off x="3126751" y="2362247"/>
                  <a:ext cx="3036472" cy="1052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e>
                        </m:d>
                        <m:r>
                          <a:rPr lang="sr-Latn-RS" sz="2800" b="0" i="1" smtClean="0">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a:latin typeface="Cambria Math" panose="02040503050406030204" pitchFamily="18" charset="0"/>
                                  </a:rPr>
                                  <m:t>0</m:t>
                                </m:r>
                              </m:e>
                            </m:d>
                            <m:r>
                              <a:rPr lang="sr-Latn-RS" sz="2800" b="0" i="1" smtClean="0">
                                <a:latin typeface="Cambria Math" panose="02040503050406030204" pitchFamily="18" charset="0"/>
                              </a:rPr>
                              <m:t>+</m:t>
                            </m:r>
                            <m:sSup>
                              <m:sSupPr>
                                <m:ctrlPr>
                                  <a:rPr lang="sr-Latn-RS" sz="2800" i="1">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𝑖</m:t>
                                </m:r>
                                <m:r>
                                  <a:rPr lang="sr-Latn-RS" sz="2800" i="1">
                                    <a:latin typeface="Cambria Math" panose="02040503050406030204" pitchFamily="18" charset="0"/>
                                    <a:ea typeface="Cambria Math" panose="02040503050406030204" pitchFamily="18" charset="0"/>
                                  </a:rPr>
                                  <m:t>𝜋</m:t>
                                </m:r>
                              </m:sup>
                            </m:sSup>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num>
                          <m:den>
                            <m:rad>
                              <m:radPr>
                                <m:degHide m:val="on"/>
                                <m:ctrlPr>
                                  <a:rPr lang="en-US" sz="2800" i="1">
                                    <a:latin typeface="Cambria Math" panose="02040503050406030204" pitchFamily="18" charset="0"/>
                                  </a:rPr>
                                </m:ctrlPr>
                              </m:radPr>
                              <m:deg/>
                              <m:e>
                                <m:r>
                                  <a:rPr lang="en-US" sz="2800">
                                    <a:latin typeface="Cambria Math" panose="02040503050406030204" pitchFamily="18" charset="0"/>
                                  </a:rPr>
                                  <m:t>2</m:t>
                                </m:r>
                              </m:e>
                            </m:rad>
                          </m:den>
                        </m:f>
                      </m:oMath>
                    </m:oMathPara>
                  </a14:m>
                  <a:endParaRPr lang="en-US" sz="2800" dirty="0"/>
                </a:p>
              </p:txBody>
            </p:sp>
          </mc:Choice>
          <mc:Fallback xmlns="">
            <p:sp>
              <p:nvSpPr>
                <p:cNvPr id="47" name="Rectangle 46">
                  <a:extLst>
                    <a:ext uri="{FF2B5EF4-FFF2-40B4-BE49-F238E27FC236}">
                      <a16:creationId xmlns:a16="http://schemas.microsoft.com/office/drawing/2014/main" id="{51EB20C4-43C4-304B-8521-F812E6AB4650}"/>
                    </a:ext>
                  </a:extLst>
                </p:cNvPr>
                <p:cNvSpPr>
                  <a:spLocks noRot="1" noChangeAspect="1" noMove="1" noResize="1" noEditPoints="1" noAdjustHandles="1" noChangeArrowheads="1" noChangeShapeType="1" noTextEdit="1"/>
                </p:cNvSpPr>
                <p:nvPr/>
              </p:nvSpPr>
              <p:spPr>
                <a:xfrm>
                  <a:off x="3126751" y="2362247"/>
                  <a:ext cx="3036472" cy="1052660"/>
                </a:xfrm>
                <a:prstGeom prst="rect">
                  <a:avLst/>
                </a:prstGeom>
                <a:blipFill>
                  <a:blip r:embed="rId8"/>
                  <a:stretch>
                    <a:fillRect b="-3571"/>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226CE79F-95A6-464E-92C8-2533AECFC83D}"/>
                </a:ext>
              </a:extLst>
            </p:cNvPr>
            <p:cNvCxnSpPr>
              <a:cxnSpLocks/>
            </p:cNvCxnSpPr>
            <p:nvPr/>
          </p:nvCxnSpPr>
          <p:spPr>
            <a:xfrm flipH="1">
              <a:off x="1125430" y="3266985"/>
              <a:ext cx="1179705" cy="777034"/>
            </a:xfrm>
            <a:prstGeom prst="straightConnector1">
              <a:avLst/>
            </a:prstGeom>
            <a:ln w="762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2F663B3-BBE0-814E-A215-55561567E35B}"/>
                </a:ext>
              </a:extLst>
            </p:cNvPr>
            <p:cNvCxnSpPr>
              <a:cxnSpLocks/>
            </p:cNvCxnSpPr>
            <p:nvPr/>
          </p:nvCxnSpPr>
          <p:spPr>
            <a:xfrm flipV="1">
              <a:off x="2303648" y="2775379"/>
              <a:ext cx="778796" cy="496980"/>
            </a:xfrm>
            <a:prstGeom prst="line">
              <a:avLst/>
            </a:prstGeom>
            <a:ln w="76200" cap="rnd">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66DE4EF1-1653-B844-8907-BD4B865A1A90}"/>
                  </a:ext>
                </a:extLst>
              </p:cNvPr>
              <p:cNvSpPr/>
              <p:nvPr/>
            </p:nvSpPr>
            <p:spPr>
              <a:xfrm>
                <a:off x="2964942" y="1738709"/>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oMath>
                  </m:oMathPara>
                </a14:m>
                <a:endParaRPr lang="en-US" sz="2400" dirty="0"/>
              </a:p>
            </p:txBody>
          </p:sp>
        </mc:Choice>
        <mc:Fallback xmlns="">
          <p:sp>
            <p:nvSpPr>
              <p:cNvPr id="54" name="Rectangle 53">
                <a:extLst>
                  <a:ext uri="{FF2B5EF4-FFF2-40B4-BE49-F238E27FC236}">
                    <a16:creationId xmlns:a16="http://schemas.microsoft.com/office/drawing/2014/main" id="{66DE4EF1-1653-B844-8907-BD4B865A1A90}"/>
                  </a:ext>
                </a:extLst>
              </p:cNvPr>
              <p:cNvSpPr>
                <a:spLocks noRot="1" noChangeAspect="1" noMove="1" noResize="1" noEditPoints="1" noAdjustHandles="1" noChangeArrowheads="1" noChangeShapeType="1" noTextEdit="1"/>
              </p:cNvSpPr>
              <p:nvPr/>
            </p:nvSpPr>
            <p:spPr>
              <a:xfrm>
                <a:off x="2964942" y="1738709"/>
                <a:ext cx="63152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B90E7DB-7A5F-AA45-A17D-40F0F22E6AC8}"/>
                  </a:ext>
                </a:extLst>
              </p:cNvPr>
              <p:cNvSpPr/>
              <p:nvPr/>
            </p:nvSpPr>
            <p:spPr>
              <a:xfrm>
                <a:off x="3040226" y="4693514"/>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b="0" i="0" smtClean="0">
                              <a:latin typeface="Cambria Math" panose="02040503050406030204" pitchFamily="18" charset="0"/>
                            </a:rPr>
                            <m:t>1</m:t>
                          </m:r>
                        </m:e>
                      </m:d>
                    </m:oMath>
                  </m:oMathPara>
                </a14:m>
                <a:endParaRPr lang="en-US" sz="2400" dirty="0"/>
              </a:p>
            </p:txBody>
          </p:sp>
        </mc:Choice>
        <mc:Fallback xmlns="">
          <p:sp>
            <p:nvSpPr>
              <p:cNvPr id="55" name="Rectangle 54">
                <a:extLst>
                  <a:ext uri="{FF2B5EF4-FFF2-40B4-BE49-F238E27FC236}">
                    <a16:creationId xmlns:a16="http://schemas.microsoft.com/office/drawing/2014/main" id="{5B90E7DB-7A5F-AA45-A17D-40F0F22E6AC8}"/>
                  </a:ext>
                </a:extLst>
              </p:cNvPr>
              <p:cNvSpPr>
                <a:spLocks noRot="1" noChangeAspect="1" noMove="1" noResize="1" noEditPoints="1" noAdjustHandles="1" noChangeArrowheads="1" noChangeShapeType="1" noTextEdit="1"/>
              </p:cNvSpPr>
              <p:nvPr/>
            </p:nvSpPr>
            <p:spPr>
              <a:xfrm>
                <a:off x="3040226" y="4693514"/>
                <a:ext cx="631519" cy="461665"/>
              </a:xfrm>
              <a:prstGeom prst="rect">
                <a:avLst/>
              </a:prstGeom>
              <a:blipFill>
                <a:blip r:embed="rId10"/>
                <a:stretch>
                  <a:fillRect/>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2048701A-A550-3F46-AFE7-57B818E1E5A3}"/>
              </a:ext>
            </a:extLst>
          </p:cNvPr>
          <p:cNvGrpSpPr/>
          <p:nvPr/>
        </p:nvGrpSpPr>
        <p:grpSpPr>
          <a:xfrm>
            <a:off x="1340915" y="1707719"/>
            <a:ext cx="10399956" cy="4277725"/>
            <a:chOff x="1340915" y="1707719"/>
            <a:chExt cx="10399956" cy="4277725"/>
          </a:xfrm>
        </p:grpSpPr>
        <p:grpSp>
          <p:nvGrpSpPr>
            <p:cNvPr id="4" name="Group 3">
              <a:extLst>
                <a:ext uri="{FF2B5EF4-FFF2-40B4-BE49-F238E27FC236}">
                  <a16:creationId xmlns:a16="http://schemas.microsoft.com/office/drawing/2014/main" id="{897F172B-44D3-B848-882A-00F5093120A0}"/>
                </a:ext>
              </a:extLst>
            </p:cNvPr>
            <p:cNvGrpSpPr/>
            <p:nvPr/>
          </p:nvGrpSpPr>
          <p:grpSpPr>
            <a:xfrm>
              <a:off x="6118295" y="3690596"/>
              <a:ext cx="5622576" cy="2294848"/>
              <a:chOff x="4499686" y="4172482"/>
              <a:chExt cx="6047715" cy="2294848"/>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6219130-3D65-5B4B-A643-33F58BD965FA}"/>
                      </a:ext>
                    </a:extLst>
                  </p:cNvPr>
                  <p:cNvSpPr/>
                  <p:nvPr/>
                </p:nvSpPr>
                <p:spPr>
                  <a:xfrm>
                    <a:off x="4499686" y="4797560"/>
                    <a:ext cx="1816779" cy="441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0" i="1" smtClean="0">
                                  <a:latin typeface="Cambria Math" panose="02040503050406030204" pitchFamily="18" charset="0"/>
                                  <a:cs typeface="Times New Roman" panose="02020603050405020304" pitchFamily="18" charset="0"/>
                                </a:rPr>
                                <m:t>𝑆</m:t>
                              </m:r>
                              <m:r>
                                <a:rPr lang="en-US" sz="2200" b="0" i="1" smtClean="0">
                                  <a:latin typeface="Cambria Math" panose="02040503050406030204" pitchFamily="18" charset="0"/>
                                  <a:cs typeface="Times New Roman" panose="02020603050405020304" pitchFamily="18" charset="0"/>
                                </a:rPr>
                                <m:t>′</m:t>
                              </m:r>
                            </m:e>
                          </m:d>
                          <m:sSup>
                            <m:sSupPr>
                              <m:ctrlPr>
                                <a:rPr lang="en-US" sz="2200" i="1">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m:t>
                              </m:r>
                              <m:r>
                                <a:rPr lang="en-US" sz="2200" i="1">
                                  <a:latin typeface="Cambria Math" panose="02040503050406030204" pitchFamily="18" charset="0"/>
                                  <a:cs typeface="Times New Roman" panose="02020603050405020304" pitchFamily="18" charset="0"/>
                                </a:rPr>
                                <m:t>𝑒</m:t>
                              </m:r>
                            </m:e>
                            <m:sup>
                              <m:r>
                                <a:rPr lang="en-US" sz="2200" i="1">
                                  <a:latin typeface="Cambria Math" panose="02040503050406030204" pitchFamily="18" charset="0"/>
                                  <a:cs typeface="Times New Roman" panose="02020603050405020304" pitchFamily="18" charset="0"/>
                                </a:rPr>
                                <m:t>𝑖</m:t>
                              </m:r>
                              <m:r>
                                <a:rPr lang="en-US" sz="2200" i="1" smtClean="0">
                                  <a:latin typeface="Cambria Math" panose="02040503050406030204" pitchFamily="18" charset="0"/>
                                  <a:ea typeface="Cambria Math" panose="02040503050406030204" pitchFamily="18" charset="0"/>
                                  <a:cs typeface="Times New Roman" panose="02020603050405020304" pitchFamily="18" charset="0"/>
                                </a:rPr>
                                <m:t>𝛾</m:t>
                              </m:r>
                            </m:sup>
                          </m:sSup>
                          <m:d>
                            <m:dPr>
                              <m:begChr m:val="|"/>
                              <m:endChr m:val="⟩"/>
                              <m:ctrlPr>
                                <a:rPr lang="en-US" sz="22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i="1">
                                  <a:latin typeface="Cambria Math" panose="02040503050406030204" pitchFamily="18" charset="0"/>
                                  <a:cs typeface="Times New Roman" panose="02020603050405020304" pitchFamily="18" charset="0"/>
                                </a:rPr>
                                <m:t>𝑆</m:t>
                              </m:r>
                            </m:e>
                          </m:d>
                        </m:oMath>
                      </m:oMathPara>
                    </a14:m>
                    <a:endParaRPr lang="en-US" sz="2200" dirty="0"/>
                  </a:p>
                </p:txBody>
              </p:sp>
            </mc:Choice>
            <mc:Fallback xmlns="">
              <p:sp>
                <p:nvSpPr>
                  <p:cNvPr id="7" name="Rectangle 6">
                    <a:extLst>
                      <a:ext uri="{FF2B5EF4-FFF2-40B4-BE49-F238E27FC236}">
                        <a16:creationId xmlns:a16="http://schemas.microsoft.com/office/drawing/2014/main" id="{C6219130-3D65-5B4B-A643-33F58BD965FA}"/>
                      </a:ext>
                    </a:extLst>
                  </p:cNvPr>
                  <p:cNvSpPr>
                    <a:spLocks noRot="1" noChangeAspect="1" noMove="1" noResize="1" noEditPoints="1" noAdjustHandles="1" noChangeArrowheads="1" noChangeShapeType="1" noTextEdit="1"/>
                  </p:cNvSpPr>
                  <p:nvPr/>
                </p:nvSpPr>
                <p:spPr>
                  <a:xfrm>
                    <a:off x="4499686" y="4797560"/>
                    <a:ext cx="1816779" cy="441916"/>
                  </a:xfrm>
                  <a:prstGeom prst="rect">
                    <a:avLst/>
                  </a:prstGeom>
                  <a:blipFill>
                    <a:blip r:embed="rId11"/>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0FFFD17-FD2E-E241-897F-92ABCE230F12}"/>
                  </a:ext>
                </a:extLst>
              </p:cNvPr>
              <p:cNvSpPr txBox="1"/>
              <p:nvPr/>
            </p:nvSpPr>
            <p:spPr>
              <a:xfrm>
                <a:off x="4528951" y="4172482"/>
                <a:ext cx="1915943" cy="461665"/>
              </a:xfrm>
              <a:prstGeom prst="rect">
                <a:avLst/>
              </a:prstGeom>
              <a:solidFill>
                <a:schemeClr val="accent4">
                  <a:lumMod val="20000"/>
                  <a:lumOff val="80000"/>
                </a:schemeClr>
              </a:solidFill>
            </p:spPr>
            <p:txBody>
              <a:bodyPr wrap="none" rtlCol="0">
                <a:spAutoFit/>
              </a:bodyPr>
              <a:lstStyle/>
              <a:p>
                <a:r>
                  <a:rPr lang="en-US" sz="2400" dirty="0">
                    <a:latin typeface="+mj-lt"/>
                  </a:rPr>
                  <a:t>Global phase</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B5FD85E-B3B8-3048-851B-2790AE22014D}"/>
                      </a:ext>
                    </a:extLst>
                  </p:cNvPr>
                  <p:cNvSpPr txBox="1"/>
                  <p:nvPr/>
                </p:nvSpPr>
                <p:spPr>
                  <a:xfrm>
                    <a:off x="4599357" y="5330352"/>
                    <a:ext cx="5948044" cy="1136978"/>
                  </a:xfrm>
                  <a:prstGeom prst="rect">
                    <a:avLst/>
                  </a:prstGeom>
                  <a:noFill/>
                </p:spPr>
                <p:txBody>
                  <a:bodyPr wrap="none" rtlCol="0">
                    <a:spAutoFit/>
                  </a:bodyPr>
                  <a:lstStyle/>
                  <a:p>
                    <a:r>
                      <a:rPr lang="en-US" sz="2200" dirty="0"/>
                      <a:t>Nema </a:t>
                    </a:r>
                    <a:r>
                      <a:rPr lang="en-US" sz="2200" dirty="0" err="1"/>
                      <a:t>uticaj</a:t>
                    </a:r>
                    <a:r>
                      <a:rPr lang="en-US" sz="2200" dirty="0"/>
                      <a:t> </a:t>
                    </a:r>
                    <a:r>
                      <a:rPr lang="en-US" sz="2200" dirty="0" err="1"/>
                      <a:t>na</a:t>
                    </a:r>
                    <a:r>
                      <a:rPr lang="en-US" sz="2200" dirty="0"/>
                      <a:t> </a:t>
                    </a:r>
                    <a:r>
                      <a:rPr lang="en-US" sz="2200" dirty="0" err="1"/>
                      <a:t>izmerenu</a:t>
                    </a:r>
                    <a:r>
                      <a:rPr lang="en-US" sz="2200" dirty="0"/>
                      <a:t> </a:t>
                    </a:r>
                    <a:r>
                      <a:rPr lang="en-US" sz="2200" dirty="0" err="1"/>
                      <a:t>vrednost</a:t>
                    </a:r>
                    <a:r>
                      <a:rPr lang="en-US" sz="2200" dirty="0"/>
                      <a:t> kubita </a:t>
                    </a:r>
                    <a:r>
                      <a:rPr lang="en-US" sz="2200" dirty="0" err="1"/>
                      <a:t>jer</a:t>
                    </a:r>
                    <a:r>
                      <a:rPr lang="en-US" sz="2200" dirty="0"/>
                      <a:t> </a:t>
                    </a:r>
                    <a:r>
                      <a:rPr lang="en-US" sz="2200" dirty="0" err="1"/>
                      <a:t>je</a:t>
                    </a:r>
                    <a:endParaRPr lang="en-US" sz="2200" dirty="0"/>
                  </a:p>
                  <a:p>
                    <a:endParaRPr lang="en-US" sz="2200" dirty="0"/>
                  </a:p>
                  <a:p>
                    <a:r>
                      <a:rPr lang="en-US" sz="2200" dirty="0"/>
                      <a:t> </a:t>
                    </a:r>
                    <a14:m>
                      <m:oMath xmlns:m="http://schemas.openxmlformats.org/officeDocument/2006/math">
                        <m:sSup>
                          <m:sSupPr>
                            <m:ctrlPr>
                              <a:rPr lang="en-US" sz="2200" i="1">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m:t>
                                </m:r>
                                <m:r>
                                  <a:rPr lang="en-US" sz="2200" i="1">
                                    <a:latin typeface="Cambria Math" panose="02040503050406030204" pitchFamily="18" charset="0"/>
                                    <a:cs typeface="Times New Roman" panose="02020603050405020304" pitchFamily="18" charset="0"/>
                                  </a:rPr>
                                  <m:t>𝑒</m:t>
                                </m:r>
                              </m:e>
                              <m:sup>
                                <m:r>
                                  <a:rPr lang="en-US" sz="2200" i="1">
                                    <a:latin typeface="Cambria Math" panose="02040503050406030204" pitchFamily="18" charset="0"/>
                                    <a:cs typeface="Times New Roman" panose="02020603050405020304" pitchFamily="18" charset="0"/>
                                  </a:rPr>
                                  <m:t>𝑖</m:t>
                                </m:r>
                                <m:r>
                                  <a:rPr lang="en-US" sz="2200" i="1">
                                    <a:latin typeface="Cambria Math" panose="02040503050406030204" pitchFamily="18" charset="0"/>
                                    <a:ea typeface="Cambria Math" panose="02040503050406030204" pitchFamily="18" charset="0"/>
                                    <a:cs typeface="Times New Roman" panose="02020603050405020304" pitchFamily="18" charset="0"/>
                                  </a:rPr>
                                  <m:t>𝛾</m:t>
                                </m:r>
                              </m:sup>
                            </m:sSup>
                            <m:r>
                              <a:rPr lang="en-US" sz="2200" i="1">
                                <a:latin typeface="Cambria Math" panose="02040503050406030204" pitchFamily="18" charset="0"/>
                                <a:ea typeface="Cambria Math" panose="02040503050406030204" pitchFamily="18" charset="0"/>
                                <a:cs typeface="Times New Roman" panose="02020603050405020304" pitchFamily="18" charset="0"/>
                              </a:rPr>
                              <m:t>|</m:t>
                            </m:r>
                          </m:e>
                          <m:sup>
                            <m:r>
                              <a:rPr lang="en-US" sz="2200" i="1">
                                <a:latin typeface="Cambria Math" panose="02040503050406030204" pitchFamily="18" charset="0"/>
                                <a:ea typeface="Cambria Math" panose="02040503050406030204" pitchFamily="18" charset="0"/>
                                <a:cs typeface="Times New Roman" panose="02020603050405020304" pitchFamily="18" charset="0"/>
                              </a:rPr>
                              <m:t>2</m:t>
                            </m:r>
                          </m:sup>
                        </m:sSup>
                        <m:r>
                          <a:rPr lang="en-US" sz="22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200" i="1">
                                <a:latin typeface="Cambria Math" panose="02040503050406030204" pitchFamily="18" charset="0"/>
                                <a:ea typeface="Cambria Math" panose="02040503050406030204" pitchFamily="18" charset="0"/>
                                <a:cs typeface="Times New Roman" panose="02020603050405020304" pitchFamily="18" charset="0"/>
                              </a:rPr>
                            </m:ctrlPr>
                          </m:sSupPr>
                          <m:e>
                            <m:func>
                              <m:funcPr>
                                <m:ctrlPr>
                                  <a:rPr lang="sr-Latn-RS" sz="2200" b="0" i="1" smtClean="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sr-Latn-RS" sz="2200" b="0" i="0" smtClean="0">
                                    <a:latin typeface="Cambria Math" panose="02040503050406030204" pitchFamily="18" charset="0"/>
                                    <a:ea typeface="Cambria Math" panose="02040503050406030204" pitchFamily="18" charset="0"/>
                                    <a:cs typeface="Times New Roman" panose="02020603050405020304" pitchFamily="18" charset="0"/>
                                  </a:rPr>
                                  <m:t>cos</m:t>
                                </m:r>
                              </m:fName>
                              <m:e>
                                <m:r>
                                  <a:rPr lang="en-US" sz="2200" i="1">
                                    <a:latin typeface="Cambria Math" panose="02040503050406030204" pitchFamily="18" charset="0"/>
                                    <a:ea typeface="Cambria Math" panose="02040503050406030204" pitchFamily="18" charset="0"/>
                                    <a:cs typeface="Times New Roman" panose="02020603050405020304" pitchFamily="18" charset="0"/>
                                  </a:rPr>
                                  <m:t>𝛾</m:t>
                                </m:r>
                              </m:e>
                            </m:func>
                            <m:r>
                              <a:rPr lang="sr-Latn-RS" sz="2200" b="0" i="1" smtClean="0">
                                <a:latin typeface="Cambria Math" panose="02040503050406030204" pitchFamily="18" charset="0"/>
                                <a:ea typeface="Cambria Math" panose="02040503050406030204" pitchFamily="18" charset="0"/>
                                <a:cs typeface="Times New Roman" panose="02020603050405020304" pitchFamily="18" charset="0"/>
                              </a:rPr>
                              <m:t>+</m:t>
                            </m:r>
                            <m:r>
                              <a:rPr lang="sr-Latn-RS" sz="2200" b="0" i="1" smtClean="0">
                                <a:latin typeface="Cambria Math" panose="02040503050406030204" pitchFamily="18" charset="0"/>
                                <a:ea typeface="Cambria Math" panose="02040503050406030204" pitchFamily="18" charset="0"/>
                                <a:cs typeface="Times New Roman" panose="02020603050405020304" pitchFamily="18" charset="0"/>
                              </a:rPr>
                              <m:t>𝑖</m:t>
                            </m:r>
                            <m:func>
                              <m:funcPr>
                                <m:ctrlPr>
                                  <a:rPr lang="sr-Latn-RS" sz="2200" b="0" i="1" smtClean="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sr-Latn-RS" sz="2200" b="0" i="0" smtClean="0">
                                    <a:latin typeface="Cambria Math" panose="02040503050406030204" pitchFamily="18" charset="0"/>
                                    <a:ea typeface="Cambria Math" panose="02040503050406030204" pitchFamily="18" charset="0"/>
                                    <a:cs typeface="Times New Roman" panose="02020603050405020304" pitchFamily="18" charset="0"/>
                                  </a:rPr>
                                  <m:t>sin</m:t>
                                </m:r>
                              </m:fName>
                              <m:e>
                                <m:r>
                                  <a:rPr lang="en-US" sz="2200" i="1">
                                    <a:latin typeface="Cambria Math" panose="02040503050406030204" pitchFamily="18" charset="0"/>
                                    <a:ea typeface="Cambria Math" panose="02040503050406030204" pitchFamily="18" charset="0"/>
                                    <a:cs typeface="Times New Roman" panose="02020603050405020304" pitchFamily="18" charset="0"/>
                                  </a:rPr>
                                  <m:t>𝛾</m:t>
                                </m:r>
                              </m:e>
                            </m:func>
                            <m:r>
                              <a:rPr lang="en-US" sz="2200" i="1">
                                <a:latin typeface="Cambria Math" panose="02040503050406030204" pitchFamily="18" charset="0"/>
                                <a:ea typeface="Cambria Math" panose="02040503050406030204" pitchFamily="18" charset="0"/>
                                <a:cs typeface="Times New Roman" panose="02020603050405020304" pitchFamily="18" charset="0"/>
                              </a:rPr>
                              <m:t>|</m:t>
                            </m:r>
                          </m:e>
                          <m:sup>
                            <m:r>
                              <a:rPr lang="en-US" sz="2200" i="1">
                                <a:latin typeface="Cambria Math" panose="02040503050406030204" pitchFamily="18" charset="0"/>
                                <a:ea typeface="Cambria Math" panose="02040503050406030204" pitchFamily="18" charset="0"/>
                                <a:cs typeface="Times New Roman" panose="02020603050405020304" pitchFamily="18" charset="0"/>
                              </a:rPr>
                              <m:t>2</m:t>
                            </m:r>
                          </m:sup>
                        </m:sSup>
                        <m:r>
                          <a:rPr lang="sr-Latn-RS" sz="22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200" i="1">
                            <a:latin typeface="Cambria Math" panose="02040503050406030204" pitchFamily="18" charset="0"/>
                            <a:ea typeface="Cambria Math" panose="02040503050406030204" pitchFamily="18" charset="0"/>
                            <a:cs typeface="Times New Roman" panose="02020603050405020304" pitchFamily="18" charset="0"/>
                          </a:rPr>
                          <m:t>1</m:t>
                        </m:r>
                      </m:oMath>
                    </a14:m>
                    <a:r>
                      <a:rPr lang="en-US" sz="2200" dirty="0"/>
                      <a:t>. </a:t>
                    </a:r>
                  </a:p>
                </p:txBody>
              </p:sp>
            </mc:Choice>
            <mc:Fallback xmlns="">
              <p:sp>
                <p:nvSpPr>
                  <p:cNvPr id="22" name="TextBox 21">
                    <a:extLst>
                      <a:ext uri="{FF2B5EF4-FFF2-40B4-BE49-F238E27FC236}">
                        <a16:creationId xmlns:a16="http://schemas.microsoft.com/office/drawing/2014/main" id="{2B5FD85E-B3B8-3048-851B-2790AE22014D}"/>
                      </a:ext>
                    </a:extLst>
                  </p:cNvPr>
                  <p:cNvSpPr txBox="1">
                    <a:spLocks noRot="1" noChangeAspect="1" noMove="1" noResize="1" noEditPoints="1" noAdjustHandles="1" noChangeArrowheads="1" noChangeShapeType="1" noTextEdit="1"/>
                  </p:cNvSpPr>
                  <p:nvPr/>
                </p:nvSpPr>
                <p:spPr>
                  <a:xfrm>
                    <a:off x="4599357" y="5330352"/>
                    <a:ext cx="5948044" cy="1136978"/>
                  </a:xfrm>
                  <a:prstGeom prst="rect">
                    <a:avLst/>
                  </a:prstGeom>
                  <a:blipFill>
                    <a:blip r:embed="rId12"/>
                    <a:stretch>
                      <a:fillRect l="-1376" t="-3333" r="-459" b="-7778"/>
                    </a:stretch>
                  </a:blipFill>
                </p:spPr>
                <p:txBody>
                  <a:bodyPr/>
                  <a:lstStyle/>
                  <a:p>
                    <a:r>
                      <a:rPr lang="en-US">
                        <a:noFill/>
                      </a:rPr>
                      <a:t> </a:t>
                    </a:r>
                  </a:p>
                </p:txBody>
              </p:sp>
            </mc:Fallback>
          </mc:AlternateContent>
        </p:grpSp>
        <p:cxnSp>
          <p:nvCxnSpPr>
            <p:cNvPr id="60" name="Straight Arrow Connector 59">
              <a:extLst>
                <a:ext uri="{FF2B5EF4-FFF2-40B4-BE49-F238E27FC236}">
                  <a16:creationId xmlns:a16="http://schemas.microsoft.com/office/drawing/2014/main" id="{75652C7F-D129-C342-B184-9AE80FF1C734}"/>
                </a:ext>
              </a:extLst>
            </p:cNvPr>
            <p:cNvCxnSpPr>
              <a:cxnSpLocks/>
            </p:cNvCxnSpPr>
            <p:nvPr/>
          </p:nvCxnSpPr>
          <p:spPr>
            <a:xfrm flipH="1" flipV="1">
              <a:off x="2152898" y="2290917"/>
              <a:ext cx="763761" cy="955629"/>
            </a:xfrm>
            <a:prstGeom prst="straightConnector1">
              <a:avLst/>
            </a:prstGeom>
            <a:ln w="762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495CDFBA-8A18-5E45-BD64-D84BAD821412}"/>
                    </a:ext>
                  </a:extLst>
                </p:cNvPr>
                <p:cNvSpPr/>
                <p:nvPr/>
              </p:nvSpPr>
              <p:spPr>
                <a:xfrm>
                  <a:off x="1340915" y="2280447"/>
                  <a:ext cx="6870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sty m:val="p"/>
                              </m:rPr>
                              <a:rPr lang="sr-Latn-RS" sz="2800" b="0" i="0" smtClean="0">
                                <a:latin typeface="Cambria Math" panose="02040503050406030204" pitchFamily="18" charset="0"/>
                              </a:rPr>
                              <m:t>S</m:t>
                            </m:r>
                          </m:e>
                        </m:d>
                      </m:oMath>
                    </m:oMathPara>
                  </a14:m>
                  <a:endParaRPr lang="en-US" sz="2800" dirty="0"/>
                </a:p>
              </p:txBody>
            </p:sp>
          </mc:Choice>
          <mc:Fallback xmlns="">
            <p:sp>
              <p:nvSpPr>
                <p:cNvPr id="63" name="Rectangle 62">
                  <a:extLst>
                    <a:ext uri="{FF2B5EF4-FFF2-40B4-BE49-F238E27FC236}">
                      <a16:creationId xmlns:a16="http://schemas.microsoft.com/office/drawing/2014/main" id="{495CDFBA-8A18-5E45-BD64-D84BAD821412}"/>
                    </a:ext>
                  </a:extLst>
                </p:cNvPr>
                <p:cNvSpPr>
                  <a:spLocks noRot="1" noChangeAspect="1" noMove="1" noResize="1" noEditPoints="1" noAdjustHandles="1" noChangeArrowheads="1" noChangeShapeType="1" noTextEdit="1"/>
                </p:cNvSpPr>
                <p:nvPr/>
              </p:nvSpPr>
              <p:spPr>
                <a:xfrm>
                  <a:off x="1340915" y="2280447"/>
                  <a:ext cx="687047" cy="523220"/>
                </a:xfrm>
                <a:prstGeom prst="rect">
                  <a:avLst/>
                </a:prstGeom>
                <a:blipFill>
                  <a:blip r:embed="rId13"/>
                  <a:stretch>
                    <a:fillRect/>
                  </a:stretch>
                </a:blipFill>
              </p:spPr>
              <p:txBody>
                <a:bodyPr/>
                <a:lstStyle/>
                <a:p>
                  <a:r>
                    <a:rPr lang="en-US">
                      <a:noFill/>
                    </a:rPr>
                    <a:t> </a:t>
                  </a:r>
                </a:p>
              </p:txBody>
            </p:sp>
          </mc:Fallback>
        </mc:AlternateContent>
        <p:sp>
          <p:nvSpPr>
            <p:cNvPr id="67" name="Oval 66">
              <a:extLst>
                <a:ext uri="{FF2B5EF4-FFF2-40B4-BE49-F238E27FC236}">
                  <a16:creationId xmlns:a16="http://schemas.microsoft.com/office/drawing/2014/main" id="{60EE2CDF-5582-FB42-B692-517339B013A3}"/>
                </a:ext>
              </a:extLst>
            </p:cNvPr>
            <p:cNvSpPr/>
            <p:nvPr/>
          </p:nvSpPr>
          <p:spPr>
            <a:xfrm>
              <a:off x="1522201" y="1707719"/>
              <a:ext cx="2765913" cy="668828"/>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3" name="Straight Arrow Connector 32">
            <a:extLst>
              <a:ext uri="{FF2B5EF4-FFF2-40B4-BE49-F238E27FC236}">
                <a16:creationId xmlns:a16="http://schemas.microsoft.com/office/drawing/2014/main" id="{BF7D9E37-7582-4141-B7AB-87FE9E12B412}"/>
              </a:ext>
            </a:extLst>
          </p:cNvPr>
          <p:cNvCxnSpPr>
            <a:cxnSpLocks/>
          </p:cNvCxnSpPr>
          <p:nvPr/>
        </p:nvCxnSpPr>
        <p:spPr>
          <a:xfrm flipV="1">
            <a:off x="2923103" y="1558090"/>
            <a:ext cx="0" cy="171426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96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349533-7ED6-AA48-9F02-BA771EE3A21D}"/>
              </a:ext>
            </a:extLst>
          </p:cNvPr>
          <p:cNvSpPr>
            <a:spLocks noGrp="1"/>
          </p:cNvSpPr>
          <p:nvPr>
            <p:ph type="sldNum" sz="quarter" idx="12"/>
          </p:nvPr>
        </p:nvSpPr>
        <p:spPr/>
        <p:txBody>
          <a:bodyPr/>
          <a:lstStyle/>
          <a:p>
            <a:fld id="{591A223C-FA10-BC46-A853-03BA373D023C}" type="slidenum">
              <a:rPr lang="en-US" smtClean="0"/>
              <a:t>37</a:t>
            </a:fld>
            <a:endParaRPr lang="en-US" dirty="0"/>
          </a:p>
        </p:txBody>
      </p:sp>
      <p:sp>
        <p:nvSpPr>
          <p:cNvPr id="4" name="Title 3">
            <a:extLst>
              <a:ext uri="{FF2B5EF4-FFF2-40B4-BE49-F238E27FC236}">
                <a16:creationId xmlns:a16="http://schemas.microsoft.com/office/drawing/2014/main" id="{09A79350-3CA6-EC4A-B045-B1AA7DFA8E45}"/>
              </a:ext>
            </a:extLst>
          </p:cNvPr>
          <p:cNvSpPr>
            <a:spLocks noGrp="1"/>
          </p:cNvSpPr>
          <p:nvPr>
            <p:ph type="title"/>
          </p:nvPr>
        </p:nvSpPr>
        <p:spPr/>
        <p:txBody>
          <a:bodyPr/>
          <a:lstStyle/>
          <a:p>
            <a:r>
              <a:rPr lang="en-ZA" dirty="0"/>
              <a:t>Born Rule Revisited</a:t>
            </a:r>
            <a:endParaRPr lang="en-US" dirty="0"/>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C78F3990-2AD6-6B41-9426-C1B76F67E265}"/>
                  </a:ext>
                </a:extLst>
              </p:cNvPr>
              <p:cNvSpPr/>
              <p:nvPr/>
            </p:nvSpPr>
            <p:spPr>
              <a:xfrm>
                <a:off x="50832" y="1062441"/>
                <a:ext cx="2774349" cy="46166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oMath>
                  </m:oMathPara>
                </a14:m>
                <a:endParaRPr lang="en-US" sz="2400" dirty="0"/>
              </a:p>
            </p:txBody>
          </p:sp>
        </mc:Choice>
        <mc:Fallback xmlns="">
          <p:sp>
            <p:nvSpPr>
              <p:cNvPr id="31" name="Rectangle 30">
                <a:extLst>
                  <a:ext uri="{FF2B5EF4-FFF2-40B4-BE49-F238E27FC236}">
                    <a16:creationId xmlns:a16="http://schemas.microsoft.com/office/drawing/2014/main" id="{C78F3990-2AD6-6B41-9426-C1B76F67E265}"/>
                  </a:ext>
                </a:extLst>
              </p:cNvPr>
              <p:cNvSpPr>
                <a:spLocks noRot="1" noChangeAspect="1" noMove="1" noResize="1" noEditPoints="1" noAdjustHandles="1" noChangeArrowheads="1" noChangeShapeType="1" noTextEdit="1"/>
              </p:cNvSpPr>
              <p:nvPr/>
            </p:nvSpPr>
            <p:spPr>
              <a:xfrm>
                <a:off x="50832" y="1062441"/>
                <a:ext cx="2774349" cy="461665"/>
              </a:xfrm>
              <a:prstGeom prst="rect">
                <a:avLst/>
              </a:prstGeom>
              <a:blipFill>
                <a:blip r:embed="rId3"/>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D839A138-8373-2F4A-A3A8-00A786D6130E}"/>
              </a:ext>
            </a:extLst>
          </p:cNvPr>
          <p:cNvGrpSpPr/>
          <p:nvPr/>
        </p:nvGrpSpPr>
        <p:grpSpPr>
          <a:xfrm>
            <a:off x="2827337" y="1080450"/>
            <a:ext cx="8793960" cy="2034799"/>
            <a:chOff x="2827337" y="1080450"/>
            <a:chExt cx="8793960" cy="2034799"/>
          </a:xfrm>
        </p:grpSpPr>
        <p:sp>
          <p:nvSpPr>
            <p:cNvPr id="33" name="Rectangle 32">
              <a:extLst>
                <a:ext uri="{FF2B5EF4-FFF2-40B4-BE49-F238E27FC236}">
                  <a16:creationId xmlns:a16="http://schemas.microsoft.com/office/drawing/2014/main" id="{407B3798-5848-6440-AC21-52238E81C6BD}"/>
                </a:ext>
              </a:extLst>
            </p:cNvPr>
            <p:cNvSpPr/>
            <p:nvPr/>
          </p:nvSpPr>
          <p:spPr>
            <a:xfrm>
              <a:off x="7275366" y="2637105"/>
              <a:ext cx="1430594" cy="4495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641BECDF-B1B1-CE4D-9986-A5A42F3243E2}"/>
                </a:ext>
              </a:extLst>
            </p:cNvPr>
            <p:cNvCxnSpPr>
              <a:cxnSpLocks/>
            </p:cNvCxnSpPr>
            <p:nvPr/>
          </p:nvCxnSpPr>
          <p:spPr>
            <a:xfrm flipV="1">
              <a:off x="5043983" y="2606805"/>
              <a:ext cx="323309" cy="48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CFA28BC-8882-684D-88A1-03AB7DFE98FA}"/>
                </a:ext>
              </a:extLst>
            </p:cNvPr>
            <p:cNvCxnSpPr>
              <a:cxnSpLocks/>
            </p:cNvCxnSpPr>
            <p:nvPr/>
          </p:nvCxnSpPr>
          <p:spPr>
            <a:xfrm flipV="1">
              <a:off x="6262356" y="2606805"/>
              <a:ext cx="323309" cy="48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35FA3E4-9CE0-BB4A-B465-0E5F6661FACD}"/>
                </a:ext>
              </a:extLst>
            </p:cNvPr>
            <p:cNvSpPr/>
            <p:nvPr/>
          </p:nvSpPr>
          <p:spPr>
            <a:xfrm>
              <a:off x="3399866" y="1080450"/>
              <a:ext cx="7180289" cy="778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8C5A104-BD00-8340-93AF-08E14872A173}"/>
                    </a:ext>
                  </a:extLst>
                </p:cNvPr>
                <p:cNvSpPr txBox="1"/>
                <p:nvPr/>
              </p:nvSpPr>
              <p:spPr>
                <a:xfrm>
                  <a:off x="3758619" y="1087504"/>
                  <a:ext cx="6815905" cy="430887"/>
                </a:xfrm>
                <a:prstGeom prst="rect">
                  <a:avLst/>
                </a:prstGeom>
                <a:noFill/>
              </p:spPr>
              <p:txBody>
                <a:bodyPr wrap="none" rtlCol="0">
                  <a:spAutoFit/>
                </a:bodyPr>
                <a:lstStyle/>
                <a:p>
                  <a:r>
                    <a:rPr lang="en-ZA" sz="2200" dirty="0">
                      <a:latin typeface="+mj-lt"/>
                    </a:rPr>
                    <a:t>Taking the inner product with the basis states </a:t>
                  </a:r>
                  <a14:m>
                    <m:oMath xmlns:m="http://schemas.openxmlformats.org/officeDocument/2006/math">
                      <m:r>
                        <a:rPr lang="en-US" sz="2200" i="1">
                          <a:solidFill>
                            <a:schemeClr val="tx1">
                              <a:lumMod val="65000"/>
                              <a:lumOff val="35000"/>
                            </a:schemeClr>
                          </a:solidFill>
                          <a:latin typeface="Cambria Math" panose="02040503050406030204" pitchFamily="18" charset="0"/>
                        </a:rPr>
                        <m:t>⟨</m:t>
                      </m:r>
                      <m:r>
                        <a:rPr lang="en-US" sz="2200" b="0" i="1" smtClean="0">
                          <a:solidFill>
                            <a:schemeClr val="tx1">
                              <a:lumMod val="65000"/>
                              <a:lumOff val="35000"/>
                            </a:schemeClr>
                          </a:solidFill>
                          <a:latin typeface="Cambria Math" panose="02040503050406030204" pitchFamily="18" charset="0"/>
                        </a:rPr>
                        <m:t>0</m:t>
                      </m:r>
                      <m:r>
                        <a:rPr lang="en-US" sz="2200" i="1">
                          <a:solidFill>
                            <a:schemeClr val="tx1">
                              <a:lumMod val="65000"/>
                              <a:lumOff val="35000"/>
                            </a:schemeClr>
                          </a:solidFill>
                          <a:latin typeface="Cambria Math" panose="02040503050406030204" pitchFamily="18" charset="0"/>
                        </a:rPr>
                        <m:t>|</m:t>
                      </m:r>
                    </m:oMath>
                  </a14:m>
                  <a:r>
                    <a:rPr lang="en-US" sz="2200" dirty="0">
                      <a:solidFill>
                        <a:schemeClr val="tx1">
                          <a:lumMod val="65000"/>
                          <a:lumOff val="35000"/>
                        </a:schemeClr>
                      </a:solidFill>
                      <a:latin typeface="+mj-lt"/>
                    </a:rPr>
                    <a:t> and </a:t>
                  </a:r>
                  <a14:m>
                    <m:oMath xmlns:m="http://schemas.openxmlformats.org/officeDocument/2006/math">
                      <m:r>
                        <a:rPr lang="en-US" sz="2200" i="1">
                          <a:solidFill>
                            <a:schemeClr val="tx1">
                              <a:lumMod val="65000"/>
                              <a:lumOff val="35000"/>
                            </a:schemeClr>
                          </a:solidFill>
                          <a:latin typeface="Cambria Math" panose="02040503050406030204" pitchFamily="18" charset="0"/>
                        </a:rPr>
                        <m:t>⟨</m:t>
                      </m:r>
                      <m:r>
                        <a:rPr lang="en-US" sz="2200" b="0" i="1" smtClean="0">
                          <a:solidFill>
                            <a:schemeClr val="tx1">
                              <a:lumMod val="65000"/>
                              <a:lumOff val="35000"/>
                            </a:schemeClr>
                          </a:solidFill>
                          <a:latin typeface="Cambria Math" panose="02040503050406030204" pitchFamily="18" charset="0"/>
                        </a:rPr>
                        <m:t>1</m:t>
                      </m:r>
                      <m:r>
                        <a:rPr lang="en-US" sz="2200" i="1">
                          <a:solidFill>
                            <a:schemeClr val="tx1">
                              <a:lumMod val="65000"/>
                              <a:lumOff val="35000"/>
                            </a:schemeClr>
                          </a:solidFill>
                          <a:latin typeface="Cambria Math" panose="02040503050406030204" pitchFamily="18" charset="0"/>
                        </a:rPr>
                        <m:t>|</m:t>
                      </m:r>
                    </m:oMath>
                  </a14:m>
                  <a:r>
                    <a:rPr lang="en-US" sz="2200" dirty="0">
                      <a:solidFill>
                        <a:schemeClr val="tx1">
                          <a:lumMod val="65000"/>
                          <a:lumOff val="35000"/>
                        </a:schemeClr>
                      </a:solidFill>
                      <a:effectLst/>
                      <a:latin typeface="+mj-lt"/>
                    </a:rPr>
                    <a:t> :</a:t>
                  </a:r>
                  <a:endParaRPr lang="en-US" sz="2200" dirty="0">
                    <a:solidFill>
                      <a:schemeClr val="tx1">
                        <a:lumMod val="65000"/>
                        <a:lumOff val="35000"/>
                      </a:schemeClr>
                    </a:solidFill>
                    <a:latin typeface="+mj-lt"/>
                  </a:endParaRPr>
                </a:p>
              </p:txBody>
            </p:sp>
          </mc:Choice>
          <mc:Fallback xmlns="">
            <p:sp>
              <p:nvSpPr>
                <p:cNvPr id="37" name="TextBox 36">
                  <a:extLst>
                    <a:ext uri="{FF2B5EF4-FFF2-40B4-BE49-F238E27FC236}">
                      <a16:creationId xmlns:a16="http://schemas.microsoft.com/office/drawing/2014/main" id="{B8C5A104-BD00-8340-93AF-08E14872A173}"/>
                    </a:ext>
                  </a:extLst>
                </p:cNvPr>
                <p:cNvSpPr txBox="1">
                  <a:spLocks noRot="1" noChangeAspect="1" noMove="1" noResize="1" noEditPoints="1" noAdjustHandles="1" noChangeArrowheads="1" noChangeShapeType="1" noTextEdit="1"/>
                </p:cNvSpPr>
                <p:nvPr/>
              </p:nvSpPr>
              <p:spPr>
                <a:xfrm>
                  <a:off x="3758619" y="1087504"/>
                  <a:ext cx="6815905" cy="430887"/>
                </a:xfrm>
                <a:prstGeom prst="rect">
                  <a:avLst/>
                </a:prstGeom>
                <a:blipFill>
                  <a:blip r:embed="rId4"/>
                  <a:stretch>
                    <a:fillRect l="-1115" t="-8571" b="-25714"/>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FCB2D182-A3EA-D34E-9F70-F1DA06629609}"/>
                </a:ext>
              </a:extLst>
            </p:cNvPr>
            <p:cNvSpPr/>
            <p:nvPr/>
          </p:nvSpPr>
          <p:spPr>
            <a:xfrm>
              <a:off x="7150732" y="1929269"/>
              <a:ext cx="1430594" cy="4495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30AC685-4C0D-0F43-9892-BE097B6E9836}"/>
                    </a:ext>
                  </a:extLst>
                </p:cNvPr>
                <p:cNvSpPr/>
                <p:nvPr/>
              </p:nvSpPr>
              <p:spPr>
                <a:xfrm>
                  <a:off x="8734416" y="2089136"/>
                  <a:ext cx="2886881" cy="77886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a:rPr lang="sr-Latn-RS" sz="2000" b="0" i="1" smtClean="0">
                            <a:latin typeface="Cambria Math" panose="02040503050406030204" pitchFamily="18" charset="0"/>
                          </a:rPr>
                          <m:t>𝑖</m:t>
                        </m:r>
                        <m:d>
                          <m:dPr>
                            <m:begChr m:val="|"/>
                            <m:endChr m:val="⟩"/>
                            <m:ctrlPr>
                              <a:rPr lang="en-US" sz="2000" i="1">
                                <a:latin typeface="Cambria Math" panose="02040503050406030204" pitchFamily="18" charset="0"/>
                              </a:rPr>
                            </m:ctrlPr>
                          </m:dPr>
                          <m:e>
                            <m:r>
                              <a:rPr lang="sr-Latn-RS" sz="2000" b="0" i="1" smtClean="0">
                                <a:latin typeface="Cambria Math" panose="02040503050406030204" pitchFamily="18" charset="0"/>
                              </a:rPr>
                              <m:t>𝑗</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𝛿</m:t>
                            </m:r>
                          </m:e>
                          <m:sub>
                            <m:r>
                              <a:rPr lang="sr-Latn-RS" sz="2000" b="0" i="1" smtClean="0">
                                <a:latin typeface="Cambria Math" panose="02040503050406030204" pitchFamily="18" charset="0"/>
                                <a:ea typeface="Cambria Math" panose="02040503050406030204" pitchFamily="18" charset="0"/>
                              </a:rPr>
                              <m:t>𝑖𝑖</m:t>
                            </m:r>
                          </m:sub>
                        </m:sSub>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r>
                                    <a:rPr lang="en-US" sz="2000" i="1">
                                      <a:latin typeface="Cambria Math" panose="02040503050406030204" pitchFamily="18" charset="0"/>
                                    </a:rPr>
                                    <m:t>   </m:t>
                                  </m:r>
                                  <m:r>
                                    <m:rPr>
                                      <m:sty m:val="p"/>
                                      <m:brk m:alnAt="7"/>
                                    </m:rPr>
                                    <a:rPr lang="en-US" sz="2000">
                                      <a:latin typeface="Cambria Math" panose="02040503050406030204" pitchFamily="18" charset="0"/>
                                    </a:rPr>
                                    <m:t>i</m:t>
                                  </m:r>
                                  <m:r>
                                    <m:rPr>
                                      <m:sty m:val="p"/>
                                    </m:rPr>
                                    <a:rPr lang="en-US" sz="2000">
                                      <a:latin typeface="Cambria Math" panose="02040503050406030204" pitchFamily="18" charset="0"/>
                                    </a:rPr>
                                    <m:t>f</m:t>
                                  </m:r>
                                  <m:r>
                                    <m:rPr>
                                      <m:brk m:alnAt="7"/>
                                    </m:rPr>
                                    <a:rPr lang="en-US" sz="2000" i="1">
                                      <a:latin typeface="Cambria Math" panose="02040503050406030204" pitchFamily="18" charset="0"/>
                                    </a:rPr>
                                    <m:t> </m:t>
                                  </m:r>
                                  <m:r>
                                    <a:rPr lang="sr-Latn-RS" sz="2000" b="0" i="1" smtClean="0">
                                      <a:latin typeface="Cambria Math" panose="02040503050406030204" pitchFamily="18" charset="0"/>
                                    </a:rPr>
                                    <m:t>𝑖</m:t>
                                  </m:r>
                                  <m:r>
                                    <a:rPr lang="en-US" sz="2000" i="1">
                                      <a:latin typeface="Cambria Math" panose="02040503050406030204" pitchFamily="18" charset="0"/>
                                    </a:rPr>
                                    <m:t>=</m:t>
                                  </m:r>
                                  <m:r>
                                    <a:rPr lang="sr-Latn-RS" sz="2000" b="0" i="1" smtClean="0">
                                      <a:latin typeface="Cambria Math" panose="02040503050406030204" pitchFamily="18" charset="0"/>
                                    </a:rPr>
                                    <m:t>𝑗</m:t>
                                  </m:r>
                                </m:e>
                              </m:mr>
                              <m:mr>
                                <m:e>
                                  <m:r>
                                    <a:rPr lang="en-US" sz="2000" i="1">
                                      <a:latin typeface="Cambria Math" panose="02040503050406030204" pitchFamily="18" charset="0"/>
                                    </a:rPr>
                                    <m:t>0   </m:t>
                                  </m:r>
                                  <m:r>
                                    <a:rPr lang="en-US" sz="2000" i="1">
                                      <a:latin typeface="Cambria Math" panose="02040503050406030204" pitchFamily="18" charset="0"/>
                                    </a:rPr>
                                    <m:t>𝑖𝑓</m:t>
                                  </m:r>
                                  <m:r>
                                    <a:rPr lang="en-US" sz="2000" i="1">
                                      <a:latin typeface="Cambria Math" panose="02040503050406030204" pitchFamily="18" charset="0"/>
                                    </a:rPr>
                                    <m:t> </m:t>
                                  </m:r>
                                  <m:r>
                                    <a:rPr lang="sr-Latn-RS" sz="2000" b="0" i="1" smtClean="0">
                                      <a:latin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sr-Latn-RS" sz="2000" b="0" i="1" smtClean="0">
                                      <a:latin typeface="Cambria Math" panose="02040503050406030204" pitchFamily="18" charset="0"/>
                                      <a:ea typeface="Cambria Math" panose="02040503050406030204" pitchFamily="18" charset="0"/>
                                    </a:rPr>
                                    <m:t>𝑗</m:t>
                                  </m:r>
                                </m:e>
                              </m:mr>
                            </m:m>
                          </m:e>
                        </m:d>
                      </m:oMath>
                    </m:oMathPara>
                  </a14:m>
                  <a:endParaRPr lang="en-US" sz="2000" dirty="0"/>
                </a:p>
              </p:txBody>
            </p:sp>
          </mc:Choice>
          <mc:Fallback xmlns="">
            <p:sp>
              <p:nvSpPr>
                <p:cNvPr id="39" name="Rectangle 38">
                  <a:extLst>
                    <a:ext uri="{FF2B5EF4-FFF2-40B4-BE49-F238E27FC236}">
                      <a16:creationId xmlns:a16="http://schemas.microsoft.com/office/drawing/2014/main" id="{E30AC685-4C0D-0F43-9892-BE097B6E9836}"/>
                    </a:ext>
                  </a:extLst>
                </p:cNvPr>
                <p:cNvSpPr>
                  <a:spLocks noRot="1" noChangeAspect="1" noMove="1" noResize="1" noEditPoints="1" noAdjustHandles="1" noChangeArrowheads="1" noChangeShapeType="1" noTextEdit="1"/>
                </p:cNvSpPr>
                <p:nvPr/>
              </p:nvSpPr>
              <p:spPr>
                <a:xfrm>
                  <a:off x="8734416" y="2089136"/>
                  <a:ext cx="2886881" cy="778868"/>
                </a:xfrm>
                <a:prstGeom prst="rect">
                  <a:avLst/>
                </a:prstGeom>
                <a:blipFill>
                  <a:blip r:embed="rId5"/>
                  <a:stretch>
                    <a:fillRect t="-190476" b="-27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BF79A1ED-8C4B-B34B-8980-75FF20F493DF}"/>
                    </a:ext>
                  </a:extLst>
                </p:cNvPr>
                <p:cNvSpPr/>
                <p:nvPr/>
              </p:nvSpPr>
              <p:spPr>
                <a:xfrm>
                  <a:off x="3495934" y="1920370"/>
                  <a:ext cx="5269841" cy="11948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ea typeface="Cambria Math" panose="02040503050406030204" pitchFamily="18" charset="0"/>
                                </a:rPr>
                                <m:t>⟶</m:t>
                              </m:r>
                              <m:r>
                                <m:rPr>
                                  <m:nor/>
                                </m:rPr>
                                <a:rPr lang="en-US" sz="2400" dirty="0"/>
                                <m:t> </m:t>
                              </m:r>
                              <m:sSub>
                                <m:sSubPr>
                                  <m:ctrlPr>
                                    <a:rPr lang="en-US" sz="2400" i="1" smtClean="0">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e>
                          </m:mr>
                          <m:mr>
                            <m:e/>
                          </m:mr>
                          <m:mr>
                            <m:e>
                              <m:r>
                                <a:rPr lang="en-U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ea typeface="Cambria Math" panose="02040503050406030204" pitchFamily="18" charset="0"/>
                                </a:rPr>
                                <m:t>⟶</m:t>
                              </m:r>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e>
                          </m:mr>
                        </m:m>
                      </m:oMath>
                    </m:oMathPara>
                  </a14:m>
                  <a:endParaRPr lang="en-US" sz="2400" dirty="0"/>
                </a:p>
              </p:txBody>
            </p:sp>
          </mc:Choice>
          <mc:Fallback xmlns="">
            <p:sp>
              <p:nvSpPr>
                <p:cNvPr id="15" name="Rectangle 14">
                  <a:extLst>
                    <a:ext uri="{FF2B5EF4-FFF2-40B4-BE49-F238E27FC236}">
                      <a16:creationId xmlns:a16="http://schemas.microsoft.com/office/drawing/2014/main" id="{63523177-F55C-284A-AF80-BC374171AFCE}"/>
                    </a:ext>
                  </a:extLst>
                </p:cNvPr>
                <p:cNvSpPr>
                  <a:spLocks noRot="1" noChangeAspect="1" noMove="1" noResize="1" noEditPoints="1" noAdjustHandles="1" noChangeArrowheads="1" noChangeShapeType="1" noTextEdit="1"/>
                </p:cNvSpPr>
                <p:nvPr/>
              </p:nvSpPr>
              <p:spPr>
                <a:xfrm>
                  <a:off x="3495934" y="1920370"/>
                  <a:ext cx="5269841" cy="1194879"/>
                </a:xfrm>
                <a:prstGeom prst="rect">
                  <a:avLst/>
                </a:prstGeom>
                <a:blipFill>
                  <a:blip r:embed="rId6"/>
                  <a:stretch>
                    <a:fillRect t="-3158" b="-9474"/>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E61A07A-FB21-6943-90AB-71210DE4F441}"/>
                </a:ext>
              </a:extLst>
            </p:cNvPr>
            <p:cNvCxnSpPr>
              <a:cxnSpLocks/>
            </p:cNvCxnSpPr>
            <p:nvPr/>
          </p:nvCxnSpPr>
          <p:spPr>
            <a:xfrm flipV="1">
              <a:off x="6130854" y="1883551"/>
              <a:ext cx="323309" cy="48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4553F1B-4B43-CD4C-A622-720022E7D8B9}"/>
                </a:ext>
              </a:extLst>
            </p:cNvPr>
            <p:cNvSpPr txBox="1"/>
            <p:nvPr/>
          </p:nvSpPr>
          <p:spPr>
            <a:xfrm>
              <a:off x="6440379" y="1612591"/>
              <a:ext cx="314510" cy="400110"/>
            </a:xfrm>
            <a:prstGeom prst="rect">
              <a:avLst/>
            </a:prstGeom>
            <a:noFill/>
          </p:spPr>
          <p:txBody>
            <a:bodyPr wrap="none" rtlCol="0">
              <a:spAutoFit/>
            </a:bodyPr>
            <a:lstStyle/>
            <a:p>
              <a:r>
                <a:rPr lang="en-US" sz="2000" dirty="0"/>
                <a:t>0</a:t>
              </a:r>
            </a:p>
          </p:txBody>
        </p:sp>
        <p:sp>
          <p:nvSpPr>
            <p:cNvPr id="43" name="TextBox 42">
              <a:extLst>
                <a:ext uri="{FF2B5EF4-FFF2-40B4-BE49-F238E27FC236}">
                  <a16:creationId xmlns:a16="http://schemas.microsoft.com/office/drawing/2014/main" id="{44F73E87-7B2B-C64E-B2C1-B15D26EAA18F}"/>
                </a:ext>
              </a:extLst>
            </p:cNvPr>
            <p:cNvSpPr txBox="1"/>
            <p:nvPr/>
          </p:nvSpPr>
          <p:spPr>
            <a:xfrm>
              <a:off x="5291860" y="2369932"/>
              <a:ext cx="314510" cy="400110"/>
            </a:xfrm>
            <a:prstGeom prst="rect">
              <a:avLst/>
            </a:prstGeom>
            <a:noFill/>
          </p:spPr>
          <p:txBody>
            <a:bodyPr wrap="none" rtlCol="0">
              <a:spAutoFit/>
            </a:bodyPr>
            <a:lstStyle/>
            <a:p>
              <a:r>
                <a:rPr lang="en-US" sz="2000" dirty="0"/>
                <a:t>0</a:t>
              </a:r>
            </a:p>
          </p:txBody>
        </p:sp>
        <p:cxnSp>
          <p:nvCxnSpPr>
            <p:cNvPr id="44" name="Straight Arrow Connector 43">
              <a:extLst>
                <a:ext uri="{FF2B5EF4-FFF2-40B4-BE49-F238E27FC236}">
                  <a16:creationId xmlns:a16="http://schemas.microsoft.com/office/drawing/2014/main" id="{DC017DC1-48CF-8848-A303-029EA5593E74}"/>
                </a:ext>
              </a:extLst>
            </p:cNvPr>
            <p:cNvCxnSpPr>
              <a:cxnSpLocks/>
            </p:cNvCxnSpPr>
            <p:nvPr/>
          </p:nvCxnSpPr>
          <p:spPr>
            <a:xfrm flipV="1">
              <a:off x="5006876" y="1883551"/>
              <a:ext cx="323309" cy="486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419B36B-49F9-C749-AFEB-8D23436EBCB2}"/>
                </a:ext>
              </a:extLst>
            </p:cNvPr>
            <p:cNvSpPr txBox="1"/>
            <p:nvPr/>
          </p:nvSpPr>
          <p:spPr>
            <a:xfrm>
              <a:off x="5311023" y="1596750"/>
              <a:ext cx="314510" cy="400110"/>
            </a:xfrm>
            <a:prstGeom prst="rect">
              <a:avLst/>
            </a:prstGeom>
            <a:noFill/>
          </p:spPr>
          <p:txBody>
            <a:bodyPr wrap="none" rtlCol="0">
              <a:spAutoFit/>
            </a:bodyPr>
            <a:lstStyle/>
            <a:p>
              <a:r>
                <a:rPr lang="en-US" sz="2000" dirty="0"/>
                <a:t>1</a:t>
              </a:r>
            </a:p>
          </p:txBody>
        </p:sp>
        <p:sp>
          <p:nvSpPr>
            <p:cNvPr id="46" name="TextBox 45">
              <a:extLst>
                <a:ext uri="{FF2B5EF4-FFF2-40B4-BE49-F238E27FC236}">
                  <a16:creationId xmlns:a16="http://schemas.microsoft.com/office/drawing/2014/main" id="{C9FEA5CB-4CFA-1343-ABFB-3A6424C3ECC9}"/>
                </a:ext>
              </a:extLst>
            </p:cNvPr>
            <p:cNvSpPr txBox="1"/>
            <p:nvPr/>
          </p:nvSpPr>
          <p:spPr>
            <a:xfrm>
              <a:off x="6454163" y="2369932"/>
              <a:ext cx="314510" cy="400110"/>
            </a:xfrm>
            <a:prstGeom prst="rect">
              <a:avLst/>
            </a:prstGeom>
            <a:noFill/>
          </p:spPr>
          <p:txBody>
            <a:bodyPr wrap="none" rtlCol="0">
              <a:spAutoFit/>
            </a:bodyPr>
            <a:lstStyle/>
            <a:p>
              <a:r>
                <a:rPr lang="en-US" sz="2000" dirty="0"/>
                <a:t>1</a:t>
              </a:r>
            </a:p>
          </p:txBody>
        </p:sp>
        <p:cxnSp>
          <p:nvCxnSpPr>
            <p:cNvPr id="47" name="Straight Connector 46">
              <a:extLst>
                <a:ext uri="{FF2B5EF4-FFF2-40B4-BE49-F238E27FC236}">
                  <a16:creationId xmlns:a16="http://schemas.microsoft.com/office/drawing/2014/main" id="{A6BC7952-0946-A443-9D76-B3CCAE0EE349}"/>
                </a:ext>
              </a:extLst>
            </p:cNvPr>
            <p:cNvCxnSpPr>
              <a:cxnSpLocks/>
            </p:cNvCxnSpPr>
            <p:nvPr/>
          </p:nvCxnSpPr>
          <p:spPr>
            <a:xfrm>
              <a:off x="3598387" y="1603235"/>
              <a:ext cx="7170049"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Right Arrow 47">
              <a:extLst>
                <a:ext uri="{FF2B5EF4-FFF2-40B4-BE49-F238E27FC236}">
                  <a16:creationId xmlns:a16="http://schemas.microsoft.com/office/drawing/2014/main" id="{76CE2A5B-42E3-F444-B77A-0F83D1A04940}"/>
                </a:ext>
              </a:extLst>
            </p:cNvPr>
            <p:cNvSpPr/>
            <p:nvPr/>
          </p:nvSpPr>
          <p:spPr>
            <a:xfrm>
              <a:off x="2827337" y="1123331"/>
              <a:ext cx="452788" cy="339883"/>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527F19EE-77AD-4741-9384-75DD0DDD7746}"/>
              </a:ext>
            </a:extLst>
          </p:cNvPr>
          <p:cNvGrpSpPr/>
          <p:nvPr/>
        </p:nvGrpSpPr>
        <p:grpSpPr>
          <a:xfrm>
            <a:off x="3300606" y="3160249"/>
            <a:ext cx="8467542" cy="1985294"/>
            <a:chOff x="3300606" y="3160249"/>
            <a:chExt cx="8467542" cy="1985294"/>
          </a:xfrm>
        </p:grpSpPr>
        <p:sp>
          <p:nvSpPr>
            <p:cNvPr id="50" name="Rectangle 49">
              <a:extLst>
                <a:ext uri="{FF2B5EF4-FFF2-40B4-BE49-F238E27FC236}">
                  <a16:creationId xmlns:a16="http://schemas.microsoft.com/office/drawing/2014/main" id="{E0C5933A-F942-0C44-8030-9E6C1A5BE243}"/>
                </a:ext>
              </a:extLst>
            </p:cNvPr>
            <p:cNvSpPr/>
            <p:nvPr/>
          </p:nvSpPr>
          <p:spPr>
            <a:xfrm>
              <a:off x="3300606" y="4295789"/>
              <a:ext cx="8467542" cy="80293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CD4F936A-7F3B-814F-8AA8-9E5953E7E363}"/>
                </a:ext>
              </a:extLst>
            </p:cNvPr>
            <p:cNvSpPr/>
            <p:nvPr/>
          </p:nvSpPr>
          <p:spPr>
            <a:xfrm>
              <a:off x="3649805" y="4314546"/>
              <a:ext cx="7806913" cy="830997"/>
            </a:xfrm>
            <a:prstGeom prst="rect">
              <a:avLst/>
            </a:prstGeom>
            <a:noFill/>
          </p:spPr>
          <p:txBody>
            <a:bodyPr wrap="square">
              <a:spAutoFit/>
            </a:bodyPr>
            <a:lstStyle/>
            <a:p>
              <a:pPr lvl="0" algn="ctr">
                <a:defRPr/>
              </a:pPr>
              <a:r>
                <a:rPr lang="en-ZA" sz="2400" dirty="0"/>
                <a:t>The inner product extracts the probability amplitude associated with each basis state.</a:t>
              </a:r>
            </a:p>
          </p:txBody>
        </p:sp>
        <p:sp>
          <p:nvSpPr>
            <p:cNvPr id="52" name="Right Arrow 51">
              <a:extLst>
                <a:ext uri="{FF2B5EF4-FFF2-40B4-BE49-F238E27FC236}">
                  <a16:creationId xmlns:a16="http://schemas.microsoft.com/office/drawing/2014/main" id="{B54DB0E2-7241-5545-B136-9FB3F6A7ED9B}"/>
                </a:ext>
              </a:extLst>
            </p:cNvPr>
            <p:cNvSpPr/>
            <p:nvPr/>
          </p:nvSpPr>
          <p:spPr>
            <a:xfrm rot="5400000">
              <a:off x="6439780" y="3216701"/>
              <a:ext cx="452788" cy="339883"/>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A09CA5BE-5BD7-DB45-8B5C-31B110EFDC74}"/>
                    </a:ext>
                  </a:extLst>
                </p:cNvPr>
                <p:cNvSpPr/>
                <p:nvPr/>
              </p:nvSpPr>
              <p:spPr>
                <a:xfrm>
                  <a:off x="6096000" y="3682307"/>
                  <a:ext cx="163660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𝑎</m:t>
                            </m:r>
                          </m:e>
                          <m:sub>
                            <m:r>
                              <m:rPr>
                                <m:sty m:val="p"/>
                              </m:rPr>
                              <a:rPr lang="sr-Latn-RS" sz="2400" b="0" i="0" smtClean="0">
                                <a:latin typeface="Cambria Math" panose="02040503050406030204" pitchFamily="18" charset="0"/>
                              </a:rPr>
                              <m:t>k</m:t>
                            </m:r>
                          </m:sub>
                        </m:sSub>
                        <m:r>
                          <a:rPr lang="en-US" sz="2400">
                            <a:latin typeface="Cambria Math" panose="02040503050406030204" pitchFamily="18" charset="0"/>
                          </a:rPr>
                          <m:t>=⟨</m:t>
                        </m:r>
                        <m:r>
                          <a:rPr lang="en-US" sz="2400" b="0" i="1" smtClean="0">
                            <a:latin typeface="Cambria Math" panose="02040503050406030204" pitchFamily="18" charset="0"/>
                          </a:rPr>
                          <m:t>𝑘</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m:oMathPara>
                  </a14:m>
                  <a:endParaRPr lang="en-US" sz="2400" dirty="0"/>
                </a:p>
              </p:txBody>
            </p:sp>
          </mc:Choice>
          <mc:Fallback xmlns="">
            <p:sp>
              <p:nvSpPr>
                <p:cNvPr id="27" name="Rectangle 26">
                  <a:extLst>
                    <a:ext uri="{FF2B5EF4-FFF2-40B4-BE49-F238E27FC236}">
                      <a16:creationId xmlns:a16="http://schemas.microsoft.com/office/drawing/2014/main" id="{EA34A89A-6BA5-244B-B7B2-64ED12AE6B53}"/>
                    </a:ext>
                  </a:extLst>
                </p:cNvPr>
                <p:cNvSpPr>
                  <a:spLocks noRot="1" noChangeAspect="1" noMove="1" noResize="1" noEditPoints="1" noAdjustHandles="1" noChangeArrowheads="1" noChangeShapeType="1" noTextEdit="1"/>
                </p:cNvSpPr>
                <p:nvPr/>
              </p:nvSpPr>
              <p:spPr>
                <a:xfrm>
                  <a:off x="6096000" y="3682307"/>
                  <a:ext cx="1636602" cy="461665"/>
                </a:xfrm>
                <a:prstGeom prst="rect">
                  <a:avLst/>
                </a:prstGeom>
                <a:blipFill>
                  <a:blip r:embed="rId8"/>
                  <a:stretch>
                    <a:fillRect b="-16216"/>
                  </a:stretch>
                </a:blipFill>
              </p:spPr>
              <p:txBody>
                <a:bodyPr/>
                <a:lstStyle/>
                <a:p>
                  <a:r>
                    <a:rPr lang="en-US">
                      <a:noFill/>
                    </a:rPr>
                    <a:t> </a:t>
                  </a:r>
                </a:p>
              </p:txBody>
            </p:sp>
          </mc:Fallback>
        </mc:AlternateContent>
      </p:grpSp>
      <p:grpSp>
        <p:nvGrpSpPr>
          <p:cNvPr id="54" name="Group 53">
            <a:extLst>
              <a:ext uri="{FF2B5EF4-FFF2-40B4-BE49-F238E27FC236}">
                <a16:creationId xmlns:a16="http://schemas.microsoft.com/office/drawing/2014/main" id="{3216DB59-2338-C847-8193-3C834F877AA7}"/>
              </a:ext>
            </a:extLst>
          </p:cNvPr>
          <p:cNvGrpSpPr/>
          <p:nvPr/>
        </p:nvGrpSpPr>
        <p:grpSpPr>
          <a:xfrm>
            <a:off x="193915" y="5008829"/>
            <a:ext cx="11129710" cy="1386084"/>
            <a:chOff x="193915" y="5008829"/>
            <a:chExt cx="11129710" cy="1386084"/>
          </a:xfrm>
        </p:grpSpPr>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36B5B92B-F90F-DD4E-8242-33BCE4D8F664}"/>
                    </a:ext>
                  </a:extLst>
                </p:cNvPr>
                <p:cNvSpPr/>
                <p:nvPr/>
              </p:nvSpPr>
              <p:spPr>
                <a:xfrm>
                  <a:off x="1075162" y="5865857"/>
                  <a:ext cx="10248463" cy="529056"/>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2800" i="1" smtClean="0">
                                <a:latin typeface="Cambria Math" panose="02040503050406030204" pitchFamily="18" charset="0"/>
                              </a:rPr>
                            </m:ctrlPr>
                          </m:mPr>
                          <m:mr>
                            <m:e>
                              <m:r>
                                <a:rPr lang="sr-Latn-RS" sz="2800" b="0" i="1" smtClean="0">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𝑘</m:t>
                                  </m:r>
                                </m:e>
                              </m:d>
                              <m:r>
                                <a:rPr lang="en-US" sz="2800" i="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e>
                                  </m:d>
                                </m:e>
                                <m:sup>
                                  <m:r>
                                    <a:rPr lang="en-US" sz="2800" i="0">
                                      <a:latin typeface="Cambria Math" panose="02040503050406030204" pitchFamily="18" charset="0"/>
                                    </a:rPr>
                                    <m:t>2</m:t>
                                  </m:r>
                                </m:sup>
                              </m:sSup>
                              <m:r>
                                <a:rPr lang="en-US" sz="2800" i="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0">
                                          <a:latin typeface="Cambria Math" panose="02040503050406030204" pitchFamily="18" charset="0"/>
                                        </a:rPr>
                                        <m:t>⟨</m:t>
                                      </m:r>
                                      <m:r>
                                        <a:rPr lang="en-US" sz="2800" i="1">
                                          <a:latin typeface="Cambria Math" panose="02040503050406030204" pitchFamily="18" charset="0"/>
                                        </a:rPr>
                                        <m:t>𝑘</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e>
                                  </m:d>
                                </m:e>
                                <m:sup>
                                  <m:r>
                                    <a:rPr lang="en-US" sz="2800" i="0">
                                      <a:latin typeface="Cambria Math" panose="02040503050406030204" pitchFamily="18" charset="0"/>
                                    </a:rPr>
                                    <m:t>2</m:t>
                                  </m:r>
                                </m:sup>
                              </m:sSup>
                            </m:e>
                            <m:e>
                              <m:r>
                                <m:rPr>
                                  <m:sty m:val="p"/>
                                </m:rPr>
                                <a:rPr lang="en-US" sz="2800" i="0">
                                  <a:latin typeface="Cambria Math" panose="02040503050406030204" pitchFamily="18" charset="0"/>
                                </a:rPr>
                                <m:t>ili</m:t>
                              </m:r>
                            </m:e>
                            <m:e>
                              <m:r>
                                <a:rPr lang="sr-Latn-RS" sz="2800" b="0" i="1" smtClean="0">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𝑘</m:t>
                                  </m:r>
                                </m:e>
                              </m:d>
                              <m:r>
                                <a:rPr lang="en-US" sz="2800" i="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e>
                                  </m:d>
                                </m:e>
                                <m:sup>
                                  <m:r>
                                    <a:rPr lang="en-US" sz="2800" i="0">
                                      <a:latin typeface="Cambria Math" panose="02040503050406030204" pitchFamily="18" charset="0"/>
                                    </a:rPr>
                                    <m:t>2</m:t>
                                  </m:r>
                                </m:sup>
                              </m:sSup>
                              <m:r>
                                <a:rPr lang="en-US" sz="2800" i="0">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i="1">
                                      <a:latin typeface="Cambria Math" panose="02040503050406030204" pitchFamily="18" charset="0"/>
                                    </a:rPr>
                                    <m:t>𝑘</m:t>
                                  </m:r>
                                </m:sub>
                                <m:sup>
                                  <m:r>
                                    <a:rPr lang="en-US" sz="2800" i="0">
                                      <a:latin typeface="Cambria Math" panose="02040503050406030204" pitchFamily="18" charset="0"/>
                                    </a:rPr>
                                    <m:t>∗</m:t>
                                  </m:r>
                                </m:sup>
                              </m:sSubSup>
                            </m:e>
                          </m:mr>
                        </m:m>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r>
                          <a:rPr lang="en-US" sz="2800" i="0">
                            <a:latin typeface="Cambria Math" panose="02040503050406030204" pitchFamily="18" charset="0"/>
                          </a:rPr>
                          <m:t>=⟨</m:t>
                        </m:r>
                        <m:r>
                          <a:rPr lang="en-US" sz="2800" i="1">
                            <a:latin typeface="Cambria Math" panose="02040503050406030204" pitchFamily="18" charset="0"/>
                          </a:rPr>
                          <m:t>𝑆</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𝑘</m:t>
                            </m:r>
                          </m:e>
                        </m:d>
                        <m:r>
                          <a:rPr lang="en-US" sz="2800" i="0">
                            <a:latin typeface="Cambria Math" panose="02040503050406030204" pitchFamily="18" charset="0"/>
                          </a:rPr>
                          <m:t>⟨</m:t>
                        </m:r>
                        <m:r>
                          <a:rPr lang="en-US" sz="2800" i="1">
                            <a:latin typeface="Cambria Math" panose="02040503050406030204" pitchFamily="18" charset="0"/>
                          </a:rPr>
                          <m:t>𝑘</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oMath>
                    </m:oMathPara>
                  </a14:m>
                  <a:endParaRPr lang="en-US" sz="2800" dirty="0"/>
                </a:p>
              </p:txBody>
            </p:sp>
          </mc:Choice>
          <mc:Fallback xmlns="">
            <p:sp>
              <p:nvSpPr>
                <p:cNvPr id="28" name="Rectangle 27">
                  <a:extLst>
                    <a:ext uri="{FF2B5EF4-FFF2-40B4-BE49-F238E27FC236}">
                      <a16:creationId xmlns:a16="http://schemas.microsoft.com/office/drawing/2014/main" id="{B5CF22BF-0122-FF48-9737-583FEBFFFECC}"/>
                    </a:ext>
                  </a:extLst>
                </p:cNvPr>
                <p:cNvSpPr>
                  <a:spLocks noRot="1" noChangeAspect="1" noMove="1" noResize="1" noEditPoints="1" noAdjustHandles="1" noChangeArrowheads="1" noChangeShapeType="1" noTextEdit="1"/>
                </p:cNvSpPr>
                <p:nvPr/>
              </p:nvSpPr>
              <p:spPr>
                <a:xfrm>
                  <a:off x="1075162" y="5865857"/>
                  <a:ext cx="10248463" cy="529056"/>
                </a:xfrm>
                <a:prstGeom prst="rect">
                  <a:avLst/>
                </a:prstGeom>
                <a:blipFill>
                  <a:blip r:embed="rId9"/>
                  <a:stretch>
                    <a:fillRect b="-18605"/>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68A9FC74-B883-3A4D-8D0D-03A6AA83A5BD}"/>
                </a:ext>
              </a:extLst>
            </p:cNvPr>
            <p:cNvSpPr txBox="1"/>
            <p:nvPr/>
          </p:nvSpPr>
          <p:spPr>
            <a:xfrm>
              <a:off x="193915" y="5008829"/>
              <a:ext cx="1539204" cy="523220"/>
            </a:xfrm>
            <a:prstGeom prst="rect">
              <a:avLst/>
            </a:prstGeom>
            <a:solidFill>
              <a:schemeClr val="accent4">
                <a:lumMod val="40000"/>
                <a:lumOff val="60000"/>
              </a:schemeClr>
            </a:solidFill>
          </p:spPr>
          <p:txBody>
            <a:bodyPr wrap="none" rtlCol="0">
              <a:spAutoFit/>
            </a:bodyPr>
            <a:lstStyle/>
            <a:p>
              <a:r>
                <a:rPr lang="en-US" sz="2800" dirty="0"/>
                <a:t>Born rule</a:t>
              </a:r>
            </a:p>
          </p:txBody>
        </p:sp>
      </p:grpSp>
    </p:spTree>
    <p:extLst>
      <p:ext uri="{BB962C8B-B14F-4D97-AF65-F5344CB8AC3E}">
        <p14:creationId xmlns:p14="http://schemas.microsoft.com/office/powerpoint/2010/main" val="323999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dissolve">
                                      <p:cBhvr>
                                        <p:cTn id="1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4E36B-1971-6C40-B832-771DB4970021}"/>
              </a:ext>
            </a:extLst>
          </p:cNvPr>
          <p:cNvSpPr>
            <a:spLocks noGrp="1"/>
          </p:cNvSpPr>
          <p:nvPr>
            <p:ph type="title"/>
          </p:nvPr>
        </p:nvSpPr>
        <p:spPr>
          <a:xfrm>
            <a:off x="0" y="0"/>
            <a:ext cx="12192000" cy="928688"/>
          </a:xfrm>
        </p:spPr>
        <p:txBody>
          <a:bodyPr/>
          <a:lstStyle/>
          <a:p>
            <a:r>
              <a:rPr lang="en-ZA" dirty="0"/>
              <a:t>Projective Measurement and Observables</a:t>
            </a:r>
            <a:endParaRPr lang="en-US" dirty="0"/>
          </a:p>
        </p:txBody>
      </p:sp>
      <p:sp>
        <p:nvSpPr>
          <p:cNvPr id="3" name="Slide Number Placeholder 2">
            <a:extLst>
              <a:ext uri="{FF2B5EF4-FFF2-40B4-BE49-F238E27FC236}">
                <a16:creationId xmlns:a16="http://schemas.microsoft.com/office/drawing/2014/main" id="{7BFD2961-2696-564C-8B75-39AD6AC3F096}"/>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20" name="Rectangle 19">
            <a:extLst>
              <a:ext uri="{FF2B5EF4-FFF2-40B4-BE49-F238E27FC236}">
                <a16:creationId xmlns:a16="http://schemas.microsoft.com/office/drawing/2014/main" id="{41167477-3B4D-E340-B658-98E50FBD0AF0}"/>
              </a:ext>
            </a:extLst>
          </p:cNvPr>
          <p:cNvSpPr/>
          <p:nvPr/>
        </p:nvSpPr>
        <p:spPr>
          <a:xfrm>
            <a:off x="3382780" y="1283976"/>
            <a:ext cx="7180289" cy="778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8D4085DD-D2F0-644C-BCFE-F4233297A746}"/>
                  </a:ext>
                </a:extLst>
              </p:cNvPr>
              <p:cNvSpPr/>
              <p:nvPr/>
            </p:nvSpPr>
            <p:spPr>
              <a:xfrm>
                <a:off x="3604750" y="1226484"/>
                <a:ext cx="4510017" cy="461665"/>
              </a:xfrm>
              <a:prstGeom prst="rect">
                <a:avLst/>
              </a:prstGeom>
              <a:noFill/>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m:rPr>
                            <m:sty m:val="p"/>
                          </m:rPr>
                          <a:rPr lang="sr-Latn-RS" sz="2400">
                            <a:latin typeface="Cambria Math" panose="02040503050406030204" pitchFamily="18" charset="0"/>
                          </a:rPr>
                          <m:t>k</m:t>
                        </m:r>
                      </m:sub>
                    </m:sSub>
                    <m:r>
                      <a:rPr lang="en-US" sz="2400">
                        <a:latin typeface="Cambria Math" panose="02040503050406030204" pitchFamily="18" charset="0"/>
                      </a:rPr>
                      <m:t>=⟨</m:t>
                    </m:r>
                    <m:r>
                      <a:rPr lang="en-US" sz="2400" i="1">
                        <a:latin typeface="Cambria Math" panose="02040503050406030204" pitchFamily="18" charset="0"/>
                      </a:rPr>
                      <m:t>𝑘</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a14:m>
                <a:endParaRPr lang="en-US" sz="2400" dirty="0"/>
              </a:p>
            </p:txBody>
          </p:sp>
        </mc:Choice>
        <mc:Fallback xmlns="">
          <p:sp>
            <p:nvSpPr>
              <p:cNvPr id="21" name="Rectangle 20">
                <a:extLst>
                  <a:ext uri="{FF2B5EF4-FFF2-40B4-BE49-F238E27FC236}">
                    <a16:creationId xmlns:a16="http://schemas.microsoft.com/office/drawing/2014/main" id="{8D4085DD-D2F0-644C-BCFE-F4233297A746}"/>
                  </a:ext>
                </a:extLst>
              </p:cNvPr>
              <p:cNvSpPr>
                <a:spLocks noRot="1" noChangeAspect="1" noMove="1" noResize="1" noEditPoints="1" noAdjustHandles="1" noChangeArrowheads="1" noChangeShapeType="1" noTextEdit="1"/>
              </p:cNvSpPr>
              <p:nvPr/>
            </p:nvSpPr>
            <p:spPr>
              <a:xfrm>
                <a:off x="3604750" y="1226484"/>
                <a:ext cx="4510017" cy="461665"/>
              </a:xfrm>
              <a:prstGeom prst="rect">
                <a:avLst/>
              </a:prstGeom>
              <a:blipFill>
                <a:blip r:embed="rId3"/>
                <a:stretch>
                  <a:fillRect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1FA1D22-FD2E-564F-A454-35ED90882F9C}"/>
                  </a:ext>
                </a:extLst>
              </p:cNvPr>
              <p:cNvSpPr/>
              <p:nvPr/>
            </p:nvSpPr>
            <p:spPr>
              <a:xfrm>
                <a:off x="3627537" y="1844200"/>
                <a:ext cx="3538276"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b="0" i="1" smtClean="0">
                        <a:latin typeface="Cambria Math" panose="02040503050406030204" pitchFamily="18" charset="0"/>
                      </a:rPr>
                      <m:t>+</m:t>
                    </m:r>
                    <m:r>
                      <a:rPr lang="en-US" sz="2400">
                        <a:latin typeface="Cambria Math" panose="02040503050406030204" pitchFamily="18" charset="0"/>
                      </a:rPr>
                      <m:t>⟨</m:t>
                    </m:r>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m:rPr>
                        <m:nor/>
                      </m:rPr>
                      <a:rPr lang="en-US" sz="2400" dirty="0"/>
                      <m:t> </m:t>
                    </m:r>
                    <m:d>
                      <m:dPr>
                        <m:begChr m:val="|"/>
                        <m:endChr m:val="⟩"/>
                        <m:ctrlPr>
                          <a:rPr lang="en-US" sz="2400" i="1">
                            <a:latin typeface="Cambria Math" panose="02040503050406030204" pitchFamily="18" charset="0"/>
                          </a:rPr>
                        </m:ctrlPr>
                      </m:dPr>
                      <m:e>
                        <m:r>
                          <a:rPr lang="en-US" sz="2400" b="0" i="0" smtClean="0">
                            <a:latin typeface="Cambria Math" panose="02040503050406030204" pitchFamily="18" charset="0"/>
                          </a:rPr>
                          <m:t>1</m:t>
                        </m:r>
                      </m:e>
                    </m:d>
                  </m:oMath>
                </a14:m>
                <a:endParaRPr lang="en-US" sz="2400" dirty="0"/>
              </a:p>
            </p:txBody>
          </p:sp>
        </mc:Choice>
        <mc:Fallback xmlns="">
          <p:sp>
            <p:nvSpPr>
              <p:cNvPr id="22" name="Rectangle 21">
                <a:extLst>
                  <a:ext uri="{FF2B5EF4-FFF2-40B4-BE49-F238E27FC236}">
                    <a16:creationId xmlns:a16="http://schemas.microsoft.com/office/drawing/2014/main" id="{A1FA1D22-FD2E-564F-A454-35ED90882F9C}"/>
                  </a:ext>
                </a:extLst>
              </p:cNvPr>
              <p:cNvSpPr>
                <a:spLocks noRot="1" noChangeAspect="1" noMove="1" noResize="1" noEditPoints="1" noAdjustHandles="1" noChangeArrowheads="1" noChangeShapeType="1" noTextEdit="1"/>
              </p:cNvSpPr>
              <p:nvPr/>
            </p:nvSpPr>
            <p:spPr>
              <a:xfrm>
                <a:off x="3627537" y="1844200"/>
                <a:ext cx="3538276" cy="461665"/>
              </a:xfrm>
              <a:prstGeom prst="rect">
                <a:avLst/>
              </a:prstGeom>
              <a:blipFill>
                <a:blip r:embed="rId4"/>
                <a:stretch>
                  <a:fillRect t="-5263" b="-21053"/>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3CDC40C4-D9AF-2A42-9CE5-0BDC02E9DAA1}"/>
              </a:ext>
            </a:extLst>
          </p:cNvPr>
          <p:cNvGrpSpPr/>
          <p:nvPr/>
        </p:nvGrpSpPr>
        <p:grpSpPr>
          <a:xfrm>
            <a:off x="222785" y="1227945"/>
            <a:ext cx="11746429" cy="3477689"/>
            <a:chOff x="239823" y="1678073"/>
            <a:chExt cx="11746429" cy="3477689"/>
          </a:xfrm>
        </p:grpSpPr>
        <p:grpSp>
          <p:nvGrpSpPr>
            <p:cNvPr id="24" name="Group 23">
              <a:extLst>
                <a:ext uri="{FF2B5EF4-FFF2-40B4-BE49-F238E27FC236}">
                  <a16:creationId xmlns:a16="http://schemas.microsoft.com/office/drawing/2014/main" id="{5EC0093F-89CA-A247-8FCE-4881DBF70A7E}"/>
                </a:ext>
              </a:extLst>
            </p:cNvPr>
            <p:cNvGrpSpPr/>
            <p:nvPr/>
          </p:nvGrpSpPr>
          <p:grpSpPr>
            <a:xfrm>
              <a:off x="239823" y="1841309"/>
              <a:ext cx="3228583" cy="3314453"/>
              <a:chOff x="4884017" y="3164365"/>
              <a:chExt cx="3228583" cy="3314453"/>
            </a:xfrm>
          </p:grpSpPr>
          <p:pic>
            <p:nvPicPr>
              <p:cNvPr id="27" name="Picture 26">
                <a:extLst>
                  <a:ext uri="{FF2B5EF4-FFF2-40B4-BE49-F238E27FC236}">
                    <a16:creationId xmlns:a16="http://schemas.microsoft.com/office/drawing/2014/main" id="{E8C2FCAD-54E2-714F-AA18-21594F14AD77}"/>
                  </a:ext>
                </a:extLst>
              </p:cNvPr>
              <p:cNvPicPr>
                <a:picLocks noChangeAspect="1"/>
              </p:cNvPicPr>
              <p:nvPr/>
            </p:nvPicPr>
            <p:blipFill>
              <a:blip r:embed="rId5"/>
              <a:stretch>
                <a:fillRect/>
              </a:stretch>
            </p:blipFill>
            <p:spPr>
              <a:xfrm>
                <a:off x="4884017" y="3164365"/>
                <a:ext cx="3212782" cy="3314453"/>
              </a:xfrm>
              <a:prstGeom prst="rect">
                <a:avLst/>
              </a:prstGeom>
            </p:spPr>
          </p:pic>
          <p:pic>
            <p:nvPicPr>
              <p:cNvPr id="28" name="Picture 27">
                <a:extLst>
                  <a:ext uri="{FF2B5EF4-FFF2-40B4-BE49-F238E27FC236}">
                    <a16:creationId xmlns:a16="http://schemas.microsoft.com/office/drawing/2014/main" id="{AEEBFFDF-B8E9-C94F-AE11-7CEE2C25B18A}"/>
                  </a:ext>
                </a:extLst>
              </p:cNvPr>
              <p:cNvPicPr>
                <a:picLocks noChangeAspect="1"/>
              </p:cNvPicPr>
              <p:nvPr/>
            </p:nvPicPr>
            <p:blipFill>
              <a:blip r:embed="rId6"/>
              <a:stretch>
                <a:fillRect/>
              </a:stretch>
            </p:blipFill>
            <p:spPr>
              <a:xfrm rot="13444925" flipH="1">
                <a:off x="5444452" y="3182996"/>
                <a:ext cx="885570" cy="885570"/>
              </a:xfrm>
              <a:prstGeom prst="rect">
                <a:avLst/>
              </a:prstGeom>
              <a:noFill/>
            </p:spPr>
          </p:pic>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5E15A748-0CA1-0E4B-A32A-CF0AB0FB85FF}"/>
                      </a:ext>
                    </a:extLst>
                  </p:cNvPr>
                  <p:cNvSpPr/>
                  <p:nvPr/>
                </p:nvSpPr>
                <p:spPr>
                  <a:xfrm>
                    <a:off x="6120139" y="3378802"/>
                    <a:ext cx="1048179" cy="4802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0</m:t>
                              </m:r>
                            </m:e>
                          </m:d>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0</m:t>
                              </m:r>
                            </m:e>
                          </m:d>
                        </m:oMath>
                      </m:oMathPara>
                    </a14:m>
                    <a:endParaRPr lang="en-US" dirty="0"/>
                  </a:p>
                </p:txBody>
              </p:sp>
            </mc:Choice>
            <mc:Fallback xmlns="">
              <p:sp>
                <p:nvSpPr>
                  <p:cNvPr id="49" name="Rectangle 48">
                    <a:extLst>
                      <a:ext uri="{FF2B5EF4-FFF2-40B4-BE49-F238E27FC236}">
                        <a16:creationId xmlns:a16="http://schemas.microsoft.com/office/drawing/2014/main" id="{87612EC7-8ED2-964F-AD28-902F5D8F97EC}"/>
                      </a:ext>
                    </a:extLst>
                  </p:cNvPr>
                  <p:cNvSpPr>
                    <a:spLocks noRot="1" noChangeAspect="1" noMove="1" noResize="1" noEditPoints="1" noAdjustHandles="1" noChangeArrowheads="1" noChangeShapeType="1" noTextEdit="1"/>
                  </p:cNvSpPr>
                  <p:nvPr/>
                </p:nvSpPr>
                <p:spPr>
                  <a:xfrm>
                    <a:off x="6120139" y="3378802"/>
                    <a:ext cx="1048179" cy="480274"/>
                  </a:xfrm>
                  <a:prstGeom prst="rect">
                    <a:avLst/>
                  </a:prstGeom>
                  <a:blipFill>
                    <a:blip r:embed="rId7"/>
                    <a:stretch>
                      <a:fillRect/>
                    </a:stretch>
                  </a:blipFill>
                </p:spPr>
                <p:txBody>
                  <a:bodyPr/>
                  <a:lstStyle/>
                  <a:p>
                    <a:r>
                      <a:rPr lang="en-US">
                        <a:noFill/>
                      </a:rPr>
                      <a:t> </a:t>
                    </a:r>
                  </a:p>
                </p:txBody>
              </p:sp>
            </mc:Fallback>
          </mc:AlternateContent>
          <p:pic>
            <p:nvPicPr>
              <p:cNvPr id="30" name="Picture 29">
                <a:extLst>
                  <a:ext uri="{FF2B5EF4-FFF2-40B4-BE49-F238E27FC236}">
                    <a16:creationId xmlns:a16="http://schemas.microsoft.com/office/drawing/2014/main" id="{0788BCAD-C7FF-AB4A-B628-9049EDEB2CCB}"/>
                  </a:ext>
                </a:extLst>
              </p:cNvPr>
              <p:cNvPicPr>
                <a:picLocks noChangeAspect="1"/>
              </p:cNvPicPr>
              <p:nvPr/>
            </p:nvPicPr>
            <p:blipFill>
              <a:blip r:embed="rId6"/>
              <a:stretch>
                <a:fillRect/>
              </a:stretch>
            </p:blipFill>
            <p:spPr>
              <a:xfrm rot="18935220" flipH="1">
                <a:off x="6805607" y="4726161"/>
                <a:ext cx="885570" cy="885570"/>
              </a:xfrm>
              <a:prstGeom prst="rect">
                <a:avLst/>
              </a:prstGeom>
              <a:noFill/>
            </p:spPr>
          </p:pic>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09EBB187-4F17-444B-9314-8F9C551660C7}"/>
                      </a:ext>
                    </a:extLst>
                  </p:cNvPr>
                  <p:cNvSpPr/>
                  <p:nvPr/>
                </p:nvSpPr>
                <p:spPr>
                  <a:xfrm>
                    <a:off x="7064421" y="4436901"/>
                    <a:ext cx="1048179" cy="4802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d>
                            <m:dPr>
                              <m:begChr m:val="⟨"/>
                              <m:endChr m:val="|"/>
                              <m:ctrlPr>
                                <a:rPr lang="en-US" i="1">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oMath>
                      </m:oMathPara>
                    </a14:m>
                    <a:endParaRPr lang="en-US" dirty="0">
                      <a:solidFill>
                        <a:srgbClr val="FF0000"/>
                      </a:solidFill>
                    </a:endParaRPr>
                  </a:p>
                </p:txBody>
              </p:sp>
            </mc:Choice>
            <mc:Fallback xmlns="">
              <p:sp>
                <p:nvSpPr>
                  <p:cNvPr id="55" name="Rectangle 54">
                    <a:extLst>
                      <a:ext uri="{FF2B5EF4-FFF2-40B4-BE49-F238E27FC236}">
                        <a16:creationId xmlns:a16="http://schemas.microsoft.com/office/drawing/2014/main" id="{4DB1BAC1-E958-7545-A3AE-CEA026CEC9BE}"/>
                      </a:ext>
                    </a:extLst>
                  </p:cNvPr>
                  <p:cNvSpPr>
                    <a:spLocks noRot="1" noChangeAspect="1" noMove="1" noResize="1" noEditPoints="1" noAdjustHandles="1" noChangeArrowheads="1" noChangeShapeType="1" noTextEdit="1"/>
                  </p:cNvSpPr>
                  <p:nvPr/>
                </p:nvSpPr>
                <p:spPr>
                  <a:xfrm>
                    <a:off x="7064421" y="4436901"/>
                    <a:ext cx="1048179" cy="480274"/>
                  </a:xfrm>
                  <a:prstGeom prst="rect">
                    <a:avLst/>
                  </a:prstGeom>
                  <a:blipFill>
                    <a:blip r:embed="rId8"/>
                    <a:stretch>
                      <a:fillRect/>
                    </a:stretch>
                  </a:blipFill>
                </p:spPr>
                <p:txBody>
                  <a:bodyPr/>
                  <a:lstStyle/>
                  <a:p>
                    <a:r>
                      <a:rPr lang="en-US">
                        <a:noFill/>
                      </a:rPr>
                      <a:t> </a:t>
                    </a:r>
                  </a:p>
                </p:txBody>
              </p:sp>
            </mc:Fallback>
          </mc:AlternateContent>
        </p:grpSp>
        <p:sp>
          <p:nvSpPr>
            <p:cNvPr id="25" name="TextBox 24">
              <a:extLst>
                <a:ext uri="{FF2B5EF4-FFF2-40B4-BE49-F238E27FC236}">
                  <a16:creationId xmlns:a16="http://schemas.microsoft.com/office/drawing/2014/main" id="{346D3278-E895-3045-A9CA-B12FAC240F88}"/>
                </a:ext>
              </a:extLst>
            </p:cNvPr>
            <p:cNvSpPr txBox="1"/>
            <p:nvPr/>
          </p:nvSpPr>
          <p:spPr>
            <a:xfrm>
              <a:off x="8353775" y="1678073"/>
              <a:ext cx="3632477" cy="1107996"/>
            </a:xfrm>
            <a:prstGeom prst="rect">
              <a:avLst/>
            </a:prstGeom>
            <a:solidFill>
              <a:schemeClr val="accent4">
                <a:lumMod val="20000"/>
                <a:lumOff val="80000"/>
              </a:schemeClr>
            </a:solidFill>
          </p:spPr>
          <p:txBody>
            <a:bodyPr wrap="square" rtlCol="0">
              <a:spAutoFit/>
            </a:bodyPr>
            <a:lstStyle/>
            <a:p>
              <a:pPr algn="ctr"/>
              <a:r>
                <a:rPr lang="en-ZA" sz="2200" dirty="0">
                  <a:latin typeface="+mj-lt"/>
                </a:rPr>
                <a:t>A qubit state can be expressed as the sum of its projections onto the basis vectors.</a:t>
              </a:r>
              <a:endParaRPr lang="en-US" sz="2200" dirty="0">
                <a:latin typeface="+mj-lt"/>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25189E07-561D-824C-9082-8E489FCF8967}"/>
                    </a:ext>
                  </a:extLst>
                </p:cNvPr>
                <p:cNvSpPr/>
                <p:nvPr/>
              </p:nvSpPr>
              <p:spPr>
                <a:xfrm>
                  <a:off x="3672547" y="2949670"/>
                  <a:ext cx="5890652"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d>
                        <m:dPr>
                          <m:begChr m:val="|"/>
                          <m:endChr m:val="⟩"/>
                          <m:ctrlPr>
                            <a:rPr lang="en-US" sz="2400" i="1">
                              <a:solidFill>
                                <a:srgbClr val="0000FF"/>
                              </a:solidFill>
                              <a:latin typeface="Cambria Math" panose="02040503050406030204" pitchFamily="18" charset="0"/>
                            </a:rPr>
                          </m:ctrlPr>
                        </m:dPr>
                        <m:e>
                          <m:r>
                            <a:rPr lang="en-US" sz="2400" b="0" i="1" smtClean="0">
                              <a:solidFill>
                                <a:srgbClr val="0000FF"/>
                              </a:solidFill>
                              <a:latin typeface="Cambria Math" panose="02040503050406030204" pitchFamily="18" charset="0"/>
                            </a:rPr>
                            <m:t>0</m:t>
                          </m:r>
                        </m:e>
                      </m:d>
                      <m:d>
                        <m:dPr>
                          <m:begChr m:val="⟨"/>
                          <m:endChr m:val="|"/>
                          <m:ctrlPr>
                            <a:rPr lang="en-US" sz="2400" i="1">
                              <a:solidFill>
                                <a:srgbClr val="0000FF"/>
                              </a:solidFill>
                              <a:latin typeface="Cambria Math" panose="02040503050406030204" pitchFamily="18" charset="0"/>
                            </a:rPr>
                          </m:ctrlPr>
                        </m:dPr>
                        <m:e>
                          <m:r>
                            <a:rPr lang="en-US" sz="2400" b="0" i="1" smtClean="0">
                              <a:solidFill>
                                <a:srgbClr val="0000FF"/>
                              </a:solidFill>
                              <a:latin typeface="Cambria Math" panose="02040503050406030204" pitchFamily="18" charset="0"/>
                            </a:rPr>
                            <m:t>0</m:t>
                          </m:r>
                        </m:e>
                      </m:d>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a14:m>
                  <a:r>
                    <a:rPr lang="en-US" sz="2400" dirty="0"/>
                    <a:t> +</a:t>
                  </a:r>
                  <a:r>
                    <a:rPr lang="en-US" sz="2400" dirty="0">
                      <a:solidFill>
                        <a:srgbClr val="0000FF"/>
                      </a:solidFill>
                    </a:rPr>
                    <a:t> </a:t>
                  </a:r>
                  <a14:m>
                    <m:oMath xmlns:m="http://schemas.openxmlformats.org/officeDocument/2006/math">
                      <m:d>
                        <m:dPr>
                          <m:begChr m:val="|"/>
                          <m:endChr m:val="⟩"/>
                          <m:ctrlPr>
                            <a:rPr lang="en-US" sz="240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1</m:t>
                          </m:r>
                        </m:e>
                      </m:d>
                      <m:d>
                        <m:dPr>
                          <m:begChr m:val="⟨"/>
                          <m:endChr m:val="|"/>
                          <m:ctrlPr>
                            <a:rPr lang="en-US" sz="2400" i="1">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1</m:t>
                          </m:r>
                        </m:e>
                      </m:d>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b="0" i="1" smtClean="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a14:m>
                  <a:endParaRPr lang="en-US" sz="2400" dirty="0"/>
                </a:p>
              </p:txBody>
            </p:sp>
          </mc:Choice>
          <mc:Fallback xmlns="">
            <p:sp>
              <p:nvSpPr>
                <p:cNvPr id="26" name="Rectangle 25">
                  <a:extLst>
                    <a:ext uri="{FF2B5EF4-FFF2-40B4-BE49-F238E27FC236}">
                      <a16:creationId xmlns:a16="http://schemas.microsoft.com/office/drawing/2014/main" id="{25189E07-561D-824C-9082-8E489FCF8967}"/>
                    </a:ext>
                  </a:extLst>
                </p:cNvPr>
                <p:cNvSpPr>
                  <a:spLocks noRot="1" noChangeAspect="1" noMove="1" noResize="1" noEditPoints="1" noAdjustHandles="1" noChangeArrowheads="1" noChangeShapeType="1" noTextEdit="1"/>
                </p:cNvSpPr>
                <p:nvPr/>
              </p:nvSpPr>
              <p:spPr>
                <a:xfrm>
                  <a:off x="3672547" y="2949670"/>
                  <a:ext cx="5890652" cy="461665"/>
                </a:xfrm>
                <a:prstGeom prst="rect">
                  <a:avLst/>
                </a:prstGeom>
                <a:blipFill>
                  <a:blip r:embed="rId9"/>
                  <a:stretch>
                    <a:fillRect t="-8108" b="-29730"/>
                  </a:stretch>
                </a:blipFill>
              </p:spPr>
              <p:txBody>
                <a:bodyPr/>
                <a:lstStyle/>
                <a:p>
                  <a:r>
                    <a:rPr lang="en-US">
                      <a:noFill/>
                    </a:rPr>
                    <a:t> </a:t>
                  </a:r>
                </a:p>
              </p:txBody>
            </p:sp>
          </mc:Fallback>
        </mc:AlternateContent>
      </p:grpSp>
      <p:grpSp>
        <p:nvGrpSpPr>
          <p:cNvPr id="35" name="Group 34">
            <a:extLst>
              <a:ext uri="{FF2B5EF4-FFF2-40B4-BE49-F238E27FC236}">
                <a16:creationId xmlns:a16="http://schemas.microsoft.com/office/drawing/2014/main" id="{23ED89E6-BF37-054F-86E8-6D7750BF12D2}"/>
              </a:ext>
            </a:extLst>
          </p:cNvPr>
          <p:cNvGrpSpPr/>
          <p:nvPr/>
        </p:nvGrpSpPr>
        <p:grpSpPr>
          <a:xfrm>
            <a:off x="4070705" y="3177097"/>
            <a:ext cx="7115694" cy="1144129"/>
            <a:chOff x="2030643" y="2828095"/>
            <a:chExt cx="7115694" cy="1144129"/>
          </a:xfrm>
        </p:grpSpPr>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CF375EE-14A4-904C-8428-305C68C2A37B}"/>
                    </a:ext>
                  </a:extLst>
                </p:cNvPr>
                <p:cNvSpPr txBox="1"/>
                <p:nvPr/>
              </p:nvSpPr>
              <p:spPr>
                <a:xfrm>
                  <a:off x="3736623" y="2983684"/>
                  <a:ext cx="4486548" cy="9885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rPr>
                          <m:t>𝑍</m:t>
                        </m:r>
                        <m:r>
                          <a:rPr lang="en-US" sz="2400" b="0" i="0" smtClean="0">
                            <a:solidFill>
                              <a:schemeClr val="tx1"/>
                            </a:solidFill>
                            <a:latin typeface="Cambria Math" panose="02040503050406030204" pitchFamily="18" charset="0"/>
                          </a:rPr>
                          <m:t>=</m:t>
                        </m:r>
                        <m:nary>
                          <m:naryPr>
                            <m:chr m:val="∑"/>
                            <m:supHide m:val="on"/>
                            <m:ctrlPr>
                              <a:rPr lang="en-US" sz="2400" i="1">
                                <a:latin typeface="Cambria Math" panose="02040503050406030204" pitchFamily="18" charset="0"/>
                              </a:rPr>
                            </m:ctrlPr>
                          </m:naryPr>
                          <m:sub>
                            <m:r>
                              <m:rPr>
                                <m:brk m:alnAt="7"/>
                              </m:rPr>
                              <a:rPr lang="sr-Latn-R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rPr>
                                  <m:t>𝜆</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𝑖</m:t>
                                </m:r>
                              </m:sub>
                            </m:sSub>
                          </m:e>
                        </m:nary>
                        <m:r>
                          <a:rPr lang="sr-Latn-RS" sz="2400" b="0" i="0" smtClean="0">
                            <a:solidFill>
                              <a:schemeClr val="tx1"/>
                            </a:solidFill>
                            <a:latin typeface="Cambria Math" panose="02040503050406030204" pitchFamily="18" charset="0"/>
                          </a:rPr>
                          <m:t>=</m:t>
                        </m:r>
                        <m:d>
                          <m:dPr>
                            <m:ctrlPr>
                              <a:rPr lang="en-US" sz="2400" i="1">
                                <a:latin typeface="Cambria Math" panose="02040503050406030204" pitchFamily="18" charset="0"/>
                              </a:rPr>
                            </m:ctrlPr>
                          </m:dPr>
                          <m:e>
                            <m:r>
                              <a:rPr lang="en-US" sz="2400">
                                <a:latin typeface="Cambria Math" panose="02040503050406030204" pitchFamily="18" charset="0"/>
                              </a:rPr>
                              <m:t>+1</m:t>
                            </m:r>
                          </m:e>
                        </m:d>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0</m:t>
                            </m:r>
                          </m:sub>
                        </m:sSub>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−1</m:t>
                            </m:r>
                          </m:e>
                        </m:d>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b="0" i="1" smtClean="0">
                                <a:latin typeface="Cambria Math" panose="02040503050406030204" pitchFamily="18" charset="0"/>
                              </a:rPr>
                              <m:t>1</m:t>
                            </m:r>
                          </m:sub>
                        </m:sSub>
                      </m:oMath>
                    </m:oMathPara>
                  </a14:m>
                  <a:endParaRPr lang="en-US" sz="2400" dirty="0">
                    <a:solidFill>
                      <a:schemeClr val="tx1"/>
                    </a:solidFill>
                  </a:endParaRPr>
                </a:p>
              </p:txBody>
            </p:sp>
          </mc:Choice>
          <mc:Fallback xmlns="">
            <p:sp>
              <p:nvSpPr>
                <p:cNvPr id="36" name="TextBox 35">
                  <a:extLst>
                    <a:ext uri="{FF2B5EF4-FFF2-40B4-BE49-F238E27FC236}">
                      <a16:creationId xmlns:a16="http://schemas.microsoft.com/office/drawing/2014/main" id="{ACF375EE-14A4-904C-8428-305C68C2A37B}"/>
                    </a:ext>
                  </a:extLst>
                </p:cNvPr>
                <p:cNvSpPr txBox="1">
                  <a:spLocks noRot="1" noChangeAspect="1" noMove="1" noResize="1" noEditPoints="1" noAdjustHandles="1" noChangeArrowheads="1" noChangeShapeType="1" noTextEdit="1"/>
                </p:cNvSpPr>
                <p:nvPr/>
              </p:nvSpPr>
              <p:spPr>
                <a:xfrm>
                  <a:off x="3736623" y="2983684"/>
                  <a:ext cx="4486548" cy="988540"/>
                </a:xfrm>
                <a:prstGeom prst="rect">
                  <a:avLst/>
                </a:prstGeom>
                <a:blipFill>
                  <a:blip r:embed="rId10"/>
                  <a:stretch>
                    <a:fillRect l="-9605" t="-129114" b="-179747"/>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B7A07ED5-1DCC-EB46-97F9-3D093D809A61}"/>
                </a:ext>
              </a:extLst>
            </p:cNvPr>
            <p:cNvCxnSpPr>
              <a:cxnSpLocks/>
            </p:cNvCxnSpPr>
            <p:nvPr/>
          </p:nvCxnSpPr>
          <p:spPr>
            <a:xfrm>
              <a:off x="2030643" y="2828095"/>
              <a:ext cx="7115694" cy="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224F629-F350-164C-BF2A-E059D937284A}"/>
                  </a:ext>
                </a:extLst>
              </p:cNvPr>
              <p:cNvSpPr txBox="1"/>
              <p:nvPr/>
            </p:nvSpPr>
            <p:spPr>
              <a:xfrm>
                <a:off x="4070705" y="4474801"/>
                <a:ext cx="78985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rPr>
                        <m:t>𝑍</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b="0" i="0" smtClean="0">
                          <a:solidFill>
                            <a:schemeClr val="tx1"/>
                          </a:solidFill>
                          <a:latin typeface="Cambria Math" panose="02040503050406030204" pitchFamily="18" charset="0"/>
                        </a:rPr>
                        <m:t>=</m:t>
                      </m:r>
                      <m:d>
                        <m:dPr>
                          <m:ctrlPr>
                            <a:rPr lang="en-US" sz="2400" i="1">
                              <a:latin typeface="Cambria Math" panose="02040503050406030204" pitchFamily="18" charset="0"/>
                            </a:rPr>
                          </m:ctrlPr>
                        </m:dPr>
                        <m:e>
                          <m:r>
                            <a:rPr lang="en-US" sz="2400">
                              <a:latin typeface="Cambria Math" panose="02040503050406030204" pitchFamily="18" charset="0"/>
                            </a:rPr>
                            <m:t>+1</m:t>
                          </m:r>
                        </m:e>
                      </m:d>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−1</m:t>
                          </m:r>
                        </m:e>
                      </m:d>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sr-Latn-RS" sz="2400" b="0" i="1" smtClean="0">
                          <a:latin typeface="Cambria Math" panose="02040503050406030204" pitchFamily="18" charset="0"/>
                        </a:rPr>
                        <m:t>=</m:t>
                      </m:r>
                      <m:d>
                        <m:dPr>
                          <m:ctrlPr>
                            <a:rPr lang="en-US" sz="2400" i="1">
                              <a:latin typeface="Cambria Math" panose="02040503050406030204" pitchFamily="18" charset="0"/>
                            </a:rPr>
                          </m:ctrlPr>
                        </m:dPr>
                        <m:e>
                          <m:r>
                            <a:rPr lang="en-US" sz="2400">
                              <a:latin typeface="Cambria Math" panose="02040503050406030204" pitchFamily="18" charset="0"/>
                            </a:rPr>
                            <m:t>+1</m:t>
                          </m:r>
                        </m:e>
                      </m:d>
                      <m:sSub>
                        <m:sSubPr>
                          <m:ctrlPr>
                            <a:rPr lang="en-US" sz="2400" i="1">
                              <a:latin typeface="Cambria Math" panose="02040503050406030204" pitchFamily="18" charset="0"/>
                            </a:rPr>
                          </m:ctrlPr>
                        </m:sSubPr>
                        <m:e>
                          <m:r>
                            <a:rPr lang="sr-Latn-RS" sz="2400" b="0" i="1" smtClean="0">
                              <a:latin typeface="Cambria Math" panose="02040503050406030204" pitchFamily="18" charset="0"/>
                            </a:rPr>
                            <m:t>𝑎</m:t>
                          </m:r>
                        </m:e>
                        <m:sub>
                          <m:r>
                            <a:rPr lang="en-US" sz="2400" i="1">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0</m:t>
                          </m:r>
                        </m:e>
                      </m:d>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−1</m:t>
                          </m:r>
                        </m:e>
                      </m:d>
                      <m:sSub>
                        <m:sSubPr>
                          <m:ctrlPr>
                            <a:rPr lang="en-US" sz="2400" i="1">
                              <a:latin typeface="Cambria Math" panose="02040503050406030204" pitchFamily="18" charset="0"/>
                            </a:rPr>
                          </m:ctrlPr>
                        </m:sSubPr>
                        <m:e>
                          <m:r>
                            <a:rPr lang="sr-Latn-RS" sz="2400" b="0" i="1" smtClean="0">
                              <a:latin typeface="Cambria Math" panose="02040503050406030204" pitchFamily="18" charset="0"/>
                            </a:rPr>
                            <m:t>𝑎</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1</m:t>
                          </m:r>
                        </m:e>
                      </m:d>
                    </m:oMath>
                  </m:oMathPara>
                </a14:m>
                <a:endParaRPr lang="en-US" sz="2400" dirty="0">
                  <a:solidFill>
                    <a:schemeClr val="tx1"/>
                  </a:solidFill>
                </a:endParaRPr>
              </a:p>
            </p:txBody>
          </p:sp>
        </mc:Choice>
        <mc:Fallback xmlns="">
          <p:sp>
            <p:nvSpPr>
              <p:cNvPr id="38" name="TextBox 37">
                <a:extLst>
                  <a:ext uri="{FF2B5EF4-FFF2-40B4-BE49-F238E27FC236}">
                    <a16:creationId xmlns:a16="http://schemas.microsoft.com/office/drawing/2014/main" id="{B224F629-F350-164C-BF2A-E059D937284A}"/>
                  </a:ext>
                </a:extLst>
              </p:cNvPr>
              <p:cNvSpPr txBox="1">
                <a:spLocks noRot="1" noChangeAspect="1" noMove="1" noResize="1" noEditPoints="1" noAdjustHandles="1" noChangeArrowheads="1" noChangeShapeType="1" noTextEdit="1"/>
              </p:cNvSpPr>
              <p:nvPr/>
            </p:nvSpPr>
            <p:spPr>
              <a:xfrm>
                <a:off x="4070705" y="4474801"/>
                <a:ext cx="7898509" cy="461665"/>
              </a:xfrm>
              <a:prstGeom prst="rect">
                <a:avLst/>
              </a:prstGeom>
              <a:blipFill>
                <a:blip r:embed="rId11"/>
                <a:stretch>
                  <a:fillRect/>
                </a:stretch>
              </a:blipFill>
            </p:spPr>
            <p:txBody>
              <a:bodyPr/>
              <a:lstStyle/>
              <a:p>
                <a:r>
                  <a:rPr lang="en-US">
                    <a:noFill/>
                  </a:rPr>
                  <a:t> </a:t>
                </a:r>
              </a:p>
            </p:txBody>
          </p:sp>
        </mc:Fallback>
      </mc:AlternateContent>
      <p:sp>
        <p:nvSpPr>
          <p:cNvPr id="39" name="Line Callout 2 (Border and Accent Bar) 38">
            <a:extLst>
              <a:ext uri="{FF2B5EF4-FFF2-40B4-BE49-F238E27FC236}">
                <a16:creationId xmlns:a16="http://schemas.microsoft.com/office/drawing/2014/main" id="{F32D5FC9-06A2-CC42-AEAA-E86B5CF2278C}"/>
              </a:ext>
            </a:extLst>
          </p:cNvPr>
          <p:cNvSpPr/>
          <p:nvPr/>
        </p:nvSpPr>
        <p:spPr>
          <a:xfrm flipH="1">
            <a:off x="1412639" y="4920953"/>
            <a:ext cx="1744394" cy="445639"/>
          </a:xfrm>
          <a:prstGeom prst="accentBorderCallout2">
            <a:avLst>
              <a:gd name="adj1" fmla="val 18750"/>
              <a:gd name="adj2" fmla="val -8333"/>
              <a:gd name="adj3" fmla="val 18750"/>
              <a:gd name="adj4" fmla="val -16667"/>
              <a:gd name="adj5" fmla="val -7732"/>
              <a:gd name="adj6" fmla="val -65215"/>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observable</a:t>
            </a:r>
          </a:p>
        </p:txBody>
      </p:sp>
      <mc:AlternateContent xmlns:mc="http://schemas.openxmlformats.org/markup-compatibility/2006">
        <mc:Choice xmlns:a14="http://schemas.microsoft.com/office/drawing/2010/main" Requires="a14">
          <p:graphicFrame>
            <p:nvGraphicFramePr>
              <p:cNvPr id="40" name="Table 39">
                <a:extLst>
                  <a:ext uri="{FF2B5EF4-FFF2-40B4-BE49-F238E27FC236}">
                    <a16:creationId xmlns:a16="http://schemas.microsoft.com/office/drawing/2014/main" id="{FD5BB447-A51E-984B-9D14-DAA182563352}"/>
                  </a:ext>
                </a:extLst>
              </p:cNvPr>
              <p:cNvGraphicFramePr>
                <a:graphicFrameLocks noGrp="1"/>
              </p:cNvGraphicFramePr>
              <p:nvPr>
                <p:extLst>
                  <p:ext uri="{D42A27DB-BD31-4B8C-83A1-F6EECF244321}">
                    <p14:modId xmlns:p14="http://schemas.microsoft.com/office/powerpoint/2010/main" val="797709927"/>
                  </p:ext>
                </p:extLst>
              </p:nvPr>
            </p:nvGraphicFramePr>
            <p:xfrm>
              <a:off x="3719037" y="5144490"/>
              <a:ext cx="8127999" cy="1112520"/>
            </p:xfrm>
            <a:graphic>
              <a:graphicData uri="http://schemas.openxmlformats.org/drawingml/2006/table">
                <a:tbl>
                  <a:tblPr firstRow="1" bandRow="1">
                    <a:tableStyleId>{17292A2E-F333-43FB-9621-5CBBE7FDCDCB}</a:tableStyleId>
                  </a:tblPr>
                  <a:tblGrid>
                    <a:gridCol w="2709333">
                      <a:extLst>
                        <a:ext uri="{9D8B030D-6E8A-4147-A177-3AD203B41FA5}">
                          <a16:colId xmlns:a16="http://schemas.microsoft.com/office/drawing/2014/main" val="3923554807"/>
                        </a:ext>
                      </a:extLst>
                    </a:gridCol>
                    <a:gridCol w="2709333">
                      <a:extLst>
                        <a:ext uri="{9D8B030D-6E8A-4147-A177-3AD203B41FA5}">
                          <a16:colId xmlns:a16="http://schemas.microsoft.com/office/drawing/2014/main" val="297606174"/>
                        </a:ext>
                      </a:extLst>
                    </a:gridCol>
                    <a:gridCol w="2709333">
                      <a:extLst>
                        <a:ext uri="{9D8B030D-6E8A-4147-A177-3AD203B41FA5}">
                          <a16:colId xmlns:a16="http://schemas.microsoft.com/office/drawing/2014/main" val="3818384847"/>
                        </a:ext>
                      </a:extLst>
                    </a:gridCol>
                  </a:tblGrid>
                  <a:tr h="370840">
                    <a:tc>
                      <a:txBody>
                        <a:bodyPr/>
                        <a:lstStyle/>
                        <a:p>
                          <a:pPr algn="ctr"/>
                          <a:r>
                            <a:rPr lang="en-ZA" b="0" dirty="0">
                              <a:solidFill>
                                <a:schemeClr val="tx1"/>
                              </a:solidFill>
                            </a:rPr>
                            <a:t>Possible outcome</a:t>
                          </a:r>
                          <a:endParaRPr lang="en-US" b="0" dirty="0">
                            <a:solidFill>
                              <a:schemeClr val="tx1"/>
                            </a:solidFill>
                          </a:endParaRPr>
                        </a:p>
                      </a:txBody>
                      <a:tcPr>
                        <a:solidFill>
                          <a:schemeClr val="accent4">
                            <a:lumMod val="20000"/>
                            <a:lumOff val="80000"/>
                          </a:schemeClr>
                        </a:solidFill>
                      </a:tcPr>
                    </a:tc>
                    <a:tc>
                      <a:txBody>
                        <a:bodyPr/>
                        <a:lstStyle/>
                        <a:p>
                          <a:pPr algn="ctr"/>
                          <a:r>
                            <a:rPr lang="en-ZA" b="0" dirty="0">
                              <a:solidFill>
                                <a:schemeClr val="tx1"/>
                              </a:solidFill>
                            </a:rPr>
                            <a:t>Post-measurement state</a:t>
                          </a:r>
                          <a:endParaRPr lang="en-US" b="0" dirty="0">
                            <a:solidFill>
                              <a:schemeClr val="tx1"/>
                            </a:solidFill>
                          </a:endParaRPr>
                        </a:p>
                      </a:txBody>
                      <a:tcPr>
                        <a:solidFill>
                          <a:schemeClr val="accent4">
                            <a:lumMod val="20000"/>
                            <a:lumOff val="80000"/>
                          </a:schemeClr>
                        </a:solidFill>
                      </a:tcPr>
                    </a:tc>
                    <a:tc>
                      <a:txBody>
                        <a:bodyPr/>
                        <a:lstStyle/>
                        <a:p>
                          <a:pPr algn="ctr"/>
                          <a:r>
                            <a:rPr lang="en-ZA" b="0" dirty="0">
                              <a:solidFill>
                                <a:schemeClr val="tx1"/>
                              </a:solidFill>
                            </a:rPr>
                            <a:t>Probability</a:t>
                          </a:r>
                          <a:endParaRPr lang="en-US" b="0" dirty="0">
                            <a:solidFill>
                              <a:schemeClr val="tx1"/>
                            </a:solidFill>
                          </a:endParaRPr>
                        </a:p>
                      </a:txBody>
                      <a:tcPr>
                        <a:solidFill>
                          <a:schemeClr val="accent4">
                            <a:lumMod val="20000"/>
                            <a:lumOff val="80000"/>
                          </a:schemeClr>
                        </a:solidFill>
                      </a:tcPr>
                    </a:tc>
                    <a:extLst>
                      <a:ext uri="{0D108BD9-81ED-4DB2-BD59-A6C34878D82A}">
                        <a16:rowId xmlns:a16="http://schemas.microsoft.com/office/drawing/2014/main" val="340642990"/>
                      </a:ext>
                    </a:extLst>
                  </a:tr>
                  <a:tr h="370840">
                    <a:tc>
                      <a:txBody>
                        <a:bodyPr/>
                        <a:lstStyle/>
                        <a:p>
                          <a:pPr/>
                          <a14:m>
                            <m:oMathPara xmlns:m="http://schemas.openxmlformats.org/officeDocument/2006/math">
                              <m:oMathParaPr>
                                <m:jc m:val="centerGroup"/>
                              </m:oMathParaPr>
                              <m:oMath xmlns:m="http://schemas.openxmlformats.org/officeDocument/2006/math">
                                <m:r>
                                  <a:rPr lang="en-US" sz="180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r>
                                      <a:rPr lang="sr-Latn-RS" sz="1800" smtClean="0">
                                        <a:latin typeface="Cambria Math" panose="02040503050406030204" pitchFamily="18" charset="0"/>
                                      </a:rPr>
                                      <m:t>0</m:t>
                                    </m:r>
                                  </m:e>
                                </m:d>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sr-Latn-RS" sz="1800" i="1" smtClean="0">
                                        <a:latin typeface="Cambria Math" panose="02040503050406030204" pitchFamily="18" charset="0"/>
                                      </a:rPr>
                                    </m:ctrlPr>
                                  </m:sSupPr>
                                  <m:e>
                                    <m:d>
                                      <m:dPr>
                                        <m:begChr m:val="|"/>
                                        <m:endChr m:val="|"/>
                                        <m:ctrlPr>
                                          <a:rPr lang="sr-Latn-R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sr-Latn-RS" sz="1800" smtClean="0">
                                                <a:latin typeface="Cambria Math" panose="02040503050406030204" pitchFamily="18" charset="0"/>
                                              </a:rPr>
                                              <m:t>𝑎</m:t>
                                            </m:r>
                                          </m:e>
                                          <m:sub>
                                            <m:r>
                                              <a:rPr lang="en-US" sz="1800">
                                                <a:latin typeface="Cambria Math" panose="02040503050406030204" pitchFamily="18" charset="0"/>
                                              </a:rPr>
                                              <m:t>0</m:t>
                                            </m:r>
                                          </m:sub>
                                        </m:sSub>
                                      </m:e>
                                    </m:d>
                                  </m:e>
                                  <m:sup>
                                    <m:r>
                                      <a:rPr lang="sr-Latn-RS" sz="1800"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3518399841"/>
                      </a:ext>
                    </a:extLst>
                  </a:tr>
                  <a:tr h="370840">
                    <a:tc>
                      <a:txBody>
                        <a:bodyPr/>
                        <a:lstStyle/>
                        <a:p>
                          <a:pPr/>
                          <a14:m>
                            <m:oMathPara xmlns:m="http://schemas.openxmlformats.org/officeDocument/2006/math">
                              <m:oMathParaPr>
                                <m:jc m:val="centerGroup"/>
                              </m:oMathParaPr>
                              <m:oMath xmlns:m="http://schemas.openxmlformats.org/officeDocument/2006/math">
                                <m:r>
                                  <a:rPr lang="sr-Latn-RS" sz="1800" smtClean="0">
                                    <a:latin typeface="Cambria Math" panose="02040503050406030204" pitchFamily="18" charset="0"/>
                                  </a:rPr>
                                  <m:t>−</m:t>
                                </m:r>
                                <m:r>
                                  <a:rPr lang="en-US" sz="1800" smtClean="0">
                                    <a:latin typeface="Cambria Math" panose="02040503050406030204" pitchFamily="18" charset="0"/>
                                  </a:rPr>
                                  <m:t>1</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r>
                                      <a:rPr lang="sr-Latn-RS" sz="1800" smtClean="0">
                                        <a:latin typeface="Cambria Math" panose="02040503050406030204" pitchFamily="18" charset="0"/>
                                      </a:rPr>
                                      <m:t>1</m:t>
                                    </m:r>
                                  </m:e>
                                </m:d>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sr-Latn-RS" sz="1800" i="1" smtClean="0">
                                        <a:latin typeface="Cambria Math" panose="02040503050406030204" pitchFamily="18" charset="0"/>
                                      </a:rPr>
                                    </m:ctrlPr>
                                  </m:sSupPr>
                                  <m:e>
                                    <m:d>
                                      <m:dPr>
                                        <m:begChr m:val="|"/>
                                        <m:endChr m:val="|"/>
                                        <m:ctrlPr>
                                          <a:rPr lang="sr-Latn-R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sr-Latn-RS" sz="1800" smtClean="0">
                                                <a:latin typeface="Cambria Math" panose="02040503050406030204" pitchFamily="18" charset="0"/>
                                              </a:rPr>
                                              <m:t>𝑎</m:t>
                                            </m:r>
                                          </m:e>
                                          <m:sub>
                                            <m:r>
                                              <a:rPr lang="sr-Latn-RS" sz="1800" smtClean="0">
                                                <a:latin typeface="Cambria Math" panose="02040503050406030204" pitchFamily="18" charset="0"/>
                                              </a:rPr>
                                              <m:t>1</m:t>
                                            </m:r>
                                          </m:sub>
                                        </m:sSub>
                                      </m:e>
                                    </m:d>
                                  </m:e>
                                  <m:sup>
                                    <m:r>
                                      <a:rPr lang="sr-Latn-RS" sz="1800"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925393380"/>
                      </a:ext>
                    </a:extLst>
                  </a:tr>
                </a:tbl>
              </a:graphicData>
            </a:graphic>
          </p:graphicFrame>
        </mc:Choice>
        <mc:Fallback>
          <p:graphicFrame>
            <p:nvGraphicFramePr>
              <p:cNvPr id="40" name="Table 39">
                <a:extLst>
                  <a:ext uri="{FF2B5EF4-FFF2-40B4-BE49-F238E27FC236}">
                    <a16:creationId xmlns:a16="http://schemas.microsoft.com/office/drawing/2014/main" id="{FD5BB447-A51E-984B-9D14-DAA182563352}"/>
                  </a:ext>
                </a:extLst>
              </p:cNvPr>
              <p:cNvGraphicFramePr>
                <a:graphicFrameLocks noGrp="1"/>
              </p:cNvGraphicFramePr>
              <p:nvPr>
                <p:extLst>
                  <p:ext uri="{D42A27DB-BD31-4B8C-83A1-F6EECF244321}">
                    <p14:modId xmlns:p14="http://schemas.microsoft.com/office/powerpoint/2010/main" val="797709927"/>
                  </p:ext>
                </p:extLst>
              </p:nvPr>
            </p:nvGraphicFramePr>
            <p:xfrm>
              <a:off x="3719037" y="5144490"/>
              <a:ext cx="8127999" cy="1112520"/>
            </p:xfrm>
            <a:graphic>
              <a:graphicData uri="http://schemas.openxmlformats.org/drawingml/2006/table">
                <a:tbl>
                  <a:tblPr firstRow="1" bandRow="1">
                    <a:tableStyleId>{17292A2E-F333-43FB-9621-5CBBE7FDCDCB}</a:tableStyleId>
                  </a:tblPr>
                  <a:tblGrid>
                    <a:gridCol w="2709333">
                      <a:extLst>
                        <a:ext uri="{9D8B030D-6E8A-4147-A177-3AD203B41FA5}">
                          <a16:colId xmlns:a16="http://schemas.microsoft.com/office/drawing/2014/main" val="3923554807"/>
                        </a:ext>
                      </a:extLst>
                    </a:gridCol>
                    <a:gridCol w="2709333">
                      <a:extLst>
                        <a:ext uri="{9D8B030D-6E8A-4147-A177-3AD203B41FA5}">
                          <a16:colId xmlns:a16="http://schemas.microsoft.com/office/drawing/2014/main" val="297606174"/>
                        </a:ext>
                      </a:extLst>
                    </a:gridCol>
                    <a:gridCol w="2709333">
                      <a:extLst>
                        <a:ext uri="{9D8B030D-6E8A-4147-A177-3AD203B41FA5}">
                          <a16:colId xmlns:a16="http://schemas.microsoft.com/office/drawing/2014/main" val="3818384847"/>
                        </a:ext>
                      </a:extLst>
                    </a:gridCol>
                  </a:tblGrid>
                  <a:tr h="370840">
                    <a:tc>
                      <a:txBody>
                        <a:bodyPr/>
                        <a:lstStyle/>
                        <a:p>
                          <a:pPr algn="ctr"/>
                          <a:r>
                            <a:rPr lang="en-ZA" b="0" dirty="0">
                              <a:solidFill>
                                <a:schemeClr val="tx1"/>
                              </a:solidFill>
                            </a:rPr>
                            <a:t>Possible outcome</a:t>
                          </a:r>
                          <a:endParaRPr lang="en-US" b="0" dirty="0">
                            <a:solidFill>
                              <a:schemeClr val="tx1"/>
                            </a:solidFill>
                          </a:endParaRPr>
                        </a:p>
                      </a:txBody>
                      <a:tcPr>
                        <a:solidFill>
                          <a:schemeClr val="accent4">
                            <a:lumMod val="20000"/>
                            <a:lumOff val="80000"/>
                          </a:schemeClr>
                        </a:solidFill>
                      </a:tcPr>
                    </a:tc>
                    <a:tc>
                      <a:txBody>
                        <a:bodyPr/>
                        <a:lstStyle/>
                        <a:p>
                          <a:pPr algn="ctr"/>
                          <a:r>
                            <a:rPr lang="en-ZA" b="0" dirty="0">
                              <a:solidFill>
                                <a:schemeClr val="tx1"/>
                              </a:solidFill>
                            </a:rPr>
                            <a:t>Post-measurement state</a:t>
                          </a:r>
                          <a:endParaRPr lang="en-US" b="0" dirty="0">
                            <a:solidFill>
                              <a:schemeClr val="tx1"/>
                            </a:solidFill>
                          </a:endParaRPr>
                        </a:p>
                      </a:txBody>
                      <a:tcPr>
                        <a:solidFill>
                          <a:schemeClr val="accent4">
                            <a:lumMod val="20000"/>
                            <a:lumOff val="80000"/>
                          </a:schemeClr>
                        </a:solidFill>
                      </a:tcPr>
                    </a:tc>
                    <a:tc>
                      <a:txBody>
                        <a:bodyPr/>
                        <a:lstStyle/>
                        <a:p>
                          <a:pPr algn="ctr"/>
                          <a:r>
                            <a:rPr lang="en-ZA" b="0" dirty="0">
                              <a:solidFill>
                                <a:schemeClr val="tx1"/>
                              </a:solidFill>
                            </a:rPr>
                            <a:t>Probability</a:t>
                          </a:r>
                          <a:endParaRPr lang="en-US" b="0" dirty="0">
                            <a:solidFill>
                              <a:schemeClr val="tx1"/>
                            </a:solidFill>
                          </a:endParaRPr>
                        </a:p>
                      </a:txBody>
                      <a:tcPr>
                        <a:solidFill>
                          <a:schemeClr val="accent4">
                            <a:lumMod val="20000"/>
                            <a:lumOff val="80000"/>
                          </a:schemeClr>
                        </a:solidFill>
                      </a:tcPr>
                    </a:tc>
                    <a:extLst>
                      <a:ext uri="{0D108BD9-81ED-4DB2-BD59-A6C34878D82A}">
                        <a16:rowId xmlns:a16="http://schemas.microsoft.com/office/drawing/2014/main" val="340642990"/>
                      </a:ext>
                    </a:extLst>
                  </a:tr>
                  <a:tr h="370840">
                    <a:tc>
                      <a:txBody>
                        <a:bodyPr/>
                        <a:lstStyle/>
                        <a:p>
                          <a:endParaRPr lang="en-US"/>
                        </a:p>
                      </a:txBody>
                      <a:tcPr>
                        <a:blipFill>
                          <a:blip r:embed="rId12"/>
                          <a:stretch>
                            <a:fillRect t="-106667" r="-199533" b="-96667"/>
                          </a:stretch>
                        </a:blipFill>
                      </a:tcPr>
                    </a:tc>
                    <a:tc>
                      <a:txBody>
                        <a:bodyPr/>
                        <a:lstStyle/>
                        <a:p>
                          <a:endParaRPr lang="en-US"/>
                        </a:p>
                      </a:txBody>
                      <a:tcPr>
                        <a:blipFill>
                          <a:blip r:embed="rId12"/>
                          <a:stretch>
                            <a:fillRect l="-100469" t="-106667" r="-100469" b="-96667"/>
                          </a:stretch>
                        </a:blipFill>
                      </a:tcPr>
                    </a:tc>
                    <a:tc>
                      <a:txBody>
                        <a:bodyPr/>
                        <a:lstStyle/>
                        <a:p>
                          <a:endParaRPr lang="en-US"/>
                        </a:p>
                      </a:txBody>
                      <a:tcPr>
                        <a:blipFill>
                          <a:blip r:embed="rId12"/>
                          <a:stretch>
                            <a:fillRect l="-199533" t="-106667" b="-96667"/>
                          </a:stretch>
                        </a:blipFill>
                      </a:tcPr>
                    </a:tc>
                    <a:extLst>
                      <a:ext uri="{0D108BD9-81ED-4DB2-BD59-A6C34878D82A}">
                        <a16:rowId xmlns:a16="http://schemas.microsoft.com/office/drawing/2014/main" val="3518399841"/>
                      </a:ext>
                    </a:extLst>
                  </a:tr>
                  <a:tr h="370840">
                    <a:tc>
                      <a:txBody>
                        <a:bodyPr/>
                        <a:lstStyle/>
                        <a:p>
                          <a:endParaRPr lang="en-US"/>
                        </a:p>
                      </a:txBody>
                      <a:tcPr>
                        <a:blipFill>
                          <a:blip r:embed="rId12"/>
                          <a:stretch>
                            <a:fillRect t="-213793" r="-199533"/>
                          </a:stretch>
                        </a:blipFill>
                      </a:tcPr>
                    </a:tc>
                    <a:tc>
                      <a:txBody>
                        <a:bodyPr/>
                        <a:lstStyle/>
                        <a:p>
                          <a:endParaRPr lang="en-US"/>
                        </a:p>
                      </a:txBody>
                      <a:tcPr>
                        <a:blipFill>
                          <a:blip r:embed="rId12"/>
                          <a:stretch>
                            <a:fillRect l="-100469" t="-213793" r="-100469"/>
                          </a:stretch>
                        </a:blipFill>
                      </a:tcPr>
                    </a:tc>
                    <a:tc>
                      <a:txBody>
                        <a:bodyPr/>
                        <a:lstStyle/>
                        <a:p>
                          <a:endParaRPr lang="en-US"/>
                        </a:p>
                      </a:txBody>
                      <a:tcPr>
                        <a:blipFill>
                          <a:blip r:embed="rId12"/>
                          <a:stretch>
                            <a:fillRect l="-199533" t="-213793"/>
                          </a:stretch>
                        </a:blipFill>
                      </a:tcPr>
                    </a:tc>
                    <a:extLst>
                      <a:ext uri="{0D108BD9-81ED-4DB2-BD59-A6C34878D82A}">
                        <a16:rowId xmlns:a16="http://schemas.microsoft.com/office/drawing/2014/main" val="1925393380"/>
                      </a:ext>
                    </a:extLst>
                  </a:tr>
                </a:tbl>
              </a:graphicData>
            </a:graphic>
          </p:graphicFrame>
        </mc:Fallback>
      </mc:AlternateContent>
    </p:spTree>
    <p:extLst>
      <p:ext uri="{BB962C8B-B14F-4D97-AF65-F5344CB8AC3E}">
        <p14:creationId xmlns:p14="http://schemas.microsoft.com/office/powerpoint/2010/main" val="172319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ssolv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8" grpId="0"/>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9AF7D5-3662-934A-8BCE-38631B76EFD7}"/>
              </a:ext>
            </a:extLst>
          </p:cNvPr>
          <p:cNvSpPr>
            <a:spLocks noGrp="1"/>
          </p:cNvSpPr>
          <p:nvPr>
            <p:ph type="sldNum" sz="quarter" idx="12"/>
          </p:nvPr>
        </p:nvSpPr>
        <p:spPr/>
        <p:txBody>
          <a:bodyPr/>
          <a:lstStyle/>
          <a:p>
            <a:fld id="{591A223C-FA10-BC46-A853-03BA373D023C}" type="slidenum">
              <a:rPr lang="en-US" smtClean="0"/>
              <a:t>39</a:t>
            </a:fld>
            <a:endParaRPr lang="en-US"/>
          </a:p>
        </p:txBody>
      </p:sp>
      <p:sp>
        <p:nvSpPr>
          <p:cNvPr id="3" name="Title 2">
            <a:extLst>
              <a:ext uri="{FF2B5EF4-FFF2-40B4-BE49-F238E27FC236}">
                <a16:creationId xmlns:a16="http://schemas.microsoft.com/office/drawing/2014/main" id="{9C2A7A25-7FD1-D248-B3B4-2732FAFE8AD9}"/>
              </a:ext>
            </a:extLst>
          </p:cNvPr>
          <p:cNvSpPr>
            <a:spLocks noGrp="1"/>
          </p:cNvSpPr>
          <p:nvPr>
            <p:ph type="title"/>
          </p:nvPr>
        </p:nvSpPr>
        <p:spPr/>
        <p:txBody>
          <a:bodyPr/>
          <a:lstStyle/>
          <a:p>
            <a:r>
              <a:rPr lang="en-ZA" dirty="0"/>
              <a:t>Measurement of the Pauli-Z Observable</a:t>
            </a:r>
            <a:endParaRPr lang="en-US" dirty="0"/>
          </a:p>
        </p:txBody>
      </p:sp>
      <p:sp>
        <p:nvSpPr>
          <p:cNvPr id="11" name="Oval 10">
            <a:extLst>
              <a:ext uri="{FF2B5EF4-FFF2-40B4-BE49-F238E27FC236}">
                <a16:creationId xmlns:a16="http://schemas.microsoft.com/office/drawing/2014/main" id="{743B22D8-9DA0-AB4A-9496-C6BB9DBC2E73}"/>
              </a:ext>
            </a:extLst>
          </p:cNvPr>
          <p:cNvSpPr/>
          <p:nvPr/>
        </p:nvSpPr>
        <p:spPr>
          <a:xfrm>
            <a:off x="1216529" y="3041666"/>
            <a:ext cx="271403" cy="271403"/>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13" name="TextBox 12">
            <a:extLst>
              <a:ext uri="{FF2B5EF4-FFF2-40B4-BE49-F238E27FC236}">
                <a16:creationId xmlns:a16="http://schemas.microsoft.com/office/drawing/2014/main" id="{B5A60E44-87BB-354A-A0FC-5BC2D1C88B89}"/>
              </a:ext>
            </a:extLst>
          </p:cNvPr>
          <p:cNvSpPr txBox="1"/>
          <p:nvPr/>
        </p:nvSpPr>
        <p:spPr>
          <a:xfrm>
            <a:off x="1216529" y="1258389"/>
            <a:ext cx="3005503" cy="461665"/>
          </a:xfrm>
          <a:prstGeom prst="rect">
            <a:avLst/>
          </a:prstGeom>
          <a:noFill/>
        </p:spPr>
        <p:txBody>
          <a:bodyPr wrap="none" rtlCol="0">
            <a:spAutoFit/>
          </a:bodyPr>
          <a:lstStyle/>
          <a:p>
            <a:r>
              <a:rPr lang="en-ZA" sz="2400" dirty="0"/>
              <a:t>Physical Measurement</a:t>
            </a:r>
            <a:endParaRPr lang="en-US" sz="2400" dirty="0">
              <a:latin typeface="+mj-lt"/>
            </a:endParaRPr>
          </a:p>
        </p:txBody>
      </p:sp>
      <p:pic>
        <p:nvPicPr>
          <p:cNvPr id="14" name="Picture 13">
            <a:extLst>
              <a:ext uri="{FF2B5EF4-FFF2-40B4-BE49-F238E27FC236}">
                <a16:creationId xmlns:a16="http://schemas.microsoft.com/office/drawing/2014/main" id="{B83AE5A6-5310-DB4B-937F-EAB77832BBC0}"/>
              </a:ext>
            </a:extLst>
          </p:cNvPr>
          <p:cNvPicPr>
            <a:picLocks noChangeAspect="1"/>
          </p:cNvPicPr>
          <p:nvPr/>
        </p:nvPicPr>
        <p:blipFill>
          <a:blip r:embed="rId3"/>
          <a:stretch>
            <a:fillRect/>
          </a:stretch>
        </p:blipFill>
        <p:spPr>
          <a:xfrm>
            <a:off x="1195584" y="2996044"/>
            <a:ext cx="2177542" cy="1209744"/>
          </a:xfrm>
          <a:prstGeom prst="rect">
            <a:avLst/>
          </a:prstGeom>
        </p:spPr>
      </p:pic>
      <p:sp>
        <p:nvSpPr>
          <p:cNvPr id="15" name="TextBox 14">
            <a:extLst>
              <a:ext uri="{FF2B5EF4-FFF2-40B4-BE49-F238E27FC236}">
                <a16:creationId xmlns:a16="http://schemas.microsoft.com/office/drawing/2014/main" id="{8BA866E6-C095-7A4E-84D0-2CF2FFA25BB0}"/>
              </a:ext>
            </a:extLst>
          </p:cNvPr>
          <p:cNvSpPr txBox="1"/>
          <p:nvPr/>
        </p:nvSpPr>
        <p:spPr>
          <a:xfrm>
            <a:off x="2643167" y="4766690"/>
            <a:ext cx="1064843" cy="400110"/>
          </a:xfrm>
          <a:prstGeom prst="rect">
            <a:avLst/>
          </a:prstGeom>
          <a:noFill/>
        </p:spPr>
        <p:txBody>
          <a:bodyPr wrap="none" rtlCol="0">
            <a:spAutoFit/>
          </a:bodyPr>
          <a:lstStyle/>
          <a:p>
            <a:r>
              <a:rPr lang="en-US" sz="2000" dirty="0">
                <a:latin typeface="+mj-lt"/>
              </a:rPr>
              <a:t>detector</a:t>
            </a:r>
          </a:p>
        </p:txBody>
      </p:sp>
      <p:grpSp>
        <p:nvGrpSpPr>
          <p:cNvPr id="51" name="Group 50">
            <a:extLst>
              <a:ext uri="{FF2B5EF4-FFF2-40B4-BE49-F238E27FC236}">
                <a16:creationId xmlns:a16="http://schemas.microsoft.com/office/drawing/2014/main" id="{76EA06DE-B477-6547-BD93-C23199C07686}"/>
              </a:ext>
            </a:extLst>
          </p:cNvPr>
          <p:cNvGrpSpPr/>
          <p:nvPr/>
        </p:nvGrpSpPr>
        <p:grpSpPr>
          <a:xfrm>
            <a:off x="5334424" y="1267170"/>
            <a:ext cx="5576278" cy="4409170"/>
            <a:chOff x="5334424" y="1267170"/>
            <a:chExt cx="5576278" cy="4409170"/>
          </a:xfrm>
        </p:grpSpPr>
        <p:sp>
          <p:nvSpPr>
            <p:cNvPr id="4" name="Right Arrow 3">
              <a:extLst>
                <a:ext uri="{FF2B5EF4-FFF2-40B4-BE49-F238E27FC236}">
                  <a16:creationId xmlns:a16="http://schemas.microsoft.com/office/drawing/2014/main" id="{5B4B05CE-89BA-E742-99AF-63A29460FD6E}"/>
                </a:ext>
              </a:extLst>
            </p:cNvPr>
            <p:cNvSpPr/>
            <p:nvPr/>
          </p:nvSpPr>
          <p:spPr>
            <a:xfrm>
              <a:off x="7013890" y="3296465"/>
              <a:ext cx="2484483" cy="1174537"/>
            </a:xfrm>
            <a:prstGeom prst="rightArrow">
              <a:avLst/>
            </a:prstGeom>
            <a:gradFill flip="none" rotWithShape="1">
              <a:gsLst>
                <a:gs pos="0">
                  <a:schemeClr val="bg1">
                    <a:lumMod val="9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grpSp>
          <p:nvGrpSpPr>
            <p:cNvPr id="5" name="Group 4">
              <a:extLst>
                <a:ext uri="{FF2B5EF4-FFF2-40B4-BE49-F238E27FC236}">
                  <a16:creationId xmlns:a16="http://schemas.microsoft.com/office/drawing/2014/main" id="{80183A8A-1145-F144-BC6E-1006D5931A74}"/>
                </a:ext>
              </a:extLst>
            </p:cNvPr>
            <p:cNvGrpSpPr/>
            <p:nvPr/>
          </p:nvGrpSpPr>
          <p:grpSpPr>
            <a:xfrm>
              <a:off x="7516624" y="3258617"/>
              <a:ext cx="1171724" cy="1171724"/>
              <a:chOff x="4184602" y="3422972"/>
              <a:chExt cx="575926" cy="575926"/>
            </a:xfrm>
          </p:grpSpPr>
          <p:sp>
            <p:nvSpPr>
              <p:cNvPr id="6" name="Rectangle 5">
                <a:extLst>
                  <a:ext uri="{FF2B5EF4-FFF2-40B4-BE49-F238E27FC236}">
                    <a16:creationId xmlns:a16="http://schemas.microsoft.com/office/drawing/2014/main" id="{1A3EBDD3-AADD-AD4A-A33D-0416F2BFE9D6}"/>
                  </a:ext>
                </a:extLst>
              </p:cNvPr>
              <p:cNvSpPr>
                <a:spLocks noChangeAspect="1"/>
              </p:cNvSpPr>
              <p:nvPr/>
            </p:nvSpPr>
            <p:spPr>
              <a:xfrm>
                <a:off x="4184602" y="3422972"/>
                <a:ext cx="575926" cy="57592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7" name="Straight Arrow Connector 6">
                <a:extLst>
                  <a:ext uri="{FF2B5EF4-FFF2-40B4-BE49-F238E27FC236}">
                    <a16:creationId xmlns:a16="http://schemas.microsoft.com/office/drawing/2014/main" id="{7815391F-8E22-774F-A277-03C1E0417B2D}"/>
                  </a:ext>
                </a:extLst>
              </p:cNvPr>
              <p:cNvCxnSpPr>
                <a:cxnSpLocks/>
                <a:endCxn id="10" idx="7"/>
              </p:cNvCxnSpPr>
              <p:nvPr/>
            </p:nvCxnSpPr>
            <p:spPr>
              <a:xfrm flipV="1">
                <a:off x="4465142" y="3511819"/>
                <a:ext cx="189944" cy="185821"/>
              </a:xfrm>
              <a:prstGeom prst="straightConnector1">
                <a:avLst/>
              </a:prstGeom>
              <a:ln w="25400" cap="rnd">
                <a:solidFill>
                  <a:srgbClr val="FF0000">
                    <a:alpha val="44000"/>
                  </a:srgbClr>
                </a:solidFill>
                <a:tailEnd type="triangle"/>
              </a:ln>
            </p:spPr>
            <p:style>
              <a:lnRef idx="1">
                <a:schemeClr val="accent1"/>
              </a:lnRef>
              <a:fillRef idx="0">
                <a:schemeClr val="accent1"/>
              </a:fillRef>
              <a:effectRef idx="0">
                <a:schemeClr val="accent1"/>
              </a:effectRef>
              <a:fontRef idx="minor">
                <a:schemeClr val="tx1"/>
              </a:fontRef>
            </p:style>
          </p:cxnSp>
          <p:sp>
            <p:nvSpPr>
              <p:cNvPr id="8" name="Round Diagonal Corner Rectangle 7">
                <a:extLst>
                  <a:ext uri="{FF2B5EF4-FFF2-40B4-BE49-F238E27FC236}">
                    <a16:creationId xmlns:a16="http://schemas.microsoft.com/office/drawing/2014/main" id="{77C66F9D-8C19-CE44-9854-54097C79FCC1}"/>
                  </a:ext>
                </a:extLst>
              </p:cNvPr>
              <p:cNvSpPr/>
              <p:nvPr/>
            </p:nvSpPr>
            <p:spPr>
              <a:xfrm>
                <a:off x="4196520" y="3674221"/>
                <a:ext cx="537244" cy="33588"/>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9" name="Round Diagonal Corner Rectangle 8">
                <a:extLst>
                  <a:ext uri="{FF2B5EF4-FFF2-40B4-BE49-F238E27FC236}">
                    <a16:creationId xmlns:a16="http://schemas.microsoft.com/office/drawing/2014/main" id="{DCD875BE-7B9E-ED46-9C2B-4949776DC731}"/>
                  </a:ext>
                </a:extLst>
              </p:cNvPr>
              <p:cNvSpPr/>
              <p:nvPr/>
            </p:nvSpPr>
            <p:spPr>
              <a:xfrm rot="5400000">
                <a:off x="4195432" y="3682451"/>
                <a:ext cx="532207" cy="33588"/>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10" name="Oval 9">
                <a:extLst>
                  <a:ext uri="{FF2B5EF4-FFF2-40B4-BE49-F238E27FC236}">
                    <a16:creationId xmlns:a16="http://schemas.microsoft.com/office/drawing/2014/main" id="{4C9653CB-66D2-7F49-8DBE-64A67C46A6AB}"/>
                  </a:ext>
                </a:extLst>
              </p:cNvPr>
              <p:cNvSpPr/>
              <p:nvPr/>
            </p:nvSpPr>
            <p:spPr>
              <a:xfrm>
                <a:off x="4196520" y="3433141"/>
                <a:ext cx="537244" cy="537245"/>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grpSp>
        <p:cxnSp>
          <p:nvCxnSpPr>
            <p:cNvPr id="25" name="Straight Connector 24">
              <a:extLst>
                <a:ext uri="{FF2B5EF4-FFF2-40B4-BE49-F238E27FC236}">
                  <a16:creationId xmlns:a16="http://schemas.microsoft.com/office/drawing/2014/main" id="{C31F4B67-D5F7-1547-8E58-B202ED9FAC4A}"/>
                </a:ext>
              </a:extLst>
            </p:cNvPr>
            <p:cNvCxnSpPr>
              <a:cxnSpLocks/>
            </p:cNvCxnSpPr>
            <p:nvPr/>
          </p:nvCxnSpPr>
          <p:spPr>
            <a:xfrm flipH="1">
              <a:off x="5334424" y="1756753"/>
              <a:ext cx="0" cy="386527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EF733D6-9506-8A4E-9CC7-DE812639DBC1}"/>
                </a:ext>
              </a:extLst>
            </p:cNvPr>
            <p:cNvSpPr txBox="1"/>
            <p:nvPr/>
          </p:nvSpPr>
          <p:spPr>
            <a:xfrm>
              <a:off x="6179920" y="1267170"/>
              <a:ext cx="4730782" cy="461665"/>
            </a:xfrm>
            <a:prstGeom prst="rect">
              <a:avLst/>
            </a:prstGeom>
            <a:noFill/>
          </p:spPr>
          <p:txBody>
            <a:bodyPr wrap="none" rtlCol="0">
              <a:spAutoFit/>
            </a:bodyPr>
            <a:lstStyle/>
            <a:p>
              <a:r>
                <a:rPr lang="en-ZA" sz="2400" dirty="0"/>
                <a:t>Quantum-Mechanical Measurement</a:t>
              </a:r>
              <a:endParaRPr lang="en-US" sz="2400" dirty="0">
                <a:latin typeface="+mj-lt"/>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A02E77D-4287-CD4B-A445-ADC17BFD424C}"/>
                    </a:ext>
                  </a:extLst>
                </p:cNvPr>
                <p:cNvSpPr/>
                <p:nvPr/>
              </p:nvSpPr>
              <p:spPr>
                <a:xfrm>
                  <a:off x="6788589" y="4535425"/>
                  <a:ext cx="2022605"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𝑍</m:t>
                        </m:r>
                        <m:r>
                          <a:rPr lang="en-US" sz="2400" i="1">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−1</m:t>
                                  </m:r>
                                </m:e>
                              </m:mr>
                            </m:m>
                          </m:e>
                        </m:d>
                      </m:oMath>
                    </m:oMathPara>
                  </a14:m>
                  <a:endParaRPr lang="en-US" sz="2400" dirty="0">
                    <a:latin typeface="+mj-lt"/>
                  </a:endParaRPr>
                </a:p>
              </p:txBody>
            </p:sp>
          </mc:Choice>
          <mc:Fallback xmlns="">
            <p:sp>
              <p:nvSpPr>
                <p:cNvPr id="27" name="Rectangle 26">
                  <a:extLst>
                    <a:ext uri="{FF2B5EF4-FFF2-40B4-BE49-F238E27FC236}">
                      <a16:creationId xmlns:a16="http://schemas.microsoft.com/office/drawing/2014/main" id="{FA02E77D-4287-CD4B-A445-ADC17BFD424C}"/>
                    </a:ext>
                  </a:extLst>
                </p:cNvPr>
                <p:cNvSpPr>
                  <a:spLocks noRot="1" noChangeAspect="1" noMove="1" noResize="1" noEditPoints="1" noAdjustHandles="1" noChangeArrowheads="1" noChangeShapeType="1" noTextEdit="1"/>
                </p:cNvSpPr>
                <p:nvPr/>
              </p:nvSpPr>
              <p:spPr>
                <a:xfrm>
                  <a:off x="6788589" y="4535425"/>
                  <a:ext cx="2022605" cy="708143"/>
                </a:xfrm>
                <a:prstGeom prst="rect">
                  <a:avLst/>
                </a:prstGeom>
                <a:blipFill>
                  <a:blip r:embed="rId4"/>
                  <a:stretch>
                    <a:fillRect b="-7018"/>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4874ABFE-0F3E-A04B-957A-D91F44744AFD}"/>
                </a:ext>
              </a:extLst>
            </p:cNvPr>
            <p:cNvSpPr/>
            <p:nvPr/>
          </p:nvSpPr>
          <p:spPr>
            <a:xfrm>
              <a:off x="5633408" y="3306355"/>
              <a:ext cx="1093025" cy="10930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29" name="Straight Arrow Connector 28">
              <a:extLst>
                <a:ext uri="{FF2B5EF4-FFF2-40B4-BE49-F238E27FC236}">
                  <a16:creationId xmlns:a16="http://schemas.microsoft.com/office/drawing/2014/main" id="{44EA4165-8218-BD45-B406-E5773FF7F683}"/>
                </a:ext>
              </a:extLst>
            </p:cNvPr>
            <p:cNvCxnSpPr>
              <a:cxnSpLocks/>
              <a:endCxn id="28" idx="7"/>
            </p:cNvCxnSpPr>
            <p:nvPr/>
          </p:nvCxnSpPr>
          <p:spPr>
            <a:xfrm flipV="1">
              <a:off x="6179921" y="3466425"/>
              <a:ext cx="386442" cy="378054"/>
            </a:xfrm>
            <a:prstGeom prst="straightConnector1">
              <a:avLst/>
            </a:prstGeom>
            <a:ln w="254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A8EFF82-0C18-AF42-9123-773C59B52780}"/>
                </a:ext>
              </a:extLst>
            </p:cNvPr>
            <p:cNvCxnSpPr>
              <a:cxnSpLocks/>
            </p:cNvCxnSpPr>
            <p:nvPr/>
          </p:nvCxnSpPr>
          <p:spPr>
            <a:xfrm>
              <a:off x="5561564" y="3289574"/>
              <a:ext cx="0" cy="120841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44915C3-17AA-574B-B377-6A73F4CAB3E7}"/>
                </a:ext>
              </a:extLst>
            </p:cNvPr>
            <p:cNvCxnSpPr>
              <a:cxnSpLocks/>
            </p:cNvCxnSpPr>
            <p:nvPr/>
          </p:nvCxnSpPr>
          <p:spPr>
            <a:xfrm>
              <a:off x="6645356" y="3289574"/>
              <a:ext cx="226365" cy="58303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425055-2F36-0842-985E-F7CC6E261470}"/>
                </a:ext>
              </a:extLst>
            </p:cNvPr>
            <p:cNvCxnSpPr>
              <a:cxnSpLocks/>
            </p:cNvCxnSpPr>
            <p:nvPr/>
          </p:nvCxnSpPr>
          <p:spPr>
            <a:xfrm flipV="1">
              <a:off x="6645401" y="3869593"/>
              <a:ext cx="226365" cy="58303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7E58A16-5F62-9846-A115-DA13485196D5}"/>
                    </a:ext>
                  </a:extLst>
                </p:cNvPr>
                <p:cNvSpPr/>
                <p:nvPr/>
              </p:nvSpPr>
              <p:spPr>
                <a:xfrm>
                  <a:off x="5730171" y="4430341"/>
                  <a:ext cx="63113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m:oMathPara>
                  </a14:m>
                  <a:endParaRPr lang="en-US" sz="2400" dirty="0">
                    <a:latin typeface="+mj-lt"/>
                  </a:endParaRPr>
                </a:p>
              </p:txBody>
            </p:sp>
          </mc:Choice>
          <mc:Fallback xmlns="">
            <p:sp>
              <p:nvSpPr>
                <p:cNvPr id="33" name="Rectangle 32">
                  <a:extLst>
                    <a:ext uri="{FF2B5EF4-FFF2-40B4-BE49-F238E27FC236}">
                      <a16:creationId xmlns:a16="http://schemas.microsoft.com/office/drawing/2014/main" id="{97E58A16-5F62-9846-A115-DA13485196D5}"/>
                    </a:ext>
                  </a:extLst>
                </p:cNvPr>
                <p:cNvSpPr>
                  <a:spLocks noRot="1" noChangeAspect="1" noMove="1" noResize="1" noEditPoints="1" noAdjustHandles="1" noChangeArrowheads="1" noChangeShapeType="1" noTextEdit="1"/>
                </p:cNvSpPr>
                <p:nvPr/>
              </p:nvSpPr>
              <p:spPr>
                <a:xfrm>
                  <a:off x="5730171" y="4430341"/>
                  <a:ext cx="631134" cy="461665"/>
                </a:xfrm>
                <a:prstGeom prst="rect">
                  <a:avLst/>
                </a:prstGeom>
                <a:blipFill>
                  <a:blip r:embed="rId5"/>
                  <a:stretch>
                    <a:fillRect/>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76931417-7381-944D-8563-4717BAE1FE6F}"/>
                </a:ext>
              </a:extLst>
            </p:cNvPr>
            <p:cNvSpPr>
              <a:spLocks noChangeAspect="1"/>
            </p:cNvSpPr>
            <p:nvPr/>
          </p:nvSpPr>
          <p:spPr>
            <a:xfrm>
              <a:off x="9541045" y="4056346"/>
              <a:ext cx="1171724" cy="117172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5" name="Round Diagonal Corner Rectangle 34">
              <a:extLst>
                <a:ext uri="{FF2B5EF4-FFF2-40B4-BE49-F238E27FC236}">
                  <a16:creationId xmlns:a16="http://schemas.microsoft.com/office/drawing/2014/main" id="{E3B34C51-5FC6-854F-A4A5-1A37BA8FB2ED}"/>
                </a:ext>
              </a:extLst>
            </p:cNvPr>
            <p:cNvSpPr/>
            <p:nvPr/>
          </p:nvSpPr>
          <p:spPr>
            <a:xfrm>
              <a:off x="9586856" y="4588112"/>
              <a:ext cx="1093025"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6" name="Round Diagonal Corner Rectangle 35">
              <a:extLst>
                <a:ext uri="{FF2B5EF4-FFF2-40B4-BE49-F238E27FC236}">
                  <a16:creationId xmlns:a16="http://schemas.microsoft.com/office/drawing/2014/main" id="{1690BCB2-7378-5F45-86AD-0FF72B06A05D}"/>
                </a:ext>
              </a:extLst>
            </p:cNvPr>
            <p:cNvSpPr/>
            <p:nvPr/>
          </p:nvSpPr>
          <p:spPr>
            <a:xfrm rot="5400000">
              <a:off x="9584644" y="4604856"/>
              <a:ext cx="1082777"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7" name="Rectangle 36">
              <a:extLst>
                <a:ext uri="{FF2B5EF4-FFF2-40B4-BE49-F238E27FC236}">
                  <a16:creationId xmlns:a16="http://schemas.microsoft.com/office/drawing/2014/main" id="{931E93E7-92CD-B841-9D38-B633C25D2E88}"/>
                </a:ext>
              </a:extLst>
            </p:cNvPr>
            <p:cNvSpPr>
              <a:spLocks noChangeAspect="1"/>
            </p:cNvSpPr>
            <p:nvPr/>
          </p:nvSpPr>
          <p:spPr>
            <a:xfrm>
              <a:off x="9545433" y="2654095"/>
              <a:ext cx="1171724" cy="117172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8" name="Round Diagonal Corner Rectangle 37">
              <a:extLst>
                <a:ext uri="{FF2B5EF4-FFF2-40B4-BE49-F238E27FC236}">
                  <a16:creationId xmlns:a16="http://schemas.microsoft.com/office/drawing/2014/main" id="{E29B19BB-6DD6-8445-972E-6058F57FFD61}"/>
                </a:ext>
              </a:extLst>
            </p:cNvPr>
            <p:cNvSpPr/>
            <p:nvPr/>
          </p:nvSpPr>
          <p:spPr>
            <a:xfrm>
              <a:off x="9585409" y="3217264"/>
              <a:ext cx="1093025"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9" name="Round Diagonal Corner Rectangle 38">
              <a:extLst>
                <a:ext uri="{FF2B5EF4-FFF2-40B4-BE49-F238E27FC236}">
                  <a16:creationId xmlns:a16="http://schemas.microsoft.com/office/drawing/2014/main" id="{DFD1B009-78B5-5B47-9723-3D2BF8F0B22D}"/>
                </a:ext>
              </a:extLst>
            </p:cNvPr>
            <p:cNvSpPr/>
            <p:nvPr/>
          </p:nvSpPr>
          <p:spPr>
            <a:xfrm rot="5400000">
              <a:off x="9583196" y="3234008"/>
              <a:ext cx="1082777"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40" name="Straight Arrow Connector 39">
              <a:extLst>
                <a:ext uri="{FF2B5EF4-FFF2-40B4-BE49-F238E27FC236}">
                  <a16:creationId xmlns:a16="http://schemas.microsoft.com/office/drawing/2014/main" id="{A5E26E97-94EB-4C4E-8A2D-7C66AAE1775D}"/>
                </a:ext>
              </a:extLst>
            </p:cNvPr>
            <p:cNvCxnSpPr>
              <a:cxnSpLocks/>
              <a:endCxn id="38" idx="0"/>
            </p:cNvCxnSpPr>
            <p:nvPr/>
          </p:nvCxnSpPr>
          <p:spPr>
            <a:xfrm flipV="1">
              <a:off x="10158753" y="3251429"/>
              <a:ext cx="519683" cy="2382"/>
            </a:xfrm>
            <a:prstGeom prst="straightConnector1">
              <a:avLst/>
            </a:prstGeom>
            <a:ln w="254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7C9DCF8-BDB7-D54A-9424-145BE4F2D120}"/>
                </a:ext>
              </a:extLst>
            </p:cNvPr>
            <p:cNvCxnSpPr>
              <a:cxnSpLocks/>
              <a:endCxn id="36" idx="2"/>
            </p:cNvCxnSpPr>
            <p:nvPr/>
          </p:nvCxnSpPr>
          <p:spPr>
            <a:xfrm flipV="1">
              <a:off x="10124585" y="4097634"/>
              <a:ext cx="1449" cy="527150"/>
            </a:xfrm>
            <a:prstGeom prst="straightConnector1">
              <a:avLst/>
            </a:prstGeom>
            <a:ln w="254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294E1C4-8625-C142-8CA0-546E318F25E0}"/>
                    </a:ext>
                  </a:extLst>
                </p:cNvPr>
                <p:cNvSpPr/>
                <p:nvPr/>
              </p:nvSpPr>
              <p:spPr>
                <a:xfrm>
                  <a:off x="9968238" y="2722043"/>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sr-Latn-RS" sz="2400" i="1">
                                <a:latin typeface="Cambria Math" panose="02040503050406030204" pitchFamily="18" charset="0"/>
                              </a:rPr>
                              <m:t>0</m:t>
                            </m:r>
                          </m:e>
                        </m:d>
                      </m:oMath>
                    </m:oMathPara>
                  </a14:m>
                  <a:endParaRPr lang="en-US" sz="2400" dirty="0">
                    <a:latin typeface="+mj-lt"/>
                  </a:endParaRPr>
                </a:p>
              </p:txBody>
            </p:sp>
          </mc:Choice>
          <mc:Fallback xmlns="">
            <p:sp>
              <p:nvSpPr>
                <p:cNvPr id="42" name="Rectangle 41">
                  <a:extLst>
                    <a:ext uri="{FF2B5EF4-FFF2-40B4-BE49-F238E27FC236}">
                      <a16:creationId xmlns:a16="http://schemas.microsoft.com/office/drawing/2014/main" id="{2294E1C4-8625-C142-8CA0-546E318F25E0}"/>
                    </a:ext>
                  </a:extLst>
                </p:cNvPr>
                <p:cNvSpPr>
                  <a:spLocks noRot="1" noChangeAspect="1" noMove="1" noResize="1" noEditPoints="1" noAdjustHandles="1" noChangeArrowheads="1" noChangeShapeType="1" noTextEdit="1"/>
                </p:cNvSpPr>
                <p:nvPr/>
              </p:nvSpPr>
              <p:spPr>
                <a:xfrm>
                  <a:off x="9968238" y="2722043"/>
                  <a:ext cx="631520"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3892F6D9-5336-EA4F-A222-21E58A98BFCF}"/>
                    </a:ext>
                  </a:extLst>
                </p:cNvPr>
                <p:cNvSpPr/>
                <p:nvPr/>
              </p:nvSpPr>
              <p:spPr>
                <a:xfrm>
                  <a:off x="10022734" y="4075468"/>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sr-Latn-RS" sz="2400" i="1">
                                <a:latin typeface="Cambria Math" panose="02040503050406030204" pitchFamily="18" charset="0"/>
                              </a:rPr>
                              <m:t>1</m:t>
                            </m:r>
                          </m:e>
                        </m:d>
                      </m:oMath>
                    </m:oMathPara>
                  </a14:m>
                  <a:endParaRPr lang="en-US" sz="2400" dirty="0">
                    <a:latin typeface="+mj-lt"/>
                  </a:endParaRPr>
                </a:p>
              </p:txBody>
            </p:sp>
          </mc:Choice>
          <mc:Fallback xmlns="">
            <p:sp>
              <p:nvSpPr>
                <p:cNvPr id="43" name="Rectangle 42">
                  <a:extLst>
                    <a:ext uri="{FF2B5EF4-FFF2-40B4-BE49-F238E27FC236}">
                      <a16:creationId xmlns:a16="http://schemas.microsoft.com/office/drawing/2014/main" id="{3892F6D9-5336-EA4F-A222-21E58A98BFCF}"/>
                    </a:ext>
                  </a:extLst>
                </p:cNvPr>
                <p:cNvSpPr>
                  <a:spLocks noRot="1" noChangeAspect="1" noMove="1" noResize="1" noEditPoints="1" noAdjustHandles="1" noChangeArrowheads="1" noChangeShapeType="1" noTextEdit="1"/>
                </p:cNvSpPr>
                <p:nvPr/>
              </p:nvSpPr>
              <p:spPr>
                <a:xfrm>
                  <a:off x="10022734" y="4075468"/>
                  <a:ext cx="631520"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834D6845-ACAB-1446-889C-5316A202B73B}"/>
                    </a:ext>
                  </a:extLst>
                </p:cNvPr>
                <p:cNvSpPr/>
                <p:nvPr/>
              </p:nvSpPr>
              <p:spPr>
                <a:xfrm>
                  <a:off x="9449112" y="2099796"/>
                  <a:ext cx="134710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sz="2400" i="1" smtClean="0">
                                <a:latin typeface="Cambria Math" panose="02040503050406030204" pitchFamily="18" charset="0"/>
                              </a:rPr>
                            </m:ctrlPr>
                          </m:sSubPr>
                          <m:e>
                            <m:r>
                              <a:rPr lang="sr-Latn-RS" sz="2400" i="1">
                                <a:latin typeface="Cambria Math" panose="02040503050406030204" pitchFamily="18" charset="0"/>
                              </a:rPr>
                              <m:t>𝜆</m:t>
                            </m:r>
                          </m:e>
                          <m:sub>
                            <m:r>
                              <a:rPr lang="sr-Latn-RS" sz="2400" i="1">
                                <a:latin typeface="Cambria Math" panose="02040503050406030204" pitchFamily="18" charset="0"/>
                              </a:rPr>
                              <m:t>1</m:t>
                            </m:r>
                          </m:sub>
                        </m:sSub>
                        <m:r>
                          <a:rPr lang="sr-Latn-RS" sz="2400" i="1">
                            <a:latin typeface="Cambria Math" panose="02040503050406030204" pitchFamily="18" charset="0"/>
                          </a:rPr>
                          <m:t>=</m:t>
                        </m:r>
                        <m:r>
                          <a:rPr lang="en-US" sz="2400" b="0" i="1" smtClean="0">
                            <a:latin typeface="Cambria Math" panose="02040503050406030204" pitchFamily="18" charset="0"/>
                          </a:rPr>
                          <m:t>+</m:t>
                        </m:r>
                        <m:r>
                          <a:rPr lang="sr-Latn-RS" sz="2400" i="1">
                            <a:latin typeface="Cambria Math" panose="02040503050406030204" pitchFamily="18" charset="0"/>
                          </a:rPr>
                          <m:t>1</m:t>
                        </m:r>
                      </m:oMath>
                    </m:oMathPara>
                  </a14:m>
                  <a:endParaRPr lang="en-US" sz="2400" dirty="0">
                    <a:latin typeface="+mj-lt"/>
                  </a:endParaRPr>
                </a:p>
              </p:txBody>
            </p:sp>
          </mc:Choice>
          <mc:Fallback xmlns="">
            <p:sp>
              <p:nvSpPr>
                <p:cNvPr id="44" name="Rectangle 43">
                  <a:extLst>
                    <a:ext uri="{FF2B5EF4-FFF2-40B4-BE49-F238E27FC236}">
                      <a16:creationId xmlns:a16="http://schemas.microsoft.com/office/drawing/2014/main" id="{834D6845-ACAB-1446-889C-5316A202B73B}"/>
                    </a:ext>
                  </a:extLst>
                </p:cNvPr>
                <p:cNvSpPr>
                  <a:spLocks noRot="1" noChangeAspect="1" noMove="1" noResize="1" noEditPoints="1" noAdjustHandles="1" noChangeArrowheads="1" noChangeShapeType="1" noTextEdit="1"/>
                </p:cNvSpPr>
                <p:nvPr/>
              </p:nvSpPr>
              <p:spPr>
                <a:xfrm>
                  <a:off x="9449112" y="2099796"/>
                  <a:ext cx="1347100"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9A7210D9-61F3-2447-93A3-3729A9D0C975}"/>
                    </a:ext>
                  </a:extLst>
                </p:cNvPr>
                <p:cNvSpPr/>
                <p:nvPr/>
              </p:nvSpPr>
              <p:spPr>
                <a:xfrm>
                  <a:off x="9328051" y="5214675"/>
                  <a:ext cx="13494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𝜆</m:t>
                            </m:r>
                          </m:e>
                          <m:sub>
                            <m:r>
                              <a:rPr lang="sr-Latn-RS" sz="2400" i="1">
                                <a:latin typeface="Cambria Math" panose="02040503050406030204" pitchFamily="18" charset="0"/>
                              </a:rPr>
                              <m:t>2</m:t>
                            </m:r>
                          </m:sub>
                        </m:sSub>
                        <m:r>
                          <a:rPr lang="sr-Latn-RS" sz="2400" i="1">
                            <a:latin typeface="Cambria Math" panose="02040503050406030204" pitchFamily="18" charset="0"/>
                          </a:rPr>
                          <m:t>=−1</m:t>
                        </m:r>
                      </m:oMath>
                    </m:oMathPara>
                  </a14:m>
                  <a:endParaRPr lang="en-US" sz="2400" dirty="0">
                    <a:latin typeface="+mj-lt"/>
                  </a:endParaRPr>
                </a:p>
              </p:txBody>
            </p:sp>
          </mc:Choice>
          <mc:Fallback xmlns="">
            <p:sp>
              <p:nvSpPr>
                <p:cNvPr id="45" name="Rectangle 44">
                  <a:extLst>
                    <a:ext uri="{FF2B5EF4-FFF2-40B4-BE49-F238E27FC236}">
                      <a16:creationId xmlns:a16="http://schemas.microsoft.com/office/drawing/2014/main" id="{9A7210D9-61F3-2447-93A3-3729A9D0C975}"/>
                    </a:ext>
                  </a:extLst>
                </p:cNvPr>
                <p:cNvSpPr>
                  <a:spLocks noRot="1" noChangeAspect="1" noMove="1" noResize="1" noEditPoints="1" noAdjustHandles="1" noChangeArrowheads="1" noChangeShapeType="1" noTextEdit="1"/>
                </p:cNvSpPr>
                <p:nvPr/>
              </p:nvSpPr>
              <p:spPr>
                <a:xfrm>
                  <a:off x="9328051" y="5214675"/>
                  <a:ext cx="1349408" cy="461665"/>
                </a:xfrm>
                <a:prstGeom prst="rect">
                  <a:avLst/>
                </a:prstGeom>
                <a:blipFill>
                  <a:blip r:embed="rId9"/>
                  <a:stretch>
                    <a:fillRect b="-2703"/>
                  </a:stretch>
                </a:blipFill>
              </p:spPr>
              <p:txBody>
                <a:bodyPr/>
                <a:lstStyle/>
                <a:p>
                  <a:r>
                    <a:rPr lang="en-US">
                      <a:noFill/>
                    </a:rPr>
                    <a:t> </a:t>
                  </a:r>
                </a:p>
              </p:txBody>
            </p:sp>
          </mc:Fallback>
        </mc:AlternateContent>
      </p:grpSp>
      <p:sp>
        <p:nvSpPr>
          <p:cNvPr id="50" name="TextBox 49">
            <a:extLst>
              <a:ext uri="{FF2B5EF4-FFF2-40B4-BE49-F238E27FC236}">
                <a16:creationId xmlns:a16="http://schemas.microsoft.com/office/drawing/2014/main" id="{72F00665-10B9-8046-A55C-9D6CEB9F6196}"/>
              </a:ext>
            </a:extLst>
          </p:cNvPr>
          <p:cNvSpPr txBox="1"/>
          <p:nvPr/>
        </p:nvSpPr>
        <p:spPr>
          <a:xfrm>
            <a:off x="243039" y="2423262"/>
            <a:ext cx="1717008" cy="400110"/>
          </a:xfrm>
          <a:prstGeom prst="rect">
            <a:avLst/>
          </a:prstGeom>
          <a:noFill/>
        </p:spPr>
        <p:txBody>
          <a:bodyPr wrap="none" rtlCol="0">
            <a:spAutoFit/>
          </a:bodyPr>
          <a:lstStyle/>
          <a:p>
            <a:r>
              <a:rPr lang="en-ZA" sz="2000" dirty="0"/>
              <a:t>polarized light </a:t>
            </a:r>
            <a:endParaRPr lang="en-US" sz="2000" dirty="0">
              <a:latin typeface="+mj-lt"/>
            </a:endParaRPr>
          </a:p>
        </p:txBody>
      </p:sp>
      <p:cxnSp>
        <p:nvCxnSpPr>
          <p:cNvPr id="55" name="Straight Arrow Connector 54">
            <a:extLst>
              <a:ext uri="{FF2B5EF4-FFF2-40B4-BE49-F238E27FC236}">
                <a16:creationId xmlns:a16="http://schemas.microsoft.com/office/drawing/2014/main" id="{54E2F51C-276F-864D-A743-4D81AD730BBE}"/>
              </a:ext>
            </a:extLst>
          </p:cNvPr>
          <p:cNvCxnSpPr>
            <a:cxnSpLocks/>
          </p:cNvCxnSpPr>
          <p:nvPr/>
        </p:nvCxnSpPr>
        <p:spPr>
          <a:xfrm flipH="1">
            <a:off x="2526825" y="3757221"/>
            <a:ext cx="422056" cy="0"/>
          </a:xfrm>
          <a:prstGeom prst="straightConnector1">
            <a:avLst/>
          </a:prstGeom>
          <a:ln w="25400" cap="rnd">
            <a:solidFill>
              <a:srgbClr val="00B050"/>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7B9B513-C555-4A45-9E42-8B58BEFF1243}"/>
              </a:ext>
            </a:extLst>
          </p:cNvPr>
          <p:cNvCxnSpPr>
            <a:cxnSpLocks/>
          </p:cNvCxnSpPr>
          <p:nvPr/>
        </p:nvCxnSpPr>
        <p:spPr>
          <a:xfrm>
            <a:off x="2517300" y="3305182"/>
            <a:ext cx="2" cy="443786"/>
          </a:xfrm>
          <a:prstGeom prst="straightConnector1">
            <a:avLst/>
          </a:prstGeom>
          <a:ln w="25400" cap="rnd">
            <a:solidFill>
              <a:schemeClr val="accent1">
                <a:lumMod val="75000"/>
              </a:schemeClr>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3E996B6-F2AB-E044-BC21-D0C1E82A7440}"/>
              </a:ext>
            </a:extLst>
          </p:cNvPr>
          <p:cNvCxnSpPr>
            <a:cxnSpLocks/>
          </p:cNvCxnSpPr>
          <p:nvPr/>
        </p:nvCxnSpPr>
        <p:spPr>
          <a:xfrm flipH="1">
            <a:off x="2517255" y="3492150"/>
            <a:ext cx="211073" cy="256818"/>
          </a:xfrm>
          <a:prstGeom prst="straightConnector1">
            <a:avLst/>
          </a:prstGeom>
          <a:ln w="25400" cap="rnd">
            <a:solidFill>
              <a:srgbClr val="FF0000"/>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97C7AD-3AA1-4C4F-9A8B-028BE1243919}"/>
              </a:ext>
            </a:extLst>
          </p:cNvPr>
          <p:cNvSpPr/>
          <p:nvPr/>
        </p:nvSpPr>
        <p:spPr>
          <a:xfrm>
            <a:off x="4128981" y="3912922"/>
            <a:ext cx="494046" cy="461665"/>
          </a:xfrm>
          <a:prstGeom prst="rect">
            <a:avLst/>
          </a:prstGeom>
        </p:spPr>
        <p:txBody>
          <a:bodyPr wrap="none">
            <a:spAutoFit/>
          </a:bodyPr>
          <a:lstStyle/>
          <a:p>
            <a:r>
              <a:rPr lang="en-US" sz="2400" dirty="0">
                <a:solidFill>
                  <a:srgbClr val="00B050"/>
                </a:solidFill>
                <a:latin typeface="+mj-lt"/>
              </a:rPr>
              <a:t>+1</a:t>
            </a:r>
          </a:p>
        </p:txBody>
      </p:sp>
      <p:sp>
        <p:nvSpPr>
          <p:cNvPr id="16" name="Rectangle 15">
            <a:extLst>
              <a:ext uri="{FF2B5EF4-FFF2-40B4-BE49-F238E27FC236}">
                <a16:creationId xmlns:a16="http://schemas.microsoft.com/office/drawing/2014/main" id="{CB77DC59-B9B1-2342-A7B4-601D5B0D9A0D}"/>
              </a:ext>
            </a:extLst>
          </p:cNvPr>
          <p:cNvSpPr/>
          <p:nvPr/>
        </p:nvSpPr>
        <p:spPr>
          <a:xfrm>
            <a:off x="3878606" y="4508711"/>
            <a:ext cx="434734" cy="461665"/>
          </a:xfrm>
          <a:prstGeom prst="rect">
            <a:avLst/>
          </a:prstGeom>
        </p:spPr>
        <p:txBody>
          <a:bodyPr wrap="none">
            <a:spAutoFit/>
          </a:bodyPr>
          <a:lstStyle/>
          <a:p>
            <a:r>
              <a:rPr lang="en-US" sz="2400" dirty="0">
                <a:solidFill>
                  <a:srgbClr val="0000FF"/>
                </a:solidFill>
                <a:latin typeface="+mj-lt"/>
              </a:rPr>
              <a:t>-1</a:t>
            </a:r>
          </a:p>
        </p:txBody>
      </p:sp>
      <p:cxnSp>
        <p:nvCxnSpPr>
          <p:cNvPr id="23" name="Straight Arrow Connector 22">
            <a:extLst>
              <a:ext uri="{FF2B5EF4-FFF2-40B4-BE49-F238E27FC236}">
                <a16:creationId xmlns:a16="http://schemas.microsoft.com/office/drawing/2014/main" id="{BF89129F-9A0E-E148-A321-57E46286E670}"/>
              </a:ext>
            </a:extLst>
          </p:cNvPr>
          <p:cNvCxnSpPr>
            <a:cxnSpLocks/>
          </p:cNvCxnSpPr>
          <p:nvPr/>
        </p:nvCxnSpPr>
        <p:spPr>
          <a:xfrm rot="2220000" flipH="1">
            <a:off x="4571251" y="4105144"/>
            <a:ext cx="263741" cy="201286"/>
          </a:xfrm>
          <a:prstGeom prst="straightConnector1">
            <a:avLst/>
          </a:prstGeom>
          <a:ln w="25400" cap="rnd">
            <a:solidFill>
              <a:srgbClr val="00B05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737B6C-B109-0F40-8674-FA8D8A2E0EA5}"/>
              </a:ext>
            </a:extLst>
          </p:cNvPr>
          <p:cNvCxnSpPr>
            <a:cxnSpLocks/>
          </p:cNvCxnSpPr>
          <p:nvPr/>
        </p:nvCxnSpPr>
        <p:spPr>
          <a:xfrm rot="7620000" flipH="1">
            <a:off x="4171751" y="4583014"/>
            <a:ext cx="263741" cy="201286"/>
          </a:xfrm>
          <a:prstGeom prst="straightConnector1">
            <a:avLst/>
          </a:prstGeom>
          <a:ln w="25400" cap="rnd">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25A61326-F62E-CC41-B475-6F6C92AD70C1}"/>
              </a:ext>
            </a:extLst>
          </p:cNvPr>
          <p:cNvGrpSpPr/>
          <p:nvPr/>
        </p:nvGrpSpPr>
        <p:grpSpPr>
          <a:xfrm>
            <a:off x="3275407" y="3839385"/>
            <a:ext cx="486701" cy="862946"/>
            <a:chOff x="3275407" y="3839385"/>
            <a:chExt cx="486701" cy="862946"/>
          </a:xfrm>
        </p:grpSpPr>
        <p:sp>
          <p:nvSpPr>
            <p:cNvPr id="61" name="Rectangle 3">
              <a:extLst>
                <a:ext uri="{FF2B5EF4-FFF2-40B4-BE49-F238E27FC236}">
                  <a16:creationId xmlns:a16="http://schemas.microsoft.com/office/drawing/2014/main" id="{AA4F8C9B-AAE9-D941-950C-969B828FF1C8}"/>
                </a:ext>
              </a:extLst>
            </p:cNvPr>
            <p:cNvSpPr/>
            <p:nvPr/>
          </p:nvSpPr>
          <p:spPr>
            <a:xfrm flipH="1">
              <a:off x="3275407" y="3839385"/>
              <a:ext cx="486701" cy="862946"/>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63" name="Straight Arrow Connector 62">
              <a:extLst>
                <a:ext uri="{FF2B5EF4-FFF2-40B4-BE49-F238E27FC236}">
                  <a16:creationId xmlns:a16="http://schemas.microsoft.com/office/drawing/2014/main" id="{2E99A3AA-D85C-D743-AB58-5C6467161CD1}"/>
                </a:ext>
              </a:extLst>
            </p:cNvPr>
            <p:cNvCxnSpPr>
              <a:cxnSpLocks/>
            </p:cNvCxnSpPr>
            <p:nvPr/>
          </p:nvCxnSpPr>
          <p:spPr>
            <a:xfrm flipV="1">
              <a:off x="3345323" y="4180590"/>
              <a:ext cx="374835" cy="180536"/>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F772CCD-51A7-6143-BB66-FCC21D0D7D52}"/>
                </a:ext>
              </a:extLst>
            </p:cNvPr>
            <p:cNvCxnSpPr>
              <a:cxnSpLocks/>
            </p:cNvCxnSpPr>
            <p:nvPr/>
          </p:nvCxnSpPr>
          <p:spPr>
            <a:xfrm flipH="1">
              <a:off x="3545152" y="4004931"/>
              <a:ext cx="0" cy="516597"/>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75E1A70E-CD93-B240-967A-D34AD3B09901}"/>
              </a:ext>
            </a:extLst>
          </p:cNvPr>
          <p:cNvGrpSpPr/>
          <p:nvPr/>
        </p:nvGrpSpPr>
        <p:grpSpPr>
          <a:xfrm>
            <a:off x="3660773" y="4110676"/>
            <a:ext cx="461210" cy="573486"/>
            <a:chOff x="3659277" y="4013613"/>
            <a:chExt cx="461210" cy="573486"/>
          </a:xfrm>
        </p:grpSpPr>
        <p:sp>
          <p:nvSpPr>
            <p:cNvPr id="73" name="Oval 72">
              <a:extLst>
                <a:ext uri="{FF2B5EF4-FFF2-40B4-BE49-F238E27FC236}">
                  <a16:creationId xmlns:a16="http://schemas.microsoft.com/office/drawing/2014/main" id="{1355543D-09E5-A647-8894-BB83735B2A8C}"/>
                </a:ext>
              </a:extLst>
            </p:cNvPr>
            <p:cNvSpPr/>
            <p:nvPr/>
          </p:nvSpPr>
          <p:spPr>
            <a:xfrm rot="561297">
              <a:off x="3659277" y="4013613"/>
              <a:ext cx="319505" cy="562994"/>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4E4CCEA6-C185-9347-AB1C-5F261A54119A}"/>
                </a:ext>
              </a:extLst>
            </p:cNvPr>
            <p:cNvSpPr/>
            <p:nvPr/>
          </p:nvSpPr>
          <p:spPr>
            <a:xfrm rot="561297">
              <a:off x="3717989" y="4024105"/>
              <a:ext cx="319505" cy="562994"/>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A897267-303F-C946-8381-88B38C887CDD}"/>
                </a:ext>
              </a:extLst>
            </p:cNvPr>
            <p:cNvSpPr/>
            <p:nvPr/>
          </p:nvSpPr>
          <p:spPr>
            <a:xfrm rot="561297">
              <a:off x="3786085" y="4112408"/>
              <a:ext cx="187716" cy="37976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3AE6BB9B-1E38-4D45-BF48-CC4FFD6013EE}"/>
                </a:ext>
              </a:extLst>
            </p:cNvPr>
            <p:cNvCxnSpPr>
              <a:cxnSpLocks/>
            </p:cNvCxnSpPr>
            <p:nvPr/>
          </p:nvCxnSpPr>
          <p:spPr>
            <a:xfrm>
              <a:off x="3905042" y="4196552"/>
              <a:ext cx="215445" cy="489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1B19790-54B5-984E-BE0C-35575234745B}"/>
                </a:ext>
              </a:extLst>
            </p:cNvPr>
            <p:cNvCxnSpPr>
              <a:cxnSpLocks/>
            </p:cNvCxnSpPr>
            <p:nvPr/>
          </p:nvCxnSpPr>
          <p:spPr>
            <a:xfrm>
              <a:off x="3859443" y="4421441"/>
              <a:ext cx="215445" cy="489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0512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038D64-0DAD-9741-9894-C66FBA043F19}"/>
              </a:ext>
            </a:extLst>
          </p:cNvPr>
          <p:cNvSpPr>
            <a:spLocks noGrp="1"/>
          </p:cNvSpPr>
          <p:nvPr>
            <p:ph type="title"/>
          </p:nvPr>
        </p:nvSpPr>
        <p:spPr/>
        <p:txBody>
          <a:bodyPr/>
          <a:lstStyle/>
          <a:p>
            <a:r>
              <a:rPr lang="en-ZA" dirty="0"/>
              <a:t>Measurement Postulate / Born Rule (1926)</a:t>
            </a:r>
            <a:endParaRPr lang="en-US" dirty="0"/>
          </a:p>
        </p:txBody>
      </p:sp>
      <p:sp>
        <p:nvSpPr>
          <p:cNvPr id="2" name="Slide Number Placeholder 1">
            <a:extLst>
              <a:ext uri="{FF2B5EF4-FFF2-40B4-BE49-F238E27FC236}">
                <a16:creationId xmlns:a16="http://schemas.microsoft.com/office/drawing/2014/main" id="{61A63606-B702-8546-97EF-792A3CB91B14}"/>
              </a:ext>
            </a:extLst>
          </p:cNvPr>
          <p:cNvSpPr>
            <a:spLocks noGrp="1"/>
          </p:cNvSpPr>
          <p:nvPr>
            <p:ph type="sldNum" sz="quarter" idx="12"/>
          </p:nvPr>
        </p:nvSpPr>
        <p:spPr/>
        <p:txBody>
          <a:bodyPr/>
          <a:lstStyle/>
          <a:p>
            <a:fld id="{591A223C-FA10-BC46-A853-03BA373D023C}" type="slidenum">
              <a:rPr lang="en-US" smtClean="0"/>
              <a:t>40</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BF3C67-8443-2D42-81CE-7082D70B1452}"/>
                  </a:ext>
                </a:extLst>
              </p:cNvPr>
              <p:cNvSpPr txBox="1"/>
              <p:nvPr/>
            </p:nvSpPr>
            <p:spPr>
              <a:xfrm>
                <a:off x="216977" y="1603868"/>
                <a:ext cx="11691005" cy="2431435"/>
              </a:xfrm>
              <a:prstGeom prst="rect">
                <a:avLst/>
              </a:prstGeom>
              <a:solidFill>
                <a:schemeClr val="accent4">
                  <a:lumMod val="20000"/>
                  <a:lumOff val="80000"/>
                </a:schemeClr>
              </a:solidFill>
            </p:spPr>
            <p:txBody>
              <a:bodyPr wrap="square" rtlCol="0">
                <a:spAutoFit/>
              </a:bodyPr>
              <a:lstStyle/>
              <a:p>
                <a:pPr algn="ctr"/>
                <a:r>
                  <a:rPr lang="en-ZA" sz="2800" dirty="0"/>
                  <a:t>If a quantum system in state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r>
                      <a:rPr lang="en-US" sz="2800" i="1">
                        <a:latin typeface="Cambria Math" panose="02040503050406030204" pitchFamily="18" charset="0"/>
                      </a:rPr>
                      <m:t> </m:t>
                    </m:r>
                  </m:oMath>
                </a14:m>
                <a:r>
                  <a:rPr lang="en-ZA" sz="2800" dirty="0"/>
                  <a:t>is measured in an orthonormal basis </a:t>
                </a:r>
                <a14:m>
                  <m:oMath xmlns:m="http://schemas.openxmlformats.org/officeDocument/2006/math">
                    <m:d>
                      <m:dPr>
                        <m:begChr m:val="{"/>
                        <m:endChr m:val="}"/>
                        <m:ctrlPr>
                          <a:rPr lang="en-US" sz="2800" i="1" smtClean="0">
                            <a:latin typeface="Cambria Math" panose="02040503050406030204" pitchFamily="18" charset="0"/>
                          </a:rPr>
                        </m:ctrlPr>
                      </m:dPr>
                      <m:e>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𝑘</m:t>
                            </m:r>
                          </m:e>
                        </m:d>
                      </m:e>
                    </m:d>
                  </m:oMath>
                </a14:m>
                <a:r>
                  <a:rPr lang="en-ZA" sz="2800" dirty="0"/>
                  <a:t> the probability of obtaining outcome </a:t>
                </a:r>
                <a14:m>
                  <m:oMath xmlns:m="http://schemas.openxmlformats.org/officeDocument/2006/math">
                    <m:r>
                      <a:rPr lang="en-US" sz="2800" i="1">
                        <a:latin typeface="Cambria Math" panose="02040503050406030204" pitchFamily="18" charset="0"/>
                      </a:rPr>
                      <m:t>𝑘</m:t>
                    </m:r>
                  </m:oMath>
                </a14:m>
                <a:r>
                  <a:rPr lang="en-ZA" sz="2800" dirty="0"/>
                  <a:t> is</a:t>
                </a:r>
              </a:p>
              <a:p>
                <a:pPr algn="ctr"/>
                <a:endParaRPr lang="en-ZA" sz="2800" dirty="0"/>
              </a:p>
              <a:p>
                <a:pPr algn="ctr"/>
                <a14:m>
                  <m:oMathPara xmlns:m="http://schemas.openxmlformats.org/officeDocument/2006/math">
                    <m:oMathParaPr>
                      <m:jc m:val="centerGroup"/>
                    </m:oMathParaPr>
                    <m:oMath xmlns:m="http://schemas.openxmlformats.org/officeDocument/2006/math">
                      <m:r>
                        <a:rPr lang="sr-Latn-RS" sz="4000" b="0" i="1" smtClean="0">
                          <a:latin typeface="Cambria Math" panose="02040503050406030204" pitchFamily="18" charset="0"/>
                        </a:rPr>
                        <m:t>𝑝</m:t>
                      </m:r>
                      <m:d>
                        <m:dPr>
                          <m:ctrlPr>
                            <a:rPr lang="en-US" sz="4000" i="1">
                              <a:latin typeface="Cambria Math" panose="02040503050406030204" pitchFamily="18" charset="0"/>
                            </a:rPr>
                          </m:ctrlPr>
                        </m:dPr>
                        <m:e>
                          <m:r>
                            <a:rPr lang="en-US" sz="4000" b="0" i="1" smtClean="0">
                              <a:latin typeface="Cambria Math" panose="02040503050406030204" pitchFamily="18" charset="0"/>
                            </a:rPr>
                            <m:t>𝑘</m:t>
                          </m:r>
                        </m:e>
                      </m:d>
                      <m:r>
                        <a:rPr lang="en-US" sz="4000" i="1">
                          <a:latin typeface="Cambria Math" panose="02040503050406030204" pitchFamily="18" charset="0"/>
                        </a:rPr>
                        <m:t>=</m:t>
                      </m:r>
                      <m:sSup>
                        <m:sSupPr>
                          <m:ctrlPr>
                            <a:rPr lang="en-US" sz="4000" i="1">
                              <a:latin typeface="Cambria Math" panose="02040503050406030204" pitchFamily="18" charset="0"/>
                            </a:rPr>
                          </m:ctrlPr>
                        </m:sSupPr>
                        <m:e>
                          <m:d>
                            <m:dPr>
                              <m:begChr m:val="|"/>
                              <m:endChr m:val="|"/>
                              <m:ctrlPr>
                                <a:rPr lang="en-US" sz="4000" i="1">
                                  <a:latin typeface="Cambria Math" panose="02040503050406030204" pitchFamily="18" charset="0"/>
                                </a:rPr>
                              </m:ctrlPr>
                            </m:dPr>
                            <m:e>
                              <m:d>
                                <m:dPr>
                                  <m:begChr m:val="⟨"/>
                                  <m:endChr m:val="⟩"/>
                                  <m:ctrlPr>
                                    <a:rPr lang="sr-Latn-RS" sz="4000" i="1">
                                      <a:latin typeface="Cambria Math" panose="02040503050406030204" pitchFamily="18" charset="0"/>
                                    </a:rPr>
                                  </m:ctrlPr>
                                </m:dPr>
                                <m:e>
                                  <m:r>
                                    <a:rPr lang="en-US" sz="4000" b="0" i="1" smtClean="0">
                                      <a:latin typeface="Cambria Math" panose="02040503050406030204" pitchFamily="18" charset="0"/>
                                    </a:rPr>
                                    <m:t>𝑘</m:t>
                                  </m:r>
                                </m:e>
                                <m:e>
                                  <m:r>
                                    <a:rPr lang="en-US" sz="4000" i="1">
                                      <a:latin typeface="Cambria Math" panose="02040503050406030204" pitchFamily="18" charset="0"/>
                                    </a:rPr>
                                    <m:t>𝑆</m:t>
                                  </m:r>
                                </m:e>
                              </m:d>
                            </m:e>
                          </m:d>
                        </m:e>
                        <m:sup>
                          <m:r>
                            <a:rPr lang="en-US" sz="4000">
                              <a:latin typeface="Cambria Math" panose="02040503050406030204" pitchFamily="18" charset="0"/>
                            </a:rPr>
                            <m:t>2</m:t>
                          </m:r>
                        </m:sup>
                      </m:sSup>
                    </m:oMath>
                  </m:oMathPara>
                </a14:m>
                <a:endParaRPr lang="en-US" sz="4000" dirty="0"/>
              </a:p>
              <a:p>
                <a:pPr algn="ctr"/>
                <a:endParaRPr lang="en-US" sz="2800" dirty="0"/>
              </a:p>
            </p:txBody>
          </p:sp>
        </mc:Choice>
        <mc:Fallback xmlns="">
          <p:sp>
            <p:nvSpPr>
              <p:cNvPr id="4" name="TextBox 3">
                <a:extLst>
                  <a:ext uri="{FF2B5EF4-FFF2-40B4-BE49-F238E27FC236}">
                    <a16:creationId xmlns:a16="http://schemas.microsoft.com/office/drawing/2014/main" id="{23BF3C67-8443-2D42-81CE-7082D70B1452}"/>
                  </a:ext>
                </a:extLst>
              </p:cNvPr>
              <p:cNvSpPr txBox="1">
                <a:spLocks noRot="1" noChangeAspect="1" noMove="1" noResize="1" noEditPoints="1" noAdjustHandles="1" noChangeArrowheads="1" noChangeShapeType="1" noTextEdit="1"/>
              </p:cNvSpPr>
              <p:nvPr/>
            </p:nvSpPr>
            <p:spPr>
              <a:xfrm>
                <a:off x="216977" y="1603868"/>
                <a:ext cx="11691005" cy="2431435"/>
              </a:xfrm>
              <a:prstGeom prst="rect">
                <a:avLst/>
              </a:prstGeom>
              <a:blipFill>
                <a:blip r:embed="rId3"/>
                <a:stretch>
                  <a:fillRect t="-2591" r="-759"/>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3AA23E28-81E9-BC41-B7A8-FC3BA53AF5EF}"/>
              </a:ext>
            </a:extLst>
          </p:cNvPr>
          <p:cNvPicPr>
            <a:picLocks noChangeAspect="1"/>
          </p:cNvPicPr>
          <p:nvPr/>
        </p:nvPicPr>
        <p:blipFill>
          <a:blip r:embed="rId4"/>
          <a:stretch>
            <a:fillRect/>
          </a:stretch>
        </p:blipFill>
        <p:spPr>
          <a:xfrm>
            <a:off x="9448800" y="2958206"/>
            <a:ext cx="2638523" cy="3122877"/>
          </a:xfrm>
          <a:prstGeom prst="rect">
            <a:avLst/>
          </a:prstGeom>
        </p:spPr>
      </p:pic>
      <p:sp>
        <p:nvSpPr>
          <p:cNvPr id="15" name="TextBox 14">
            <a:extLst>
              <a:ext uri="{FF2B5EF4-FFF2-40B4-BE49-F238E27FC236}">
                <a16:creationId xmlns:a16="http://schemas.microsoft.com/office/drawing/2014/main" id="{DA0F3E4D-C115-7E4D-9478-BC321FF46037}"/>
              </a:ext>
            </a:extLst>
          </p:cNvPr>
          <p:cNvSpPr txBox="1"/>
          <p:nvPr/>
        </p:nvSpPr>
        <p:spPr>
          <a:xfrm>
            <a:off x="9644538" y="6123543"/>
            <a:ext cx="2442785" cy="369332"/>
          </a:xfrm>
          <a:prstGeom prst="rect">
            <a:avLst/>
          </a:prstGeom>
          <a:noFill/>
        </p:spPr>
        <p:txBody>
          <a:bodyPr wrap="none" rtlCol="0">
            <a:spAutoFit/>
          </a:bodyPr>
          <a:lstStyle/>
          <a:p>
            <a:r>
              <a:rPr lang="en-US" dirty="0"/>
              <a:t>Max Born (1882 – 1970)</a:t>
            </a:r>
          </a:p>
        </p:txBody>
      </p:sp>
      <p:grpSp>
        <p:nvGrpSpPr>
          <p:cNvPr id="9" name="Group 8">
            <a:extLst>
              <a:ext uri="{FF2B5EF4-FFF2-40B4-BE49-F238E27FC236}">
                <a16:creationId xmlns:a16="http://schemas.microsoft.com/office/drawing/2014/main" id="{D0FDDCB4-F135-2541-89DE-BE6DFAF1E4F5}"/>
              </a:ext>
            </a:extLst>
          </p:cNvPr>
          <p:cNvGrpSpPr/>
          <p:nvPr/>
        </p:nvGrpSpPr>
        <p:grpSpPr>
          <a:xfrm>
            <a:off x="216977" y="4743541"/>
            <a:ext cx="6357381" cy="1670355"/>
            <a:chOff x="216977" y="4743541"/>
            <a:chExt cx="6357381" cy="1670355"/>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E616DD-4341-9441-B1C3-925232363FE9}"/>
                    </a:ext>
                  </a:extLst>
                </p:cNvPr>
                <p:cNvSpPr txBox="1"/>
                <p:nvPr/>
              </p:nvSpPr>
              <p:spPr>
                <a:xfrm>
                  <a:off x="216977" y="5205206"/>
                  <a:ext cx="635738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𝑘</m:t>
                            </m:r>
                          </m:e>
                        </m:d>
                        <m:r>
                          <a:rPr lang="en-US" sz="2800" i="1">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d>
                                  <m:dPr>
                                    <m:begChr m:val="⟨"/>
                                    <m:endChr m:val="⟩"/>
                                    <m:ctrlPr>
                                      <a:rPr lang="sr-Latn-RS" sz="2800" i="1">
                                        <a:latin typeface="Cambria Math" panose="02040503050406030204" pitchFamily="18" charset="0"/>
                                      </a:rPr>
                                    </m:ctrlPr>
                                  </m:dPr>
                                  <m:e>
                                    <m:r>
                                      <a:rPr lang="en-US" sz="2800" i="1">
                                        <a:latin typeface="Cambria Math" panose="02040503050406030204" pitchFamily="18" charset="0"/>
                                      </a:rPr>
                                      <m:t>𝑘</m:t>
                                    </m:r>
                                  </m:e>
                                  <m:e>
                                    <m:r>
                                      <a:rPr lang="en-US" sz="2800" i="1">
                                        <a:latin typeface="Cambria Math" panose="02040503050406030204" pitchFamily="18" charset="0"/>
                                      </a:rPr>
                                      <m:t>𝑆</m:t>
                                    </m:r>
                                  </m:e>
                                </m:d>
                              </m:e>
                            </m:d>
                          </m:e>
                          <m:sup>
                            <m:r>
                              <a:rPr lang="en-US" sz="2800">
                                <a:latin typeface="Cambria Math" panose="02040503050406030204" pitchFamily="18" charset="0"/>
                              </a:rPr>
                              <m:t>2</m:t>
                            </m:r>
                          </m:sup>
                        </m:sSup>
                        <m:r>
                          <a:rPr lang="en-US" sz="2800" b="0" i="1" smtClean="0">
                            <a:latin typeface="Cambria Math" panose="02040503050406030204" pitchFamily="18" charset="0"/>
                          </a:rPr>
                          <m:t>=</m:t>
                        </m:r>
                        <m:d>
                          <m:dPr>
                            <m:begChr m:val="⟨"/>
                            <m:endChr m:val="⟩"/>
                            <m:ctrlPr>
                              <a:rPr lang="sr-Latn-RS" sz="2800" i="1">
                                <a:latin typeface="Cambria Math" panose="02040503050406030204" pitchFamily="18" charset="0"/>
                              </a:rPr>
                            </m:ctrlPr>
                          </m:dPr>
                          <m:e>
                            <m:r>
                              <a:rPr lang="en-US" sz="2800" b="0" i="1" smtClean="0">
                                <a:latin typeface="Cambria Math" panose="02040503050406030204" pitchFamily="18" charset="0"/>
                              </a:rPr>
                              <m:t>𝑆</m:t>
                            </m:r>
                          </m:e>
                          <m:e>
                            <m:r>
                              <a:rPr lang="en-US" sz="2800" b="0" i="1" smtClean="0">
                                <a:latin typeface="Cambria Math" panose="02040503050406030204" pitchFamily="18" charset="0"/>
                              </a:rPr>
                              <m:t>𝑘</m:t>
                            </m:r>
                          </m:e>
                        </m:d>
                        <m:d>
                          <m:dPr>
                            <m:begChr m:val="⟨"/>
                            <m:endChr m:val="⟩"/>
                            <m:ctrlPr>
                              <a:rPr lang="sr-Latn-RS" sz="2800" i="1">
                                <a:latin typeface="Cambria Math" panose="02040503050406030204" pitchFamily="18" charset="0"/>
                              </a:rPr>
                            </m:ctrlPr>
                          </m:dPr>
                          <m:e>
                            <m:r>
                              <a:rPr lang="en-US" sz="2800" i="1">
                                <a:latin typeface="Cambria Math" panose="02040503050406030204" pitchFamily="18" charset="0"/>
                              </a:rPr>
                              <m:t>𝑘</m:t>
                            </m:r>
                          </m:e>
                          <m:e>
                            <m:r>
                              <a:rPr lang="en-US" sz="2800" i="1">
                                <a:latin typeface="Cambria Math" panose="02040503050406030204" pitchFamily="18" charset="0"/>
                              </a:rPr>
                              <m:t>𝑆</m:t>
                            </m:r>
                          </m:e>
                        </m:d>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e>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𝑘</m:t>
                                </m:r>
                              </m:sub>
                            </m:sSub>
                          </m:e>
                          <m:e>
                            <m:r>
                              <a:rPr lang="en-US" sz="2800" b="0" i="1" smtClean="0">
                                <a:latin typeface="Cambria Math" panose="02040503050406030204" pitchFamily="18" charset="0"/>
                              </a:rPr>
                              <m:t>𝑆</m:t>
                            </m:r>
                          </m:e>
                        </m:d>
                      </m:oMath>
                    </m:oMathPara>
                  </a14:m>
                  <a:endParaRPr lang="en-US" sz="2800" dirty="0"/>
                </a:p>
              </p:txBody>
            </p:sp>
          </mc:Choice>
          <mc:Fallback xmlns="">
            <p:sp>
              <p:nvSpPr>
                <p:cNvPr id="5" name="TextBox 4">
                  <a:extLst>
                    <a:ext uri="{FF2B5EF4-FFF2-40B4-BE49-F238E27FC236}">
                      <a16:creationId xmlns:a16="http://schemas.microsoft.com/office/drawing/2014/main" id="{1DE616DD-4341-9441-B1C3-925232363FE9}"/>
                    </a:ext>
                  </a:extLst>
                </p:cNvPr>
                <p:cNvSpPr txBox="1">
                  <a:spLocks noRot="1" noChangeAspect="1" noMove="1" noResize="1" noEditPoints="1" noAdjustHandles="1" noChangeArrowheads="1" noChangeShapeType="1" noTextEdit="1"/>
                </p:cNvSpPr>
                <p:nvPr/>
              </p:nvSpPr>
              <p:spPr>
                <a:xfrm>
                  <a:off x="216977" y="5205206"/>
                  <a:ext cx="6357381" cy="523220"/>
                </a:xfrm>
                <a:prstGeom prst="rect">
                  <a:avLst/>
                </a:prstGeom>
                <a:blipFill>
                  <a:blip r:embed="rId5"/>
                  <a:stretch>
                    <a:fillRect b="-952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5F2C395-8E7D-8541-9128-06DB2EB818C9}"/>
                </a:ext>
              </a:extLst>
            </p:cNvPr>
            <p:cNvSpPr txBox="1"/>
            <p:nvPr/>
          </p:nvSpPr>
          <p:spPr>
            <a:xfrm>
              <a:off x="294851" y="4743541"/>
              <a:ext cx="4286751" cy="461665"/>
            </a:xfrm>
            <a:prstGeom prst="rect">
              <a:avLst/>
            </a:prstGeom>
            <a:noFill/>
          </p:spPr>
          <p:txBody>
            <a:bodyPr wrap="none" rtlCol="0">
              <a:spAutoFit/>
            </a:bodyPr>
            <a:lstStyle/>
            <a:p>
              <a:r>
                <a:rPr lang="en-ZA" sz="2400" dirty="0"/>
                <a:t>The projector form of </a:t>
              </a:r>
              <a:r>
                <a:rPr lang="en-ZA" sz="2400" dirty="0" err="1"/>
                <a:t>Born's</a:t>
              </a:r>
              <a:r>
                <a:rPr lang="en-ZA" sz="2400" dirty="0"/>
                <a:t> rule</a:t>
              </a:r>
              <a:endParaRPr lang="en-US" sz="2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ABD455-655E-9C46-89D5-2572322B1CBF}"/>
                    </a:ext>
                  </a:extLst>
                </p:cNvPr>
                <p:cNvSpPr txBox="1"/>
                <p:nvPr/>
              </p:nvSpPr>
              <p:spPr>
                <a:xfrm>
                  <a:off x="3709509" y="5952231"/>
                  <a:ext cx="56688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oMath>
                    </m:oMathPara>
                  </a14:m>
                  <a:endParaRPr lang="en-US" sz="2400" dirty="0"/>
                </a:p>
              </p:txBody>
            </p:sp>
          </mc:Choice>
          <mc:Fallback xmlns="">
            <p:sp>
              <p:nvSpPr>
                <p:cNvPr id="7" name="TextBox 6">
                  <a:extLst>
                    <a:ext uri="{FF2B5EF4-FFF2-40B4-BE49-F238E27FC236}">
                      <a16:creationId xmlns:a16="http://schemas.microsoft.com/office/drawing/2014/main" id="{02ABD455-655E-9C46-89D5-2572322B1CBF}"/>
                    </a:ext>
                  </a:extLst>
                </p:cNvPr>
                <p:cNvSpPr txBox="1">
                  <a:spLocks noRot="1" noChangeAspect="1" noMove="1" noResize="1" noEditPoints="1" noAdjustHandles="1" noChangeArrowheads="1" noChangeShapeType="1" noTextEdit="1"/>
                </p:cNvSpPr>
                <p:nvPr/>
              </p:nvSpPr>
              <p:spPr>
                <a:xfrm>
                  <a:off x="3709509" y="5952231"/>
                  <a:ext cx="566886" cy="461665"/>
                </a:xfrm>
                <a:prstGeom prst="rect">
                  <a:avLst/>
                </a:prstGeom>
                <a:blipFill>
                  <a:blip r:embed="rId6"/>
                  <a:stretch>
                    <a:fillRect b="-2703"/>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93D608E0-21EB-0142-B16A-C6D4CBCDCE1B}"/>
                </a:ext>
              </a:extLst>
            </p:cNvPr>
            <p:cNvSpPr/>
            <p:nvPr/>
          </p:nvSpPr>
          <p:spPr>
            <a:xfrm rot="16200000" flipV="1">
              <a:off x="3798495" y="5488104"/>
              <a:ext cx="280915" cy="757491"/>
            </a:xfrm>
            <a:prstGeom prst="leftBrace">
              <a:avLst>
                <a:gd name="adj1" fmla="val 2526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41996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4C6254-3933-564B-8B79-7D8CA8FF3DB6}"/>
              </a:ext>
            </a:extLst>
          </p:cNvPr>
          <p:cNvSpPr>
            <a:spLocks noGrp="1"/>
          </p:cNvSpPr>
          <p:nvPr>
            <p:ph type="title"/>
          </p:nvPr>
        </p:nvSpPr>
        <p:spPr/>
        <p:txBody>
          <a:bodyPr/>
          <a:lstStyle/>
          <a:p>
            <a:pPr lvl="0"/>
            <a:r>
              <a:rPr lang="en-ZA" sz="3600" dirty="0"/>
              <a:t>Von Neumann Postulate (1932)</a:t>
            </a:r>
            <a:endParaRPr lang="en-US" sz="3600" dirty="0"/>
          </a:p>
        </p:txBody>
      </p:sp>
      <p:sp>
        <p:nvSpPr>
          <p:cNvPr id="2" name="Slide Number Placeholder 1">
            <a:extLst>
              <a:ext uri="{FF2B5EF4-FFF2-40B4-BE49-F238E27FC236}">
                <a16:creationId xmlns:a16="http://schemas.microsoft.com/office/drawing/2014/main" id="{D5125A3A-4B1D-F54A-9959-139B6A36E908}"/>
              </a:ext>
            </a:extLst>
          </p:cNvPr>
          <p:cNvSpPr>
            <a:spLocks noGrp="1"/>
          </p:cNvSpPr>
          <p:nvPr>
            <p:ph type="sldNum" sz="quarter" idx="12"/>
          </p:nvPr>
        </p:nvSpPr>
        <p:spPr/>
        <p:txBody>
          <a:bodyPr/>
          <a:lstStyle/>
          <a:p>
            <a:fld id="{591A223C-FA10-BC46-A853-03BA373D023C}" type="slidenum">
              <a:rPr lang="en-US" smtClean="0"/>
              <a:t>41</a:t>
            </a:fld>
            <a:endParaRPr lang="en-US"/>
          </a:p>
        </p:txBody>
      </p:sp>
      <p:sp>
        <p:nvSpPr>
          <p:cNvPr id="8" name="TextBox 7">
            <a:extLst>
              <a:ext uri="{FF2B5EF4-FFF2-40B4-BE49-F238E27FC236}">
                <a16:creationId xmlns:a16="http://schemas.microsoft.com/office/drawing/2014/main" id="{51475695-62A2-2B49-8FA3-E92F897A132B}"/>
              </a:ext>
            </a:extLst>
          </p:cNvPr>
          <p:cNvSpPr txBox="1"/>
          <p:nvPr/>
        </p:nvSpPr>
        <p:spPr>
          <a:xfrm>
            <a:off x="4154020" y="1448831"/>
            <a:ext cx="7198821" cy="954107"/>
          </a:xfrm>
          <a:prstGeom prst="rect">
            <a:avLst/>
          </a:prstGeom>
          <a:solidFill>
            <a:schemeClr val="accent4">
              <a:lumMod val="20000"/>
              <a:lumOff val="80000"/>
            </a:schemeClr>
          </a:solidFill>
        </p:spPr>
        <p:txBody>
          <a:bodyPr wrap="square" rtlCol="0">
            <a:spAutoFit/>
          </a:bodyPr>
          <a:lstStyle/>
          <a:p>
            <a:pPr lvl="0" algn="just">
              <a:defRPr/>
            </a:pPr>
            <a:r>
              <a:rPr lang="en-ZA" sz="2800" dirty="0"/>
              <a:t>Each measurable physical quantity of a quantum system is associated with a Hermitian operator.</a:t>
            </a:r>
          </a:p>
        </p:txBody>
      </p:sp>
      <p:sp>
        <p:nvSpPr>
          <p:cNvPr id="13" name="TextBox 12">
            <a:extLst>
              <a:ext uri="{FF2B5EF4-FFF2-40B4-BE49-F238E27FC236}">
                <a16:creationId xmlns:a16="http://schemas.microsoft.com/office/drawing/2014/main" id="{AAD2D99F-4296-9B4A-9FCC-D4CE40D55187}"/>
              </a:ext>
            </a:extLst>
          </p:cNvPr>
          <p:cNvSpPr txBox="1"/>
          <p:nvPr/>
        </p:nvSpPr>
        <p:spPr>
          <a:xfrm>
            <a:off x="651917" y="5064127"/>
            <a:ext cx="2194062" cy="707886"/>
          </a:xfrm>
          <a:prstGeom prst="rect">
            <a:avLst/>
          </a:prstGeom>
          <a:noFill/>
        </p:spPr>
        <p:txBody>
          <a:bodyPr wrap="none" rtlCol="0">
            <a:spAutoFit/>
          </a:bodyPr>
          <a:lstStyle/>
          <a:p>
            <a:pPr algn="ctr"/>
            <a:r>
              <a:rPr lang="en-ZA" sz="2000" dirty="0"/>
              <a:t>John von Neumann</a:t>
            </a:r>
          </a:p>
          <a:p>
            <a:pPr algn="ctr"/>
            <a:r>
              <a:rPr lang="en-US" sz="2000" dirty="0"/>
              <a:t>(1903 – 1957)</a:t>
            </a:r>
          </a:p>
        </p:txBody>
      </p:sp>
      <p:pic>
        <p:nvPicPr>
          <p:cNvPr id="5" name="Picture 4">
            <a:extLst>
              <a:ext uri="{FF2B5EF4-FFF2-40B4-BE49-F238E27FC236}">
                <a16:creationId xmlns:a16="http://schemas.microsoft.com/office/drawing/2014/main" id="{5BA8008C-500A-F749-8EBF-78A92D8E9907}"/>
              </a:ext>
            </a:extLst>
          </p:cNvPr>
          <p:cNvPicPr>
            <a:picLocks noChangeAspect="1"/>
          </p:cNvPicPr>
          <p:nvPr/>
        </p:nvPicPr>
        <p:blipFill>
          <a:blip r:embed="rId3"/>
          <a:stretch>
            <a:fillRect/>
          </a:stretch>
        </p:blipFill>
        <p:spPr>
          <a:xfrm>
            <a:off x="523599" y="1418608"/>
            <a:ext cx="2640659" cy="3525177"/>
          </a:xfrm>
          <a:prstGeom prst="rect">
            <a:avLst/>
          </a:prstGeom>
        </p:spPr>
      </p:pic>
      <p:sp>
        <p:nvSpPr>
          <p:cNvPr id="11" name="TextBox 10">
            <a:extLst>
              <a:ext uri="{FF2B5EF4-FFF2-40B4-BE49-F238E27FC236}">
                <a16:creationId xmlns:a16="http://schemas.microsoft.com/office/drawing/2014/main" id="{2A7A352A-5AD4-EE45-853C-B5B852F71A90}"/>
              </a:ext>
            </a:extLst>
          </p:cNvPr>
          <p:cNvSpPr txBox="1"/>
          <p:nvPr/>
        </p:nvSpPr>
        <p:spPr>
          <a:xfrm>
            <a:off x="4154020" y="4406179"/>
            <a:ext cx="7198821" cy="1384995"/>
          </a:xfrm>
          <a:prstGeom prst="rect">
            <a:avLst/>
          </a:prstGeom>
          <a:solidFill>
            <a:schemeClr val="accent6">
              <a:lumMod val="20000"/>
              <a:lumOff val="80000"/>
            </a:schemeClr>
          </a:solidFill>
        </p:spPr>
        <p:txBody>
          <a:bodyPr wrap="square" rtlCol="0">
            <a:spAutoFit/>
          </a:bodyPr>
          <a:lstStyle/>
          <a:p>
            <a:pPr lvl="0"/>
            <a:r>
              <a:rPr lang="en-ZA" sz="2800" dirty="0"/>
              <a:t>After measurement, the state of the system is reduced to the eigenstate corresponding to the measured eigenvalue.</a:t>
            </a:r>
          </a:p>
        </p:txBody>
      </p:sp>
      <p:sp>
        <p:nvSpPr>
          <p:cNvPr id="9" name="TextBox 8">
            <a:extLst>
              <a:ext uri="{FF2B5EF4-FFF2-40B4-BE49-F238E27FC236}">
                <a16:creationId xmlns:a16="http://schemas.microsoft.com/office/drawing/2014/main" id="{5A5C6594-A0DC-9A49-BAA3-F446139FB22B}"/>
              </a:ext>
            </a:extLst>
          </p:cNvPr>
          <p:cNvSpPr txBox="1"/>
          <p:nvPr/>
        </p:nvSpPr>
        <p:spPr>
          <a:xfrm>
            <a:off x="4154019" y="2927505"/>
            <a:ext cx="7198821" cy="954107"/>
          </a:xfrm>
          <a:prstGeom prst="rect">
            <a:avLst/>
          </a:prstGeom>
          <a:solidFill>
            <a:schemeClr val="accent5">
              <a:lumMod val="20000"/>
              <a:lumOff val="80000"/>
            </a:schemeClr>
          </a:solidFill>
        </p:spPr>
        <p:txBody>
          <a:bodyPr wrap="square" rtlCol="0">
            <a:spAutoFit/>
          </a:bodyPr>
          <a:lstStyle/>
          <a:p>
            <a:pPr marL="171450" indent="-171450" algn="just">
              <a:buFont typeface="Arial" panose="020B0604020202020204" pitchFamily="34" charset="0"/>
              <a:buChar char="•"/>
            </a:pPr>
            <a:r>
              <a:rPr lang="en-ZA" sz="2800" dirty="0"/>
              <a:t>The possible outcomes of a measurement are the eigenvalues of that operator. </a:t>
            </a:r>
          </a:p>
        </p:txBody>
      </p:sp>
    </p:spTree>
    <p:extLst>
      <p:ext uri="{BB962C8B-B14F-4D97-AF65-F5344CB8AC3E}">
        <p14:creationId xmlns:p14="http://schemas.microsoft.com/office/powerpoint/2010/main" val="896446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DBE08E-1563-B945-AD65-F837B298A556}"/>
              </a:ext>
            </a:extLst>
          </p:cNvPr>
          <p:cNvSpPr>
            <a:spLocks noGrp="1"/>
          </p:cNvSpPr>
          <p:nvPr>
            <p:ph type="title"/>
          </p:nvPr>
        </p:nvSpPr>
        <p:spPr/>
        <p:txBody>
          <a:bodyPr>
            <a:normAutofit/>
          </a:bodyPr>
          <a:lstStyle/>
          <a:p>
            <a:r>
              <a:rPr lang="en-ZA" sz="3600" dirty="0" err="1"/>
              <a:t>Lüders</a:t>
            </a:r>
            <a:r>
              <a:rPr lang="en-ZA" sz="3600" dirty="0"/>
              <a:t>' rule</a:t>
            </a:r>
            <a:r>
              <a:rPr lang="sr-Latn-RS" b="1" dirty="0"/>
              <a:t> (1951)</a:t>
            </a:r>
            <a:endParaRPr lang="en-US" dirty="0"/>
          </a:p>
        </p:txBody>
      </p:sp>
      <p:sp>
        <p:nvSpPr>
          <p:cNvPr id="2" name="Slide Number Placeholder 1">
            <a:extLst>
              <a:ext uri="{FF2B5EF4-FFF2-40B4-BE49-F238E27FC236}">
                <a16:creationId xmlns:a16="http://schemas.microsoft.com/office/drawing/2014/main" id="{093FFBC6-E2DF-3F41-93F2-4B4C746818A3}"/>
              </a:ext>
            </a:extLst>
          </p:cNvPr>
          <p:cNvSpPr>
            <a:spLocks noGrp="1"/>
          </p:cNvSpPr>
          <p:nvPr>
            <p:ph type="sldNum" sz="quarter" idx="12"/>
          </p:nvPr>
        </p:nvSpPr>
        <p:spPr/>
        <p:txBody>
          <a:bodyPr/>
          <a:lstStyle/>
          <a:p>
            <a:fld id="{591A223C-FA10-BC46-A853-03BA373D023C}" type="slidenum">
              <a:rPr lang="en-US" smtClean="0"/>
              <a:t>42</a:t>
            </a:fld>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6D7C239-7492-0345-9C07-A8BE8C214873}"/>
                  </a:ext>
                </a:extLst>
              </p:cNvPr>
              <p:cNvSpPr/>
              <p:nvPr/>
            </p:nvSpPr>
            <p:spPr>
              <a:xfrm>
                <a:off x="2924746" y="1633289"/>
                <a:ext cx="8776320" cy="1384995"/>
              </a:xfrm>
              <a:prstGeom prst="rect">
                <a:avLst/>
              </a:prstGeom>
              <a:solidFill>
                <a:schemeClr val="accent4">
                  <a:lumMod val="20000"/>
                  <a:lumOff val="80000"/>
                </a:schemeClr>
              </a:solidFill>
            </p:spPr>
            <p:txBody>
              <a:bodyPr wrap="square">
                <a:spAutoFit/>
              </a:bodyPr>
              <a:lstStyle/>
              <a:p>
                <a:pPr algn="just">
                  <a:spcAft>
                    <a:spcPts val="1200"/>
                  </a:spcAft>
                </a:pPr>
                <a:r>
                  <a:rPr lang="en-ZA" sz="2800" dirty="0"/>
                  <a:t>After a measurement with outcome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𝑘</m:t>
                    </m:r>
                  </m:oMath>
                </a14:m>
                <a:r>
                  <a:rPr lang="en-ZA" sz="2800" dirty="0"/>
                  <a:t>, the state becomes the normalized projection of the original state onto the subspace associated with that outcome.</a:t>
                </a:r>
                <a:endParaRPr lang="en-ZA" sz="28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86D7C239-7492-0345-9C07-A8BE8C214873}"/>
                  </a:ext>
                </a:extLst>
              </p:cNvPr>
              <p:cNvSpPr>
                <a:spLocks noRot="1" noChangeAspect="1" noMove="1" noResize="1" noEditPoints="1" noAdjustHandles="1" noChangeArrowheads="1" noChangeShapeType="1" noTextEdit="1"/>
              </p:cNvSpPr>
              <p:nvPr/>
            </p:nvSpPr>
            <p:spPr>
              <a:xfrm>
                <a:off x="2924746" y="1633289"/>
                <a:ext cx="8776320" cy="1384995"/>
              </a:xfrm>
              <a:prstGeom prst="rect">
                <a:avLst/>
              </a:prstGeom>
              <a:blipFill>
                <a:blip r:embed="rId3"/>
                <a:stretch>
                  <a:fillRect l="-1301" t="-4545" r="-1445"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A2A83E-BA24-5E4D-997A-B095016346B0}"/>
                  </a:ext>
                </a:extLst>
              </p:cNvPr>
              <p:cNvSpPr txBox="1"/>
              <p:nvPr/>
            </p:nvSpPr>
            <p:spPr>
              <a:xfrm>
                <a:off x="5142793" y="3303725"/>
                <a:ext cx="4426212" cy="11071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smtClean="0">
                              <a:latin typeface="Cambria Math" panose="02040503050406030204" pitchFamily="18" charset="0"/>
                              <a:cs typeface="Times New Roman" panose="02020603050405020304" pitchFamily="18" charset="0"/>
                            </a:rPr>
                            <m:t>𝑆</m:t>
                          </m:r>
                          <m:r>
                            <a:rPr lang="en-US" sz="2800" b="0" i="1" smtClean="0">
                              <a:latin typeface="Cambria Math" panose="02040503050406030204" pitchFamily="18" charset="0"/>
                              <a:cs typeface="Times New Roman" panose="02020603050405020304" pitchFamily="18" charset="0"/>
                            </a:rPr>
                            <m:t>′</m:t>
                          </m:r>
                        </m:e>
                      </m:d>
                      <m:box>
                        <m:box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boxPr>
                        <m:e>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m:t>
                          </m:r>
                        </m:e>
                      </m:box>
                      <m:f>
                        <m:f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𝑘</m:t>
                              </m:r>
                            </m:sub>
                          </m:sSub>
                          <m:d>
                            <m:dPr>
                              <m:begChr m:val="|"/>
                              <m:endChr m:val="⟩"/>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𝑆</m:t>
                              </m:r>
                            </m:e>
                          </m:d>
                        </m:num>
                        <m:den>
                          <m:d>
                            <m:dPr>
                              <m:begChr m:val="‖"/>
                              <m:endChr m:val="‖"/>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𝑘</m:t>
                                  </m:r>
                                </m:sub>
                              </m:sSub>
                              <m:d>
                                <m:dPr>
                                  <m:begChr m:val="|"/>
                                  <m:endChr m:val="⟩"/>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𝑆</m:t>
                                  </m:r>
                                </m:e>
                              </m:d>
                            </m:e>
                          </m:d>
                        </m:den>
                      </m:f>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𝑘</m:t>
                              </m:r>
                            </m:sub>
                          </m:sSub>
                          <m:d>
                            <m:dPr>
                              <m:begChr m:val="|"/>
                              <m:endChr m:val="⟩"/>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𝑆</m:t>
                              </m:r>
                            </m:e>
                          </m:d>
                        </m:num>
                        <m:den>
                          <m:rad>
                            <m:radPr>
                              <m:degHide m:val="on"/>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radPr>
                            <m:deg/>
                            <m:e>
                              <m:d>
                                <m:dPr>
                                  <m:begChr m:val="⟨"/>
                                  <m:endChr m:val="⟩"/>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𝑆</m:t>
                                  </m:r>
                                </m:e>
                                <m:e>
                                  <m:sSub>
                                    <m:sSubPr>
                                      <m:ctrlPr>
                                        <a:rPr lang="en-ZA"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𝑘</m:t>
                                      </m:r>
                                    </m:sub>
                                  </m:sSub>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r>
                                    <a:rPr lang="sr-Latn-RS" sz="2800" i="1">
                                      <a:latin typeface="Cambria Math" panose="02040503050406030204" pitchFamily="18" charset="0"/>
                                      <a:ea typeface="Times New Roman" panose="02020603050405020304" pitchFamily="18" charset="0"/>
                                      <a:cs typeface="Times New Roman" panose="02020603050405020304" pitchFamily="18" charset="0"/>
                                    </a:rPr>
                                    <m:t>𝑆</m:t>
                                  </m:r>
                                </m:e>
                              </m:d>
                            </m:e>
                          </m:rad>
                        </m:den>
                      </m:f>
                    </m:oMath>
                  </m:oMathPara>
                </a14:m>
                <a:endParaRPr lang="en-US" sz="2800" dirty="0"/>
              </a:p>
            </p:txBody>
          </p:sp>
        </mc:Choice>
        <mc:Fallback xmlns="">
          <p:sp>
            <p:nvSpPr>
              <p:cNvPr id="11" name="TextBox 10">
                <a:extLst>
                  <a:ext uri="{FF2B5EF4-FFF2-40B4-BE49-F238E27FC236}">
                    <a16:creationId xmlns:a16="http://schemas.microsoft.com/office/drawing/2014/main" id="{1DA2A83E-BA24-5E4D-997A-B095016346B0}"/>
                  </a:ext>
                </a:extLst>
              </p:cNvPr>
              <p:cNvSpPr txBox="1">
                <a:spLocks noRot="1" noChangeAspect="1" noMove="1" noResize="1" noEditPoints="1" noAdjustHandles="1" noChangeArrowheads="1" noChangeShapeType="1" noTextEdit="1"/>
              </p:cNvSpPr>
              <p:nvPr/>
            </p:nvSpPr>
            <p:spPr>
              <a:xfrm>
                <a:off x="5142793" y="3303725"/>
                <a:ext cx="4426212" cy="1107163"/>
              </a:xfrm>
              <a:prstGeom prst="rect">
                <a:avLst/>
              </a:prstGeom>
              <a:blipFill>
                <a:blip r:embed="rId4"/>
                <a:stretch>
                  <a:fillRect b="-6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8F3C2D4-98C5-4048-9C19-9B1F90019D2B}"/>
                  </a:ext>
                </a:extLst>
              </p:cNvPr>
              <p:cNvSpPr txBox="1"/>
              <p:nvPr/>
            </p:nvSpPr>
            <p:spPr>
              <a:xfrm>
                <a:off x="5254771" y="4637436"/>
                <a:ext cx="4868640" cy="830997"/>
              </a:xfrm>
              <a:prstGeom prst="rect">
                <a:avLst/>
              </a:prstGeom>
              <a:noFill/>
            </p:spPr>
            <p:txBody>
              <a:bodyPr wrap="none" rtlCol="0">
                <a:spAutoFit/>
              </a:bodyPr>
              <a:lstStyle/>
              <a:p>
                <a14:m>
                  <m:oMath xmlns:m="http://schemas.openxmlformats.org/officeDocument/2006/math">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en-US" sz="2400" dirty="0"/>
                  <a:t>:		</a:t>
                </a:r>
                <a:r>
                  <a:rPr lang="en-ZA" sz="2400" dirty="0"/>
                  <a:t> projector</a:t>
                </a:r>
                <a:endParaRPr lang="en-US" sz="2400" dirty="0"/>
              </a:p>
              <a:p>
                <a14:m>
                  <m:oMath xmlns:m="http://schemas.openxmlformats.org/officeDocument/2006/math">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𝑃</m:t>
                            </m:r>
                          </m:e>
                          <m:sub>
                            <m:r>
                              <a:rPr lang="sr-Latn-RS" sz="2400" i="1">
                                <a:latin typeface="Cambria Math" panose="02040503050406030204" pitchFamily="18" charset="0"/>
                              </a:rPr>
                              <m:t>𝑘</m:t>
                            </m:r>
                          </m:sub>
                        </m:sSub>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𝑆</m:t>
                            </m:r>
                          </m:e>
                        </m:d>
                      </m:e>
                    </m:d>
                  </m:oMath>
                </a14:m>
                <a:r>
                  <a:rPr lang="en-US" sz="2400" dirty="0"/>
                  <a:t>: 	</a:t>
                </a:r>
                <a:r>
                  <a:rPr lang="en-ZA" sz="2400" dirty="0"/>
                  <a:t>norm of the projection</a:t>
                </a:r>
                <a:endParaRPr lang="en-US" sz="2400" dirty="0"/>
              </a:p>
            </p:txBody>
          </p:sp>
        </mc:Choice>
        <mc:Fallback xmlns="">
          <p:sp>
            <p:nvSpPr>
              <p:cNvPr id="12" name="TextBox 11">
                <a:extLst>
                  <a:ext uri="{FF2B5EF4-FFF2-40B4-BE49-F238E27FC236}">
                    <a16:creationId xmlns:a16="http://schemas.microsoft.com/office/drawing/2014/main" id="{38F3C2D4-98C5-4048-9C19-9B1F90019D2B}"/>
                  </a:ext>
                </a:extLst>
              </p:cNvPr>
              <p:cNvSpPr txBox="1">
                <a:spLocks noRot="1" noChangeAspect="1" noMove="1" noResize="1" noEditPoints="1" noAdjustHandles="1" noChangeArrowheads="1" noChangeShapeType="1" noTextEdit="1"/>
              </p:cNvSpPr>
              <p:nvPr/>
            </p:nvSpPr>
            <p:spPr>
              <a:xfrm>
                <a:off x="5254771" y="4637436"/>
                <a:ext cx="4868640" cy="830997"/>
              </a:xfrm>
              <a:prstGeom prst="rect">
                <a:avLst/>
              </a:prstGeom>
              <a:blipFill>
                <a:blip r:embed="rId5"/>
                <a:stretch>
                  <a:fillRect l="-260" t="-2985" r="-1042" b="-1343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E4DB4CA-03B0-1B4F-A3CE-F7AE3F7F4A88}"/>
              </a:ext>
            </a:extLst>
          </p:cNvPr>
          <p:cNvPicPr>
            <a:picLocks noChangeAspect="1"/>
          </p:cNvPicPr>
          <p:nvPr/>
        </p:nvPicPr>
        <p:blipFill>
          <a:blip r:embed="rId6"/>
          <a:stretch>
            <a:fillRect/>
          </a:stretch>
        </p:blipFill>
        <p:spPr>
          <a:xfrm flipH="1">
            <a:off x="165471" y="1331193"/>
            <a:ext cx="2437720" cy="3437565"/>
          </a:xfrm>
          <a:prstGeom prst="rect">
            <a:avLst/>
          </a:prstGeom>
        </p:spPr>
      </p:pic>
      <p:sp>
        <p:nvSpPr>
          <p:cNvPr id="7" name="TextBox 6">
            <a:extLst>
              <a:ext uri="{FF2B5EF4-FFF2-40B4-BE49-F238E27FC236}">
                <a16:creationId xmlns:a16="http://schemas.microsoft.com/office/drawing/2014/main" id="{4B5F809F-7C6E-444E-A05C-79CE4D26F805}"/>
              </a:ext>
            </a:extLst>
          </p:cNvPr>
          <p:cNvSpPr txBox="1"/>
          <p:nvPr/>
        </p:nvSpPr>
        <p:spPr>
          <a:xfrm>
            <a:off x="664515" y="4967619"/>
            <a:ext cx="1747594" cy="707886"/>
          </a:xfrm>
          <a:prstGeom prst="rect">
            <a:avLst/>
          </a:prstGeom>
          <a:noFill/>
        </p:spPr>
        <p:txBody>
          <a:bodyPr wrap="none" rtlCol="0">
            <a:spAutoFit/>
          </a:bodyPr>
          <a:lstStyle/>
          <a:p>
            <a:pPr algn="ctr"/>
            <a:r>
              <a:rPr lang="en-US" sz="2000" dirty="0"/>
              <a:t>Gerhart </a:t>
            </a:r>
            <a:r>
              <a:rPr lang="en-US" sz="2000" dirty="0" err="1"/>
              <a:t>Lüders</a:t>
            </a:r>
            <a:endParaRPr lang="en-US" sz="2000" dirty="0"/>
          </a:p>
          <a:p>
            <a:pPr algn="ctr"/>
            <a:r>
              <a:rPr lang="en-US" sz="2000" dirty="0"/>
              <a:t>(1920 –1995)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2AC7DF-A24D-5F41-A483-2A05AFAFC5C5}"/>
                  </a:ext>
                </a:extLst>
              </p:cNvPr>
              <p:cNvSpPr txBox="1"/>
              <p:nvPr/>
            </p:nvSpPr>
            <p:spPr>
              <a:xfrm>
                <a:off x="163780" y="5962954"/>
                <a:ext cx="10669972" cy="6940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smtClean="0">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𝑆</m:t>
                                  </m:r>
                                </m:e>
                              </m:d>
                            </m:e>
                          </m:d>
                        </m:e>
                        <m:sup>
                          <m:r>
                            <a:rPr lang="en-US" sz="2400" i="1">
                              <a:latin typeface="Cambria Math" panose="02040503050406030204" pitchFamily="18" charset="0"/>
                            </a:rPr>
                            <m:t>2</m:t>
                          </m:r>
                        </m:sup>
                      </m:sSup>
                      <m:groupChr>
                        <m:groupChrPr>
                          <m:chr m:val="→"/>
                          <m:vertJc m:val="bot"/>
                          <m:ctrlPr>
                            <a:rPr lang="en-US" sz="2400" i="1">
                              <a:latin typeface="Cambria Math" panose="02040503050406030204" pitchFamily="18" charset="0"/>
                            </a:rPr>
                          </m:ctrlPr>
                        </m:groupChrPr>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𝑣</m:t>
                                      </m:r>
                                    </m:e>
                                  </m:d>
                                </m:e>
                              </m:d>
                            </m:e>
                            <m:sup>
                              <m:r>
                                <a:rPr lang="en-US" sz="2400" i="1">
                                  <a:latin typeface="Cambria Math" panose="02040503050406030204" pitchFamily="18" charset="0"/>
                                </a:rPr>
                                <m:t>2</m:t>
                              </m:r>
                            </m:sup>
                          </m:sSup>
                          <m:r>
                            <a:rPr lang="en-US" sz="2400" i="1">
                              <a:latin typeface="Cambria Math" panose="02040503050406030204" pitchFamily="18" charset="0"/>
                            </a:rPr>
                            <m:t>=</m:t>
                          </m:r>
                          <m:r>
                            <a:rPr lang="sr-Latn-RS" sz="2400" i="1">
                              <a:latin typeface="Cambria Math" panose="02040503050406030204" pitchFamily="18" charset="0"/>
                            </a:rPr>
                            <m:t>⟨</m:t>
                          </m:r>
                          <m:r>
                            <a:rPr lang="en-US" sz="2400" i="1">
                              <a:latin typeface="Cambria Math" panose="02040503050406030204" pitchFamily="18" charset="0"/>
                            </a:rPr>
                            <m:t>𝑣</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𝑣</m:t>
                              </m:r>
                            </m:e>
                          </m:d>
                          <m:r>
                            <m:rPr>
                              <m:nor/>
                            </m:rPr>
                            <a:rPr lang="en-US" sz="2400" dirty="0"/>
                            <m:t> </m:t>
                          </m:r>
                          <m:r>
                            <m:rPr>
                              <m:nor/>
                            </m:rPr>
                            <a:rPr lang="en-US" sz="800" dirty="0"/>
                            <m:t> </m:t>
                          </m:r>
                        </m:e>
                      </m:groupChr>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𝑆</m:t>
                                  </m:r>
                                </m:e>
                              </m:d>
                            </m:e>
                          </m:d>
                        </m:e>
                        <m:sup>
                          <m:r>
                            <a:rPr lang="sr-Latn-RS" sz="2400" i="1">
                              <a:latin typeface="Cambria Math" panose="02040503050406030204" pitchFamily="18" charset="0"/>
                              <a:ea typeface="Cambria Math" panose="02040503050406030204" pitchFamily="18" charset="0"/>
                            </a:rPr>
                            <m:t>†</m:t>
                          </m:r>
                        </m:sup>
                      </m:sSup>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𝑆</m:t>
                              </m:r>
                            </m:e>
                          </m:d>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e>
                          <m:sSub>
                            <m:sSubPr>
                              <m:ctrlPr>
                                <a:rPr lang="en-ZA" sz="2400" i="1">
                                  <a:latin typeface="Cambria Math" panose="02040503050406030204" pitchFamily="18" charset="0"/>
                                </a:rPr>
                              </m:ctrlPr>
                            </m:sSubPr>
                            <m:e>
                              <m:sSup>
                                <m:sSupPr>
                                  <m:ctrlPr>
                                    <a:rPr lang="en-ZA" sz="2400" i="1">
                                      <a:latin typeface="Cambria Math" panose="02040503050406030204" pitchFamily="18" charset="0"/>
                                    </a:rPr>
                                  </m:ctrlPr>
                                </m:sSupPr>
                                <m:e>
                                  <m:sSub>
                                    <m:sSubPr>
                                      <m:ctrlPr>
                                        <a:rPr lang="en-ZA"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e>
                                <m:sup>
                                  <m:r>
                                    <a:rPr lang="sr-Latn-RS" sz="2400" i="1">
                                      <a:latin typeface="Cambria Math" panose="02040503050406030204" pitchFamily="18" charset="0"/>
                                      <a:ea typeface="Cambria Math" panose="02040503050406030204" pitchFamily="18" charset="0"/>
                                    </a:rPr>
                                    <m:t>†</m:t>
                                  </m:r>
                                </m:sup>
                              </m:sSup>
                              <m:r>
                                <a:rPr lang="sr-Latn-RS" sz="2400" i="1">
                                  <a:latin typeface="Cambria Math" panose="02040503050406030204" pitchFamily="18" charset="0"/>
                                </a:rPr>
                                <m:t>𝑃</m:t>
                              </m:r>
                            </m:e>
                            <m:sub>
                              <m:r>
                                <a:rPr lang="en-US" sz="2400" i="1">
                                  <a:latin typeface="Cambria Math" panose="02040503050406030204" pitchFamily="18" charset="0"/>
                                </a:rPr>
                                <m:t>𝑘</m:t>
                              </m:r>
                            </m:sub>
                          </m:sSub>
                        </m:e>
                        <m:e>
                          <m:r>
                            <a:rPr lang="en-US" sz="2400" i="1">
                              <a:latin typeface="Cambria Math" panose="02040503050406030204" pitchFamily="18" charset="0"/>
                            </a:rPr>
                            <m:t>𝑆</m:t>
                          </m:r>
                        </m:e>
                      </m:d>
                      <m:groupChr>
                        <m:groupChrPr>
                          <m:chr m:val="→"/>
                          <m:vertJc m:val="bot"/>
                          <m:ctrlPr>
                            <a:rPr lang="en-US" sz="2400" i="1" smtClean="0">
                              <a:latin typeface="Cambria Math" panose="02040503050406030204" pitchFamily="18" charset="0"/>
                            </a:rPr>
                          </m:ctrlPr>
                        </m:groupChrPr>
                        <m:e>
                          <m:sSup>
                            <m:sSupPr>
                              <m:ctrlPr>
                                <a:rPr lang="en-ZA" sz="2400" i="1">
                                  <a:latin typeface="Cambria Math" panose="02040503050406030204" pitchFamily="18" charset="0"/>
                                </a:rPr>
                              </m:ctrlPr>
                            </m:sSupPr>
                            <m:e>
                              <m:sSub>
                                <m:sSubPr>
                                  <m:ctrlPr>
                                    <a:rPr lang="en-ZA"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e>
                            <m:sup>
                              <m:r>
                                <a:rPr lang="sr-Latn-RS" sz="2400" i="1">
                                  <a:latin typeface="Cambria Math" panose="02040503050406030204" pitchFamily="18" charset="0"/>
                                  <a:ea typeface="Cambria Math" panose="02040503050406030204" pitchFamily="18" charset="0"/>
                                </a:rPr>
                                <m:t>†</m:t>
                              </m:r>
                            </m:sup>
                          </m:sSup>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r>
                            <a:rPr lang="en-US" sz="2400" i="1" smtClean="0">
                              <a:latin typeface="Cambria Math" panose="02040503050406030204" pitchFamily="18" charset="0"/>
                              <a:ea typeface="Cambria Math" panose="02040503050406030204" pitchFamily="18" charset="0"/>
                            </a:rPr>
                            <m:t>⟹</m:t>
                          </m:r>
                          <m:sSup>
                            <m:sSupPr>
                              <m:ctrlPr>
                                <a:rPr lang="en-ZA" sz="2400" i="1">
                                  <a:latin typeface="Cambria Math" panose="02040503050406030204" pitchFamily="18" charset="0"/>
                                </a:rPr>
                              </m:ctrlPr>
                            </m:sSupPr>
                            <m:e>
                              <m:sSub>
                                <m:sSubPr>
                                  <m:ctrlPr>
                                    <a:rPr lang="en-ZA"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e>
                            <m:sup>
                              <m:r>
                                <a:rPr lang="en-US" sz="2400" i="1">
                                  <a:latin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𝑘</m:t>
                              </m:r>
                            </m:sub>
                          </m:sSub>
                        </m:e>
                      </m:groupChr>
                      <m:r>
                        <a:rPr lang="en-US" sz="2400" b="0" i="0" smtClean="0">
                          <a:latin typeface="Cambria Math" panose="02040503050406030204" pitchFamily="18" charset="0"/>
                        </a:rPr>
                        <m:t>=</m:t>
                      </m:r>
                      <m:d>
                        <m:dPr>
                          <m:begChr m:val="⟨"/>
                          <m:end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𝑆</m:t>
                          </m:r>
                        </m:e>
                        <m:e>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𝑘</m:t>
                              </m:r>
                            </m:sub>
                          </m:sSub>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𝑆</m:t>
                          </m:r>
                        </m:e>
                      </m:d>
                    </m:oMath>
                  </m:oMathPara>
                </a14:m>
                <a:endParaRPr lang="en-US" sz="2400" dirty="0"/>
              </a:p>
            </p:txBody>
          </p:sp>
        </mc:Choice>
        <mc:Fallback xmlns="">
          <p:sp>
            <p:nvSpPr>
              <p:cNvPr id="4" name="TextBox 3">
                <a:extLst>
                  <a:ext uri="{FF2B5EF4-FFF2-40B4-BE49-F238E27FC236}">
                    <a16:creationId xmlns:a16="http://schemas.microsoft.com/office/drawing/2014/main" id="{282AC7DF-A24D-5F41-A483-2A05AFAFC5C5}"/>
                  </a:ext>
                </a:extLst>
              </p:cNvPr>
              <p:cNvSpPr txBox="1">
                <a:spLocks noRot="1" noChangeAspect="1" noMove="1" noResize="1" noEditPoints="1" noAdjustHandles="1" noChangeArrowheads="1" noChangeShapeType="1" noTextEdit="1"/>
              </p:cNvSpPr>
              <p:nvPr/>
            </p:nvSpPr>
            <p:spPr>
              <a:xfrm>
                <a:off x="163780" y="5962954"/>
                <a:ext cx="10669972" cy="694036"/>
              </a:xfrm>
              <a:prstGeom prst="rect">
                <a:avLst/>
              </a:prstGeom>
              <a:blipFill>
                <a:blip r:embed="rId7"/>
                <a:stretch>
                  <a:fillRect t="-9091" b="-7273"/>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04F2F5BD-B586-E542-AD40-F867A7CF021F}"/>
              </a:ext>
            </a:extLst>
          </p:cNvPr>
          <p:cNvCxnSpPr>
            <a:cxnSpLocks/>
          </p:cNvCxnSpPr>
          <p:nvPr/>
        </p:nvCxnSpPr>
        <p:spPr>
          <a:xfrm>
            <a:off x="163780" y="5962954"/>
            <a:ext cx="1050422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4623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B9552A67-DCCD-8C45-9488-1289B3CB473D}"/>
              </a:ext>
            </a:extLst>
          </p:cNvPr>
          <p:cNvCxnSpPr>
            <a:cxnSpLocks/>
          </p:cNvCxnSpPr>
          <p:nvPr/>
        </p:nvCxnSpPr>
        <p:spPr>
          <a:xfrm flipV="1">
            <a:off x="337097" y="2867687"/>
            <a:ext cx="2096431" cy="1284340"/>
          </a:xfrm>
          <a:prstGeom prst="line">
            <a:avLst/>
          </a:prstGeom>
          <a:ln w="25400" cap="rnd">
            <a:solidFill>
              <a:srgbClr val="C00000"/>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34E36B-1971-6C40-B832-771DB4970021}"/>
              </a:ext>
            </a:extLst>
          </p:cNvPr>
          <p:cNvSpPr>
            <a:spLocks noGrp="1"/>
          </p:cNvSpPr>
          <p:nvPr>
            <p:ph type="title"/>
          </p:nvPr>
        </p:nvSpPr>
        <p:spPr>
          <a:xfrm>
            <a:off x="0" y="0"/>
            <a:ext cx="12192000" cy="928688"/>
          </a:xfrm>
        </p:spPr>
        <p:txBody>
          <a:bodyPr/>
          <a:lstStyle/>
          <a:p>
            <a:r>
              <a:rPr lang="en-ZA" dirty="0"/>
              <a:t>Applying the Measurement Postulates</a:t>
            </a:r>
            <a:endParaRPr lang="en-US" dirty="0"/>
          </a:p>
        </p:txBody>
      </p:sp>
      <p:sp>
        <p:nvSpPr>
          <p:cNvPr id="3" name="Slide Number Placeholder 2">
            <a:extLst>
              <a:ext uri="{FF2B5EF4-FFF2-40B4-BE49-F238E27FC236}">
                <a16:creationId xmlns:a16="http://schemas.microsoft.com/office/drawing/2014/main" id="{7BFD2961-2696-564C-8B75-39AD6AC3F096}"/>
              </a:ext>
            </a:extLst>
          </p:cNvPr>
          <p:cNvSpPr>
            <a:spLocks noGrp="1"/>
          </p:cNvSpPr>
          <p:nvPr>
            <p:ph type="sldNum" sz="quarter" idx="12"/>
          </p:nvPr>
        </p:nvSpPr>
        <p:spPr/>
        <p:txBody>
          <a:bodyPr/>
          <a:lstStyle/>
          <a:p>
            <a:fld id="{591A223C-FA10-BC46-A853-03BA373D023C}" type="slidenum">
              <a:rPr lang="en-US" smtClean="0"/>
              <a:t>43</a:t>
            </a:fld>
            <a:endParaRPr lang="en-US"/>
          </a:p>
        </p:txBody>
      </p:sp>
      <p:sp>
        <p:nvSpPr>
          <p:cNvPr id="31" name="Rectangle 30">
            <a:extLst>
              <a:ext uri="{FF2B5EF4-FFF2-40B4-BE49-F238E27FC236}">
                <a16:creationId xmlns:a16="http://schemas.microsoft.com/office/drawing/2014/main" id="{8CCC9A6F-C99B-9D40-B830-D80BF86BD63E}"/>
              </a:ext>
            </a:extLst>
          </p:cNvPr>
          <p:cNvSpPr/>
          <p:nvPr/>
        </p:nvSpPr>
        <p:spPr>
          <a:xfrm>
            <a:off x="3936211" y="1061682"/>
            <a:ext cx="7180289" cy="778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B008602-9AB8-674A-94DF-46B2578AAB50}"/>
                  </a:ext>
                </a:extLst>
              </p:cNvPr>
              <p:cNvSpPr/>
              <p:nvPr/>
            </p:nvSpPr>
            <p:spPr>
              <a:xfrm>
                <a:off x="4480589" y="1001965"/>
                <a:ext cx="6335902" cy="46166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r>
                        <a:rPr lang="en-US" sz="2400" b="0" i="1"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m:oMathPara>
                </a14:m>
                <a:endParaRPr lang="en-US" sz="2400" dirty="0"/>
              </a:p>
            </p:txBody>
          </p:sp>
        </mc:Choice>
        <mc:Fallback xmlns="">
          <p:sp>
            <p:nvSpPr>
              <p:cNvPr id="7" name="Rectangle 6">
                <a:extLst>
                  <a:ext uri="{FF2B5EF4-FFF2-40B4-BE49-F238E27FC236}">
                    <a16:creationId xmlns:a16="http://schemas.microsoft.com/office/drawing/2014/main" id="{4B008602-9AB8-674A-94DF-46B2578AAB50}"/>
                  </a:ext>
                </a:extLst>
              </p:cNvPr>
              <p:cNvSpPr>
                <a:spLocks noRot="1" noChangeAspect="1" noMove="1" noResize="1" noEditPoints="1" noAdjustHandles="1" noChangeArrowheads="1" noChangeShapeType="1" noTextEdit="1"/>
              </p:cNvSpPr>
              <p:nvPr/>
            </p:nvSpPr>
            <p:spPr>
              <a:xfrm>
                <a:off x="4480589" y="1001965"/>
                <a:ext cx="6335902" cy="461665"/>
              </a:xfrm>
              <a:prstGeom prst="rect">
                <a:avLst/>
              </a:prstGeom>
              <a:blipFill>
                <a:blip r:embed="rId3"/>
                <a:stretch>
                  <a:fillRect t="-5405" b="-243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D4AD3C9-8FE2-FD49-B1F8-4C4917BDB371}"/>
                  </a:ext>
                </a:extLst>
              </p:cNvPr>
              <p:cNvSpPr/>
              <p:nvPr/>
            </p:nvSpPr>
            <p:spPr>
              <a:xfrm>
                <a:off x="4561796" y="1541315"/>
                <a:ext cx="41960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𝑝</m:t>
                      </m:r>
                      <m:d>
                        <m:dPr>
                          <m:ctrlPr>
                            <a:rPr lang="sr-Latn-RS" sz="2400" b="0" i="1" smtClean="0">
                              <a:latin typeface="Cambria Math" panose="02040503050406030204" pitchFamily="18" charset="0"/>
                            </a:rPr>
                          </m:ctrlPr>
                        </m:dPr>
                        <m:e>
                          <m:r>
                            <a:rPr lang="sr-Latn-RS" sz="2400" b="0" i="1" smtClean="0">
                              <a:latin typeface="Cambria Math" panose="02040503050406030204" pitchFamily="18" charset="0"/>
                            </a:rPr>
                            <m:t>𝑘</m:t>
                          </m:r>
                        </m:e>
                      </m:d>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m:t>
                          </m:r>
                          <m:r>
                            <a:rPr lang="en-US" sz="2400">
                              <a:latin typeface="Cambria Math" panose="02040503050406030204" pitchFamily="18" charset="0"/>
                            </a:rPr>
                            <m:t>⟨</m:t>
                          </m:r>
                          <m:r>
                            <a:rPr lang="en-US" sz="2400" b="0" i="1" smtClean="0">
                              <a:latin typeface="Cambria Math" panose="02040503050406030204" pitchFamily="18" charset="0"/>
                            </a:rPr>
                            <m:t>𝑘</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1">
                              <a:latin typeface="Cambria Math" panose="02040503050406030204" pitchFamily="18" charset="0"/>
                            </a:rPr>
                            <m:t>|</m:t>
                          </m:r>
                        </m:e>
                        <m:sup>
                          <m:r>
                            <a:rPr lang="en-US" sz="2400" i="1">
                              <a:latin typeface="Cambria Math" panose="02040503050406030204" pitchFamily="18" charset="0"/>
                            </a:rPr>
                            <m:t>2</m:t>
                          </m:r>
                        </m:sup>
                      </m:sSup>
                      <m:r>
                        <a:rPr lang="en-US" sz="2400" b="0" i="1" smtClean="0">
                          <a:latin typeface="Cambria Math" panose="02040503050406030204" pitchFamily="18" charset="0"/>
                        </a:rPr>
                        <m:t> ,  </m:t>
                      </m:r>
                      <m:r>
                        <a:rPr lang="en-US" sz="2400" b="0" i="1" smtClean="0">
                          <a:latin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∈{0,1}</m:t>
                      </m:r>
                    </m:oMath>
                  </m:oMathPara>
                </a14:m>
                <a:endParaRPr lang="en-US" sz="2400" dirty="0"/>
              </a:p>
            </p:txBody>
          </p:sp>
        </mc:Choice>
        <mc:Fallback xmlns="">
          <p:sp>
            <p:nvSpPr>
              <p:cNvPr id="6" name="Rectangle 5">
                <a:extLst>
                  <a:ext uri="{FF2B5EF4-FFF2-40B4-BE49-F238E27FC236}">
                    <a16:creationId xmlns:a16="http://schemas.microsoft.com/office/drawing/2014/main" id="{ED4AD3C9-8FE2-FD49-B1F8-4C4917BDB371}"/>
                  </a:ext>
                </a:extLst>
              </p:cNvPr>
              <p:cNvSpPr>
                <a:spLocks noRot="1" noChangeAspect="1" noMove="1" noResize="1" noEditPoints="1" noAdjustHandles="1" noChangeArrowheads="1" noChangeShapeType="1" noTextEdit="1"/>
              </p:cNvSpPr>
              <p:nvPr/>
            </p:nvSpPr>
            <p:spPr>
              <a:xfrm>
                <a:off x="4561796" y="1541315"/>
                <a:ext cx="4196020" cy="461665"/>
              </a:xfrm>
              <a:prstGeom prst="rect">
                <a:avLst/>
              </a:prstGeom>
              <a:blipFill>
                <a:blip r:embed="rId4"/>
                <a:stretch>
                  <a:fillRect b="-18421"/>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94D14658-43DF-B041-A6F1-4CDDCF37B577}"/>
              </a:ext>
            </a:extLst>
          </p:cNvPr>
          <p:cNvSpPr txBox="1"/>
          <p:nvPr/>
        </p:nvSpPr>
        <p:spPr>
          <a:xfrm>
            <a:off x="3535553" y="838058"/>
            <a:ext cx="1026243" cy="1569660"/>
          </a:xfrm>
          <a:prstGeom prst="rect">
            <a:avLst/>
          </a:prstGeom>
          <a:noFill/>
        </p:spPr>
        <p:txBody>
          <a:bodyPr wrap="none" rtlCol="0">
            <a:spAutoFit/>
          </a:bodyPr>
          <a:lstStyle/>
          <a:p>
            <a:r>
              <a:rPr lang="en-US" sz="9600" b="1" dirty="0">
                <a:solidFill>
                  <a:schemeClr val="bg1">
                    <a:lumMod val="65000"/>
                  </a:schemeClr>
                </a:solidFill>
                <a:latin typeface="Arial Narrow" panose="020B0604020202020204" pitchFamily="34" charset="0"/>
                <a:cs typeface="Arial Narrow" panose="020B0604020202020204" pitchFamily="34" charset="0"/>
              </a:rPr>
              <a:t>1.</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F38F933-8D94-A74A-9F21-A25B7F2DEF59}"/>
                  </a:ext>
                </a:extLst>
              </p:cNvPr>
              <p:cNvSpPr/>
              <p:nvPr/>
            </p:nvSpPr>
            <p:spPr>
              <a:xfrm>
                <a:off x="4604139" y="2170356"/>
                <a:ext cx="7110152" cy="1668855"/>
              </a:xfrm>
              <a:prstGeom prst="rect">
                <a:avLst/>
              </a:prstGeom>
              <a:solidFill>
                <a:schemeClr val="accent6">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2400" i="1" smtClean="0">
                              <a:latin typeface="Cambria Math" panose="02040503050406030204" pitchFamily="18" charset="0"/>
                            </a:rPr>
                          </m:ctrlPr>
                        </m:mPr>
                        <m:mr>
                          <m:e>
                            <m:r>
                              <a:rPr lang="sr-Latn-RS" sz="2400" b="0" i="1" smtClean="0">
                                <a:latin typeface="Cambria Math" panose="02040503050406030204" pitchFamily="18" charset="0"/>
                              </a:rPr>
                              <m:t>𝑝</m:t>
                            </m:r>
                            <m:r>
                              <a:rPr lang="sr-Latn-RS" sz="2400" b="0" i="1" smtClean="0">
                                <a:latin typeface="Cambria Math" panose="02040503050406030204" pitchFamily="18" charset="0"/>
                              </a:rPr>
                              <m:t>(0)</m:t>
                            </m:r>
                          </m:e>
                          <m:e>
                            <m:r>
                              <a:rPr lang="en-US" sz="2400" b="0" i="1" smtClean="0">
                                <a:latin typeface="Cambria Math" panose="02040503050406030204" pitchFamily="18" charset="0"/>
                              </a:rPr>
                              <m:t>=</m:t>
                            </m:r>
                          </m:e>
                          <m:e>
                            <m:r>
                              <a:rPr lang="en-US" sz="2400">
                                <a:latin typeface="Cambria Math" panose="02040503050406030204" pitchFamily="18" charset="0"/>
                              </a:rPr>
                              <m:t>⟨</m:t>
                            </m:r>
                            <m:r>
                              <m:rPr>
                                <m:sty m:val="p"/>
                              </m:rPr>
                              <a:rPr lang="en-US" sz="2400">
                                <a:latin typeface="Cambria Math" panose="02040503050406030204" pitchFamily="18" charset="0"/>
                              </a:rPr>
                              <m:t>S</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b="0" i="1" smtClean="0">
                                <a:latin typeface="Cambria Math" panose="02040503050406030204" pitchFamily="18" charset="0"/>
                              </a:rPr>
                              <m:t>                                                          </m:t>
                            </m:r>
                          </m:e>
                        </m:mr>
                        <m:mr>
                          <m:e/>
                          <m:e>
                            <m:r>
                              <a:rPr lang="en-US" sz="2400" b="0" i="1" smtClean="0">
                                <a:latin typeface="Cambria Math" panose="02040503050406030204" pitchFamily="18" charset="0"/>
                              </a:rPr>
                              <m:t>=</m:t>
                            </m:r>
                          </m:e>
                          <m:e>
                            <m:d>
                              <m:dPr>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0</m:t>
                                    </m:r>
                                  </m:sub>
                                  <m:sup>
                                    <m:r>
                                      <a:rPr lang="en-US" sz="2400" i="1">
                                        <a:latin typeface="Cambria Math" panose="02040503050406030204" pitchFamily="18" charset="0"/>
                                      </a:rPr>
                                      <m:t>∗</m:t>
                                    </m:r>
                                  </m:sup>
                                </m:sSubSup>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1</m:t>
                                    </m:r>
                                  </m:sub>
                                  <m:sup>
                                    <m:r>
                                      <a:rPr lang="en-US" sz="2400" i="1">
                                        <a:latin typeface="Cambria Math" panose="02040503050406030204" pitchFamily="18" charset="0"/>
                                      </a:rPr>
                                      <m:t>∗</m:t>
                                    </m:r>
                                  </m:sup>
                                </m:sSubSup>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r>
                              <a:rPr lang="en-US" sz="240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 </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r>
                              <a:rPr lang="en-US" sz="2400" b="0" i="1" smtClean="0">
                                <a:latin typeface="Cambria Math" panose="02040503050406030204" pitchFamily="18" charset="0"/>
                              </a:rPr>
                              <m:t>.     </m:t>
                            </m:r>
                          </m:e>
                        </m:mr>
                        <m:mr>
                          <m:e/>
                          <m:e>
                            <m:r>
                              <a:rPr lang="en-US" sz="2400" b="0" i="1" smtClean="0">
                                <a:latin typeface="Cambria Math" panose="02040503050406030204" pitchFamily="18" charset="0"/>
                              </a:rPr>
                              <m:t>=</m:t>
                            </m:r>
                          </m:e>
                          <m:e>
                            <m:r>
                              <m:rPr>
                                <m:nor/>
                              </m:rPr>
                              <a:rPr lang="en-US" sz="2400" dirty="0"/>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0</m:t>
                                </m:r>
                              </m:sub>
                              <m:sup>
                                <m:r>
                                  <a:rPr lang="en-US" sz="2400" i="1">
                                    <a:latin typeface="Cambria Math" panose="02040503050406030204" pitchFamily="18" charset="0"/>
                                  </a:rPr>
                                  <m:t>∗</m:t>
                                </m:r>
                              </m:sup>
                            </m:sSubSup>
                            <m:r>
                              <a:rPr lang="en-US" sz="2400" i="1">
                                <a:latin typeface="Cambria Math" panose="02040503050406030204" pitchFamily="18" charset="0"/>
                              </a:rPr>
                              <m:t> </m:t>
                            </m:r>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1</m:t>
                                </m:r>
                              </m:sub>
                              <m:sup>
                                <m:r>
                                  <a:rPr lang="en-US" sz="2400" i="1">
                                    <a:latin typeface="Cambria Math" panose="02040503050406030204" pitchFamily="18" charset="0"/>
                                  </a:rPr>
                                  <m:t>∗</m:t>
                                </m:r>
                              </m:sup>
                            </m:sSubSup>
                            <m:r>
                              <a:rPr lang="en-US" sz="2400">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ctrlPr>
                                  <a:rPr lang="en-US" sz="2400" i="1">
                                    <a:latin typeface="Cambria Math" panose="02040503050406030204" pitchFamily="18" charset="0"/>
                                  </a:rPr>
                                </m:ctrlPr>
                              </m:dPr>
                              <m:e>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e>
                        </m:mr>
                        <m:mr>
                          <m:e/>
                          <m:e>
                            <m:r>
                              <a:rPr lang="en-US" sz="2400" b="0" i="1" smtClean="0">
                                <a:latin typeface="Cambria Math" panose="02040503050406030204" pitchFamily="18" charset="0"/>
                              </a:rPr>
                              <m:t>=</m:t>
                            </m:r>
                          </m:e>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e>
                                </m:d>
                              </m:e>
                              <m:sup>
                                <m:r>
                                  <a:rPr lang="en-US" sz="2400">
                                    <a:latin typeface="Cambria Math" panose="02040503050406030204" pitchFamily="18" charset="0"/>
                                  </a:rPr>
                                  <m:t>2</m:t>
                                </m:r>
                              </m:sup>
                            </m:sSup>
                            <m:r>
                              <a:rPr lang="en-US" sz="2400" b="0" i="1" smtClean="0">
                                <a:latin typeface="Cambria Math" panose="02040503050406030204" pitchFamily="18" charset="0"/>
                              </a:rPr>
                              <m:t>                                                                  </m:t>
                            </m:r>
                          </m:e>
                        </m:mr>
                      </m:m>
                    </m:oMath>
                  </m:oMathPara>
                </a14:m>
                <a:endParaRPr lang="en-US" sz="2400" dirty="0"/>
              </a:p>
            </p:txBody>
          </p:sp>
        </mc:Choice>
        <mc:Fallback xmlns="">
          <p:sp>
            <p:nvSpPr>
              <p:cNvPr id="14" name="Rectangle 13">
                <a:extLst>
                  <a:ext uri="{FF2B5EF4-FFF2-40B4-BE49-F238E27FC236}">
                    <a16:creationId xmlns:a16="http://schemas.microsoft.com/office/drawing/2014/main" id="{0F38F933-8D94-A74A-9F21-A25B7F2DEF59}"/>
                  </a:ext>
                </a:extLst>
              </p:cNvPr>
              <p:cNvSpPr>
                <a:spLocks noRot="1" noChangeAspect="1" noMove="1" noResize="1" noEditPoints="1" noAdjustHandles="1" noChangeArrowheads="1" noChangeShapeType="1" noTextEdit="1"/>
              </p:cNvSpPr>
              <p:nvPr/>
            </p:nvSpPr>
            <p:spPr>
              <a:xfrm>
                <a:off x="4604139" y="2170356"/>
                <a:ext cx="7110152" cy="1668855"/>
              </a:xfrm>
              <a:prstGeom prst="rect">
                <a:avLst/>
              </a:prstGeom>
              <a:blipFill>
                <a:blip r:embed="rId6"/>
                <a:stretch>
                  <a:fillRect b="-606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4C1DBDA-AA01-D140-B607-6296434D7D86}"/>
              </a:ext>
            </a:extLst>
          </p:cNvPr>
          <p:cNvGrpSpPr/>
          <p:nvPr/>
        </p:nvGrpSpPr>
        <p:grpSpPr>
          <a:xfrm>
            <a:off x="3632862" y="3650131"/>
            <a:ext cx="6432334" cy="3029710"/>
            <a:chOff x="3632862" y="3650131"/>
            <a:chExt cx="6432334" cy="3029710"/>
          </a:xfrm>
        </p:grpSpPr>
        <p:grpSp>
          <p:nvGrpSpPr>
            <p:cNvPr id="4" name="Group 3">
              <a:extLst>
                <a:ext uri="{FF2B5EF4-FFF2-40B4-BE49-F238E27FC236}">
                  <a16:creationId xmlns:a16="http://schemas.microsoft.com/office/drawing/2014/main" id="{33B6DBDC-9791-BD4F-9A28-2A758B81D2CD}"/>
                </a:ext>
              </a:extLst>
            </p:cNvPr>
            <p:cNvGrpSpPr/>
            <p:nvPr/>
          </p:nvGrpSpPr>
          <p:grpSpPr>
            <a:xfrm>
              <a:off x="3632862" y="3650131"/>
              <a:ext cx="3396231" cy="1569660"/>
              <a:chOff x="3535553" y="2822779"/>
              <a:chExt cx="3396231" cy="1569660"/>
            </a:xfrm>
          </p:grpSpPr>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3302A91-EEA7-104A-9C2D-4F73587F80C3}"/>
                      </a:ext>
                    </a:extLst>
                  </p:cNvPr>
                  <p:cNvSpPr/>
                  <p:nvPr/>
                </p:nvSpPr>
                <p:spPr>
                  <a:xfrm>
                    <a:off x="4563956" y="3161315"/>
                    <a:ext cx="2367828" cy="9621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sSup>
                                <m:sSupPr>
                                  <m:ctrlPr>
                                    <a:rPr lang="en-US" sz="2400" i="1" smtClean="0">
                                      <a:solidFill>
                                        <a:schemeClr val="tx1"/>
                                      </a:solidFill>
                                      <a:latin typeface="Cambria Math" panose="02040503050406030204" pitchFamily="18" charset="0"/>
                                    </a:rPr>
                                  </m:ctrlPr>
                                </m:sSupPr>
                                <m:e>
                                  <m:r>
                                    <a:rPr lang="en-US" sz="2400" b="0" i="1">
                                      <a:solidFill>
                                        <a:schemeClr val="tx1"/>
                                      </a:solidFill>
                                      <a:latin typeface="Cambria Math" panose="02040503050406030204" pitchFamily="18" charset="0"/>
                                    </a:rPr>
                                    <m:t>𝑆</m:t>
                                  </m:r>
                                </m:e>
                                <m:sup>
                                  <m:r>
                                    <a:rPr lang="en-US" sz="2400" b="0" i="1" smtClean="0">
                                      <a:solidFill>
                                        <a:schemeClr val="tx1"/>
                                      </a:solidFill>
                                      <a:latin typeface="Cambria Math" panose="02040503050406030204" pitchFamily="18" charset="0"/>
                                    </a:rPr>
                                    <m:t>′</m:t>
                                  </m:r>
                                </m:sup>
                              </m:sSup>
                            </m:e>
                          </m:d>
                          <m:r>
                            <a:rPr lang="en-US" sz="2400" b="0" i="1" smtClean="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𝑃</m:t>
                                  </m:r>
                                </m:e>
                                <m:sub>
                                  <m:r>
                                    <a:rPr lang="en-US" sz="2400" i="1">
                                      <a:solidFill>
                                        <a:schemeClr val="tx1"/>
                                      </a:solidFill>
                                      <a:latin typeface="Cambria Math" panose="02040503050406030204" pitchFamily="18" charset="0"/>
                                    </a:rPr>
                                    <m:t>𝑘</m:t>
                                  </m:r>
                                </m:sub>
                              </m:sSub>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m:t>
                                      </m:r>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i="1">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2</m:t>
                                      </m:r>
                                    </m:sup>
                                  </m:sSup>
                                </m:e>
                              </m:rad>
                            </m:den>
                          </m:f>
                        </m:oMath>
                      </m:oMathPara>
                    </a14:m>
                    <a:endParaRPr lang="en-US" sz="2400" dirty="0">
                      <a:solidFill>
                        <a:schemeClr val="tx1"/>
                      </a:solidFill>
                    </a:endParaRPr>
                  </a:p>
                </p:txBody>
              </p:sp>
            </mc:Choice>
            <mc:Fallback xmlns="">
              <p:sp>
                <p:nvSpPr>
                  <p:cNvPr id="11" name="Rectangle 10">
                    <a:extLst>
                      <a:ext uri="{FF2B5EF4-FFF2-40B4-BE49-F238E27FC236}">
                        <a16:creationId xmlns:a16="http://schemas.microsoft.com/office/drawing/2014/main" id="{F3302A91-EEA7-104A-9C2D-4F73587F80C3}"/>
                      </a:ext>
                    </a:extLst>
                  </p:cNvPr>
                  <p:cNvSpPr>
                    <a:spLocks noRot="1" noChangeAspect="1" noMove="1" noResize="1" noEditPoints="1" noAdjustHandles="1" noChangeArrowheads="1" noChangeShapeType="1" noTextEdit="1"/>
                  </p:cNvSpPr>
                  <p:nvPr/>
                </p:nvSpPr>
                <p:spPr>
                  <a:xfrm>
                    <a:off x="4563956" y="3161315"/>
                    <a:ext cx="2367828" cy="962123"/>
                  </a:xfrm>
                  <a:prstGeom prst="rect">
                    <a:avLst/>
                  </a:prstGeom>
                  <a:blipFill>
                    <a:blip r:embed="rId7"/>
                    <a:stretch>
                      <a:fillRect b="-6494"/>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89EA6E3F-C7DE-0C4E-86BB-0A6932DAA2CC}"/>
                  </a:ext>
                </a:extLst>
              </p:cNvPr>
              <p:cNvSpPr txBox="1"/>
              <p:nvPr/>
            </p:nvSpPr>
            <p:spPr>
              <a:xfrm>
                <a:off x="3535553" y="2822779"/>
                <a:ext cx="1026243" cy="1569660"/>
              </a:xfrm>
              <a:prstGeom prst="rect">
                <a:avLst/>
              </a:prstGeom>
              <a:noFill/>
            </p:spPr>
            <p:txBody>
              <a:bodyPr wrap="none" rtlCol="0">
                <a:spAutoFit/>
              </a:bodyPr>
              <a:lstStyle/>
              <a:p>
                <a:r>
                  <a:rPr lang="en-US" sz="9600" b="1" dirty="0">
                    <a:solidFill>
                      <a:schemeClr val="bg1">
                        <a:lumMod val="65000"/>
                      </a:schemeClr>
                    </a:solidFill>
                    <a:latin typeface="Arial Narrow" panose="020B0604020202020204" pitchFamily="34" charset="0"/>
                    <a:cs typeface="Arial Narrow" panose="020B0604020202020204" pitchFamily="34" charset="0"/>
                  </a:rPr>
                  <a:t>2.</a:t>
                </a:r>
              </a:p>
            </p:txBody>
          </p:sp>
        </p:gr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0C39751-1B70-694B-99E1-A703809B7B1E}"/>
                    </a:ext>
                  </a:extLst>
                </p:cNvPr>
                <p:cNvSpPr/>
                <p:nvPr/>
              </p:nvSpPr>
              <p:spPr>
                <a:xfrm>
                  <a:off x="4770541" y="4975464"/>
                  <a:ext cx="5294655" cy="1704377"/>
                </a:xfrm>
                <a:prstGeom prst="rect">
                  <a:avLst/>
                </a:prstGeom>
                <a:solidFill>
                  <a:schemeClr val="accent5">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2400" i="1" smtClean="0">
                                <a:latin typeface="Cambria Math" panose="02040503050406030204" pitchFamily="18" charset="0"/>
                              </a:rPr>
                            </m:ctrlPr>
                          </m:mPr>
                          <m:mr>
                            <m:e>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m:t>
                                      </m:r>
                                    </m:sup>
                                  </m:sSup>
                                </m:e>
                              </m:d>
                            </m:e>
                            <m:e>
                              <m:r>
                                <a:rPr lang="en-US" sz="2400" b="0" i="1" smtClean="0">
                                  <a:latin typeface="Cambria Math" panose="02040503050406030204" pitchFamily="18" charset="0"/>
                                </a:rPr>
                                <m:t>=</m:t>
                              </m:r>
                            </m:e>
                            <m:e>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 </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num>
                                <m:den>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e>
                                  </m:d>
                                </m:den>
                              </m:f>
                              <m:r>
                                <a:rPr lang="en-US" sz="2400" b="0" i="1" smtClean="0">
                                  <a:latin typeface="Cambria Math" panose="02040503050406030204" pitchFamily="18" charset="0"/>
                                </a:rPr>
                                <m:t>              </m:t>
                              </m:r>
                            </m:e>
                          </m:mr>
                          <m:mr>
                            <m:e/>
                            <m:e>
                              <m:r>
                                <a:rPr lang="en-US" sz="2400" b="0" i="1" smtClean="0">
                                  <a:latin typeface="Cambria Math" panose="02040503050406030204" pitchFamily="18" charset="0"/>
                                </a:rPr>
                                <m:t>=</m:t>
                              </m:r>
                            </m:e>
                            <m:e>
                              <m:f>
                                <m:fPr>
                                  <m:ctrlPr>
                                    <a:rPr lang="en-US" sz="2400" i="1">
                                      <a:latin typeface="Cambria Math" panose="02040503050406030204" pitchFamily="18" charset="0"/>
                                    </a:rPr>
                                  </m:ctrlPr>
                                </m:fPr>
                                <m:num>
                                  <m:d>
                                    <m:dPr>
                                      <m:beg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e>
                                  </m:d>
                                </m:num>
                                <m:den>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e>
                                  </m:d>
                                </m:den>
                              </m:f>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e>
                          </m:mr>
                        </m:m>
                      </m:oMath>
                    </m:oMathPara>
                  </a14:m>
                  <a:endParaRPr lang="en-US" sz="2400" dirty="0"/>
                </a:p>
              </p:txBody>
            </p:sp>
          </mc:Choice>
          <mc:Fallback xmlns="">
            <p:sp>
              <p:nvSpPr>
                <p:cNvPr id="15" name="Rectangle 14">
                  <a:extLst>
                    <a:ext uri="{FF2B5EF4-FFF2-40B4-BE49-F238E27FC236}">
                      <a16:creationId xmlns:a16="http://schemas.microsoft.com/office/drawing/2014/main" id="{00C39751-1B70-694B-99E1-A703809B7B1E}"/>
                    </a:ext>
                  </a:extLst>
                </p:cNvPr>
                <p:cNvSpPr>
                  <a:spLocks noRot="1" noChangeAspect="1" noMove="1" noResize="1" noEditPoints="1" noAdjustHandles="1" noChangeArrowheads="1" noChangeShapeType="1" noTextEdit="1"/>
                </p:cNvSpPr>
                <p:nvPr/>
              </p:nvSpPr>
              <p:spPr>
                <a:xfrm>
                  <a:off x="4770541" y="4975464"/>
                  <a:ext cx="5294655" cy="1704377"/>
                </a:xfrm>
                <a:prstGeom prst="rect">
                  <a:avLst/>
                </a:prstGeom>
                <a:blipFill>
                  <a:blip r:embed="rId11"/>
                  <a:stretch>
                    <a:fillRect r="-239" b="-26667"/>
                  </a:stretch>
                </a:blipFill>
              </p:spPr>
              <p:txBody>
                <a:bodyPr/>
                <a:lstStyle/>
                <a:p>
                  <a:r>
                    <a:rPr lang="en-US">
                      <a:noFill/>
                    </a:rPr>
                    <a:t> </a:t>
                  </a:r>
                </a:p>
              </p:txBody>
            </p:sp>
          </mc:Fallback>
        </mc:AlternateContent>
      </p:grpSp>
      <p:pic>
        <p:nvPicPr>
          <p:cNvPr id="19" name="Picture 18">
            <a:extLst>
              <a:ext uri="{FF2B5EF4-FFF2-40B4-BE49-F238E27FC236}">
                <a16:creationId xmlns:a16="http://schemas.microsoft.com/office/drawing/2014/main" id="{A31FD2E0-C7FD-8547-A833-ADBA5C0286D0}"/>
              </a:ext>
            </a:extLst>
          </p:cNvPr>
          <p:cNvPicPr>
            <a:picLocks noChangeAspect="1"/>
          </p:cNvPicPr>
          <p:nvPr/>
        </p:nvPicPr>
        <p:blipFill>
          <a:blip r:embed="rId12"/>
          <a:stretch>
            <a:fillRect/>
          </a:stretch>
        </p:blipFill>
        <p:spPr>
          <a:xfrm rot="13444925" flipH="1">
            <a:off x="814710" y="1542675"/>
            <a:ext cx="936511" cy="936511"/>
          </a:xfrm>
          <a:prstGeom prst="rect">
            <a:avLst/>
          </a:prstGeom>
          <a:noFill/>
        </p:spPr>
      </p:pic>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C7DAF35B-F385-7242-9917-01441CECF208}"/>
                  </a:ext>
                </a:extLst>
              </p:cNvPr>
              <p:cNvSpPr/>
              <p:nvPr/>
            </p:nvSpPr>
            <p:spPr>
              <a:xfrm>
                <a:off x="1366281" y="1437253"/>
                <a:ext cx="170989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𝑃</m:t>
                          </m:r>
                        </m:e>
                        <m:sub>
                          <m:r>
                            <a:rPr lang="en-US" sz="2400" b="0" i="0" smtClean="0">
                              <a:solidFill>
                                <a:schemeClr val="tx1"/>
                              </a:solidFill>
                              <a:latin typeface="Cambria Math" panose="02040503050406030204" pitchFamily="18" charset="0"/>
                            </a:rPr>
                            <m:t>0</m:t>
                          </m:r>
                        </m:sub>
                      </m:sSub>
                      <m:r>
                        <a:rPr lang="en-US" sz="2400" b="0" i="1" smtClean="0">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0</m:t>
                          </m:r>
                        </m:e>
                      </m:d>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0</m:t>
                          </m:r>
                        </m:e>
                      </m:d>
                    </m:oMath>
                  </m:oMathPara>
                </a14:m>
                <a:endParaRPr lang="en-US" sz="2400" dirty="0">
                  <a:solidFill>
                    <a:schemeClr val="tx1"/>
                  </a:solidFill>
                </a:endParaRPr>
              </a:p>
            </p:txBody>
          </p:sp>
        </mc:Choice>
        <mc:Fallback xmlns="">
          <p:sp>
            <p:nvSpPr>
              <p:cNvPr id="20" name="Rectangle 19">
                <a:extLst>
                  <a:ext uri="{FF2B5EF4-FFF2-40B4-BE49-F238E27FC236}">
                    <a16:creationId xmlns:a16="http://schemas.microsoft.com/office/drawing/2014/main" id="{C7DAF35B-F385-7242-9917-01441CECF208}"/>
                  </a:ext>
                </a:extLst>
              </p:cNvPr>
              <p:cNvSpPr>
                <a:spLocks noRot="1" noChangeAspect="1" noMove="1" noResize="1" noEditPoints="1" noAdjustHandles="1" noChangeArrowheads="1" noChangeShapeType="1" noTextEdit="1"/>
              </p:cNvSpPr>
              <p:nvPr/>
            </p:nvSpPr>
            <p:spPr>
              <a:xfrm>
                <a:off x="1366281" y="1437253"/>
                <a:ext cx="1709892" cy="461665"/>
              </a:xfrm>
              <a:prstGeom prst="rect">
                <a:avLst/>
              </a:prstGeom>
              <a:blipFill>
                <a:blip r:embed="rId13"/>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8DB34485-6AB4-EB4C-AF87-44C68AB99FC7}"/>
              </a:ext>
            </a:extLst>
          </p:cNvPr>
          <p:cNvCxnSpPr>
            <a:cxnSpLocks/>
          </p:cNvCxnSpPr>
          <p:nvPr/>
        </p:nvCxnSpPr>
        <p:spPr>
          <a:xfrm>
            <a:off x="336082" y="4157067"/>
            <a:ext cx="3110511" cy="0"/>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C8DF3D0D-4E6E-9D49-94A0-4B0FEBA62905}"/>
                  </a:ext>
                </a:extLst>
              </p:cNvPr>
              <p:cNvSpPr/>
              <p:nvPr/>
            </p:nvSpPr>
            <p:spPr>
              <a:xfrm>
                <a:off x="2877117" y="3599721"/>
                <a:ext cx="669671"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600" i="1" smtClean="0">
                              <a:latin typeface="Cambria Math" panose="02040503050406030204" pitchFamily="18" charset="0"/>
                            </a:rPr>
                          </m:ctrlPr>
                        </m:dPr>
                        <m:e>
                          <m:r>
                            <a:rPr lang="en-US" sz="2600" b="0" i="1" smtClean="0">
                              <a:latin typeface="Cambria Math" panose="02040503050406030204" pitchFamily="18" charset="0"/>
                            </a:rPr>
                            <m:t>0</m:t>
                          </m:r>
                        </m:e>
                      </m:d>
                    </m:oMath>
                  </m:oMathPara>
                </a14:m>
                <a:endParaRPr lang="en-US" sz="2600" dirty="0"/>
              </a:p>
            </p:txBody>
          </p:sp>
        </mc:Choice>
        <mc:Fallback xmlns="">
          <p:sp>
            <p:nvSpPr>
              <p:cNvPr id="28" name="Rectangle 27">
                <a:extLst>
                  <a:ext uri="{FF2B5EF4-FFF2-40B4-BE49-F238E27FC236}">
                    <a16:creationId xmlns:a16="http://schemas.microsoft.com/office/drawing/2014/main" id="{C8DF3D0D-4E6E-9D49-94A0-4B0FEBA62905}"/>
                  </a:ext>
                </a:extLst>
              </p:cNvPr>
              <p:cNvSpPr>
                <a:spLocks noRot="1" noChangeAspect="1" noMove="1" noResize="1" noEditPoints="1" noAdjustHandles="1" noChangeArrowheads="1" noChangeShapeType="1" noTextEdit="1"/>
              </p:cNvSpPr>
              <p:nvPr/>
            </p:nvSpPr>
            <p:spPr>
              <a:xfrm>
                <a:off x="2877117" y="3599721"/>
                <a:ext cx="669671" cy="492443"/>
              </a:xfrm>
              <a:prstGeom prst="rect">
                <a:avLst/>
              </a:prstGeom>
              <a:blipFill>
                <a:blip r:embed="rId14"/>
                <a:stretch>
                  <a:fillRect/>
                </a:stretch>
              </a:blipFill>
            </p:spPr>
            <p:txBody>
              <a:bodyPr/>
              <a:lstStyle/>
              <a:p>
                <a:r>
                  <a:rPr lang="en-US">
                    <a:noFill/>
                  </a:rPr>
                  <a:t> </a:t>
                </a:r>
              </a:p>
            </p:txBody>
          </p:sp>
        </mc:Fallback>
      </mc:AlternateContent>
      <p:sp>
        <p:nvSpPr>
          <p:cNvPr id="29" name="Arc 28">
            <a:extLst>
              <a:ext uri="{FF2B5EF4-FFF2-40B4-BE49-F238E27FC236}">
                <a16:creationId xmlns:a16="http://schemas.microsoft.com/office/drawing/2014/main" id="{9FF7746A-05D4-AC40-854C-42264FA2EC00}"/>
              </a:ext>
            </a:extLst>
          </p:cNvPr>
          <p:cNvSpPr/>
          <p:nvPr/>
        </p:nvSpPr>
        <p:spPr>
          <a:xfrm>
            <a:off x="-2150052" y="1673881"/>
            <a:ext cx="4960023" cy="4960022"/>
          </a:xfrm>
          <a:prstGeom prst="arc">
            <a:avLst>
              <a:gd name="adj1" fmla="val 15874847"/>
              <a:gd name="adj2" fmla="val 791231"/>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600"/>
          </a:p>
        </p:txBody>
      </p:sp>
      <p:cxnSp>
        <p:nvCxnSpPr>
          <p:cNvPr id="30" name="Straight Connector 29">
            <a:extLst>
              <a:ext uri="{FF2B5EF4-FFF2-40B4-BE49-F238E27FC236}">
                <a16:creationId xmlns:a16="http://schemas.microsoft.com/office/drawing/2014/main" id="{EB61469C-4DDD-EE4B-9079-F75EF2E08D87}"/>
              </a:ext>
            </a:extLst>
          </p:cNvPr>
          <p:cNvCxnSpPr>
            <a:cxnSpLocks/>
          </p:cNvCxnSpPr>
          <p:nvPr/>
        </p:nvCxnSpPr>
        <p:spPr>
          <a:xfrm flipV="1">
            <a:off x="328197" y="1012546"/>
            <a:ext cx="0" cy="3139481"/>
          </a:xfrm>
          <a:prstGeom prst="line">
            <a:avLst/>
          </a:prstGeom>
          <a:ln w="12700">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CC27BCA-6B57-7942-BEFB-9EA749942F7C}"/>
                  </a:ext>
                </a:extLst>
              </p:cNvPr>
              <p:cNvSpPr/>
              <p:nvPr/>
            </p:nvSpPr>
            <p:spPr>
              <a:xfrm>
                <a:off x="894322" y="2991666"/>
                <a:ext cx="668196"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600" i="1" smtClean="0">
                              <a:latin typeface="Cambria Math" panose="02040503050406030204" pitchFamily="18" charset="0"/>
                            </a:rPr>
                          </m:ctrlPr>
                        </m:dPr>
                        <m:e>
                          <m:r>
                            <a:rPr lang="en-US" sz="2600" b="0" i="1" smtClean="0">
                              <a:latin typeface="Cambria Math" panose="02040503050406030204" pitchFamily="18" charset="0"/>
                            </a:rPr>
                            <m:t>𝑆</m:t>
                          </m:r>
                        </m:e>
                      </m:d>
                    </m:oMath>
                  </m:oMathPara>
                </a14:m>
                <a:endParaRPr lang="en-US" sz="2600" i="1" dirty="0"/>
              </a:p>
            </p:txBody>
          </p:sp>
        </mc:Choice>
        <mc:Fallback xmlns="">
          <p:sp>
            <p:nvSpPr>
              <p:cNvPr id="32" name="Rectangle 31">
                <a:extLst>
                  <a:ext uri="{FF2B5EF4-FFF2-40B4-BE49-F238E27FC236}">
                    <a16:creationId xmlns:a16="http://schemas.microsoft.com/office/drawing/2014/main" id="{ECC27BCA-6B57-7942-BEFB-9EA749942F7C}"/>
                  </a:ext>
                </a:extLst>
              </p:cNvPr>
              <p:cNvSpPr>
                <a:spLocks noRot="1" noChangeAspect="1" noMove="1" noResize="1" noEditPoints="1" noAdjustHandles="1" noChangeArrowheads="1" noChangeShapeType="1" noTextEdit="1"/>
              </p:cNvSpPr>
              <p:nvPr/>
            </p:nvSpPr>
            <p:spPr>
              <a:xfrm>
                <a:off x="894322" y="2991666"/>
                <a:ext cx="668196" cy="492443"/>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BFA0982-8E57-9C44-8798-7CB065C49559}"/>
                  </a:ext>
                </a:extLst>
              </p:cNvPr>
              <p:cNvSpPr txBox="1"/>
              <p:nvPr/>
            </p:nvSpPr>
            <p:spPr>
              <a:xfrm>
                <a:off x="1194633" y="4029784"/>
                <a:ext cx="600868"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𝑎</m:t>
                          </m:r>
                        </m:e>
                        <m:sub>
                          <m:r>
                            <a:rPr lang="en-US" sz="2600" b="0" i="1" smtClean="0">
                              <a:latin typeface="Cambria Math" panose="02040503050406030204" pitchFamily="18" charset="0"/>
                            </a:rPr>
                            <m:t>0</m:t>
                          </m:r>
                        </m:sub>
                      </m:sSub>
                    </m:oMath>
                  </m:oMathPara>
                </a14:m>
                <a:endParaRPr lang="en-US" sz="2600" dirty="0"/>
              </a:p>
            </p:txBody>
          </p:sp>
        </mc:Choice>
        <mc:Fallback xmlns="">
          <p:sp>
            <p:nvSpPr>
              <p:cNvPr id="36" name="TextBox 35">
                <a:extLst>
                  <a:ext uri="{FF2B5EF4-FFF2-40B4-BE49-F238E27FC236}">
                    <a16:creationId xmlns:a16="http://schemas.microsoft.com/office/drawing/2014/main" id="{2BFA0982-8E57-9C44-8798-7CB065C49559}"/>
                  </a:ext>
                </a:extLst>
              </p:cNvPr>
              <p:cNvSpPr txBox="1">
                <a:spLocks noRot="1" noChangeAspect="1" noMove="1" noResize="1" noEditPoints="1" noAdjustHandles="1" noChangeArrowheads="1" noChangeShapeType="1" noTextEdit="1"/>
              </p:cNvSpPr>
              <p:nvPr/>
            </p:nvSpPr>
            <p:spPr>
              <a:xfrm>
                <a:off x="1194633" y="4029784"/>
                <a:ext cx="600868" cy="492443"/>
              </a:xfrm>
              <a:prstGeom prst="rect">
                <a:avLst/>
              </a:prstGeom>
              <a:blipFill>
                <a:blip r:embed="rId16"/>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88D323F8-E23A-CC49-B325-A03D23B75432}"/>
              </a:ext>
            </a:extLst>
          </p:cNvPr>
          <p:cNvCxnSpPr>
            <a:cxnSpLocks/>
          </p:cNvCxnSpPr>
          <p:nvPr/>
        </p:nvCxnSpPr>
        <p:spPr>
          <a:xfrm>
            <a:off x="2435298" y="2865822"/>
            <a:ext cx="7528" cy="1286205"/>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10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4548AA-2084-234D-B80C-63F619C6D695}"/>
              </a:ext>
            </a:extLst>
          </p:cNvPr>
          <p:cNvSpPr>
            <a:spLocks noGrp="1"/>
          </p:cNvSpPr>
          <p:nvPr>
            <p:ph type="sldNum" sz="quarter" idx="12"/>
          </p:nvPr>
        </p:nvSpPr>
        <p:spPr/>
        <p:txBody>
          <a:bodyPr/>
          <a:lstStyle/>
          <a:p>
            <a:fld id="{591A223C-FA10-BC46-A853-03BA373D023C}" type="slidenum">
              <a:rPr lang="en-US" smtClean="0"/>
              <a:t>44</a:t>
            </a:fld>
            <a:endParaRPr lang="en-US"/>
          </a:p>
        </p:txBody>
      </p:sp>
      <p:sp>
        <p:nvSpPr>
          <p:cNvPr id="4" name="Title 3">
            <a:extLst>
              <a:ext uri="{FF2B5EF4-FFF2-40B4-BE49-F238E27FC236}">
                <a16:creationId xmlns:a16="http://schemas.microsoft.com/office/drawing/2014/main" id="{88CE7E71-27BD-7C4F-88C0-722B03B7CD9F}"/>
              </a:ext>
            </a:extLst>
          </p:cNvPr>
          <p:cNvSpPr>
            <a:spLocks noGrp="1"/>
          </p:cNvSpPr>
          <p:nvPr>
            <p:ph type="title"/>
          </p:nvPr>
        </p:nvSpPr>
        <p:spPr/>
        <p:txBody>
          <a:bodyPr/>
          <a:lstStyle/>
          <a:p>
            <a:r>
              <a:rPr lang="en-US" dirty="0"/>
              <a:t>Expectation Value of a Measurement</a:t>
            </a:r>
          </a:p>
        </p:txBody>
      </p:sp>
      <p:sp>
        <p:nvSpPr>
          <p:cNvPr id="59" name="TextBox 58">
            <a:extLst>
              <a:ext uri="{FF2B5EF4-FFF2-40B4-BE49-F238E27FC236}">
                <a16:creationId xmlns:a16="http://schemas.microsoft.com/office/drawing/2014/main" id="{A2647112-9E96-7344-A2E0-0A6FE0E04E50}"/>
              </a:ext>
            </a:extLst>
          </p:cNvPr>
          <p:cNvSpPr txBox="1"/>
          <p:nvPr/>
        </p:nvSpPr>
        <p:spPr>
          <a:xfrm>
            <a:off x="5971583" y="1242763"/>
            <a:ext cx="5524461" cy="1200329"/>
          </a:xfrm>
          <a:prstGeom prst="rect">
            <a:avLst/>
          </a:prstGeom>
          <a:solidFill>
            <a:schemeClr val="accent4">
              <a:lumMod val="20000"/>
              <a:lumOff val="80000"/>
            </a:schemeClr>
          </a:solidFill>
        </p:spPr>
        <p:txBody>
          <a:bodyPr wrap="square" rtlCol="0">
            <a:spAutoFit/>
          </a:bodyPr>
          <a:lstStyle/>
          <a:p>
            <a:pPr marL="342900" indent="-342900" algn="ctr">
              <a:buFont typeface="Courier New" panose="02070309020205020404" pitchFamily="49" charset="0"/>
              <a:buChar char="o"/>
            </a:pPr>
            <a:r>
              <a:rPr lang="en-US" sz="2400" dirty="0"/>
              <a:t>The expectation value is the probability-weighted average of the possible outcomes.</a:t>
            </a:r>
          </a:p>
        </p:txBody>
      </p:sp>
      <p:sp>
        <p:nvSpPr>
          <p:cNvPr id="5" name="Rectangle 4">
            <a:extLst>
              <a:ext uri="{FF2B5EF4-FFF2-40B4-BE49-F238E27FC236}">
                <a16:creationId xmlns:a16="http://schemas.microsoft.com/office/drawing/2014/main" id="{A3D2E129-8CFE-324C-9252-761A42A7AF33}"/>
              </a:ext>
            </a:extLst>
          </p:cNvPr>
          <p:cNvSpPr/>
          <p:nvPr/>
        </p:nvSpPr>
        <p:spPr>
          <a:xfrm>
            <a:off x="2184331" y="3491982"/>
            <a:ext cx="561216" cy="11224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4" name="Straight Arrow Connector 13">
            <a:extLst>
              <a:ext uri="{FF2B5EF4-FFF2-40B4-BE49-F238E27FC236}">
                <a16:creationId xmlns:a16="http://schemas.microsoft.com/office/drawing/2014/main" id="{D7DF457E-A560-D140-974A-0FDF1A7CA35A}"/>
              </a:ext>
            </a:extLst>
          </p:cNvPr>
          <p:cNvCxnSpPr>
            <a:cxnSpLocks/>
          </p:cNvCxnSpPr>
          <p:nvPr/>
        </p:nvCxnSpPr>
        <p:spPr>
          <a:xfrm>
            <a:off x="1730642" y="4614413"/>
            <a:ext cx="3349448" cy="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8DC76DA-7EBA-5C43-9190-FDD9A98A431B}"/>
              </a:ext>
            </a:extLst>
          </p:cNvPr>
          <p:cNvCxnSpPr>
            <a:cxnSpLocks/>
          </p:cNvCxnSpPr>
          <p:nvPr/>
        </p:nvCxnSpPr>
        <p:spPr>
          <a:xfrm flipV="1">
            <a:off x="1795633" y="1056059"/>
            <a:ext cx="0" cy="3798297"/>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7922674-D1B6-9442-A3CE-85FDFC708F83}"/>
              </a:ext>
            </a:extLst>
          </p:cNvPr>
          <p:cNvCxnSpPr>
            <a:cxnSpLocks/>
          </p:cNvCxnSpPr>
          <p:nvPr/>
        </p:nvCxnSpPr>
        <p:spPr>
          <a:xfrm>
            <a:off x="2464939" y="4612625"/>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254504A-3990-4447-98CD-9F8D74189FF3}"/>
              </a:ext>
            </a:extLst>
          </p:cNvPr>
          <p:cNvCxnSpPr>
            <a:cxnSpLocks/>
          </p:cNvCxnSpPr>
          <p:nvPr/>
        </p:nvCxnSpPr>
        <p:spPr>
          <a:xfrm>
            <a:off x="3284950" y="4612625"/>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16F7F8-32AB-174A-8B08-B46348BEB1FC}"/>
              </a:ext>
            </a:extLst>
          </p:cNvPr>
          <p:cNvCxnSpPr>
            <a:cxnSpLocks/>
          </p:cNvCxnSpPr>
          <p:nvPr/>
        </p:nvCxnSpPr>
        <p:spPr>
          <a:xfrm>
            <a:off x="4101768" y="4612623"/>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5ED24474-26A5-FE4C-A956-BA61924668C6}"/>
              </a:ext>
            </a:extLst>
          </p:cNvPr>
          <p:cNvSpPr/>
          <p:nvPr/>
        </p:nvSpPr>
        <p:spPr>
          <a:xfrm>
            <a:off x="3828682" y="1993536"/>
            <a:ext cx="561216" cy="26208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29" name="Straight Connector 28">
            <a:extLst>
              <a:ext uri="{FF2B5EF4-FFF2-40B4-BE49-F238E27FC236}">
                <a16:creationId xmlns:a16="http://schemas.microsoft.com/office/drawing/2014/main" id="{8A49A892-89AA-9443-BF59-80E99BE44AEB}"/>
              </a:ext>
            </a:extLst>
          </p:cNvPr>
          <p:cNvCxnSpPr>
            <a:cxnSpLocks/>
          </p:cNvCxnSpPr>
          <p:nvPr/>
        </p:nvCxnSpPr>
        <p:spPr>
          <a:xfrm>
            <a:off x="3621679" y="1797928"/>
            <a:ext cx="0" cy="2806079"/>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6B0F30E-7F8A-C14E-9032-ACDDC7B720ED}"/>
                  </a:ext>
                </a:extLst>
              </p:cNvPr>
              <p:cNvSpPr/>
              <p:nvPr/>
            </p:nvSpPr>
            <p:spPr>
              <a:xfrm>
                <a:off x="2249982" y="1634831"/>
                <a:ext cx="1258420"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C00000"/>
                              </a:solidFill>
                              <a:latin typeface="Cambria Math" panose="02040503050406030204" pitchFamily="18" charset="0"/>
                            </a:rPr>
                          </m:ctrlPr>
                        </m:dPr>
                        <m:e>
                          <m:r>
                            <a:rPr lang="sr-Latn-RS" sz="2000" b="0" i="1" smtClean="0">
                              <a:solidFill>
                                <a:srgbClr val="C00000"/>
                              </a:solidFill>
                              <a:latin typeface="Cambria Math" panose="02040503050406030204" pitchFamily="18" charset="0"/>
                            </a:rPr>
                            <m:t>𝑍</m:t>
                          </m:r>
                        </m:e>
                      </m:d>
                      <m:r>
                        <a:rPr lang="en-US" sz="2000" b="0" i="1" smtClean="0">
                          <a:solidFill>
                            <a:srgbClr val="C00000"/>
                          </a:solidFill>
                          <a:latin typeface="Cambria Math" panose="02040503050406030204" pitchFamily="18" charset="0"/>
                        </a:rPr>
                        <m:t>=</m:t>
                      </m:r>
                      <m:r>
                        <a:rPr lang="sr-Latn-RS" sz="2000" i="1" smtClean="0">
                          <a:solidFill>
                            <a:srgbClr val="C00000"/>
                          </a:solidFill>
                          <a:latin typeface="Cambria Math" panose="02040503050406030204" pitchFamily="18" charset="0"/>
                        </a:rPr>
                        <m:t>0</m:t>
                      </m:r>
                      <m:r>
                        <a:rPr lang="sr-Latn-RS" sz="2000" b="0" i="1" smtClean="0">
                          <a:solidFill>
                            <a:srgbClr val="C00000"/>
                          </a:solidFill>
                          <a:latin typeface="Cambria Math" panose="02040503050406030204" pitchFamily="18" charset="0"/>
                        </a:rPr>
                        <m:t>.4</m:t>
                      </m:r>
                    </m:oMath>
                  </m:oMathPara>
                </a14:m>
                <a:endParaRPr lang="en-US" sz="2000" dirty="0">
                  <a:solidFill>
                    <a:srgbClr val="C00000"/>
                  </a:solidFill>
                </a:endParaRPr>
              </a:p>
            </p:txBody>
          </p:sp>
        </mc:Choice>
        <mc:Fallback xmlns="">
          <p:sp>
            <p:nvSpPr>
              <p:cNvPr id="31" name="Rectangle 30">
                <a:extLst>
                  <a:ext uri="{FF2B5EF4-FFF2-40B4-BE49-F238E27FC236}">
                    <a16:creationId xmlns:a16="http://schemas.microsoft.com/office/drawing/2014/main" id="{E6B0F30E-7F8A-C14E-9032-ACDDC7B720ED}"/>
                  </a:ext>
                </a:extLst>
              </p:cNvPr>
              <p:cNvSpPr>
                <a:spLocks noRot="1" noChangeAspect="1" noMove="1" noResize="1" noEditPoints="1" noAdjustHandles="1" noChangeArrowheads="1" noChangeShapeType="1" noTextEdit="1"/>
              </p:cNvSpPr>
              <p:nvPr/>
            </p:nvSpPr>
            <p:spPr>
              <a:xfrm>
                <a:off x="2249982" y="1634831"/>
                <a:ext cx="1258420" cy="40010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88121ECC-4CA6-714C-B912-18204D39BDA3}"/>
                  </a:ext>
                </a:extLst>
              </p:cNvPr>
              <p:cNvSpPr/>
              <p:nvPr/>
            </p:nvSpPr>
            <p:spPr>
              <a:xfrm>
                <a:off x="2176431" y="4705770"/>
                <a:ext cx="577401"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solidFill>
                            <a:schemeClr val="tx1"/>
                          </a:solidFill>
                          <a:latin typeface="Cambria Math" panose="02040503050406030204" pitchFamily="18" charset="0"/>
                        </a:rPr>
                        <m:t>−1</m:t>
                      </m:r>
                    </m:oMath>
                  </m:oMathPara>
                </a14:m>
                <a:endParaRPr lang="en-US" sz="2000" dirty="0">
                  <a:solidFill>
                    <a:schemeClr val="tx1"/>
                  </a:solidFill>
                </a:endParaRPr>
              </a:p>
            </p:txBody>
          </p:sp>
        </mc:Choice>
        <mc:Fallback xmlns="">
          <p:sp>
            <p:nvSpPr>
              <p:cNvPr id="32" name="Rectangle 31">
                <a:extLst>
                  <a:ext uri="{FF2B5EF4-FFF2-40B4-BE49-F238E27FC236}">
                    <a16:creationId xmlns:a16="http://schemas.microsoft.com/office/drawing/2014/main" id="{88121ECC-4CA6-714C-B912-18204D39BDA3}"/>
                  </a:ext>
                </a:extLst>
              </p:cNvPr>
              <p:cNvSpPr>
                <a:spLocks noRot="1" noChangeAspect="1" noMove="1" noResize="1" noEditPoints="1" noAdjustHandles="1" noChangeArrowheads="1" noChangeShapeType="1" noTextEdit="1"/>
              </p:cNvSpPr>
              <p:nvPr/>
            </p:nvSpPr>
            <p:spPr>
              <a:xfrm>
                <a:off x="2176431" y="4705770"/>
                <a:ext cx="577401" cy="4001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25371E7-B943-1147-B4BF-BE27485D9E4D}"/>
                  </a:ext>
                </a:extLst>
              </p:cNvPr>
              <p:cNvSpPr/>
              <p:nvPr/>
            </p:nvSpPr>
            <p:spPr>
              <a:xfrm>
                <a:off x="3907551" y="4691228"/>
                <a:ext cx="385041"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solidFill>
                            <a:schemeClr val="tx1"/>
                          </a:solidFill>
                          <a:latin typeface="Cambria Math" panose="02040503050406030204" pitchFamily="18" charset="0"/>
                        </a:rPr>
                        <m:t>1</m:t>
                      </m:r>
                    </m:oMath>
                  </m:oMathPara>
                </a14:m>
                <a:endParaRPr lang="en-US" sz="2000" dirty="0">
                  <a:solidFill>
                    <a:schemeClr val="tx1"/>
                  </a:solidFill>
                </a:endParaRPr>
              </a:p>
            </p:txBody>
          </p:sp>
        </mc:Choice>
        <mc:Fallback xmlns="">
          <p:sp>
            <p:nvSpPr>
              <p:cNvPr id="33" name="Rectangle 32">
                <a:extLst>
                  <a:ext uri="{FF2B5EF4-FFF2-40B4-BE49-F238E27FC236}">
                    <a16:creationId xmlns:a16="http://schemas.microsoft.com/office/drawing/2014/main" id="{F25371E7-B943-1147-B4BF-BE27485D9E4D}"/>
                  </a:ext>
                </a:extLst>
              </p:cNvPr>
              <p:cNvSpPr>
                <a:spLocks noRot="1" noChangeAspect="1" noMove="1" noResize="1" noEditPoints="1" noAdjustHandles="1" noChangeArrowheads="1" noChangeShapeType="1" noTextEdit="1"/>
              </p:cNvSpPr>
              <p:nvPr/>
            </p:nvSpPr>
            <p:spPr>
              <a:xfrm>
                <a:off x="3907551" y="4691228"/>
                <a:ext cx="385041" cy="40010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5099D85B-1C1D-DC42-BB6F-E636C898E665}"/>
                  </a:ext>
                </a:extLst>
              </p:cNvPr>
              <p:cNvSpPr/>
              <p:nvPr/>
            </p:nvSpPr>
            <p:spPr>
              <a:xfrm>
                <a:off x="3091237" y="4703548"/>
                <a:ext cx="385041"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solidFill>
                            <a:schemeClr val="tx1"/>
                          </a:solidFill>
                          <a:latin typeface="Cambria Math" panose="02040503050406030204" pitchFamily="18" charset="0"/>
                        </a:rPr>
                        <m:t>0</m:t>
                      </m:r>
                    </m:oMath>
                  </m:oMathPara>
                </a14:m>
                <a:endParaRPr lang="en-US" sz="2000" dirty="0">
                  <a:solidFill>
                    <a:schemeClr val="tx1"/>
                  </a:solidFill>
                </a:endParaRPr>
              </a:p>
            </p:txBody>
          </p:sp>
        </mc:Choice>
        <mc:Fallback xmlns="">
          <p:sp>
            <p:nvSpPr>
              <p:cNvPr id="34" name="Rectangle 33">
                <a:extLst>
                  <a:ext uri="{FF2B5EF4-FFF2-40B4-BE49-F238E27FC236}">
                    <a16:creationId xmlns:a16="http://schemas.microsoft.com/office/drawing/2014/main" id="{5099D85B-1C1D-DC42-BB6F-E636C898E665}"/>
                  </a:ext>
                </a:extLst>
              </p:cNvPr>
              <p:cNvSpPr>
                <a:spLocks noRot="1" noChangeAspect="1" noMove="1" noResize="1" noEditPoints="1" noAdjustHandles="1" noChangeArrowheads="1" noChangeShapeType="1" noTextEdit="1"/>
              </p:cNvSpPr>
              <p:nvPr/>
            </p:nvSpPr>
            <p:spPr>
              <a:xfrm>
                <a:off x="3091237" y="4703548"/>
                <a:ext cx="385041" cy="40010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0C0CE892-E361-9448-B480-5EB746401611}"/>
                  </a:ext>
                </a:extLst>
              </p:cNvPr>
              <p:cNvSpPr/>
              <p:nvPr/>
            </p:nvSpPr>
            <p:spPr>
              <a:xfrm>
                <a:off x="2089819" y="3092745"/>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.3</m:t>
                      </m:r>
                    </m:oMath>
                  </m:oMathPara>
                </a14:m>
                <a:endParaRPr lang="en-US" sz="2000" dirty="0">
                  <a:solidFill>
                    <a:schemeClr val="tx1"/>
                  </a:solidFill>
                </a:endParaRPr>
              </a:p>
            </p:txBody>
          </p:sp>
        </mc:Choice>
        <mc:Fallback xmlns="">
          <p:sp>
            <p:nvSpPr>
              <p:cNvPr id="38" name="Rectangle 37">
                <a:extLst>
                  <a:ext uri="{FF2B5EF4-FFF2-40B4-BE49-F238E27FC236}">
                    <a16:creationId xmlns:a16="http://schemas.microsoft.com/office/drawing/2014/main" id="{0C0CE892-E361-9448-B480-5EB746401611}"/>
                  </a:ext>
                </a:extLst>
              </p:cNvPr>
              <p:cNvSpPr>
                <a:spLocks noRot="1" noChangeAspect="1" noMove="1" noResize="1" noEditPoints="1" noAdjustHandles="1" noChangeArrowheads="1" noChangeShapeType="1" noTextEdit="1"/>
              </p:cNvSpPr>
              <p:nvPr/>
            </p:nvSpPr>
            <p:spPr>
              <a:xfrm>
                <a:off x="2089819" y="3092745"/>
                <a:ext cx="580607" cy="40010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6C414828-8164-B344-8947-03D84D26CC53}"/>
                  </a:ext>
                </a:extLst>
              </p:cNvPr>
              <p:cNvSpPr/>
              <p:nvPr/>
            </p:nvSpPr>
            <p:spPr>
              <a:xfrm>
                <a:off x="3753719" y="1616841"/>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.7</m:t>
                      </m:r>
                    </m:oMath>
                  </m:oMathPara>
                </a14:m>
                <a:endParaRPr lang="en-US" sz="2000" dirty="0">
                  <a:solidFill>
                    <a:schemeClr val="tx1"/>
                  </a:solidFill>
                </a:endParaRPr>
              </a:p>
            </p:txBody>
          </p:sp>
        </mc:Choice>
        <mc:Fallback xmlns="">
          <p:sp>
            <p:nvSpPr>
              <p:cNvPr id="39" name="Rectangle 38">
                <a:extLst>
                  <a:ext uri="{FF2B5EF4-FFF2-40B4-BE49-F238E27FC236}">
                    <a16:creationId xmlns:a16="http://schemas.microsoft.com/office/drawing/2014/main" id="{6C414828-8164-B344-8947-03D84D26CC53}"/>
                  </a:ext>
                </a:extLst>
              </p:cNvPr>
              <p:cNvSpPr>
                <a:spLocks noRot="1" noChangeAspect="1" noMove="1" noResize="1" noEditPoints="1" noAdjustHandles="1" noChangeArrowheads="1" noChangeShapeType="1" noTextEdit="1"/>
              </p:cNvSpPr>
              <p:nvPr/>
            </p:nvSpPr>
            <p:spPr>
              <a:xfrm>
                <a:off x="3753719" y="1616841"/>
                <a:ext cx="580607" cy="400109"/>
              </a:xfrm>
              <a:prstGeom prst="rect">
                <a:avLst/>
              </a:prstGeom>
              <a:blipFill>
                <a:blip r:embed="rId8"/>
                <a:stretch>
                  <a:fillRect/>
                </a:stretch>
              </a:blipFill>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64225A9F-D6E8-A642-B0A4-71D9FA0E224C}"/>
              </a:ext>
            </a:extLst>
          </p:cNvPr>
          <p:cNvCxnSpPr>
            <a:cxnSpLocks/>
          </p:cNvCxnSpPr>
          <p:nvPr/>
        </p:nvCxnSpPr>
        <p:spPr>
          <a:xfrm rot="5400000">
            <a:off x="1795629" y="3792604"/>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E0CB3F-DE7B-1540-9792-2BDDC473164C}"/>
              </a:ext>
            </a:extLst>
          </p:cNvPr>
          <p:cNvCxnSpPr>
            <a:cxnSpLocks/>
          </p:cNvCxnSpPr>
          <p:nvPr/>
        </p:nvCxnSpPr>
        <p:spPr>
          <a:xfrm rot="5400000">
            <a:off x="1795629" y="3039345"/>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E8B78E9-AB26-184B-80F4-28174530F791}"/>
              </a:ext>
            </a:extLst>
          </p:cNvPr>
          <p:cNvCxnSpPr>
            <a:cxnSpLocks/>
          </p:cNvCxnSpPr>
          <p:nvPr/>
        </p:nvCxnSpPr>
        <p:spPr>
          <a:xfrm rot="5400000">
            <a:off x="1795629" y="2292929"/>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B008888-FF4A-6343-B81A-707ED1CC26CB}"/>
              </a:ext>
            </a:extLst>
          </p:cNvPr>
          <p:cNvCxnSpPr>
            <a:cxnSpLocks/>
          </p:cNvCxnSpPr>
          <p:nvPr/>
        </p:nvCxnSpPr>
        <p:spPr>
          <a:xfrm rot="5400000">
            <a:off x="1795629" y="1551856"/>
            <a:ext cx="0" cy="1299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BA166C1D-351B-4546-A9C9-618AF6155910}"/>
                  </a:ext>
                </a:extLst>
              </p:cNvPr>
              <p:cNvSpPr/>
              <p:nvPr/>
            </p:nvSpPr>
            <p:spPr>
              <a:xfrm>
                <a:off x="1067125" y="3624609"/>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.2</m:t>
                      </m:r>
                    </m:oMath>
                  </m:oMathPara>
                </a14:m>
                <a:endParaRPr lang="en-US" sz="2000" dirty="0">
                  <a:solidFill>
                    <a:schemeClr val="tx1"/>
                  </a:solidFill>
                </a:endParaRPr>
              </a:p>
            </p:txBody>
          </p:sp>
        </mc:Choice>
        <mc:Fallback xmlns="">
          <p:sp>
            <p:nvSpPr>
              <p:cNvPr id="53" name="Rectangle 52">
                <a:extLst>
                  <a:ext uri="{FF2B5EF4-FFF2-40B4-BE49-F238E27FC236}">
                    <a16:creationId xmlns:a16="http://schemas.microsoft.com/office/drawing/2014/main" id="{BA166C1D-351B-4546-A9C9-618AF6155910}"/>
                  </a:ext>
                </a:extLst>
              </p:cNvPr>
              <p:cNvSpPr>
                <a:spLocks noRot="1" noChangeAspect="1" noMove="1" noResize="1" noEditPoints="1" noAdjustHandles="1" noChangeArrowheads="1" noChangeShapeType="1" noTextEdit="1"/>
              </p:cNvSpPr>
              <p:nvPr/>
            </p:nvSpPr>
            <p:spPr>
              <a:xfrm>
                <a:off x="1067125" y="3624609"/>
                <a:ext cx="580607" cy="40010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D3752CED-221F-AD4D-BDE7-8DF34CEDACCC}"/>
                  </a:ext>
                </a:extLst>
              </p:cNvPr>
              <p:cNvSpPr/>
              <p:nvPr/>
            </p:nvSpPr>
            <p:spPr>
              <a:xfrm>
                <a:off x="1067125" y="2859919"/>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.4</m:t>
                      </m:r>
                    </m:oMath>
                  </m:oMathPara>
                </a14:m>
                <a:endParaRPr lang="en-US" sz="2000" dirty="0">
                  <a:solidFill>
                    <a:schemeClr val="tx1"/>
                  </a:solidFill>
                </a:endParaRPr>
              </a:p>
            </p:txBody>
          </p:sp>
        </mc:Choice>
        <mc:Fallback xmlns="">
          <p:sp>
            <p:nvSpPr>
              <p:cNvPr id="54" name="Rectangle 53">
                <a:extLst>
                  <a:ext uri="{FF2B5EF4-FFF2-40B4-BE49-F238E27FC236}">
                    <a16:creationId xmlns:a16="http://schemas.microsoft.com/office/drawing/2014/main" id="{D3752CED-221F-AD4D-BDE7-8DF34CEDACCC}"/>
                  </a:ext>
                </a:extLst>
              </p:cNvPr>
              <p:cNvSpPr>
                <a:spLocks noRot="1" noChangeAspect="1" noMove="1" noResize="1" noEditPoints="1" noAdjustHandles="1" noChangeArrowheads="1" noChangeShapeType="1" noTextEdit="1"/>
              </p:cNvSpPr>
              <p:nvPr/>
            </p:nvSpPr>
            <p:spPr>
              <a:xfrm>
                <a:off x="1067125" y="2859919"/>
                <a:ext cx="580607" cy="40010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B24589D-4E38-604C-A534-7F1BBFF4EF24}"/>
                  </a:ext>
                </a:extLst>
              </p:cNvPr>
              <p:cNvSpPr/>
              <p:nvPr/>
            </p:nvSpPr>
            <p:spPr>
              <a:xfrm>
                <a:off x="1067125" y="2115026"/>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.6</m:t>
                      </m:r>
                    </m:oMath>
                  </m:oMathPara>
                </a14:m>
                <a:endParaRPr lang="en-US" sz="2000" dirty="0">
                  <a:solidFill>
                    <a:schemeClr val="tx1"/>
                  </a:solidFill>
                </a:endParaRPr>
              </a:p>
            </p:txBody>
          </p:sp>
        </mc:Choice>
        <mc:Fallback xmlns="">
          <p:sp>
            <p:nvSpPr>
              <p:cNvPr id="55" name="Rectangle 54">
                <a:extLst>
                  <a:ext uri="{FF2B5EF4-FFF2-40B4-BE49-F238E27FC236}">
                    <a16:creationId xmlns:a16="http://schemas.microsoft.com/office/drawing/2014/main" id="{5B24589D-4E38-604C-A534-7F1BBFF4EF24}"/>
                  </a:ext>
                </a:extLst>
              </p:cNvPr>
              <p:cNvSpPr>
                <a:spLocks noRot="1" noChangeAspect="1" noMove="1" noResize="1" noEditPoints="1" noAdjustHandles="1" noChangeArrowheads="1" noChangeShapeType="1" noTextEdit="1"/>
              </p:cNvSpPr>
              <p:nvPr/>
            </p:nvSpPr>
            <p:spPr>
              <a:xfrm>
                <a:off x="1067125" y="2115026"/>
                <a:ext cx="580607" cy="40010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8427B513-3E7C-384E-985F-6C30A398D858}"/>
                  </a:ext>
                </a:extLst>
              </p:cNvPr>
              <p:cNvSpPr/>
              <p:nvPr/>
            </p:nvSpPr>
            <p:spPr>
              <a:xfrm>
                <a:off x="1067125" y="1370134"/>
                <a:ext cx="580607"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r>
                        <a:rPr lang="sr-Latn-RS" sz="2000" b="0" i="1" smtClean="0">
                          <a:latin typeface="Cambria Math" panose="02040503050406030204" pitchFamily="18" charset="0"/>
                        </a:rPr>
                        <m:t>.8</m:t>
                      </m:r>
                    </m:oMath>
                  </m:oMathPara>
                </a14:m>
                <a:endParaRPr lang="en-US" sz="2000" dirty="0">
                  <a:solidFill>
                    <a:schemeClr val="tx1"/>
                  </a:solidFill>
                </a:endParaRPr>
              </a:p>
            </p:txBody>
          </p:sp>
        </mc:Choice>
        <mc:Fallback xmlns="">
          <p:sp>
            <p:nvSpPr>
              <p:cNvPr id="56" name="Rectangle 55">
                <a:extLst>
                  <a:ext uri="{FF2B5EF4-FFF2-40B4-BE49-F238E27FC236}">
                    <a16:creationId xmlns:a16="http://schemas.microsoft.com/office/drawing/2014/main" id="{8427B513-3E7C-384E-985F-6C30A398D858}"/>
                  </a:ext>
                </a:extLst>
              </p:cNvPr>
              <p:cNvSpPr>
                <a:spLocks noRot="1" noChangeAspect="1" noMove="1" noResize="1" noEditPoints="1" noAdjustHandles="1" noChangeArrowheads="1" noChangeShapeType="1" noTextEdit="1"/>
              </p:cNvSpPr>
              <p:nvPr/>
            </p:nvSpPr>
            <p:spPr>
              <a:xfrm>
                <a:off x="1067125" y="1370134"/>
                <a:ext cx="580607" cy="40010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16F8D839-ECD4-A247-953C-2127EB634B14}"/>
                  </a:ext>
                </a:extLst>
              </p:cNvPr>
              <p:cNvSpPr/>
              <p:nvPr/>
            </p:nvSpPr>
            <p:spPr>
              <a:xfrm>
                <a:off x="1279537" y="4375460"/>
                <a:ext cx="385041" cy="4001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rPr>
                        <m:t>0</m:t>
                      </m:r>
                    </m:oMath>
                  </m:oMathPara>
                </a14:m>
                <a:endParaRPr lang="en-US" sz="2000" dirty="0">
                  <a:solidFill>
                    <a:schemeClr val="tx1"/>
                  </a:solidFill>
                </a:endParaRPr>
              </a:p>
            </p:txBody>
          </p:sp>
        </mc:Choice>
        <mc:Fallback xmlns="">
          <p:sp>
            <p:nvSpPr>
              <p:cNvPr id="57" name="Rectangle 56">
                <a:extLst>
                  <a:ext uri="{FF2B5EF4-FFF2-40B4-BE49-F238E27FC236}">
                    <a16:creationId xmlns:a16="http://schemas.microsoft.com/office/drawing/2014/main" id="{16F8D839-ECD4-A247-953C-2127EB634B14}"/>
                  </a:ext>
                </a:extLst>
              </p:cNvPr>
              <p:cNvSpPr>
                <a:spLocks noRot="1" noChangeAspect="1" noMove="1" noResize="1" noEditPoints="1" noAdjustHandles="1" noChangeArrowheads="1" noChangeShapeType="1" noTextEdit="1"/>
              </p:cNvSpPr>
              <p:nvPr/>
            </p:nvSpPr>
            <p:spPr>
              <a:xfrm>
                <a:off x="1279537" y="4375460"/>
                <a:ext cx="385041" cy="400109"/>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E532226-DEBD-5F44-B7B5-F26C54B02DA8}"/>
                  </a:ext>
                </a:extLst>
              </p:cNvPr>
              <p:cNvSpPr txBox="1"/>
              <p:nvPr/>
            </p:nvSpPr>
            <p:spPr>
              <a:xfrm rot="16200000">
                <a:off x="-118167" y="2772867"/>
                <a:ext cx="1875963" cy="400109"/>
              </a:xfrm>
              <a:prstGeom prst="rect">
                <a:avLst/>
              </a:prstGeom>
              <a:noFill/>
            </p:spPr>
            <p:txBody>
              <a:bodyPr wrap="none" rtlCol="0">
                <a:spAutoFit/>
              </a:bodyPr>
              <a:lstStyle/>
              <a:p>
                <a:r>
                  <a:rPr lang="en-US" sz="2000" dirty="0"/>
                  <a:t>probability </a:t>
                </a:r>
                <a14:m>
                  <m:oMath xmlns:m="http://schemas.openxmlformats.org/officeDocument/2006/math">
                    <m:r>
                      <a:rPr lang="sr-Latn-RS" sz="2000" b="0" i="1" smtClean="0">
                        <a:latin typeface="Cambria Math" panose="02040503050406030204" pitchFamily="18" charset="0"/>
                      </a:rPr>
                      <m:t>𝑝</m:t>
                    </m:r>
                    <m:r>
                      <a:rPr lang="sr-Latn-RS" sz="2000" b="0" i="1" smtClean="0">
                        <a:latin typeface="Cambria Math" panose="02040503050406030204" pitchFamily="18" charset="0"/>
                      </a:rPr>
                      <m:t>(</m:t>
                    </m:r>
                    <m:r>
                      <a:rPr lang="sr-Latn-RS" sz="2000" b="0" i="1" smtClean="0">
                        <a:latin typeface="Cambria Math" panose="02040503050406030204" pitchFamily="18" charset="0"/>
                      </a:rPr>
                      <m:t>𝑘</m:t>
                    </m:r>
                    <m:r>
                      <a:rPr lang="sr-Latn-RS" sz="2000" b="0" i="1" smtClean="0">
                        <a:latin typeface="Cambria Math" panose="02040503050406030204" pitchFamily="18" charset="0"/>
                      </a:rPr>
                      <m:t>)</m:t>
                    </m:r>
                  </m:oMath>
                </a14:m>
                <a:endParaRPr lang="en-US" sz="2000" dirty="0"/>
              </a:p>
            </p:txBody>
          </p:sp>
        </mc:Choice>
        <mc:Fallback xmlns="">
          <p:sp>
            <p:nvSpPr>
              <p:cNvPr id="60" name="TextBox 59">
                <a:extLst>
                  <a:ext uri="{FF2B5EF4-FFF2-40B4-BE49-F238E27FC236}">
                    <a16:creationId xmlns:a16="http://schemas.microsoft.com/office/drawing/2014/main" id="{6E532226-DEBD-5F44-B7B5-F26C54B02DA8}"/>
                  </a:ext>
                </a:extLst>
              </p:cNvPr>
              <p:cNvSpPr txBox="1">
                <a:spLocks noRot="1" noChangeAspect="1" noMove="1" noResize="1" noEditPoints="1" noAdjustHandles="1" noChangeArrowheads="1" noChangeShapeType="1" noTextEdit="1"/>
              </p:cNvSpPr>
              <p:nvPr/>
            </p:nvSpPr>
            <p:spPr>
              <a:xfrm rot="16200000">
                <a:off x="-118167" y="2772867"/>
                <a:ext cx="1875963" cy="400109"/>
              </a:xfrm>
              <a:prstGeom prst="rect">
                <a:avLst/>
              </a:prstGeom>
              <a:blipFill>
                <a:blip r:embed="rId14"/>
                <a:stretch>
                  <a:fillRect l="-6250" r="-25000" b="-26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7A7E710-861A-5948-A634-5CD5CAACF46C}"/>
                  </a:ext>
                </a:extLst>
              </p:cNvPr>
              <p:cNvSpPr txBox="1"/>
              <p:nvPr/>
            </p:nvSpPr>
            <p:spPr>
              <a:xfrm>
                <a:off x="1823091" y="4967077"/>
                <a:ext cx="3051156" cy="400110"/>
              </a:xfrm>
              <a:prstGeom prst="rect">
                <a:avLst/>
              </a:prstGeom>
              <a:noFill/>
            </p:spPr>
            <p:txBody>
              <a:bodyPr wrap="none" rtlCol="0">
                <a:spAutoFit/>
              </a:bodyPr>
              <a:lstStyle/>
              <a:p>
                <a:r>
                  <a:rPr lang="en-US" sz="2000" dirty="0"/>
                  <a:t>measurement outcomes </a:t>
                </a:r>
                <a14:m>
                  <m:oMath xmlns:m="http://schemas.openxmlformats.org/officeDocument/2006/math">
                    <m:sSub>
                      <m:sSubPr>
                        <m:ctrlPr>
                          <a:rPr lang="en-ZA" sz="2000" i="1">
                            <a:latin typeface="Cambria Math" panose="02040503050406030204" pitchFamily="18" charset="0"/>
                          </a:rPr>
                        </m:ctrlPr>
                      </m:sSubPr>
                      <m:e>
                        <m:r>
                          <a:rPr lang="sr-Latn-RS" sz="2000" i="1">
                            <a:latin typeface="Cambria Math" panose="02040503050406030204" pitchFamily="18" charset="0"/>
                          </a:rPr>
                          <m:t>𝜆</m:t>
                        </m:r>
                      </m:e>
                      <m:sub>
                        <m:r>
                          <a:rPr lang="sr-Latn-RS" sz="2000" b="0" i="1" smtClean="0">
                            <a:latin typeface="Cambria Math" panose="02040503050406030204" pitchFamily="18" charset="0"/>
                          </a:rPr>
                          <m:t>𝑘</m:t>
                        </m:r>
                      </m:sub>
                    </m:sSub>
                  </m:oMath>
                </a14:m>
                <a:endParaRPr lang="en-US" sz="2000" dirty="0"/>
              </a:p>
            </p:txBody>
          </p:sp>
        </mc:Choice>
        <mc:Fallback xmlns="">
          <p:sp>
            <p:nvSpPr>
              <p:cNvPr id="61" name="TextBox 60">
                <a:extLst>
                  <a:ext uri="{FF2B5EF4-FFF2-40B4-BE49-F238E27FC236}">
                    <a16:creationId xmlns:a16="http://schemas.microsoft.com/office/drawing/2014/main" id="{57A7E710-861A-5948-A634-5CD5CAACF46C}"/>
                  </a:ext>
                </a:extLst>
              </p:cNvPr>
              <p:cNvSpPr txBox="1">
                <a:spLocks noRot="1" noChangeAspect="1" noMove="1" noResize="1" noEditPoints="1" noAdjustHandles="1" noChangeArrowheads="1" noChangeShapeType="1" noTextEdit="1"/>
              </p:cNvSpPr>
              <p:nvPr/>
            </p:nvSpPr>
            <p:spPr>
              <a:xfrm>
                <a:off x="1823091" y="4967077"/>
                <a:ext cx="3051156" cy="400110"/>
              </a:xfrm>
              <a:prstGeom prst="rect">
                <a:avLst/>
              </a:prstGeom>
              <a:blipFill>
                <a:blip r:embed="rId15"/>
                <a:stretch>
                  <a:fillRect l="-2500"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106A285-6DF2-5941-80F5-BCA333B80B2B}"/>
                  </a:ext>
                </a:extLst>
              </p:cNvPr>
              <p:cNvSpPr txBox="1"/>
              <p:nvPr/>
            </p:nvSpPr>
            <p:spPr>
              <a:xfrm>
                <a:off x="5971583" y="2705515"/>
                <a:ext cx="5524461" cy="2431435"/>
              </a:xfrm>
              <a:prstGeom prst="rect">
                <a:avLst/>
              </a:prstGeom>
              <a:noFill/>
            </p:spPr>
            <p:txBody>
              <a:bodyPr wrap="none" rtlCol="0">
                <a:spAutoFit/>
              </a:bodyPr>
              <a:lstStyle/>
              <a:p>
                <a:r>
                  <a:rPr lang="en-US" sz="2200" dirty="0">
                    <a:solidFill>
                      <a:schemeClr val="accent5">
                        <a:lumMod val="75000"/>
                      </a:schemeClr>
                    </a:solidFill>
                  </a:rPr>
                  <a:t>Example: Pauli-Z measurement</a:t>
                </a:r>
              </a:p>
              <a:p>
                <a:endParaRPr lang="en-US" sz="500" dirty="0">
                  <a:solidFill>
                    <a:schemeClr val="accent5">
                      <a:lumMod val="75000"/>
                    </a:schemeClr>
                  </a:solidFill>
                </a:endParaRPr>
              </a:p>
              <a:p>
                <a:r>
                  <a:rPr lang="en-US" sz="2200" dirty="0"/>
                  <a:t>The Pauli-Z operator has eigenvalues </a:t>
                </a:r>
                <a14:m>
                  <m:oMath xmlns:m="http://schemas.openxmlformats.org/officeDocument/2006/math">
                    <m:sSub>
                      <m:sSubPr>
                        <m:ctrlPr>
                          <a:rPr lang="en-ZA" sz="2200" i="1">
                            <a:latin typeface="Cambria Math" panose="02040503050406030204" pitchFamily="18" charset="0"/>
                          </a:rPr>
                        </m:ctrlPr>
                      </m:sSubPr>
                      <m:e>
                        <m:r>
                          <a:rPr lang="sr-Latn-RS" sz="2200" i="1">
                            <a:latin typeface="Cambria Math" panose="02040503050406030204" pitchFamily="18" charset="0"/>
                          </a:rPr>
                          <m:t>𝜆</m:t>
                        </m:r>
                      </m:e>
                      <m:sub>
                        <m:r>
                          <a:rPr lang="sr-Latn-RS" sz="2200" i="1">
                            <a:latin typeface="Cambria Math" panose="02040503050406030204" pitchFamily="18" charset="0"/>
                          </a:rPr>
                          <m:t>𝑘</m:t>
                        </m:r>
                      </m:sub>
                    </m:sSub>
                    <m:r>
                      <a:rPr lang="en-US"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1</m:t>
                    </m:r>
                  </m:oMath>
                </a14:m>
                <a:r>
                  <a:rPr lang="en-US" sz="2200" dirty="0"/>
                  <a:t>.</a:t>
                </a:r>
              </a:p>
              <a:p>
                <a:r>
                  <a:rPr lang="en-US" sz="2200" dirty="0"/>
                  <a:t>The probabilities of the outcomes are</a:t>
                </a:r>
              </a:p>
              <a:p>
                <a:endParaRPr lang="en-US" sz="500" dirty="0"/>
              </a:p>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𝑝</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+1</m:t>
                          </m:r>
                        </m:e>
                      </m:d>
                      <m:r>
                        <a:rPr lang="en-US" sz="2200" b="0" i="1" smtClean="0">
                          <a:latin typeface="Cambria Math" panose="02040503050406030204" pitchFamily="18" charset="0"/>
                        </a:rPr>
                        <m:t>=0.7,  </m:t>
                      </m:r>
                      <m:r>
                        <a:rPr lang="en-US" sz="2200" i="1">
                          <a:latin typeface="Cambria Math" panose="02040503050406030204" pitchFamily="18" charset="0"/>
                        </a:rPr>
                        <m:t>𝑝</m:t>
                      </m:r>
                      <m:d>
                        <m:dPr>
                          <m:ctrlPr>
                            <a:rPr lang="en-US" sz="2200" i="1">
                              <a:latin typeface="Cambria Math" panose="02040503050406030204" pitchFamily="18" charset="0"/>
                            </a:rPr>
                          </m:ctrlPr>
                        </m:dPr>
                        <m:e>
                          <m:r>
                            <a:rPr lang="en-US" sz="2200" b="0" i="1" smtClean="0">
                              <a:latin typeface="Cambria Math" panose="02040503050406030204" pitchFamily="18" charset="0"/>
                            </a:rPr>
                            <m:t>−</m:t>
                          </m:r>
                          <m:r>
                            <a:rPr lang="en-US" sz="2200" i="1">
                              <a:latin typeface="Cambria Math" panose="02040503050406030204" pitchFamily="18" charset="0"/>
                            </a:rPr>
                            <m:t>1</m:t>
                          </m:r>
                        </m:e>
                      </m:d>
                      <m:r>
                        <a:rPr lang="en-US" sz="2200" i="1">
                          <a:latin typeface="Cambria Math" panose="02040503050406030204" pitchFamily="18" charset="0"/>
                        </a:rPr>
                        <m:t>=0.</m:t>
                      </m:r>
                      <m:r>
                        <a:rPr lang="en-US" sz="2200" b="0" i="1" smtClean="0">
                          <a:latin typeface="Cambria Math" panose="02040503050406030204" pitchFamily="18" charset="0"/>
                        </a:rPr>
                        <m:t>3</m:t>
                      </m:r>
                    </m:oMath>
                  </m:oMathPara>
                </a14:m>
                <a:endParaRPr lang="en-US" sz="2200" dirty="0"/>
              </a:p>
              <a:p>
                <a:endParaRPr lang="en-US" sz="500" dirty="0"/>
              </a:p>
              <a:p>
                <a:r>
                  <a:rPr lang="en-US" sz="2200" dirty="0"/>
                  <a:t>The expectation value is </a:t>
                </a:r>
              </a:p>
              <a:p>
                <a:endParaRPr lang="en-US" sz="500" dirty="0"/>
              </a:p>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rPr>
                          </m:ctrlPr>
                        </m:dPr>
                        <m:e>
                          <m:r>
                            <a:rPr lang="sr-Latn-RS" sz="2200" i="1">
                              <a:solidFill>
                                <a:schemeClr val="tx1"/>
                              </a:solidFill>
                              <a:latin typeface="Cambria Math" panose="02040503050406030204" pitchFamily="18" charset="0"/>
                            </a:rPr>
                            <m:t>𝑍</m:t>
                          </m:r>
                        </m:e>
                      </m:d>
                      <m:r>
                        <a:rPr lang="en-US" sz="2200" b="0" i="1" smtClean="0">
                          <a:solidFill>
                            <a:schemeClr val="tx1"/>
                          </a:solidFill>
                          <a:latin typeface="Cambria Math" panose="02040503050406030204" pitchFamily="18" charset="0"/>
                        </a:rPr>
                        <m:t>=</m:t>
                      </m:r>
                      <m:d>
                        <m:dPr>
                          <m:ctrlPr>
                            <a:rPr lang="en-US" sz="2200" b="0" i="1" smtClean="0">
                              <a:solidFill>
                                <a:schemeClr val="tx1"/>
                              </a:solidFill>
                              <a:latin typeface="Cambria Math" panose="02040503050406030204" pitchFamily="18" charset="0"/>
                            </a:rPr>
                          </m:ctrlPr>
                        </m:dPr>
                        <m:e>
                          <m:r>
                            <a:rPr lang="en-US" sz="2200" b="0" i="1" smtClean="0">
                              <a:solidFill>
                                <a:schemeClr val="tx1"/>
                              </a:solidFill>
                              <a:latin typeface="Cambria Math" panose="02040503050406030204" pitchFamily="18" charset="0"/>
                            </a:rPr>
                            <m:t>+1</m:t>
                          </m:r>
                        </m:e>
                      </m:d>
                      <m:r>
                        <a:rPr lang="en-US" sz="2200" i="1">
                          <a:latin typeface="Cambria Math" panose="02040503050406030204" pitchFamily="18" charset="0"/>
                        </a:rPr>
                        <m:t>𝑝</m:t>
                      </m:r>
                      <m:d>
                        <m:dPr>
                          <m:ctrlPr>
                            <a:rPr lang="en-US" sz="2200" i="1">
                              <a:latin typeface="Cambria Math" panose="02040503050406030204" pitchFamily="18" charset="0"/>
                            </a:rPr>
                          </m:ctrlPr>
                        </m:dPr>
                        <m:e>
                          <m:r>
                            <a:rPr lang="en-US" sz="2200" b="0" i="1" smtClean="0">
                              <a:latin typeface="Cambria Math" panose="02040503050406030204" pitchFamily="18" charset="0"/>
                            </a:rPr>
                            <m:t>+</m:t>
                          </m:r>
                          <m:r>
                            <a:rPr lang="en-US" sz="2200" i="1">
                              <a:latin typeface="Cambria Math" panose="02040503050406030204" pitchFamily="18" charset="0"/>
                            </a:rPr>
                            <m:t>1</m:t>
                          </m:r>
                        </m:e>
                      </m:d>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m:t>
                          </m:r>
                          <m:r>
                            <a:rPr lang="en-US" sz="2200" i="1">
                              <a:latin typeface="Cambria Math" panose="02040503050406030204" pitchFamily="18" charset="0"/>
                            </a:rPr>
                            <m:t>1</m:t>
                          </m:r>
                        </m:e>
                      </m:d>
                      <m:r>
                        <a:rPr lang="en-US" sz="2200" i="1">
                          <a:latin typeface="Cambria Math" panose="02040503050406030204" pitchFamily="18" charset="0"/>
                        </a:rPr>
                        <m:t>𝑝</m:t>
                      </m:r>
                      <m:d>
                        <m:dPr>
                          <m:ctrlPr>
                            <a:rPr lang="en-US" sz="2200" i="1">
                              <a:latin typeface="Cambria Math" panose="02040503050406030204" pitchFamily="18" charset="0"/>
                            </a:rPr>
                          </m:ctrlPr>
                        </m:dPr>
                        <m:e>
                          <m:r>
                            <a:rPr lang="en-US" sz="2200" b="0" i="1" smtClean="0">
                              <a:latin typeface="Cambria Math" panose="02040503050406030204" pitchFamily="18" charset="0"/>
                            </a:rPr>
                            <m:t>−</m:t>
                          </m:r>
                          <m:r>
                            <a:rPr lang="en-US" sz="2200" i="1">
                              <a:latin typeface="Cambria Math" panose="02040503050406030204" pitchFamily="18" charset="0"/>
                            </a:rPr>
                            <m:t>1</m:t>
                          </m:r>
                        </m:e>
                      </m:d>
                      <m:r>
                        <a:rPr lang="en-US" sz="2200" b="0" i="1" smtClean="0">
                          <a:latin typeface="Cambria Math" panose="02040503050406030204" pitchFamily="18" charset="0"/>
                        </a:rPr>
                        <m:t>=0.4</m:t>
                      </m:r>
                    </m:oMath>
                  </m:oMathPara>
                </a14:m>
                <a:endParaRPr lang="en-US" sz="2200" dirty="0">
                  <a:solidFill>
                    <a:schemeClr val="tx1"/>
                  </a:solidFill>
                </a:endParaRPr>
              </a:p>
            </p:txBody>
          </p:sp>
        </mc:Choice>
        <mc:Fallback xmlns="">
          <p:sp>
            <p:nvSpPr>
              <p:cNvPr id="62" name="TextBox 61">
                <a:extLst>
                  <a:ext uri="{FF2B5EF4-FFF2-40B4-BE49-F238E27FC236}">
                    <a16:creationId xmlns:a16="http://schemas.microsoft.com/office/drawing/2014/main" id="{6106A285-6DF2-5941-80F5-BCA333B80B2B}"/>
                  </a:ext>
                </a:extLst>
              </p:cNvPr>
              <p:cNvSpPr txBox="1">
                <a:spLocks noRot="1" noChangeAspect="1" noMove="1" noResize="1" noEditPoints="1" noAdjustHandles="1" noChangeArrowheads="1" noChangeShapeType="1" noTextEdit="1"/>
              </p:cNvSpPr>
              <p:nvPr/>
            </p:nvSpPr>
            <p:spPr>
              <a:xfrm>
                <a:off x="5971583" y="2705515"/>
                <a:ext cx="5524461" cy="2431435"/>
              </a:xfrm>
              <a:prstGeom prst="rect">
                <a:avLst/>
              </a:prstGeom>
              <a:blipFill>
                <a:blip r:embed="rId16"/>
                <a:stretch>
                  <a:fillRect l="-1147" t="-1563" r="-459" b="-10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932EB21-F302-D843-A00A-A52BFA9F3106}"/>
                  </a:ext>
                </a:extLst>
              </p:cNvPr>
              <p:cNvSpPr txBox="1"/>
              <p:nvPr/>
            </p:nvSpPr>
            <p:spPr>
              <a:xfrm>
                <a:off x="564806" y="5692731"/>
                <a:ext cx="11062387" cy="830997"/>
              </a:xfrm>
              <a:prstGeom prst="rect">
                <a:avLst/>
              </a:prstGeom>
              <a:solidFill>
                <a:schemeClr val="accent6">
                  <a:lumMod val="20000"/>
                  <a:lumOff val="80000"/>
                </a:schemeClr>
              </a:solidFill>
            </p:spPr>
            <p:txBody>
              <a:bodyPr wrap="none" rtlCol="0">
                <a:spAutoFit/>
              </a:bodyPr>
              <a:lstStyle/>
              <a:p>
                <a:pPr marL="342900" indent="-342900">
                  <a:buFont typeface="Courier New" panose="02070309020205020404" pitchFamily="49" charset="0"/>
                  <a:buChar char="o"/>
                </a:pPr>
                <a:r>
                  <a:rPr lang="en-US" sz="2400" dirty="0"/>
                  <a:t>The possible measurement outcomes are the eigenvalues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𝜆</m:t>
                        </m:r>
                      </m:e>
                      <m:sub>
                        <m:r>
                          <a:rPr lang="sr-Latn-RS" sz="2400" i="1">
                            <a:latin typeface="Cambria Math" panose="02040503050406030204" pitchFamily="18" charset="0"/>
                          </a:rPr>
                          <m:t>𝑘</m:t>
                        </m:r>
                      </m:sub>
                    </m:sSub>
                  </m:oMath>
                </a14:m>
                <a:r>
                  <a:rPr lang="en-US" sz="2400" dirty="0"/>
                  <a:t> of the observable.</a:t>
                </a:r>
              </a:p>
              <a:p>
                <a:pPr marL="342900" indent="-342900">
                  <a:buFont typeface="Courier New" panose="02070309020205020404" pitchFamily="49" charset="0"/>
                  <a:buChar char="o"/>
                </a:pPr>
                <a:r>
                  <a:rPr lang="en-US" sz="2400" dirty="0"/>
                  <a:t>The expectation value (0.4) is not itself a possible outcome of a single measurement.</a:t>
                </a:r>
              </a:p>
            </p:txBody>
          </p:sp>
        </mc:Choice>
        <mc:Fallback xmlns="">
          <p:sp>
            <p:nvSpPr>
              <p:cNvPr id="63" name="TextBox 62">
                <a:extLst>
                  <a:ext uri="{FF2B5EF4-FFF2-40B4-BE49-F238E27FC236}">
                    <a16:creationId xmlns:a16="http://schemas.microsoft.com/office/drawing/2014/main" id="{0932EB21-F302-D843-A00A-A52BFA9F3106}"/>
                  </a:ext>
                </a:extLst>
              </p:cNvPr>
              <p:cNvSpPr txBox="1">
                <a:spLocks noRot="1" noChangeAspect="1" noMove="1" noResize="1" noEditPoints="1" noAdjustHandles="1" noChangeArrowheads="1" noChangeShapeType="1" noTextEdit="1"/>
              </p:cNvSpPr>
              <p:nvPr/>
            </p:nvSpPr>
            <p:spPr>
              <a:xfrm>
                <a:off x="564806" y="5692731"/>
                <a:ext cx="11062387" cy="830997"/>
              </a:xfrm>
              <a:prstGeom prst="rect">
                <a:avLst/>
              </a:prstGeom>
              <a:blipFill>
                <a:blip r:embed="rId17"/>
                <a:stretch>
                  <a:fillRect l="-687" t="-2985" b="-13433"/>
                </a:stretch>
              </a:blipFill>
            </p:spPr>
            <p:txBody>
              <a:bodyPr/>
              <a:lstStyle/>
              <a:p>
                <a:r>
                  <a:rPr lang="en-US">
                    <a:noFill/>
                  </a:rPr>
                  <a:t> </a:t>
                </a:r>
              </a:p>
            </p:txBody>
          </p:sp>
        </mc:Fallback>
      </mc:AlternateContent>
    </p:spTree>
    <p:extLst>
      <p:ext uri="{BB962C8B-B14F-4D97-AF65-F5344CB8AC3E}">
        <p14:creationId xmlns:p14="http://schemas.microsoft.com/office/powerpoint/2010/main" val="287591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dissolve">
                                      <p:cBhvr>
                                        <p:cTn id="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4548AA-2084-234D-B80C-63F619C6D695}"/>
              </a:ext>
            </a:extLst>
          </p:cNvPr>
          <p:cNvSpPr>
            <a:spLocks noGrp="1"/>
          </p:cNvSpPr>
          <p:nvPr>
            <p:ph type="sldNum" sz="quarter" idx="12"/>
          </p:nvPr>
        </p:nvSpPr>
        <p:spPr/>
        <p:txBody>
          <a:bodyPr/>
          <a:lstStyle/>
          <a:p>
            <a:fld id="{591A223C-FA10-BC46-A853-03BA373D023C}" type="slidenum">
              <a:rPr lang="en-US" smtClean="0"/>
              <a:t>45</a:t>
            </a:fld>
            <a:endParaRPr lang="en-US"/>
          </a:p>
        </p:txBody>
      </p:sp>
      <p:sp>
        <p:nvSpPr>
          <p:cNvPr id="4" name="Title 3">
            <a:extLst>
              <a:ext uri="{FF2B5EF4-FFF2-40B4-BE49-F238E27FC236}">
                <a16:creationId xmlns:a16="http://schemas.microsoft.com/office/drawing/2014/main" id="{88CE7E71-27BD-7C4F-88C0-722B03B7CD9F}"/>
              </a:ext>
            </a:extLst>
          </p:cNvPr>
          <p:cNvSpPr>
            <a:spLocks noGrp="1"/>
          </p:cNvSpPr>
          <p:nvPr>
            <p:ph type="title"/>
          </p:nvPr>
        </p:nvSpPr>
        <p:spPr/>
        <p:txBody>
          <a:bodyPr/>
          <a:lstStyle/>
          <a:p>
            <a:r>
              <a:rPr lang="en-US" dirty="0"/>
              <a:t>Expectation Value</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2647112-9E96-7344-A2E0-0A6FE0E04E50}"/>
                  </a:ext>
                </a:extLst>
              </p:cNvPr>
              <p:cNvSpPr txBox="1"/>
              <p:nvPr/>
            </p:nvSpPr>
            <p:spPr>
              <a:xfrm>
                <a:off x="340659" y="1242763"/>
                <a:ext cx="11456894" cy="907941"/>
              </a:xfrm>
              <a:prstGeom prst="rect">
                <a:avLst/>
              </a:prstGeom>
              <a:solidFill>
                <a:schemeClr val="accent4">
                  <a:lumMod val="20000"/>
                  <a:lumOff val="80000"/>
                </a:schemeClr>
              </a:solidFill>
            </p:spPr>
            <p:txBody>
              <a:bodyPr wrap="square" rtlCol="0">
                <a:spAutoFit/>
              </a:bodyPr>
              <a:lstStyle/>
              <a:p>
                <a:pPr algn="ctr"/>
                <a:r>
                  <a:rPr lang="en-US" sz="2400" dirty="0"/>
                  <a:t>For a state </a:t>
                </a:r>
                <a14:m>
                  <m:oMath xmlns:m="http://schemas.openxmlformats.org/officeDocument/2006/math">
                    <m:d>
                      <m:dPr>
                        <m:begChr m:val="|"/>
                        <m:end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𝑆</m:t>
                        </m:r>
                      </m:e>
                    </m:d>
                  </m:oMath>
                </a14:m>
                <a:r>
                  <a:rPr lang="en-US" sz="2400" dirty="0"/>
                  <a:t>, the expectation value of  the measurement outcome is</a:t>
                </a:r>
              </a:p>
              <a:p>
                <a:pPr algn="ctr"/>
                <a:endParaRPr lang="en-US" sz="500" dirty="0"/>
              </a:p>
              <a:p>
                <a:pPr algn="ct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𝑀</m:t>
                          </m:r>
                        </m:e>
                      </m:d>
                      <m:r>
                        <a:rPr lang="en-US" sz="2400" i="1">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𝑆</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𝑀</m:t>
                          </m:r>
                          <m:r>
                            <a:rPr lang="en-US" sz="2400" i="1">
                              <a:latin typeface="Cambria Math" panose="02040503050406030204" pitchFamily="18" charset="0"/>
                            </a:rPr>
                            <m:t>|</m:t>
                          </m:r>
                          <m:r>
                            <a:rPr lang="en-US" sz="2400" i="1">
                              <a:latin typeface="Cambria Math" panose="02040503050406030204" pitchFamily="18" charset="0"/>
                            </a:rPr>
                            <m:t>𝑆</m:t>
                          </m:r>
                        </m:e>
                      </m:d>
                    </m:oMath>
                  </m:oMathPara>
                </a14:m>
                <a:endParaRPr lang="en-US" sz="2400" dirty="0"/>
              </a:p>
            </p:txBody>
          </p:sp>
        </mc:Choice>
        <mc:Fallback xmlns="">
          <p:sp>
            <p:nvSpPr>
              <p:cNvPr id="59" name="TextBox 58">
                <a:extLst>
                  <a:ext uri="{FF2B5EF4-FFF2-40B4-BE49-F238E27FC236}">
                    <a16:creationId xmlns:a16="http://schemas.microsoft.com/office/drawing/2014/main" id="{A2647112-9E96-7344-A2E0-0A6FE0E04E50}"/>
                  </a:ext>
                </a:extLst>
              </p:cNvPr>
              <p:cNvSpPr txBox="1">
                <a:spLocks noRot="1" noChangeAspect="1" noMove="1" noResize="1" noEditPoints="1" noAdjustHandles="1" noChangeArrowheads="1" noChangeShapeType="1" noTextEdit="1"/>
              </p:cNvSpPr>
              <p:nvPr/>
            </p:nvSpPr>
            <p:spPr>
              <a:xfrm>
                <a:off x="340659" y="1242763"/>
                <a:ext cx="11456894" cy="907941"/>
              </a:xfrm>
              <a:prstGeom prst="rect">
                <a:avLst/>
              </a:prstGeom>
              <a:blipFill>
                <a:blip r:embed="rId3"/>
                <a:stretch>
                  <a:fillRect t="-2778" b="-694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99167718-55A1-FB42-9E3E-82F689F380B8}"/>
              </a:ext>
            </a:extLst>
          </p:cNvPr>
          <p:cNvSpPr txBox="1"/>
          <p:nvPr/>
        </p:nvSpPr>
        <p:spPr>
          <a:xfrm>
            <a:off x="619760" y="2944936"/>
            <a:ext cx="10666253" cy="461665"/>
          </a:xfrm>
          <a:prstGeom prst="rect">
            <a:avLst/>
          </a:prstGeom>
          <a:noFill/>
        </p:spPr>
        <p:txBody>
          <a:bodyPr wrap="none" rtlCol="0">
            <a:spAutoFit/>
          </a:bodyPr>
          <a:lstStyle/>
          <a:p>
            <a:r>
              <a:rPr lang="en-US" sz="2400" dirty="0"/>
              <a:t>The expectation value is the probability-weighted average of the possible outcomes.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22EB22-DEFF-DB48-8C81-DC326AC59E4B}"/>
                  </a:ext>
                </a:extLst>
              </p:cNvPr>
              <p:cNvSpPr txBox="1"/>
              <p:nvPr/>
            </p:nvSpPr>
            <p:spPr>
              <a:xfrm>
                <a:off x="1229994" y="3598367"/>
                <a:ext cx="9882129" cy="11378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𝑀</m:t>
                          </m:r>
                        </m:e>
                      </m:d>
                      <m:r>
                        <a:rPr lang="en-US" sz="2800" i="1">
                          <a:latin typeface="Cambria Math" panose="02040503050406030204" pitchFamily="18" charset="0"/>
                        </a:rPr>
                        <m:t>=</m:t>
                      </m:r>
                      <m:nary>
                        <m:naryPr>
                          <m:chr m:val="∑"/>
                          <m:supHide m:val="on"/>
                          <m:ctrlPr>
                            <a:rPr lang="en-US" sz="2800" i="1" smtClean="0">
                              <a:latin typeface="Cambria Math" panose="02040503050406030204" pitchFamily="18" charset="0"/>
                            </a:rPr>
                          </m:ctrlPr>
                        </m:naryPr>
                        <m:sub>
                          <m:r>
                            <m:rPr>
                              <m:brk m:alnAt="7"/>
                            </m:rPr>
                            <a:rPr lang="en-US" sz="2800" b="0" i="1" smtClean="0">
                              <a:latin typeface="Cambria Math" panose="02040503050406030204" pitchFamily="18" charset="0"/>
                            </a:rPr>
                            <m:t>𝑘</m:t>
                          </m:r>
                        </m:sub>
                        <m:sup/>
                        <m:e>
                          <m:sSub>
                            <m:sSubPr>
                              <m:ctrlPr>
                                <a:rPr lang="en-ZA" sz="2800" i="1">
                                  <a:latin typeface="Cambria Math" panose="02040503050406030204" pitchFamily="18" charset="0"/>
                                </a:rPr>
                              </m:ctrlPr>
                            </m:sSubPr>
                            <m:e>
                              <m:r>
                                <a:rPr lang="sr-Latn-RS" sz="2800" i="1">
                                  <a:latin typeface="Cambria Math" panose="02040503050406030204" pitchFamily="18" charset="0"/>
                                </a:rPr>
                                <m:t>𝜆</m:t>
                              </m:r>
                            </m:e>
                            <m:sub>
                              <m:r>
                                <a:rPr lang="sr-Latn-RS" sz="2800" i="1">
                                  <a:latin typeface="Cambria Math" panose="02040503050406030204" pitchFamily="18" charset="0"/>
                                </a:rPr>
                                <m:t>𝑘</m:t>
                              </m:r>
                            </m:sub>
                          </m:sSub>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𝑘</m:t>
                              </m:r>
                            </m:e>
                          </m:d>
                          <m:r>
                            <a:rPr lang="en-US" sz="2800" b="0" i="1" smtClean="0">
                              <a:latin typeface="Cambria Math" panose="02040503050406030204" pitchFamily="18" charset="0"/>
                            </a:rPr>
                            <m:t>=</m:t>
                          </m:r>
                          <m:nary>
                            <m:naryPr>
                              <m:chr m:val="∑"/>
                              <m:supHide m:val="on"/>
                              <m:ctrlPr>
                                <a:rPr lang="en-US" sz="2800" i="1">
                                  <a:latin typeface="Cambria Math" panose="02040503050406030204" pitchFamily="18" charset="0"/>
                                </a:rPr>
                              </m:ctrlPr>
                            </m:naryPr>
                            <m:sub>
                              <m:r>
                                <m:rPr>
                                  <m:brk m:alnAt="7"/>
                                </m:rPr>
                                <a:rPr lang="en-US" sz="2800" i="1">
                                  <a:latin typeface="Cambria Math" panose="02040503050406030204" pitchFamily="18" charset="0"/>
                                </a:rPr>
                                <m:t>𝑘</m:t>
                              </m:r>
                            </m:sub>
                            <m:sup/>
                            <m:e>
                              <m:sSub>
                                <m:sSubPr>
                                  <m:ctrlPr>
                                    <a:rPr lang="en-ZA" sz="2800" i="1">
                                      <a:latin typeface="Cambria Math" panose="02040503050406030204" pitchFamily="18" charset="0"/>
                                    </a:rPr>
                                  </m:ctrlPr>
                                </m:sSubPr>
                                <m:e>
                                  <m:r>
                                    <a:rPr lang="sr-Latn-RS" sz="2800" i="1">
                                      <a:latin typeface="Cambria Math" panose="02040503050406030204" pitchFamily="18" charset="0"/>
                                    </a:rPr>
                                    <m:t>𝜆</m:t>
                                  </m:r>
                                </m:e>
                                <m:sub>
                                  <m:r>
                                    <a:rPr lang="sr-Latn-RS" sz="2800" i="1">
                                      <a:latin typeface="Cambria Math" panose="02040503050406030204" pitchFamily="18" charset="0"/>
                                    </a:rPr>
                                    <m:t>𝑘</m:t>
                                  </m:r>
                                </m:sub>
                              </m:sSub>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e>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𝑘</m:t>
                                      </m:r>
                                    </m:sub>
                                  </m:sSub>
                                </m:e>
                                <m:e>
                                  <m:r>
                                    <a:rPr lang="en-US" sz="2800" i="1">
                                      <a:latin typeface="Cambria Math" panose="02040503050406030204" pitchFamily="18" charset="0"/>
                                    </a:rPr>
                                    <m:t>𝑆</m:t>
                                  </m:r>
                                </m:e>
                              </m:d>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e>
                                  <m:nary>
                                    <m:naryPr>
                                      <m:chr m:val="∑"/>
                                      <m:supHide m:val="on"/>
                                      <m:ctrlPr>
                                        <a:rPr lang="en-US" sz="2800" i="1" smtClean="0">
                                          <a:latin typeface="Cambria Math" panose="02040503050406030204" pitchFamily="18" charset="0"/>
                                        </a:rPr>
                                      </m:ctrlPr>
                                    </m:naryPr>
                                    <m:sub>
                                      <m:r>
                                        <m:rPr>
                                          <m:brk m:alnAt="7"/>
                                        </m:rPr>
                                        <a:rPr lang="en-US" sz="2800" b="0" i="1" smtClean="0">
                                          <a:latin typeface="Cambria Math" panose="02040503050406030204" pitchFamily="18" charset="0"/>
                                        </a:rPr>
                                        <m:t>𝑘</m:t>
                                      </m:r>
                                    </m:sub>
                                    <m:sup/>
                                    <m:e>
                                      <m:sSub>
                                        <m:sSubPr>
                                          <m:ctrlPr>
                                            <a:rPr lang="en-ZA" sz="2800" i="1">
                                              <a:latin typeface="Cambria Math" panose="02040503050406030204" pitchFamily="18" charset="0"/>
                                            </a:rPr>
                                          </m:ctrlPr>
                                        </m:sSubPr>
                                        <m:e>
                                          <m:r>
                                            <a:rPr lang="sr-Latn-RS" sz="2800" i="1">
                                              <a:latin typeface="Cambria Math" panose="02040503050406030204" pitchFamily="18" charset="0"/>
                                            </a:rPr>
                                            <m:t>𝜆</m:t>
                                          </m:r>
                                        </m:e>
                                        <m:sub>
                                          <m:r>
                                            <a:rPr lang="sr-Latn-RS" sz="2800" i="1">
                                              <a:latin typeface="Cambria Math" panose="02040503050406030204" pitchFamily="18" charset="0"/>
                                            </a:rPr>
                                            <m:t>𝑘</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𝑘</m:t>
                                          </m:r>
                                        </m:sub>
                                      </m:sSub>
                                    </m:e>
                                  </m:nary>
                                </m:e>
                                <m:e>
                                  <m:r>
                                    <a:rPr lang="en-US" sz="2800" i="1">
                                      <a:latin typeface="Cambria Math" panose="02040503050406030204" pitchFamily="18" charset="0"/>
                                    </a:rPr>
                                    <m:t>𝑆</m:t>
                                  </m:r>
                                </m:e>
                              </m:d>
                            </m:e>
                          </m:nary>
                          <m:r>
                            <a:rPr lang="en-US" sz="2800" b="0" i="1" smtClean="0">
                              <a:latin typeface="Cambria Math" panose="02040503050406030204" pitchFamily="18" charset="0"/>
                            </a:rPr>
                            <m:t>=</m:t>
                          </m:r>
                          <m:r>
                            <a:rPr lang="en-US" sz="2800">
                              <a:latin typeface="Cambria Math" panose="02040503050406030204" pitchFamily="18" charset="0"/>
                            </a:rPr>
                            <m:t>⟨</m:t>
                          </m:r>
                          <m:r>
                            <a:rPr lang="en-US" sz="2800" i="1">
                              <a:latin typeface="Cambria Math" panose="02040503050406030204" pitchFamily="18" charset="0"/>
                            </a:rPr>
                            <m:t>𝑆</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𝑆</m:t>
                              </m:r>
                            </m:e>
                          </m:d>
                        </m:e>
                      </m:nary>
                    </m:oMath>
                  </m:oMathPara>
                </a14:m>
                <a:endParaRPr lang="en-US" sz="2800" dirty="0"/>
              </a:p>
            </p:txBody>
          </p:sp>
        </mc:Choice>
        <mc:Fallback xmlns="">
          <p:sp>
            <p:nvSpPr>
              <p:cNvPr id="6" name="TextBox 5">
                <a:extLst>
                  <a:ext uri="{FF2B5EF4-FFF2-40B4-BE49-F238E27FC236}">
                    <a16:creationId xmlns:a16="http://schemas.microsoft.com/office/drawing/2014/main" id="{5022EB22-DEFF-DB48-8C81-DC326AC59E4B}"/>
                  </a:ext>
                </a:extLst>
              </p:cNvPr>
              <p:cNvSpPr txBox="1">
                <a:spLocks noRot="1" noChangeAspect="1" noMove="1" noResize="1" noEditPoints="1" noAdjustHandles="1" noChangeArrowheads="1" noChangeShapeType="1" noTextEdit="1"/>
              </p:cNvSpPr>
              <p:nvPr/>
            </p:nvSpPr>
            <p:spPr>
              <a:xfrm>
                <a:off x="1229994" y="3598367"/>
                <a:ext cx="9882129" cy="1137876"/>
              </a:xfrm>
              <a:prstGeom prst="rect">
                <a:avLst/>
              </a:prstGeom>
              <a:blipFill>
                <a:blip r:embed="rId4"/>
                <a:stretch>
                  <a:fillRect l="-1412" t="-128571" b="-180220"/>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B6EC8353-511B-FF4A-A76F-ACFD85BBAA89}"/>
              </a:ext>
            </a:extLst>
          </p:cNvPr>
          <p:cNvSpPr/>
          <p:nvPr/>
        </p:nvSpPr>
        <p:spPr>
          <a:xfrm>
            <a:off x="7552098" y="3728565"/>
            <a:ext cx="1336431" cy="7968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64A3824-911C-6046-AD74-D5073EB3E4E4}"/>
                  </a:ext>
                </a:extLst>
              </p:cNvPr>
              <p:cNvSpPr txBox="1"/>
              <p:nvPr/>
            </p:nvSpPr>
            <p:spPr>
              <a:xfrm>
                <a:off x="7031654" y="4604843"/>
                <a:ext cx="2377317" cy="646331"/>
              </a:xfrm>
              <a:prstGeom prst="rect">
                <a:avLst/>
              </a:prstGeom>
              <a:noFill/>
            </p:spPr>
            <p:txBody>
              <a:bodyPr wrap="none" rtlCol="0">
                <a:spAutoFit/>
              </a:bodyPr>
              <a:lstStyle/>
              <a:p>
                <a:pPr algn="ctr"/>
                <a:r>
                  <a:rPr lang="en-ZA" dirty="0"/>
                  <a:t>spectral decomposition</a:t>
                </a:r>
              </a:p>
              <a:p>
                <a:pPr algn="ctr"/>
                <a:r>
                  <a:rPr lang="en-ZA" dirty="0"/>
                  <a:t>of the observable </a:t>
                </a:r>
                <a14:m>
                  <m:oMath xmlns:m="http://schemas.openxmlformats.org/officeDocument/2006/math">
                    <m:r>
                      <a:rPr lang="en-US" i="1">
                        <a:latin typeface="Cambria Math" panose="02040503050406030204" pitchFamily="18" charset="0"/>
                      </a:rPr>
                      <m:t>𝑀</m:t>
                    </m:r>
                  </m:oMath>
                </a14:m>
                <a:endParaRPr lang="en-US" dirty="0"/>
              </a:p>
            </p:txBody>
          </p:sp>
        </mc:Choice>
        <mc:Fallback xmlns="">
          <p:sp>
            <p:nvSpPr>
              <p:cNvPr id="9" name="TextBox 8">
                <a:extLst>
                  <a:ext uri="{FF2B5EF4-FFF2-40B4-BE49-F238E27FC236}">
                    <a16:creationId xmlns:a16="http://schemas.microsoft.com/office/drawing/2014/main" id="{F64A3824-911C-6046-AD74-D5073EB3E4E4}"/>
                  </a:ext>
                </a:extLst>
              </p:cNvPr>
              <p:cNvSpPr txBox="1">
                <a:spLocks noRot="1" noChangeAspect="1" noMove="1" noResize="1" noEditPoints="1" noAdjustHandles="1" noChangeArrowheads="1" noChangeShapeType="1" noTextEdit="1"/>
              </p:cNvSpPr>
              <p:nvPr/>
            </p:nvSpPr>
            <p:spPr>
              <a:xfrm>
                <a:off x="7031654" y="4604843"/>
                <a:ext cx="2377317" cy="646331"/>
              </a:xfrm>
              <a:prstGeom prst="rect">
                <a:avLst/>
              </a:prstGeom>
              <a:blipFill>
                <a:blip r:embed="rId5"/>
                <a:stretch>
                  <a:fillRect l="-1596" t="-3922" r="-1596" b="-15686"/>
                </a:stretch>
              </a:blipFill>
            </p:spPr>
            <p:txBody>
              <a:bodyPr/>
              <a:lstStyle/>
              <a:p>
                <a:r>
                  <a:rPr lang="en-US">
                    <a:noFill/>
                  </a:rPr>
                  <a:t> </a:t>
                </a:r>
              </a:p>
            </p:txBody>
          </p:sp>
        </mc:Fallback>
      </mc:AlternateContent>
    </p:spTree>
    <p:extLst>
      <p:ext uri="{BB962C8B-B14F-4D97-AF65-F5344CB8AC3E}">
        <p14:creationId xmlns:p14="http://schemas.microsoft.com/office/powerpoint/2010/main" val="2776566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286170-1354-C341-BEBA-642B4CB6693F}"/>
              </a:ext>
            </a:extLst>
          </p:cNvPr>
          <p:cNvSpPr>
            <a:spLocks noGrp="1"/>
          </p:cNvSpPr>
          <p:nvPr>
            <p:ph type="sldNum" sz="quarter" idx="12"/>
          </p:nvPr>
        </p:nvSpPr>
        <p:spPr/>
        <p:txBody>
          <a:bodyPr/>
          <a:lstStyle/>
          <a:p>
            <a:fld id="{591A223C-FA10-BC46-A853-03BA373D023C}" type="slidenum">
              <a:rPr lang="en-US" smtClean="0"/>
              <a:t>46</a:t>
            </a:fld>
            <a:endParaRPr lang="en-US"/>
          </a:p>
        </p:txBody>
      </p:sp>
      <p:sp>
        <p:nvSpPr>
          <p:cNvPr id="3" name="Title 2">
            <a:extLst>
              <a:ext uri="{FF2B5EF4-FFF2-40B4-BE49-F238E27FC236}">
                <a16:creationId xmlns:a16="http://schemas.microsoft.com/office/drawing/2014/main" id="{4B333016-5EAF-514B-AE48-0DA83A7AF240}"/>
              </a:ext>
            </a:extLst>
          </p:cNvPr>
          <p:cNvSpPr>
            <a:spLocks noGrp="1"/>
          </p:cNvSpPr>
          <p:nvPr>
            <p:ph type="title"/>
          </p:nvPr>
        </p:nvSpPr>
        <p:spPr>
          <a:xfrm>
            <a:off x="0" y="0"/>
            <a:ext cx="12192000" cy="928688"/>
          </a:xfrm>
        </p:spPr>
        <p:txBody>
          <a:bodyPr/>
          <a:lstStyle/>
          <a:p>
            <a:r>
              <a:rPr lang="en-ZA" dirty="0"/>
              <a:t>Quantum Algorithms and Measurement Outcomes</a:t>
            </a:r>
            <a:endParaRPr lang="en-US" dirty="0">
              <a:latin typeface="+mn-lt"/>
            </a:endParaRPr>
          </a:p>
        </p:txBody>
      </p:sp>
      <p:sp>
        <p:nvSpPr>
          <p:cNvPr id="5" name="Freeform 4">
            <a:extLst>
              <a:ext uri="{FF2B5EF4-FFF2-40B4-BE49-F238E27FC236}">
                <a16:creationId xmlns:a16="http://schemas.microsoft.com/office/drawing/2014/main" id="{34587941-88E1-7B44-A26D-94E6B724FF67}"/>
              </a:ext>
            </a:extLst>
          </p:cNvPr>
          <p:cNvSpPr/>
          <p:nvPr/>
        </p:nvSpPr>
        <p:spPr>
          <a:xfrm>
            <a:off x="732914" y="6132984"/>
            <a:ext cx="2322211" cy="5508"/>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325">
                <a:moveTo>
                  <a:pt x="0" y="324"/>
                </a:moveTo>
                <a:cubicBezTo>
                  <a:pt x="730" y="324"/>
                  <a:pt x="2112" y="-403"/>
                  <a:pt x="2189" y="324"/>
                </a:cubicBezTo>
                <a:cubicBezTo>
                  <a:pt x="3252" y="10325"/>
                  <a:pt x="3544" y="324"/>
                  <a:pt x="4221" y="324"/>
                </a:cubicBezTo>
                <a:lnTo>
                  <a:pt x="6270" y="10324"/>
                </a:lnTo>
                <a:lnTo>
                  <a:pt x="9194" y="324"/>
                </a:lnTo>
                <a:lnTo>
                  <a:pt x="10000" y="3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E5BC179D-0DBF-A742-8BC9-0C6270DBD68E}"/>
              </a:ext>
            </a:extLst>
          </p:cNvPr>
          <p:cNvSpPr/>
          <p:nvPr/>
        </p:nvSpPr>
        <p:spPr>
          <a:xfrm rot="16200000">
            <a:off x="-612191" y="4689903"/>
            <a:ext cx="2880000" cy="6341"/>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724 h 12076"/>
              <a:gd name="connsiteX1" fmla="*/ 2189 w 10000"/>
              <a:gd name="connsiteY1" fmla="*/ 724 h 12076"/>
              <a:gd name="connsiteX2" fmla="*/ 4221 w 10000"/>
              <a:gd name="connsiteY2" fmla="*/ 724 h 12076"/>
              <a:gd name="connsiteX3" fmla="*/ 6270 w 10000"/>
              <a:gd name="connsiteY3" fmla="*/ 10724 h 12076"/>
              <a:gd name="connsiteX4" fmla="*/ 9194 w 10000"/>
              <a:gd name="connsiteY4" fmla="*/ 724 h 12076"/>
              <a:gd name="connsiteX5" fmla="*/ 10000 w 10000"/>
              <a:gd name="connsiteY5" fmla="*/ 724 h 1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2076">
                <a:moveTo>
                  <a:pt x="0" y="724"/>
                </a:moveTo>
                <a:cubicBezTo>
                  <a:pt x="730" y="724"/>
                  <a:pt x="2137" y="-5"/>
                  <a:pt x="2189" y="724"/>
                </a:cubicBezTo>
                <a:cubicBezTo>
                  <a:pt x="3619" y="20725"/>
                  <a:pt x="3444" y="10090"/>
                  <a:pt x="4221" y="724"/>
                </a:cubicBezTo>
                <a:cubicBezTo>
                  <a:pt x="4512" y="-2779"/>
                  <a:pt x="5587" y="7391"/>
                  <a:pt x="6270" y="10724"/>
                </a:cubicBezTo>
                <a:lnTo>
                  <a:pt x="9194" y="724"/>
                </a:lnTo>
                <a:lnTo>
                  <a:pt x="10000" y="7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Freeform 6">
            <a:extLst>
              <a:ext uri="{FF2B5EF4-FFF2-40B4-BE49-F238E27FC236}">
                <a16:creationId xmlns:a16="http://schemas.microsoft.com/office/drawing/2014/main" id="{DEA49109-23EA-6D43-92D9-F56DBFAD6D69}"/>
              </a:ext>
            </a:extLst>
          </p:cNvPr>
          <p:cNvSpPr/>
          <p:nvPr/>
        </p:nvSpPr>
        <p:spPr>
          <a:xfrm>
            <a:off x="1016242" y="4872984"/>
            <a:ext cx="595439" cy="126000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Freeform 7">
            <a:extLst>
              <a:ext uri="{FF2B5EF4-FFF2-40B4-BE49-F238E27FC236}">
                <a16:creationId xmlns:a16="http://schemas.microsoft.com/office/drawing/2014/main" id="{1AD3D72B-0491-D046-AD01-C7C48935F7F5}"/>
              </a:ext>
            </a:extLst>
          </p:cNvPr>
          <p:cNvSpPr/>
          <p:nvPr/>
        </p:nvSpPr>
        <p:spPr>
          <a:xfrm>
            <a:off x="2113055" y="4857429"/>
            <a:ext cx="595439" cy="126000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9" name="Straight Connector 8">
            <a:extLst>
              <a:ext uri="{FF2B5EF4-FFF2-40B4-BE49-F238E27FC236}">
                <a16:creationId xmlns:a16="http://schemas.microsoft.com/office/drawing/2014/main" id="{50F73010-45CB-C642-9F57-D5118A7A187D}"/>
              </a:ext>
            </a:extLst>
          </p:cNvPr>
          <p:cNvCxnSpPr>
            <a:cxnSpLocks/>
          </p:cNvCxnSpPr>
          <p:nvPr/>
        </p:nvCxnSpPr>
        <p:spPr>
          <a:xfrm>
            <a:off x="727435" y="3240188"/>
            <a:ext cx="208402" cy="0"/>
          </a:xfrm>
          <a:prstGeom prst="line">
            <a:avLst/>
          </a:prstGeom>
          <a:ln w="127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2A141C0-DE49-E648-A88C-2EA382AC3176}"/>
              </a:ext>
            </a:extLst>
          </p:cNvPr>
          <p:cNvSpPr txBox="1"/>
          <p:nvPr/>
        </p:nvSpPr>
        <p:spPr>
          <a:xfrm>
            <a:off x="392948" y="3046559"/>
            <a:ext cx="340158" cy="461665"/>
          </a:xfrm>
          <a:prstGeom prst="rect">
            <a:avLst/>
          </a:prstGeom>
          <a:noFill/>
        </p:spPr>
        <p:txBody>
          <a:bodyPr wrap="none" rtlCol="0">
            <a:spAutoFit/>
          </a:bodyPr>
          <a:lstStyle/>
          <a:p>
            <a:r>
              <a:rPr lang="en-US" sz="2400" dirty="0"/>
              <a:t>1</a:t>
            </a:r>
          </a:p>
        </p:txBody>
      </p:sp>
      <p:sp>
        <p:nvSpPr>
          <p:cNvPr id="11" name="TextBox 10">
            <a:extLst>
              <a:ext uri="{FF2B5EF4-FFF2-40B4-BE49-F238E27FC236}">
                <a16:creationId xmlns:a16="http://schemas.microsoft.com/office/drawing/2014/main" id="{8448898B-01A9-BA48-9128-BE955C52DF36}"/>
              </a:ext>
            </a:extLst>
          </p:cNvPr>
          <p:cNvSpPr txBox="1"/>
          <p:nvPr/>
        </p:nvSpPr>
        <p:spPr>
          <a:xfrm>
            <a:off x="1136357" y="6231829"/>
            <a:ext cx="340158" cy="461665"/>
          </a:xfrm>
          <a:prstGeom prst="rect">
            <a:avLst/>
          </a:prstGeom>
          <a:noFill/>
        </p:spPr>
        <p:txBody>
          <a:bodyPr wrap="none" rtlCol="0">
            <a:spAutoFit/>
          </a:bodyPr>
          <a:lstStyle/>
          <a:p>
            <a:r>
              <a:rPr lang="en-US" sz="2400" dirty="0"/>
              <a:t>0</a:t>
            </a:r>
          </a:p>
        </p:txBody>
      </p:sp>
      <p:sp>
        <p:nvSpPr>
          <p:cNvPr id="15" name="TextBox 14">
            <a:extLst>
              <a:ext uri="{FF2B5EF4-FFF2-40B4-BE49-F238E27FC236}">
                <a16:creationId xmlns:a16="http://schemas.microsoft.com/office/drawing/2014/main" id="{95F70882-0C4F-944D-821B-E5A9F3546F1F}"/>
              </a:ext>
            </a:extLst>
          </p:cNvPr>
          <p:cNvSpPr txBox="1"/>
          <p:nvPr/>
        </p:nvSpPr>
        <p:spPr>
          <a:xfrm>
            <a:off x="2208864" y="6231829"/>
            <a:ext cx="340158" cy="461665"/>
          </a:xfrm>
          <a:prstGeom prst="rect">
            <a:avLst/>
          </a:prstGeom>
          <a:noFill/>
        </p:spPr>
        <p:txBody>
          <a:bodyPr wrap="none" rtlCol="0">
            <a:spAutoFit/>
          </a:bodyPr>
          <a:lstStyle/>
          <a:p>
            <a:r>
              <a:rPr lang="en-US" sz="2400" dirty="0"/>
              <a:t>1</a:t>
            </a:r>
          </a:p>
        </p:txBody>
      </p:sp>
      <p:sp>
        <p:nvSpPr>
          <p:cNvPr id="16" name="TextBox 15">
            <a:extLst>
              <a:ext uri="{FF2B5EF4-FFF2-40B4-BE49-F238E27FC236}">
                <a16:creationId xmlns:a16="http://schemas.microsoft.com/office/drawing/2014/main" id="{2A67CAC2-C7CC-BD41-B365-5D1614B5C02F}"/>
              </a:ext>
            </a:extLst>
          </p:cNvPr>
          <p:cNvSpPr txBox="1"/>
          <p:nvPr/>
        </p:nvSpPr>
        <p:spPr>
          <a:xfrm>
            <a:off x="347952" y="5953720"/>
            <a:ext cx="340158" cy="461665"/>
          </a:xfrm>
          <a:prstGeom prst="rect">
            <a:avLst/>
          </a:prstGeom>
          <a:noFill/>
        </p:spPr>
        <p:txBody>
          <a:bodyPr wrap="none" rtlCol="0">
            <a:spAutoFit/>
          </a:bodyPr>
          <a:lstStyle/>
          <a:p>
            <a:r>
              <a:rPr lang="en-US" sz="2400" dirty="0"/>
              <a:t>0</a:t>
            </a:r>
          </a:p>
        </p:txBody>
      </p:sp>
      <p:grpSp>
        <p:nvGrpSpPr>
          <p:cNvPr id="41" name="Group 40">
            <a:extLst>
              <a:ext uri="{FF2B5EF4-FFF2-40B4-BE49-F238E27FC236}">
                <a16:creationId xmlns:a16="http://schemas.microsoft.com/office/drawing/2014/main" id="{414CB6ED-4341-7241-90D1-AB246D7AC35C}"/>
              </a:ext>
            </a:extLst>
          </p:cNvPr>
          <p:cNvGrpSpPr>
            <a:grpSpLocks noChangeAspect="1"/>
          </p:cNvGrpSpPr>
          <p:nvPr/>
        </p:nvGrpSpPr>
        <p:grpSpPr>
          <a:xfrm>
            <a:off x="1113733" y="1114832"/>
            <a:ext cx="2025020" cy="1941392"/>
            <a:chOff x="4586359" y="2131974"/>
            <a:chExt cx="3020332" cy="2895600"/>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D0863AA-E915-1D4A-8D5D-A584FD1F5F1E}"/>
                    </a:ext>
                  </a:extLst>
                </p:cNvPr>
                <p:cNvSpPr/>
                <p:nvPr/>
              </p:nvSpPr>
              <p:spPr>
                <a:xfrm>
                  <a:off x="5555115" y="3088874"/>
                  <a:ext cx="2051576" cy="13068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22" name="Rectangle 21">
                  <a:extLst>
                    <a:ext uri="{FF2B5EF4-FFF2-40B4-BE49-F238E27FC236}">
                      <a16:creationId xmlns:a16="http://schemas.microsoft.com/office/drawing/2014/main" id="{4D0863AA-E915-1D4A-8D5D-A584FD1F5F1E}"/>
                    </a:ext>
                  </a:extLst>
                </p:cNvPr>
                <p:cNvSpPr>
                  <a:spLocks noRot="1" noChangeAspect="1" noMove="1" noResize="1" noEditPoints="1" noAdjustHandles="1" noChangeArrowheads="1" noChangeShapeType="1" noTextEdit="1"/>
                </p:cNvSpPr>
                <p:nvPr/>
              </p:nvSpPr>
              <p:spPr>
                <a:xfrm>
                  <a:off x="5555115" y="3088874"/>
                  <a:ext cx="2051576" cy="1306862"/>
                </a:xfrm>
                <a:prstGeom prst="rect">
                  <a:avLst/>
                </a:prstGeom>
                <a:blipFill>
                  <a:blip r:embed="rId3"/>
                  <a:stretch>
                    <a:fillRect b="-1429"/>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7E44B94C-F8B8-BC4A-A818-40D15D80C5B4}"/>
                </a:ext>
              </a:extLst>
            </p:cNvPr>
            <p:cNvSpPr/>
            <p:nvPr/>
          </p:nvSpPr>
          <p:spPr>
            <a:xfrm>
              <a:off x="4598747" y="2131974"/>
              <a:ext cx="2875029" cy="2895600"/>
            </a:xfrm>
            <a:prstGeom prst="ellipse">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92EB4E06-AE8D-284C-A947-EC917D8A80F8}"/>
                </a:ext>
              </a:extLst>
            </p:cNvPr>
            <p:cNvPicPr>
              <a:picLocks noChangeAspect="1"/>
            </p:cNvPicPr>
            <p:nvPr/>
          </p:nvPicPr>
          <p:blipFill>
            <a:blip r:embed="rId4">
              <a:extLst>
                <a:ext uri="{BEBA8EAE-BF5A-486C-A8C5-ECC9F3942E4B}">
                  <a14:imgProps xmlns:a14="http://schemas.microsoft.com/office/drawing/2010/main">
                    <a14:imgLayer>
                      <a14:imgEffect>
                        <a14:artisticLineDrawing/>
                      </a14:imgEffect>
                    </a14:imgLayer>
                  </a14:imgProps>
                </a:ext>
              </a:extLst>
            </a:blip>
            <a:stretch>
              <a:fillRect/>
            </a:stretch>
          </p:blipFill>
          <p:spPr>
            <a:xfrm>
              <a:off x="4586359" y="2131974"/>
              <a:ext cx="2895600" cy="2895600"/>
            </a:xfrm>
            <a:prstGeom prst="rect">
              <a:avLst/>
            </a:prstGeom>
          </p:spPr>
        </p:pic>
        <p:sp>
          <p:nvSpPr>
            <p:cNvPr id="26" name="Oval 25">
              <a:extLst>
                <a:ext uri="{FF2B5EF4-FFF2-40B4-BE49-F238E27FC236}">
                  <a16:creationId xmlns:a16="http://schemas.microsoft.com/office/drawing/2014/main" id="{585C32C1-D57E-FB4E-A2B0-5DA775F26C99}"/>
                </a:ext>
              </a:extLst>
            </p:cNvPr>
            <p:cNvSpPr/>
            <p:nvPr/>
          </p:nvSpPr>
          <p:spPr>
            <a:xfrm>
              <a:off x="4598747" y="2940427"/>
              <a:ext cx="2875029" cy="1232974"/>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B17D817F-408C-BA40-A673-AF1D18A514DB}"/>
                </a:ext>
              </a:extLst>
            </p:cNvPr>
            <p:cNvGrpSpPr/>
            <p:nvPr/>
          </p:nvGrpSpPr>
          <p:grpSpPr>
            <a:xfrm rot="11825224">
              <a:off x="5393292" y="3306168"/>
              <a:ext cx="316583" cy="848842"/>
              <a:chOff x="6425408" y="2594280"/>
              <a:chExt cx="407643" cy="1116000"/>
            </a:xfrm>
          </p:grpSpPr>
          <p:sp>
            <p:nvSpPr>
              <p:cNvPr id="27" name="Freeform 26">
                <a:extLst>
                  <a:ext uri="{FF2B5EF4-FFF2-40B4-BE49-F238E27FC236}">
                    <a16:creationId xmlns:a16="http://schemas.microsoft.com/office/drawing/2014/main" id="{ABAB8CE0-F0F8-6B4D-ACB1-A576C6B5854A}"/>
                  </a:ext>
                </a:extLst>
              </p:cNvPr>
              <p:cNvSpPr/>
              <p:nvPr/>
            </p:nvSpPr>
            <p:spPr>
              <a:xfrm rot="18437658">
                <a:off x="5881808" y="3137880"/>
                <a:ext cx="1116000" cy="28800"/>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8572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a:extLst>
                  <a:ext uri="{FF2B5EF4-FFF2-40B4-BE49-F238E27FC236}">
                    <a16:creationId xmlns:a16="http://schemas.microsoft.com/office/drawing/2014/main" id="{A97F291B-BC6E-954F-82CF-DF1FCE423FC1}"/>
                  </a:ext>
                </a:extLst>
              </p:cNvPr>
              <p:cNvSpPr/>
              <p:nvPr/>
            </p:nvSpPr>
            <p:spPr>
              <a:xfrm rot="16656266">
                <a:off x="6581897" y="2630205"/>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968991A9-4736-C942-959D-22C9A5420583}"/>
                  </a:ext>
                </a:extLst>
              </p:cNvPr>
              <p:cNvSpPr/>
              <p:nvPr/>
            </p:nvSpPr>
            <p:spPr>
              <a:xfrm rot="20039594" flipV="1">
                <a:off x="6693768" y="2707649"/>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458CC2C-0400-E243-9A4E-BCBE9A4A2610}"/>
                  </a:ext>
                </a:extLst>
              </p:cNvPr>
              <p:cNvSpPr txBox="1"/>
              <p:nvPr/>
            </p:nvSpPr>
            <p:spPr>
              <a:xfrm>
                <a:off x="744655" y="2458195"/>
                <a:ext cx="69083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e>
                      </m:d>
                    </m:oMath>
                  </m:oMathPara>
                </a14:m>
                <a:endParaRPr lang="en-US" sz="2400" dirty="0"/>
              </a:p>
            </p:txBody>
          </p:sp>
        </mc:Choice>
        <mc:Fallback xmlns="">
          <p:sp>
            <p:nvSpPr>
              <p:cNvPr id="83" name="TextBox 82">
                <a:extLst>
                  <a:ext uri="{FF2B5EF4-FFF2-40B4-BE49-F238E27FC236}">
                    <a16:creationId xmlns:a16="http://schemas.microsoft.com/office/drawing/2014/main" id="{D458CC2C-0400-E243-9A4E-BCBE9A4A2610}"/>
                  </a:ext>
                </a:extLst>
              </p:cNvPr>
              <p:cNvSpPr txBox="1">
                <a:spLocks noRot="1" noChangeAspect="1" noMove="1" noResize="1" noEditPoints="1" noAdjustHandles="1" noChangeArrowheads="1" noChangeShapeType="1" noTextEdit="1"/>
              </p:cNvSpPr>
              <p:nvPr/>
            </p:nvSpPr>
            <p:spPr>
              <a:xfrm>
                <a:off x="744655" y="2458195"/>
                <a:ext cx="690830" cy="461665"/>
              </a:xfrm>
              <a:prstGeom prst="rect">
                <a:avLst/>
              </a:prstGeom>
              <a:blipFill>
                <a:blip r:embed="rId5"/>
                <a:stretch>
                  <a:fillRect/>
                </a:stretch>
              </a:blipFill>
            </p:spPr>
            <p:txBody>
              <a:bodyPr/>
              <a:lstStyle/>
              <a:p>
                <a:r>
                  <a:rPr lang="en-US">
                    <a:noFill/>
                  </a:rPr>
                  <a:t> </a:t>
                </a:r>
              </a:p>
            </p:txBody>
          </p:sp>
        </mc:Fallback>
      </mc:AlternateContent>
      <p:pic>
        <p:nvPicPr>
          <p:cNvPr id="91" name="Picture 90">
            <a:extLst>
              <a:ext uri="{FF2B5EF4-FFF2-40B4-BE49-F238E27FC236}">
                <a16:creationId xmlns:a16="http://schemas.microsoft.com/office/drawing/2014/main" id="{9E375C2D-8B99-5A4F-9F9C-0588830445CE}"/>
              </a:ext>
            </a:extLst>
          </p:cNvPr>
          <p:cNvPicPr>
            <a:picLocks noChangeAspect="1"/>
          </p:cNvPicPr>
          <p:nvPr/>
        </p:nvPicPr>
        <p:blipFill>
          <a:blip r:embed="rId6"/>
          <a:stretch>
            <a:fillRect/>
          </a:stretch>
        </p:blipFill>
        <p:spPr>
          <a:xfrm>
            <a:off x="1400938" y="3958727"/>
            <a:ext cx="672990" cy="678946"/>
          </a:xfrm>
          <a:prstGeom prst="rect">
            <a:avLst/>
          </a:prstGeom>
        </p:spPr>
      </p:pic>
      <p:sp>
        <p:nvSpPr>
          <p:cNvPr id="96" name="Rectangle 95">
            <a:extLst>
              <a:ext uri="{FF2B5EF4-FFF2-40B4-BE49-F238E27FC236}">
                <a16:creationId xmlns:a16="http://schemas.microsoft.com/office/drawing/2014/main" id="{CF77ED36-1BAC-CF4C-A8A8-5283013A4B43}"/>
              </a:ext>
            </a:extLst>
          </p:cNvPr>
          <p:cNvSpPr/>
          <p:nvPr/>
        </p:nvSpPr>
        <p:spPr>
          <a:xfrm>
            <a:off x="1705566" y="4090593"/>
            <a:ext cx="166767" cy="2720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Arrow Connector 97">
            <a:extLst>
              <a:ext uri="{FF2B5EF4-FFF2-40B4-BE49-F238E27FC236}">
                <a16:creationId xmlns:a16="http://schemas.microsoft.com/office/drawing/2014/main" id="{85193FD1-E0E0-BC46-BA8D-104111DDEB27}"/>
              </a:ext>
            </a:extLst>
          </p:cNvPr>
          <p:cNvCxnSpPr>
            <a:cxnSpLocks/>
          </p:cNvCxnSpPr>
          <p:nvPr/>
        </p:nvCxnSpPr>
        <p:spPr>
          <a:xfrm flipH="1" flipV="1">
            <a:off x="1737433" y="4090593"/>
            <a:ext cx="0" cy="3021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FF6A5FA-1F69-7D48-8A14-F1E9C24FE805}"/>
              </a:ext>
            </a:extLst>
          </p:cNvPr>
          <p:cNvGrpSpPr/>
          <p:nvPr/>
        </p:nvGrpSpPr>
        <p:grpSpPr>
          <a:xfrm>
            <a:off x="8142756" y="1169092"/>
            <a:ext cx="3478450" cy="5524402"/>
            <a:chOff x="8142756" y="1169092"/>
            <a:chExt cx="3478450" cy="5524402"/>
          </a:xfrm>
        </p:grpSpPr>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3B4D3892-F2CA-D24F-8AA0-EB2865593951}"/>
                    </a:ext>
                  </a:extLst>
                </p:cNvPr>
                <p:cNvSpPr/>
                <p:nvPr/>
              </p:nvSpPr>
              <p:spPr>
                <a:xfrm>
                  <a:off x="10095300" y="1810658"/>
                  <a:ext cx="1375505"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57" name="Rectangle 56">
                  <a:extLst>
                    <a:ext uri="{FF2B5EF4-FFF2-40B4-BE49-F238E27FC236}">
                      <a16:creationId xmlns:a16="http://schemas.microsoft.com/office/drawing/2014/main" id="{3B4D3892-F2CA-D24F-8AA0-EB2865593951}"/>
                    </a:ext>
                  </a:extLst>
                </p:cNvPr>
                <p:cNvSpPr>
                  <a:spLocks noRot="1" noChangeAspect="1" noMove="1" noResize="1" noEditPoints="1" noAdjustHandles="1" noChangeArrowheads="1" noChangeShapeType="1" noTextEdit="1"/>
                </p:cNvSpPr>
                <p:nvPr/>
              </p:nvSpPr>
              <p:spPr>
                <a:xfrm>
                  <a:off x="10095300" y="1810658"/>
                  <a:ext cx="1375505" cy="876202"/>
                </a:xfrm>
                <a:prstGeom prst="rect">
                  <a:avLst/>
                </a:prstGeom>
                <a:blipFill>
                  <a:blip r:embed="rId7"/>
                  <a:stretch>
                    <a:fillRect b="-1429"/>
                  </a:stretch>
                </a:blipFill>
              </p:spPr>
              <p:txBody>
                <a:bodyPr/>
                <a:lstStyle/>
                <a:p>
                  <a:r>
                    <a:rPr lang="en-US">
                      <a:noFill/>
                    </a:rPr>
                    <a:t> </a:t>
                  </a:r>
                </a:p>
              </p:txBody>
            </p:sp>
          </mc:Fallback>
        </mc:AlternateContent>
        <p:sp>
          <p:nvSpPr>
            <p:cNvPr id="58" name="Oval 57">
              <a:extLst>
                <a:ext uri="{FF2B5EF4-FFF2-40B4-BE49-F238E27FC236}">
                  <a16:creationId xmlns:a16="http://schemas.microsoft.com/office/drawing/2014/main" id="{15CD6A6B-F2B7-9640-BFEB-4A0AD0615681}"/>
                </a:ext>
              </a:extLst>
            </p:cNvPr>
            <p:cNvSpPr/>
            <p:nvPr/>
          </p:nvSpPr>
          <p:spPr>
            <a:xfrm>
              <a:off x="9454091" y="1169092"/>
              <a:ext cx="1927600" cy="1941392"/>
            </a:xfrm>
            <a:prstGeom prst="ellipse">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2A02B7F6-C1A8-2C40-97A4-18362F2406F5}"/>
                </a:ext>
              </a:extLst>
            </p:cNvPr>
            <p:cNvPicPr>
              <a:picLocks noChangeAspect="1"/>
            </p:cNvPicPr>
            <p:nvPr/>
          </p:nvPicPr>
          <p:blipFill>
            <a:blip r:embed="rId4">
              <a:extLst>
                <a:ext uri="{BEBA8EAE-BF5A-486C-A8C5-ECC9F3942E4B}">
                  <a14:imgProps xmlns:a14="http://schemas.microsoft.com/office/drawing/2010/main">
                    <a14:imgLayer>
                      <a14:imgEffect>
                        <a14:artisticLineDrawing/>
                      </a14:imgEffect>
                    </a14:imgLayer>
                  </a14:imgProps>
                </a:ext>
              </a:extLst>
            </a:blip>
            <a:stretch>
              <a:fillRect/>
            </a:stretch>
          </p:blipFill>
          <p:spPr>
            <a:xfrm>
              <a:off x="9445785" y="1169092"/>
              <a:ext cx="1941392" cy="1941392"/>
            </a:xfrm>
            <a:prstGeom prst="rect">
              <a:avLst/>
            </a:prstGeom>
          </p:spPr>
        </p:pic>
        <p:sp>
          <p:nvSpPr>
            <p:cNvPr id="60" name="Oval 59">
              <a:extLst>
                <a:ext uri="{FF2B5EF4-FFF2-40B4-BE49-F238E27FC236}">
                  <a16:creationId xmlns:a16="http://schemas.microsoft.com/office/drawing/2014/main" id="{D192D994-0249-AD49-A159-A04206642075}"/>
                </a:ext>
              </a:extLst>
            </p:cNvPr>
            <p:cNvSpPr/>
            <p:nvPr/>
          </p:nvSpPr>
          <p:spPr>
            <a:xfrm>
              <a:off x="9454091" y="1711130"/>
              <a:ext cx="1927600" cy="826663"/>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16221860-EB85-134F-BD94-A8F539D4A744}"/>
                </a:ext>
              </a:extLst>
            </p:cNvPr>
            <p:cNvGrpSpPr/>
            <p:nvPr/>
          </p:nvGrpSpPr>
          <p:grpSpPr>
            <a:xfrm rot="8764515">
              <a:off x="10230560" y="2237740"/>
              <a:ext cx="212257" cy="569117"/>
              <a:chOff x="6425408" y="2594280"/>
              <a:chExt cx="407643" cy="1116000"/>
            </a:xfrm>
          </p:grpSpPr>
          <p:sp>
            <p:nvSpPr>
              <p:cNvPr id="62" name="Freeform 61">
                <a:extLst>
                  <a:ext uri="{FF2B5EF4-FFF2-40B4-BE49-F238E27FC236}">
                    <a16:creationId xmlns:a16="http://schemas.microsoft.com/office/drawing/2014/main" id="{4A4E3711-6B57-D042-A1BE-F8B4E115798F}"/>
                  </a:ext>
                </a:extLst>
              </p:cNvPr>
              <p:cNvSpPr/>
              <p:nvPr/>
            </p:nvSpPr>
            <p:spPr>
              <a:xfrm rot="18437658">
                <a:off x="5881808" y="3137880"/>
                <a:ext cx="1116000" cy="28800"/>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8572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a:extLst>
                  <a:ext uri="{FF2B5EF4-FFF2-40B4-BE49-F238E27FC236}">
                    <a16:creationId xmlns:a16="http://schemas.microsoft.com/office/drawing/2014/main" id="{F9A4626D-2814-D042-B239-AE075E5BDC1D}"/>
                  </a:ext>
                </a:extLst>
              </p:cNvPr>
              <p:cNvSpPr/>
              <p:nvPr/>
            </p:nvSpPr>
            <p:spPr>
              <a:xfrm rot="16656266">
                <a:off x="6581897" y="2630205"/>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54B2B069-4CD8-AC4A-B95F-D2061401E0BC}"/>
                  </a:ext>
                </a:extLst>
              </p:cNvPr>
              <p:cNvSpPr/>
              <p:nvPr/>
            </p:nvSpPr>
            <p:spPr>
              <a:xfrm rot="20039594" flipV="1">
                <a:off x="6693768" y="2707649"/>
                <a:ext cx="139283" cy="224777"/>
              </a:xfrm>
              <a:custGeom>
                <a:avLst/>
                <a:gdLst>
                  <a:gd name="connsiteX0" fmla="*/ 193675 w 193675"/>
                  <a:gd name="connsiteY0" fmla="*/ 98425 h 98425"/>
                  <a:gd name="connsiteX1" fmla="*/ 0 w 193675"/>
                  <a:gd name="connsiteY1" fmla="*/ 0 h 98425"/>
                </a:gdLst>
                <a:ahLst/>
                <a:cxnLst>
                  <a:cxn ang="0">
                    <a:pos x="connsiteX0" y="connsiteY0"/>
                  </a:cxn>
                  <a:cxn ang="0">
                    <a:pos x="connsiteX1" y="connsiteY1"/>
                  </a:cxn>
                </a:cxnLst>
                <a:rect l="l" t="t" r="r" b="b"/>
                <a:pathLst>
                  <a:path w="193675" h="98425">
                    <a:moveTo>
                      <a:pt x="193675" y="98425"/>
                    </a:moveTo>
                    <a:lnTo>
                      <a:pt x="0" y="0"/>
                    </a:lnTo>
                  </a:path>
                </a:pathLst>
              </a:custGeom>
              <a:noFill/>
              <a:ln w="63500"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Freeform 65">
              <a:extLst>
                <a:ext uri="{FF2B5EF4-FFF2-40B4-BE49-F238E27FC236}">
                  <a16:creationId xmlns:a16="http://schemas.microsoft.com/office/drawing/2014/main" id="{518FE254-EA58-904D-861E-CD30AB653758}"/>
                </a:ext>
              </a:extLst>
            </p:cNvPr>
            <p:cNvSpPr/>
            <p:nvPr/>
          </p:nvSpPr>
          <p:spPr>
            <a:xfrm>
              <a:off x="9298995" y="6132984"/>
              <a:ext cx="2322211" cy="5508"/>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325">
                  <a:moveTo>
                    <a:pt x="0" y="324"/>
                  </a:moveTo>
                  <a:cubicBezTo>
                    <a:pt x="730" y="324"/>
                    <a:pt x="2112" y="-403"/>
                    <a:pt x="2189" y="324"/>
                  </a:cubicBezTo>
                  <a:cubicBezTo>
                    <a:pt x="3252" y="10325"/>
                    <a:pt x="3544" y="324"/>
                    <a:pt x="4221" y="324"/>
                  </a:cubicBezTo>
                  <a:lnTo>
                    <a:pt x="6270" y="10324"/>
                  </a:lnTo>
                  <a:lnTo>
                    <a:pt x="9194" y="324"/>
                  </a:lnTo>
                  <a:lnTo>
                    <a:pt x="10000" y="3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Freeform 66">
              <a:extLst>
                <a:ext uri="{FF2B5EF4-FFF2-40B4-BE49-F238E27FC236}">
                  <a16:creationId xmlns:a16="http://schemas.microsoft.com/office/drawing/2014/main" id="{A661DD22-93B6-4C47-855F-2B8BF95AA810}"/>
                </a:ext>
              </a:extLst>
            </p:cNvPr>
            <p:cNvSpPr/>
            <p:nvPr/>
          </p:nvSpPr>
          <p:spPr>
            <a:xfrm rot="16200000">
              <a:off x="7953890" y="4689903"/>
              <a:ext cx="2880000" cy="6341"/>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724 h 12076"/>
                <a:gd name="connsiteX1" fmla="*/ 2189 w 10000"/>
                <a:gd name="connsiteY1" fmla="*/ 724 h 12076"/>
                <a:gd name="connsiteX2" fmla="*/ 4221 w 10000"/>
                <a:gd name="connsiteY2" fmla="*/ 724 h 12076"/>
                <a:gd name="connsiteX3" fmla="*/ 6270 w 10000"/>
                <a:gd name="connsiteY3" fmla="*/ 10724 h 12076"/>
                <a:gd name="connsiteX4" fmla="*/ 9194 w 10000"/>
                <a:gd name="connsiteY4" fmla="*/ 724 h 12076"/>
                <a:gd name="connsiteX5" fmla="*/ 10000 w 10000"/>
                <a:gd name="connsiteY5" fmla="*/ 724 h 1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2076">
                  <a:moveTo>
                    <a:pt x="0" y="724"/>
                  </a:moveTo>
                  <a:cubicBezTo>
                    <a:pt x="730" y="724"/>
                    <a:pt x="2137" y="-5"/>
                    <a:pt x="2189" y="724"/>
                  </a:cubicBezTo>
                  <a:cubicBezTo>
                    <a:pt x="3619" y="20725"/>
                    <a:pt x="3444" y="10090"/>
                    <a:pt x="4221" y="724"/>
                  </a:cubicBezTo>
                  <a:cubicBezTo>
                    <a:pt x="4512" y="-2779"/>
                    <a:pt x="5587" y="7391"/>
                    <a:pt x="6270" y="10724"/>
                  </a:cubicBezTo>
                  <a:lnTo>
                    <a:pt x="9194" y="724"/>
                  </a:lnTo>
                  <a:lnTo>
                    <a:pt x="10000" y="7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Freeform 67">
              <a:extLst>
                <a:ext uri="{FF2B5EF4-FFF2-40B4-BE49-F238E27FC236}">
                  <a16:creationId xmlns:a16="http://schemas.microsoft.com/office/drawing/2014/main" id="{F6DAEB2C-2892-B743-AB3A-9EDBD8DB6322}"/>
                </a:ext>
              </a:extLst>
            </p:cNvPr>
            <p:cNvSpPr/>
            <p:nvPr/>
          </p:nvSpPr>
          <p:spPr>
            <a:xfrm>
              <a:off x="9544664" y="6067323"/>
              <a:ext cx="595439" cy="84955"/>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Freeform 68">
              <a:extLst>
                <a:ext uri="{FF2B5EF4-FFF2-40B4-BE49-F238E27FC236}">
                  <a16:creationId xmlns:a16="http://schemas.microsoft.com/office/drawing/2014/main" id="{E7EC62D0-E227-4040-BBEE-B5E29301B4E7}"/>
                </a:ext>
              </a:extLst>
            </p:cNvPr>
            <p:cNvSpPr/>
            <p:nvPr/>
          </p:nvSpPr>
          <p:spPr>
            <a:xfrm>
              <a:off x="10619304" y="3623517"/>
              <a:ext cx="595439" cy="252000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70" name="Straight Connector 69">
              <a:extLst>
                <a:ext uri="{FF2B5EF4-FFF2-40B4-BE49-F238E27FC236}">
                  <a16:creationId xmlns:a16="http://schemas.microsoft.com/office/drawing/2014/main" id="{0EFF59DE-E833-2047-A240-DC5F9C8CE1EE}"/>
                </a:ext>
              </a:extLst>
            </p:cNvPr>
            <p:cNvCxnSpPr>
              <a:cxnSpLocks/>
            </p:cNvCxnSpPr>
            <p:nvPr/>
          </p:nvCxnSpPr>
          <p:spPr>
            <a:xfrm>
              <a:off x="9286518" y="3253073"/>
              <a:ext cx="208402" cy="0"/>
            </a:xfrm>
            <a:prstGeom prst="line">
              <a:avLst/>
            </a:prstGeom>
            <a:ln w="127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34E3D6AE-BC67-434F-AB73-FC1D25AC498E}"/>
                </a:ext>
              </a:extLst>
            </p:cNvPr>
            <p:cNvSpPr txBox="1"/>
            <p:nvPr/>
          </p:nvSpPr>
          <p:spPr>
            <a:xfrm>
              <a:off x="8959029" y="3046559"/>
              <a:ext cx="340158" cy="461665"/>
            </a:xfrm>
            <a:prstGeom prst="rect">
              <a:avLst/>
            </a:prstGeom>
            <a:noFill/>
          </p:spPr>
          <p:txBody>
            <a:bodyPr wrap="none" rtlCol="0">
              <a:spAutoFit/>
            </a:bodyPr>
            <a:lstStyle/>
            <a:p>
              <a:r>
                <a:rPr lang="en-US" sz="2400" dirty="0"/>
                <a:t>1</a:t>
              </a:r>
            </a:p>
          </p:txBody>
        </p:sp>
        <p:sp>
          <p:nvSpPr>
            <p:cNvPr id="72" name="TextBox 71">
              <a:extLst>
                <a:ext uri="{FF2B5EF4-FFF2-40B4-BE49-F238E27FC236}">
                  <a16:creationId xmlns:a16="http://schemas.microsoft.com/office/drawing/2014/main" id="{38A9169D-2D6E-7542-9A57-4E53D22B3C0D}"/>
                </a:ext>
              </a:extLst>
            </p:cNvPr>
            <p:cNvSpPr txBox="1"/>
            <p:nvPr/>
          </p:nvSpPr>
          <p:spPr>
            <a:xfrm>
              <a:off x="9663527" y="6231829"/>
              <a:ext cx="340158" cy="461665"/>
            </a:xfrm>
            <a:prstGeom prst="rect">
              <a:avLst/>
            </a:prstGeom>
            <a:noFill/>
          </p:spPr>
          <p:txBody>
            <a:bodyPr wrap="none" rtlCol="0">
              <a:spAutoFit/>
            </a:bodyPr>
            <a:lstStyle/>
            <a:p>
              <a:r>
                <a:rPr lang="en-US" sz="2400" dirty="0"/>
                <a:t>0</a:t>
              </a:r>
            </a:p>
          </p:txBody>
        </p:sp>
        <p:sp>
          <p:nvSpPr>
            <p:cNvPr id="74" name="TextBox 73">
              <a:extLst>
                <a:ext uri="{FF2B5EF4-FFF2-40B4-BE49-F238E27FC236}">
                  <a16:creationId xmlns:a16="http://schemas.microsoft.com/office/drawing/2014/main" id="{4FE1BAC7-DFB9-9744-AD2A-68DF49A68AE8}"/>
                </a:ext>
              </a:extLst>
            </p:cNvPr>
            <p:cNvSpPr txBox="1"/>
            <p:nvPr/>
          </p:nvSpPr>
          <p:spPr>
            <a:xfrm>
              <a:off x="10736034" y="6231829"/>
              <a:ext cx="340158" cy="461665"/>
            </a:xfrm>
            <a:prstGeom prst="rect">
              <a:avLst/>
            </a:prstGeom>
            <a:noFill/>
          </p:spPr>
          <p:txBody>
            <a:bodyPr wrap="none" rtlCol="0">
              <a:spAutoFit/>
            </a:bodyPr>
            <a:lstStyle/>
            <a:p>
              <a:r>
                <a:rPr lang="en-US" sz="2400" dirty="0"/>
                <a:t>1</a:t>
              </a:r>
            </a:p>
          </p:txBody>
        </p:sp>
        <p:sp>
          <p:nvSpPr>
            <p:cNvPr id="75" name="TextBox 74">
              <a:extLst>
                <a:ext uri="{FF2B5EF4-FFF2-40B4-BE49-F238E27FC236}">
                  <a16:creationId xmlns:a16="http://schemas.microsoft.com/office/drawing/2014/main" id="{75EDBDFE-6D75-3449-80A9-E31B90F9B51F}"/>
                </a:ext>
              </a:extLst>
            </p:cNvPr>
            <p:cNvSpPr txBox="1"/>
            <p:nvPr/>
          </p:nvSpPr>
          <p:spPr>
            <a:xfrm>
              <a:off x="8914033" y="5953720"/>
              <a:ext cx="340158" cy="461665"/>
            </a:xfrm>
            <a:prstGeom prst="rect">
              <a:avLst/>
            </a:prstGeom>
            <a:noFill/>
          </p:spPr>
          <p:txBody>
            <a:bodyPr wrap="none" rtlCol="0">
              <a:spAutoFit/>
            </a:bodyPr>
            <a:lstStyle/>
            <a:p>
              <a:r>
                <a:rPr lang="en-US" sz="2400" dirty="0"/>
                <a:t>0</a:t>
              </a:r>
            </a:p>
          </p:txBody>
        </p:sp>
        <p:sp>
          <p:nvSpPr>
            <p:cNvPr id="81" name="Right Arrow 80">
              <a:extLst>
                <a:ext uri="{FF2B5EF4-FFF2-40B4-BE49-F238E27FC236}">
                  <a16:creationId xmlns:a16="http://schemas.microsoft.com/office/drawing/2014/main" id="{F9D6F951-F3F6-E148-BC8C-75E310333548}"/>
                </a:ext>
              </a:extLst>
            </p:cNvPr>
            <p:cNvSpPr/>
            <p:nvPr/>
          </p:nvSpPr>
          <p:spPr>
            <a:xfrm>
              <a:off x="8142756" y="3771352"/>
              <a:ext cx="910883" cy="698744"/>
            </a:xfrm>
            <a:prstGeom prst="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0CDFF74-32D5-084E-B484-83CCE788551A}"/>
                    </a:ext>
                  </a:extLst>
                </p:cNvPr>
                <p:cNvSpPr txBox="1"/>
                <p:nvPr/>
              </p:nvSpPr>
              <p:spPr>
                <a:xfrm>
                  <a:off x="10134215" y="3136168"/>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84" name="TextBox 83">
                  <a:extLst>
                    <a:ext uri="{FF2B5EF4-FFF2-40B4-BE49-F238E27FC236}">
                      <a16:creationId xmlns:a16="http://schemas.microsoft.com/office/drawing/2014/main" id="{60CDFF74-32D5-084E-B484-83CCE788551A}"/>
                    </a:ext>
                  </a:extLst>
                </p:cNvPr>
                <p:cNvSpPr txBox="1">
                  <a:spLocks noRot="1" noChangeAspect="1" noMove="1" noResize="1" noEditPoints="1" noAdjustHandles="1" noChangeArrowheads="1" noChangeShapeType="1" noTextEdit="1"/>
                </p:cNvSpPr>
                <p:nvPr/>
              </p:nvSpPr>
              <p:spPr>
                <a:xfrm>
                  <a:off x="10134215" y="3136168"/>
                  <a:ext cx="423514" cy="461665"/>
                </a:xfrm>
                <a:prstGeom prst="rect">
                  <a:avLst/>
                </a:prstGeom>
                <a:blipFill>
                  <a:blip r:embed="rId8"/>
                  <a:stretch>
                    <a:fillRect/>
                  </a:stretch>
                </a:blipFill>
              </p:spPr>
              <p:txBody>
                <a:bodyPr/>
                <a:lstStyle/>
                <a:p>
                  <a:r>
                    <a:rPr lang="en-US">
                      <a:noFill/>
                    </a:rPr>
                    <a:t> </a:t>
                  </a:r>
                </a:p>
              </p:txBody>
            </p:sp>
          </mc:Fallback>
        </mc:AlternateContent>
        <p:pic>
          <p:nvPicPr>
            <p:cNvPr id="95" name="Picture 94">
              <a:extLst>
                <a:ext uri="{FF2B5EF4-FFF2-40B4-BE49-F238E27FC236}">
                  <a16:creationId xmlns:a16="http://schemas.microsoft.com/office/drawing/2014/main" id="{2D04F4AF-1FF8-0649-A86E-1BC503F6B211}"/>
                </a:ext>
              </a:extLst>
            </p:cNvPr>
            <p:cNvPicPr>
              <a:picLocks noChangeAspect="1"/>
            </p:cNvPicPr>
            <p:nvPr/>
          </p:nvPicPr>
          <p:blipFill>
            <a:blip r:embed="rId6"/>
            <a:stretch>
              <a:fillRect/>
            </a:stretch>
          </p:blipFill>
          <p:spPr>
            <a:xfrm>
              <a:off x="9706714" y="4188663"/>
              <a:ext cx="672990" cy="678946"/>
            </a:xfrm>
            <a:prstGeom prst="rect">
              <a:avLst/>
            </a:prstGeom>
          </p:spPr>
        </p:pic>
        <p:sp>
          <p:nvSpPr>
            <p:cNvPr id="100" name="Rectangle 99">
              <a:extLst>
                <a:ext uri="{FF2B5EF4-FFF2-40B4-BE49-F238E27FC236}">
                  <a16:creationId xmlns:a16="http://schemas.microsoft.com/office/drawing/2014/main" id="{669BE746-65B8-1748-A153-2F07C8F948BD}"/>
                </a:ext>
              </a:extLst>
            </p:cNvPr>
            <p:cNvSpPr/>
            <p:nvPr/>
          </p:nvSpPr>
          <p:spPr>
            <a:xfrm>
              <a:off x="10011916" y="4334072"/>
              <a:ext cx="166767" cy="2720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838FAE35-4728-0E4C-A39E-4041BCB803A7}"/>
                </a:ext>
              </a:extLst>
            </p:cNvPr>
            <p:cNvCxnSpPr>
              <a:cxnSpLocks/>
            </p:cNvCxnSpPr>
            <p:nvPr/>
          </p:nvCxnSpPr>
          <p:spPr>
            <a:xfrm flipV="1">
              <a:off x="10035745" y="4541519"/>
              <a:ext cx="228395" cy="615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018F733A-62D1-CF4B-BD8E-D4D5D9F3ED3C}"/>
              </a:ext>
            </a:extLst>
          </p:cNvPr>
          <p:cNvGrpSpPr/>
          <p:nvPr/>
        </p:nvGrpSpPr>
        <p:grpSpPr>
          <a:xfrm>
            <a:off x="2986536" y="1350792"/>
            <a:ext cx="4988546" cy="5142083"/>
            <a:chOff x="2986536" y="1350792"/>
            <a:chExt cx="4988546" cy="5142083"/>
          </a:xfrm>
        </p:grpSpPr>
        <p:sp>
          <p:nvSpPr>
            <p:cNvPr id="78" name="Rounded Rectangle 77">
              <a:extLst>
                <a:ext uri="{FF2B5EF4-FFF2-40B4-BE49-F238E27FC236}">
                  <a16:creationId xmlns:a16="http://schemas.microsoft.com/office/drawing/2014/main" id="{2586F56F-0370-FC4C-81DB-4860B36F754A}"/>
                </a:ext>
              </a:extLst>
            </p:cNvPr>
            <p:cNvSpPr/>
            <p:nvPr/>
          </p:nvSpPr>
          <p:spPr>
            <a:xfrm>
              <a:off x="3989867" y="1350792"/>
              <a:ext cx="3985215" cy="5142083"/>
            </a:xfrm>
            <a:prstGeom prst="roundRect">
              <a:avLst/>
            </a:prstGeom>
            <a:solidFill>
              <a:schemeClr val="bg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9DF298DF-7249-6240-A1E6-E7B3E1B8AC25}"/>
                </a:ext>
              </a:extLst>
            </p:cNvPr>
            <p:cNvSpPr txBox="1"/>
            <p:nvPr/>
          </p:nvSpPr>
          <p:spPr>
            <a:xfrm>
              <a:off x="4513604" y="5605475"/>
              <a:ext cx="3009798" cy="523220"/>
            </a:xfrm>
            <a:prstGeom prst="rect">
              <a:avLst/>
            </a:prstGeom>
            <a:noFill/>
          </p:spPr>
          <p:txBody>
            <a:bodyPr wrap="none" rtlCol="0">
              <a:spAutoFit/>
            </a:bodyPr>
            <a:lstStyle/>
            <a:p>
              <a:r>
                <a:rPr lang="en-US" sz="2800" dirty="0"/>
                <a:t>quantum algorithm</a:t>
              </a:r>
            </a:p>
          </p:txBody>
        </p:sp>
        <p:sp>
          <p:nvSpPr>
            <p:cNvPr id="80" name="Right Arrow 79">
              <a:extLst>
                <a:ext uri="{FF2B5EF4-FFF2-40B4-BE49-F238E27FC236}">
                  <a16:creationId xmlns:a16="http://schemas.microsoft.com/office/drawing/2014/main" id="{ADE6C2A3-96CD-C541-8188-F36E02B8EB50}"/>
                </a:ext>
              </a:extLst>
            </p:cNvPr>
            <p:cNvSpPr/>
            <p:nvPr/>
          </p:nvSpPr>
          <p:spPr>
            <a:xfrm>
              <a:off x="2986536" y="3727271"/>
              <a:ext cx="910883" cy="698744"/>
            </a:xfrm>
            <a:prstGeom prst="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3E33710C-A9DA-B64D-83AD-CA56025C16A4}"/>
                    </a:ext>
                  </a:extLst>
                </p:cNvPr>
                <p:cNvSpPr/>
                <p:nvPr/>
              </p:nvSpPr>
              <p:spPr>
                <a:xfrm>
                  <a:off x="5656646" y="3557603"/>
                  <a:ext cx="1375505"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53" name="Rectangle 52">
                  <a:extLst>
                    <a:ext uri="{FF2B5EF4-FFF2-40B4-BE49-F238E27FC236}">
                      <a16:creationId xmlns:a16="http://schemas.microsoft.com/office/drawing/2014/main" id="{3E33710C-A9DA-B64D-83AD-CA56025C16A4}"/>
                    </a:ext>
                  </a:extLst>
                </p:cNvPr>
                <p:cNvSpPr>
                  <a:spLocks noRot="1" noChangeAspect="1" noMove="1" noResize="1" noEditPoints="1" noAdjustHandles="1" noChangeArrowheads="1" noChangeShapeType="1" noTextEdit="1"/>
                </p:cNvSpPr>
                <p:nvPr/>
              </p:nvSpPr>
              <p:spPr>
                <a:xfrm>
                  <a:off x="5656646" y="3557603"/>
                  <a:ext cx="1375505" cy="876202"/>
                </a:xfrm>
                <a:prstGeom prst="rect">
                  <a:avLst/>
                </a:prstGeom>
                <a:blipFill>
                  <a:blip r:embed="rId9"/>
                  <a:stretch>
                    <a:fillRect b="-1429"/>
                  </a:stretch>
                </a:blipFill>
              </p:spPr>
              <p:txBody>
                <a:bodyPr/>
                <a:lstStyle/>
                <a:p>
                  <a:r>
                    <a:rPr lang="en-US">
                      <a:noFill/>
                    </a:rPr>
                    <a:t> </a:t>
                  </a:r>
                </a:p>
              </p:txBody>
            </p:sp>
          </mc:Fallback>
        </mc:AlternateContent>
        <p:sp>
          <p:nvSpPr>
            <p:cNvPr id="54" name="Oval 53">
              <a:extLst>
                <a:ext uri="{FF2B5EF4-FFF2-40B4-BE49-F238E27FC236}">
                  <a16:creationId xmlns:a16="http://schemas.microsoft.com/office/drawing/2014/main" id="{82B04F98-9BEF-D34A-B4B7-66923292F956}"/>
                </a:ext>
              </a:extLst>
            </p:cNvPr>
            <p:cNvSpPr/>
            <p:nvPr/>
          </p:nvSpPr>
          <p:spPr>
            <a:xfrm>
              <a:off x="5015437" y="2916037"/>
              <a:ext cx="1927600" cy="1941392"/>
            </a:xfrm>
            <a:prstGeom prst="ellipse">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DAE83F8-72BC-654B-BDF3-82C3013E6FBE}"/>
                </a:ext>
              </a:extLst>
            </p:cNvPr>
            <p:cNvGrpSpPr/>
            <p:nvPr/>
          </p:nvGrpSpPr>
          <p:grpSpPr>
            <a:xfrm>
              <a:off x="5007131" y="2916037"/>
              <a:ext cx="1941392" cy="1969597"/>
              <a:chOff x="5007131" y="2916037"/>
              <a:chExt cx="1941392" cy="1969597"/>
            </a:xfrm>
            <a:effectLst>
              <a:glow rad="304800">
                <a:schemeClr val="accent1">
                  <a:alpha val="20000"/>
                </a:schemeClr>
              </a:glow>
            </a:effectLst>
            <a:scene3d>
              <a:camera prst="orthographicFront"/>
              <a:lightRig rig="flood" dir="t"/>
            </a:scene3d>
          </p:grpSpPr>
          <p:pic>
            <p:nvPicPr>
              <p:cNvPr id="55" name="Picture 54">
                <a:extLst>
                  <a:ext uri="{FF2B5EF4-FFF2-40B4-BE49-F238E27FC236}">
                    <a16:creationId xmlns:a16="http://schemas.microsoft.com/office/drawing/2014/main" id="{BE1A3622-925B-2A4F-A3BC-4D19DC9EAE1C}"/>
                  </a:ext>
                </a:extLst>
              </p:cNvPr>
              <p:cNvPicPr>
                <a:picLocks noChangeAspect="1"/>
              </p:cNvPicPr>
              <p:nvPr/>
            </p:nvPicPr>
            <p:blipFill>
              <a:blip r:embed="rId10">
                <a:extLst>
                  <a:ext uri="{BEBA8EAE-BF5A-486C-A8C5-ECC9F3942E4B}">
                    <a14:imgProps xmlns:a14="http://schemas.microsoft.com/office/drawing/2010/main">
                      <a14:imgLayer>
                        <a14:imgEffect>
                          <a14:artisticGlowEdges/>
                        </a14:imgEffect>
                      </a14:imgLayer>
                    </a14:imgProps>
                  </a:ext>
                </a:extLst>
              </a:blip>
              <a:stretch>
                <a:fillRect/>
              </a:stretch>
            </p:blipFill>
            <p:spPr>
              <a:xfrm>
                <a:off x="5007131" y="2916037"/>
                <a:ext cx="1941392" cy="1941392"/>
              </a:xfrm>
              <a:prstGeom prst="rect">
                <a:avLst/>
              </a:prstGeom>
              <a:sp3d prstMaterial="matte"/>
            </p:spPr>
          </p:pic>
          <p:sp>
            <p:nvSpPr>
              <p:cNvPr id="56" name="Oval 55">
                <a:extLst>
                  <a:ext uri="{FF2B5EF4-FFF2-40B4-BE49-F238E27FC236}">
                    <a16:creationId xmlns:a16="http://schemas.microsoft.com/office/drawing/2014/main" id="{9C968DC8-4F3F-4B47-8C5D-312D0C726DFA}"/>
                  </a:ext>
                </a:extLst>
              </p:cNvPr>
              <p:cNvSpPr/>
              <p:nvPr/>
            </p:nvSpPr>
            <p:spPr>
              <a:xfrm>
                <a:off x="5015437" y="3458075"/>
                <a:ext cx="1927600" cy="826663"/>
              </a:xfrm>
              <a:prstGeom prst="ellipse">
                <a:avLst/>
              </a:prstGeom>
              <a:noFill/>
              <a:ln w="12700">
                <a:solidFill>
                  <a:schemeClr val="tx1"/>
                </a:solidFill>
                <a:prstDash val="dash"/>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B727ABF0-9A10-654F-8A59-18452881D7F8}"/>
                  </a:ext>
                </a:extLst>
              </p:cNvPr>
              <p:cNvSpPr/>
              <p:nvPr/>
            </p:nvSpPr>
            <p:spPr>
              <a:xfrm rot="5400000">
                <a:off x="4996173" y="3508502"/>
                <a:ext cx="1927600" cy="826663"/>
              </a:xfrm>
              <a:prstGeom prst="ellipse">
                <a:avLst/>
              </a:prstGeom>
              <a:noFill/>
              <a:ln w="12700">
                <a:solidFill>
                  <a:schemeClr val="tx1"/>
                </a:solidFill>
                <a:prstDash val="dash"/>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70928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94C1BC07-8173-6A4E-92F7-2A17FCCFED1F}"/>
              </a:ext>
            </a:extLst>
          </p:cNvPr>
          <p:cNvSpPr/>
          <p:nvPr/>
        </p:nvSpPr>
        <p:spPr>
          <a:xfrm>
            <a:off x="4510724" y="2639188"/>
            <a:ext cx="3526892" cy="1372381"/>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AEB2D7A3-C251-3F43-A0DC-8FAFAF18B46D}"/>
              </a:ext>
            </a:extLst>
          </p:cNvPr>
          <p:cNvSpPr>
            <a:spLocks noGrp="1"/>
          </p:cNvSpPr>
          <p:nvPr>
            <p:ph type="sldNum" sz="quarter" idx="12"/>
          </p:nvPr>
        </p:nvSpPr>
        <p:spPr/>
        <p:txBody>
          <a:bodyPr/>
          <a:lstStyle/>
          <a:p>
            <a:fld id="{591A223C-FA10-BC46-A853-03BA373D023C}" type="slidenum">
              <a:rPr lang="en-US" smtClean="0"/>
              <a:t>47</a:t>
            </a:fld>
            <a:endParaRPr lang="en-US"/>
          </a:p>
        </p:txBody>
      </p:sp>
      <p:sp>
        <p:nvSpPr>
          <p:cNvPr id="3" name="Title 2">
            <a:extLst>
              <a:ext uri="{FF2B5EF4-FFF2-40B4-BE49-F238E27FC236}">
                <a16:creationId xmlns:a16="http://schemas.microsoft.com/office/drawing/2014/main" id="{32DA4FEA-7E7F-1A4D-9E25-6E592151F401}"/>
              </a:ext>
            </a:extLst>
          </p:cNvPr>
          <p:cNvSpPr>
            <a:spLocks noGrp="1"/>
          </p:cNvSpPr>
          <p:nvPr>
            <p:ph type="title"/>
          </p:nvPr>
        </p:nvSpPr>
        <p:spPr>
          <a:xfrm>
            <a:off x="0" y="0"/>
            <a:ext cx="12192000" cy="928688"/>
          </a:xfrm>
        </p:spPr>
        <p:txBody>
          <a:bodyPr/>
          <a:lstStyle/>
          <a:p>
            <a:r>
              <a:rPr lang="en-ZA" dirty="0"/>
              <a:t>Physical Implementation of Qubit Measurement</a:t>
            </a:r>
            <a:endParaRPr lang="en-US" dirty="0"/>
          </a:p>
        </p:txBody>
      </p:sp>
      <p:pic>
        <p:nvPicPr>
          <p:cNvPr id="54" name="Picture 53">
            <a:extLst>
              <a:ext uri="{FF2B5EF4-FFF2-40B4-BE49-F238E27FC236}">
                <a16:creationId xmlns:a16="http://schemas.microsoft.com/office/drawing/2014/main" id="{82ADAA83-D736-A445-AF22-1CA6871062F2}"/>
              </a:ext>
            </a:extLst>
          </p:cNvPr>
          <p:cNvPicPr>
            <a:picLocks noChangeAspect="1"/>
          </p:cNvPicPr>
          <p:nvPr/>
        </p:nvPicPr>
        <p:blipFill>
          <a:blip r:embed="rId3"/>
          <a:stretch>
            <a:fillRect/>
          </a:stretch>
        </p:blipFill>
        <p:spPr>
          <a:xfrm>
            <a:off x="2150571" y="2649369"/>
            <a:ext cx="1369660" cy="1381781"/>
          </a:xfrm>
          <a:prstGeom prst="rect">
            <a:avLst/>
          </a:prstGeom>
        </p:spPr>
      </p:pic>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B854AB45-0650-C048-9996-1A4CA2970276}"/>
                  </a:ext>
                </a:extLst>
              </p:cNvPr>
              <p:cNvSpPr/>
              <p:nvPr/>
            </p:nvSpPr>
            <p:spPr>
              <a:xfrm>
                <a:off x="4985295" y="3121270"/>
                <a:ext cx="53129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200" i="1">
                          <a:latin typeface="Cambria Math" panose="02040503050406030204" pitchFamily="18" charset="0"/>
                        </a:rPr>
                        <m:t>𝑍</m:t>
                      </m:r>
                    </m:oMath>
                  </m:oMathPara>
                </a14:m>
                <a:endParaRPr lang="en-US" sz="3200" dirty="0"/>
              </a:p>
            </p:txBody>
          </p:sp>
        </mc:Choice>
        <mc:Fallback xmlns="">
          <p:sp>
            <p:nvSpPr>
              <p:cNvPr id="57" name="Rectangle 56">
                <a:extLst>
                  <a:ext uri="{FF2B5EF4-FFF2-40B4-BE49-F238E27FC236}">
                    <a16:creationId xmlns:a16="http://schemas.microsoft.com/office/drawing/2014/main" id="{B854AB45-0650-C048-9996-1A4CA2970276}"/>
                  </a:ext>
                </a:extLst>
              </p:cNvPr>
              <p:cNvSpPr>
                <a:spLocks noRot="1" noChangeAspect="1" noMove="1" noResize="1" noEditPoints="1" noAdjustHandles="1" noChangeArrowheads="1" noChangeShapeType="1" noTextEdit="1"/>
              </p:cNvSpPr>
              <p:nvPr/>
            </p:nvSpPr>
            <p:spPr>
              <a:xfrm>
                <a:off x="4985295" y="3121270"/>
                <a:ext cx="531299" cy="584775"/>
              </a:xfrm>
              <a:prstGeom prst="rect">
                <a:avLst/>
              </a:prstGeom>
              <a:blipFill>
                <a:blip r:embed="rId4"/>
                <a:stretch>
                  <a:fillRect/>
                </a:stretch>
              </a:blipFill>
            </p:spPr>
            <p:txBody>
              <a:bodyPr/>
              <a:lstStyle/>
              <a:p>
                <a:r>
                  <a:rPr lang="en-US">
                    <a:noFill/>
                  </a:rPr>
                  <a:t> </a:t>
                </a:r>
              </a:p>
            </p:txBody>
          </p:sp>
        </mc:Fallback>
      </mc:AlternateContent>
      <p:sp>
        <p:nvSpPr>
          <p:cNvPr id="58" name="Right Arrow 57">
            <a:extLst>
              <a:ext uri="{FF2B5EF4-FFF2-40B4-BE49-F238E27FC236}">
                <a16:creationId xmlns:a16="http://schemas.microsoft.com/office/drawing/2014/main" id="{18C27E4F-D89B-6949-9748-726A9F529D39}"/>
              </a:ext>
            </a:extLst>
          </p:cNvPr>
          <p:cNvSpPr/>
          <p:nvPr/>
        </p:nvSpPr>
        <p:spPr>
          <a:xfrm>
            <a:off x="5677929" y="3263354"/>
            <a:ext cx="452788" cy="339883"/>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B6F7A023-BB39-1448-826D-51E9CD98ADF2}"/>
                  </a:ext>
                </a:extLst>
              </p:cNvPr>
              <p:cNvSpPr/>
              <p:nvPr/>
            </p:nvSpPr>
            <p:spPr>
              <a:xfrm>
                <a:off x="6656389" y="2706501"/>
                <a:ext cx="11178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𝜆</m:t>
                          </m:r>
                        </m:e>
                        <m:sub>
                          <m:r>
                            <a:rPr lang="en-US" sz="2400" i="0">
                              <a:latin typeface="Cambria Math" panose="02040503050406030204" pitchFamily="18" charset="0"/>
                            </a:rPr>
                            <m:t>1</m:t>
                          </m:r>
                        </m:sub>
                      </m:sSub>
                      <m:r>
                        <a:rPr lang="en-US" sz="2400" i="0">
                          <a:latin typeface="Cambria Math" panose="02040503050406030204" pitchFamily="18" charset="0"/>
                        </a:rPr>
                        <m:t>=1</m:t>
                      </m:r>
                    </m:oMath>
                  </m:oMathPara>
                </a14:m>
                <a:endParaRPr lang="en-US" sz="2400" dirty="0"/>
              </a:p>
            </p:txBody>
          </p:sp>
        </mc:Choice>
        <mc:Fallback xmlns="">
          <p:sp>
            <p:nvSpPr>
              <p:cNvPr id="66" name="Rectangle 65">
                <a:extLst>
                  <a:ext uri="{FF2B5EF4-FFF2-40B4-BE49-F238E27FC236}">
                    <a16:creationId xmlns:a16="http://schemas.microsoft.com/office/drawing/2014/main" id="{B6F7A023-BB39-1448-826D-51E9CD98ADF2}"/>
                  </a:ext>
                </a:extLst>
              </p:cNvPr>
              <p:cNvSpPr>
                <a:spLocks noRot="1" noChangeAspect="1" noMove="1" noResize="1" noEditPoints="1" noAdjustHandles="1" noChangeArrowheads="1" noChangeShapeType="1" noTextEdit="1"/>
              </p:cNvSpPr>
              <p:nvPr/>
            </p:nvSpPr>
            <p:spPr>
              <a:xfrm>
                <a:off x="6656389" y="2706501"/>
                <a:ext cx="1117870" cy="461665"/>
              </a:xfrm>
              <a:prstGeom prst="rect">
                <a:avLst/>
              </a:prstGeom>
              <a:blipFill>
                <a:blip r:embed="rId5"/>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D07F746B-C3AF-8C46-BD1D-A603748AF30D}"/>
                  </a:ext>
                </a:extLst>
              </p:cNvPr>
              <p:cNvSpPr/>
              <p:nvPr/>
            </p:nvSpPr>
            <p:spPr>
              <a:xfrm>
                <a:off x="6599524" y="3514556"/>
                <a:ext cx="13360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0">
                              <a:latin typeface="Cambria Math" panose="02040503050406030204" pitchFamily="18" charset="0"/>
                            </a:rPr>
                            <m:t> </m:t>
                          </m:r>
                          <m:r>
                            <a:rPr lang="en-US" sz="2400" i="1">
                              <a:latin typeface="Cambria Math" panose="02040503050406030204" pitchFamily="18" charset="0"/>
                            </a:rPr>
                            <m:t>𝜆</m:t>
                          </m:r>
                        </m:e>
                        <m:sub>
                          <m:r>
                            <a:rPr lang="en-US" sz="2400" i="0">
                              <a:latin typeface="Cambria Math" panose="02040503050406030204" pitchFamily="18" charset="0"/>
                            </a:rPr>
                            <m:t>2</m:t>
                          </m:r>
                        </m:sub>
                      </m:sSub>
                      <m:r>
                        <a:rPr lang="en-US" sz="2400" i="0">
                          <a:latin typeface="Cambria Math" panose="02040503050406030204" pitchFamily="18" charset="0"/>
                        </a:rPr>
                        <m:t>=−1</m:t>
                      </m:r>
                    </m:oMath>
                  </m:oMathPara>
                </a14:m>
                <a:endParaRPr lang="en-US" sz="2400" dirty="0"/>
              </a:p>
            </p:txBody>
          </p:sp>
        </mc:Choice>
        <mc:Fallback xmlns="">
          <p:sp>
            <p:nvSpPr>
              <p:cNvPr id="67" name="Rectangle 66">
                <a:extLst>
                  <a:ext uri="{FF2B5EF4-FFF2-40B4-BE49-F238E27FC236}">
                    <a16:creationId xmlns:a16="http://schemas.microsoft.com/office/drawing/2014/main" id="{D07F746B-C3AF-8C46-BD1D-A603748AF30D}"/>
                  </a:ext>
                </a:extLst>
              </p:cNvPr>
              <p:cNvSpPr>
                <a:spLocks noRot="1" noChangeAspect="1" noMove="1" noResize="1" noEditPoints="1" noAdjustHandles="1" noChangeArrowheads="1" noChangeShapeType="1" noTextEdit="1"/>
              </p:cNvSpPr>
              <p:nvPr/>
            </p:nvSpPr>
            <p:spPr>
              <a:xfrm>
                <a:off x="6599524" y="3514556"/>
                <a:ext cx="1336070" cy="461665"/>
              </a:xfrm>
              <a:prstGeom prst="rect">
                <a:avLst/>
              </a:prstGeom>
              <a:blipFill>
                <a:blip r:embed="rId6"/>
                <a:stretch>
                  <a:fillRect l="-1887" b="-21622"/>
                </a:stretch>
              </a:blipFill>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E33057EB-98C6-7A42-8C64-FA69989E66A0}"/>
              </a:ext>
            </a:extLst>
          </p:cNvPr>
          <p:cNvCxnSpPr>
            <a:cxnSpLocks/>
          </p:cNvCxnSpPr>
          <p:nvPr/>
        </p:nvCxnSpPr>
        <p:spPr>
          <a:xfrm flipV="1">
            <a:off x="6401390" y="3136835"/>
            <a:ext cx="329408" cy="2546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71A0893F-1D1E-5F4D-8C37-2DCBC289F4E7}"/>
              </a:ext>
            </a:extLst>
          </p:cNvPr>
          <p:cNvCxnSpPr>
            <a:cxnSpLocks/>
          </p:cNvCxnSpPr>
          <p:nvPr/>
        </p:nvCxnSpPr>
        <p:spPr>
          <a:xfrm>
            <a:off x="6405112" y="3387250"/>
            <a:ext cx="329408" cy="2546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Right Arrow 71">
            <a:extLst>
              <a:ext uri="{FF2B5EF4-FFF2-40B4-BE49-F238E27FC236}">
                <a16:creationId xmlns:a16="http://schemas.microsoft.com/office/drawing/2014/main" id="{D0CA71C3-4327-6B4C-AA2D-21EE2549FBBC}"/>
              </a:ext>
            </a:extLst>
          </p:cNvPr>
          <p:cNvSpPr/>
          <p:nvPr/>
        </p:nvSpPr>
        <p:spPr>
          <a:xfrm>
            <a:off x="8413995" y="2781586"/>
            <a:ext cx="452788" cy="339883"/>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ight Arrow 72">
            <a:extLst>
              <a:ext uri="{FF2B5EF4-FFF2-40B4-BE49-F238E27FC236}">
                <a16:creationId xmlns:a16="http://schemas.microsoft.com/office/drawing/2014/main" id="{069E5808-DF89-A54C-BD88-4FED0370DD8E}"/>
              </a:ext>
            </a:extLst>
          </p:cNvPr>
          <p:cNvSpPr/>
          <p:nvPr/>
        </p:nvSpPr>
        <p:spPr>
          <a:xfrm>
            <a:off x="8413995" y="3593585"/>
            <a:ext cx="452788" cy="339883"/>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0B4B52A7-F1A7-7445-9D1B-85D8E835E316}"/>
                  </a:ext>
                </a:extLst>
              </p:cNvPr>
              <p:cNvSpPr txBox="1"/>
              <p:nvPr/>
            </p:nvSpPr>
            <p:spPr>
              <a:xfrm>
                <a:off x="9126763" y="2642765"/>
                <a:ext cx="158126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3200" i="1" smtClean="0">
                              <a:latin typeface="Cambria Math" panose="02040503050406030204" pitchFamily="18" charset="0"/>
                            </a:rPr>
                          </m:ctrlPr>
                        </m:dPr>
                        <m:e>
                          <m:r>
                            <a:rPr lang="sr-Latn-RS" sz="3200" i="1">
                              <a:latin typeface="Cambria Math" panose="02040503050406030204" pitchFamily="18" charset="0"/>
                            </a:rPr>
                            <m:t>0</m:t>
                          </m:r>
                        </m:e>
                      </m:d>
                      <m:r>
                        <a:rPr lang="sr-Latn-R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rPr>
                        <m:t>0</m:t>
                      </m:r>
                    </m:oMath>
                  </m:oMathPara>
                </a14:m>
                <a:endParaRPr lang="en-US" sz="3200" dirty="0"/>
              </a:p>
            </p:txBody>
          </p:sp>
        </mc:Choice>
        <mc:Fallback xmlns="">
          <p:sp>
            <p:nvSpPr>
              <p:cNvPr id="74" name="TextBox 73">
                <a:extLst>
                  <a:ext uri="{FF2B5EF4-FFF2-40B4-BE49-F238E27FC236}">
                    <a16:creationId xmlns:a16="http://schemas.microsoft.com/office/drawing/2014/main" id="{0B4B52A7-F1A7-7445-9D1B-85D8E835E316}"/>
                  </a:ext>
                </a:extLst>
              </p:cNvPr>
              <p:cNvSpPr txBox="1">
                <a:spLocks noRot="1" noChangeAspect="1" noMove="1" noResize="1" noEditPoints="1" noAdjustHandles="1" noChangeArrowheads="1" noChangeShapeType="1" noTextEdit="1"/>
              </p:cNvSpPr>
              <p:nvPr/>
            </p:nvSpPr>
            <p:spPr>
              <a:xfrm>
                <a:off x="9126763" y="2642765"/>
                <a:ext cx="1581267" cy="58477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42F93412-15FD-CE40-87E8-C1CA4014F500}"/>
                  </a:ext>
                </a:extLst>
              </p:cNvPr>
              <p:cNvSpPr txBox="1"/>
              <p:nvPr/>
            </p:nvSpPr>
            <p:spPr>
              <a:xfrm>
                <a:off x="9126763" y="3397967"/>
                <a:ext cx="158126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3200" i="1" smtClean="0">
                              <a:latin typeface="Cambria Math" panose="02040503050406030204" pitchFamily="18" charset="0"/>
                            </a:rPr>
                          </m:ctrlPr>
                        </m:dPr>
                        <m:e>
                          <m:r>
                            <a:rPr lang="sr-Latn-RS" sz="3200" i="1">
                              <a:latin typeface="Cambria Math" panose="02040503050406030204" pitchFamily="18" charset="0"/>
                            </a:rPr>
                            <m:t>1</m:t>
                          </m:r>
                        </m:e>
                      </m:d>
                      <m:r>
                        <a:rPr lang="sr-Latn-RS" sz="3200" b="0" i="1" smtClean="0">
                          <a:latin typeface="Cambria Math" panose="02040503050406030204" pitchFamily="18" charset="0"/>
                          <a:ea typeface="Cambria Math" panose="02040503050406030204" pitchFamily="18" charset="0"/>
                        </a:rPr>
                        <m:t>→</m:t>
                      </m:r>
                      <m:r>
                        <a:rPr lang="en-US" sz="3200" i="1" smtClean="0">
                          <a:latin typeface="Cambria Math" panose="02040503050406030204" pitchFamily="18" charset="0"/>
                        </a:rPr>
                        <m:t>1</m:t>
                      </m:r>
                    </m:oMath>
                  </m:oMathPara>
                </a14:m>
                <a:endParaRPr lang="en-US" sz="3200" dirty="0"/>
              </a:p>
            </p:txBody>
          </p:sp>
        </mc:Choice>
        <mc:Fallback xmlns="">
          <p:sp>
            <p:nvSpPr>
              <p:cNvPr id="75" name="TextBox 74">
                <a:extLst>
                  <a:ext uri="{FF2B5EF4-FFF2-40B4-BE49-F238E27FC236}">
                    <a16:creationId xmlns:a16="http://schemas.microsoft.com/office/drawing/2014/main" id="{42F93412-15FD-CE40-87E8-C1CA4014F500}"/>
                  </a:ext>
                </a:extLst>
              </p:cNvPr>
              <p:cNvSpPr txBox="1">
                <a:spLocks noRot="1" noChangeAspect="1" noMove="1" noResize="1" noEditPoints="1" noAdjustHandles="1" noChangeArrowheads="1" noChangeShapeType="1" noTextEdit="1"/>
              </p:cNvSpPr>
              <p:nvPr/>
            </p:nvSpPr>
            <p:spPr>
              <a:xfrm>
                <a:off x="9126763" y="3397967"/>
                <a:ext cx="1581267" cy="584775"/>
              </a:xfrm>
              <a:prstGeom prst="rect">
                <a:avLst/>
              </a:prstGeom>
              <a:blipFill>
                <a:blip r:embed="rId8"/>
                <a:stretch>
                  <a:fillRect/>
                </a:stretch>
              </a:blipFill>
            </p:spPr>
            <p:txBody>
              <a:bodyPr/>
              <a:lstStyle/>
              <a:p>
                <a:r>
                  <a:rPr lang="en-US">
                    <a:noFill/>
                  </a:rPr>
                  <a:t> </a:t>
                </a:r>
              </a:p>
            </p:txBody>
          </p:sp>
        </mc:Fallback>
      </mc:AlternateContent>
      <p:sp>
        <p:nvSpPr>
          <p:cNvPr id="78" name="TextBox 77">
            <a:extLst>
              <a:ext uri="{FF2B5EF4-FFF2-40B4-BE49-F238E27FC236}">
                <a16:creationId xmlns:a16="http://schemas.microsoft.com/office/drawing/2014/main" id="{2613EDED-2769-9843-80CA-DC73F5FEC881}"/>
              </a:ext>
            </a:extLst>
          </p:cNvPr>
          <p:cNvSpPr txBox="1"/>
          <p:nvPr/>
        </p:nvSpPr>
        <p:spPr>
          <a:xfrm>
            <a:off x="3734787" y="2992963"/>
            <a:ext cx="490840" cy="830997"/>
          </a:xfrm>
          <a:prstGeom prst="rect">
            <a:avLst/>
          </a:prstGeom>
          <a:noFill/>
        </p:spPr>
        <p:txBody>
          <a:bodyPr wrap="none" rtlCol="0">
            <a:spAutoFit/>
          </a:bodyPr>
          <a:lstStyle/>
          <a:p>
            <a:r>
              <a:rPr lang="en-US" sz="4800" dirty="0"/>
              <a:t>=</a:t>
            </a:r>
          </a:p>
        </p:txBody>
      </p:sp>
    </p:spTree>
    <p:extLst>
      <p:ext uri="{BB962C8B-B14F-4D97-AF65-F5344CB8AC3E}">
        <p14:creationId xmlns:p14="http://schemas.microsoft.com/office/powerpoint/2010/main" val="22376070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973F14-6E35-5C4E-8419-D43B1DC8C89B}"/>
              </a:ext>
            </a:extLst>
          </p:cNvPr>
          <p:cNvSpPr txBox="1"/>
          <p:nvPr/>
        </p:nvSpPr>
        <p:spPr>
          <a:xfrm>
            <a:off x="3835510" y="892673"/>
            <a:ext cx="4456669" cy="707886"/>
          </a:xfrm>
          <a:prstGeom prst="rect">
            <a:avLst/>
          </a:prstGeom>
          <a:noFill/>
        </p:spPr>
        <p:txBody>
          <a:bodyPr wrap="none" rtlCol="0">
            <a:spAutoFit/>
          </a:bodyPr>
          <a:lstStyle/>
          <a:p>
            <a:r>
              <a:rPr lang="en-US" sz="4000" dirty="0">
                <a:latin typeface="Comic Sans MS" panose="030F0902030302020204" pitchFamily="66" charset="0"/>
              </a:rPr>
              <a:t>Quantum register</a:t>
            </a:r>
          </a:p>
        </p:txBody>
      </p:sp>
      <p:pic>
        <p:nvPicPr>
          <p:cNvPr id="7" name="Picture 6">
            <a:extLst>
              <a:ext uri="{FF2B5EF4-FFF2-40B4-BE49-F238E27FC236}">
                <a16:creationId xmlns:a16="http://schemas.microsoft.com/office/drawing/2014/main" id="{155636E7-CD3B-9C4F-985F-BBD3CB66AC58}"/>
              </a:ext>
            </a:extLst>
          </p:cNvPr>
          <p:cNvPicPr>
            <a:picLocks noChangeAspect="1"/>
          </p:cNvPicPr>
          <p:nvPr/>
        </p:nvPicPr>
        <p:blipFill>
          <a:blip r:embed="rId3"/>
          <a:stretch>
            <a:fillRect/>
          </a:stretch>
        </p:blipFill>
        <p:spPr>
          <a:xfrm>
            <a:off x="33189" y="2125980"/>
            <a:ext cx="12071857" cy="4500000"/>
          </a:xfrm>
          <a:prstGeom prst="rect">
            <a:avLst/>
          </a:prstGeom>
        </p:spPr>
      </p:pic>
      <p:sp>
        <p:nvSpPr>
          <p:cNvPr id="6" name="Slide Number Placeholder 2">
            <a:extLst>
              <a:ext uri="{FF2B5EF4-FFF2-40B4-BE49-F238E27FC236}">
                <a16:creationId xmlns:a16="http://schemas.microsoft.com/office/drawing/2014/main" id="{259DA51A-1E1A-B64F-8144-F6C688A3D737}"/>
              </a:ext>
            </a:extLst>
          </p:cNvPr>
          <p:cNvSpPr>
            <a:spLocks noGrp="1"/>
          </p:cNvSpPr>
          <p:nvPr>
            <p:ph type="sldNum" sz="quarter" idx="12"/>
          </p:nvPr>
        </p:nvSpPr>
        <p:spPr>
          <a:xfrm>
            <a:off x="16043" y="6522720"/>
            <a:ext cx="898357" cy="335280"/>
          </a:xfrm>
        </p:spPr>
        <p:txBody>
          <a:bodyPr/>
          <a:lstStyle/>
          <a:p>
            <a:pPr algn="l"/>
            <a:fld id="{591A223C-FA10-BC46-A853-03BA373D023C}" type="slidenum">
              <a:rPr lang="en-US" smtClean="0"/>
              <a:pPr algn="l"/>
              <a:t>48</a:t>
            </a:fld>
            <a:endParaRPr lang="en-US"/>
          </a:p>
        </p:txBody>
      </p:sp>
    </p:spTree>
    <p:extLst>
      <p:ext uri="{BB962C8B-B14F-4D97-AF65-F5344CB8AC3E}">
        <p14:creationId xmlns:p14="http://schemas.microsoft.com/office/powerpoint/2010/main" val="6919035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E9C839-ED69-E54C-AAFB-7121909E2702}"/>
              </a:ext>
            </a:extLst>
          </p:cNvPr>
          <p:cNvSpPr>
            <a:spLocks noGrp="1"/>
          </p:cNvSpPr>
          <p:nvPr>
            <p:ph type="title"/>
          </p:nvPr>
        </p:nvSpPr>
        <p:spPr/>
        <p:txBody>
          <a:bodyPr/>
          <a:lstStyle/>
          <a:p>
            <a:r>
              <a:rPr lang="en-ZA" dirty="0"/>
              <a:t>Kronecker (tensor) product</a:t>
            </a:r>
            <a:endParaRPr lang="en-US" dirty="0"/>
          </a:p>
        </p:txBody>
      </p:sp>
      <p:sp>
        <p:nvSpPr>
          <p:cNvPr id="2" name="Slide Number Placeholder 1">
            <a:extLst>
              <a:ext uri="{FF2B5EF4-FFF2-40B4-BE49-F238E27FC236}">
                <a16:creationId xmlns:a16="http://schemas.microsoft.com/office/drawing/2014/main" id="{A906C545-C1A0-6B41-A5F2-D3318D702973}"/>
              </a:ext>
            </a:extLst>
          </p:cNvPr>
          <p:cNvSpPr>
            <a:spLocks noGrp="1"/>
          </p:cNvSpPr>
          <p:nvPr>
            <p:ph type="sldNum" sz="quarter" idx="12"/>
          </p:nvPr>
        </p:nvSpPr>
        <p:spPr/>
        <p:txBody>
          <a:bodyPr/>
          <a:lstStyle/>
          <a:p>
            <a:fld id="{591A223C-FA10-BC46-A853-03BA373D023C}" type="slidenum">
              <a:rPr lang="en-US" smtClean="0"/>
              <a:t>49</a:t>
            </a:fld>
            <a:endParaRPr lang="en-US"/>
          </a:p>
        </p:txBody>
      </p:sp>
      <p:pic>
        <p:nvPicPr>
          <p:cNvPr id="4" name="Picture 3">
            <a:extLst>
              <a:ext uri="{FF2B5EF4-FFF2-40B4-BE49-F238E27FC236}">
                <a16:creationId xmlns:a16="http://schemas.microsoft.com/office/drawing/2014/main" id="{D3FD8C17-C220-9F44-80E9-70EA551630ED}"/>
              </a:ext>
            </a:extLst>
          </p:cNvPr>
          <p:cNvPicPr>
            <a:picLocks noChangeAspect="1"/>
          </p:cNvPicPr>
          <p:nvPr/>
        </p:nvPicPr>
        <p:blipFill>
          <a:blip r:embed="rId3"/>
          <a:stretch>
            <a:fillRect/>
          </a:stretch>
        </p:blipFill>
        <p:spPr>
          <a:xfrm>
            <a:off x="176250" y="1216834"/>
            <a:ext cx="2000820" cy="2519266"/>
          </a:xfrm>
          <a:prstGeom prst="rect">
            <a:avLst/>
          </a:prstGeom>
        </p:spPr>
      </p:pic>
      <p:sp>
        <p:nvSpPr>
          <p:cNvPr id="5" name="TextBox 4">
            <a:extLst>
              <a:ext uri="{FF2B5EF4-FFF2-40B4-BE49-F238E27FC236}">
                <a16:creationId xmlns:a16="http://schemas.microsoft.com/office/drawing/2014/main" id="{BB5E783F-B95A-364D-8855-0BB99105B81B}"/>
              </a:ext>
            </a:extLst>
          </p:cNvPr>
          <p:cNvSpPr txBox="1"/>
          <p:nvPr/>
        </p:nvSpPr>
        <p:spPr>
          <a:xfrm>
            <a:off x="243848" y="3900513"/>
            <a:ext cx="1933222" cy="646331"/>
          </a:xfrm>
          <a:prstGeom prst="rect">
            <a:avLst/>
          </a:prstGeom>
          <a:noFill/>
        </p:spPr>
        <p:txBody>
          <a:bodyPr wrap="none" rtlCol="0">
            <a:spAutoFit/>
          </a:bodyPr>
          <a:lstStyle/>
          <a:p>
            <a:pPr algn="ctr"/>
            <a:r>
              <a:rPr lang="en-US" dirty="0"/>
              <a:t>Leopold Kronecker</a:t>
            </a:r>
          </a:p>
          <a:p>
            <a:pPr algn="ctr"/>
            <a:r>
              <a:rPr lang="en-US" dirty="0"/>
              <a:t>(1823</a:t>
            </a:r>
            <a:r>
              <a:rPr lang="en-ZA" dirty="0"/>
              <a:t> – </a:t>
            </a:r>
            <a:r>
              <a:rPr lang="en-US" dirty="0"/>
              <a:t>1891)</a:t>
            </a:r>
          </a:p>
        </p:txBody>
      </p:sp>
      <p:sp>
        <p:nvSpPr>
          <p:cNvPr id="6" name="Rectangle 5">
            <a:extLst>
              <a:ext uri="{FF2B5EF4-FFF2-40B4-BE49-F238E27FC236}">
                <a16:creationId xmlns:a16="http://schemas.microsoft.com/office/drawing/2014/main" id="{F57E35EB-1000-F044-9DC6-6C94087E0891}"/>
              </a:ext>
            </a:extLst>
          </p:cNvPr>
          <p:cNvSpPr/>
          <p:nvPr/>
        </p:nvSpPr>
        <p:spPr>
          <a:xfrm>
            <a:off x="3568505" y="970613"/>
            <a:ext cx="6096000" cy="492443"/>
          </a:xfrm>
          <a:prstGeom prst="rect">
            <a:avLst/>
          </a:prstGeom>
        </p:spPr>
        <p:txBody>
          <a:bodyPr>
            <a:spAutoFit/>
          </a:bodyPr>
          <a:lstStyle/>
          <a:p>
            <a:pPr algn="just"/>
            <a:endParaRPr lang="en-ZA" sz="800" dirty="0"/>
          </a:p>
          <a:p>
            <a:pPr algn="just"/>
            <a:endParaRPr lang="en-ZA"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55E0A23-5880-0649-BC4D-31D513262D0D}"/>
                  </a:ext>
                </a:extLst>
              </p:cNvPr>
              <p:cNvSpPr/>
              <p:nvPr/>
            </p:nvSpPr>
            <p:spPr>
              <a:xfrm>
                <a:off x="4246433" y="3858795"/>
                <a:ext cx="4740144" cy="7327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FF0000"/>
                          </a:solidFill>
                          <a:latin typeface="Cambria Math" panose="02040503050406030204" pitchFamily="18" charset="0"/>
                        </a:rPr>
                        <m:t>𝐴</m:t>
                      </m:r>
                      <m:r>
                        <a:rPr lang="en-US" sz="2200" b="0" i="1" smtClean="0">
                          <a:latin typeface="Cambria Math" panose="02040503050406030204" pitchFamily="18" charset="0"/>
                        </a:rPr>
                        <m:t>=</m:t>
                      </m:r>
                      <m:d>
                        <m:dPr>
                          <m:ctrlPr>
                            <a:rPr lang="en-ZA" sz="2200" i="1">
                              <a:latin typeface="Cambria Math" panose="02040503050406030204" pitchFamily="18" charset="0"/>
                            </a:rPr>
                          </m:ctrlPr>
                        </m:dPr>
                        <m:e>
                          <m:m>
                            <m:mPr>
                              <m:mcs>
                                <m:mc>
                                  <m:mcPr>
                                    <m:count m:val="2"/>
                                    <m:mcJc m:val="center"/>
                                  </m:mcPr>
                                </m:mc>
                              </m:mcs>
                              <m:ctrlPr>
                                <a:rPr lang="en-ZA" sz="2200" i="1" smtClean="0">
                                  <a:solidFill>
                                    <a:srgbClr val="FF0000"/>
                                  </a:solidFill>
                                  <a:latin typeface="Cambria Math" panose="02040503050406030204" pitchFamily="18" charset="0"/>
                                </a:rPr>
                              </m:ctrlPr>
                            </m:mPr>
                            <m:mr>
                              <m:e>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11</m:t>
                                    </m:r>
                                  </m:sub>
                                </m:sSub>
                              </m:e>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m:t>
                                    </m:r>
                                    <m:r>
                                      <a:rPr lang="en-US" sz="2200" b="0" i="1" smtClean="0">
                                        <a:solidFill>
                                          <a:srgbClr val="FF0000"/>
                                        </a:solidFill>
                                        <a:latin typeface="Cambria Math" panose="02040503050406030204" pitchFamily="18" charset="0"/>
                                      </a:rPr>
                                      <m:t>2</m:t>
                                    </m:r>
                                  </m:sub>
                                </m:sSub>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r>
                                      <a:rPr lang="en-US" sz="2200" i="1">
                                        <a:solidFill>
                                          <a:srgbClr val="FF0000"/>
                                        </a:solidFill>
                                        <a:latin typeface="Cambria Math" panose="02040503050406030204" pitchFamily="18" charset="0"/>
                                      </a:rPr>
                                      <m:t>1</m:t>
                                    </m:r>
                                  </m:sub>
                                </m:sSub>
                              </m:e>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22</m:t>
                                    </m:r>
                                  </m:sub>
                                </m:sSub>
                              </m:e>
                            </m:mr>
                          </m:m>
                        </m:e>
                      </m:d>
                      <m:r>
                        <a:rPr lang="en-US" sz="2200" b="0" i="1" smtClean="0">
                          <a:latin typeface="Cambria Math" panose="02040503050406030204" pitchFamily="18" charset="0"/>
                        </a:rPr>
                        <m:t>,  </m:t>
                      </m:r>
                      <m:r>
                        <a:rPr lang="en-US" sz="2200" b="0" i="1" smtClean="0">
                          <a:solidFill>
                            <a:srgbClr val="0000FF"/>
                          </a:solidFill>
                          <a:latin typeface="Cambria Math" panose="02040503050406030204" pitchFamily="18" charset="0"/>
                        </a:rPr>
                        <m:t>𝐵</m:t>
                      </m:r>
                      <m:r>
                        <a:rPr lang="en-US" sz="2200" i="1">
                          <a:latin typeface="Cambria Math" panose="02040503050406030204" pitchFamily="18" charset="0"/>
                        </a:rPr>
                        <m:t>=</m:t>
                      </m:r>
                      <m:d>
                        <m:dPr>
                          <m:ctrlPr>
                            <a:rPr lang="en-ZA" sz="2200" i="1">
                              <a:latin typeface="Cambria Math" panose="02040503050406030204" pitchFamily="18" charset="0"/>
                            </a:rPr>
                          </m:ctrlPr>
                        </m:dPr>
                        <m:e>
                          <m:m>
                            <m:mPr>
                              <m:mcs>
                                <m:mc>
                                  <m:mcPr>
                                    <m:count m:val="2"/>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12</m:t>
                                    </m:r>
                                  </m:sub>
                                </m:sSub>
                              </m:e>
                            </m:mr>
                            <m:mr>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22</m:t>
                                    </m:r>
                                  </m:sub>
                                </m:sSub>
                              </m:e>
                            </m:mr>
                          </m:m>
                        </m:e>
                      </m:d>
                    </m:oMath>
                  </m:oMathPara>
                </a14:m>
                <a:endParaRPr lang="en-US" sz="2200" dirty="0"/>
              </a:p>
            </p:txBody>
          </p:sp>
        </mc:Choice>
        <mc:Fallback xmlns="">
          <p:sp>
            <p:nvSpPr>
              <p:cNvPr id="15" name="Rectangle 14">
                <a:extLst>
                  <a:ext uri="{FF2B5EF4-FFF2-40B4-BE49-F238E27FC236}">
                    <a16:creationId xmlns:a16="http://schemas.microsoft.com/office/drawing/2014/main" id="{255E0A23-5880-0649-BC4D-31D513262D0D}"/>
                  </a:ext>
                </a:extLst>
              </p:cNvPr>
              <p:cNvSpPr>
                <a:spLocks noRot="1" noChangeAspect="1" noMove="1" noResize="1" noEditPoints="1" noAdjustHandles="1" noChangeArrowheads="1" noChangeShapeType="1" noTextEdit="1"/>
              </p:cNvSpPr>
              <p:nvPr/>
            </p:nvSpPr>
            <p:spPr>
              <a:xfrm>
                <a:off x="4246433" y="3858795"/>
                <a:ext cx="4740144" cy="7327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027014-A36D-8C49-B44C-0F7E9999378A}"/>
                  </a:ext>
                </a:extLst>
              </p:cNvPr>
              <p:cNvSpPr txBox="1"/>
              <p:nvPr/>
            </p:nvSpPr>
            <p:spPr>
              <a:xfrm>
                <a:off x="-72648" y="4950080"/>
                <a:ext cx="12470401" cy="14217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𝐴</m:t>
                      </m:r>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𝐵</m:t>
                      </m:r>
                      <m:r>
                        <a:rPr lang="en-US" sz="2200" b="0" i="1" smtClean="0">
                          <a:latin typeface="Cambria Math" panose="02040503050406030204" pitchFamily="18" charset="0"/>
                        </a:rPr>
                        <m:t>=</m:t>
                      </m:r>
                      <m:d>
                        <m:dPr>
                          <m:ctrlPr>
                            <a:rPr lang="en-ZA" sz="2200" i="1">
                              <a:latin typeface="Cambria Math" panose="02040503050406030204" pitchFamily="18" charset="0"/>
                            </a:rPr>
                          </m:ctrlPr>
                        </m:dPr>
                        <m:e>
                          <m:m>
                            <m:mPr>
                              <m:mcs>
                                <m:mc>
                                  <m:mcPr>
                                    <m:count m:val="2"/>
                                    <m:mcJc m:val="center"/>
                                  </m:mcPr>
                                </m:mc>
                              </m:mcs>
                              <m:ctrlPr>
                                <a:rPr lang="en-ZA" sz="2200" i="1" smtClean="0">
                                  <a:solidFill>
                                    <a:srgbClr val="FF0000"/>
                                  </a:solidFill>
                                  <a:latin typeface="Cambria Math" panose="02040503050406030204" pitchFamily="18" charset="0"/>
                                </a:rPr>
                              </m:ctrlPr>
                            </m:mP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r>
                                  <a:rPr lang="en-US" sz="2200" i="1">
                                    <a:solidFill>
                                      <a:srgbClr val="0000FF"/>
                                    </a:solidFill>
                                    <a:latin typeface="Cambria Math" panose="02040503050406030204" pitchFamily="18" charset="0"/>
                                  </a:rPr>
                                  <m:t>𝐵</m:t>
                                </m:r>
                              </m:e>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r>
                                  <a:rPr lang="en-US" sz="2200" i="1">
                                    <a:solidFill>
                                      <a:srgbClr val="0000FF"/>
                                    </a:solidFill>
                                    <a:latin typeface="Cambria Math" panose="02040503050406030204" pitchFamily="18" charset="0"/>
                                  </a:rPr>
                                  <m:t>𝐵</m:t>
                                </m:r>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r>
                                  <a:rPr lang="en-US" sz="2200" i="1">
                                    <a:solidFill>
                                      <a:srgbClr val="0000FF"/>
                                    </a:solidFill>
                                    <a:latin typeface="Cambria Math" panose="02040503050406030204" pitchFamily="18" charset="0"/>
                                  </a:rPr>
                                  <m:t>𝐵</m:t>
                                </m:r>
                              </m:e>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r>
                                  <a:rPr lang="en-US" sz="2200" i="1">
                                    <a:solidFill>
                                      <a:srgbClr val="0000FF"/>
                                    </a:solidFill>
                                    <a:latin typeface="Cambria Math" panose="02040503050406030204" pitchFamily="18" charset="0"/>
                                  </a:rPr>
                                  <m:t>𝐵</m:t>
                                </m:r>
                              </m:e>
                            </m:mr>
                          </m:m>
                        </m:e>
                      </m:d>
                      <m:r>
                        <a:rPr lang="en-US" sz="2200" b="0" i="1" smtClean="0">
                          <a:latin typeface="Cambria Math" panose="02040503050406030204" pitchFamily="18" charset="0"/>
                        </a:rPr>
                        <m:t>=</m:t>
                      </m:r>
                      <m:d>
                        <m:dPr>
                          <m:ctrlPr>
                            <a:rPr lang="en-ZA" sz="2200" i="1">
                              <a:latin typeface="Cambria Math" panose="02040503050406030204" pitchFamily="18" charset="0"/>
                            </a:rPr>
                          </m:ctrlPr>
                        </m:dPr>
                        <m:e>
                          <m:m>
                            <m:mPr>
                              <m:mcs>
                                <m:mc>
                                  <m:mcPr>
                                    <m:count m:val="2"/>
                                    <m:mcJc m:val="center"/>
                                  </m:mcPr>
                                </m:mc>
                              </m:mcs>
                              <m:ctrlPr>
                                <a:rPr lang="en-ZA" sz="2200" i="1">
                                  <a:latin typeface="Cambria Math" panose="02040503050406030204" pitchFamily="18" charset="0"/>
                                </a:rPr>
                              </m:ctrlPr>
                            </m:mP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d>
                                  <m:dPr>
                                    <m:ctrlPr>
                                      <a:rPr lang="en-ZA" sz="2200" i="1">
                                        <a:latin typeface="Cambria Math" panose="02040503050406030204" pitchFamily="18" charset="0"/>
                                      </a:rPr>
                                    </m:ctrlPr>
                                  </m:dPr>
                                  <m:e>
                                    <m:m>
                                      <m:mPr>
                                        <m:mcs>
                                          <m:mc>
                                            <m:mcPr>
                                              <m:count m:val="2"/>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12</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22</m:t>
                                              </m:r>
                                            </m:sub>
                                          </m:sSub>
                                        </m:e>
                                      </m:mr>
                                    </m:m>
                                  </m:e>
                                </m:d>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d>
                                  <m:dPr>
                                    <m:ctrlPr>
                                      <a:rPr lang="en-ZA" sz="2200" i="1">
                                        <a:latin typeface="Cambria Math" panose="02040503050406030204" pitchFamily="18" charset="0"/>
                                      </a:rPr>
                                    </m:ctrlPr>
                                  </m:dPr>
                                  <m:e>
                                    <m:m>
                                      <m:mPr>
                                        <m:mcs>
                                          <m:mc>
                                            <m:mcPr>
                                              <m:count m:val="2"/>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12</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22</m:t>
                                              </m:r>
                                            </m:sub>
                                          </m:sSub>
                                        </m:e>
                                      </m:mr>
                                    </m:m>
                                  </m:e>
                                </m:d>
                              </m:e>
                            </m:m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d>
                                  <m:dPr>
                                    <m:ctrlPr>
                                      <a:rPr lang="en-ZA" sz="2200" i="1">
                                        <a:latin typeface="Cambria Math" panose="02040503050406030204" pitchFamily="18" charset="0"/>
                                      </a:rPr>
                                    </m:ctrlPr>
                                  </m:dPr>
                                  <m:e>
                                    <m:m>
                                      <m:mPr>
                                        <m:mcs>
                                          <m:mc>
                                            <m:mcPr>
                                              <m:count m:val="2"/>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12</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22</m:t>
                                              </m:r>
                                            </m:sub>
                                          </m:sSub>
                                        </m:e>
                                      </m:mr>
                                    </m:m>
                                  </m:e>
                                </m:d>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d>
                                  <m:dPr>
                                    <m:ctrlPr>
                                      <a:rPr lang="en-ZA" sz="2200" i="1">
                                        <a:latin typeface="Cambria Math" panose="02040503050406030204" pitchFamily="18" charset="0"/>
                                      </a:rPr>
                                    </m:ctrlPr>
                                  </m:dPr>
                                  <m:e>
                                    <m:m>
                                      <m:mPr>
                                        <m:mcs>
                                          <m:mc>
                                            <m:mcPr>
                                              <m:count m:val="2"/>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12</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22</m:t>
                                              </m:r>
                                            </m:sub>
                                          </m:sSub>
                                        </m:e>
                                      </m:mr>
                                    </m:m>
                                  </m:e>
                                </m:d>
                              </m:e>
                            </m:mr>
                          </m:m>
                        </m:e>
                      </m:d>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m>
                            <m:mPr>
                              <m:mcs>
                                <m:mc>
                                  <m:mcPr>
                                    <m:count m:val="4"/>
                                    <m:mcJc m:val="center"/>
                                  </m:mcPr>
                                </m:mc>
                              </m:mcs>
                              <m:ctrlPr>
                                <a:rPr lang="en-US" sz="2200" b="0" i="1" smtClean="0">
                                  <a:latin typeface="Cambria Math" panose="02040503050406030204" pitchFamily="18" charset="0"/>
                                </a:rPr>
                              </m:ctrlPr>
                            </m:mP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r>
                                      <a:rPr lang="en-US" sz="2200" b="0" i="1" smtClean="0">
                                        <a:solidFill>
                                          <a:srgbClr val="0000FF"/>
                                        </a:solidFill>
                                        <a:latin typeface="Cambria Math" panose="02040503050406030204" pitchFamily="18" charset="0"/>
                                      </a:rPr>
                                      <m:t>2</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r>
                                      <a:rPr lang="en-US" sz="2200" b="0" i="1" smtClean="0">
                                        <a:solidFill>
                                          <a:srgbClr val="0000FF"/>
                                        </a:solidFill>
                                        <a:latin typeface="Cambria Math" panose="02040503050406030204" pitchFamily="18" charset="0"/>
                                      </a:rPr>
                                      <m:t>2</m:t>
                                    </m:r>
                                  </m:sub>
                                </m:sSub>
                              </m:e>
                            </m:m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r>
                                      <a:rPr lang="en-US" sz="2200" b="0" i="1" smtClean="0">
                                        <a:solidFill>
                                          <a:srgbClr val="0000FF"/>
                                        </a:solidFill>
                                        <a:latin typeface="Cambria Math" panose="02040503050406030204" pitchFamily="18" charset="0"/>
                                      </a:rPr>
                                      <m:t>2</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r>
                                      <a:rPr lang="en-US" sz="2200" b="0" i="1" smtClean="0">
                                        <a:solidFill>
                                          <a:srgbClr val="0000FF"/>
                                        </a:solidFill>
                                        <a:latin typeface="Cambria Math" panose="02040503050406030204" pitchFamily="18" charset="0"/>
                                      </a:rPr>
                                      <m:t>2</m:t>
                                    </m:r>
                                  </m:sub>
                                </m:sSub>
                              </m:e>
                            </m:m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r>
                                      <a:rPr lang="en-US" sz="2200" b="0" i="1" smtClean="0">
                                        <a:solidFill>
                                          <a:srgbClr val="0000FF"/>
                                        </a:solidFill>
                                        <a:latin typeface="Cambria Math" panose="02040503050406030204" pitchFamily="18" charset="0"/>
                                      </a:rPr>
                                      <m:t>2</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r>
                                      <a:rPr lang="en-US" sz="2200" b="0" i="1" smtClean="0">
                                        <a:solidFill>
                                          <a:srgbClr val="0000FF"/>
                                        </a:solidFill>
                                        <a:latin typeface="Cambria Math" panose="02040503050406030204" pitchFamily="18" charset="0"/>
                                      </a:rPr>
                                      <m:t>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b="0" i="1" smtClean="0">
                                        <a:solidFill>
                                          <a:srgbClr val="0000FF"/>
                                        </a:solidFill>
                                        <a:latin typeface="Cambria Math" panose="02040503050406030204" pitchFamily="18" charset="0"/>
                                      </a:rPr>
                                      <m:t>12</m:t>
                                    </m:r>
                                  </m:sub>
                                </m:sSub>
                              </m:e>
                            </m:mr>
                            <m:mr>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21</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r>
                                      <a:rPr lang="en-US" sz="2200" b="0" i="1" smtClean="0">
                                        <a:solidFill>
                                          <a:srgbClr val="0000FF"/>
                                        </a:solidFill>
                                        <a:latin typeface="Cambria Math" panose="02040503050406030204" pitchFamily="18" charset="0"/>
                                      </a:rPr>
                                      <m:t>2</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21</m:t>
                                    </m:r>
                                  </m:sub>
                                </m:sSub>
                              </m:e>
                              <m:e>
                                <m:sSub>
                                  <m:sSubPr>
                                    <m:ctrlPr>
                                      <a:rPr lang="en-US" sz="2200" i="1" smtClean="0">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22</m:t>
                                    </m:r>
                                  </m:sub>
                                </m:sSub>
                                <m:sSub>
                                  <m:sSubPr>
                                    <m:ctrlPr>
                                      <a:rPr lang="en-US" sz="2200" i="1" smtClean="0">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r>
                                      <a:rPr lang="en-US" sz="2200" b="0" i="1" smtClean="0">
                                        <a:solidFill>
                                          <a:srgbClr val="0000FF"/>
                                        </a:solidFill>
                                        <a:latin typeface="Cambria Math" panose="02040503050406030204" pitchFamily="18" charset="0"/>
                                      </a:rPr>
                                      <m:t>2</m:t>
                                    </m:r>
                                  </m:sub>
                                </m:sSub>
                              </m:e>
                            </m:mr>
                          </m:m>
                        </m:e>
                      </m:d>
                    </m:oMath>
                  </m:oMathPara>
                </a14:m>
                <a:endParaRPr lang="en-US" sz="2200" dirty="0"/>
              </a:p>
            </p:txBody>
          </p:sp>
        </mc:Choice>
        <mc:Fallback xmlns="">
          <p:sp>
            <p:nvSpPr>
              <p:cNvPr id="16" name="TextBox 15">
                <a:extLst>
                  <a:ext uri="{FF2B5EF4-FFF2-40B4-BE49-F238E27FC236}">
                    <a16:creationId xmlns:a16="http://schemas.microsoft.com/office/drawing/2014/main" id="{08027014-A36D-8C49-B44C-0F7E9999378A}"/>
                  </a:ext>
                </a:extLst>
              </p:cNvPr>
              <p:cNvSpPr txBox="1">
                <a:spLocks noRot="1" noChangeAspect="1" noMove="1" noResize="1" noEditPoints="1" noAdjustHandles="1" noChangeArrowheads="1" noChangeShapeType="1" noTextEdit="1"/>
              </p:cNvSpPr>
              <p:nvPr/>
            </p:nvSpPr>
            <p:spPr>
              <a:xfrm>
                <a:off x="-72648" y="4950080"/>
                <a:ext cx="12470401" cy="14217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6F1E6C1-17E0-6143-9149-927A749D117F}"/>
                  </a:ext>
                </a:extLst>
              </p:cNvPr>
              <p:cNvSpPr/>
              <p:nvPr/>
            </p:nvSpPr>
            <p:spPr>
              <a:xfrm>
                <a:off x="2608377" y="1682842"/>
                <a:ext cx="8223469" cy="1421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FF0000"/>
                              </a:solidFill>
                              <a:latin typeface="Cambria Math" panose="02040503050406030204" pitchFamily="18" charset="0"/>
                            </a:rPr>
                          </m:ctrlPr>
                        </m:dPr>
                        <m:e>
                          <m:r>
                            <a:rPr lang="en-US" sz="2200" b="0" i="1" smtClean="0">
                              <a:solidFill>
                                <a:srgbClr val="FF0000"/>
                              </a:solidFill>
                              <a:latin typeface="Cambria Math" panose="02040503050406030204" pitchFamily="18" charset="0"/>
                            </a:rPr>
                            <m:t>𝑎</m:t>
                          </m:r>
                        </m:e>
                      </m:d>
                      <m:r>
                        <a:rPr lang="en-US" sz="2200" b="0" i="1" smtClean="0">
                          <a:latin typeface="Cambria Math" panose="02040503050406030204" pitchFamily="18" charset="0"/>
                        </a:rPr>
                        <m:t>=</m:t>
                      </m:r>
                      <m:d>
                        <m:dPr>
                          <m:ctrlPr>
                            <a:rPr lang="en-ZA" sz="2200" i="1">
                              <a:latin typeface="Cambria Math" panose="02040503050406030204" pitchFamily="18" charset="0"/>
                            </a:rPr>
                          </m:ctrlPr>
                        </m:dPr>
                        <m:e>
                          <m:m>
                            <m:mPr>
                              <m:mcs>
                                <m:mc>
                                  <m:mcPr>
                                    <m:count m:val="1"/>
                                    <m:mcJc m:val="center"/>
                                  </m:mcPr>
                                </m:mc>
                              </m:mcs>
                              <m:ctrlPr>
                                <a:rPr lang="en-ZA" sz="2200" b="0" i="1" smtClean="0">
                                  <a:solidFill>
                                    <a:srgbClr val="FF0000"/>
                                  </a:solidFill>
                                  <a:latin typeface="Cambria Math" panose="02040503050406030204" pitchFamily="18" charset="0"/>
                                </a:rPr>
                              </m:ctrlPr>
                            </m:mPr>
                            <m:mr>
                              <m:e>
                                <m:sSub>
                                  <m:sSubPr>
                                    <m:ctrlPr>
                                      <a:rPr lang="en-US" sz="2200" b="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1</m:t>
                                    </m:r>
                                  </m:sub>
                                </m:sSub>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sub>
                                </m:sSub>
                              </m:e>
                            </m:mr>
                          </m:m>
                        </m:e>
                      </m:d>
                      <m:r>
                        <a:rPr lang="en-US" sz="2200" b="0" i="1" smtClean="0">
                          <a:latin typeface="Cambria Math" panose="02040503050406030204" pitchFamily="18" charset="0"/>
                        </a:rPr>
                        <m:t>,  </m:t>
                      </m:r>
                      <m:d>
                        <m:dPr>
                          <m:begChr m:val="|"/>
                          <m:endChr m:val="⟩"/>
                          <m:ctrlPr>
                            <a:rPr lang="en-US" sz="2200" i="1" smtClean="0">
                              <a:solidFill>
                                <a:srgbClr val="0000FF"/>
                              </a:solidFill>
                              <a:latin typeface="Cambria Math" panose="02040503050406030204" pitchFamily="18" charset="0"/>
                            </a:rPr>
                          </m:ctrlPr>
                        </m:dPr>
                        <m:e>
                          <m:r>
                            <a:rPr lang="en-US" sz="2200" b="0" i="1" smtClean="0">
                              <a:solidFill>
                                <a:srgbClr val="0000FF"/>
                              </a:solidFill>
                              <a:latin typeface="Cambria Math" panose="02040503050406030204" pitchFamily="18" charset="0"/>
                            </a:rPr>
                            <m:t>𝑏</m:t>
                          </m:r>
                        </m:e>
                      </m:d>
                      <m:r>
                        <a:rPr lang="en-US" sz="2200" i="1">
                          <a:latin typeface="Cambria Math" panose="02040503050406030204" pitchFamily="18" charset="0"/>
                        </a:rPr>
                        <m:t>=</m:t>
                      </m:r>
                      <m:d>
                        <m:dPr>
                          <m:ctrlPr>
                            <a:rPr lang="en-ZA" sz="2200" i="1">
                              <a:latin typeface="Cambria Math" panose="02040503050406030204" pitchFamily="18" charset="0"/>
                            </a:rPr>
                          </m:ctrlPr>
                        </m:dPr>
                        <m:e>
                          <m:m>
                            <m:mPr>
                              <m:mcs>
                                <m:mc>
                                  <m:mcPr>
                                    <m:count m:val="1"/>
                                    <m:mcJc m:val="center"/>
                                  </m:mcPr>
                                </m:mc>
                              </m:mcs>
                              <m:ctrlPr>
                                <a:rPr lang="en-ZA" sz="2200" i="1" smtClean="0">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sub>
                                </m:sSub>
                              </m:e>
                            </m:mr>
                            <m:mr>
                              <m:e>
                                <m:sSub>
                                  <m:sSubPr>
                                    <m:ctrlPr>
                                      <a:rPr lang="en-US" sz="2200" i="1">
                                        <a:solidFill>
                                          <a:srgbClr val="0000FF"/>
                                        </a:solidFill>
                                        <a:latin typeface="Cambria Math" panose="02040503050406030204" pitchFamily="18" charset="0"/>
                                      </a:rPr>
                                    </m:ctrlPr>
                                  </m:sSubPr>
                                  <m:e>
                                    <m:r>
                                      <a:rPr lang="en-US" sz="2200" b="0" i="1" smtClean="0">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sub>
                                </m:sSub>
                              </m:e>
                            </m:mr>
                          </m:m>
                        </m:e>
                      </m:d>
                      <m:r>
                        <a:rPr lang="en-US" sz="2200" b="0" i="1" smtClean="0">
                          <a:latin typeface="Cambria Math" panose="02040503050406030204" pitchFamily="18" charset="0"/>
                        </a:rPr>
                        <m:t>,  </m:t>
                      </m:r>
                      <m:d>
                        <m:dPr>
                          <m:begChr m:val="|"/>
                          <m:endChr m:val="⟩"/>
                          <m:ctrlPr>
                            <a:rPr lang="en-US" sz="2200" i="1">
                              <a:solidFill>
                                <a:srgbClr val="FF0000"/>
                              </a:solidFill>
                              <a:latin typeface="Cambria Math" panose="02040503050406030204" pitchFamily="18" charset="0"/>
                            </a:rPr>
                          </m:ctrlPr>
                        </m:dPr>
                        <m:e>
                          <m:r>
                            <a:rPr lang="en-US" sz="2200" i="1">
                              <a:solidFill>
                                <a:srgbClr val="FF0000"/>
                              </a:solidFill>
                              <a:latin typeface="Cambria Math" panose="02040503050406030204" pitchFamily="18" charset="0"/>
                            </a:rPr>
                            <m:t>𝑎</m:t>
                          </m:r>
                        </m:e>
                      </m:d>
                      <m:r>
                        <a:rPr lang="en-US" sz="2200" b="0" i="1" smtClean="0">
                          <a:solidFill>
                            <a:srgbClr val="FF0000"/>
                          </a:solidFill>
                          <a:latin typeface="Cambria Math" panose="02040503050406030204" pitchFamily="18" charset="0"/>
                        </a:rPr>
                        <m:t> </m:t>
                      </m:r>
                      <m:r>
                        <a:rPr lang="en-US" sz="2200" i="1">
                          <a:latin typeface="Cambria Math" panose="02040503050406030204" pitchFamily="18" charset="0"/>
                          <a:ea typeface="Cambria Math" panose="02040503050406030204" pitchFamily="18" charset="0"/>
                        </a:rPr>
                        <m:t>⨂</m:t>
                      </m:r>
                      <m:d>
                        <m:dPr>
                          <m:begChr m:val="|"/>
                          <m:endChr m:val="⟩"/>
                          <m:ctrlPr>
                            <a:rPr lang="en-US" sz="2200" i="1">
                              <a:solidFill>
                                <a:srgbClr val="0000FF"/>
                              </a:solidFill>
                              <a:latin typeface="Cambria Math" panose="02040503050406030204" pitchFamily="18" charset="0"/>
                            </a:rPr>
                          </m:ctrlPr>
                        </m:dPr>
                        <m:e>
                          <m:r>
                            <a:rPr lang="en-US" sz="2200" b="0" i="1" smtClean="0">
                              <a:solidFill>
                                <a:srgbClr val="0000FF"/>
                              </a:solidFill>
                              <a:latin typeface="Cambria Math" panose="02040503050406030204" pitchFamily="18" charset="0"/>
                            </a:rPr>
                            <m:t> </m:t>
                          </m:r>
                          <m:r>
                            <a:rPr lang="en-US" sz="2200" i="1">
                              <a:solidFill>
                                <a:srgbClr val="0000FF"/>
                              </a:solidFill>
                              <a:latin typeface="Cambria Math" panose="02040503050406030204" pitchFamily="18" charset="0"/>
                            </a:rPr>
                            <m:t>𝑏</m:t>
                          </m:r>
                        </m:e>
                      </m:d>
                      <m:r>
                        <a:rPr lang="en-US" sz="2200" b="0" i="1" smtClean="0">
                          <a:solidFill>
                            <a:srgbClr val="0000FF"/>
                          </a:solidFill>
                          <a:latin typeface="Cambria Math" panose="02040503050406030204" pitchFamily="18" charset="0"/>
                        </a:rPr>
                        <m:t>=</m:t>
                      </m:r>
                      <m:d>
                        <m:dPr>
                          <m:ctrlPr>
                            <a:rPr lang="en-ZA" sz="2200" i="1">
                              <a:latin typeface="Cambria Math" panose="02040503050406030204" pitchFamily="18" charset="0"/>
                            </a:rPr>
                          </m:ctrlPr>
                        </m:dPr>
                        <m:e>
                          <m:m>
                            <m:mPr>
                              <m:mcs>
                                <m:mc>
                                  <m:mcPr>
                                    <m:count m:val="1"/>
                                    <m:mcJc m:val="center"/>
                                  </m:mcPr>
                                </m:mc>
                              </m:mcs>
                              <m:ctrlPr>
                                <a:rPr lang="en-ZA" sz="2200" i="1">
                                  <a:solidFill>
                                    <a:srgbClr val="FF0000"/>
                                  </a:solidFill>
                                  <a:latin typeface="Cambria Math" panose="02040503050406030204" pitchFamily="18" charset="0"/>
                                </a:rPr>
                              </m:ctrlPr>
                            </m:mP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m:t>
                                    </m:r>
                                  </m:sub>
                                </m:sSub>
                                <m:d>
                                  <m:dPr>
                                    <m:ctrlPr>
                                      <a:rPr lang="en-ZA" sz="2200" i="1">
                                        <a:latin typeface="Cambria Math" panose="02040503050406030204" pitchFamily="18" charset="0"/>
                                      </a:rPr>
                                    </m:ctrlPr>
                                  </m:dPr>
                                  <m:e>
                                    <m:m>
                                      <m:mPr>
                                        <m:mcs>
                                          <m:mc>
                                            <m:mcPr>
                                              <m:count m:val="1"/>
                                              <m:mcJc m:val="center"/>
                                            </m:mcPr>
                                          </m:mc>
                                        </m:mcs>
                                        <m:ctrlPr>
                                          <a:rPr lang="en-ZA" sz="2200" i="1">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sub>
                                          </m:sSub>
                                        </m:e>
                                      </m:mr>
                                    </m:m>
                                  </m:e>
                                </m:d>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2</m:t>
                                    </m:r>
                                  </m:sub>
                                </m:sSub>
                                <m:d>
                                  <m:dPr>
                                    <m:ctrlPr>
                                      <a:rPr lang="en-ZA" sz="2200" i="1">
                                        <a:latin typeface="Cambria Math" panose="02040503050406030204" pitchFamily="18" charset="0"/>
                                      </a:rPr>
                                    </m:ctrlPr>
                                  </m:dPr>
                                  <m:e>
                                    <m:m>
                                      <m:mPr>
                                        <m:mcs>
                                          <m:mc>
                                            <m:mcPr>
                                              <m:count m:val="1"/>
                                              <m:mcJc m:val="center"/>
                                            </m:mcPr>
                                          </m:mc>
                                        </m:mcs>
                                        <m:ctrlPr>
                                          <a:rPr lang="en-ZA" sz="2200" i="1">
                                            <a:solidFill>
                                              <a:srgbClr val="0000FF"/>
                                            </a:solidFill>
                                            <a:latin typeface="Cambria Math" panose="02040503050406030204" pitchFamily="18" charset="0"/>
                                          </a:rPr>
                                        </m:ctrlPr>
                                      </m:mP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sub>
                                          </m:sSub>
                                        </m:e>
                                      </m:mr>
                                      <m:m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2</m:t>
                                              </m:r>
                                            </m:sub>
                                          </m:sSub>
                                        </m:e>
                                      </m:mr>
                                    </m:m>
                                  </m:e>
                                </m:d>
                              </m:e>
                            </m:mr>
                          </m:m>
                        </m:e>
                      </m:d>
                      <m:r>
                        <a:rPr lang="en-US" sz="2200" b="0" i="1" smtClean="0">
                          <a:solidFill>
                            <a:schemeClr val="tx1"/>
                          </a:solidFill>
                          <a:latin typeface="Cambria Math" panose="02040503050406030204" pitchFamily="18" charset="0"/>
                        </a:rPr>
                        <m:t>=</m:t>
                      </m:r>
                      <m:d>
                        <m:dPr>
                          <m:ctrlPr>
                            <a:rPr lang="en-US" sz="2200" b="0" i="1" smtClean="0">
                              <a:solidFill>
                                <a:schemeClr val="tx1"/>
                              </a:solidFill>
                              <a:latin typeface="Cambria Math" panose="02040503050406030204" pitchFamily="18" charset="0"/>
                            </a:rPr>
                          </m:ctrlPr>
                        </m:dPr>
                        <m:e>
                          <m:m>
                            <m:mPr>
                              <m:mcs>
                                <m:mc>
                                  <m:mcPr>
                                    <m:count m:val="1"/>
                                    <m:mcJc m:val="center"/>
                                  </m:mcPr>
                                </m:mc>
                              </m:mcs>
                              <m:ctrlPr>
                                <a:rPr lang="en-US" sz="2200" b="0" i="1" smtClean="0">
                                  <a:solidFill>
                                    <a:schemeClr val="tx1"/>
                                  </a:solidFill>
                                  <a:latin typeface="Cambria Math" panose="02040503050406030204" pitchFamily="18" charset="0"/>
                                </a:rPr>
                              </m:ctrlPr>
                            </m:mP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m:t>
                                    </m:r>
                                  </m:sub>
                                </m:sSub>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sub>
                                </m:sSub>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i="1">
                                        <a:solidFill>
                                          <a:srgbClr val="FF0000"/>
                                        </a:solidFill>
                                        <a:latin typeface="Cambria Math" panose="02040503050406030204" pitchFamily="18" charset="0"/>
                                      </a:rPr>
                                      <m:t>1</m:t>
                                    </m:r>
                                  </m:sub>
                                </m:sSub>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b="0" i="1" smtClean="0">
                                        <a:solidFill>
                                          <a:srgbClr val="0000FF"/>
                                        </a:solidFill>
                                        <a:latin typeface="Cambria Math" panose="02040503050406030204" pitchFamily="18" charset="0"/>
                                      </a:rPr>
                                      <m:t>2</m:t>
                                    </m:r>
                                  </m:sub>
                                </m:sSub>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sub>
                                </m:sSub>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i="1">
                                        <a:solidFill>
                                          <a:srgbClr val="0000FF"/>
                                        </a:solidFill>
                                        <a:latin typeface="Cambria Math" panose="02040503050406030204" pitchFamily="18" charset="0"/>
                                      </a:rPr>
                                      <m:t>1</m:t>
                                    </m:r>
                                  </m:sub>
                                </m:sSub>
                              </m:e>
                            </m:mr>
                            <m:mr>
                              <m:e>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𝑎</m:t>
                                    </m:r>
                                  </m:e>
                                  <m:sub>
                                    <m:r>
                                      <a:rPr lang="en-US" sz="2200" b="0" i="1" smtClean="0">
                                        <a:solidFill>
                                          <a:srgbClr val="FF0000"/>
                                        </a:solidFill>
                                        <a:latin typeface="Cambria Math" panose="02040503050406030204" pitchFamily="18" charset="0"/>
                                      </a:rPr>
                                      <m:t>2</m:t>
                                    </m:r>
                                  </m:sub>
                                </m:sSub>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𝑏</m:t>
                                    </m:r>
                                  </m:e>
                                  <m:sub>
                                    <m:r>
                                      <a:rPr lang="en-US" sz="2200" b="0" i="1" smtClean="0">
                                        <a:solidFill>
                                          <a:srgbClr val="0000FF"/>
                                        </a:solidFill>
                                        <a:latin typeface="Cambria Math" panose="02040503050406030204" pitchFamily="18" charset="0"/>
                                      </a:rPr>
                                      <m:t>2</m:t>
                                    </m:r>
                                  </m:sub>
                                </m:sSub>
                              </m:e>
                            </m:mr>
                          </m:m>
                        </m:e>
                      </m:d>
                    </m:oMath>
                  </m:oMathPara>
                </a14:m>
                <a:endParaRPr lang="en-US" sz="2200" dirty="0"/>
              </a:p>
            </p:txBody>
          </p:sp>
        </mc:Choice>
        <mc:Fallback xmlns="">
          <p:sp>
            <p:nvSpPr>
              <p:cNvPr id="17" name="Rectangle 16">
                <a:extLst>
                  <a:ext uri="{FF2B5EF4-FFF2-40B4-BE49-F238E27FC236}">
                    <a16:creationId xmlns:a16="http://schemas.microsoft.com/office/drawing/2014/main" id="{86F1E6C1-17E0-6143-9149-927A749D117F}"/>
                  </a:ext>
                </a:extLst>
              </p:cNvPr>
              <p:cNvSpPr>
                <a:spLocks noRot="1" noChangeAspect="1" noMove="1" noResize="1" noEditPoints="1" noAdjustHandles="1" noChangeArrowheads="1" noChangeShapeType="1" noTextEdit="1"/>
              </p:cNvSpPr>
              <p:nvPr/>
            </p:nvSpPr>
            <p:spPr>
              <a:xfrm>
                <a:off x="2608377" y="1682842"/>
                <a:ext cx="8223469" cy="1421799"/>
              </a:xfrm>
              <a:prstGeom prst="rect">
                <a:avLst/>
              </a:prstGeom>
              <a:blipFill>
                <a:blip r:embed="rId6"/>
                <a:stretch>
                  <a:fillRect b="-893"/>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9FD670C2-8B43-3947-97CA-6C5B368A7FA3}"/>
              </a:ext>
            </a:extLst>
          </p:cNvPr>
          <p:cNvCxnSpPr>
            <a:cxnSpLocks/>
          </p:cNvCxnSpPr>
          <p:nvPr/>
        </p:nvCxnSpPr>
        <p:spPr>
          <a:xfrm>
            <a:off x="2608377" y="3471301"/>
            <a:ext cx="82844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433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A75B-50D9-7241-BEBD-A9D8F01ACACE}"/>
              </a:ext>
            </a:extLst>
          </p:cNvPr>
          <p:cNvSpPr>
            <a:spLocks noGrp="1"/>
          </p:cNvSpPr>
          <p:nvPr>
            <p:ph type="title"/>
          </p:nvPr>
        </p:nvSpPr>
        <p:spPr>
          <a:xfrm>
            <a:off x="0" y="0"/>
            <a:ext cx="12192000" cy="928688"/>
          </a:xfrm>
        </p:spPr>
        <p:txBody>
          <a:bodyPr/>
          <a:lstStyle/>
          <a:p>
            <a:r>
              <a:rPr lang="en-ZA" dirty="0"/>
              <a:t>2-Qubit Register</a:t>
            </a:r>
            <a:endParaRPr lang="en-US" dirty="0"/>
          </a:p>
        </p:txBody>
      </p:sp>
      <p:sp>
        <p:nvSpPr>
          <p:cNvPr id="3" name="Slide Number Placeholder 2">
            <a:extLst>
              <a:ext uri="{FF2B5EF4-FFF2-40B4-BE49-F238E27FC236}">
                <a16:creationId xmlns:a16="http://schemas.microsoft.com/office/drawing/2014/main" id="{660EDCCD-2566-6C46-B983-CA904E76A027}"/>
              </a:ext>
            </a:extLst>
          </p:cNvPr>
          <p:cNvSpPr>
            <a:spLocks noGrp="1"/>
          </p:cNvSpPr>
          <p:nvPr>
            <p:ph type="sldNum" sz="quarter" idx="12"/>
          </p:nvPr>
        </p:nvSpPr>
        <p:spPr/>
        <p:txBody>
          <a:bodyPr/>
          <a:lstStyle/>
          <a:p>
            <a:fld id="{591A223C-FA10-BC46-A853-03BA373D023C}" type="slidenum">
              <a:rPr lang="en-US" smtClean="0"/>
              <a:t>50</a:t>
            </a:fld>
            <a:endParaRPr lang="en-US"/>
          </a:p>
        </p:txBody>
      </p:sp>
      <p:sp>
        <p:nvSpPr>
          <p:cNvPr id="39" name="Oval 38">
            <a:extLst>
              <a:ext uri="{FF2B5EF4-FFF2-40B4-BE49-F238E27FC236}">
                <a16:creationId xmlns:a16="http://schemas.microsoft.com/office/drawing/2014/main" id="{954BBC6B-11BD-DD4E-9186-7ED7BC566080}"/>
              </a:ext>
            </a:extLst>
          </p:cNvPr>
          <p:cNvSpPr/>
          <p:nvPr/>
        </p:nvSpPr>
        <p:spPr>
          <a:xfrm>
            <a:off x="678636" y="2012821"/>
            <a:ext cx="1371600" cy="1371600"/>
          </a:xfrm>
          <a:prstGeom prst="ellipse">
            <a:avLst/>
          </a:prstGeom>
          <a:gradFill>
            <a:gsLst>
              <a:gs pos="0">
                <a:schemeClr val="accent5">
                  <a:lumMod val="5000"/>
                  <a:lumOff val="95000"/>
                </a:schemeClr>
              </a:gs>
              <a:gs pos="100000">
                <a:schemeClr val="accent5">
                  <a:lumMod val="30000"/>
                  <a:lumOff val="70000"/>
                </a:schemeClr>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6BBBC2D-0A00-C34F-9FCE-62478C51D246}"/>
              </a:ext>
            </a:extLst>
          </p:cNvPr>
          <p:cNvSpPr/>
          <p:nvPr/>
        </p:nvSpPr>
        <p:spPr>
          <a:xfrm>
            <a:off x="678636" y="3724060"/>
            <a:ext cx="1371600" cy="1371600"/>
          </a:xfrm>
          <a:prstGeom prst="ellipse">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9AE69D5-D13B-1C44-95BA-7F56642B4B13}"/>
                  </a:ext>
                </a:extLst>
              </p:cNvPr>
              <p:cNvSpPr txBox="1"/>
              <p:nvPr/>
            </p:nvSpPr>
            <p:spPr>
              <a:xfrm>
                <a:off x="972372" y="2417618"/>
                <a:ext cx="9220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𝑆</m:t>
                          </m:r>
                          <m:r>
                            <a:rPr lang="en-US" sz="3200" b="0" i="1" baseline="-25000" smtClean="0">
                              <a:latin typeface="Cambria Math" panose="02040503050406030204" pitchFamily="18" charset="0"/>
                            </a:rPr>
                            <m:t>1</m:t>
                          </m:r>
                        </m:e>
                      </m:d>
                    </m:oMath>
                  </m:oMathPara>
                </a14:m>
                <a:endParaRPr lang="en-US" sz="3200" dirty="0"/>
              </a:p>
            </p:txBody>
          </p:sp>
        </mc:Choice>
        <mc:Fallback xmlns="">
          <p:sp>
            <p:nvSpPr>
              <p:cNvPr id="41" name="TextBox 40">
                <a:extLst>
                  <a:ext uri="{FF2B5EF4-FFF2-40B4-BE49-F238E27FC236}">
                    <a16:creationId xmlns:a16="http://schemas.microsoft.com/office/drawing/2014/main" id="{49AE69D5-D13B-1C44-95BA-7F56642B4B13}"/>
                  </a:ext>
                </a:extLst>
              </p:cNvPr>
              <p:cNvSpPr txBox="1">
                <a:spLocks noRot="1" noChangeAspect="1" noMove="1" noResize="1" noEditPoints="1" noAdjustHandles="1" noChangeArrowheads="1" noChangeShapeType="1" noTextEdit="1"/>
              </p:cNvSpPr>
              <p:nvPr/>
            </p:nvSpPr>
            <p:spPr>
              <a:xfrm>
                <a:off x="972372" y="2417618"/>
                <a:ext cx="922047" cy="584775"/>
              </a:xfrm>
              <a:prstGeom prst="rect">
                <a:avLst/>
              </a:prstGeom>
              <a:blipFill>
                <a:blip r:embed="rId3"/>
                <a:stretch>
                  <a:fillRect b="-4255"/>
                </a:stretch>
              </a:blipFill>
            </p:spPr>
            <p:txBody>
              <a:bodyPr/>
              <a:lstStyle/>
              <a:p>
                <a:r>
                  <a:rPr lang="en-US">
                    <a:noFill/>
                  </a:rPr>
                  <a:t> </a:t>
                </a:r>
              </a:p>
            </p:txBody>
          </p:sp>
        </mc:Fallback>
      </mc:AlternateContent>
      <p:sp>
        <p:nvSpPr>
          <p:cNvPr id="46" name="Right Brace 45">
            <a:extLst>
              <a:ext uri="{FF2B5EF4-FFF2-40B4-BE49-F238E27FC236}">
                <a16:creationId xmlns:a16="http://schemas.microsoft.com/office/drawing/2014/main" id="{C43FB3FF-8BC5-4B40-9B01-C945F45E21D5}"/>
              </a:ext>
            </a:extLst>
          </p:cNvPr>
          <p:cNvSpPr/>
          <p:nvPr/>
        </p:nvSpPr>
        <p:spPr>
          <a:xfrm>
            <a:off x="2521336" y="1909837"/>
            <a:ext cx="771181" cy="3320532"/>
          </a:xfrm>
          <a:prstGeom prst="rightBrace">
            <a:avLst>
              <a:gd name="adj1" fmla="val 3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1990101-3AFF-984D-88D5-4801B9E44FC6}"/>
                  </a:ext>
                </a:extLst>
              </p:cNvPr>
              <p:cNvSpPr txBox="1"/>
              <p:nvPr/>
            </p:nvSpPr>
            <p:spPr>
              <a:xfrm>
                <a:off x="903412" y="4117472"/>
                <a:ext cx="9220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𝑆</m:t>
                          </m:r>
                          <m:r>
                            <a:rPr lang="en-US" sz="3200" b="0" i="1" baseline="-25000" smtClean="0">
                              <a:latin typeface="Cambria Math" panose="02040503050406030204" pitchFamily="18" charset="0"/>
                            </a:rPr>
                            <m:t>2</m:t>
                          </m:r>
                        </m:e>
                      </m:d>
                    </m:oMath>
                  </m:oMathPara>
                </a14:m>
                <a:endParaRPr lang="en-US" sz="3200" dirty="0"/>
              </a:p>
            </p:txBody>
          </p:sp>
        </mc:Choice>
        <mc:Fallback xmlns="">
          <p:sp>
            <p:nvSpPr>
              <p:cNvPr id="47" name="TextBox 46">
                <a:extLst>
                  <a:ext uri="{FF2B5EF4-FFF2-40B4-BE49-F238E27FC236}">
                    <a16:creationId xmlns:a16="http://schemas.microsoft.com/office/drawing/2014/main" id="{01990101-3AFF-984D-88D5-4801B9E44FC6}"/>
                  </a:ext>
                </a:extLst>
              </p:cNvPr>
              <p:cNvSpPr txBox="1">
                <a:spLocks noRot="1" noChangeAspect="1" noMove="1" noResize="1" noEditPoints="1" noAdjustHandles="1" noChangeArrowheads="1" noChangeShapeType="1" noTextEdit="1"/>
              </p:cNvSpPr>
              <p:nvPr/>
            </p:nvSpPr>
            <p:spPr>
              <a:xfrm>
                <a:off x="903412" y="4117472"/>
                <a:ext cx="922047" cy="584775"/>
              </a:xfrm>
              <a:prstGeom prst="rect">
                <a:avLst/>
              </a:prstGeom>
              <a:blipFill>
                <a:blip r:embed="rId4"/>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6B9D952-9C4B-9045-9990-70628462502F}"/>
                  </a:ext>
                </a:extLst>
              </p:cNvPr>
              <p:cNvSpPr txBox="1"/>
              <p:nvPr/>
            </p:nvSpPr>
            <p:spPr>
              <a:xfrm>
                <a:off x="192000" y="1073331"/>
                <a:ext cx="3117392" cy="646844"/>
              </a:xfrm>
              <a:prstGeom prst="rect">
                <a:avLst/>
              </a:prstGeom>
              <a:solidFill>
                <a:schemeClr val="accent5">
                  <a:lumMod val="20000"/>
                  <a:lumOff val="80000"/>
                </a:schemeClr>
              </a:solidFill>
            </p:spPr>
            <p:txBody>
              <a:bodyPr wrap="none" rtlCol="0">
                <a:spAutoFit/>
              </a:bodyPr>
              <a:lstStyle/>
              <a:p>
                <a14:m>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𝑆</m:t>
                        </m:r>
                        <m:r>
                          <a:rPr lang="en-US" sz="2400" b="0" i="1" baseline="-25000" smtClean="0">
                            <a:latin typeface="Cambria Math" panose="02040503050406030204" pitchFamily="18" charset="0"/>
                            <a:ea typeface="Cambria Math" panose="02040503050406030204" pitchFamily="18" charset="0"/>
                          </a:rPr>
                          <m:t>1</m:t>
                        </m:r>
                      </m:e>
                    </m:d>
                    <m:r>
                      <a:rPr lang="en-US" sz="2400" i="1">
                        <a:latin typeface="Cambria Math" panose="02040503050406030204" pitchFamily="18" charset="0"/>
                        <a:ea typeface="Cambria Math" panose="02040503050406030204" pitchFamily="18" charset="0"/>
                      </a:rPr>
                      <m:t> </m:t>
                    </m:r>
                  </m:oMath>
                </a14:m>
                <a:r>
                  <a:rPr lang="en-US" sz="2400" i="1" dirty="0">
                    <a:latin typeface="Cambria Math" panose="02040503050406030204" pitchFamily="18" charset="0"/>
                    <a:ea typeface="Cambria Math" panose="02040503050406030204" pitchFamily="18" charset="0"/>
                  </a:rPr>
                  <a:t>=a</a:t>
                </a:r>
                <a:r>
                  <a:rPr lang="en-US" sz="2400"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a14:m>
                <a:r>
                  <a:rPr lang="en-US" sz="2400" dirty="0">
                    <a:latin typeface="Cambria Math" panose="02040503050406030204" pitchFamily="18" charset="0"/>
                    <a:ea typeface="Cambria Math" panose="02040503050406030204" pitchFamily="18" charset="0"/>
                  </a:rPr>
                  <a:t>+</a:t>
                </a:r>
                <a:r>
                  <a:rPr lang="en-US" sz="2400" i="1" dirty="0">
                    <a:latin typeface="Cambria Math" panose="02040503050406030204" pitchFamily="18" charset="0"/>
                    <a:ea typeface="Cambria Math" panose="02040503050406030204" pitchFamily="18" charset="0"/>
                  </a:rPr>
                  <a:t>b</a:t>
                </a:r>
                <a:r>
                  <a:rPr lang="en-US" sz="2400"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oMath>
                </a14:m>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a:rPr lang="en-US" sz="2400" b="0" i="1" smtClean="0">
                                  <a:latin typeface="Cambria Math" panose="02040503050406030204" pitchFamily="18" charset="0"/>
                                </a:rPr>
                                <m:t>𝑎</m:t>
                              </m:r>
                            </m:e>
                          </m:mr>
                          <m:mr>
                            <m:e>
                              <m:r>
                                <a:rPr lang="en-US" sz="2400" b="0" i="1" smtClean="0">
                                  <a:latin typeface="Cambria Math" panose="02040503050406030204" pitchFamily="18" charset="0"/>
                                </a:rPr>
                                <m:t>𝑏</m:t>
                              </m:r>
                            </m:e>
                          </m:mr>
                        </m:m>
                      </m:e>
                    </m:d>
                  </m:oMath>
                </a14:m>
                <a:endParaRPr lang="en-US" sz="2400" dirty="0"/>
              </a:p>
            </p:txBody>
          </p:sp>
        </mc:Choice>
        <mc:Fallback xmlns="">
          <p:sp>
            <p:nvSpPr>
              <p:cNvPr id="48" name="TextBox 47">
                <a:extLst>
                  <a:ext uri="{FF2B5EF4-FFF2-40B4-BE49-F238E27FC236}">
                    <a16:creationId xmlns:a16="http://schemas.microsoft.com/office/drawing/2014/main" id="{06B9D952-9C4B-9045-9990-70628462502F}"/>
                  </a:ext>
                </a:extLst>
              </p:cNvPr>
              <p:cNvSpPr txBox="1">
                <a:spLocks noRot="1" noChangeAspect="1" noMove="1" noResize="1" noEditPoints="1" noAdjustHandles="1" noChangeArrowheads="1" noChangeShapeType="1" noTextEdit="1"/>
              </p:cNvSpPr>
              <p:nvPr/>
            </p:nvSpPr>
            <p:spPr>
              <a:xfrm>
                <a:off x="192000" y="1073331"/>
                <a:ext cx="3117392" cy="646844"/>
              </a:xfrm>
              <a:prstGeom prst="rect">
                <a:avLst/>
              </a:prstGeom>
              <a:blipFill>
                <a:blip r:embed="rId5"/>
                <a:stretch>
                  <a:fillRect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3221D11-016F-F844-9CCB-B730E7AD7646}"/>
                  </a:ext>
                </a:extLst>
              </p:cNvPr>
              <p:cNvSpPr txBox="1"/>
              <p:nvPr/>
            </p:nvSpPr>
            <p:spPr>
              <a:xfrm>
                <a:off x="192000" y="5607192"/>
                <a:ext cx="3202864" cy="645048"/>
              </a:xfrm>
              <a:prstGeom prst="rect">
                <a:avLst/>
              </a:prstGeom>
              <a:solidFill>
                <a:schemeClr val="accent4">
                  <a:lumMod val="40000"/>
                  <a:lumOff val="60000"/>
                </a:schemeClr>
              </a:solidFill>
            </p:spPr>
            <p:txBody>
              <a:bodyPr wrap="none" rtlCol="0">
                <a:spAutoFit/>
              </a:bodyPr>
              <a:lstStyle/>
              <a:p>
                <a14:m>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𝑆</m:t>
                        </m:r>
                        <m:r>
                          <a:rPr lang="en-US" sz="2400" b="0" i="1" baseline="-25000" smtClean="0">
                            <a:latin typeface="Cambria Math" panose="02040503050406030204" pitchFamily="18" charset="0"/>
                            <a:ea typeface="Cambria Math" panose="02040503050406030204" pitchFamily="18" charset="0"/>
                          </a:rPr>
                          <m:t>2</m:t>
                        </m:r>
                      </m:e>
                    </m:d>
                    <m:r>
                      <a:rPr lang="en-US" sz="2400" b="0" i="1" smtClean="0">
                        <a:latin typeface="Cambria Math" panose="02040503050406030204" pitchFamily="18" charset="0"/>
                        <a:ea typeface="Cambria Math" panose="02040503050406030204" pitchFamily="18" charset="0"/>
                      </a:rPr>
                      <m:t>=</m:t>
                    </m:r>
                  </m:oMath>
                </a14:m>
                <a:r>
                  <a:rPr lang="en-US" sz="2400" dirty="0">
                    <a:latin typeface="Cambria Math" panose="02040503050406030204" pitchFamily="18" charset="0"/>
                    <a:ea typeface="Cambria Math" panose="02040503050406030204" pitchFamily="18" charset="0"/>
                  </a:rPr>
                  <a:t>c</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a14:m>
                <a:r>
                  <a:rPr lang="en-US" sz="2400" dirty="0">
                    <a:latin typeface="Cambria Math" panose="02040503050406030204" pitchFamily="18" charset="0"/>
                    <a:ea typeface="Cambria Math" panose="02040503050406030204" pitchFamily="18" charset="0"/>
                  </a:rPr>
                  <a:t>+</a:t>
                </a:r>
                <a:r>
                  <a:rPr lang="en-US" sz="2400" i="1" dirty="0">
                    <a:latin typeface="Cambria Math" panose="02040503050406030204" pitchFamily="18" charset="0"/>
                    <a:ea typeface="Cambria Math" panose="02040503050406030204" pitchFamily="18" charset="0"/>
                  </a:rPr>
                  <a:t>d</a:t>
                </a:r>
                <a:r>
                  <a:rPr lang="en-US" sz="2400"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r>
                      <m:rPr>
                        <m:nor/>
                      </m:rPr>
                      <a:rPr lang="en-US" sz="2400" dirty="0"/>
                      <m:t>= </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1" smtClean="0">
                                  <a:latin typeface="Cambria Math" panose="02040503050406030204" pitchFamily="18" charset="0"/>
                                </a:rPr>
                                <m:t>𝑐</m:t>
                              </m:r>
                            </m:e>
                          </m:mr>
                          <m:mr>
                            <m:e>
                              <m:r>
                                <a:rPr lang="en-US" sz="2400" b="0" i="1" smtClean="0">
                                  <a:latin typeface="Cambria Math" panose="02040503050406030204" pitchFamily="18" charset="0"/>
                                </a:rPr>
                                <m:t>𝑑</m:t>
                              </m:r>
                            </m:e>
                          </m:mr>
                        </m:m>
                      </m:e>
                    </m:d>
                  </m:oMath>
                </a14:m>
                <a:endParaRPr lang="en-US" sz="2400" dirty="0"/>
              </a:p>
            </p:txBody>
          </p:sp>
        </mc:Choice>
        <mc:Fallback xmlns="">
          <p:sp>
            <p:nvSpPr>
              <p:cNvPr id="49" name="TextBox 48">
                <a:extLst>
                  <a:ext uri="{FF2B5EF4-FFF2-40B4-BE49-F238E27FC236}">
                    <a16:creationId xmlns:a16="http://schemas.microsoft.com/office/drawing/2014/main" id="{73221D11-016F-F844-9CCB-B730E7AD7646}"/>
                  </a:ext>
                </a:extLst>
              </p:cNvPr>
              <p:cNvSpPr txBox="1">
                <a:spLocks noRot="1" noChangeAspect="1" noMove="1" noResize="1" noEditPoints="1" noAdjustHandles="1" noChangeArrowheads="1" noChangeShapeType="1" noTextEdit="1"/>
              </p:cNvSpPr>
              <p:nvPr/>
            </p:nvSpPr>
            <p:spPr>
              <a:xfrm>
                <a:off x="192000" y="5607192"/>
                <a:ext cx="3202864" cy="645048"/>
              </a:xfrm>
              <a:prstGeom prst="rect">
                <a:avLst/>
              </a:prstGeom>
              <a:blipFill>
                <a:blip r:embed="rId6"/>
                <a:stretch>
                  <a:fillRect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4C8B362D-C148-D643-A13B-688DBB4A08BD}"/>
                  </a:ext>
                </a:extLst>
              </p:cNvPr>
              <p:cNvSpPr/>
              <p:nvPr/>
            </p:nvSpPr>
            <p:spPr>
              <a:xfrm>
                <a:off x="3456840" y="4221530"/>
                <a:ext cx="8465074" cy="523220"/>
              </a:xfrm>
              <a:prstGeom prst="rect">
                <a:avLst/>
              </a:prstGeom>
            </p:spPr>
            <p:txBody>
              <a:bodyPr wrap="none">
                <a:spAutoFit/>
              </a:bodyPr>
              <a:lstStyle/>
              <a:p>
                <a14:m>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i="1">
                            <a:latin typeface="Cambria Math" panose="02040503050406030204" pitchFamily="18" charset="0"/>
                            <a:ea typeface="Cambria Math" panose="02040503050406030204" pitchFamily="18" charset="0"/>
                          </a:rPr>
                          <m:t>𝑆</m:t>
                        </m:r>
                      </m:e>
                    </m:d>
                    <m:r>
                      <a:rPr lang="en-US" sz="2800" i="1" baseline="-25000">
                        <a:latin typeface="Cambria Math" panose="02040503050406030204" pitchFamily="18" charset="0"/>
                        <a:ea typeface="Cambria Math" panose="02040503050406030204" pitchFamily="18" charset="0"/>
                      </a:rPr>
                      <m:t> </m:t>
                    </m:r>
                    <m:r>
                      <m:rPr>
                        <m:nor/>
                      </m:rPr>
                      <a:rPr lang="en-US" sz="2800" i="1" dirty="0">
                        <a:latin typeface="Cambria Math" panose="02040503050406030204" pitchFamily="18" charset="0"/>
                        <a:ea typeface="Cambria Math" panose="02040503050406030204" pitchFamily="18" charset="0"/>
                      </a:rPr>
                      <m:t>=</m:t>
                    </m:r>
                    <m:d>
                      <m:dPr>
                        <m:begChr m:val="|"/>
                        <m:endChr m:val="⟩"/>
                        <m:ctrlPr>
                          <a:rPr lang="en-US" sz="2800" i="1" smtClean="0">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𝑆</m:t>
                        </m:r>
                        <m:r>
                          <a:rPr lang="en-US" sz="2800" i="1" baseline="-25000">
                            <a:latin typeface="Cambria Math" panose="02040503050406030204" pitchFamily="18" charset="0"/>
                            <a:ea typeface="Cambria Math" panose="02040503050406030204" pitchFamily="18" charset="0"/>
                          </a:rPr>
                          <m:t>1</m:t>
                        </m:r>
                      </m:e>
                    </m:d>
                  </m:oMath>
                </a14:m>
                <a:r>
                  <a:rPr lang="sr-Latn-RS" sz="2800" dirty="0"/>
                  <a:t> </a:t>
                </a:r>
                <a14:m>
                  <m:oMath xmlns:m="http://schemas.openxmlformats.org/officeDocument/2006/math">
                    <m:r>
                      <a:rPr lang="sr-Latn-RS" sz="2800">
                        <a:latin typeface="Cambria Math" panose="02040503050406030204" pitchFamily="18" charset="0"/>
                      </a:rPr>
                      <m:t>⊗</m:t>
                    </m:r>
                  </m:oMath>
                </a14:m>
                <a:r>
                  <a:rPr lang="en-US" sz="2800" i="1"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𝑆</m:t>
                        </m:r>
                        <m:r>
                          <a:rPr lang="en-US" sz="2800" i="1" baseline="-25000">
                            <a:latin typeface="Cambria Math" panose="02040503050406030204" pitchFamily="18" charset="0"/>
                            <a:ea typeface="Cambria Math" panose="02040503050406030204" pitchFamily="18" charset="0"/>
                          </a:rPr>
                          <m:t>2</m:t>
                        </m:r>
                      </m:e>
                    </m:d>
                  </m:oMath>
                </a14:m>
                <a:r>
                  <a:rPr lang="en-US" sz="2800" i="1" dirty="0">
                    <a:ea typeface="Cambria Math" panose="02040503050406030204" pitchFamily="18" charset="0"/>
                  </a:rPr>
                  <a:t> </a:t>
                </a:r>
                <a14:m>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𝑎𝑐</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r>
                          <a:rPr lang="en-US" sz="2800" b="0" i="1" smtClean="0">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m:t>
                    </m:r>
                  </m:oMath>
                </a14:m>
                <a:r>
                  <a:rPr lang="en-US" sz="2800" i="1" dirty="0">
                    <a:latin typeface="Cambria Math" panose="02040503050406030204" pitchFamily="18" charset="0"/>
                    <a:ea typeface="Cambria Math" panose="02040503050406030204" pitchFamily="18" charset="0"/>
                  </a:rPr>
                  <a:t> </a:t>
                </a:r>
                <a14:m>
                  <m:oMath xmlns:m="http://schemas.openxmlformats.org/officeDocument/2006/math">
                    <m:r>
                      <a:rPr lang="en-US" sz="2800" b="0" i="1" dirty="0" smtClean="0">
                        <a:latin typeface="Cambria Math" panose="02040503050406030204" pitchFamily="18" charset="0"/>
                        <a:ea typeface="Cambria Math" panose="02040503050406030204" pitchFamily="18" charset="0"/>
                      </a:rPr>
                      <m:t>𝑎𝑑</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0</m:t>
                        </m:r>
                        <m:r>
                          <a:rPr lang="en-US" sz="2800" b="0" i="1" smtClean="0">
                            <a:latin typeface="Cambria Math" panose="02040503050406030204" pitchFamily="18" charset="0"/>
                            <a:ea typeface="Cambria Math" panose="02040503050406030204" pitchFamily="18" charset="0"/>
                          </a:rPr>
                          <m:t>1</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𝑏𝑐</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m:t>
                    </m:r>
                    <m:r>
                      <m:rPr>
                        <m:nor/>
                      </m:rPr>
                      <a:rPr lang="en-US" sz="2800" i="1" dirty="0">
                        <a:latin typeface="Cambria Math" panose="02040503050406030204" pitchFamily="18" charset="0"/>
                        <a:ea typeface="Cambria Math" panose="02040503050406030204" pitchFamily="18" charset="0"/>
                      </a:rPr>
                      <m:t>b</m:t>
                    </m:r>
                    <m:r>
                      <m:rPr>
                        <m:nor/>
                      </m:rPr>
                      <a:rPr lang="en-US" sz="2800" b="0" i="1" dirty="0" smtClean="0">
                        <a:latin typeface="Cambria Math" panose="02040503050406030204" pitchFamily="18" charset="0"/>
                        <a:ea typeface="Cambria Math" panose="02040503050406030204" pitchFamily="18" charset="0"/>
                      </a:rPr>
                      <m:t>d</m:t>
                    </m:r>
                    <m:r>
                      <m:rPr>
                        <m:nor/>
                      </m:rPr>
                      <a:rPr lang="en-US" sz="2800" i="1" dirty="0">
                        <a:latin typeface="Cambria Math" panose="02040503050406030204" pitchFamily="18" charset="0"/>
                        <a:ea typeface="Cambria Math" panose="02040503050406030204" pitchFamily="18" charset="0"/>
                      </a:rPr>
                      <m:t> </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1</m:t>
                        </m:r>
                      </m:e>
                    </m:d>
                  </m:oMath>
                </a14:m>
                <a:endParaRPr lang="en-US" sz="2800" i="1" dirty="0"/>
              </a:p>
            </p:txBody>
          </p:sp>
        </mc:Choice>
        <mc:Fallback xmlns="">
          <p:sp>
            <p:nvSpPr>
              <p:cNvPr id="57" name="Rectangle 56">
                <a:extLst>
                  <a:ext uri="{FF2B5EF4-FFF2-40B4-BE49-F238E27FC236}">
                    <a16:creationId xmlns:a16="http://schemas.microsoft.com/office/drawing/2014/main" id="{4C8B362D-C148-D643-A13B-688DBB4A08BD}"/>
                  </a:ext>
                </a:extLst>
              </p:cNvPr>
              <p:cNvSpPr>
                <a:spLocks noRot="1" noChangeAspect="1" noMove="1" noResize="1" noEditPoints="1" noAdjustHandles="1" noChangeArrowheads="1" noChangeShapeType="1" noTextEdit="1"/>
              </p:cNvSpPr>
              <p:nvPr/>
            </p:nvSpPr>
            <p:spPr>
              <a:xfrm>
                <a:off x="3456840" y="4221530"/>
                <a:ext cx="8465074" cy="523220"/>
              </a:xfrm>
              <a:prstGeom prst="rect">
                <a:avLst/>
              </a:prstGeom>
              <a:blipFill>
                <a:blip r:embed="rId7"/>
                <a:stretch>
                  <a:fillRect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5D64A14C-21E0-9F46-A296-EACFA8BA5895}"/>
                  </a:ext>
                </a:extLst>
              </p:cNvPr>
              <p:cNvSpPr/>
              <p:nvPr/>
            </p:nvSpPr>
            <p:spPr>
              <a:xfrm>
                <a:off x="4464296" y="5421411"/>
                <a:ext cx="64501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m:rPr>
                              <m:sty m:val="p"/>
                            </m:rPr>
                            <a:rPr lang="en-US" sz="2800" b="0" i="0" smtClean="0">
                              <a:latin typeface="Cambria Math" panose="02040503050406030204" pitchFamily="18" charset="0"/>
                            </a:rPr>
                            <m:t>where</m:t>
                          </m:r>
                          <m:r>
                            <a:rPr lang="en-US" sz="2800" b="0" i="1" smtClean="0">
                              <a:latin typeface="Cambria Math" panose="02040503050406030204" pitchFamily="18" charset="0"/>
                            </a:rPr>
                            <m:t> </m:t>
                          </m:r>
                          <m:d>
                            <m:dPr>
                              <m:begChr m:val="|"/>
                              <m:endChr m:val="|"/>
                              <m:ctrlPr>
                                <a:rPr lang="en-US" sz="2800" i="1">
                                  <a:latin typeface="Cambria Math" panose="02040503050406030204" pitchFamily="18" charset="0"/>
                                </a:rPr>
                              </m:ctrlPr>
                            </m:dPr>
                            <m:e>
                              <m:r>
                                <a:rPr lang="en-US" sz="2800" i="1" smtClean="0">
                                  <a:latin typeface="Cambria Math" panose="02040503050406030204" pitchFamily="18" charset="0"/>
                                </a:rPr>
                                <m:t>𝑎</m:t>
                              </m:r>
                              <m:r>
                                <a:rPr lang="en-US" sz="2800" b="0" i="1" smtClean="0">
                                  <a:latin typeface="Cambria Math" panose="02040503050406030204" pitchFamily="18" charset="0"/>
                                </a:rPr>
                                <m:t>𝑐</m:t>
                              </m:r>
                            </m:e>
                          </m:d>
                        </m:e>
                        <m:sup>
                          <m:r>
                            <a:rPr lang="en-US" sz="2800">
                              <a:latin typeface="Cambria Math" panose="02040503050406030204" pitchFamily="18" charset="0"/>
                            </a:rPr>
                            <m:t>2</m:t>
                          </m:r>
                        </m:sup>
                      </m:sSup>
                      <m:r>
                        <a:rPr lang="en-US" sz="280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smtClean="0">
                                  <a:latin typeface="Cambria Math" panose="02040503050406030204" pitchFamily="18" charset="0"/>
                                </a:rPr>
                                <m:t>𝑎</m:t>
                              </m:r>
                              <m:r>
                                <a:rPr lang="en-US" sz="2800" b="0" i="1" smtClean="0">
                                  <a:latin typeface="Cambria Math" panose="02040503050406030204" pitchFamily="18" charset="0"/>
                                </a:rPr>
                                <m:t>𝑑</m:t>
                              </m:r>
                            </m:e>
                          </m:d>
                        </m:e>
                        <m:sup>
                          <m:r>
                            <a:rPr lang="en-US" sz="2800">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smtClean="0">
                                  <a:latin typeface="Cambria Math" panose="02040503050406030204" pitchFamily="18" charset="0"/>
                                </a:rPr>
                                <m:t>𝑏</m:t>
                              </m:r>
                              <m:r>
                                <a:rPr lang="en-US" sz="2800" b="0" i="1" smtClean="0">
                                  <a:latin typeface="Cambria Math" panose="02040503050406030204" pitchFamily="18" charset="0"/>
                                </a:rPr>
                                <m:t>𝑐</m:t>
                              </m:r>
                            </m:e>
                          </m:d>
                        </m:e>
                        <m:sup>
                          <m:r>
                            <a:rPr lang="en-US" sz="2800">
                              <a:latin typeface="Cambria Math" panose="02040503050406030204" pitchFamily="18" charset="0"/>
                            </a:rPr>
                            <m:t>2</m:t>
                          </m:r>
                        </m:sup>
                      </m:sSup>
                      <m:r>
                        <a:rPr lang="en-US" sz="2800" b="0" i="0"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smtClean="0">
                                  <a:latin typeface="Cambria Math" panose="02040503050406030204" pitchFamily="18" charset="0"/>
                                </a:rPr>
                                <m:t>𝑏</m:t>
                              </m:r>
                              <m:r>
                                <a:rPr lang="en-US" sz="2800" b="0" i="1" smtClean="0">
                                  <a:latin typeface="Cambria Math" panose="02040503050406030204" pitchFamily="18" charset="0"/>
                                </a:rPr>
                                <m:t>𝑑</m:t>
                              </m:r>
                            </m:e>
                          </m:d>
                        </m:e>
                        <m:sup>
                          <m:r>
                            <a:rPr lang="en-US" sz="2800">
                              <a:latin typeface="Cambria Math" panose="02040503050406030204" pitchFamily="18" charset="0"/>
                            </a:rPr>
                            <m:t>2</m:t>
                          </m:r>
                        </m:sup>
                      </m:sSup>
                      <m:r>
                        <a:rPr lang="en-US" sz="2800">
                          <a:latin typeface="Cambria Math" panose="02040503050406030204" pitchFamily="18" charset="0"/>
                        </a:rPr>
                        <m:t>=1</m:t>
                      </m:r>
                    </m:oMath>
                  </m:oMathPara>
                </a14:m>
                <a:endParaRPr lang="en-US" sz="2800" dirty="0"/>
              </a:p>
            </p:txBody>
          </p:sp>
        </mc:Choice>
        <mc:Fallback xmlns="">
          <p:sp>
            <p:nvSpPr>
              <p:cNvPr id="61" name="Rectangle 60">
                <a:extLst>
                  <a:ext uri="{FF2B5EF4-FFF2-40B4-BE49-F238E27FC236}">
                    <a16:creationId xmlns:a16="http://schemas.microsoft.com/office/drawing/2014/main" id="{5D64A14C-21E0-9F46-A296-EACFA8BA5895}"/>
                  </a:ext>
                </a:extLst>
              </p:cNvPr>
              <p:cNvSpPr>
                <a:spLocks noRot="1" noChangeAspect="1" noMove="1" noResize="1" noEditPoints="1" noAdjustHandles="1" noChangeArrowheads="1" noChangeShapeType="1" noTextEdit="1"/>
              </p:cNvSpPr>
              <p:nvPr/>
            </p:nvSpPr>
            <p:spPr>
              <a:xfrm>
                <a:off x="4464296" y="5421411"/>
                <a:ext cx="6450163" cy="523220"/>
              </a:xfrm>
              <a:prstGeom prst="rect">
                <a:avLst/>
              </a:prstGeom>
              <a:blipFill>
                <a:blip r:embed="rId8"/>
                <a:stretch>
                  <a:fillRect b="-2142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0743A6CE-75C6-4040-8100-171E2461A061}"/>
              </a:ext>
            </a:extLst>
          </p:cNvPr>
          <p:cNvSpPr/>
          <p:nvPr/>
        </p:nvSpPr>
        <p:spPr>
          <a:xfrm>
            <a:off x="448700" y="1909837"/>
            <a:ext cx="1908313" cy="165562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2F492B6-6F41-CC45-8DDC-1EA5F3B9EF33}"/>
              </a:ext>
            </a:extLst>
          </p:cNvPr>
          <p:cNvSpPr/>
          <p:nvPr/>
        </p:nvSpPr>
        <p:spPr>
          <a:xfrm>
            <a:off x="448699" y="3574744"/>
            <a:ext cx="1908313" cy="165562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224C294A-2CBD-0A43-96A1-2E5A0DC80C67}"/>
                  </a:ext>
                </a:extLst>
              </p:cNvPr>
              <p:cNvSpPr/>
              <p:nvPr/>
            </p:nvSpPr>
            <p:spPr>
              <a:xfrm>
                <a:off x="4652071" y="2015643"/>
                <a:ext cx="6074612" cy="1581202"/>
              </a:xfrm>
              <a:prstGeom prst="rect">
                <a:avLst/>
              </a:prstGeom>
            </p:spPr>
            <p:txBody>
              <a:bodyPr wrap="none">
                <a:spAutoFit/>
              </a:bodyPr>
              <a:lstStyle/>
              <a:p>
                <a14:m>
                  <m:oMath xmlns:m="http://schemas.openxmlformats.org/officeDocument/2006/math">
                    <m:d>
                      <m:dPr>
                        <m:begChr m:val="|"/>
                        <m:endChr m:val="⟩"/>
                        <m:ctrlPr>
                          <a:rPr lang="en-US" sz="2800" i="1" smtClean="0">
                            <a:latin typeface="Cambria Math" panose="02040503050406030204" pitchFamily="18" charset="0"/>
                            <a:ea typeface="Cambria Math" panose="02040503050406030204" pitchFamily="18" charset="0"/>
                          </a:rPr>
                        </m:ctrlPr>
                      </m:dPr>
                      <m:e>
                        <m:r>
                          <a:rPr lang="sr-Latn-RS" sz="2800" i="1">
                            <a:latin typeface="Cambria Math" panose="02040503050406030204" pitchFamily="18" charset="0"/>
                            <a:ea typeface="Cambria Math" panose="02040503050406030204" pitchFamily="18" charset="0"/>
                          </a:rPr>
                          <m:t>𝑆</m:t>
                        </m:r>
                      </m:e>
                    </m:d>
                    <m:r>
                      <a:rPr lang="en-US" sz="2800" i="1" baseline="-25000">
                        <a:latin typeface="Cambria Math" panose="02040503050406030204" pitchFamily="18" charset="0"/>
                        <a:ea typeface="Cambria Math" panose="02040503050406030204" pitchFamily="18" charset="0"/>
                      </a:rPr>
                      <m:t> </m:t>
                    </m:r>
                    <m:r>
                      <m:rPr>
                        <m:nor/>
                      </m:rPr>
                      <a:rPr lang="en-US" sz="2800" i="1" dirty="0">
                        <a:latin typeface="Cambria Math" panose="02040503050406030204" pitchFamily="18" charset="0"/>
                        <a:ea typeface="Cambria Math" panose="02040503050406030204" pitchFamily="18" charset="0"/>
                      </a:rPr>
                      <m:t>=</m:t>
                    </m:r>
                    <m:d>
                      <m:dPr>
                        <m:begChr m:val="|"/>
                        <m:endChr m:val="⟩"/>
                        <m:ctrlPr>
                          <a:rPr lang="en-US" sz="2800" i="1" smtClean="0">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𝑆</m:t>
                        </m:r>
                        <m:r>
                          <a:rPr lang="en-US" sz="2800" i="1" baseline="-25000">
                            <a:latin typeface="Cambria Math" panose="02040503050406030204" pitchFamily="18" charset="0"/>
                            <a:ea typeface="Cambria Math" panose="02040503050406030204" pitchFamily="18" charset="0"/>
                          </a:rPr>
                          <m:t>1</m:t>
                        </m:r>
                      </m:e>
                    </m:d>
                  </m:oMath>
                </a14:m>
                <a:r>
                  <a:rPr lang="sr-Latn-RS" sz="2800" dirty="0"/>
                  <a:t> </a:t>
                </a:r>
                <a14:m>
                  <m:oMath xmlns:m="http://schemas.openxmlformats.org/officeDocument/2006/math">
                    <m:r>
                      <a:rPr lang="sr-Latn-RS" sz="2800">
                        <a:latin typeface="Cambria Math" panose="02040503050406030204" pitchFamily="18" charset="0"/>
                      </a:rPr>
                      <m:t>⊗</m:t>
                    </m:r>
                  </m:oMath>
                </a14:m>
                <a:r>
                  <a:rPr lang="en-US" sz="2800" i="1" dirty="0">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𝑆</m:t>
                        </m:r>
                        <m:r>
                          <a:rPr lang="en-US" sz="2800" i="1" baseline="-25000">
                            <a:latin typeface="Cambria Math" panose="02040503050406030204" pitchFamily="18" charset="0"/>
                            <a:ea typeface="Cambria Math" panose="02040503050406030204" pitchFamily="18" charset="0"/>
                          </a:rPr>
                          <m:t>2</m:t>
                        </m:r>
                      </m:e>
                    </m:d>
                  </m:oMath>
                </a14:m>
                <a:r>
                  <a:rPr lang="en-US" sz="2800" i="1" dirty="0">
                    <a:ea typeface="Cambria Math" panose="02040503050406030204" pitchFamily="18" charset="0"/>
                  </a:rPr>
                  <a:t> </a:t>
                </a:r>
                <a14:m>
                  <m:oMath xmlns:m="http://schemas.openxmlformats.org/officeDocument/2006/math">
                    <m:r>
                      <a:rPr lang="en-US" sz="2800" b="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𝑎</m:t>
                              </m:r>
                            </m:e>
                          </m:mr>
                          <m:mr>
                            <m:e>
                              <m:r>
                                <a:rPr lang="en-US" sz="2800" i="1">
                                  <a:latin typeface="Cambria Math" panose="02040503050406030204" pitchFamily="18" charset="0"/>
                                </a:rPr>
                                <m:t>𝑏</m:t>
                              </m:r>
                            </m:e>
                          </m:mr>
                        </m:m>
                      </m:e>
                    </m:d>
                  </m:oMath>
                </a14:m>
                <a:r>
                  <a:rPr lang="sr-Latn-RS" sz="2800" dirty="0"/>
                  <a:t> </a:t>
                </a:r>
                <a14:m>
                  <m:oMath xmlns:m="http://schemas.openxmlformats.org/officeDocument/2006/math">
                    <m:r>
                      <a:rPr lang="sr-Latn-RS" sz="280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𝑐</m:t>
                              </m:r>
                            </m:e>
                          </m:mr>
                          <m:mr>
                            <m:e>
                              <m:r>
                                <a:rPr lang="en-US" sz="2800" i="1">
                                  <a:latin typeface="Cambria Math" panose="02040503050406030204" pitchFamily="18" charset="0"/>
                                </a:rPr>
                                <m:t>𝑑</m:t>
                              </m:r>
                            </m:e>
                          </m:mr>
                        </m:m>
                      </m:e>
                    </m:d>
                    <m:r>
                      <a:rPr lang="en-US" sz="2800" b="0" i="1" smtClean="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a:rPr lang="en-US" sz="2800" b="0" i="1" smtClean="0">
                                  <a:latin typeface="Cambria Math" panose="02040503050406030204" pitchFamily="18" charset="0"/>
                                </a:rPr>
                                <m:t>𝑎𝑐</m:t>
                              </m:r>
                            </m:e>
                          </m:mr>
                          <m:mr>
                            <m:e>
                              <m:r>
                                <a:rPr lang="en-US" sz="2800" b="0" i="1" smtClean="0">
                                  <a:latin typeface="Cambria Math" panose="02040503050406030204" pitchFamily="18" charset="0"/>
                                </a:rPr>
                                <m:t>𝑎𝑑</m:t>
                              </m:r>
                            </m:e>
                          </m:mr>
                          <m:mr>
                            <m:e>
                              <m:r>
                                <a:rPr lang="en-US" sz="2800" b="0" i="1" smtClean="0">
                                  <a:latin typeface="Cambria Math" panose="02040503050406030204" pitchFamily="18" charset="0"/>
                                </a:rPr>
                                <m:t>𝑏𝑐</m:t>
                              </m:r>
                            </m:e>
                          </m:mr>
                          <m:mr>
                            <m:e>
                              <m:r>
                                <a:rPr lang="en-US" sz="2800" b="0" i="1" smtClean="0">
                                  <a:latin typeface="Cambria Math" panose="02040503050406030204" pitchFamily="18" charset="0"/>
                                </a:rPr>
                                <m:t>𝑏𝑑</m:t>
                              </m:r>
                            </m:e>
                          </m:mr>
                        </m:m>
                      </m:e>
                    </m:d>
                  </m:oMath>
                </a14:m>
                <a:endParaRPr lang="en-US" sz="2800" i="1" dirty="0"/>
              </a:p>
            </p:txBody>
          </p:sp>
        </mc:Choice>
        <mc:Fallback xmlns="">
          <p:sp>
            <p:nvSpPr>
              <p:cNvPr id="23" name="Rectangle 22">
                <a:extLst>
                  <a:ext uri="{FF2B5EF4-FFF2-40B4-BE49-F238E27FC236}">
                    <a16:creationId xmlns:a16="http://schemas.microsoft.com/office/drawing/2014/main" id="{224C294A-2CBD-0A43-96A1-2E5A0DC80C67}"/>
                  </a:ext>
                </a:extLst>
              </p:cNvPr>
              <p:cNvSpPr>
                <a:spLocks noRot="1" noChangeAspect="1" noMove="1" noResize="1" noEditPoints="1" noAdjustHandles="1" noChangeArrowheads="1" noChangeShapeType="1" noTextEdit="1"/>
              </p:cNvSpPr>
              <p:nvPr/>
            </p:nvSpPr>
            <p:spPr>
              <a:xfrm>
                <a:off x="4652071" y="2015643"/>
                <a:ext cx="6074612" cy="1581202"/>
              </a:xfrm>
              <a:prstGeom prst="rect">
                <a:avLst/>
              </a:prstGeom>
              <a:blipFill>
                <a:blip r:embed="rId9"/>
                <a:stretch>
                  <a:fillRect b="-4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BB5939B-1D6F-0A41-8E03-852D0A88A957}"/>
              </a:ext>
            </a:extLst>
          </p:cNvPr>
          <p:cNvSpPr txBox="1"/>
          <p:nvPr/>
        </p:nvSpPr>
        <p:spPr>
          <a:xfrm>
            <a:off x="7439950" y="3473231"/>
            <a:ext cx="498855" cy="523220"/>
          </a:xfrm>
          <a:prstGeom prst="rect">
            <a:avLst/>
          </a:prstGeom>
          <a:noFill/>
        </p:spPr>
        <p:txBody>
          <a:bodyPr wrap="none" rtlCol="0">
            <a:spAutoFit/>
          </a:bodyPr>
          <a:lstStyle/>
          <a:p>
            <a:r>
              <a:rPr lang="en-US" sz="2800" dirty="0"/>
              <a:t>or</a:t>
            </a:r>
          </a:p>
        </p:txBody>
      </p:sp>
    </p:spTree>
    <p:extLst>
      <p:ext uri="{BB962C8B-B14F-4D97-AF65-F5344CB8AC3E}">
        <p14:creationId xmlns:p14="http://schemas.microsoft.com/office/powerpoint/2010/main" val="273622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dissolve">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dissolve">
                                      <p:cBhvr>
                                        <p:cTn id="1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1" grpId="0"/>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A75B-50D9-7241-BEBD-A9D8F01ACACE}"/>
              </a:ext>
            </a:extLst>
          </p:cNvPr>
          <p:cNvSpPr>
            <a:spLocks noGrp="1"/>
          </p:cNvSpPr>
          <p:nvPr>
            <p:ph type="title"/>
          </p:nvPr>
        </p:nvSpPr>
        <p:spPr>
          <a:xfrm>
            <a:off x="0" y="0"/>
            <a:ext cx="12192000" cy="928688"/>
          </a:xfrm>
        </p:spPr>
        <p:txBody>
          <a:bodyPr/>
          <a:lstStyle/>
          <a:p>
            <a:r>
              <a:rPr lang="en-ZA" dirty="0"/>
              <a:t>n-Qubit Register</a:t>
            </a:r>
            <a:endParaRPr lang="en-US" dirty="0"/>
          </a:p>
        </p:txBody>
      </p:sp>
      <p:sp>
        <p:nvSpPr>
          <p:cNvPr id="3" name="Slide Number Placeholder 2">
            <a:extLst>
              <a:ext uri="{FF2B5EF4-FFF2-40B4-BE49-F238E27FC236}">
                <a16:creationId xmlns:a16="http://schemas.microsoft.com/office/drawing/2014/main" id="{660EDCCD-2566-6C46-B983-CA904E76A027}"/>
              </a:ext>
            </a:extLst>
          </p:cNvPr>
          <p:cNvSpPr>
            <a:spLocks noGrp="1"/>
          </p:cNvSpPr>
          <p:nvPr>
            <p:ph type="sldNum" sz="quarter" idx="12"/>
          </p:nvPr>
        </p:nvSpPr>
        <p:spPr/>
        <p:txBody>
          <a:bodyPr/>
          <a:lstStyle/>
          <a:p>
            <a:fld id="{591A223C-FA10-BC46-A853-03BA373D023C}" type="slidenum">
              <a:rPr lang="en-US" smtClean="0"/>
              <a:t>51</a:t>
            </a:fld>
            <a:endParaRPr lang="en-US"/>
          </a:p>
        </p:txBody>
      </p:sp>
      <p:sp>
        <p:nvSpPr>
          <p:cNvPr id="4" name="Oval 3">
            <a:extLst>
              <a:ext uri="{FF2B5EF4-FFF2-40B4-BE49-F238E27FC236}">
                <a16:creationId xmlns:a16="http://schemas.microsoft.com/office/drawing/2014/main" id="{5944D466-52CE-7A4B-98ED-DE351E3C96E9}"/>
              </a:ext>
            </a:extLst>
          </p:cNvPr>
          <p:cNvSpPr/>
          <p:nvPr/>
        </p:nvSpPr>
        <p:spPr>
          <a:xfrm>
            <a:off x="1002241" y="1133624"/>
            <a:ext cx="1371600" cy="1371600"/>
          </a:xfrm>
          <a:prstGeom prst="ellipse">
            <a:avLst/>
          </a:prstGeom>
          <a:gradFill>
            <a:gsLst>
              <a:gs pos="0">
                <a:schemeClr val="accent5">
                  <a:lumMod val="5000"/>
                  <a:lumOff val="95000"/>
                </a:schemeClr>
              </a:gs>
              <a:gs pos="100000">
                <a:schemeClr val="accent5">
                  <a:lumMod val="30000"/>
                  <a:lumOff val="70000"/>
                </a:schemeClr>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28AF147-EE82-9F49-BB2C-8E9FFEE1D343}"/>
              </a:ext>
            </a:extLst>
          </p:cNvPr>
          <p:cNvSpPr/>
          <p:nvPr/>
        </p:nvSpPr>
        <p:spPr>
          <a:xfrm>
            <a:off x="1002241" y="2687511"/>
            <a:ext cx="1371600" cy="1371600"/>
          </a:xfrm>
          <a:prstGeom prst="ellipse">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AB8B759-0600-1140-93DE-39B5F02522E7}"/>
                  </a:ext>
                </a:extLst>
              </p:cNvPr>
              <p:cNvSpPr txBox="1"/>
              <p:nvPr/>
            </p:nvSpPr>
            <p:spPr>
              <a:xfrm>
                <a:off x="1295977" y="1538421"/>
                <a:ext cx="94352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0</m:t>
                              </m:r>
                            </m:sub>
                          </m:sSub>
                        </m:e>
                      </m:d>
                    </m:oMath>
                  </m:oMathPara>
                </a14:m>
                <a:endParaRPr lang="en-US" sz="3200" dirty="0"/>
              </a:p>
            </p:txBody>
          </p:sp>
        </mc:Choice>
        <mc:Fallback xmlns="">
          <p:sp>
            <p:nvSpPr>
              <p:cNvPr id="7" name="TextBox 6">
                <a:extLst>
                  <a:ext uri="{FF2B5EF4-FFF2-40B4-BE49-F238E27FC236}">
                    <a16:creationId xmlns:a16="http://schemas.microsoft.com/office/drawing/2014/main" id="{AAB8B759-0600-1140-93DE-39B5F02522E7}"/>
                  </a:ext>
                </a:extLst>
              </p:cNvPr>
              <p:cNvSpPr txBox="1">
                <a:spLocks noRot="1" noChangeAspect="1" noMove="1" noResize="1" noEditPoints="1" noAdjustHandles="1" noChangeArrowheads="1" noChangeShapeType="1" noTextEdit="1"/>
              </p:cNvSpPr>
              <p:nvPr/>
            </p:nvSpPr>
            <p:spPr>
              <a:xfrm>
                <a:off x="1295977" y="1538421"/>
                <a:ext cx="943527" cy="584775"/>
              </a:xfrm>
              <a:prstGeom prst="rect">
                <a:avLst/>
              </a:prstGeom>
              <a:blipFill>
                <a:blip r:embed="rId3"/>
                <a:stretch>
                  <a:fillRect b="-4255"/>
                </a:stretch>
              </a:blipFill>
            </p:spPr>
            <p:txBody>
              <a:bodyPr/>
              <a:lstStyle/>
              <a:p>
                <a:r>
                  <a:rPr lang="en-US">
                    <a:noFill/>
                  </a:rPr>
                  <a:t> </a:t>
                </a:r>
              </a:p>
            </p:txBody>
          </p:sp>
        </mc:Fallback>
      </mc:AlternateContent>
      <p:sp>
        <p:nvSpPr>
          <p:cNvPr id="12" name="Right Brace 11">
            <a:extLst>
              <a:ext uri="{FF2B5EF4-FFF2-40B4-BE49-F238E27FC236}">
                <a16:creationId xmlns:a16="http://schemas.microsoft.com/office/drawing/2014/main" id="{4B25700A-4A35-AD4B-8D2A-2CB9B3180141}"/>
              </a:ext>
            </a:extLst>
          </p:cNvPr>
          <p:cNvSpPr/>
          <p:nvPr/>
        </p:nvSpPr>
        <p:spPr>
          <a:xfrm>
            <a:off x="2973043" y="1133624"/>
            <a:ext cx="771181" cy="5494596"/>
          </a:xfrm>
          <a:prstGeom prst="rightBrace">
            <a:avLst>
              <a:gd name="adj1" fmla="val 3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760ED49-7B57-C74A-BBB5-0A0816905037}"/>
                  </a:ext>
                </a:extLst>
              </p:cNvPr>
              <p:cNvSpPr txBox="1"/>
              <p:nvPr/>
            </p:nvSpPr>
            <p:spPr>
              <a:xfrm>
                <a:off x="1255563" y="3080923"/>
                <a:ext cx="93403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1</m:t>
                              </m:r>
                            </m:sub>
                          </m:sSub>
                        </m:e>
                      </m:d>
                    </m:oMath>
                  </m:oMathPara>
                </a14:m>
                <a:endParaRPr lang="en-US" sz="3200" dirty="0"/>
              </a:p>
            </p:txBody>
          </p:sp>
        </mc:Choice>
        <mc:Fallback xmlns="">
          <p:sp>
            <p:nvSpPr>
              <p:cNvPr id="16" name="TextBox 15">
                <a:extLst>
                  <a:ext uri="{FF2B5EF4-FFF2-40B4-BE49-F238E27FC236}">
                    <a16:creationId xmlns:a16="http://schemas.microsoft.com/office/drawing/2014/main" id="{B760ED49-7B57-C74A-BBB5-0A0816905037}"/>
                  </a:ext>
                </a:extLst>
              </p:cNvPr>
              <p:cNvSpPr txBox="1">
                <a:spLocks noRot="1" noChangeAspect="1" noMove="1" noResize="1" noEditPoints="1" noAdjustHandles="1" noChangeArrowheads="1" noChangeShapeType="1" noTextEdit="1"/>
              </p:cNvSpPr>
              <p:nvPr/>
            </p:nvSpPr>
            <p:spPr>
              <a:xfrm>
                <a:off x="1255563" y="3080923"/>
                <a:ext cx="934037" cy="584775"/>
              </a:xfrm>
              <a:prstGeom prst="rect">
                <a:avLst/>
              </a:prstGeom>
              <a:blipFill>
                <a:blip r:embed="rId4"/>
                <a:stretch>
                  <a:fillRect/>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06DEF11D-28E2-EB4D-93C2-CEB5643CCCAD}"/>
              </a:ext>
            </a:extLst>
          </p:cNvPr>
          <p:cNvSpPr/>
          <p:nvPr/>
        </p:nvSpPr>
        <p:spPr>
          <a:xfrm>
            <a:off x="1002241" y="5256620"/>
            <a:ext cx="1371600" cy="1371600"/>
          </a:xfrm>
          <a:prstGeom prst="ellipse">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2BC71B-43C5-914A-82BC-1CB5182D8AB5}"/>
                  </a:ext>
                </a:extLst>
              </p:cNvPr>
              <p:cNvSpPr txBox="1"/>
              <p:nvPr/>
            </p:nvSpPr>
            <p:spPr>
              <a:xfrm>
                <a:off x="996383" y="5650032"/>
                <a:ext cx="1360629"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𝑛</m:t>
                              </m:r>
                              <m:r>
                                <a:rPr lang="en-US" sz="3200" b="0" i="1" smtClean="0">
                                  <a:latin typeface="Cambria Math" panose="02040503050406030204" pitchFamily="18" charset="0"/>
                                </a:rPr>
                                <m:t>−1</m:t>
                              </m:r>
                            </m:sub>
                          </m:sSub>
                        </m:e>
                      </m:d>
                    </m:oMath>
                  </m:oMathPara>
                </a14:m>
                <a:endParaRPr lang="en-US" sz="3200" dirty="0"/>
              </a:p>
            </p:txBody>
          </p:sp>
        </mc:Choice>
        <mc:Fallback xmlns="">
          <p:sp>
            <p:nvSpPr>
              <p:cNvPr id="20" name="TextBox 19">
                <a:extLst>
                  <a:ext uri="{FF2B5EF4-FFF2-40B4-BE49-F238E27FC236}">
                    <a16:creationId xmlns:a16="http://schemas.microsoft.com/office/drawing/2014/main" id="{222BC71B-43C5-914A-82BC-1CB5182D8AB5}"/>
                  </a:ext>
                </a:extLst>
              </p:cNvPr>
              <p:cNvSpPr txBox="1">
                <a:spLocks noRot="1" noChangeAspect="1" noMove="1" noResize="1" noEditPoints="1" noAdjustHandles="1" noChangeArrowheads="1" noChangeShapeType="1" noTextEdit="1"/>
              </p:cNvSpPr>
              <p:nvPr/>
            </p:nvSpPr>
            <p:spPr>
              <a:xfrm>
                <a:off x="996383" y="5650032"/>
                <a:ext cx="1360629" cy="584775"/>
              </a:xfrm>
              <a:prstGeom prst="rect">
                <a:avLst/>
              </a:prstGeom>
              <a:blipFill>
                <a:blip r:embed="rId5"/>
                <a:stretch>
                  <a:fillRect b="-2128"/>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078F99D1-F4D9-FE4F-9057-6FC40B1D3E5C}"/>
              </a:ext>
            </a:extLst>
          </p:cNvPr>
          <p:cNvSpPr/>
          <p:nvPr/>
        </p:nvSpPr>
        <p:spPr>
          <a:xfrm>
            <a:off x="1598461" y="4215386"/>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3B1ABC-4E6F-7542-91A3-8787E71BD3C2}"/>
              </a:ext>
            </a:extLst>
          </p:cNvPr>
          <p:cNvSpPr/>
          <p:nvPr/>
        </p:nvSpPr>
        <p:spPr>
          <a:xfrm>
            <a:off x="1598461" y="4583760"/>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C5F0A47-D8B9-EA4A-82A5-86D10C29E354}"/>
              </a:ext>
            </a:extLst>
          </p:cNvPr>
          <p:cNvSpPr/>
          <p:nvPr/>
        </p:nvSpPr>
        <p:spPr>
          <a:xfrm>
            <a:off x="1598461" y="4929587"/>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0A761C79-28FE-6540-9189-0E51EB15DEC4}"/>
                  </a:ext>
                </a:extLst>
              </p:cNvPr>
              <p:cNvSpPr/>
              <p:nvPr/>
            </p:nvSpPr>
            <p:spPr>
              <a:xfrm>
                <a:off x="3434086" y="1927809"/>
                <a:ext cx="6637202"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000</m:t>
                          </m:r>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r>
                            <a:rPr lang="en-US" sz="2400" b="0" i="1" smtClean="0">
                              <a:latin typeface="Cambria Math" panose="02040503050406030204" pitchFamily="18" charset="0"/>
                            </a:rPr>
                            <m:t>1</m:t>
                          </m:r>
                        </m:e>
                      </m:d>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2</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3</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11</m:t>
                          </m:r>
                        </m:e>
                      </m:d>
                    </m:oMath>
                  </m:oMathPara>
                </a14:m>
                <a:endParaRPr lang="en-US" sz="2400" dirty="0"/>
              </a:p>
              <a:p>
                <a:r>
                  <a:rPr lang="en-US" sz="2400" dirty="0"/>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4</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00</m:t>
                        </m:r>
                      </m:e>
                    </m:d>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5</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b="0" i="0"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6</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r>
                          <a:rPr lang="en-US" sz="2400" i="1">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7</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111</m:t>
                        </m:r>
                      </m:e>
                    </m:d>
                  </m:oMath>
                </a14:m>
                <a:endParaRPr lang="en-US" sz="2400" dirty="0"/>
              </a:p>
            </p:txBody>
          </p:sp>
        </mc:Choice>
        <mc:Fallback xmlns="">
          <p:sp>
            <p:nvSpPr>
              <p:cNvPr id="27" name="Rectangle 26">
                <a:extLst>
                  <a:ext uri="{FF2B5EF4-FFF2-40B4-BE49-F238E27FC236}">
                    <a16:creationId xmlns:a16="http://schemas.microsoft.com/office/drawing/2014/main" id="{0A761C79-28FE-6540-9189-0E51EB15DEC4}"/>
                  </a:ext>
                </a:extLst>
              </p:cNvPr>
              <p:cNvSpPr>
                <a:spLocks noRot="1" noChangeAspect="1" noMove="1" noResize="1" noEditPoints="1" noAdjustHandles="1" noChangeArrowheads="1" noChangeShapeType="1" noTextEdit="1"/>
              </p:cNvSpPr>
              <p:nvPr/>
            </p:nvSpPr>
            <p:spPr>
              <a:xfrm>
                <a:off x="3434086" y="1927809"/>
                <a:ext cx="6637202" cy="830997"/>
              </a:xfrm>
              <a:prstGeom prst="rect">
                <a:avLst/>
              </a:prstGeom>
              <a:blipFill>
                <a:blip r:embed="rId7"/>
                <a:stretch>
                  <a:fillRect b="-15152"/>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0C9230C0-5377-BC47-9868-B48DEE995B70}"/>
              </a:ext>
            </a:extLst>
          </p:cNvPr>
          <p:cNvSpPr txBox="1"/>
          <p:nvPr/>
        </p:nvSpPr>
        <p:spPr>
          <a:xfrm>
            <a:off x="3742428" y="1299884"/>
            <a:ext cx="1188146" cy="461665"/>
          </a:xfrm>
          <a:prstGeom prst="rect">
            <a:avLst/>
          </a:prstGeom>
          <a:noFill/>
        </p:spPr>
        <p:txBody>
          <a:bodyPr wrap="none" rtlCol="0">
            <a:spAutoFit/>
          </a:bodyPr>
          <a:lstStyle/>
          <a:p>
            <a:r>
              <a:rPr lang="en-US" sz="2400" dirty="0"/>
              <a:t>3 qubits</a:t>
            </a:r>
          </a:p>
        </p:txBody>
      </p:sp>
      <p:grpSp>
        <p:nvGrpSpPr>
          <p:cNvPr id="8" name="Group 7">
            <a:extLst>
              <a:ext uri="{FF2B5EF4-FFF2-40B4-BE49-F238E27FC236}">
                <a16:creationId xmlns:a16="http://schemas.microsoft.com/office/drawing/2014/main" id="{A3B4C998-C6AD-A746-B8CD-CEB7246A5D18}"/>
              </a:ext>
            </a:extLst>
          </p:cNvPr>
          <p:cNvGrpSpPr/>
          <p:nvPr/>
        </p:nvGrpSpPr>
        <p:grpSpPr>
          <a:xfrm>
            <a:off x="4003860" y="4698813"/>
            <a:ext cx="5464060" cy="1731400"/>
            <a:chOff x="4003860" y="4698813"/>
            <a:chExt cx="5464060" cy="1731400"/>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C4E0477C-F612-B448-B06A-474F21B94B14}"/>
                    </a:ext>
                  </a:extLst>
                </p:cNvPr>
                <p:cNvSpPr/>
                <p:nvPr/>
              </p:nvSpPr>
              <p:spPr>
                <a:xfrm>
                  <a:off x="4003860" y="5264316"/>
                  <a:ext cx="5464060"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400" i="1" smtClean="0">
                                <a:latin typeface="Cambria Math" panose="02040503050406030204" pitchFamily="18" charset="0"/>
                              </a:rPr>
                            </m:ctrlPr>
                          </m:mPr>
                          <m:m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nary>
                                <m:naryPr>
                                  <m:chr m:val="∑"/>
                                  <m:limLoc m:val="undOvr"/>
                                  <m:ctrlPr>
                                    <a:rPr lang="en-US" sz="2400" i="1">
                                      <a:latin typeface="Cambria Math" panose="02040503050406030204" pitchFamily="18" charset="0"/>
                                    </a:rPr>
                                  </m:ctrlPr>
                                </m:naryPr>
                                <m:sub>
                                  <m:r>
                                    <a:rPr lang="sr-Latn-RS" sz="2400" i="1">
                                      <a:latin typeface="Cambria Math" panose="02040503050406030204" pitchFamily="18" charset="0"/>
                                    </a:rPr>
                                    <m:t>𝑘</m:t>
                                  </m:r>
                                  <m:r>
                                    <a:rPr lang="sr-Latn-RS" sz="2400" i="1">
                                      <a:latin typeface="Cambria Math" panose="02040503050406030204" pitchFamily="18" charset="0"/>
                                    </a:rPr>
                                    <m:t>=0</m:t>
                                  </m:r>
                                </m:sub>
                                <m:sup>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r>
                                    <a:rPr lang="en-US" sz="2400" i="0">
                                      <a:latin typeface="Cambria Math" panose="02040503050406030204" pitchFamily="18" charset="0"/>
                                    </a:rPr>
                                    <m:t>−1</m:t>
                                  </m:r>
                                </m:sup>
                                <m:e>
                                  <m:sSub>
                                    <m:sSubPr>
                                      <m:ctrlPr>
                                        <a:rPr lang="en-US" sz="2400" i="1">
                                          <a:latin typeface="Cambria Math" panose="02040503050406030204" pitchFamily="18" charset="0"/>
                                        </a:rPr>
                                      </m:ctrlPr>
                                    </m:sSubPr>
                                    <m:e>
                                      <m:r>
                                        <a:rPr lang="sr-Latn-RS" sz="2400" b="0" i="1" smtClean="0">
                                          <a:latin typeface="Cambria Math" panose="02040503050406030204" pitchFamily="18" charset="0"/>
                                        </a:rPr>
                                        <m:t>𝑎</m:t>
                                      </m:r>
                                    </m:e>
                                    <m:sub>
                                      <m:r>
                                        <a:rPr lang="en-US" sz="2400" i="1">
                                          <a:latin typeface="Cambria Math" panose="02040503050406030204" pitchFamily="18" charset="0"/>
                                        </a:rPr>
                                        <m:t>𝑘</m:t>
                                      </m:r>
                                    </m:sub>
                                  </m:sSub>
                                </m:e>
                              </m:nary>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𝑘</m:t>
                                  </m:r>
                                </m:e>
                              </m:d>
                            </m:e>
                            <m:e>
                              <m:r>
                                <m:rPr>
                                  <m:sty m:val="p"/>
                                </m:rPr>
                                <a:rPr lang="en-US" sz="2400" b="0" i="0" smtClean="0">
                                  <a:latin typeface="Cambria Math" panose="02040503050406030204" pitchFamily="18" charset="0"/>
                                </a:rPr>
                                <m:t>where</m:t>
                              </m:r>
                              <m:r>
                                <a:rPr lang="en-US" sz="2400" i="0">
                                  <a:latin typeface="Cambria Math" panose="02040503050406030204" pitchFamily="18" charset="0"/>
                                </a:rPr>
                                <m:t> </m:t>
                              </m:r>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𝑘</m:t>
                                  </m:r>
                                  <m:r>
                                    <a:rPr lang="en-US" sz="2400" i="0">
                                      <a:latin typeface="Cambria Math" panose="02040503050406030204" pitchFamily="18" charset="0"/>
                                    </a:rPr>
                                    <m:t>=0</m:t>
                                  </m:r>
                                </m:sub>
                                <m:sup>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r>
                                    <a:rPr lang="en-US" sz="2400" i="0">
                                      <a:latin typeface="Cambria Math" panose="02040503050406030204" pitchFamily="18" charset="0"/>
                                    </a:rPr>
                                    <m:t>−1</m:t>
                                  </m:r>
                                </m:sup>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sr-Latn-RS" sz="2400" b="0" i="1" smtClean="0">
                                                  <a:latin typeface="Cambria Math" panose="02040503050406030204" pitchFamily="18" charset="0"/>
                                                </a:rPr>
                                                <m:t>𝑎</m:t>
                                              </m:r>
                                            </m:e>
                                            <m:sub>
                                              <m:r>
                                                <a:rPr lang="en-US" sz="2400" i="1">
                                                  <a:latin typeface="Cambria Math" panose="02040503050406030204" pitchFamily="18" charset="0"/>
                                                </a:rPr>
                                                <m:t>𝑘</m:t>
                                              </m:r>
                                            </m:sub>
                                          </m:sSub>
                                        </m:e>
                                      </m:d>
                                    </m:e>
                                    <m:sup>
                                      <m:r>
                                        <a:rPr lang="en-US" sz="2400" i="0">
                                          <a:latin typeface="Cambria Math" panose="02040503050406030204" pitchFamily="18" charset="0"/>
                                        </a:rPr>
                                        <m:t>2</m:t>
                                      </m:r>
                                    </m:sup>
                                  </m:sSup>
                                </m:e>
                              </m:nary>
                              <m:r>
                                <a:rPr lang="en-US" sz="2400" i="0">
                                  <a:latin typeface="Cambria Math" panose="02040503050406030204" pitchFamily="18" charset="0"/>
                                </a:rPr>
                                <m:t>=1</m:t>
                              </m:r>
                            </m:e>
                          </m:mr>
                        </m:m>
                      </m:oMath>
                    </m:oMathPara>
                  </a14:m>
                  <a:endParaRPr lang="en-US" sz="2400" dirty="0"/>
                </a:p>
              </p:txBody>
            </p:sp>
          </mc:Choice>
          <mc:Fallback xmlns="">
            <p:sp>
              <p:nvSpPr>
                <p:cNvPr id="25" name="Rectangle 24">
                  <a:extLst>
                    <a:ext uri="{FF2B5EF4-FFF2-40B4-BE49-F238E27FC236}">
                      <a16:creationId xmlns:a16="http://schemas.microsoft.com/office/drawing/2014/main" id="{C4E0477C-F612-B448-B06A-474F21B94B14}"/>
                    </a:ext>
                  </a:extLst>
                </p:cNvPr>
                <p:cNvSpPr>
                  <a:spLocks noRot="1" noChangeAspect="1" noMove="1" noResize="1" noEditPoints="1" noAdjustHandles="1" noChangeArrowheads="1" noChangeShapeType="1" noTextEdit="1"/>
                </p:cNvSpPr>
                <p:nvPr/>
              </p:nvSpPr>
              <p:spPr>
                <a:xfrm>
                  <a:off x="4003860" y="5264316"/>
                  <a:ext cx="5464060" cy="1165897"/>
                </a:xfrm>
                <a:prstGeom prst="rect">
                  <a:avLst/>
                </a:prstGeom>
                <a:blipFill>
                  <a:blip r:embed="rId8"/>
                  <a:stretch>
                    <a:fillRect l="-3009" t="-96739" b="-15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6A02148-83E6-AD42-80D3-7D0D5BEDFDE1}"/>
                    </a:ext>
                  </a:extLst>
                </p:cNvPr>
                <p:cNvSpPr txBox="1"/>
                <p:nvPr/>
              </p:nvSpPr>
              <p:spPr>
                <a:xfrm>
                  <a:off x="4003860" y="4698813"/>
                  <a:ext cx="1294393" cy="461665"/>
                </a:xfrm>
                <a:prstGeom prst="rect">
                  <a:avLst/>
                </a:prstGeom>
                <a:noFill/>
              </p:spPr>
              <p:txBody>
                <a:bodyPr wrap="none" rtlCol="0">
                  <a:spAutoFit/>
                </a:bodyPr>
                <a:lstStyle/>
                <a:p>
                  <a14:m>
                    <m:oMath xmlns:m="http://schemas.openxmlformats.org/officeDocument/2006/math">
                      <m:r>
                        <a:rPr lang="en-US" sz="2400" b="0" i="1" smtClean="0">
                          <a:latin typeface="Cambria Math" panose="02040503050406030204" pitchFamily="18" charset="0"/>
                        </a:rPr>
                        <m:t>𝑛</m:t>
                      </m:r>
                      <m:r>
                        <a:rPr lang="en-US" sz="2400" i="1">
                          <a:latin typeface="Cambria Math" panose="02040503050406030204" pitchFamily="18" charset="0"/>
                        </a:rPr>
                        <m:t> </m:t>
                      </m:r>
                    </m:oMath>
                  </a14:m>
                  <a:r>
                    <a:rPr lang="en-US" sz="2400" dirty="0"/>
                    <a:t>qubits:</a:t>
                  </a:r>
                </a:p>
              </p:txBody>
            </p:sp>
          </mc:Choice>
          <mc:Fallback xmlns="">
            <p:sp>
              <p:nvSpPr>
                <p:cNvPr id="30" name="TextBox 29">
                  <a:extLst>
                    <a:ext uri="{FF2B5EF4-FFF2-40B4-BE49-F238E27FC236}">
                      <a16:creationId xmlns:a16="http://schemas.microsoft.com/office/drawing/2014/main" id="{06A02148-83E6-AD42-80D3-7D0D5BEDFDE1}"/>
                    </a:ext>
                  </a:extLst>
                </p:cNvPr>
                <p:cNvSpPr txBox="1">
                  <a:spLocks noRot="1" noChangeAspect="1" noMove="1" noResize="1" noEditPoints="1" noAdjustHandles="1" noChangeArrowheads="1" noChangeShapeType="1" noTextEdit="1"/>
                </p:cNvSpPr>
                <p:nvPr/>
              </p:nvSpPr>
              <p:spPr>
                <a:xfrm>
                  <a:off x="4003860" y="4698813"/>
                  <a:ext cx="1294393" cy="461665"/>
                </a:xfrm>
                <a:prstGeom prst="rect">
                  <a:avLst/>
                </a:prstGeom>
                <a:blipFill>
                  <a:blip r:embed="rId9"/>
                  <a:stretch>
                    <a:fillRect t="-5405" r="-5825" b="-29730"/>
                  </a:stretch>
                </a:blipFill>
              </p:spPr>
              <p:txBody>
                <a:bodyPr/>
                <a:lstStyle/>
                <a:p>
                  <a:r>
                    <a:rPr lang="en-US">
                      <a:noFill/>
                    </a:rPr>
                    <a:t> </a:t>
                  </a:r>
                </a:p>
              </p:txBody>
            </p:sp>
          </mc:Fallback>
        </mc:AlternateContent>
      </p:grpSp>
      <p:sp>
        <p:nvSpPr>
          <p:cNvPr id="31" name="Oval 30">
            <a:extLst>
              <a:ext uri="{FF2B5EF4-FFF2-40B4-BE49-F238E27FC236}">
                <a16:creationId xmlns:a16="http://schemas.microsoft.com/office/drawing/2014/main" id="{FB3255C8-A49F-1140-8D91-9EA293306C3E}"/>
              </a:ext>
            </a:extLst>
          </p:cNvPr>
          <p:cNvSpPr/>
          <p:nvPr/>
        </p:nvSpPr>
        <p:spPr>
          <a:xfrm>
            <a:off x="6945826" y="3411185"/>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EC1066F-11B3-BC4E-967C-CDD8557005A3}"/>
              </a:ext>
            </a:extLst>
          </p:cNvPr>
          <p:cNvSpPr/>
          <p:nvPr/>
        </p:nvSpPr>
        <p:spPr>
          <a:xfrm>
            <a:off x="6945826" y="3779559"/>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F507C0-CD5C-C842-A74C-F40DFE0F874A}"/>
              </a:ext>
            </a:extLst>
          </p:cNvPr>
          <p:cNvSpPr/>
          <p:nvPr/>
        </p:nvSpPr>
        <p:spPr>
          <a:xfrm>
            <a:off x="6945826" y="4125386"/>
            <a:ext cx="180000" cy="18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DA8ACB4-975E-D64A-98E3-98831D49C81C}"/>
                  </a:ext>
                </a:extLst>
              </p:cNvPr>
              <p:cNvSpPr/>
              <p:nvPr/>
            </p:nvSpPr>
            <p:spPr>
              <a:xfrm>
                <a:off x="9652820" y="928688"/>
                <a:ext cx="1349216" cy="2872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d>
                        <m:dPr>
                          <m:ctrlPr>
                            <a:rPr lang="en-US" sz="2400" i="1" smtClean="0">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0</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1</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2</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3</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4</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5</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6</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7</m:t>
                                    </m:r>
                                  </m:sub>
                                </m:sSub>
                              </m:e>
                            </m:mr>
                          </m:m>
                        </m:e>
                      </m:d>
                    </m:oMath>
                  </m:oMathPara>
                </a14:m>
                <a:endParaRPr lang="en-US" sz="2400" dirty="0"/>
              </a:p>
            </p:txBody>
          </p:sp>
        </mc:Choice>
        <mc:Fallback xmlns="">
          <p:sp>
            <p:nvSpPr>
              <p:cNvPr id="6" name="Rectangle 5">
                <a:extLst>
                  <a:ext uri="{FF2B5EF4-FFF2-40B4-BE49-F238E27FC236}">
                    <a16:creationId xmlns:a16="http://schemas.microsoft.com/office/drawing/2014/main" id="{5DA8ACB4-975E-D64A-98E3-98831D49C81C}"/>
                  </a:ext>
                </a:extLst>
              </p:cNvPr>
              <p:cNvSpPr>
                <a:spLocks noRot="1" noChangeAspect="1" noMove="1" noResize="1" noEditPoints="1" noAdjustHandles="1" noChangeArrowheads="1" noChangeShapeType="1" noTextEdit="1"/>
              </p:cNvSpPr>
              <p:nvPr/>
            </p:nvSpPr>
            <p:spPr>
              <a:xfrm>
                <a:off x="9652820" y="928688"/>
                <a:ext cx="1349216" cy="2872646"/>
              </a:xfrm>
              <a:prstGeom prst="rect">
                <a:avLst/>
              </a:prstGeom>
              <a:blipFill>
                <a:blip r:embed="rId10"/>
                <a:stretch>
                  <a:fillRect/>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F05496C5-C019-904E-903E-09195440012A}"/>
              </a:ext>
            </a:extLst>
          </p:cNvPr>
          <p:cNvSpPr/>
          <p:nvPr/>
        </p:nvSpPr>
        <p:spPr>
          <a:xfrm>
            <a:off x="847058" y="1075721"/>
            <a:ext cx="1698244" cy="15382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A0BF668-EF04-1D44-823E-76AD3EAB26E7}"/>
              </a:ext>
            </a:extLst>
          </p:cNvPr>
          <p:cNvSpPr/>
          <p:nvPr/>
        </p:nvSpPr>
        <p:spPr>
          <a:xfrm>
            <a:off x="852171" y="2606903"/>
            <a:ext cx="1698244" cy="15382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D532A05-87BF-1943-BB24-BC80D3AFAD59}"/>
              </a:ext>
            </a:extLst>
          </p:cNvPr>
          <p:cNvSpPr/>
          <p:nvPr/>
        </p:nvSpPr>
        <p:spPr>
          <a:xfrm>
            <a:off x="850296" y="5173282"/>
            <a:ext cx="1698244" cy="15382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005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038D64-0DAD-9741-9894-C66FBA043F19}"/>
              </a:ext>
            </a:extLst>
          </p:cNvPr>
          <p:cNvSpPr>
            <a:spLocks noGrp="1"/>
          </p:cNvSpPr>
          <p:nvPr>
            <p:ph type="title"/>
          </p:nvPr>
        </p:nvSpPr>
        <p:spPr/>
        <p:txBody>
          <a:bodyPr/>
          <a:lstStyle/>
          <a:p>
            <a:r>
              <a:rPr lang="en-ZA" sz="3600" dirty="0"/>
              <a:t>Postulate of Composite Quantum Systems</a:t>
            </a:r>
            <a:endParaRPr lang="en-US" dirty="0"/>
          </a:p>
        </p:txBody>
      </p:sp>
      <p:sp>
        <p:nvSpPr>
          <p:cNvPr id="2" name="Slide Number Placeholder 1">
            <a:extLst>
              <a:ext uri="{FF2B5EF4-FFF2-40B4-BE49-F238E27FC236}">
                <a16:creationId xmlns:a16="http://schemas.microsoft.com/office/drawing/2014/main" id="{61A63606-B702-8546-97EF-792A3CB91B14}"/>
              </a:ext>
            </a:extLst>
          </p:cNvPr>
          <p:cNvSpPr>
            <a:spLocks noGrp="1"/>
          </p:cNvSpPr>
          <p:nvPr>
            <p:ph type="sldNum" sz="quarter" idx="12"/>
          </p:nvPr>
        </p:nvSpPr>
        <p:spPr/>
        <p:txBody>
          <a:bodyPr/>
          <a:lstStyle/>
          <a:p>
            <a:fld id="{591A223C-FA10-BC46-A853-03BA373D023C}" type="slidenum">
              <a:rPr lang="en-US" smtClean="0"/>
              <a:t>52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BF3C67-8443-2D42-81CE-7082D70B1452}"/>
                  </a:ext>
                </a:extLst>
              </p:cNvPr>
              <p:cNvSpPr txBox="1"/>
              <p:nvPr/>
            </p:nvSpPr>
            <p:spPr>
              <a:xfrm>
                <a:off x="250497" y="1419853"/>
                <a:ext cx="11691005" cy="3108543"/>
              </a:xfrm>
              <a:prstGeom prst="rect">
                <a:avLst/>
              </a:prstGeom>
              <a:solidFill>
                <a:schemeClr val="accent4">
                  <a:lumMod val="20000"/>
                  <a:lumOff val="80000"/>
                </a:schemeClr>
              </a:solidFill>
            </p:spPr>
            <p:txBody>
              <a:bodyPr wrap="square" rtlCol="0">
                <a:spAutoFit/>
              </a:bodyPr>
              <a:lstStyle/>
              <a:p>
                <a:pPr algn="ctr"/>
                <a:r>
                  <a:rPr lang="en-ZA" sz="2800" dirty="0"/>
                  <a:t>The state space of a composite quantum system is the tensor product of the state spaces of its individual systems. If </a:t>
                </a:r>
                <a14:m>
                  <m:oMath xmlns:m="http://schemas.openxmlformats.org/officeDocument/2006/math">
                    <m:r>
                      <a:rPr lang="en-US" sz="2800" b="0" i="1" smtClean="0">
                        <a:latin typeface="Cambria Math" panose="02040503050406030204" pitchFamily="18" charset="0"/>
                      </a:rPr>
                      <m:t>𝑛</m:t>
                    </m:r>
                  </m:oMath>
                </a14:m>
                <a:r>
                  <a:rPr lang="en-ZA" sz="2800" dirty="0"/>
                  <a:t> qubits are individually in states </a:t>
                </a:r>
                <a14:m>
                  <m:oMath xmlns:m="http://schemas.openxmlformats.org/officeDocument/2006/math">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1</m:t>
                            </m:r>
                          </m:sub>
                        </m:sSub>
                      </m:e>
                    </m:d>
                  </m:oMath>
                </a14:m>
                <a:r>
                  <a:rPr lang="en-ZA" sz="2800" dirty="0"/>
                  <a:t>,</a:t>
                </a:r>
                <a:r>
                  <a:rPr lang="en-US" sz="2800" dirty="0"/>
                  <a:t> </a:t>
                </a:r>
                <a14:m>
                  <m:oMath xmlns:m="http://schemas.openxmlformats.org/officeDocument/2006/math">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2</m:t>
                            </m:r>
                          </m:sub>
                        </m:sSub>
                      </m:e>
                    </m:d>
                    <m:r>
                      <a:rPr lang="en-US" sz="2800"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𝑛</m:t>
                            </m:r>
                          </m:sub>
                        </m:sSub>
                      </m:e>
                    </m:d>
                  </m:oMath>
                </a14:m>
                <a:r>
                  <a:rPr lang="en-ZA" sz="2800" dirty="0"/>
                  <a:t>, their joint product state is</a:t>
                </a:r>
              </a:p>
              <a:p>
                <a:pPr algn="ctr"/>
                <a:endParaRPr lang="en-ZA" sz="2800" dirty="0"/>
              </a:p>
              <a:p>
                <a:pPr algn="ct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e>
                      </m:d>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1</m:t>
                              </m:r>
                            </m:sub>
                          </m:sSub>
                        </m:e>
                      </m:d>
                      <m:r>
                        <a:rPr lang="en-U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2</m:t>
                              </m:r>
                            </m:sub>
                          </m:sSub>
                        </m:e>
                      </m:d>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𝑛</m:t>
                              </m:r>
                            </m:sub>
                          </m:sSub>
                        </m:e>
                      </m:d>
                    </m:oMath>
                  </m:oMathPara>
                </a14:m>
                <a:endParaRPr lang="en-ZA" sz="2800" dirty="0"/>
              </a:p>
              <a:p>
                <a:pPr algn="ctr"/>
                <a:endParaRPr lang="en-ZA" sz="2800" dirty="0"/>
              </a:p>
              <a:p>
                <a:pPr algn="ctr"/>
                <a:r>
                  <a:rPr lang="en-ZA" sz="2800" dirty="0"/>
                  <a:t>where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ZA" sz="2800" dirty="0"/>
                  <a:t> denotes the tensor (Kronecker) product.</a:t>
                </a:r>
              </a:p>
            </p:txBody>
          </p:sp>
        </mc:Choice>
        <mc:Fallback xmlns="">
          <p:sp>
            <p:nvSpPr>
              <p:cNvPr id="4" name="TextBox 3">
                <a:extLst>
                  <a:ext uri="{FF2B5EF4-FFF2-40B4-BE49-F238E27FC236}">
                    <a16:creationId xmlns:a16="http://schemas.microsoft.com/office/drawing/2014/main" id="{23BF3C67-8443-2D42-81CE-7082D70B1452}"/>
                  </a:ext>
                </a:extLst>
              </p:cNvPr>
              <p:cNvSpPr txBox="1">
                <a:spLocks noRot="1" noChangeAspect="1" noMove="1" noResize="1" noEditPoints="1" noAdjustHandles="1" noChangeArrowheads="1" noChangeShapeType="1" noTextEdit="1"/>
              </p:cNvSpPr>
              <p:nvPr/>
            </p:nvSpPr>
            <p:spPr>
              <a:xfrm>
                <a:off x="250497" y="1419853"/>
                <a:ext cx="11691005" cy="3108543"/>
              </a:xfrm>
              <a:prstGeom prst="rect">
                <a:avLst/>
              </a:prstGeom>
              <a:blipFill>
                <a:blip r:embed="rId3"/>
                <a:stretch>
                  <a:fillRect t="-2033" b="-4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BD34B4-61F1-AE40-BA81-A38B8AD92809}"/>
                  </a:ext>
                </a:extLst>
              </p:cNvPr>
              <p:cNvSpPr txBox="1"/>
              <p:nvPr/>
            </p:nvSpPr>
            <p:spPr>
              <a:xfrm>
                <a:off x="2432892" y="4881570"/>
                <a:ext cx="7757316" cy="1384995"/>
              </a:xfrm>
              <a:prstGeom prst="rect">
                <a:avLst/>
              </a:prstGeom>
              <a:solidFill>
                <a:schemeClr val="accent6">
                  <a:lumMod val="20000"/>
                  <a:lumOff val="80000"/>
                </a:schemeClr>
              </a:solidFill>
            </p:spPr>
            <p:txBody>
              <a:bodyPr wrap="none" rtlCol="0">
                <a:spAutoFit/>
              </a:bodyPr>
              <a:lstStyle/>
              <a:p>
                <a:r>
                  <a:rPr lang="en-US" sz="2800" dirty="0"/>
                  <a:t>T</a:t>
                </a:r>
                <a:r>
                  <a:rPr lang="en-ZA" sz="2800" dirty="0"/>
                  <a:t>he joint state belongs to the composite state space</a:t>
                </a:r>
              </a:p>
              <a:p>
                <a:endParaRPr lang="en-US" sz="28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Cambria Math" panose="02040503050406030204" pitchFamily="18" charset="0"/>
                        </a:rPr>
                        <m:t>ℋ</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ℋ</m:t>
                          </m:r>
                        </m:e>
                        <m:sub>
                          <m:r>
                            <a:rPr lang="en-US" sz="2800" i="1">
                              <a:latin typeface="Cambria Math" panose="02040503050406030204" pitchFamily="18" charset="0"/>
                            </a:rPr>
                            <m:t>1</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ℋ</m:t>
                          </m:r>
                        </m:e>
                        <m:sub>
                          <m:r>
                            <a:rPr lang="en-US" sz="2800" i="1">
                              <a:latin typeface="Cambria Math" panose="02040503050406030204" pitchFamily="18" charset="0"/>
                              <a:ea typeface="Cambria Math" panose="02040503050406030204" pitchFamily="18" charset="0"/>
                            </a:rPr>
                            <m:t>2</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ℋ</m:t>
                          </m:r>
                        </m:e>
                        <m:sub>
                          <m:r>
                            <a:rPr lang="en-US" sz="2800" i="1">
                              <a:latin typeface="Cambria Math" panose="02040503050406030204" pitchFamily="18" charset="0"/>
                              <a:ea typeface="Cambria Math" panose="02040503050406030204" pitchFamily="18" charset="0"/>
                            </a:rPr>
                            <m:t>𝑛</m:t>
                          </m:r>
                        </m:sub>
                      </m:sSub>
                    </m:oMath>
                  </m:oMathPara>
                </a14:m>
                <a:endParaRPr lang="en-ZA" sz="2800" dirty="0"/>
              </a:p>
            </p:txBody>
          </p:sp>
        </mc:Choice>
        <mc:Fallback xmlns="">
          <p:sp>
            <p:nvSpPr>
              <p:cNvPr id="5" name="TextBox 4">
                <a:extLst>
                  <a:ext uri="{FF2B5EF4-FFF2-40B4-BE49-F238E27FC236}">
                    <a16:creationId xmlns:a16="http://schemas.microsoft.com/office/drawing/2014/main" id="{16BD34B4-61F1-AE40-BA81-A38B8AD92809}"/>
                  </a:ext>
                </a:extLst>
              </p:cNvPr>
              <p:cNvSpPr txBox="1">
                <a:spLocks noRot="1" noChangeAspect="1" noMove="1" noResize="1" noEditPoints="1" noAdjustHandles="1" noChangeArrowheads="1" noChangeShapeType="1" noTextEdit="1"/>
              </p:cNvSpPr>
              <p:nvPr/>
            </p:nvSpPr>
            <p:spPr>
              <a:xfrm>
                <a:off x="2432892" y="4881570"/>
                <a:ext cx="7757316" cy="1384995"/>
              </a:xfrm>
              <a:prstGeom prst="rect">
                <a:avLst/>
              </a:prstGeom>
              <a:blipFill>
                <a:blip r:embed="rId4"/>
                <a:stretch>
                  <a:fillRect l="-1803" t="-4587" r="-656" b="-1835"/>
                </a:stretch>
              </a:blipFill>
            </p:spPr>
            <p:txBody>
              <a:bodyPr/>
              <a:lstStyle/>
              <a:p>
                <a:r>
                  <a:rPr lang="en-US">
                    <a:noFill/>
                  </a:rPr>
                  <a:t> </a:t>
                </a:r>
              </a:p>
            </p:txBody>
          </p:sp>
        </mc:Fallback>
      </mc:AlternateContent>
    </p:spTree>
    <p:extLst>
      <p:ext uri="{BB962C8B-B14F-4D97-AF65-F5344CB8AC3E}">
        <p14:creationId xmlns:p14="http://schemas.microsoft.com/office/powerpoint/2010/main" val="10815042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83181A-C4DE-0342-AD13-CCED5FA4B00F}"/>
              </a:ext>
            </a:extLst>
          </p:cNvPr>
          <p:cNvSpPr>
            <a:spLocks noGrp="1"/>
          </p:cNvSpPr>
          <p:nvPr>
            <p:ph type="sldNum" sz="quarter" idx="12"/>
          </p:nvPr>
        </p:nvSpPr>
        <p:spPr/>
        <p:txBody>
          <a:bodyPr/>
          <a:lstStyle/>
          <a:p>
            <a:fld id="{591A223C-FA10-BC46-A853-03BA373D023C}" type="slidenum">
              <a:rPr lang="en-US" smtClean="0"/>
              <a:t>53</a:t>
            </a:fld>
            <a:endParaRPr lang="en-US"/>
          </a:p>
        </p:txBody>
      </p:sp>
      <p:sp>
        <p:nvSpPr>
          <p:cNvPr id="3" name="Title 2">
            <a:extLst>
              <a:ext uri="{FF2B5EF4-FFF2-40B4-BE49-F238E27FC236}">
                <a16:creationId xmlns:a16="http://schemas.microsoft.com/office/drawing/2014/main" id="{5DA19530-D2E8-874F-A86A-8687748B9CD7}"/>
              </a:ext>
            </a:extLst>
          </p:cNvPr>
          <p:cNvSpPr>
            <a:spLocks noGrp="1"/>
          </p:cNvSpPr>
          <p:nvPr>
            <p:ph type="title"/>
          </p:nvPr>
        </p:nvSpPr>
        <p:spPr>
          <a:xfrm>
            <a:off x="0" y="0"/>
            <a:ext cx="12192000" cy="928688"/>
          </a:xfrm>
        </p:spPr>
        <p:txBody>
          <a:bodyPr/>
          <a:lstStyle/>
          <a:p>
            <a:r>
              <a:rPr lang="en-US" dirty="0"/>
              <a:t>Q Sphere</a:t>
            </a:r>
          </a:p>
        </p:txBody>
      </p:sp>
      <p:pic>
        <p:nvPicPr>
          <p:cNvPr id="5" name="Picture 4">
            <a:extLst>
              <a:ext uri="{FF2B5EF4-FFF2-40B4-BE49-F238E27FC236}">
                <a16:creationId xmlns:a16="http://schemas.microsoft.com/office/drawing/2014/main" id="{8323C0EA-5663-3346-8FF3-BA9AB7BDD143}"/>
              </a:ext>
            </a:extLst>
          </p:cNvPr>
          <p:cNvPicPr>
            <a:picLocks noChangeAspect="1"/>
          </p:cNvPicPr>
          <p:nvPr/>
        </p:nvPicPr>
        <p:blipFill>
          <a:blip r:embed="rId3"/>
          <a:stretch>
            <a:fillRect/>
          </a:stretch>
        </p:blipFill>
        <p:spPr>
          <a:xfrm>
            <a:off x="5555982" y="507255"/>
            <a:ext cx="6479256" cy="6155871"/>
          </a:xfrm>
          <a:prstGeom prst="rect">
            <a:avLst/>
          </a:prstGeom>
        </p:spPr>
      </p:pic>
      <p:pic>
        <p:nvPicPr>
          <p:cNvPr id="15" name="Picture 14">
            <a:extLst>
              <a:ext uri="{FF2B5EF4-FFF2-40B4-BE49-F238E27FC236}">
                <a16:creationId xmlns:a16="http://schemas.microsoft.com/office/drawing/2014/main" id="{14D2A2C8-B368-F24F-A2BB-0D20F11DB8F3}"/>
              </a:ext>
            </a:extLst>
          </p:cNvPr>
          <p:cNvPicPr>
            <a:picLocks noChangeAspect="1"/>
          </p:cNvPicPr>
          <p:nvPr/>
        </p:nvPicPr>
        <p:blipFill>
          <a:blip r:embed="rId4"/>
          <a:stretch>
            <a:fillRect/>
          </a:stretch>
        </p:blipFill>
        <p:spPr>
          <a:xfrm>
            <a:off x="3306483" y="4105882"/>
            <a:ext cx="2249499" cy="2249499"/>
          </a:xfrm>
          <a:prstGeom prst="rect">
            <a:avLst/>
          </a:prstGeom>
        </p:spPr>
      </p:pic>
      <p:sp>
        <p:nvSpPr>
          <p:cNvPr id="7" name="TextBox 6">
            <a:extLst>
              <a:ext uri="{FF2B5EF4-FFF2-40B4-BE49-F238E27FC236}">
                <a16:creationId xmlns:a16="http://schemas.microsoft.com/office/drawing/2014/main" id="{D9E4C4C8-99AA-8C42-8E23-B38D95616707}"/>
              </a:ext>
            </a:extLst>
          </p:cNvPr>
          <p:cNvSpPr txBox="1"/>
          <p:nvPr/>
        </p:nvSpPr>
        <p:spPr>
          <a:xfrm>
            <a:off x="309967" y="1100379"/>
            <a:ext cx="5125633" cy="2646878"/>
          </a:xfrm>
          <a:prstGeom prst="rect">
            <a:avLst/>
          </a:prstGeom>
          <a:noFill/>
        </p:spPr>
        <p:txBody>
          <a:bodyPr wrap="square" rtlCol="0">
            <a:spAutoFit/>
          </a:bodyPr>
          <a:lstStyle/>
          <a:p>
            <a:pPr algn="just"/>
            <a:r>
              <a:rPr lang="en-ZA" sz="2400" dirty="0"/>
              <a:t>Q-Sphere: visualization of multi-qubit basis states</a:t>
            </a:r>
            <a:r>
              <a:rPr lang="en-US" sz="2200" dirty="0"/>
              <a:t>:</a:t>
            </a:r>
          </a:p>
          <a:p>
            <a:pPr algn="just"/>
            <a:endParaRPr lang="en-US" sz="2200" dirty="0"/>
          </a:p>
          <a:p>
            <a:pPr marL="285750" indent="-285750" algn="just">
              <a:buFont typeface="Arial" panose="020B0604020202020204" pitchFamily="34" charset="0"/>
              <a:buChar char="•"/>
            </a:pPr>
            <a:r>
              <a:rPr lang="en-ZA" sz="2400" dirty="0"/>
              <a:t>The size of a point is proportional to</a:t>
            </a:r>
          </a:p>
          <a:p>
            <a:pPr lvl="1" algn="just"/>
            <a:r>
              <a:rPr lang="en-ZA" sz="2400" dirty="0"/>
              <a:t>the probability amplitude.</a:t>
            </a:r>
          </a:p>
          <a:p>
            <a:pPr marL="285750" indent="-285750" algn="just">
              <a:buFont typeface="Arial" panose="020B0604020202020204" pitchFamily="34" charset="0"/>
              <a:buChar char="•"/>
            </a:pPr>
            <a:r>
              <a:rPr lang="en-ZA" sz="2400" dirty="0"/>
              <a:t>The </a:t>
            </a:r>
            <a:r>
              <a:rPr lang="en-ZA" sz="2400" dirty="0" err="1"/>
              <a:t>color</a:t>
            </a:r>
            <a:r>
              <a:rPr lang="en-ZA" sz="2400" dirty="0"/>
              <a:t> represents the phase of the qubit state.</a:t>
            </a:r>
            <a:endParaRPr lang="en-US" sz="2200" dirty="0"/>
          </a:p>
        </p:txBody>
      </p:sp>
    </p:spTree>
    <p:extLst>
      <p:ext uri="{BB962C8B-B14F-4D97-AF65-F5344CB8AC3E}">
        <p14:creationId xmlns:p14="http://schemas.microsoft.com/office/powerpoint/2010/main" val="2265728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DB1DE-0E4A-0D4D-80B2-3F374A55AB06}"/>
              </a:ext>
            </a:extLst>
          </p:cNvPr>
          <p:cNvSpPr>
            <a:spLocks noGrp="1"/>
          </p:cNvSpPr>
          <p:nvPr>
            <p:ph type="title"/>
          </p:nvPr>
        </p:nvSpPr>
        <p:spPr>
          <a:xfrm>
            <a:off x="0" y="0"/>
            <a:ext cx="12192000" cy="928688"/>
          </a:xfrm>
        </p:spPr>
        <p:txBody>
          <a:bodyPr/>
          <a:lstStyle/>
          <a:p>
            <a:r>
              <a:rPr lang="en-US" dirty="0"/>
              <a:t>Registers</a:t>
            </a:r>
          </a:p>
        </p:txBody>
      </p:sp>
      <p:sp>
        <p:nvSpPr>
          <p:cNvPr id="3" name="Slide Number Placeholder 2">
            <a:extLst>
              <a:ext uri="{FF2B5EF4-FFF2-40B4-BE49-F238E27FC236}">
                <a16:creationId xmlns:a16="http://schemas.microsoft.com/office/drawing/2014/main" id="{7CB37DCE-D909-5241-9FB1-A5C357FBF1FC}"/>
              </a:ext>
            </a:extLst>
          </p:cNvPr>
          <p:cNvSpPr>
            <a:spLocks noGrp="1"/>
          </p:cNvSpPr>
          <p:nvPr>
            <p:ph type="sldNum" sz="quarter" idx="12"/>
          </p:nvPr>
        </p:nvSpPr>
        <p:spPr/>
        <p:txBody>
          <a:bodyPr/>
          <a:lstStyle/>
          <a:p>
            <a:fld id="{591A223C-FA10-BC46-A853-03BA373D023C}" type="slidenum">
              <a:rPr lang="en-US" smtClean="0"/>
              <a:t>54</a:t>
            </a:fld>
            <a:endParaRPr lang="en-US"/>
          </a:p>
        </p:txBody>
      </p:sp>
      <p:pic>
        <p:nvPicPr>
          <p:cNvPr id="5" name="Picture 4">
            <a:extLst>
              <a:ext uri="{FF2B5EF4-FFF2-40B4-BE49-F238E27FC236}">
                <a16:creationId xmlns:a16="http://schemas.microsoft.com/office/drawing/2014/main" id="{8969A70F-F0F7-D84F-9D18-26C0AA5CDAA5}"/>
              </a:ext>
            </a:extLst>
          </p:cNvPr>
          <p:cNvPicPr>
            <a:picLocks noChangeAspect="1"/>
          </p:cNvPicPr>
          <p:nvPr/>
        </p:nvPicPr>
        <p:blipFill>
          <a:blip r:embed="rId3"/>
          <a:stretch>
            <a:fillRect/>
          </a:stretch>
        </p:blipFill>
        <p:spPr>
          <a:xfrm>
            <a:off x="1194655" y="1080083"/>
            <a:ext cx="5493015" cy="5261397"/>
          </a:xfrm>
          <a:prstGeom prst="rect">
            <a:avLst/>
          </a:prstGeom>
        </p:spPr>
      </p:pic>
      <p:grpSp>
        <p:nvGrpSpPr>
          <p:cNvPr id="15" name="Group 14">
            <a:extLst>
              <a:ext uri="{FF2B5EF4-FFF2-40B4-BE49-F238E27FC236}">
                <a16:creationId xmlns:a16="http://schemas.microsoft.com/office/drawing/2014/main" id="{50B397C1-67E5-2040-816A-1ED44D775C2B}"/>
              </a:ext>
            </a:extLst>
          </p:cNvPr>
          <p:cNvGrpSpPr/>
          <p:nvPr/>
        </p:nvGrpSpPr>
        <p:grpSpPr>
          <a:xfrm>
            <a:off x="8032916" y="1249134"/>
            <a:ext cx="3406702" cy="4563719"/>
            <a:chOff x="8209185" y="768599"/>
            <a:chExt cx="3406702" cy="4563719"/>
          </a:xfrm>
        </p:grpSpPr>
        <p:sp>
          <p:nvSpPr>
            <p:cNvPr id="12" name="TextBox 11">
              <a:extLst>
                <a:ext uri="{FF2B5EF4-FFF2-40B4-BE49-F238E27FC236}">
                  <a16:creationId xmlns:a16="http://schemas.microsoft.com/office/drawing/2014/main" id="{EF199596-FA52-1445-A873-D6786B3AD134}"/>
                </a:ext>
              </a:extLst>
            </p:cNvPr>
            <p:cNvSpPr txBox="1"/>
            <p:nvPr/>
          </p:nvSpPr>
          <p:spPr>
            <a:xfrm>
              <a:off x="8794412" y="1705063"/>
              <a:ext cx="2236246" cy="1200329"/>
            </a:xfrm>
            <a:prstGeom prst="rect">
              <a:avLst/>
            </a:prstGeom>
            <a:solidFill>
              <a:schemeClr val="accent4">
                <a:lumMod val="20000"/>
                <a:lumOff val="80000"/>
              </a:schemeClr>
            </a:solidFill>
          </p:spPr>
          <p:txBody>
            <a:bodyPr wrap="square" rtlCol="0">
              <a:spAutoFit/>
            </a:bodyPr>
            <a:lstStyle/>
            <a:p>
              <a:pPr algn="ctr"/>
              <a:endParaRPr lang="en-US" dirty="0">
                <a:solidFill>
                  <a:srgbClr val="C00000"/>
                </a:solidFill>
                <a:latin typeface="Andale Mono" panose="020B0509000000000004" pitchFamily="49" charset="0"/>
              </a:endParaRPr>
            </a:p>
            <a:p>
              <a:pPr algn="ctr"/>
              <a:r>
                <a:rPr lang="en-US" dirty="0">
                  <a:solidFill>
                    <a:srgbClr val="C00000"/>
                  </a:solidFill>
                  <a:latin typeface="Andale Mono" panose="020B0509000000000004" pitchFamily="49" charset="0"/>
                </a:rPr>
                <a:t>qubit </a:t>
              </a:r>
              <a:r>
                <a:rPr lang="en-US" dirty="0">
                  <a:latin typeface="Andale Mono" panose="020B0509000000000004" pitchFamily="49" charset="0"/>
                </a:rPr>
                <a:t>[2] </a:t>
              </a:r>
              <a:r>
                <a:rPr lang="en-US" dirty="0" err="1">
                  <a:latin typeface="Andale Mono" panose="020B0509000000000004" pitchFamily="49" charset="0"/>
                </a:rPr>
                <a:t>qa</a:t>
              </a:r>
              <a:r>
                <a:rPr lang="en-US" dirty="0">
                  <a:latin typeface="Andale Mono" panose="020B0509000000000004" pitchFamily="49" charset="0"/>
                </a:rPr>
                <a:t>;</a:t>
              </a:r>
            </a:p>
            <a:p>
              <a:pPr algn="ctr"/>
              <a:r>
                <a:rPr lang="en-US" dirty="0">
                  <a:solidFill>
                    <a:srgbClr val="C00000"/>
                  </a:solidFill>
                  <a:latin typeface="Andale Mono" panose="020B0509000000000004" pitchFamily="49" charset="0"/>
                </a:rPr>
                <a:t>qubit </a:t>
              </a:r>
              <a:r>
                <a:rPr lang="en-US" dirty="0">
                  <a:latin typeface="Andale Mono" panose="020B0509000000000004" pitchFamily="49" charset="0"/>
                </a:rPr>
                <a:t>[3] </a:t>
              </a:r>
              <a:r>
                <a:rPr lang="en-US" dirty="0" err="1">
                  <a:latin typeface="Andale Mono" panose="020B0509000000000004" pitchFamily="49" charset="0"/>
                </a:rPr>
                <a:t>qb</a:t>
              </a:r>
              <a:r>
                <a:rPr lang="en-US" dirty="0">
                  <a:latin typeface="Andale Mono" panose="020B0509000000000004" pitchFamily="49" charset="0"/>
                </a:rPr>
                <a:t>;</a:t>
              </a:r>
            </a:p>
            <a:p>
              <a:pPr algn="ctr"/>
              <a:endParaRPr lang="en-US" dirty="0">
                <a:latin typeface="Andale Mono" panose="020B0509000000000004" pitchFamily="49" charset="0"/>
              </a:endParaRPr>
            </a:p>
          </p:txBody>
        </p:sp>
        <p:sp>
          <p:nvSpPr>
            <p:cNvPr id="13" name="TextBox 12">
              <a:extLst>
                <a:ext uri="{FF2B5EF4-FFF2-40B4-BE49-F238E27FC236}">
                  <a16:creationId xmlns:a16="http://schemas.microsoft.com/office/drawing/2014/main" id="{549C8561-54B1-5644-95C7-F35103B11CCF}"/>
                </a:ext>
              </a:extLst>
            </p:cNvPr>
            <p:cNvSpPr txBox="1"/>
            <p:nvPr/>
          </p:nvSpPr>
          <p:spPr>
            <a:xfrm>
              <a:off x="8794412" y="4131989"/>
              <a:ext cx="2257712" cy="1200329"/>
            </a:xfrm>
            <a:prstGeom prst="rect">
              <a:avLst/>
            </a:prstGeom>
            <a:solidFill>
              <a:schemeClr val="accent4">
                <a:lumMod val="20000"/>
                <a:lumOff val="80000"/>
              </a:schemeClr>
            </a:solidFill>
          </p:spPr>
          <p:txBody>
            <a:bodyPr wrap="square" rtlCol="0">
              <a:spAutoFit/>
            </a:bodyPr>
            <a:lstStyle/>
            <a:p>
              <a:pPr algn="ctr"/>
              <a:endParaRPr lang="en-US" dirty="0">
                <a:solidFill>
                  <a:srgbClr val="C00000"/>
                </a:solidFill>
                <a:latin typeface="Andale Mono" panose="020B0509000000000004" pitchFamily="49" charset="0"/>
              </a:endParaRPr>
            </a:p>
            <a:p>
              <a:pPr algn="ctr"/>
              <a:r>
                <a:rPr lang="en-US" dirty="0">
                  <a:solidFill>
                    <a:srgbClr val="C00000"/>
                  </a:solidFill>
                  <a:latin typeface="Andale Mono" panose="020B0509000000000004" pitchFamily="49" charset="0"/>
                </a:rPr>
                <a:t>bit </a:t>
              </a:r>
              <a:r>
                <a:rPr lang="en-US" dirty="0">
                  <a:latin typeface="Andale Mono" panose="020B0509000000000004" pitchFamily="49" charset="0"/>
                </a:rPr>
                <a:t>[2] ca;</a:t>
              </a:r>
            </a:p>
            <a:p>
              <a:pPr algn="ctr"/>
              <a:r>
                <a:rPr lang="en-US" dirty="0">
                  <a:solidFill>
                    <a:srgbClr val="C00000"/>
                  </a:solidFill>
                  <a:latin typeface="Andale Mono" panose="020B0509000000000004" pitchFamily="49" charset="0"/>
                </a:rPr>
                <a:t>bit </a:t>
              </a:r>
              <a:r>
                <a:rPr lang="en-US" dirty="0">
                  <a:latin typeface="Andale Mono" panose="020B0509000000000004" pitchFamily="49" charset="0"/>
                </a:rPr>
                <a:t>3] </a:t>
              </a:r>
              <a:r>
                <a:rPr lang="en-US" dirty="0" err="1">
                  <a:latin typeface="Andale Mono" panose="020B0509000000000004" pitchFamily="49" charset="0"/>
                </a:rPr>
                <a:t>cb</a:t>
              </a:r>
              <a:r>
                <a:rPr lang="en-US" dirty="0">
                  <a:latin typeface="Andale Mono" panose="020B0509000000000004" pitchFamily="49" charset="0"/>
                </a:rPr>
                <a:t>;</a:t>
              </a:r>
            </a:p>
            <a:p>
              <a:pPr algn="ctr"/>
              <a:endParaRPr lang="en-US" dirty="0">
                <a:latin typeface="Andale Mono" panose="020B0509000000000004" pitchFamily="49" charset="0"/>
              </a:endParaRPr>
            </a:p>
          </p:txBody>
        </p:sp>
        <p:sp>
          <p:nvSpPr>
            <p:cNvPr id="14" name="TextBox 13">
              <a:extLst>
                <a:ext uri="{FF2B5EF4-FFF2-40B4-BE49-F238E27FC236}">
                  <a16:creationId xmlns:a16="http://schemas.microsoft.com/office/drawing/2014/main" id="{BDCF7BC0-06E9-354E-BE12-A9DBF06F8185}"/>
                </a:ext>
              </a:extLst>
            </p:cNvPr>
            <p:cNvSpPr txBox="1"/>
            <p:nvPr/>
          </p:nvSpPr>
          <p:spPr>
            <a:xfrm>
              <a:off x="8209185" y="768599"/>
              <a:ext cx="3406702" cy="523220"/>
            </a:xfrm>
            <a:prstGeom prst="rect">
              <a:avLst/>
            </a:prstGeom>
            <a:noFill/>
          </p:spPr>
          <p:txBody>
            <a:bodyPr wrap="none" rtlCol="0">
              <a:spAutoFit/>
            </a:bodyPr>
            <a:lstStyle/>
            <a:p>
              <a:pPr algn="ctr"/>
              <a:r>
                <a:rPr lang="en-ZA" sz="1400" dirty="0">
                  <a:latin typeface="Andale Mono" panose="020B0509000000000004" pitchFamily="49" charset="0"/>
                  <a:ea typeface="Menlo" panose="020B0609030804020204" pitchFamily="49" charset="0"/>
                  <a:cs typeface="Menlo" panose="020B0609030804020204" pitchFamily="49" charset="0"/>
                </a:rPr>
                <a:t>Open Quantum Assembly Language</a:t>
              </a:r>
            </a:p>
            <a:p>
              <a:pPr algn="ctr"/>
              <a:r>
                <a:rPr lang="en-US" sz="1400" dirty="0">
                  <a:latin typeface="Andale Mono" panose="020B0509000000000004" pitchFamily="49" charset="0"/>
                  <a:ea typeface="Menlo" panose="020B0609030804020204" pitchFamily="49" charset="0"/>
                  <a:cs typeface="Menlo" panose="020B0609030804020204" pitchFamily="49" charset="0"/>
                </a:rPr>
                <a:t>(QASM 3.x)</a:t>
              </a:r>
            </a:p>
          </p:txBody>
        </p:sp>
      </p:grpSp>
    </p:spTree>
    <p:extLst>
      <p:ext uri="{BB962C8B-B14F-4D97-AF65-F5344CB8AC3E}">
        <p14:creationId xmlns:p14="http://schemas.microsoft.com/office/powerpoint/2010/main" val="51922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1DB664-F353-7045-903E-3BA98E6A47CC}"/>
              </a:ext>
            </a:extLst>
          </p:cNvPr>
          <p:cNvSpPr>
            <a:spLocks noGrp="1"/>
          </p:cNvSpPr>
          <p:nvPr>
            <p:ph type="sldNum" sz="quarter" idx="12"/>
          </p:nvPr>
        </p:nvSpPr>
        <p:spPr/>
        <p:txBody>
          <a:bodyPr/>
          <a:lstStyle/>
          <a:p>
            <a:fld id="{591A223C-FA10-BC46-A853-03BA373D023C}" type="slidenum">
              <a:rPr lang="en-US" smtClean="0"/>
              <a:t>55</a:t>
            </a:fld>
            <a:endParaRPr lang="en-US"/>
          </a:p>
        </p:txBody>
      </p:sp>
      <p:sp>
        <p:nvSpPr>
          <p:cNvPr id="3" name="Title 2">
            <a:extLst>
              <a:ext uri="{FF2B5EF4-FFF2-40B4-BE49-F238E27FC236}">
                <a16:creationId xmlns:a16="http://schemas.microsoft.com/office/drawing/2014/main" id="{E0BE290C-929B-BE4C-81DB-6453B11A448F}"/>
              </a:ext>
            </a:extLst>
          </p:cNvPr>
          <p:cNvSpPr>
            <a:spLocks noGrp="1"/>
          </p:cNvSpPr>
          <p:nvPr>
            <p:ph type="title"/>
          </p:nvPr>
        </p:nvSpPr>
        <p:spPr>
          <a:xfrm>
            <a:off x="0" y="0"/>
            <a:ext cx="12192000" cy="928688"/>
          </a:xfrm>
        </p:spPr>
        <p:txBody>
          <a:bodyPr/>
          <a:lstStyle/>
          <a:p>
            <a:r>
              <a:rPr lang="en-ZA" dirty="0"/>
              <a:t>Register Measurement</a:t>
            </a:r>
            <a:endParaRPr lang="en-US" dirty="0"/>
          </a:p>
        </p:txBody>
      </p:sp>
      <p:cxnSp>
        <p:nvCxnSpPr>
          <p:cNvPr id="11" name="Straight Connector 10">
            <a:extLst>
              <a:ext uri="{FF2B5EF4-FFF2-40B4-BE49-F238E27FC236}">
                <a16:creationId xmlns:a16="http://schemas.microsoft.com/office/drawing/2014/main" id="{CF4309F9-A90E-8942-B8BC-05BBB2F73D3B}"/>
              </a:ext>
            </a:extLst>
          </p:cNvPr>
          <p:cNvCxnSpPr>
            <a:cxnSpLocks/>
          </p:cNvCxnSpPr>
          <p:nvPr/>
        </p:nvCxnSpPr>
        <p:spPr>
          <a:xfrm>
            <a:off x="8346635" y="1133376"/>
            <a:ext cx="279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2DD179-6D28-934E-BFA6-5BCBA5A47CDF}"/>
              </a:ext>
            </a:extLst>
          </p:cNvPr>
          <p:cNvCxnSpPr>
            <a:cxnSpLocks/>
          </p:cNvCxnSpPr>
          <p:nvPr/>
        </p:nvCxnSpPr>
        <p:spPr>
          <a:xfrm>
            <a:off x="8346634" y="2330805"/>
            <a:ext cx="279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F76C5EF-ED54-3247-9CC7-25E0644C731F}"/>
                  </a:ext>
                </a:extLst>
              </p:cNvPr>
              <p:cNvSpPr txBox="1"/>
              <p:nvPr/>
            </p:nvSpPr>
            <p:spPr>
              <a:xfrm>
                <a:off x="8248323" y="513102"/>
                <a:ext cx="68102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16" name="TextBox 15">
                <a:extLst>
                  <a:ext uri="{FF2B5EF4-FFF2-40B4-BE49-F238E27FC236}">
                    <a16:creationId xmlns:a16="http://schemas.microsoft.com/office/drawing/2014/main" id="{2F76C5EF-ED54-3247-9CC7-25E0644C731F}"/>
                  </a:ext>
                </a:extLst>
              </p:cNvPr>
              <p:cNvSpPr txBox="1">
                <a:spLocks noRot="1" noChangeAspect="1" noMove="1" noResize="1" noEditPoints="1" noAdjustHandles="1" noChangeArrowheads="1" noChangeShapeType="1" noTextEdit="1"/>
              </p:cNvSpPr>
              <p:nvPr/>
            </p:nvSpPr>
            <p:spPr>
              <a:xfrm>
                <a:off x="8248323" y="513102"/>
                <a:ext cx="681020" cy="584775"/>
              </a:xfrm>
              <a:prstGeom prst="rect">
                <a:avLst/>
              </a:prstGeom>
              <a:blipFill>
                <a:blip r:embed="rId3"/>
                <a:stretch>
                  <a:fillRect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2686024-53CD-F543-81B0-940CF99D5C69}"/>
                  </a:ext>
                </a:extLst>
              </p:cNvPr>
              <p:cNvSpPr txBox="1"/>
              <p:nvPr/>
            </p:nvSpPr>
            <p:spPr>
              <a:xfrm>
                <a:off x="8248323" y="1683472"/>
                <a:ext cx="67153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17" name="TextBox 16">
                <a:extLst>
                  <a:ext uri="{FF2B5EF4-FFF2-40B4-BE49-F238E27FC236}">
                    <a16:creationId xmlns:a16="http://schemas.microsoft.com/office/drawing/2014/main" id="{62686024-53CD-F543-81B0-940CF99D5C69}"/>
                  </a:ext>
                </a:extLst>
              </p:cNvPr>
              <p:cNvSpPr txBox="1">
                <a:spLocks noRot="1" noChangeAspect="1" noMove="1" noResize="1" noEditPoints="1" noAdjustHandles="1" noChangeArrowheads="1" noChangeShapeType="1" noTextEdit="1"/>
              </p:cNvSpPr>
              <p:nvPr/>
            </p:nvSpPr>
            <p:spPr>
              <a:xfrm>
                <a:off x="8248323" y="1683472"/>
                <a:ext cx="671530" cy="584775"/>
              </a:xfrm>
              <a:prstGeom prst="rect">
                <a:avLst/>
              </a:prstGeom>
              <a:blipFill>
                <a:blip r:embed="rId4"/>
                <a:stretch>
                  <a:fillRect b="-10638"/>
                </a:stretch>
              </a:blipFill>
            </p:spPr>
            <p:txBody>
              <a:bodyPr/>
              <a:lstStyle/>
              <a:p>
                <a:r>
                  <a:rPr lang="en-US">
                    <a:noFill/>
                  </a:rPr>
                  <a:t> </a:t>
                </a:r>
              </a:p>
            </p:txBody>
          </p:sp>
        </mc:Fallback>
      </mc:AlternateContent>
      <p:sp>
        <p:nvSpPr>
          <p:cNvPr id="21" name="Left Brace 20">
            <a:extLst>
              <a:ext uri="{FF2B5EF4-FFF2-40B4-BE49-F238E27FC236}">
                <a16:creationId xmlns:a16="http://schemas.microsoft.com/office/drawing/2014/main" id="{13B3738B-B1B8-F847-9788-FBBA90B0D563}"/>
              </a:ext>
            </a:extLst>
          </p:cNvPr>
          <p:cNvSpPr/>
          <p:nvPr/>
        </p:nvSpPr>
        <p:spPr>
          <a:xfrm>
            <a:off x="7639251" y="1133952"/>
            <a:ext cx="609071" cy="1176181"/>
          </a:xfrm>
          <a:prstGeom prst="leftBrace">
            <a:avLst>
              <a:gd name="adj1" fmla="val 2156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3879FA9E-79AC-DF41-AA0A-A2E233C8B637}"/>
                  </a:ext>
                </a:extLst>
              </p:cNvPr>
              <p:cNvSpPr/>
              <p:nvPr/>
            </p:nvSpPr>
            <p:spPr>
              <a:xfrm>
                <a:off x="6784073" y="1429654"/>
                <a:ext cx="77938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ea typeface="Cambria Math" panose="02040503050406030204" pitchFamily="18" charset="0"/>
                            </a:rPr>
                          </m:ctrlPr>
                        </m:dPr>
                        <m:e>
                          <m:r>
                            <a:rPr lang="sr-Latn-RS" sz="3200" b="0" i="1" smtClean="0">
                              <a:latin typeface="Cambria Math" panose="02040503050406030204" pitchFamily="18" charset="0"/>
                              <a:ea typeface="Cambria Math" panose="02040503050406030204" pitchFamily="18" charset="0"/>
                            </a:rPr>
                            <m:t>𝑆</m:t>
                          </m:r>
                        </m:e>
                      </m:d>
                    </m:oMath>
                  </m:oMathPara>
                </a14:m>
                <a:endParaRPr lang="en-US" sz="3200" dirty="0"/>
              </a:p>
            </p:txBody>
          </p:sp>
        </mc:Choice>
        <mc:Fallback xmlns="">
          <p:sp>
            <p:nvSpPr>
              <p:cNvPr id="22" name="Rectangle 21">
                <a:extLst>
                  <a:ext uri="{FF2B5EF4-FFF2-40B4-BE49-F238E27FC236}">
                    <a16:creationId xmlns:a16="http://schemas.microsoft.com/office/drawing/2014/main" id="{3879FA9E-79AC-DF41-AA0A-A2E233C8B637}"/>
                  </a:ext>
                </a:extLst>
              </p:cNvPr>
              <p:cNvSpPr>
                <a:spLocks noRot="1" noChangeAspect="1" noMove="1" noResize="1" noEditPoints="1" noAdjustHandles="1" noChangeArrowheads="1" noChangeShapeType="1" noTextEdit="1"/>
              </p:cNvSpPr>
              <p:nvPr/>
            </p:nvSpPr>
            <p:spPr>
              <a:xfrm>
                <a:off x="6784073" y="1429654"/>
                <a:ext cx="779381" cy="58477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EF57869-2126-A545-BE4E-ED475F1F8E0D}"/>
                  </a:ext>
                </a:extLst>
              </p:cNvPr>
              <p:cNvSpPr txBox="1"/>
              <p:nvPr/>
            </p:nvSpPr>
            <p:spPr>
              <a:xfrm>
                <a:off x="10854343" y="496826"/>
                <a:ext cx="64697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sr-Latn-RS" sz="3200" b="0" i="1" smtClean="0">
                              <a:solidFill>
                                <a:schemeClr val="tx1"/>
                              </a:solidFill>
                              <a:latin typeface="Cambria Math" panose="02040503050406030204" pitchFamily="18" charset="0"/>
                              <a:ea typeface="Cambria Math" panose="02040503050406030204" pitchFamily="18" charset="0"/>
                            </a:rPr>
                            <m:t>𝑐</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24" name="TextBox 23">
                <a:extLst>
                  <a:ext uri="{FF2B5EF4-FFF2-40B4-BE49-F238E27FC236}">
                    <a16:creationId xmlns:a16="http://schemas.microsoft.com/office/drawing/2014/main" id="{AEF57869-2126-A545-BE4E-ED475F1F8E0D}"/>
                  </a:ext>
                </a:extLst>
              </p:cNvPr>
              <p:cNvSpPr txBox="1">
                <a:spLocks noRot="1" noChangeAspect="1" noMove="1" noResize="1" noEditPoints="1" noAdjustHandles="1" noChangeArrowheads="1" noChangeShapeType="1" noTextEdit="1"/>
              </p:cNvSpPr>
              <p:nvPr/>
            </p:nvSpPr>
            <p:spPr>
              <a:xfrm>
                <a:off x="10854343" y="496826"/>
                <a:ext cx="646972" cy="584775"/>
              </a:xfrm>
              <a:prstGeom prst="rect">
                <a:avLst/>
              </a:prstGeom>
              <a:blipFill>
                <a:blip r:embed="rId6"/>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51B386E-C1A9-2D47-A2D0-1397C9347AF2}"/>
                  </a:ext>
                </a:extLst>
              </p:cNvPr>
              <p:cNvSpPr txBox="1"/>
              <p:nvPr/>
            </p:nvSpPr>
            <p:spPr>
              <a:xfrm>
                <a:off x="10854343" y="1667196"/>
                <a:ext cx="63748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sr-Latn-RS" sz="3200" b="0" i="1" smtClean="0">
                              <a:solidFill>
                                <a:schemeClr val="tx1"/>
                              </a:solidFill>
                              <a:latin typeface="Cambria Math" panose="02040503050406030204" pitchFamily="18" charset="0"/>
                              <a:ea typeface="Cambria Math" panose="02040503050406030204" pitchFamily="18" charset="0"/>
                            </a:rPr>
                            <m:t>𝑐</m:t>
                          </m:r>
                        </m:e>
                        <m:sub>
                          <m:r>
                            <a:rPr lang="en-U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25" name="TextBox 24">
                <a:extLst>
                  <a:ext uri="{FF2B5EF4-FFF2-40B4-BE49-F238E27FC236}">
                    <a16:creationId xmlns:a16="http://schemas.microsoft.com/office/drawing/2014/main" id="{651B386E-C1A9-2D47-A2D0-1397C9347AF2}"/>
                  </a:ext>
                </a:extLst>
              </p:cNvPr>
              <p:cNvSpPr txBox="1">
                <a:spLocks noRot="1" noChangeAspect="1" noMove="1" noResize="1" noEditPoints="1" noAdjustHandles="1" noChangeArrowheads="1" noChangeShapeType="1" noTextEdit="1"/>
              </p:cNvSpPr>
              <p:nvPr/>
            </p:nvSpPr>
            <p:spPr>
              <a:xfrm>
                <a:off x="10854343" y="1667196"/>
                <a:ext cx="637482" cy="584775"/>
              </a:xfrm>
              <a:prstGeom prst="rect">
                <a:avLst/>
              </a:prstGeom>
              <a:blipFill>
                <a:blip r:embed="rId7"/>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CFC8AD4-007F-4D43-8B44-0E69EAD892C0}"/>
                  </a:ext>
                </a:extLst>
              </p:cNvPr>
              <p:cNvSpPr txBox="1"/>
              <p:nvPr/>
            </p:nvSpPr>
            <p:spPr>
              <a:xfrm>
                <a:off x="8929343" y="2970025"/>
                <a:ext cx="2422906" cy="1815882"/>
              </a:xfrm>
              <a:prstGeom prst="rect">
                <a:avLst/>
              </a:prstGeom>
              <a:noFill/>
            </p:spPr>
            <p:txBody>
              <a:bodyPr wrap="none" rtlCol="0">
                <a:spAutoFit/>
              </a:bodyPr>
              <a:lstStyle/>
              <a:p>
                <a:pPr lvl="0"/>
                <a14:m>
                  <m:oMathPara xmlns:m="http://schemas.openxmlformats.org/officeDocument/2006/math">
                    <m:oMathParaPr>
                      <m:jc m:val="centerGroup"/>
                    </m:oMathParaPr>
                    <m:oMath xmlns:m="http://schemas.openxmlformats.org/officeDocument/2006/math">
                      <m:sSup>
                        <m:sSupPr>
                          <m:ctrlPr>
                            <a:rPr lang="en-ZA" sz="2800" i="1" smtClean="0">
                              <a:latin typeface="Cambria Math" panose="02040503050406030204" pitchFamily="18" charset="0"/>
                            </a:rPr>
                          </m:ctrlPr>
                        </m:sSupPr>
                        <m:e>
                          <m:r>
                            <a:rPr lang="en-US" sz="2800" b="0" i="1" smtClean="0">
                              <a:latin typeface="Cambria Math" panose="02040503050406030204" pitchFamily="18" charset="0"/>
                            </a:rPr>
                            <m:t>𝑃</m:t>
                          </m:r>
                          <m:r>
                            <a:rPr lang="sr-Latn-RS" sz="2800" b="0" i="1" smtClean="0">
                              <a:latin typeface="Cambria Math" panose="02040503050406030204" pitchFamily="18" charset="0"/>
                            </a:rPr>
                            <m:t>(00)=</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𝑎</m:t>
                                  </m:r>
                                </m:e>
                                <m:sub>
                                  <m:r>
                                    <a:rPr lang="sr-Latn-RS" sz="2800" b="0" i="1">
                                      <a:latin typeface="Cambria Math" panose="02040503050406030204" pitchFamily="18" charset="0"/>
                                    </a:rPr>
                                    <m:t>0</m:t>
                                  </m:r>
                                </m:sub>
                              </m:sSub>
                            </m:e>
                          </m:d>
                        </m:e>
                        <m:sup>
                          <m:r>
                            <a:rPr lang="sr-Latn-RS" sz="2800" b="0" i="1">
                              <a:latin typeface="Cambria Math" panose="02040503050406030204" pitchFamily="18" charset="0"/>
                            </a:rPr>
                            <m:t>2</m:t>
                          </m:r>
                        </m:sup>
                      </m:sSup>
                    </m:oMath>
                  </m:oMathPara>
                </a14:m>
                <a:endParaRPr lang="en-ZA" sz="2800" dirty="0"/>
              </a:p>
              <a:p>
                <a:pPr lvl="0"/>
                <a14:m>
                  <m:oMathPara xmlns:m="http://schemas.openxmlformats.org/officeDocument/2006/math">
                    <m:oMathParaPr>
                      <m:jc m:val="centerGroup"/>
                    </m:oMathParaPr>
                    <m:oMath xmlns:m="http://schemas.openxmlformats.org/officeDocument/2006/math">
                      <m:sSup>
                        <m:sSupPr>
                          <m:ctrlPr>
                            <a:rPr lang="en-ZA" sz="2800" i="1">
                              <a:latin typeface="Cambria Math" panose="02040503050406030204" pitchFamily="18" charset="0"/>
                            </a:rPr>
                          </m:ctrlPr>
                        </m:sSupPr>
                        <m:e>
                          <m:r>
                            <a:rPr lang="en-US" sz="2800" b="0" i="1" smtClean="0">
                              <a:latin typeface="Cambria Math" panose="02040503050406030204" pitchFamily="18" charset="0"/>
                            </a:rPr>
                            <m:t>𝑃</m:t>
                          </m:r>
                          <m:r>
                            <a:rPr lang="sr-Latn-RS" sz="2800" b="0" i="1">
                              <a:latin typeface="Cambria Math" panose="02040503050406030204" pitchFamily="18" charset="0"/>
                            </a:rPr>
                            <m:t>(01)=</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𝑎</m:t>
                                  </m:r>
                                </m:e>
                                <m:sub>
                                  <m:r>
                                    <a:rPr lang="sr-Latn-RS" sz="2800" b="0" i="1">
                                      <a:latin typeface="Cambria Math" panose="02040503050406030204" pitchFamily="18" charset="0"/>
                                    </a:rPr>
                                    <m:t>1</m:t>
                                  </m:r>
                                </m:sub>
                              </m:sSub>
                            </m:e>
                          </m:d>
                        </m:e>
                        <m:sup>
                          <m:r>
                            <a:rPr lang="sr-Latn-RS" sz="2800" b="0" i="1">
                              <a:latin typeface="Cambria Math" panose="02040503050406030204" pitchFamily="18" charset="0"/>
                            </a:rPr>
                            <m:t>2</m:t>
                          </m:r>
                        </m:sup>
                      </m:sSup>
                    </m:oMath>
                  </m:oMathPara>
                </a14:m>
                <a:endParaRPr lang="en-ZA" sz="2800" dirty="0"/>
              </a:p>
              <a:p>
                <a:pPr lvl="0"/>
                <a14:m>
                  <m:oMathPara xmlns:m="http://schemas.openxmlformats.org/officeDocument/2006/math">
                    <m:oMathParaPr>
                      <m:jc m:val="centerGroup"/>
                    </m:oMathParaPr>
                    <m:oMath xmlns:m="http://schemas.openxmlformats.org/officeDocument/2006/math">
                      <m:sSup>
                        <m:sSupPr>
                          <m:ctrlPr>
                            <a:rPr lang="en-ZA" sz="2800" i="1">
                              <a:latin typeface="Cambria Math" panose="02040503050406030204" pitchFamily="18" charset="0"/>
                            </a:rPr>
                          </m:ctrlPr>
                        </m:sSupPr>
                        <m:e>
                          <m:r>
                            <a:rPr lang="en-US" sz="2800" b="0" i="1" smtClean="0">
                              <a:latin typeface="Cambria Math" panose="02040503050406030204" pitchFamily="18" charset="0"/>
                            </a:rPr>
                            <m:t>𝑃</m:t>
                          </m:r>
                          <m:r>
                            <a:rPr lang="sr-Latn-RS" sz="2800" b="0" i="1">
                              <a:latin typeface="Cambria Math" panose="02040503050406030204" pitchFamily="18" charset="0"/>
                            </a:rPr>
                            <m:t>(10)=</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𝑎</m:t>
                                  </m:r>
                                </m:e>
                                <m:sub>
                                  <m:r>
                                    <a:rPr lang="sr-Latn-RS" sz="2800" b="0" i="1">
                                      <a:latin typeface="Cambria Math" panose="02040503050406030204" pitchFamily="18" charset="0"/>
                                    </a:rPr>
                                    <m:t>2</m:t>
                                  </m:r>
                                </m:sub>
                              </m:sSub>
                            </m:e>
                          </m:d>
                        </m:e>
                        <m:sup>
                          <m:r>
                            <a:rPr lang="sr-Latn-RS" sz="2800" b="0" i="1">
                              <a:latin typeface="Cambria Math" panose="02040503050406030204" pitchFamily="18" charset="0"/>
                            </a:rPr>
                            <m:t>2</m:t>
                          </m:r>
                        </m:sup>
                      </m:sSup>
                    </m:oMath>
                  </m:oMathPara>
                </a14:m>
                <a:endParaRPr lang="en-ZA" sz="2800" dirty="0"/>
              </a:p>
              <a:p>
                <a:pPr lvl="0"/>
                <a14:m>
                  <m:oMathPara xmlns:m="http://schemas.openxmlformats.org/officeDocument/2006/math">
                    <m:oMathParaPr>
                      <m:jc m:val="centerGroup"/>
                    </m:oMathParaPr>
                    <m:oMath xmlns:m="http://schemas.openxmlformats.org/officeDocument/2006/math">
                      <m:sSup>
                        <m:sSupPr>
                          <m:ctrlPr>
                            <a:rPr lang="en-ZA" sz="2800" i="1">
                              <a:latin typeface="Cambria Math" panose="02040503050406030204" pitchFamily="18" charset="0"/>
                            </a:rPr>
                          </m:ctrlPr>
                        </m:sSupPr>
                        <m:e>
                          <m:r>
                            <a:rPr lang="en-US" sz="2800" b="0" i="1" smtClean="0">
                              <a:latin typeface="Cambria Math" panose="02040503050406030204" pitchFamily="18" charset="0"/>
                            </a:rPr>
                            <m:t>𝑃</m:t>
                          </m:r>
                          <m:r>
                            <a:rPr lang="sr-Latn-RS" sz="2800" b="0" i="1">
                              <a:latin typeface="Cambria Math" panose="02040503050406030204" pitchFamily="18" charset="0"/>
                            </a:rPr>
                            <m:t>(11)=</m:t>
                          </m:r>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𝑎</m:t>
                                  </m:r>
                                </m:e>
                                <m:sub>
                                  <m:r>
                                    <a:rPr lang="sr-Latn-RS" sz="2800" b="0" i="1">
                                      <a:latin typeface="Cambria Math" panose="02040503050406030204" pitchFamily="18" charset="0"/>
                                    </a:rPr>
                                    <m:t>3</m:t>
                                  </m:r>
                                </m:sub>
                              </m:sSub>
                            </m:e>
                          </m:d>
                        </m:e>
                        <m:sup>
                          <m:r>
                            <a:rPr lang="sr-Latn-RS" sz="2800" b="0" i="1">
                              <a:latin typeface="Cambria Math" panose="02040503050406030204" pitchFamily="18" charset="0"/>
                            </a:rPr>
                            <m:t>2</m:t>
                          </m:r>
                        </m:sup>
                      </m:sSup>
                    </m:oMath>
                  </m:oMathPara>
                </a14:m>
                <a:endParaRPr lang="en-ZA" sz="2800" dirty="0"/>
              </a:p>
            </p:txBody>
          </p:sp>
        </mc:Choice>
        <mc:Fallback xmlns="">
          <p:sp>
            <p:nvSpPr>
              <p:cNvPr id="28" name="TextBox 27">
                <a:extLst>
                  <a:ext uri="{FF2B5EF4-FFF2-40B4-BE49-F238E27FC236}">
                    <a16:creationId xmlns:a16="http://schemas.microsoft.com/office/drawing/2014/main" id="{5CFC8AD4-007F-4D43-8B44-0E69EAD892C0}"/>
                  </a:ext>
                </a:extLst>
              </p:cNvPr>
              <p:cNvSpPr txBox="1">
                <a:spLocks noRot="1" noChangeAspect="1" noMove="1" noResize="1" noEditPoints="1" noAdjustHandles="1" noChangeArrowheads="1" noChangeShapeType="1" noTextEdit="1"/>
              </p:cNvSpPr>
              <p:nvPr/>
            </p:nvSpPr>
            <p:spPr>
              <a:xfrm>
                <a:off x="8929343" y="2970025"/>
                <a:ext cx="2422906" cy="1815882"/>
              </a:xfrm>
              <a:prstGeom prst="rect">
                <a:avLst/>
              </a:prstGeom>
              <a:blipFill>
                <a:blip r:embed="rId8"/>
                <a:stretch>
                  <a:fillRect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08122C9-304C-B149-92E8-9CF26F00BA6B}"/>
                  </a:ext>
                </a:extLst>
              </p:cNvPr>
              <p:cNvSpPr/>
              <p:nvPr/>
            </p:nvSpPr>
            <p:spPr>
              <a:xfrm>
                <a:off x="528774" y="1929962"/>
                <a:ext cx="421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where</m:t>
                      </m:r>
                      <m:r>
                        <a:rPr lang="en-US">
                          <a:latin typeface="Cambria Math" panose="02040503050406030204" pitchFamily="18" charset="0"/>
                        </a:rPr>
                        <m:t>  </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a:latin typeface="Cambria Math" panose="02040503050406030204" pitchFamily="18" charset="0"/>
                                    </a:rPr>
                                    <m:t>0</m:t>
                                  </m:r>
                                </m:sub>
                              </m:sSub>
                            </m:e>
                          </m:d>
                        </m:e>
                        <m:sup>
                          <m:r>
                            <a:rPr lang="en-US">
                              <a:latin typeface="Cambria Math" panose="02040503050406030204" pitchFamily="18" charset="0"/>
                            </a:rPr>
                            <m:t>2</m:t>
                          </m:r>
                        </m:sup>
                      </m:sSup>
                      <m:r>
                        <a:rPr lang="en-US">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a:latin typeface="Cambria Math" panose="02040503050406030204" pitchFamily="18" charset="0"/>
                                    </a:rPr>
                                    <m:t>1</m:t>
                                  </m:r>
                                </m:sub>
                              </m:sSub>
                            </m:e>
                          </m:d>
                        </m:e>
                        <m:sup>
                          <m:r>
                            <a:rPr lang="en-US">
                              <a:latin typeface="Cambria Math" panose="02040503050406030204" pitchFamily="18" charset="0"/>
                            </a:rPr>
                            <m:t>2</m:t>
                          </m:r>
                        </m:sup>
                      </m:sSup>
                      <m:r>
                        <a:rPr lang="en-US">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a:latin typeface="Cambria Math" panose="02040503050406030204" pitchFamily="18" charset="0"/>
                                    </a:rPr>
                                    <m:t>2</m:t>
                                  </m:r>
                                </m:sub>
                              </m:sSub>
                            </m:e>
                          </m:d>
                        </m:e>
                        <m:sup>
                          <m:r>
                            <a:rPr lang="en-US">
                              <a:latin typeface="Cambria Math" panose="02040503050406030204" pitchFamily="18" charset="0"/>
                            </a:rPr>
                            <m:t>2</m:t>
                          </m:r>
                        </m:sup>
                      </m:sSup>
                      <m:r>
                        <a:rPr lang="en-US">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a:latin typeface="Cambria Math" panose="02040503050406030204" pitchFamily="18" charset="0"/>
                                    </a:rPr>
                                    <m:t>3</m:t>
                                  </m:r>
                                </m:sub>
                              </m:sSub>
                            </m:e>
                          </m:d>
                        </m:e>
                        <m:sup>
                          <m:r>
                            <a:rPr lang="en-US">
                              <a:latin typeface="Cambria Math" panose="02040503050406030204" pitchFamily="18" charset="0"/>
                            </a:rPr>
                            <m:t>2</m:t>
                          </m:r>
                        </m:sup>
                      </m:sSup>
                      <m:r>
                        <a:rPr lang="en-US">
                          <a:latin typeface="Cambria Math" panose="02040503050406030204" pitchFamily="18" charset="0"/>
                        </a:rPr>
                        <m:t>=1 </m:t>
                      </m:r>
                    </m:oMath>
                  </m:oMathPara>
                </a14:m>
                <a:endParaRPr lang="en-US" dirty="0"/>
              </a:p>
            </p:txBody>
          </p:sp>
        </mc:Choice>
        <mc:Fallback xmlns="">
          <p:sp>
            <p:nvSpPr>
              <p:cNvPr id="4" name="Rectangle 3">
                <a:extLst>
                  <a:ext uri="{FF2B5EF4-FFF2-40B4-BE49-F238E27FC236}">
                    <a16:creationId xmlns:a16="http://schemas.microsoft.com/office/drawing/2014/main" id="{508122C9-304C-B149-92E8-9CF26F00BA6B}"/>
                  </a:ext>
                </a:extLst>
              </p:cNvPr>
              <p:cNvSpPr>
                <a:spLocks noRot="1" noChangeAspect="1" noMove="1" noResize="1" noEditPoints="1" noAdjustHandles="1" noChangeArrowheads="1" noChangeShapeType="1" noTextEdit="1"/>
              </p:cNvSpPr>
              <p:nvPr/>
            </p:nvSpPr>
            <p:spPr>
              <a:xfrm>
                <a:off x="528774" y="1929962"/>
                <a:ext cx="4217565" cy="369332"/>
              </a:xfrm>
              <a:prstGeom prst="rect">
                <a:avLst/>
              </a:prstGeom>
              <a:blipFill>
                <a:blip r:embed="rId1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C547F9C-740D-0244-934E-89AB92E15809}"/>
                  </a:ext>
                </a:extLst>
              </p:cNvPr>
              <p:cNvSpPr/>
              <p:nvPr/>
            </p:nvSpPr>
            <p:spPr>
              <a:xfrm>
                <a:off x="401469" y="1374912"/>
                <a:ext cx="6023764"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600" i="1">
                              <a:latin typeface="Cambria Math" panose="02040503050406030204" pitchFamily="18" charset="0"/>
                            </a:rPr>
                          </m:ctrlPr>
                        </m:dPr>
                        <m:e>
                          <m:r>
                            <a:rPr lang="en-US" sz="2600" i="1">
                              <a:latin typeface="Cambria Math" panose="02040503050406030204" pitchFamily="18" charset="0"/>
                            </a:rPr>
                            <m:t>𝑆</m:t>
                          </m:r>
                        </m:e>
                      </m:d>
                      <m:r>
                        <a:rPr lang="en-US" sz="260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𝑎</m:t>
                          </m:r>
                        </m:e>
                        <m:sub>
                          <m:r>
                            <a:rPr lang="en-US" sz="2600">
                              <a:latin typeface="Cambria Math" panose="02040503050406030204" pitchFamily="18" charset="0"/>
                            </a:rPr>
                            <m:t>0</m:t>
                          </m:r>
                        </m:sub>
                      </m:sSub>
                      <m:d>
                        <m:dPr>
                          <m:begChr m:val="|"/>
                          <m:endChr m:val="⟩"/>
                          <m:ctrlPr>
                            <a:rPr lang="en-US" sz="2600" i="1">
                              <a:latin typeface="Cambria Math" panose="02040503050406030204" pitchFamily="18" charset="0"/>
                            </a:rPr>
                          </m:ctrlPr>
                        </m:dPr>
                        <m:e>
                          <m:r>
                            <a:rPr lang="en-US" sz="2600">
                              <a:latin typeface="Cambria Math" panose="02040503050406030204" pitchFamily="18" charset="0"/>
                            </a:rPr>
                            <m:t>00</m:t>
                          </m:r>
                        </m:e>
                      </m:d>
                      <m:r>
                        <a:rPr lang="en-US" sz="260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𝑎</m:t>
                          </m:r>
                        </m:e>
                        <m:sub>
                          <m:r>
                            <a:rPr lang="en-US" sz="2600">
                              <a:latin typeface="Cambria Math" panose="02040503050406030204" pitchFamily="18" charset="0"/>
                            </a:rPr>
                            <m:t>1</m:t>
                          </m:r>
                        </m:sub>
                      </m:sSub>
                      <m:d>
                        <m:dPr>
                          <m:begChr m:val="|"/>
                          <m:endChr m:val="⟩"/>
                          <m:ctrlPr>
                            <a:rPr lang="en-US" sz="2600" i="1">
                              <a:latin typeface="Cambria Math" panose="02040503050406030204" pitchFamily="18" charset="0"/>
                            </a:rPr>
                          </m:ctrlPr>
                        </m:dPr>
                        <m:e>
                          <m:r>
                            <a:rPr lang="en-US" sz="2600">
                              <a:latin typeface="Cambria Math" panose="02040503050406030204" pitchFamily="18" charset="0"/>
                            </a:rPr>
                            <m:t>01</m:t>
                          </m:r>
                        </m:e>
                      </m:d>
                      <m:r>
                        <a:rPr lang="en-US" sz="260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𝑎</m:t>
                          </m:r>
                        </m:e>
                        <m:sub>
                          <m:r>
                            <a:rPr lang="en-US" sz="2600">
                              <a:latin typeface="Cambria Math" panose="02040503050406030204" pitchFamily="18" charset="0"/>
                            </a:rPr>
                            <m:t>2</m:t>
                          </m:r>
                        </m:sub>
                      </m:sSub>
                      <m:d>
                        <m:dPr>
                          <m:begChr m:val="|"/>
                          <m:endChr m:val="⟩"/>
                          <m:ctrlPr>
                            <a:rPr lang="en-US" sz="2600" i="1">
                              <a:latin typeface="Cambria Math" panose="02040503050406030204" pitchFamily="18" charset="0"/>
                            </a:rPr>
                          </m:ctrlPr>
                        </m:dPr>
                        <m:e>
                          <m:r>
                            <a:rPr lang="en-US" sz="2600">
                              <a:latin typeface="Cambria Math" panose="02040503050406030204" pitchFamily="18" charset="0"/>
                            </a:rPr>
                            <m:t>10</m:t>
                          </m:r>
                        </m:e>
                      </m:d>
                      <m:r>
                        <a:rPr lang="en-US" sz="260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𝑎</m:t>
                          </m:r>
                        </m:e>
                        <m:sub>
                          <m:r>
                            <a:rPr lang="en-US" sz="2600">
                              <a:latin typeface="Cambria Math" panose="02040503050406030204" pitchFamily="18" charset="0"/>
                            </a:rPr>
                            <m:t>3</m:t>
                          </m:r>
                        </m:sub>
                      </m:sSub>
                      <m:d>
                        <m:dPr>
                          <m:begChr m:val="|"/>
                          <m:endChr m:val="⟩"/>
                          <m:ctrlPr>
                            <a:rPr lang="en-US" sz="2600" i="1">
                              <a:latin typeface="Cambria Math" panose="02040503050406030204" pitchFamily="18" charset="0"/>
                            </a:rPr>
                          </m:ctrlPr>
                        </m:dPr>
                        <m:e>
                          <m:r>
                            <a:rPr lang="en-US" sz="2600">
                              <a:latin typeface="Cambria Math" panose="02040503050406030204" pitchFamily="18" charset="0"/>
                            </a:rPr>
                            <m:t>11</m:t>
                          </m:r>
                        </m:e>
                      </m:d>
                    </m:oMath>
                  </m:oMathPara>
                </a14:m>
                <a:endParaRPr lang="en-US" sz="2600" dirty="0"/>
              </a:p>
            </p:txBody>
          </p:sp>
        </mc:Choice>
        <mc:Fallback xmlns="">
          <p:sp>
            <p:nvSpPr>
              <p:cNvPr id="7" name="Rectangle 6">
                <a:extLst>
                  <a:ext uri="{FF2B5EF4-FFF2-40B4-BE49-F238E27FC236}">
                    <a16:creationId xmlns:a16="http://schemas.microsoft.com/office/drawing/2014/main" id="{DC547F9C-740D-0244-934E-89AB92E15809}"/>
                  </a:ext>
                </a:extLst>
              </p:cNvPr>
              <p:cNvSpPr>
                <a:spLocks noRot="1" noChangeAspect="1" noMove="1" noResize="1" noEditPoints="1" noAdjustHandles="1" noChangeArrowheads="1" noChangeShapeType="1" noTextEdit="1"/>
              </p:cNvSpPr>
              <p:nvPr/>
            </p:nvSpPr>
            <p:spPr>
              <a:xfrm>
                <a:off x="401469" y="1374912"/>
                <a:ext cx="6023764" cy="492443"/>
              </a:xfrm>
              <a:prstGeom prst="rect">
                <a:avLst/>
              </a:prstGeom>
              <a:blipFill>
                <a:blip r:embed="rId1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F5B5A6D-E7CF-CB49-96E5-5553C991F1E4}"/>
              </a:ext>
            </a:extLst>
          </p:cNvPr>
          <p:cNvPicPr>
            <a:picLocks noChangeAspect="1"/>
          </p:cNvPicPr>
          <p:nvPr/>
        </p:nvPicPr>
        <p:blipFill>
          <a:blip r:embed="rId14">
            <a:alphaModFix/>
          </a:blip>
          <a:stretch>
            <a:fillRect/>
          </a:stretch>
        </p:blipFill>
        <p:spPr>
          <a:xfrm>
            <a:off x="9512050" y="1773679"/>
            <a:ext cx="1070526" cy="1080000"/>
          </a:xfrm>
          <a:prstGeom prst="rect">
            <a:avLst/>
          </a:prstGeom>
          <a:solidFill>
            <a:schemeClr val="bg1">
              <a:lumMod val="85000"/>
            </a:schemeClr>
          </a:solidFill>
        </p:spPr>
      </p:pic>
      <p:pic>
        <p:nvPicPr>
          <p:cNvPr id="5" name="Picture 4">
            <a:extLst>
              <a:ext uri="{FF2B5EF4-FFF2-40B4-BE49-F238E27FC236}">
                <a16:creationId xmlns:a16="http://schemas.microsoft.com/office/drawing/2014/main" id="{AF23C4C5-7402-B34D-B554-52613EB4B1AA}"/>
              </a:ext>
            </a:extLst>
          </p:cNvPr>
          <p:cNvPicPr>
            <a:picLocks noChangeAspect="1"/>
          </p:cNvPicPr>
          <p:nvPr/>
        </p:nvPicPr>
        <p:blipFill>
          <a:blip r:embed="rId14"/>
          <a:stretch>
            <a:fillRect/>
          </a:stretch>
        </p:blipFill>
        <p:spPr>
          <a:xfrm>
            <a:off x="9512050" y="611586"/>
            <a:ext cx="1070526" cy="1080000"/>
          </a:xfrm>
          <a:prstGeom prst="rect">
            <a:avLst/>
          </a:prstGeom>
          <a:solidFill>
            <a:schemeClr val="bg1">
              <a:lumMod val="85000"/>
            </a:schemeClr>
          </a:solidFill>
        </p:spPr>
      </p:pic>
      <p:grpSp>
        <p:nvGrpSpPr>
          <p:cNvPr id="8" name="Group 7">
            <a:extLst>
              <a:ext uri="{FF2B5EF4-FFF2-40B4-BE49-F238E27FC236}">
                <a16:creationId xmlns:a16="http://schemas.microsoft.com/office/drawing/2014/main" id="{1E1F7F78-B02A-1747-A697-548928E15CF0}"/>
              </a:ext>
            </a:extLst>
          </p:cNvPr>
          <p:cNvGrpSpPr/>
          <p:nvPr/>
        </p:nvGrpSpPr>
        <p:grpSpPr>
          <a:xfrm>
            <a:off x="528774" y="4785907"/>
            <a:ext cx="8398068" cy="1523943"/>
            <a:chOff x="528774" y="4785907"/>
            <a:chExt cx="8398068" cy="1523943"/>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05C133F-B134-1D49-812D-C060AF4E903D}"/>
                    </a:ext>
                  </a:extLst>
                </p:cNvPr>
                <p:cNvSpPr txBox="1"/>
                <p:nvPr/>
              </p:nvSpPr>
              <p:spPr>
                <a:xfrm>
                  <a:off x="528774" y="4785907"/>
                  <a:ext cx="8398068" cy="1523943"/>
                </a:xfrm>
                <a:prstGeom prst="rect">
                  <a:avLst/>
                </a:prstGeom>
                <a:solidFill>
                  <a:schemeClr val="accent5">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3200" i="1" smtClean="0">
                                <a:solidFill>
                                  <a:schemeClr val="tx1"/>
                                </a:solidFill>
                                <a:latin typeface="Cambria Math" panose="02040503050406030204" pitchFamily="18" charset="0"/>
                              </a:rPr>
                            </m:ctrlPr>
                          </m:dPr>
                          <m:e>
                            <m:r>
                              <a:rPr lang="sr-Latn-RS" sz="3200" i="1">
                                <a:solidFill>
                                  <a:schemeClr val="tx1"/>
                                </a:solidFill>
                                <a:latin typeface="Cambria Math" panose="02040503050406030204" pitchFamily="18" charset="0"/>
                              </a:rPr>
                              <m:t>𝑆</m:t>
                            </m:r>
                          </m:e>
                        </m:d>
                        <m:r>
                          <a:rPr lang="sr-Latn-RS" sz="3200" i="1">
                            <a:solidFill>
                              <a:schemeClr val="tx1"/>
                            </a:solidFill>
                            <a:latin typeface="Cambria Math" panose="02040503050406030204" pitchFamily="18" charset="0"/>
                          </a:rPr>
                          <m:t>=</m:t>
                        </m:r>
                        <m:nary>
                          <m:naryPr>
                            <m:chr m:val="∑"/>
                            <m:limLoc m:val="undOvr"/>
                            <m:ctrlPr>
                              <a:rPr lang="en-ZA" sz="3200" i="1">
                                <a:solidFill>
                                  <a:schemeClr val="tx1"/>
                                </a:solidFill>
                                <a:latin typeface="Cambria Math" panose="02040503050406030204" pitchFamily="18" charset="0"/>
                              </a:rPr>
                            </m:ctrlPr>
                          </m:naryPr>
                          <m:sub>
                            <m:r>
                              <a:rPr lang="sr-Latn-RS" sz="3200" i="1">
                                <a:solidFill>
                                  <a:schemeClr val="tx1"/>
                                </a:solidFill>
                                <a:latin typeface="Cambria Math" panose="02040503050406030204" pitchFamily="18" charset="0"/>
                              </a:rPr>
                              <m:t>𝑘</m:t>
                            </m:r>
                            <m:r>
                              <a:rPr lang="sr-Latn-RS" sz="3200" i="1">
                                <a:solidFill>
                                  <a:schemeClr val="tx1"/>
                                </a:solidFill>
                                <a:latin typeface="Cambria Math" panose="02040503050406030204" pitchFamily="18" charset="0"/>
                              </a:rPr>
                              <m:t>=0</m:t>
                            </m:r>
                          </m:sub>
                          <m:sup>
                            <m:sSup>
                              <m:sSupPr>
                                <m:ctrlPr>
                                  <a:rPr lang="en-ZA" sz="3200" i="1">
                                    <a:solidFill>
                                      <a:schemeClr val="tx1"/>
                                    </a:solidFill>
                                    <a:latin typeface="Cambria Math" panose="02040503050406030204" pitchFamily="18" charset="0"/>
                                  </a:rPr>
                                </m:ctrlPr>
                              </m:sSupPr>
                              <m:e>
                                <m:r>
                                  <a:rPr lang="sr-Latn-RS" sz="3200" i="1">
                                    <a:solidFill>
                                      <a:schemeClr val="tx1"/>
                                    </a:solidFill>
                                    <a:latin typeface="Cambria Math" panose="02040503050406030204" pitchFamily="18" charset="0"/>
                                  </a:rPr>
                                  <m:t>2</m:t>
                                </m:r>
                              </m:e>
                              <m:sup>
                                <m:r>
                                  <a:rPr lang="sr-Latn-RS" sz="3200" i="1">
                                    <a:solidFill>
                                      <a:schemeClr val="tx1"/>
                                    </a:solidFill>
                                    <a:latin typeface="Cambria Math" panose="02040503050406030204" pitchFamily="18" charset="0"/>
                                  </a:rPr>
                                  <m:t>𝑛</m:t>
                                </m:r>
                              </m:sup>
                            </m:sSup>
                            <m:r>
                              <a:rPr lang="sr-Latn-RS" sz="3200" i="1">
                                <a:solidFill>
                                  <a:schemeClr val="tx1"/>
                                </a:solidFill>
                                <a:latin typeface="Cambria Math" panose="02040503050406030204" pitchFamily="18" charset="0"/>
                              </a:rPr>
                              <m:t>−1</m:t>
                            </m:r>
                          </m:sup>
                          <m:e>
                            <m:sSub>
                              <m:sSubPr>
                                <m:ctrlPr>
                                  <a:rPr lang="en-ZA" sz="3200" i="1">
                                    <a:solidFill>
                                      <a:schemeClr val="tx1"/>
                                    </a:solidFill>
                                    <a:latin typeface="Cambria Math" panose="02040503050406030204" pitchFamily="18" charset="0"/>
                                  </a:rPr>
                                </m:ctrlPr>
                              </m:sSubPr>
                              <m:e>
                                <m:r>
                                  <a:rPr lang="sr-Latn-RS" sz="3200" i="1">
                                    <a:solidFill>
                                      <a:schemeClr val="tx1"/>
                                    </a:solidFill>
                                    <a:latin typeface="Cambria Math" panose="02040503050406030204" pitchFamily="18" charset="0"/>
                                  </a:rPr>
                                  <m:t>𝑎</m:t>
                                </m:r>
                              </m:e>
                              <m:sub>
                                <m:r>
                                  <a:rPr lang="sr-Latn-RS" sz="3200" i="1">
                                    <a:solidFill>
                                      <a:schemeClr val="tx1"/>
                                    </a:solidFill>
                                    <a:latin typeface="Cambria Math" panose="02040503050406030204" pitchFamily="18" charset="0"/>
                                  </a:rPr>
                                  <m:t>𝑘</m:t>
                                </m:r>
                              </m:sub>
                            </m:sSub>
                          </m:e>
                        </m:nary>
                        <m:d>
                          <m:dPr>
                            <m:begChr m:val="|"/>
                            <m:endChr m:val="⟩"/>
                            <m:ctrlPr>
                              <a:rPr lang="en-ZA" sz="3200" i="1">
                                <a:solidFill>
                                  <a:schemeClr val="tx1"/>
                                </a:solidFill>
                                <a:latin typeface="Cambria Math" panose="02040503050406030204" pitchFamily="18" charset="0"/>
                              </a:rPr>
                            </m:ctrlPr>
                          </m:dPr>
                          <m:e>
                            <m:r>
                              <a:rPr lang="sr-Latn-RS" sz="3200" i="1">
                                <a:solidFill>
                                  <a:schemeClr val="tx1"/>
                                </a:solidFill>
                                <a:latin typeface="Cambria Math" panose="02040503050406030204" pitchFamily="18" charset="0"/>
                              </a:rPr>
                              <m:t>𝑘</m:t>
                            </m:r>
                          </m:e>
                        </m:d>
                        <m:r>
                          <a:rPr lang="en-US" sz="3200" b="0" i="1" smtClean="0">
                            <a:solidFill>
                              <a:schemeClr val="tx1"/>
                            </a:solidFill>
                            <a:latin typeface="Cambria Math" panose="02040503050406030204" pitchFamily="18" charset="0"/>
                          </a:rPr>
                          <m:t>   </m:t>
                        </m:r>
                        <m:r>
                          <a:rPr lang="sr-Latn-RS" sz="3200" i="1" smtClean="0">
                            <a:solidFill>
                              <a:schemeClr val="tx1"/>
                            </a:solidFill>
                            <a:latin typeface="Cambria Math" panose="02040503050406030204" pitchFamily="18" charset="0"/>
                            <a:ea typeface="Cambria Math" panose="02040503050406030204" pitchFamily="18" charset="0"/>
                          </a:rPr>
                          <m:t>⟹</m:t>
                        </m:r>
                        <m:r>
                          <a:rPr lang="en-US" sz="3200" b="0" i="1" smtClean="0">
                            <a:solidFill>
                              <a:schemeClr val="tx1"/>
                            </a:solidFill>
                            <a:latin typeface="Cambria Math" panose="02040503050406030204" pitchFamily="18" charset="0"/>
                            <a:ea typeface="Cambria Math" panose="02040503050406030204" pitchFamily="18" charset="0"/>
                          </a:rPr>
                          <m:t>    </m:t>
                        </m:r>
                        <m:d>
                          <m:dPr>
                            <m:begChr m:val="{"/>
                            <m:endChr m:val=""/>
                            <m:ctrlPr>
                              <a:rPr lang="sr-Latn-RS" sz="320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sr-Latn-RS" sz="3200" i="1" smtClean="0">
                                    <a:solidFill>
                                      <a:schemeClr val="tx1"/>
                                    </a:solidFill>
                                    <a:latin typeface="Cambria Math" panose="02040503050406030204" pitchFamily="18" charset="0"/>
                                    <a:ea typeface="Cambria Math" panose="02040503050406030204" pitchFamily="18" charset="0"/>
                                  </a:rPr>
                                </m:ctrlPr>
                              </m:mPr>
                              <m:mr>
                                <m:e>
                                  <m:r>
                                    <m:rPr>
                                      <m:brk m:alnAt="7"/>
                                    </m:rPr>
                                    <a:rPr lang="en-US" sz="3200" b="0" i="1" smtClean="0">
                                      <a:solidFill>
                                        <a:schemeClr val="tx1"/>
                                      </a:solidFill>
                                      <a:latin typeface="Cambria Math" panose="02040503050406030204" pitchFamily="18" charset="0"/>
                                      <a:ea typeface="Cambria Math" panose="02040503050406030204" pitchFamily="18" charset="0"/>
                                    </a:rPr>
                                    <m:t>𝑘</m:t>
                                  </m:r>
                                </m:e>
                              </m:mr>
                              <m:mr>
                                <m:e>
                                  <m:d>
                                    <m:dPr>
                                      <m:begChr m:val="|"/>
                                      <m:endChr m:val="⟩"/>
                                      <m:ctrlPr>
                                        <a:rPr lang="en-ZA" sz="3200" i="1">
                                          <a:latin typeface="Cambria Math" panose="02040503050406030204" pitchFamily="18" charset="0"/>
                                        </a:rPr>
                                      </m:ctrlPr>
                                    </m:dPr>
                                    <m:e>
                                      <m:r>
                                        <a:rPr lang="sr-Latn-RS" sz="3200" i="1">
                                          <a:latin typeface="Cambria Math" panose="02040503050406030204" pitchFamily="18" charset="0"/>
                                        </a:rPr>
                                        <m:t>𝑘</m:t>
                                      </m:r>
                                    </m:e>
                                  </m:d>
                                </m:e>
                              </m:mr>
                            </m:m>
                          </m:e>
                        </m:d>
                        <m:r>
                          <a:rPr lang="en-US" sz="3200" b="0" i="1" smtClean="0">
                            <a:solidFill>
                              <a:schemeClr val="tx1"/>
                            </a:solidFill>
                            <a:latin typeface="Cambria Math" panose="02040503050406030204" pitchFamily="18" charset="0"/>
                            <a:ea typeface="Cambria Math" panose="02040503050406030204" pitchFamily="18" charset="0"/>
                          </a:rPr>
                          <m:t>,  </m:t>
                        </m:r>
                        <m:r>
                          <a:rPr lang="en-US" sz="3200" b="0" i="1" smtClean="0">
                            <a:solidFill>
                              <a:schemeClr val="tx1"/>
                            </a:solidFill>
                            <a:latin typeface="Cambria Math" panose="02040503050406030204" pitchFamily="18" charset="0"/>
                            <a:ea typeface="Cambria Math" panose="02040503050406030204" pitchFamily="18" charset="0"/>
                          </a:rPr>
                          <m:t>𝑃</m:t>
                        </m:r>
                        <m:d>
                          <m:dPr>
                            <m:ctrlPr>
                              <a:rPr lang="sr-Latn-RS" sz="3200" b="0" i="1" smtClean="0">
                                <a:solidFill>
                                  <a:schemeClr val="tx1"/>
                                </a:solidFill>
                                <a:latin typeface="Cambria Math" panose="02040503050406030204" pitchFamily="18" charset="0"/>
                              </a:rPr>
                            </m:ctrlPr>
                          </m:dPr>
                          <m:e>
                            <m:r>
                              <a:rPr lang="sr-Latn-RS" sz="3200" b="0" i="1" smtClean="0">
                                <a:solidFill>
                                  <a:schemeClr val="tx1"/>
                                </a:solidFill>
                                <a:latin typeface="Cambria Math" panose="02040503050406030204" pitchFamily="18" charset="0"/>
                              </a:rPr>
                              <m:t>𝑘</m:t>
                            </m:r>
                          </m:e>
                        </m:d>
                        <m:r>
                          <a:rPr lang="sr-Latn-RS" sz="3200" b="0" i="1" smtClean="0">
                            <a:solidFill>
                              <a:schemeClr val="tx1"/>
                            </a:solidFill>
                            <a:latin typeface="Cambria Math" panose="02040503050406030204" pitchFamily="18" charset="0"/>
                          </a:rPr>
                          <m:t>=</m:t>
                        </m:r>
                        <m:sSup>
                          <m:sSupPr>
                            <m:ctrlPr>
                              <a:rPr lang="en-US" sz="3200" i="1">
                                <a:solidFill>
                                  <a:schemeClr val="tx1"/>
                                </a:solidFill>
                                <a:latin typeface="Cambria Math" panose="02040503050406030204" pitchFamily="18" charset="0"/>
                              </a:rPr>
                            </m:ctrlPr>
                          </m:sSupPr>
                          <m:e>
                            <m:d>
                              <m:dPr>
                                <m:begChr m:val="|"/>
                                <m:endChr m:val="|"/>
                                <m:ctrlPr>
                                  <a:rPr lang="en-US" sz="3200" i="1">
                                    <a:solidFill>
                                      <a:schemeClr val="tx1"/>
                                    </a:solidFill>
                                    <a:latin typeface="Cambria Math" panose="02040503050406030204" pitchFamily="18" charset="0"/>
                                  </a:rPr>
                                </m:ctrlPr>
                              </m:dPr>
                              <m:e>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𝑎</m:t>
                                    </m:r>
                                  </m:e>
                                  <m:sub>
                                    <m:r>
                                      <a:rPr lang="sr-Latn-RS" sz="3200" b="0" i="1" smtClean="0">
                                        <a:solidFill>
                                          <a:schemeClr val="tx1"/>
                                        </a:solidFill>
                                        <a:latin typeface="Cambria Math" panose="02040503050406030204" pitchFamily="18" charset="0"/>
                                      </a:rPr>
                                      <m:t>𝑘</m:t>
                                    </m:r>
                                  </m:sub>
                                </m:sSub>
                              </m:e>
                            </m:d>
                          </m:e>
                          <m:sup>
                            <m:r>
                              <a:rPr lang="en-US" sz="3200" i="1">
                                <a:solidFill>
                                  <a:schemeClr val="tx1"/>
                                </a:solidFill>
                                <a:latin typeface="Cambria Math" panose="02040503050406030204" pitchFamily="18" charset="0"/>
                              </a:rPr>
                              <m:t>2</m:t>
                            </m:r>
                          </m:sup>
                        </m:sSup>
                      </m:oMath>
                    </m:oMathPara>
                  </a14:m>
                  <a:endParaRPr lang="en-US" sz="3200" i="1" dirty="0">
                    <a:solidFill>
                      <a:schemeClr val="tx1"/>
                    </a:solidFill>
                  </a:endParaRPr>
                </a:p>
              </p:txBody>
            </p:sp>
          </mc:Choice>
          <mc:Fallback xmlns="">
            <p:sp>
              <p:nvSpPr>
                <p:cNvPr id="29" name="TextBox 28">
                  <a:extLst>
                    <a:ext uri="{FF2B5EF4-FFF2-40B4-BE49-F238E27FC236}">
                      <a16:creationId xmlns:a16="http://schemas.microsoft.com/office/drawing/2014/main" id="{A05C133F-B134-1D49-812D-C060AF4E903D}"/>
                    </a:ext>
                  </a:extLst>
                </p:cNvPr>
                <p:cNvSpPr txBox="1">
                  <a:spLocks noRot="1" noChangeAspect="1" noMove="1" noResize="1" noEditPoints="1" noAdjustHandles="1" noChangeArrowheads="1" noChangeShapeType="1" noTextEdit="1"/>
                </p:cNvSpPr>
                <p:nvPr/>
              </p:nvSpPr>
              <p:spPr>
                <a:xfrm>
                  <a:off x="528774" y="4785907"/>
                  <a:ext cx="8398068" cy="1523943"/>
                </a:xfrm>
                <a:prstGeom prst="rect">
                  <a:avLst/>
                </a:prstGeom>
                <a:blipFill>
                  <a:blip r:embed="rId15"/>
                  <a:stretch>
                    <a:fillRect l="-3172" t="-146281" b="-222314"/>
                  </a:stretch>
                </a:blipFill>
              </p:spPr>
              <p:txBody>
                <a:bodyPr/>
                <a:lstStyle/>
                <a:p>
                  <a:r>
                    <a:rPr lang="en-US">
                      <a:noFill/>
                    </a:rPr>
                    <a:t> </a:t>
                  </a:r>
                </a:p>
              </p:txBody>
            </p:sp>
          </mc:Fallback>
        </mc:AlternateContent>
        <p:pic>
          <p:nvPicPr>
            <p:cNvPr id="32" name="Picture 31">
              <a:extLst>
                <a:ext uri="{FF2B5EF4-FFF2-40B4-BE49-F238E27FC236}">
                  <a16:creationId xmlns:a16="http://schemas.microsoft.com/office/drawing/2014/main" id="{5D0124BC-86B7-E949-BC08-47C351DD87A6}"/>
                </a:ext>
              </a:extLst>
            </p:cNvPr>
            <p:cNvPicPr>
              <a:picLocks noChangeAspect="1"/>
            </p:cNvPicPr>
            <p:nvPr/>
          </p:nvPicPr>
          <p:blipFill>
            <a:blip r:embed="rId14">
              <a:alphaModFix/>
            </a:blip>
            <a:stretch>
              <a:fillRect/>
            </a:stretch>
          </p:blipFill>
          <p:spPr>
            <a:xfrm>
              <a:off x="3840162" y="4848366"/>
              <a:ext cx="589598" cy="594816"/>
            </a:xfrm>
            <a:prstGeom prst="rect">
              <a:avLst/>
            </a:prstGeom>
            <a:solidFill>
              <a:schemeClr val="bg1">
                <a:lumMod val="85000"/>
              </a:schemeClr>
            </a:solidFill>
          </p:spPr>
        </p:pic>
      </p:grpSp>
    </p:spTree>
    <p:extLst>
      <p:ext uri="{BB962C8B-B14F-4D97-AF65-F5344CB8AC3E}">
        <p14:creationId xmlns:p14="http://schemas.microsoft.com/office/powerpoint/2010/main" val="400892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CF4309F9-A90E-8942-B8BC-05BBB2F73D3B}"/>
              </a:ext>
            </a:extLst>
          </p:cNvPr>
          <p:cNvCxnSpPr>
            <a:cxnSpLocks/>
          </p:cNvCxnSpPr>
          <p:nvPr/>
        </p:nvCxnSpPr>
        <p:spPr>
          <a:xfrm>
            <a:off x="8834315" y="1763484"/>
            <a:ext cx="279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391DB664-F353-7045-903E-3BA98E6A47CC}"/>
              </a:ext>
            </a:extLst>
          </p:cNvPr>
          <p:cNvSpPr>
            <a:spLocks noGrp="1"/>
          </p:cNvSpPr>
          <p:nvPr>
            <p:ph type="sldNum" sz="quarter" idx="12"/>
          </p:nvPr>
        </p:nvSpPr>
        <p:spPr/>
        <p:txBody>
          <a:bodyPr/>
          <a:lstStyle/>
          <a:p>
            <a:fld id="{591A223C-FA10-BC46-A853-03BA373D023C}" type="slidenum">
              <a:rPr lang="en-US" smtClean="0"/>
              <a:t>56</a:t>
            </a:fld>
            <a:endParaRPr lang="en-US"/>
          </a:p>
        </p:txBody>
      </p:sp>
      <p:sp>
        <p:nvSpPr>
          <p:cNvPr id="3" name="Title 2">
            <a:extLst>
              <a:ext uri="{FF2B5EF4-FFF2-40B4-BE49-F238E27FC236}">
                <a16:creationId xmlns:a16="http://schemas.microsoft.com/office/drawing/2014/main" id="{E0BE290C-929B-BE4C-81DB-6453B11A448F}"/>
              </a:ext>
            </a:extLst>
          </p:cNvPr>
          <p:cNvSpPr>
            <a:spLocks noGrp="1"/>
          </p:cNvSpPr>
          <p:nvPr>
            <p:ph type="title"/>
          </p:nvPr>
        </p:nvSpPr>
        <p:spPr>
          <a:xfrm>
            <a:off x="0" y="0"/>
            <a:ext cx="12192000" cy="928688"/>
          </a:xfrm>
        </p:spPr>
        <p:txBody>
          <a:bodyPr/>
          <a:lstStyle/>
          <a:p>
            <a:r>
              <a:rPr lang="en-US" dirty="0"/>
              <a:t>Partial Measurement</a:t>
            </a:r>
          </a:p>
        </p:txBody>
      </p:sp>
      <p:cxnSp>
        <p:nvCxnSpPr>
          <p:cNvPr id="13" name="Straight Connector 12">
            <a:extLst>
              <a:ext uri="{FF2B5EF4-FFF2-40B4-BE49-F238E27FC236}">
                <a16:creationId xmlns:a16="http://schemas.microsoft.com/office/drawing/2014/main" id="{3A2DD179-6D28-934E-BFA6-5BCBA5A47CDF}"/>
              </a:ext>
            </a:extLst>
          </p:cNvPr>
          <p:cNvCxnSpPr>
            <a:cxnSpLocks/>
          </p:cNvCxnSpPr>
          <p:nvPr/>
        </p:nvCxnSpPr>
        <p:spPr>
          <a:xfrm>
            <a:off x="8834314" y="2960913"/>
            <a:ext cx="279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F76C5EF-ED54-3247-9CC7-25E0644C731F}"/>
                  </a:ext>
                </a:extLst>
              </p:cNvPr>
              <p:cNvSpPr txBox="1"/>
              <p:nvPr/>
            </p:nvSpPr>
            <p:spPr>
              <a:xfrm>
                <a:off x="8736003" y="1143210"/>
                <a:ext cx="68102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16" name="TextBox 15">
                <a:extLst>
                  <a:ext uri="{FF2B5EF4-FFF2-40B4-BE49-F238E27FC236}">
                    <a16:creationId xmlns:a16="http://schemas.microsoft.com/office/drawing/2014/main" id="{2F76C5EF-ED54-3247-9CC7-25E0644C731F}"/>
                  </a:ext>
                </a:extLst>
              </p:cNvPr>
              <p:cNvSpPr txBox="1">
                <a:spLocks noRot="1" noChangeAspect="1" noMove="1" noResize="1" noEditPoints="1" noAdjustHandles="1" noChangeArrowheads="1" noChangeShapeType="1" noTextEdit="1"/>
              </p:cNvSpPr>
              <p:nvPr/>
            </p:nvSpPr>
            <p:spPr>
              <a:xfrm>
                <a:off x="8736003" y="1143210"/>
                <a:ext cx="681020" cy="584775"/>
              </a:xfrm>
              <a:prstGeom prst="rect">
                <a:avLst/>
              </a:prstGeom>
              <a:blipFill>
                <a:blip r:embed="rId3"/>
                <a:stretch>
                  <a:fillRect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2686024-53CD-F543-81B0-940CF99D5C69}"/>
                  </a:ext>
                </a:extLst>
              </p:cNvPr>
              <p:cNvSpPr txBox="1"/>
              <p:nvPr/>
            </p:nvSpPr>
            <p:spPr>
              <a:xfrm>
                <a:off x="8736003" y="2313580"/>
                <a:ext cx="67153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17" name="TextBox 16">
                <a:extLst>
                  <a:ext uri="{FF2B5EF4-FFF2-40B4-BE49-F238E27FC236}">
                    <a16:creationId xmlns:a16="http://schemas.microsoft.com/office/drawing/2014/main" id="{62686024-53CD-F543-81B0-940CF99D5C69}"/>
                  </a:ext>
                </a:extLst>
              </p:cNvPr>
              <p:cNvSpPr txBox="1">
                <a:spLocks noRot="1" noChangeAspect="1" noMove="1" noResize="1" noEditPoints="1" noAdjustHandles="1" noChangeArrowheads="1" noChangeShapeType="1" noTextEdit="1"/>
              </p:cNvSpPr>
              <p:nvPr/>
            </p:nvSpPr>
            <p:spPr>
              <a:xfrm>
                <a:off x="8736003" y="2313580"/>
                <a:ext cx="671530" cy="584775"/>
              </a:xfrm>
              <a:prstGeom prst="rect">
                <a:avLst/>
              </a:prstGeom>
              <a:blipFill>
                <a:blip r:embed="rId4"/>
                <a:stretch>
                  <a:fillRect b="-1276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F23C4C5-7402-B34D-B554-52613EB4B1AA}"/>
              </a:ext>
            </a:extLst>
          </p:cNvPr>
          <p:cNvPicPr>
            <a:picLocks noChangeAspect="1"/>
          </p:cNvPicPr>
          <p:nvPr/>
        </p:nvPicPr>
        <p:blipFill>
          <a:blip r:embed="rId5"/>
          <a:stretch>
            <a:fillRect/>
          </a:stretch>
        </p:blipFill>
        <p:spPr>
          <a:xfrm>
            <a:off x="9999730" y="1241694"/>
            <a:ext cx="1070526" cy="1080000"/>
          </a:xfrm>
          <a:prstGeom prst="rect">
            <a:avLst/>
          </a:prstGeom>
          <a:solidFill>
            <a:schemeClr val="bg1">
              <a:lumMod val="65000"/>
            </a:schemeClr>
          </a:solidFill>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EF57869-2126-A545-BE4E-ED475F1F8E0D}"/>
                  </a:ext>
                </a:extLst>
              </p:cNvPr>
              <p:cNvSpPr txBox="1"/>
              <p:nvPr/>
            </p:nvSpPr>
            <p:spPr>
              <a:xfrm>
                <a:off x="11342023" y="1126934"/>
                <a:ext cx="64697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sr-Latn-RS" sz="3200" b="0" i="1" smtClean="0">
                              <a:solidFill>
                                <a:schemeClr val="tx1"/>
                              </a:solidFill>
                              <a:latin typeface="Cambria Math" panose="02040503050406030204" pitchFamily="18" charset="0"/>
                              <a:ea typeface="Cambria Math" panose="02040503050406030204" pitchFamily="18" charset="0"/>
                            </a:rPr>
                            <m:t>𝑐</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24" name="TextBox 23">
                <a:extLst>
                  <a:ext uri="{FF2B5EF4-FFF2-40B4-BE49-F238E27FC236}">
                    <a16:creationId xmlns:a16="http://schemas.microsoft.com/office/drawing/2014/main" id="{AEF57869-2126-A545-BE4E-ED475F1F8E0D}"/>
                  </a:ext>
                </a:extLst>
              </p:cNvPr>
              <p:cNvSpPr txBox="1">
                <a:spLocks noRot="1" noChangeAspect="1" noMove="1" noResize="1" noEditPoints="1" noAdjustHandles="1" noChangeArrowheads="1" noChangeShapeType="1" noTextEdit="1"/>
              </p:cNvSpPr>
              <p:nvPr/>
            </p:nvSpPr>
            <p:spPr>
              <a:xfrm>
                <a:off x="11342023" y="1126934"/>
                <a:ext cx="646972" cy="584775"/>
              </a:xfrm>
              <a:prstGeom prst="rect">
                <a:avLst/>
              </a:prstGeom>
              <a:blipFill>
                <a:blip r:embed="rId7"/>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D453688-75C8-504B-B29E-F0D55D3BBD79}"/>
                  </a:ext>
                </a:extLst>
              </p:cNvPr>
              <p:cNvSpPr/>
              <p:nvPr/>
            </p:nvSpPr>
            <p:spPr>
              <a:xfrm>
                <a:off x="211136" y="1959233"/>
                <a:ext cx="61372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400" i="1" smtClean="0">
                              <a:latin typeface="Cambria Math" panose="02040503050406030204" pitchFamily="18" charset="0"/>
                            </a:rPr>
                          </m:ctrlPr>
                        </m:mPr>
                        <m:mr>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 </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0</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e>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i="0">
                                    <a:latin typeface="Cambria Math" panose="02040503050406030204" pitchFamily="18" charset="0"/>
                                  </a:rPr>
                                  <m:t>1</m:t>
                                </m:r>
                              </m:e>
                            </m:d>
                            <m:r>
                              <a:rPr lang="en-US" sz="2400" i="0">
                                <a:latin typeface="Cambria Math" panose="02040503050406030204" pitchFamily="18" charset="0"/>
                              </a:rPr>
                              <m:t>= </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2</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3</m:t>
                                        </m:r>
                                      </m:sub>
                                    </m:sSub>
                                  </m:e>
                                </m:d>
                              </m:e>
                              <m:sup>
                                <m:r>
                                  <a:rPr lang="en-US" sz="2400" i="0">
                                    <a:latin typeface="Cambria Math" panose="02040503050406030204" pitchFamily="18" charset="0"/>
                                  </a:rPr>
                                  <m:t>2</m:t>
                                </m:r>
                              </m:sup>
                            </m:sSup>
                          </m:e>
                        </m:mr>
                      </m:m>
                    </m:oMath>
                  </m:oMathPara>
                </a14:m>
                <a:endParaRPr lang="en-US" sz="2400" dirty="0"/>
              </a:p>
            </p:txBody>
          </p:sp>
        </mc:Choice>
        <mc:Fallback xmlns="">
          <p:sp>
            <p:nvSpPr>
              <p:cNvPr id="4" name="Rectangle 3">
                <a:extLst>
                  <a:ext uri="{FF2B5EF4-FFF2-40B4-BE49-F238E27FC236}">
                    <a16:creationId xmlns:a16="http://schemas.microsoft.com/office/drawing/2014/main" id="{AD453688-75C8-504B-B29E-F0D55D3BBD79}"/>
                  </a:ext>
                </a:extLst>
              </p:cNvPr>
              <p:cNvSpPr>
                <a:spLocks noRot="1" noChangeAspect="1" noMove="1" noResize="1" noEditPoints="1" noAdjustHandles="1" noChangeArrowheads="1" noChangeShapeType="1" noTextEdit="1"/>
              </p:cNvSpPr>
              <p:nvPr/>
            </p:nvSpPr>
            <p:spPr>
              <a:xfrm>
                <a:off x="211136" y="1959233"/>
                <a:ext cx="6137258" cy="461665"/>
              </a:xfrm>
              <a:prstGeom prst="rect">
                <a:avLst/>
              </a:prstGeom>
              <a:blipFill>
                <a:blip r:embed="rId8"/>
                <a:stretch>
                  <a:fillRect b="-2105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7AF8E289-A9F2-7446-BD69-D404CBD96871}"/>
              </a:ext>
            </a:extLst>
          </p:cNvPr>
          <p:cNvGrpSpPr/>
          <p:nvPr/>
        </p:nvGrpSpPr>
        <p:grpSpPr>
          <a:xfrm>
            <a:off x="222639" y="3169552"/>
            <a:ext cx="8295669" cy="1083244"/>
            <a:chOff x="222639" y="3169552"/>
            <a:chExt cx="8295669" cy="1083244"/>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1FEB981-060E-3048-841B-7A0F326DB905}"/>
                    </a:ext>
                  </a:extLst>
                </p:cNvPr>
                <p:cNvSpPr/>
                <p:nvPr/>
              </p:nvSpPr>
              <p:spPr>
                <a:xfrm>
                  <a:off x="222639" y="3775742"/>
                  <a:ext cx="8295669" cy="477054"/>
                </a:xfrm>
                <a:prstGeom prst="rect">
                  <a:avLst/>
                </a:prstGeom>
              </p:spPr>
              <p:txBody>
                <a:bodyPr wrap="none">
                  <a:spAutoFit/>
                </a:bodyPr>
                <a:lstStyle/>
                <a:p>
                  <a14:m>
                    <m:oMath xmlns:m="http://schemas.openxmlformats.org/officeDocument/2006/math">
                      <m:d>
                        <m:dPr>
                          <m:begChr m:val="|"/>
                          <m:endChr m:val="⟩"/>
                          <m:ctrlPr>
                            <a:rPr lang="en-US" sz="2500" i="1" smtClean="0">
                              <a:latin typeface="Cambria Math" panose="02040503050406030204" pitchFamily="18" charset="0"/>
                            </a:rPr>
                          </m:ctrlPr>
                        </m:dPr>
                        <m:e>
                          <m:r>
                            <a:rPr lang="en-US" sz="2500" i="1">
                              <a:latin typeface="Cambria Math" panose="02040503050406030204" pitchFamily="18" charset="0"/>
                            </a:rPr>
                            <m:t>𝑆</m:t>
                          </m:r>
                        </m:e>
                      </m:d>
                      <m:r>
                        <a:rPr lang="en-US" sz="2500">
                          <a:latin typeface="Cambria Math" panose="02040503050406030204" pitchFamily="18" charset="0"/>
                        </a:rPr>
                        <m:t>=</m:t>
                      </m:r>
                      <m:sSub>
                        <m:sSubPr>
                          <m:ctrlPr>
                            <a:rPr lang="en-US" sz="2500" i="1">
                              <a:latin typeface="Cambria Math" panose="02040503050406030204" pitchFamily="18" charset="0"/>
                            </a:rPr>
                          </m:ctrlPr>
                        </m:sSubPr>
                        <m:e>
                          <m:r>
                            <a:rPr lang="en-US" sz="2500" i="1">
                              <a:latin typeface="Cambria Math" panose="02040503050406030204" pitchFamily="18" charset="0"/>
                            </a:rPr>
                            <m:t>𝑎</m:t>
                          </m:r>
                        </m:e>
                        <m:sub>
                          <m:r>
                            <a:rPr lang="en-US" sz="2500">
                              <a:latin typeface="Cambria Math" panose="02040503050406030204" pitchFamily="18" charset="0"/>
                            </a:rPr>
                            <m:t>0</m:t>
                          </m:r>
                        </m:sub>
                      </m:sSub>
                      <m:d>
                        <m:dPr>
                          <m:begChr m:val="|"/>
                          <m:endChr m:val="⟩"/>
                          <m:ctrlPr>
                            <a:rPr lang="en-US" sz="2500" i="1">
                              <a:latin typeface="Cambria Math" panose="02040503050406030204" pitchFamily="18" charset="0"/>
                            </a:rPr>
                          </m:ctrlPr>
                        </m:dPr>
                        <m:e>
                          <m:r>
                            <a:rPr lang="en-US" sz="2500">
                              <a:solidFill>
                                <a:srgbClr val="FF0000"/>
                              </a:solidFill>
                              <a:latin typeface="Cambria Math" panose="02040503050406030204" pitchFamily="18" charset="0"/>
                            </a:rPr>
                            <m:t>0</m:t>
                          </m:r>
                          <m:r>
                            <a:rPr lang="en-US" sz="2500">
                              <a:latin typeface="Cambria Math" panose="02040503050406030204" pitchFamily="18" charset="0"/>
                            </a:rPr>
                            <m:t>0</m:t>
                          </m:r>
                        </m:e>
                      </m:d>
                      <m:r>
                        <a:rPr lang="en-US" sz="2500">
                          <a:latin typeface="Cambria Math" panose="02040503050406030204" pitchFamily="18" charset="0"/>
                        </a:rPr>
                        <m:t>+</m:t>
                      </m:r>
                      <m:sSub>
                        <m:sSubPr>
                          <m:ctrlPr>
                            <a:rPr lang="en-US" sz="2500" i="1">
                              <a:latin typeface="Cambria Math" panose="02040503050406030204" pitchFamily="18" charset="0"/>
                            </a:rPr>
                          </m:ctrlPr>
                        </m:sSubPr>
                        <m:e>
                          <m:r>
                            <a:rPr lang="en-US" sz="2500" i="1">
                              <a:latin typeface="Cambria Math" panose="02040503050406030204" pitchFamily="18" charset="0"/>
                            </a:rPr>
                            <m:t>𝑎</m:t>
                          </m:r>
                        </m:e>
                        <m:sub>
                          <m:r>
                            <a:rPr lang="en-US" sz="2500">
                              <a:latin typeface="Cambria Math" panose="02040503050406030204" pitchFamily="18" charset="0"/>
                            </a:rPr>
                            <m:t>1</m:t>
                          </m:r>
                        </m:sub>
                      </m:sSub>
                      <m:d>
                        <m:dPr>
                          <m:begChr m:val="|"/>
                          <m:endChr m:val="⟩"/>
                          <m:ctrlPr>
                            <a:rPr lang="en-US" sz="2500" i="1">
                              <a:latin typeface="Cambria Math" panose="02040503050406030204" pitchFamily="18" charset="0"/>
                            </a:rPr>
                          </m:ctrlPr>
                        </m:dPr>
                        <m:e>
                          <m:r>
                            <a:rPr lang="en-US" sz="2500">
                              <a:solidFill>
                                <a:srgbClr val="FF0000"/>
                              </a:solidFill>
                              <a:latin typeface="Cambria Math" panose="02040503050406030204" pitchFamily="18" charset="0"/>
                            </a:rPr>
                            <m:t>0</m:t>
                          </m:r>
                          <m:r>
                            <a:rPr lang="en-US" sz="2500">
                              <a:latin typeface="Cambria Math" panose="02040503050406030204" pitchFamily="18" charset="0"/>
                            </a:rPr>
                            <m:t>1</m:t>
                          </m:r>
                        </m:e>
                      </m:d>
                      <m:r>
                        <a:rPr lang="en-US" sz="2500">
                          <a:latin typeface="Cambria Math" panose="02040503050406030204" pitchFamily="18" charset="0"/>
                        </a:rPr>
                        <m:t>+</m:t>
                      </m:r>
                      <m:sSub>
                        <m:sSubPr>
                          <m:ctrlPr>
                            <a:rPr lang="en-US" sz="2500" i="1" strike="sngStrike">
                              <a:latin typeface="Cambria Math" panose="02040503050406030204" pitchFamily="18" charset="0"/>
                            </a:rPr>
                          </m:ctrlPr>
                        </m:sSubPr>
                        <m:e>
                          <m:r>
                            <a:rPr lang="en-US" sz="2500" i="1" strike="sngStrike">
                              <a:latin typeface="Cambria Math" panose="02040503050406030204" pitchFamily="18" charset="0"/>
                            </a:rPr>
                            <m:t>𝑎</m:t>
                          </m:r>
                        </m:e>
                        <m:sub>
                          <m:r>
                            <a:rPr lang="en-US" sz="2500" strike="sngStrike">
                              <a:latin typeface="Cambria Math" panose="02040503050406030204" pitchFamily="18" charset="0"/>
                            </a:rPr>
                            <m:t>2</m:t>
                          </m:r>
                        </m:sub>
                      </m:sSub>
                      <m:d>
                        <m:dPr>
                          <m:begChr m:val="|"/>
                          <m:endChr m:val="⟩"/>
                          <m:ctrlPr>
                            <a:rPr lang="en-US" sz="2500" i="1" strike="sngStrike">
                              <a:latin typeface="Cambria Math" panose="02040503050406030204" pitchFamily="18" charset="0"/>
                            </a:rPr>
                          </m:ctrlPr>
                        </m:dPr>
                        <m:e>
                          <m:r>
                            <a:rPr lang="en-US" sz="2500" strike="sngStrike">
                              <a:solidFill>
                                <a:srgbClr val="FF0000"/>
                              </a:solidFill>
                              <a:latin typeface="Cambria Math" panose="02040503050406030204" pitchFamily="18" charset="0"/>
                            </a:rPr>
                            <m:t>1</m:t>
                          </m:r>
                          <m:r>
                            <a:rPr lang="en-US" sz="2500" strike="sngStrike">
                              <a:latin typeface="Cambria Math" panose="02040503050406030204" pitchFamily="18" charset="0"/>
                            </a:rPr>
                            <m:t>0</m:t>
                          </m:r>
                        </m:e>
                      </m:d>
                      <m:r>
                        <a:rPr lang="en-US" sz="2500" strike="sngStrike">
                          <a:latin typeface="Cambria Math" panose="02040503050406030204" pitchFamily="18" charset="0"/>
                        </a:rPr>
                        <m:t>+</m:t>
                      </m:r>
                      <m:sSub>
                        <m:sSubPr>
                          <m:ctrlPr>
                            <a:rPr lang="en-US" sz="2500" i="1" strike="sngStrike">
                              <a:latin typeface="Cambria Math" panose="02040503050406030204" pitchFamily="18" charset="0"/>
                            </a:rPr>
                          </m:ctrlPr>
                        </m:sSubPr>
                        <m:e>
                          <m:r>
                            <a:rPr lang="en-US" sz="2500" i="1" strike="sngStrike">
                              <a:latin typeface="Cambria Math" panose="02040503050406030204" pitchFamily="18" charset="0"/>
                            </a:rPr>
                            <m:t>𝑎</m:t>
                          </m:r>
                        </m:e>
                        <m:sub>
                          <m:r>
                            <a:rPr lang="en-US" sz="2500" strike="sngStrike">
                              <a:latin typeface="Cambria Math" panose="02040503050406030204" pitchFamily="18" charset="0"/>
                            </a:rPr>
                            <m:t>3</m:t>
                          </m:r>
                        </m:sub>
                      </m:sSub>
                      <m:d>
                        <m:dPr>
                          <m:begChr m:val="|"/>
                          <m:endChr m:val="⟩"/>
                          <m:ctrlPr>
                            <a:rPr lang="en-US" sz="2500" i="1" strike="sngStrike">
                              <a:latin typeface="Cambria Math" panose="02040503050406030204" pitchFamily="18" charset="0"/>
                            </a:rPr>
                          </m:ctrlPr>
                        </m:dPr>
                        <m:e>
                          <m:r>
                            <a:rPr lang="en-US" sz="2500" strike="sngStrike">
                              <a:solidFill>
                                <a:srgbClr val="FF0000"/>
                              </a:solidFill>
                              <a:latin typeface="Cambria Math" panose="02040503050406030204" pitchFamily="18" charset="0"/>
                            </a:rPr>
                            <m:t>1</m:t>
                          </m:r>
                          <m:r>
                            <a:rPr lang="en-US" sz="2500" strike="sngStrike">
                              <a:latin typeface="Cambria Math" panose="02040503050406030204" pitchFamily="18" charset="0"/>
                            </a:rPr>
                            <m:t>1</m:t>
                          </m:r>
                        </m:e>
                      </m:d>
                      <m:r>
                        <a:rPr lang="sr-Latn-RS" sz="2500" b="0" i="1" smtClean="0">
                          <a:latin typeface="Cambria Math" panose="02040503050406030204" pitchFamily="18" charset="0"/>
                        </a:rPr>
                        <m:t>=</m:t>
                      </m:r>
                    </m:oMath>
                  </a14:m>
                  <a:r>
                    <a:rPr lang="en-US" sz="2500" dirty="0"/>
                    <a:t> </a:t>
                  </a:r>
                  <a14:m>
                    <m:oMath xmlns:m="http://schemas.openxmlformats.org/officeDocument/2006/math">
                      <m:sSub>
                        <m:sSubPr>
                          <m:ctrlPr>
                            <a:rPr lang="en-US" sz="2500" i="1">
                              <a:latin typeface="Cambria Math" panose="02040503050406030204" pitchFamily="18" charset="0"/>
                            </a:rPr>
                          </m:ctrlPr>
                        </m:sSubPr>
                        <m:e>
                          <m:r>
                            <a:rPr lang="en-US" sz="2500" i="1">
                              <a:latin typeface="Cambria Math" panose="02040503050406030204" pitchFamily="18" charset="0"/>
                            </a:rPr>
                            <m:t>𝑎</m:t>
                          </m:r>
                        </m:e>
                        <m:sub>
                          <m:r>
                            <a:rPr lang="en-US" sz="2500">
                              <a:latin typeface="Cambria Math" panose="02040503050406030204" pitchFamily="18" charset="0"/>
                            </a:rPr>
                            <m:t>0</m:t>
                          </m:r>
                        </m:sub>
                      </m:sSub>
                      <m:d>
                        <m:dPr>
                          <m:begChr m:val="|"/>
                          <m:endChr m:val="⟩"/>
                          <m:ctrlPr>
                            <a:rPr lang="en-US" sz="2500" i="1">
                              <a:latin typeface="Cambria Math" panose="02040503050406030204" pitchFamily="18" charset="0"/>
                            </a:rPr>
                          </m:ctrlPr>
                        </m:dPr>
                        <m:e>
                          <m:r>
                            <a:rPr lang="en-US" sz="2500">
                              <a:solidFill>
                                <a:srgbClr val="FF0000"/>
                              </a:solidFill>
                              <a:latin typeface="Cambria Math" panose="02040503050406030204" pitchFamily="18" charset="0"/>
                            </a:rPr>
                            <m:t>0</m:t>
                          </m:r>
                          <m:r>
                            <a:rPr lang="en-US" sz="2500">
                              <a:latin typeface="Cambria Math" panose="02040503050406030204" pitchFamily="18" charset="0"/>
                            </a:rPr>
                            <m:t>0</m:t>
                          </m:r>
                        </m:e>
                      </m:d>
                      <m:r>
                        <a:rPr lang="en-US" sz="2500">
                          <a:latin typeface="Cambria Math" panose="02040503050406030204" pitchFamily="18" charset="0"/>
                        </a:rPr>
                        <m:t>+</m:t>
                      </m:r>
                      <m:sSub>
                        <m:sSubPr>
                          <m:ctrlPr>
                            <a:rPr lang="en-US" sz="2500" i="1">
                              <a:latin typeface="Cambria Math" panose="02040503050406030204" pitchFamily="18" charset="0"/>
                            </a:rPr>
                          </m:ctrlPr>
                        </m:sSubPr>
                        <m:e>
                          <m:r>
                            <a:rPr lang="en-US" sz="2500" i="1">
                              <a:latin typeface="Cambria Math" panose="02040503050406030204" pitchFamily="18" charset="0"/>
                            </a:rPr>
                            <m:t>𝑎</m:t>
                          </m:r>
                        </m:e>
                        <m:sub>
                          <m:r>
                            <a:rPr lang="en-US" sz="2500">
                              <a:latin typeface="Cambria Math" panose="02040503050406030204" pitchFamily="18" charset="0"/>
                            </a:rPr>
                            <m:t>1</m:t>
                          </m:r>
                        </m:sub>
                      </m:sSub>
                      <m:d>
                        <m:dPr>
                          <m:begChr m:val="|"/>
                          <m:endChr m:val="⟩"/>
                          <m:ctrlPr>
                            <a:rPr lang="en-US" sz="2500" i="1">
                              <a:latin typeface="Cambria Math" panose="02040503050406030204" pitchFamily="18" charset="0"/>
                            </a:rPr>
                          </m:ctrlPr>
                        </m:dPr>
                        <m:e>
                          <m:r>
                            <a:rPr lang="en-US" sz="2500">
                              <a:solidFill>
                                <a:srgbClr val="FF0000"/>
                              </a:solidFill>
                              <a:latin typeface="Cambria Math" panose="02040503050406030204" pitchFamily="18" charset="0"/>
                            </a:rPr>
                            <m:t>0</m:t>
                          </m:r>
                          <m:r>
                            <a:rPr lang="en-US" sz="2500">
                              <a:latin typeface="Cambria Math" panose="02040503050406030204" pitchFamily="18" charset="0"/>
                            </a:rPr>
                            <m:t>1</m:t>
                          </m:r>
                        </m:e>
                      </m:d>
                    </m:oMath>
                  </a14:m>
                  <a:endParaRPr lang="en-US" sz="2500" dirty="0"/>
                </a:p>
              </p:txBody>
            </p:sp>
          </mc:Choice>
          <mc:Fallback xmlns="">
            <p:sp>
              <p:nvSpPr>
                <p:cNvPr id="8" name="Rectangle 7">
                  <a:extLst>
                    <a:ext uri="{FF2B5EF4-FFF2-40B4-BE49-F238E27FC236}">
                      <a16:creationId xmlns:a16="http://schemas.microsoft.com/office/drawing/2014/main" id="{D1FEB981-060E-3048-841B-7A0F326DB905}"/>
                    </a:ext>
                  </a:extLst>
                </p:cNvPr>
                <p:cNvSpPr>
                  <a:spLocks noRot="1" noChangeAspect="1" noMove="1" noResize="1" noEditPoints="1" noAdjustHandles="1" noChangeArrowheads="1" noChangeShapeType="1" noTextEdit="1"/>
                </p:cNvSpPr>
                <p:nvPr/>
              </p:nvSpPr>
              <p:spPr>
                <a:xfrm>
                  <a:off x="222639" y="3775742"/>
                  <a:ext cx="8295669" cy="477054"/>
                </a:xfrm>
                <a:prstGeom prst="rect">
                  <a:avLst/>
                </a:prstGeom>
                <a:blipFill>
                  <a:blip r:embed="rId9"/>
                  <a:stretch>
                    <a:fillRect t="-7692" b="-2820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5D6CCB19-CC90-074E-BEB2-7BA568A4EC99}"/>
                </a:ext>
              </a:extLst>
            </p:cNvPr>
            <p:cNvSpPr txBox="1"/>
            <p:nvPr/>
          </p:nvSpPr>
          <p:spPr>
            <a:xfrm>
              <a:off x="222639" y="3169552"/>
              <a:ext cx="2326855" cy="477054"/>
            </a:xfrm>
            <a:prstGeom prst="rect">
              <a:avLst/>
            </a:prstGeom>
            <a:solidFill>
              <a:schemeClr val="accent4">
                <a:lumMod val="20000"/>
                <a:lumOff val="80000"/>
              </a:schemeClr>
            </a:solidFill>
          </p:spPr>
          <p:txBody>
            <a:bodyPr wrap="none" rtlCol="0">
              <a:spAutoFit/>
            </a:bodyPr>
            <a:lstStyle/>
            <a:p>
              <a:r>
                <a:rPr lang="en-US" sz="2500" dirty="0"/>
                <a:t>If 0 is measured:</a:t>
              </a:r>
            </a:p>
          </p:txBody>
        </p:sp>
      </p:gr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E82F5B5-4D47-DF4D-95A2-F11D28A87394}"/>
                  </a:ext>
                </a:extLst>
              </p:cNvPr>
              <p:cNvSpPr/>
              <p:nvPr/>
            </p:nvSpPr>
            <p:spPr>
              <a:xfrm>
                <a:off x="222639" y="4473408"/>
                <a:ext cx="9693231" cy="8798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𝑛</m:t>
                      </m:r>
                      <m:r>
                        <a:rPr lang="sr-Latn-RS" sz="2400" b="0" i="0" smtClean="0">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0</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sub>
                                  </m:sSub>
                                </m:e>
                              </m:d>
                            </m:e>
                            <m:sup>
                              <m:r>
                                <a:rPr lang="en-US" sz="2400" i="0">
                                  <a:latin typeface="Cambria Math" panose="02040503050406030204" pitchFamily="18" charset="0"/>
                                </a:rPr>
                                <m:t>2</m:t>
                              </m:r>
                            </m:sup>
                          </m:sSup>
                        </m:e>
                      </m:rad>
                      <m:r>
                        <a:rPr lang="sr-Latn-RS" sz="2400" i="1">
                          <a:latin typeface="Cambria Math" panose="02040503050406030204" pitchFamily="18" charset="0"/>
                          <a:ea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𝑆</m:t>
                          </m:r>
                        </m:e>
                      </m:d>
                      <m:r>
                        <a:rPr lang="sr-Latn-RS" sz="2400">
                          <a:latin typeface="Cambria Math" panose="02040503050406030204" pitchFamily="18" charset="0"/>
                        </a:rPr>
                        <m:t>=</m:t>
                      </m:r>
                      <m:f>
                        <m:fPr>
                          <m:ctrlPr>
                            <a:rPr lang="en-ZA" sz="2400" i="1">
                              <a:latin typeface="Cambria Math" panose="02040503050406030204" pitchFamily="18" charset="0"/>
                            </a:rPr>
                          </m:ctrlPr>
                        </m:fPr>
                        <m:num>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0</m:t>
                              </m:r>
                            </m:sub>
                          </m:sSub>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0</m:t>
                                          </m:r>
                                        </m:sub>
                                      </m:sSub>
                                    </m:e>
                                  </m:d>
                                </m:e>
                                <m:sup>
                                  <m:r>
                                    <a:rPr lang="sr-Latn-RS" sz="2400" i="1">
                                      <a:latin typeface="Cambria Math" panose="02040503050406030204" pitchFamily="18" charset="0"/>
                                    </a:rPr>
                                    <m:t>2</m:t>
                                  </m:r>
                                </m:sup>
                              </m:sSup>
                              <m:r>
                                <a:rPr lang="sr-Latn-RS" sz="240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d>
                                </m:e>
                                <m:sup>
                                  <m:r>
                                    <a:rPr lang="sr-Latn-RS" sz="2400" i="1">
                                      <a:latin typeface="Cambria Math" panose="02040503050406030204" pitchFamily="18" charset="0"/>
                                    </a:rPr>
                                    <m:t>2</m:t>
                                  </m:r>
                                </m:sup>
                              </m:sSup>
                            </m:e>
                          </m:rad>
                        </m:den>
                      </m:f>
                      <m:d>
                        <m:dPr>
                          <m:begChr m:val="|"/>
                          <m:endChr m:val="⟩"/>
                          <m:ctrlPr>
                            <a:rPr lang="en-ZA" sz="2400" i="1">
                              <a:latin typeface="Cambria Math" panose="02040503050406030204" pitchFamily="18" charset="0"/>
                            </a:rPr>
                          </m:ctrlPr>
                        </m:dPr>
                        <m:e>
                          <m:r>
                            <a:rPr lang="sr-Latn-RS" sz="2400">
                              <a:latin typeface="Cambria Math" panose="02040503050406030204" pitchFamily="18" charset="0"/>
                            </a:rPr>
                            <m:t>00</m:t>
                          </m:r>
                        </m:e>
                      </m:d>
                      <m:r>
                        <a:rPr lang="sr-Latn-RS" sz="2400" i="1">
                          <a:latin typeface="Cambria Math" panose="02040503050406030204" pitchFamily="18" charset="0"/>
                        </a:rPr>
                        <m:t>+</m:t>
                      </m:r>
                      <m:f>
                        <m:fPr>
                          <m:ctrlPr>
                            <a:rPr lang="en-ZA" sz="2400" i="1">
                              <a:latin typeface="Cambria Math" panose="02040503050406030204" pitchFamily="18" charset="0"/>
                            </a:rPr>
                          </m:ctrlPr>
                        </m:fPr>
                        <m:num>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0</m:t>
                                          </m:r>
                                        </m:sub>
                                      </m:sSub>
                                    </m:e>
                                  </m:d>
                                </m:e>
                                <m:sup>
                                  <m:r>
                                    <a:rPr lang="sr-Latn-RS" sz="2400" i="1">
                                      <a:latin typeface="Cambria Math" panose="02040503050406030204" pitchFamily="18" charset="0"/>
                                    </a:rPr>
                                    <m:t>2</m:t>
                                  </m:r>
                                </m:sup>
                              </m:sSup>
                              <m:r>
                                <a:rPr lang="sr-Latn-RS" sz="240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d>
                                </m:e>
                                <m:sup>
                                  <m:r>
                                    <a:rPr lang="sr-Latn-RS" sz="2400" i="1">
                                      <a:latin typeface="Cambria Math" panose="02040503050406030204" pitchFamily="18" charset="0"/>
                                    </a:rPr>
                                    <m:t>2</m:t>
                                  </m:r>
                                </m:sup>
                              </m:sSup>
                            </m:e>
                          </m:rad>
                        </m:den>
                      </m:f>
                      <m:d>
                        <m:dPr>
                          <m:begChr m:val="|"/>
                          <m:endChr m:val="⟩"/>
                          <m:ctrlPr>
                            <a:rPr lang="en-ZA" sz="2400" i="1">
                              <a:latin typeface="Cambria Math" panose="02040503050406030204" pitchFamily="18" charset="0"/>
                            </a:rPr>
                          </m:ctrlPr>
                        </m:dPr>
                        <m:e>
                          <m:r>
                            <a:rPr lang="sr-Latn-RS" sz="2400">
                              <a:latin typeface="Cambria Math" panose="02040503050406030204" pitchFamily="18" charset="0"/>
                            </a:rPr>
                            <m:t>01</m:t>
                          </m:r>
                        </m:e>
                      </m:d>
                    </m:oMath>
                  </m:oMathPara>
                </a14:m>
                <a:endParaRPr lang="en-US" sz="2400" dirty="0"/>
              </a:p>
            </p:txBody>
          </p:sp>
        </mc:Choice>
        <mc:Fallback xmlns="">
          <p:sp>
            <p:nvSpPr>
              <p:cNvPr id="12" name="Rectangle 11">
                <a:extLst>
                  <a:ext uri="{FF2B5EF4-FFF2-40B4-BE49-F238E27FC236}">
                    <a16:creationId xmlns:a16="http://schemas.microsoft.com/office/drawing/2014/main" id="{EE82F5B5-4D47-DF4D-95A2-F11D28A87394}"/>
                  </a:ext>
                </a:extLst>
              </p:cNvPr>
              <p:cNvSpPr>
                <a:spLocks noRot="1" noChangeAspect="1" noMove="1" noResize="1" noEditPoints="1" noAdjustHandles="1" noChangeArrowheads="1" noChangeShapeType="1" noTextEdit="1"/>
              </p:cNvSpPr>
              <p:nvPr/>
            </p:nvSpPr>
            <p:spPr>
              <a:xfrm>
                <a:off x="222639" y="4473408"/>
                <a:ext cx="9693231" cy="87985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EFDFCA6B-80B9-B440-9E4E-C2BC86C7213E}"/>
                  </a:ext>
                </a:extLst>
              </p:cNvPr>
              <p:cNvSpPr/>
              <p:nvPr/>
            </p:nvSpPr>
            <p:spPr>
              <a:xfrm>
                <a:off x="353021" y="5552393"/>
                <a:ext cx="6181436" cy="8962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400" i="1" smtClean="0">
                              <a:latin typeface="Cambria Math" panose="02040503050406030204" pitchFamily="18" charset="0"/>
                            </a:rPr>
                          </m:ctrlPr>
                        </m:mPr>
                        <m:mr>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 </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0</m:t>
                                            </m:r>
                                          </m:sub>
                                        </m:sSub>
                                      </m:e>
                                    </m:d>
                                  </m:e>
                                  <m:sup>
                                    <m:r>
                                      <a:rPr lang="en-US" sz="2400" i="0">
                                        <a:latin typeface="Cambria Math" panose="02040503050406030204" pitchFamily="18" charset="0"/>
                                      </a:rPr>
                                      <m:t>2</m:t>
                                    </m:r>
                                  </m:sup>
                                </m:sSup>
                              </m:num>
                              <m:den>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0</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sub>
                                        </m:sSub>
                                      </m:e>
                                    </m:d>
                                  </m:e>
                                  <m:sup>
                                    <m:r>
                                      <a:rPr lang="en-US" sz="2400" i="0">
                                        <a:latin typeface="Cambria Math" panose="02040503050406030204" pitchFamily="18" charset="0"/>
                                      </a:rPr>
                                      <m:t>2</m:t>
                                    </m:r>
                                  </m:sup>
                                </m:sSup>
                              </m:den>
                            </m:f>
                            <m:r>
                              <a:rPr lang="en-US" sz="2400" i="0">
                                <a:latin typeface="Cambria Math" panose="02040503050406030204" pitchFamily="18" charset="0"/>
                              </a:rPr>
                              <m:t>,</m:t>
                            </m:r>
                          </m:e>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i="0">
                                    <a:latin typeface="Cambria Math" panose="02040503050406030204" pitchFamily="18" charset="0"/>
                                  </a:rPr>
                                  <m:t>1</m:t>
                                </m:r>
                              </m:e>
                            </m:d>
                            <m:r>
                              <a:rPr lang="en-US" sz="2400" i="0">
                                <a:latin typeface="Cambria Math" panose="02040503050406030204" pitchFamily="18" charset="0"/>
                              </a:rPr>
                              <m:t>= </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sub>
                                        </m:sSub>
                                      </m:e>
                                    </m:d>
                                  </m:e>
                                  <m:sup>
                                    <m:r>
                                      <a:rPr lang="en-US" sz="2400" i="0">
                                        <a:latin typeface="Cambria Math" panose="02040503050406030204" pitchFamily="18" charset="0"/>
                                      </a:rPr>
                                      <m:t>2</m:t>
                                    </m:r>
                                  </m:sup>
                                </m:sSup>
                              </m:num>
                              <m:den>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0</m:t>
                                            </m:r>
                                          </m:sub>
                                        </m:sSub>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sub>
                                        </m:sSub>
                                      </m:e>
                                    </m:d>
                                  </m:e>
                                  <m:sup>
                                    <m:r>
                                      <a:rPr lang="en-US" sz="2400" i="0">
                                        <a:latin typeface="Cambria Math" panose="02040503050406030204" pitchFamily="18" charset="0"/>
                                      </a:rPr>
                                      <m:t>2</m:t>
                                    </m:r>
                                  </m:sup>
                                </m:sSup>
                              </m:den>
                            </m:f>
                          </m:e>
                        </m:mr>
                      </m:m>
                    </m:oMath>
                  </m:oMathPara>
                </a14:m>
                <a:endParaRPr lang="en-US" sz="2400" dirty="0"/>
              </a:p>
            </p:txBody>
          </p:sp>
        </mc:Choice>
        <mc:Fallback xmlns="">
          <p:sp>
            <p:nvSpPr>
              <p:cNvPr id="14" name="Rectangle 13">
                <a:extLst>
                  <a:ext uri="{FF2B5EF4-FFF2-40B4-BE49-F238E27FC236}">
                    <a16:creationId xmlns:a16="http://schemas.microsoft.com/office/drawing/2014/main" id="{EFDFCA6B-80B9-B440-9E4E-C2BC86C7213E}"/>
                  </a:ext>
                </a:extLst>
              </p:cNvPr>
              <p:cNvSpPr>
                <a:spLocks noRot="1" noChangeAspect="1" noMove="1" noResize="1" noEditPoints="1" noAdjustHandles="1" noChangeArrowheads="1" noChangeShapeType="1" noTextEdit="1"/>
              </p:cNvSpPr>
              <p:nvPr/>
            </p:nvSpPr>
            <p:spPr>
              <a:xfrm>
                <a:off x="353021" y="5552393"/>
                <a:ext cx="6181436" cy="896207"/>
              </a:xfrm>
              <a:prstGeom prst="rect">
                <a:avLst/>
              </a:prstGeom>
              <a:blipFill>
                <a:blip r:embed="rId11"/>
                <a:stretch>
                  <a:fillRect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83940A4-E3FA-EC4C-99C7-21C112241375}"/>
                  </a:ext>
                </a:extLst>
              </p:cNvPr>
              <p:cNvSpPr/>
              <p:nvPr/>
            </p:nvSpPr>
            <p:spPr>
              <a:xfrm>
                <a:off x="222639" y="1257148"/>
                <a:ext cx="55702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d>
                        <m:dPr>
                          <m:begChr m:val="|"/>
                          <m:endChr m:val="⟩"/>
                          <m:ctrlPr>
                            <a:rPr lang="en-US" sz="2400" i="1">
                              <a:latin typeface="Cambria Math" panose="02040503050406030204" pitchFamily="18" charset="0"/>
                            </a:rPr>
                          </m:ctrlPr>
                        </m:dPr>
                        <m:e>
                          <m:r>
                            <a:rPr lang="en-US" sz="2400">
                              <a:solidFill>
                                <a:srgbClr val="FF0000"/>
                              </a:solidFill>
                              <a:latin typeface="Cambria Math" panose="02040503050406030204" pitchFamily="18" charset="0"/>
                            </a:rPr>
                            <m:t>0</m:t>
                          </m:r>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r>
                            <a:rPr lang="en-US" sz="2400">
                              <a:solidFill>
                                <a:srgbClr val="FF0000"/>
                              </a:solidFill>
                              <a:latin typeface="Cambria Math" panose="02040503050406030204" pitchFamily="18" charset="0"/>
                            </a:rPr>
                            <m:t>0</m:t>
                          </m:r>
                          <m:r>
                            <a:rPr lang="en-US" sz="2400">
                              <a:latin typeface="Cambria Math" panose="02040503050406030204" pitchFamily="18" charset="0"/>
                            </a:rPr>
                            <m:t>1</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2</m:t>
                          </m:r>
                        </m:sub>
                      </m:sSub>
                      <m:d>
                        <m:dPr>
                          <m:begChr m:val="|"/>
                          <m:endChr m:val="⟩"/>
                          <m:ctrlPr>
                            <a:rPr lang="en-US" sz="2400" i="1">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a:latin typeface="Cambria Math" panose="02040503050406030204" pitchFamily="18" charset="0"/>
                            </a:rPr>
                            <m:t>0</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3</m:t>
                          </m:r>
                        </m:sub>
                      </m:sSub>
                      <m:d>
                        <m:dPr>
                          <m:begChr m:val="|"/>
                          <m:endChr m:val="⟩"/>
                          <m:ctrlPr>
                            <a:rPr lang="en-US" sz="2400" i="1">
                              <a:latin typeface="Cambria Math" panose="02040503050406030204" pitchFamily="18" charset="0"/>
                            </a:rPr>
                          </m:ctrlPr>
                        </m:dPr>
                        <m:e>
                          <m:r>
                            <a:rPr lang="en-US" sz="2400">
                              <a:solidFill>
                                <a:srgbClr val="FF0000"/>
                              </a:solidFill>
                              <a:latin typeface="Cambria Math" panose="02040503050406030204" pitchFamily="18" charset="0"/>
                            </a:rPr>
                            <m:t>1</m:t>
                          </m:r>
                          <m:r>
                            <a:rPr lang="en-US" sz="2400">
                              <a:latin typeface="Cambria Math" panose="02040503050406030204" pitchFamily="18" charset="0"/>
                            </a:rPr>
                            <m:t>1</m:t>
                          </m:r>
                        </m:e>
                      </m:d>
                    </m:oMath>
                  </m:oMathPara>
                </a14:m>
                <a:endParaRPr lang="en-US" sz="2400" dirty="0"/>
              </a:p>
            </p:txBody>
          </p:sp>
        </mc:Choice>
        <mc:Fallback xmlns="">
          <p:sp>
            <p:nvSpPr>
              <p:cNvPr id="6" name="Rectangle 5">
                <a:extLst>
                  <a:ext uri="{FF2B5EF4-FFF2-40B4-BE49-F238E27FC236}">
                    <a16:creationId xmlns:a16="http://schemas.microsoft.com/office/drawing/2014/main" id="{983940A4-E3FA-EC4C-99C7-21C112241375}"/>
                  </a:ext>
                </a:extLst>
              </p:cNvPr>
              <p:cNvSpPr>
                <a:spLocks noRot="1" noChangeAspect="1" noMove="1" noResize="1" noEditPoints="1" noAdjustHandles="1" noChangeArrowheads="1" noChangeShapeType="1" noTextEdit="1"/>
              </p:cNvSpPr>
              <p:nvPr/>
            </p:nvSpPr>
            <p:spPr>
              <a:xfrm>
                <a:off x="222639" y="1257148"/>
                <a:ext cx="5570243" cy="461665"/>
              </a:xfrm>
              <a:prstGeom prst="rect">
                <a:avLst/>
              </a:prstGeom>
              <a:blipFill>
                <a:blip r:embed="rId12"/>
                <a:stretch>
                  <a:fillRect b="-2703"/>
                </a:stretch>
              </a:blipFill>
            </p:spPr>
            <p:txBody>
              <a:bodyPr/>
              <a:lstStyle/>
              <a:p>
                <a:r>
                  <a:rPr lang="en-US">
                    <a:noFill/>
                  </a:rPr>
                  <a:t> </a:t>
                </a:r>
              </a:p>
            </p:txBody>
          </p:sp>
        </mc:Fallback>
      </mc:AlternateContent>
    </p:spTree>
    <p:extLst>
      <p:ext uri="{BB962C8B-B14F-4D97-AF65-F5344CB8AC3E}">
        <p14:creationId xmlns:p14="http://schemas.microsoft.com/office/powerpoint/2010/main" val="302398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Rounded Rectangle 42">
                <a:extLst>
                  <a:ext uri="{FF2B5EF4-FFF2-40B4-BE49-F238E27FC236}">
                    <a16:creationId xmlns:a16="http://schemas.microsoft.com/office/drawing/2014/main" id="{D178DDE9-2A2E-1047-89E2-958C2810BD0B}"/>
                  </a:ext>
                </a:extLst>
              </p:cNvPr>
              <p:cNvSpPr/>
              <p:nvPr/>
            </p:nvSpPr>
            <p:spPr>
              <a:xfrm>
                <a:off x="4682646" y="4257586"/>
                <a:ext cx="2748874" cy="767337"/>
              </a:xfrm>
              <a:prstGeom prst="roundRect">
                <a:avLst>
                  <a:gd name="adj" fmla="val 10074"/>
                </a:avLst>
              </a:prstGeom>
              <a:solidFill>
                <a:schemeClr val="accent6">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3600" i="1">
                              <a:solidFill>
                                <a:srgbClr val="00B050"/>
                              </a:solidFill>
                              <a:latin typeface="Cambria Math" panose="02040503050406030204" pitchFamily="18" charset="0"/>
                            </a:rPr>
                          </m:ctrlPr>
                        </m:dPr>
                        <m:e>
                          <m:r>
                            <a:rPr lang="en-US" sz="3600" i="1">
                              <a:solidFill>
                                <a:srgbClr val="00B050"/>
                              </a:solidFill>
                              <a:latin typeface="Cambria Math" panose="02040503050406030204" pitchFamily="18" charset="0"/>
                            </a:rPr>
                            <m:t>1</m:t>
                          </m:r>
                        </m:e>
                      </m:d>
                    </m:oMath>
                  </m:oMathPara>
                </a14:m>
                <a:endParaRPr lang="en-US" sz="3600" dirty="0"/>
              </a:p>
            </p:txBody>
          </p:sp>
        </mc:Choice>
        <mc:Fallback xmlns="">
          <p:sp>
            <p:nvSpPr>
              <p:cNvPr id="43" name="Rounded Rectangle 42">
                <a:extLst>
                  <a:ext uri="{FF2B5EF4-FFF2-40B4-BE49-F238E27FC236}">
                    <a16:creationId xmlns:a16="http://schemas.microsoft.com/office/drawing/2014/main" id="{D178DDE9-2A2E-1047-89E2-958C2810BD0B}"/>
                  </a:ext>
                </a:extLst>
              </p:cNvPr>
              <p:cNvSpPr>
                <a:spLocks noRot="1" noChangeAspect="1" noMove="1" noResize="1" noEditPoints="1" noAdjustHandles="1" noChangeArrowheads="1" noChangeShapeType="1" noTextEdit="1"/>
              </p:cNvSpPr>
              <p:nvPr/>
            </p:nvSpPr>
            <p:spPr>
              <a:xfrm>
                <a:off x="4682646" y="4257586"/>
                <a:ext cx="2748874" cy="767337"/>
              </a:xfrm>
              <a:prstGeom prst="roundRect">
                <a:avLst>
                  <a:gd name="adj" fmla="val 10074"/>
                </a:avLst>
              </a:prstGeom>
              <a:blipFill>
                <a:blip r:embed="rId3"/>
                <a:stretch>
                  <a:fillRect/>
                </a:stretch>
              </a:blipFill>
              <a:ln>
                <a:solidFill>
                  <a:schemeClr val="bg1">
                    <a:lumMod val="8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ounded Rectangle 40">
                <a:extLst>
                  <a:ext uri="{FF2B5EF4-FFF2-40B4-BE49-F238E27FC236}">
                    <a16:creationId xmlns:a16="http://schemas.microsoft.com/office/drawing/2014/main" id="{434EB1CC-98E9-E54F-A187-E09F77AF08F3}"/>
                  </a:ext>
                </a:extLst>
              </p:cNvPr>
              <p:cNvSpPr/>
              <p:nvPr/>
            </p:nvSpPr>
            <p:spPr>
              <a:xfrm>
                <a:off x="4690546" y="2749262"/>
                <a:ext cx="2748874" cy="767337"/>
              </a:xfrm>
              <a:prstGeom prst="roundRect">
                <a:avLst>
                  <a:gd name="adj" fmla="val 10074"/>
                </a:avLst>
              </a:prstGeom>
              <a:solidFill>
                <a:schemeClr val="accent5">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3600" i="1">
                              <a:solidFill>
                                <a:srgbClr val="0000FF"/>
                              </a:solidFill>
                              <a:latin typeface="Cambria Math" panose="02040503050406030204" pitchFamily="18" charset="0"/>
                            </a:rPr>
                          </m:ctrlPr>
                        </m:dPr>
                        <m:e>
                          <m:r>
                            <a:rPr lang="en-US" sz="3600" i="1">
                              <a:solidFill>
                                <a:srgbClr val="0000FF"/>
                              </a:solidFill>
                              <a:latin typeface="Cambria Math" panose="02040503050406030204" pitchFamily="18" charset="0"/>
                            </a:rPr>
                            <m:t>0</m:t>
                          </m:r>
                        </m:e>
                      </m:d>
                    </m:oMath>
                  </m:oMathPara>
                </a14:m>
                <a:endParaRPr lang="en-US" sz="3600" dirty="0"/>
              </a:p>
            </p:txBody>
          </p:sp>
        </mc:Choice>
        <mc:Fallback xmlns="">
          <p:sp>
            <p:nvSpPr>
              <p:cNvPr id="41" name="Rounded Rectangle 40">
                <a:extLst>
                  <a:ext uri="{FF2B5EF4-FFF2-40B4-BE49-F238E27FC236}">
                    <a16:creationId xmlns:a16="http://schemas.microsoft.com/office/drawing/2014/main" id="{434EB1CC-98E9-E54F-A187-E09F77AF08F3}"/>
                  </a:ext>
                </a:extLst>
              </p:cNvPr>
              <p:cNvSpPr>
                <a:spLocks noRot="1" noChangeAspect="1" noMove="1" noResize="1" noEditPoints="1" noAdjustHandles="1" noChangeArrowheads="1" noChangeShapeType="1" noTextEdit="1"/>
              </p:cNvSpPr>
              <p:nvPr/>
            </p:nvSpPr>
            <p:spPr>
              <a:xfrm>
                <a:off x="4690546" y="2749262"/>
                <a:ext cx="2748874" cy="767337"/>
              </a:xfrm>
              <a:prstGeom prst="roundRect">
                <a:avLst>
                  <a:gd name="adj" fmla="val 10074"/>
                </a:avLst>
              </a:prstGeom>
              <a:blipFill>
                <a:blip r:embed="rId4"/>
                <a:stretch>
                  <a:fillRect/>
                </a:stretch>
              </a:blipFill>
              <a:ln>
                <a:solidFill>
                  <a:schemeClr val="bg1">
                    <a:lumMod val="8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ounded Rectangle 20">
                <a:extLst>
                  <a:ext uri="{FF2B5EF4-FFF2-40B4-BE49-F238E27FC236}">
                    <a16:creationId xmlns:a16="http://schemas.microsoft.com/office/drawing/2014/main" id="{8171E886-F00B-BD49-A92D-058E13099149}"/>
                  </a:ext>
                </a:extLst>
              </p:cNvPr>
              <p:cNvSpPr/>
              <p:nvPr/>
            </p:nvSpPr>
            <p:spPr>
              <a:xfrm>
                <a:off x="4689716" y="1994164"/>
                <a:ext cx="2748874" cy="767337"/>
              </a:xfrm>
              <a:prstGeom prst="roundRect">
                <a:avLst>
                  <a:gd name="adj" fmla="val 10074"/>
                </a:avLst>
              </a:prstGeom>
              <a:solidFill>
                <a:schemeClr val="accent2">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3600" i="1">
                              <a:solidFill>
                                <a:srgbClr val="FF0000"/>
                              </a:solidFill>
                              <a:latin typeface="Cambria Math" panose="02040503050406030204" pitchFamily="18" charset="0"/>
                            </a:rPr>
                          </m:ctrlPr>
                        </m:dPr>
                        <m:e>
                          <m:r>
                            <a:rPr lang="en-US" sz="3600" i="1">
                              <a:solidFill>
                                <a:srgbClr val="FF0000"/>
                              </a:solidFill>
                              <a:latin typeface="Cambria Math" panose="02040503050406030204" pitchFamily="18" charset="0"/>
                            </a:rPr>
                            <m:t>1</m:t>
                          </m:r>
                        </m:e>
                      </m:d>
                    </m:oMath>
                  </m:oMathPara>
                </a14:m>
                <a:endParaRPr lang="en-US" sz="3600" dirty="0"/>
              </a:p>
            </p:txBody>
          </p:sp>
        </mc:Choice>
        <mc:Fallback xmlns="">
          <p:sp>
            <p:nvSpPr>
              <p:cNvPr id="21" name="Rounded Rectangle 20">
                <a:extLst>
                  <a:ext uri="{FF2B5EF4-FFF2-40B4-BE49-F238E27FC236}">
                    <a16:creationId xmlns:a16="http://schemas.microsoft.com/office/drawing/2014/main" id="{8171E886-F00B-BD49-A92D-058E13099149}"/>
                  </a:ext>
                </a:extLst>
              </p:cNvPr>
              <p:cNvSpPr>
                <a:spLocks noRot="1" noChangeAspect="1" noMove="1" noResize="1" noEditPoints="1" noAdjustHandles="1" noChangeArrowheads="1" noChangeShapeType="1" noTextEdit="1"/>
              </p:cNvSpPr>
              <p:nvPr/>
            </p:nvSpPr>
            <p:spPr>
              <a:xfrm>
                <a:off x="4689716" y="1994164"/>
                <a:ext cx="2748874" cy="767337"/>
              </a:xfrm>
              <a:prstGeom prst="roundRect">
                <a:avLst>
                  <a:gd name="adj" fmla="val 10074"/>
                </a:avLst>
              </a:prstGeom>
              <a:blipFill>
                <a:blip r:embed="rId5"/>
                <a:stretch>
                  <a:fillRect/>
                </a:stretch>
              </a:blipFill>
              <a:ln>
                <a:solidFill>
                  <a:schemeClr val="bg1">
                    <a:lumMod val="85000"/>
                  </a:schemeClr>
                </a:solid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B8FCEAAF-C86C-C040-851B-8C1385C3A469}"/>
              </a:ext>
            </a:extLst>
          </p:cNvPr>
          <p:cNvSpPr>
            <a:spLocks noGrp="1"/>
          </p:cNvSpPr>
          <p:nvPr>
            <p:ph type="sldNum" sz="quarter" idx="12"/>
          </p:nvPr>
        </p:nvSpPr>
        <p:spPr/>
        <p:txBody>
          <a:bodyPr/>
          <a:lstStyle/>
          <a:p>
            <a:fld id="{591A223C-FA10-BC46-A853-03BA373D023C}" type="slidenum">
              <a:rPr lang="en-US" smtClean="0"/>
              <a:t>57</a:t>
            </a:fld>
            <a:endParaRPr lang="en-US"/>
          </a:p>
        </p:txBody>
      </p:sp>
      <p:sp>
        <p:nvSpPr>
          <p:cNvPr id="3" name="Title 2">
            <a:extLst>
              <a:ext uri="{FF2B5EF4-FFF2-40B4-BE49-F238E27FC236}">
                <a16:creationId xmlns:a16="http://schemas.microsoft.com/office/drawing/2014/main" id="{C1478AAB-FFEB-4D4F-9F7C-A597793354C6}"/>
              </a:ext>
            </a:extLst>
          </p:cNvPr>
          <p:cNvSpPr>
            <a:spLocks noGrp="1"/>
          </p:cNvSpPr>
          <p:nvPr>
            <p:ph type="title"/>
          </p:nvPr>
        </p:nvSpPr>
        <p:spPr>
          <a:xfrm>
            <a:off x="50799" y="0"/>
            <a:ext cx="12192000" cy="928688"/>
          </a:xfrm>
        </p:spPr>
        <p:txBody>
          <a:bodyPr>
            <a:normAutofit/>
          </a:bodyPr>
          <a:lstStyle/>
          <a:p>
            <a:r>
              <a:rPr lang="en-US" dirty="0"/>
              <a:t>Big Endian / Little Endian</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928787D-26C4-5749-A04D-F0AF390E40C7}"/>
                  </a:ext>
                </a:extLst>
              </p:cNvPr>
              <p:cNvSpPr/>
              <p:nvPr/>
            </p:nvSpPr>
            <p:spPr>
              <a:xfrm>
                <a:off x="1714500" y="5678807"/>
                <a:ext cx="2781339"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latin typeface="Cambria Math" panose="02040503050406030204" pitchFamily="18" charset="0"/>
                            </a:rPr>
                          </m:ctrlPr>
                        </m:dPr>
                        <m:e>
                          <m:r>
                            <a:rPr lang="en-US" sz="4000" b="0" i="1" smtClean="0">
                              <a:solidFill>
                                <a:srgbClr val="FF0000"/>
                              </a:solidFill>
                              <a:latin typeface="Cambria Math" panose="02040503050406030204" pitchFamily="18" charset="0"/>
                            </a:rPr>
                            <m:t>1</m:t>
                          </m:r>
                          <m:r>
                            <a:rPr lang="sr-Latn-RS" sz="4000" b="0" i="1" smtClean="0">
                              <a:solidFill>
                                <a:srgbClr val="FF0000"/>
                              </a:solidFill>
                              <a:latin typeface="Cambria Math" panose="02040503050406030204" pitchFamily="18" charset="0"/>
                            </a:rPr>
                            <m:t>  </m:t>
                          </m:r>
                          <m:r>
                            <a:rPr lang="en-US" sz="4000" b="0" i="1" smtClean="0">
                              <a:solidFill>
                                <a:srgbClr val="0000FF"/>
                              </a:solidFill>
                              <a:latin typeface="Cambria Math" panose="02040503050406030204" pitchFamily="18" charset="0"/>
                            </a:rPr>
                            <m:t>0</m:t>
                          </m:r>
                          <m:r>
                            <a:rPr lang="en-US" sz="4000" b="0" i="1" smtClean="0">
                              <a:latin typeface="Cambria Math" panose="02040503050406030204" pitchFamily="18" charset="0"/>
                              <a:ea typeface="Cambria Math" panose="02040503050406030204" pitchFamily="18" charset="0"/>
                            </a:rPr>
                            <m:t>⋯</m:t>
                          </m:r>
                          <m:r>
                            <a:rPr lang="sr-Latn-RS" sz="4000" b="0" i="1" smtClean="0">
                              <a:latin typeface="Cambria Math" panose="02040503050406030204" pitchFamily="18" charset="0"/>
                              <a:ea typeface="Cambria Math" panose="02040503050406030204" pitchFamily="18" charset="0"/>
                            </a:rPr>
                            <m:t>  </m:t>
                          </m:r>
                          <m:r>
                            <a:rPr lang="en-US" sz="4000" b="0" i="1" smtClean="0">
                              <a:solidFill>
                                <a:srgbClr val="00B050"/>
                              </a:solidFill>
                              <a:latin typeface="Cambria Math" panose="02040503050406030204" pitchFamily="18" charset="0"/>
                              <a:ea typeface="Cambria Math" panose="02040503050406030204" pitchFamily="18" charset="0"/>
                            </a:rPr>
                            <m:t>1</m:t>
                          </m:r>
                          <m:r>
                            <a:rPr lang="sr-Latn-RS" sz="4000" b="0" i="1" smtClean="0">
                              <a:solidFill>
                                <a:srgbClr val="00B050"/>
                              </a:solidFill>
                              <a:latin typeface="Cambria Math" panose="02040503050406030204" pitchFamily="18" charset="0"/>
                              <a:ea typeface="Cambria Math" panose="02040503050406030204" pitchFamily="18" charset="0"/>
                            </a:rPr>
                            <m:t>  </m:t>
                          </m:r>
                        </m:e>
                      </m:d>
                    </m:oMath>
                  </m:oMathPara>
                </a14:m>
                <a:endParaRPr lang="en-US" sz="4000" dirty="0"/>
              </a:p>
            </p:txBody>
          </p:sp>
        </mc:Choice>
        <mc:Fallback xmlns="">
          <p:sp>
            <p:nvSpPr>
              <p:cNvPr id="11" name="Rectangle 10">
                <a:extLst>
                  <a:ext uri="{FF2B5EF4-FFF2-40B4-BE49-F238E27FC236}">
                    <a16:creationId xmlns:a16="http://schemas.microsoft.com/office/drawing/2014/main" id="{E928787D-26C4-5749-A04D-F0AF390E40C7}"/>
                  </a:ext>
                </a:extLst>
              </p:cNvPr>
              <p:cNvSpPr>
                <a:spLocks noRot="1" noChangeAspect="1" noMove="1" noResize="1" noEditPoints="1" noAdjustHandles="1" noChangeArrowheads="1" noChangeShapeType="1" noTextEdit="1"/>
              </p:cNvSpPr>
              <p:nvPr/>
            </p:nvSpPr>
            <p:spPr>
              <a:xfrm>
                <a:off x="1714500" y="5678807"/>
                <a:ext cx="2781339" cy="707886"/>
              </a:xfrm>
              <a:prstGeom prst="rect">
                <a:avLst/>
              </a:prstGeom>
              <a:blipFill>
                <a:blip r:embed="rId6"/>
                <a:stretch>
                  <a:fillRect b="-24561"/>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2931007B-D814-634A-9647-46E3C1F9968C}"/>
              </a:ext>
            </a:extLst>
          </p:cNvPr>
          <p:cNvCxnSpPr>
            <a:cxnSpLocks/>
          </p:cNvCxnSpPr>
          <p:nvPr/>
        </p:nvCxnSpPr>
        <p:spPr>
          <a:xfrm>
            <a:off x="4337089" y="3898859"/>
            <a:ext cx="3600000" cy="0"/>
          </a:xfrm>
          <a:prstGeom prst="line">
            <a:avLst/>
          </a:prstGeom>
          <a:ln w="508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3C37DA9-A8CE-8D42-A6B1-BB720D42B3E1}"/>
              </a:ext>
            </a:extLst>
          </p:cNvPr>
          <p:cNvGrpSpPr/>
          <p:nvPr/>
        </p:nvGrpSpPr>
        <p:grpSpPr>
          <a:xfrm>
            <a:off x="2196428" y="2379525"/>
            <a:ext cx="1830906" cy="2847992"/>
            <a:chOff x="481928" y="2067275"/>
            <a:chExt cx="1830906" cy="2847992"/>
          </a:xfrm>
        </p:grpSpPr>
        <p:grpSp>
          <p:nvGrpSpPr>
            <p:cNvPr id="28" name="Group 27">
              <a:extLst>
                <a:ext uri="{FF2B5EF4-FFF2-40B4-BE49-F238E27FC236}">
                  <a16:creationId xmlns:a16="http://schemas.microsoft.com/office/drawing/2014/main" id="{56DCA58E-C945-F040-A0CA-51AEF116498A}"/>
                </a:ext>
              </a:extLst>
            </p:cNvPr>
            <p:cNvGrpSpPr/>
            <p:nvPr/>
          </p:nvGrpSpPr>
          <p:grpSpPr>
            <a:xfrm>
              <a:off x="2131003" y="4372480"/>
              <a:ext cx="181831" cy="542787"/>
              <a:chOff x="3098800" y="3837671"/>
              <a:chExt cx="575733" cy="542787"/>
            </a:xfrm>
          </p:grpSpPr>
          <p:cxnSp>
            <p:nvCxnSpPr>
              <p:cNvPr id="23" name="Straight Connector 22">
                <a:extLst>
                  <a:ext uri="{FF2B5EF4-FFF2-40B4-BE49-F238E27FC236}">
                    <a16:creationId xmlns:a16="http://schemas.microsoft.com/office/drawing/2014/main" id="{BA2766F0-8820-4F4F-BE85-4EF6CD7C599B}"/>
                  </a:ext>
                </a:extLst>
              </p:cNvPr>
              <p:cNvCxnSpPr>
                <a:cxnSpLocks/>
              </p:cNvCxnSpPr>
              <p:nvPr/>
            </p:nvCxnSpPr>
            <p:spPr>
              <a:xfrm flipH="1">
                <a:off x="3098800" y="3837671"/>
                <a:ext cx="575733" cy="0"/>
              </a:xfrm>
              <a:prstGeom prst="line">
                <a:avLst/>
              </a:prstGeom>
              <a:ln w="25400" cap="rnd">
                <a:solidFill>
                  <a:srgbClr val="00B050"/>
                </a:solidFill>
                <a:tailEnd type="non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FC9A092-A73C-DC44-84E5-39B4C03A1713}"/>
                  </a:ext>
                </a:extLst>
              </p:cNvPr>
              <p:cNvCxnSpPr>
                <a:cxnSpLocks/>
              </p:cNvCxnSpPr>
              <p:nvPr/>
            </p:nvCxnSpPr>
            <p:spPr>
              <a:xfrm>
                <a:off x="3098800" y="3837671"/>
                <a:ext cx="0" cy="542787"/>
              </a:xfrm>
              <a:prstGeom prst="straightConnector1">
                <a:avLst/>
              </a:prstGeom>
              <a:ln w="254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AAB7754-588E-1C45-AEC2-694BF4DCE1F6}"/>
                </a:ext>
              </a:extLst>
            </p:cNvPr>
            <p:cNvGrpSpPr/>
            <p:nvPr/>
          </p:nvGrpSpPr>
          <p:grpSpPr>
            <a:xfrm>
              <a:off x="1031204" y="2820992"/>
              <a:ext cx="1228063" cy="2057344"/>
              <a:chOff x="3098800" y="3837671"/>
              <a:chExt cx="562464" cy="2057344"/>
            </a:xfrm>
          </p:grpSpPr>
          <p:cxnSp>
            <p:nvCxnSpPr>
              <p:cNvPr id="30" name="Straight Connector 29">
                <a:extLst>
                  <a:ext uri="{FF2B5EF4-FFF2-40B4-BE49-F238E27FC236}">
                    <a16:creationId xmlns:a16="http://schemas.microsoft.com/office/drawing/2014/main" id="{B19CCDD8-D468-A44C-8CAC-6464F3E567E7}"/>
                  </a:ext>
                </a:extLst>
              </p:cNvPr>
              <p:cNvCxnSpPr>
                <a:cxnSpLocks/>
              </p:cNvCxnSpPr>
              <p:nvPr/>
            </p:nvCxnSpPr>
            <p:spPr>
              <a:xfrm flipH="1">
                <a:off x="3098800" y="3837671"/>
                <a:ext cx="562464" cy="0"/>
              </a:xfrm>
              <a:prstGeom prst="line">
                <a:avLst/>
              </a:prstGeom>
              <a:ln w="25400" cap="rnd">
                <a:solidFill>
                  <a:srgbClr val="0000FF"/>
                </a:solidFill>
                <a:tailEnd type="non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7AB63AC-5DE2-1A4C-9590-40C2C2F7A8F3}"/>
                  </a:ext>
                </a:extLst>
              </p:cNvPr>
              <p:cNvCxnSpPr>
                <a:cxnSpLocks/>
              </p:cNvCxnSpPr>
              <p:nvPr/>
            </p:nvCxnSpPr>
            <p:spPr>
              <a:xfrm>
                <a:off x="3098800" y="3837671"/>
                <a:ext cx="0" cy="2057344"/>
              </a:xfrm>
              <a:prstGeom prst="straightConnector1">
                <a:avLst/>
              </a:prstGeom>
              <a:ln w="254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470F9963-D56A-E74D-AFEB-778CCB51FC9B}"/>
                </a:ext>
              </a:extLst>
            </p:cNvPr>
            <p:cNvGrpSpPr/>
            <p:nvPr/>
          </p:nvGrpSpPr>
          <p:grpSpPr>
            <a:xfrm>
              <a:off x="481928" y="2067275"/>
              <a:ext cx="1761926" cy="2804802"/>
              <a:chOff x="3098800" y="3837671"/>
              <a:chExt cx="696724" cy="2057344"/>
            </a:xfrm>
          </p:grpSpPr>
          <p:cxnSp>
            <p:nvCxnSpPr>
              <p:cNvPr id="39" name="Straight Connector 38">
                <a:extLst>
                  <a:ext uri="{FF2B5EF4-FFF2-40B4-BE49-F238E27FC236}">
                    <a16:creationId xmlns:a16="http://schemas.microsoft.com/office/drawing/2014/main" id="{17CA54F7-5C16-384E-B310-B67888DF8D66}"/>
                  </a:ext>
                </a:extLst>
              </p:cNvPr>
              <p:cNvCxnSpPr>
                <a:cxnSpLocks/>
              </p:cNvCxnSpPr>
              <p:nvPr/>
            </p:nvCxnSpPr>
            <p:spPr>
              <a:xfrm flipH="1">
                <a:off x="3098800" y="3837671"/>
                <a:ext cx="696724" cy="0"/>
              </a:xfrm>
              <a:prstGeom prst="line">
                <a:avLst/>
              </a:prstGeom>
              <a:ln w="25400" cap="rnd">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ADEC2F0-E67A-AE4F-9867-E60C560108A5}"/>
                  </a:ext>
                </a:extLst>
              </p:cNvPr>
              <p:cNvCxnSpPr>
                <a:cxnSpLocks/>
              </p:cNvCxnSpPr>
              <p:nvPr/>
            </p:nvCxnSpPr>
            <p:spPr>
              <a:xfrm>
                <a:off x="3098800" y="3837671"/>
                <a:ext cx="0" cy="2057344"/>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C0A2A3E9-5AF1-4F4C-B6D4-D09F35144965}"/>
                  </a:ext>
                </a:extLst>
              </p:cNvPr>
              <p:cNvSpPr/>
              <p:nvPr/>
            </p:nvSpPr>
            <p:spPr>
              <a:xfrm>
                <a:off x="7694895" y="5678807"/>
                <a:ext cx="3454600"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latin typeface="Cambria Math" panose="02040503050406030204" pitchFamily="18" charset="0"/>
                            </a:rPr>
                          </m:ctrlPr>
                        </m:dPr>
                        <m:e>
                          <m:r>
                            <a:rPr lang="sr-Latn-RS" sz="4000" b="0" i="1" smtClean="0">
                              <a:latin typeface="Cambria Math" panose="02040503050406030204" pitchFamily="18" charset="0"/>
                            </a:rPr>
                            <m:t>   </m:t>
                          </m:r>
                          <m:r>
                            <a:rPr lang="en-US" sz="4000" b="0" i="1" smtClean="0">
                              <a:solidFill>
                                <a:srgbClr val="00B050"/>
                              </a:solidFill>
                              <a:latin typeface="Cambria Math" panose="02040503050406030204" pitchFamily="18" charset="0"/>
                            </a:rPr>
                            <m:t>1</m:t>
                          </m:r>
                          <m:r>
                            <a:rPr lang="sr-Latn-RS" sz="4000" b="0" i="1" smtClean="0">
                              <a:solidFill>
                                <a:srgbClr val="00B050"/>
                              </a:solidFill>
                              <a:latin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m:t>
                          </m:r>
                          <m:r>
                            <a:rPr lang="sr-Latn-RS" sz="4000" b="0" i="1" smtClean="0">
                              <a:latin typeface="Cambria Math" panose="02040503050406030204" pitchFamily="18" charset="0"/>
                              <a:ea typeface="Cambria Math" panose="02040503050406030204" pitchFamily="18" charset="0"/>
                            </a:rPr>
                            <m:t> </m:t>
                          </m:r>
                          <m:r>
                            <a:rPr lang="en-US" sz="4000" b="0" i="1" smtClean="0">
                              <a:solidFill>
                                <a:srgbClr val="0000FF"/>
                              </a:solidFill>
                              <a:latin typeface="Cambria Math" panose="02040503050406030204" pitchFamily="18" charset="0"/>
                              <a:ea typeface="Cambria Math" panose="02040503050406030204" pitchFamily="18" charset="0"/>
                            </a:rPr>
                            <m:t>0</m:t>
                          </m:r>
                          <m:r>
                            <a:rPr lang="sr-Latn-RS" sz="4000" b="0" i="1" smtClean="0">
                              <a:solidFill>
                                <a:srgbClr val="0000FF"/>
                              </a:solidFill>
                              <a:latin typeface="Cambria Math" panose="02040503050406030204" pitchFamily="18" charset="0"/>
                              <a:ea typeface="Cambria Math" panose="02040503050406030204" pitchFamily="18" charset="0"/>
                            </a:rPr>
                            <m:t>  </m:t>
                          </m:r>
                          <m:r>
                            <a:rPr lang="en-US" sz="4000" b="0" i="1" smtClean="0">
                              <a:solidFill>
                                <a:srgbClr val="FF0000"/>
                              </a:solidFill>
                              <a:latin typeface="Cambria Math" panose="02040503050406030204" pitchFamily="18" charset="0"/>
                              <a:ea typeface="Cambria Math" panose="02040503050406030204" pitchFamily="18" charset="0"/>
                            </a:rPr>
                            <m:t>1</m:t>
                          </m:r>
                          <m:r>
                            <a:rPr lang="sr-Latn-RS" sz="4000" b="0" i="1" smtClean="0">
                              <a:solidFill>
                                <a:srgbClr val="FF0000"/>
                              </a:solidFill>
                              <a:latin typeface="Cambria Math" panose="02040503050406030204" pitchFamily="18" charset="0"/>
                              <a:ea typeface="Cambria Math" panose="02040503050406030204" pitchFamily="18" charset="0"/>
                            </a:rPr>
                            <m:t> </m:t>
                          </m:r>
                        </m:e>
                      </m:d>
                    </m:oMath>
                  </m:oMathPara>
                </a14:m>
                <a:endParaRPr lang="en-US" sz="4000" dirty="0"/>
              </a:p>
            </p:txBody>
          </p:sp>
        </mc:Choice>
        <mc:Fallback xmlns="">
          <p:sp>
            <p:nvSpPr>
              <p:cNvPr id="50" name="Rectangle 49">
                <a:extLst>
                  <a:ext uri="{FF2B5EF4-FFF2-40B4-BE49-F238E27FC236}">
                    <a16:creationId xmlns:a16="http://schemas.microsoft.com/office/drawing/2014/main" id="{C0A2A3E9-5AF1-4F4C-B6D4-D09F35144965}"/>
                  </a:ext>
                </a:extLst>
              </p:cNvPr>
              <p:cNvSpPr>
                <a:spLocks noRot="1" noChangeAspect="1" noMove="1" noResize="1" noEditPoints="1" noAdjustHandles="1" noChangeArrowheads="1" noChangeShapeType="1" noTextEdit="1"/>
              </p:cNvSpPr>
              <p:nvPr/>
            </p:nvSpPr>
            <p:spPr>
              <a:xfrm>
                <a:off x="7694895" y="5678807"/>
                <a:ext cx="3454600" cy="707886"/>
              </a:xfrm>
              <a:prstGeom prst="rect">
                <a:avLst/>
              </a:prstGeom>
              <a:blipFill>
                <a:blip r:embed="rId7"/>
                <a:stretch>
                  <a:fillRect b="-24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C1863A-E7BA-4846-8843-69A15757D358}"/>
                  </a:ext>
                </a:extLst>
              </p:cNvPr>
              <p:cNvSpPr txBox="1"/>
              <p:nvPr/>
            </p:nvSpPr>
            <p:spPr>
              <a:xfrm>
                <a:off x="3996579" y="2003871"/>
                <a:ext cx="68102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7" name="TextBox 6">
                <a:extLst>
                  <a:ext uri="{FF2B5EF4-FFF2-40B4-BE49-F238E27FC236}">
                    <a16:creationId xmlns:a16="http://schemas.microsoft.com/office/drawing/2014/main" id="{08C1863A-E7BA-4846-8843-69A15757D358}"/>
                  </a:ext>
                </a:extLst>
              </p:cNvPr>
              <p:cNvSpPr txBox="1">
                <a:spLocks noRot="1" noChangeAspect="1" noMove="1" noResize="1" noEditPoints="1" noAdjustHandles="1" noChangeArrowheads="1" noChangeShapeType="1" noTextEdit="1"/>
              </p:cNvSpPr>
              <p:nvPr/>
            </p:nvSpPr>
            <p:spPr>
              <a:xfrm>
                <a:off x="3996579" y="2003871"/>
                <a:ext cx="681020" cy="584775"/>
              </a:xfrm>
              <a:prstGeom prst="rect">
                <a:avLst/>
              </a:prstGeom>
              <a:blipFill>
                <a:blip r:embed="rId8"/>
                <a:stretch>
                  <a:fillRect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1AA4C8C-2B74-AA45-8251-C5532CEB02D4}"/>
                  </a:ext>
                </a:extLst>
              </p:cNvPr>
              <p:cNvSpPr txBox="1"/>
              <p:nvPr/>
            </p:nvSpPr>
            <p:spPr>
              <a:xfrm>
                <a:off x="4001324" y="2749262"/>
                <a:ext cx="67153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44" name="TextBox 43">
                <a:extLst>
                  <a:ext uri="{FF2B5EF4-FFF2-40B4-BE49-F238E27FC236}">
                    <a16:creationId xmlns:a16="http://schemas.microsoft.com/office/drawing/2014/main" id="{D1AA4C8C-2B74-AA45-8251-C5532CEB02D4}"/>
                  </a:ext>
                </a:extLst>
              </p:cNvPr>
              <p:cNvSpPr txBox="1">
                <a:spLocks noRot="1" noChangeAspect="1" noMove="1" noResize="1" noEditPoints="1" noAdjustHandles="1" noChangeArrowheads="1" noChangeShapeType="1" noTextEdit="1"/>
              </p:cNvSpPr>
              <p:nvPr/>
            </p:nvSpPr>
            <p:spPr>
              <a:xfrm>
                <a:off x="4001324" y="2749262"/>
                <a:ext cx="671530" cy="584775"/>
              </a:xfrm>
              <a:prstGeom prst="rect">
                <a:avLst/>
              </a:prstGeom>
              <a:blipFill>
                <a:blip r:embed="rId9"/>
                <a:stretch>
                  <a:fillRect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8078F0C-4318-7144-A341-2898C046E949}"/>
                  </a:ext>
                </a:extLst>
              </p:cNvPr>
              <p:cNvSpPr txBox="1"/>
              <p:nvPr/>
            </p:nvSpPr>
            <p:spPr>
              <a:xfrm>
                <a:off x="3983595" y="4307347"/>
                <a:ext cx="109812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𝑛</m:t>
                          </m:r>
                          <m:r>
                            <a:rPr lang="sr-Latn-R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45" name="TextBox 44">
                <a:extLst>
                  <a:ext uri="{FF2B5EF4-FFF2-40B4-BE49-F238E27FC236}">
                    <a16:creationId xmlns:a16="http://schemas.microsoft.com/office/drawing/2014/main" id="{C8078F0C-4318-7144-A341-2898C046E949}"/>
                  </a:ext>
                </a:extLst>
              </p:cNvPr>
              <p:cNvSpPr txBox="1">
                <a:spLocks noRot="1" noChangeAspect="1" noMove="1" noResize="1" noEditPoints="1" noAdjustHandles="1" noChangeArrowheads="1" noChangeShapeType="1" noTextEdit="1"/>
              </p:cNvSpPr>
              <p:nvPr/>
            </p:nvSpPr>
            <p:spPr>
              <a:xfrm>
                <a:off x="3983595" y="4307347"/>
                <a:ext cx="1098121" cy="584775"/>
              </a:xfrm>
              <a:prstGeom prst="rect">
                <a:avLst/>
              </a:prstGeom>
              <a:blipFill>
                <a:blip r:embed="rId10"/>
                <a:stretch>
                  <a:fillRect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73EE434-3AF4-FF43-ABE5-18489C77FE8B}"/>
                  </a:ext>
                </a:extLst>
              </p:cNvPr>
              <p:cNvSpPr txBox="1"/>
              <p:nvPr/>
            </p:nvSpPr>
            <p:spPr>
              <a:xfrm>
                <a:off x="7392828" y="1998113"/>
                <a:ext cx="68102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3200" dirty="0">
                  <a:solidFill>
                    <a:schemeClr val="tx1"/>
                  </a:solidFill>
                </a:endParaRPr>
              </a:p>
            </p:txBody>
          </p:sp>
        </mc:Choice>
        <mc:Fallback xmlns="">
          <p:sp>
            <p:nvSpPr>
              <p:cNvPr id="46" name="TextBox 45">
                <a:extLst>
                  <a:ext uri="{FF2B5EF4-FFF2-40B4-BE49-F238E27FC236}">
                    <a16:creationId xmlns:a16="http://schemas.microsoft.com/office/drawing/2014/main" id="{073EE434-3AF4-FF43-ABE5-18489C77FE8B}"/>
                  </a:ext>
                </a:extLst>
              </p:cNvPr>
              <p:cNvSpPr txBox="1">
                <a:spLocks noRot="1" noChangeAspect="1" noMove="1" noResize="1" noEditPoints="1" noAdjustHandles="1" noChangeArrowheads="1" noChangeShapeType="1" noTextEdit="1"/>
              </p:cNvSpPr>
              <p:nvPr/>
            </p:nvSpPr>
            <p:spPr>
              <a:xfrm>
                <a:off x="7392828" y="1998113"/>
                <a:ext cx="681020" cy="584775"/>
              </a:xfrm>
              <a:prstGeom prst="rect">
                <a:avLst/>
              </a:prstGeom>
              <a:blipFill>
                <a:blip r:embed="rId11"/>
                <a:stretch>
                  <a:fillRect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3ACF703-386A-F54D-9F89-EBC8C67F1B85}"/>
                  </a:ext>
                </a:extLst>
              </p:cNvPr>
              <p:cNvSpPr txBox="1"/>
              <p:nvPr/>
            </p:nvSpPr>
            <p:spPr>
              <a:xfrm>
                <a:off x="7397573" y="2743504"/>
                <a:ext cx="67153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47" name="TextBox 46">
                <a:extLst>
                  <a:ext uri="{FF2B5EF4-FFF2-40B4-BE49-F238E27FC236}">
                    <a16:creationId xmlns:a16="http://schemas.microsoft.com/office/drawing/2014/main" id="{63ACF703-386A-F54D-9F89-EBC8C67F1B85}"/>
                  </a:ext>
                </a:extLst>
              </p:cNvPr>
              <p:cNvSpPr txBox="1">
                <a:spLocks noRot="1" noChangeAspect="1" noMove="1" noResize="1" noEditPoints="1" noAdjustHandles="1" noChangeArrowheads="1" noChangeShapeType="1" noTextEdit="1"/>
              </p:cNvSpPr>
              <p:nvPr/>
            </p:nvSpPr>
            <p:spPr>
              <a:xfrm>
                <a:off x="7397573" y="2743504"/>
                <a:ext cx="671530" cy="584775"/>
              </a:xfrm>
              <a:prstGeom prst="rect">
                <a:avLst/>
              </a:prstGeom>
              <a:blipFill>
                <a:blip r:embed="rId12"/>
                <a:stretch>
                  <a:fillRect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A6DC6DD-3C01-174C-96D1-DA09CB3AF78E}"/>
                  </a:ext>
                </a:extLst>
              </p:cNvPr>
              <p:cNvSpPr txBox="1"/>
              <p:nvPr/>
            </p:nvSpPr>
            <p:spPr>
              <a:xfrm>
                <a:off x="7379844" y="4301589"/>
                <a:ext cx="94102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ea typeface="Cambria Math" panose="02040503050406030204" pitchFamily="18" charset="0"/>
                            </a:rPr>
                          </m:ctrlPr>
                        </m:sSubPr>
                        <m:e>
                          <m:r>
                            <a:rPr lang="en-US" sz="3200" b="0" i="1" smtClean="0">
                              <a:solidFill>
                                <a:schemeClr val="tx1"/>
                              </a:solidFill>
                              <a:latin typeface="Cambria Math" panose="02040503050406030204" pitchFamily="18" charset="0"/>
                              <a:ea typeface="Cambria Math" panose="02040503050406030204" pitchFamily="18" charset="0"/>
                            </a:rPr>
                            <m:t>𝑞</m:t>
                          </m:r>
                        </m:e>
                        <m:sub>
                          <m:r>
                            <a:rPr lang="en-US" sz="3200" b="0" i="1" smtClean="0">
                              <a:solidFill>
                                <a:schemeClr val="tx1"/>
                              </a:solidFill>
                              <a:latin typeface="Cambria Math" panose="02040503050406030204" pitchFamily="18" charset="0"/>
                              <a:ea typeface="Cambria Math" panose="02040503050406030204" pitchFamily="18" charset="0"/>
                            </a:rPr>
                            <m:t>𝑛</m:t>
                          </m:r>
                          <m:r>
                            <a:rPr lang="sr-Latn-RS" sz="3200" b="0" i="1" smtClean="0">
                              <a:solidFill>
                                <a:schemeClr val="tx1"/>
                              </a:solidFill>
                              <a:latin typeface="Cambria Math" panose="02040503050406030204" pitchFamily="18" charset="0"/>
                              <a:ea typeface="Cambria Math" panose="02040503050406030204" pitchFamily="18" charset="0"/>
                            </a:rPr>
                            <m:t>.1</m:t>
                          </m:r>
                        </m:sub>
                      </m:sSub>
                    </m:oMath>
                  </m:oMathPara>
                </a14:m>
                <a:endParaRPr lang="en-US" sz="3200" dirty="0">
                  <a:solidFill>
                    <a:schemeClr val="tx1"/>
                  </a:solidFill>
                </a:endParaRPr>
              </a:p>
            </p:txBody>
          </p:sp>
        </mc:Choice>
        <mc:Fallback xmlns="">
          <p:sp>
            <p:nvSpPr>
              <p:cNvPr id="48" name="TextBox 47">
                <a:extLst>
                  <a:ext uri="{FF2B5EF4-FFF2-40B4-BE49-F238E27FC236}">
                    <a16:creationId xmlns:a16="http://schemas.microsoft.com/office/drawing/2014/main" id="{0A6DC6DD-3C01-174C-96D1-DA09CB3AF78E}"/>
                  </a:ext>
                </a:extLst>
              </p:cNvPr>
              <p:cNvSpPr txBox="1">
                <a:spLocks noRot="1" noChangeAspect="1" noMove="1" noResize="1" noEditPoints="1" noAdjustHandles="1" noChangeArrowheads="1" noChangeShapeType="1" noTextEdit="1"/>
              </p:cNvSpPr>
              <p:nvPr/>
            </p:nvSpPr>
            <p:spPr>
              <a:xfrm>
                <a:off x="7379844" y="4301589"/>
                <a:ext cx="941027" cy="584775"/>
              </a:xfrm>
              <a:prstGeom prst="rect">
                <a:avLst/>
              </a:prstGeom>
              <a:blipFill>
                <a:blip r:embed="rId13"/>
                <a:stretch>
                  <a:fillRect b="-1063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9226D63-916B-5246-B5C6-CB1B73E7313A}"/>
              </a:ext>
            </a:extLst>
          </p:cNvPr>
          <p:cNvSpPr txBox="1"/>
          <p:nvPr/>
        </p:nvSpPr>
        <p:spPr>
          <a:xfrm>
            <a:off x="7930731" y="6365690"/>
            <a:ext cx="2495042" cy="461665"/>
          </a:xfrm>
          <a:prstGeom prst="rect">
            <a:avLst/>
          </a:prstGeom>
          <a:noFill/>
        </p:spPr>
        <p:txBody>
          <a:bodyPr wrap="none" rtlCol="0">
            <a:spAutoFit/>
          </a:bodyPr>
          <a:lstStyle/>
          <a:p>
            <a:r>
              <a:rPr lang="en-US" sz="2400" dirty="0"/>
              <a:t>Little Endian (IBM)</a:t>
            </a:r>
          </a:p>
        </p:txBody>
      </p:sp>
      <p:sp>
        <p:nvSpPr>
          <p:cNvPr id="64" name="TextBox 63">
            <a:extLst>
              <a:ext uri="{FF2B5EF4-FFF2-40B4-BE49-F238E27FC236}">
                <a16:creationId xmlns:a16="http://schemas.microsoft.com/office/drawing/2014/main" id="{B74C0E62-2569-614E-9390-1A0B5745C917}"/>
              </a:ext>
            </a:extLst>
          </p:cNvPr>
          <p:cNvSpPr txBox="1"/>
          <p:nvPr/>
        </p:nvSpPr>
        <p:spPr>
          <a:xfrm>
            <a:off x="2196428" y="6396335"/>
            <a:ext cx="1489510" cy="461665"/>
          </a:xfrm>
          <a:prstGeom prst="rect">
            <a:avLst/>
          </a:prstGeom>
          <a:noFill/>
        </p:spPr>
        <p:txBody>
          <a:bodyPr wrap="none" rtlCol="0">
            <a:spAutoFit/>
          </a:bodyPr>
          <a:lstStyle/>
          <a:p>
            <a:r>
              <a:rPr lang="en-US" sz="2400" dirty="0"/>
              <a:t>Big Endian</a:t>
            </a:r>
          </a:p>
        </p:txBody>
      </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85CEB8B9-D938-3341-B1CB-CCDA69B51C98}"/>
                  </a:ext>
                </a:extLst>
              </p:cNvPr>
              <p:cNvSpPr/>
              <p:nvPr/>
            </p:nvSpPr>
            <p:spPr>
              <a:xfrm>
                <a:off x="1714500" y="5107490"/>
                <a:ext cx="3277820"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latin typeface="Cambria Math" panose="02040503050406030204" pitchFamily="18" charset="0"/>
                            </a:rPr>
                          </m:ctrlPr>
                        </m:dPr>
                        <m:e>
                          <m:sSub>
                            <m:sSubPr>
                              <m:ctrlPr>
                                <a:rPr lang="en-US" sz="4000" b="0" i="1" smtClean="0">
                                  <a:solidFill>
                                    <a:srgbClr val="FF0000"/>
                                  </a:solidFill>
                                  <a:latin typeface="Cambria Math" panose="02040503050406030204" pitchFamily="18" charset="0"/>
                                </a:rPr>
                              </m:ctrlPr>
                            </m:sSubPr>
                            <m:e>
                              <m:r>
                                <a:rPr lang="en-US" sz="4000" b="0" i="1" smtClean="0">
                                  <a:solidFill>
                                    <a:srgbClr val="FF0000"/>
                                  </a:solidFill>
                                  <a:latin typeface="Cambria Math" panose="02040503050406030204" pitchFamily="18" charset="0"/>
                                </a:rPr>
                                <m:t>𝑞</m:t>
                              </m:r>
                            </m:e>
                            <m:sub>
                              <m:r>
                                <a:rPr lang="en-US" sz="4000" b="0" i="1" smtClean="0">
                                  <a:solidFill>
                                    <a:srgbClr val="FF0000"/>
                                  </a:solidFill>
                                  <a:latin typeface="Cambria Math" panose="02040503050406030204" pitchFamily="18" charset="0"/>
                                </a:rPr>
                                <m:t>0</m:t>
                              </m:r>
                            </m:sub>
                          </m:sSub>
                          <m:sSub>
                            <m:sSubPr>
                              <m:ctrlPr>
                                <a:rPr lang="en-US" sz="4000" b="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𝑞</m:t>
                              </m:r>
                            </m:e>
                            <m:sub>
                              <m:r>
                                <a:rPr lang="en-US" sz="4000" b="0" i="1" smtClean="0">
                                  <a:solidFill>
                                    <a:srgbClr val="0000FF"/>
                                  </a:solidFill>
                                  <a:latin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b="0" i="1" smtClean="0">
                                  <a:solidFill>
                                    <a:srgbClr val="00B050"/>
                                  </a:solidFill>
                                  <a:latin typeface="Cambria Math" panose="02040503050406030204" pitchFamily="18" charset="0"/>
                                  <a:ea typeface="Cambria Math" panose="02040503050406030204" pitchFamily="18" charset="0"/>
                                </a:rPr>
                              </m:ctrlPr>
                            </m:sSubPr>
                            <m:e>
                              <m:r>
                                <a:rPr lang="en-US" sz="4000" b="0" i="1" smtClean="0">
                                  <a:solidFill>
                                    <a:srgbClr val="00B050"/>
                                  </a:solidFill>
                                  <a:latin typeface="Cambria Math" panose="02040503050406030204" pitchFamily="18" charset="0"/>
                                  <a:ea typeface="Cambria Math" panose="02040503050406030204" pitchFamily="18" charset="0"/>
                                </a:rPr>
                                <m:t>𝑞</m:t>
                              </m:r>
                            </m:e>
                            <m:sub>
                              <m:r>
                                <a:rPr lang="en-US" sz="4000" b="0" i="1" smtClean="0">
                                  <a:solidFill>
                                    <a:srgbClr val="00B050"/>
                                  </a:solidFill>
                                  <a:latin typeface="Cambria Math" panose="02040503050406030204" pitchFamily="18" charset="0"/>
                                  <a:ea typeface="Cambria Math" panose="02040503050406030204" pitchFamily="18" charset="0"/>
                                </a:rPr>
                                <m:t>𝑛</m:t>
                              </m:r>
                              <m:r>
                                <a:rPr lang="sr-Latn-RS" sz="4000" b="0" i="1" smtClean="0">
                                  <a:solidFill>
                                    <a:srgbClr val="00B050"/>
                                  </a:solidFill>
                                  <a:latin typeface="Cambria Math" panose="02040503050406030204" pitchFamily="18" charset="0"/>
                                  <a:ea typeface="Cambria Math" panose="02040503050406030204" pitchFamily="18" charset="0"/>
                                </a:rPr>
                                <m:t>−1</m:t>
                              </m:r>
                            </m:sub>
                          </m:sSub>
                        </m:e>
                      </m:d>
                    </m:oMath>
                  </m:oMathPara>
                </a14:m>
                <a:endParaRPr lang="en-US" sz="4000" dirty="0"/>
              </a:p>
            </p:txBody>
          </p:sp>
        </mc:Choice>
        <mc:Fallback xmlns="">
          <p:sp>
            <p:nvSpPr>
              <p:cNvPr id="65" name="Rectangle 64">
                <a:extLst>
                  <a:ext uri="{FF2B5EF4-FFF2-40B4-BE49-F238E27FC236}">
                    <a16:creationId xmlns:a16="http://schemas.microsoft.com/office/drawing/2014/main" id="{85CEB8B9-D938-3341-B1CB-CCDA69B51C98}"/>
                  </a:ext>
                </a:extLst>
              </p:cNvPr>
              <p:cNvSpPr>
                <a:spLocks noRot="1" noChangeAspect="1" noMove="1" noResize="1" noEditPoints="1" noAdjustHandles="1" noChangeArrowheads="1" noChangeShapeType="1" noTextEdit="1"/>
              </p:cNvSpPr>
              <p:nvPr/>
            </p:nvSpPr>
            <p:spPr>
              <a:xfrm>
                <a:off x="1714500" y="5107490"/>
                <a:ext cx="3277820" cy="707886"/>
              </a:xfrm>
              <a:prstGeom prst="rect">
                <a:avLst/>
              </a:prstGeom>
              <a:blipFill>
                <a:blip r:embed="rId14"/>
                <a:stretch>
                  <a:fillRect b="-122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6B855634-A70D-B740-8701-1CE52398A69B}"/>
                  </a:ext>
                </a:extLst>
              </p:cNvPr>
              <p:cNvSpPr/>
              <p:nvPr/>
            </p:nvSpPr>
            <p:spPr>
              <a:xfrm>
                <a:off x="7694895" y="5107490"/>
                <a:ext cx="3277820"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latin typeface="Cambria Math" panose="02040503050406030204" pitchFamily="18" charset="0"/>
                            </a:rPr>
                          </m:ctrlPr>
                        </m:dPr>
                        <m:e>
                          <m:sSub>
                            <m:sSubPr>
                              <m:ctrlPr>
                                <a:rPr lang="en-US" sz="4000" b="0" i="1" smtClean="0">
                                  <a:solidFill>
                                    <a:srgbClr val="00B050"/>
                                  </a:solidFill>
                                  <a:latin typeface="Cambria Math" panose="02040503050406030204" pitchFamily="18" charset="0"/>
                                </a:rPr>
                              </m:ctrlPr>
                            </m:sSubPr>
                            <m:e>
                              <m:r>
                                <a:rPr lang="sr-Latn-RS" sz="4000" b="0" i="1" smtClean="0">
                                  <a:solidFill>
                                    <a:srgbClr val="00B050"/>
                                  </a:solidFill>
                                  <a:latin typeface="Cambria Math" panose="02040503050406030204" pitchFamily="18" charset="0"/>
                                </a:rPr>
                                <m:t>𝑞</m:t>
                              </m:r>
                            </m:e>
                            <m:sub>
                              <m:r>
                                <a:rPr lang="sr-Latn-RS" sz="4000" b="0" i="1" smtClean="0">
                                  <a:solidFill>
                                    <a:srgbClr val="00B050"/>
                                  </a:solidFill>
                                  <a:latin typeface="Cambria Math" panose="02040503050406030204" pitchFamily="18" charset="0"/>
                                </a:rPr>
                                <m:t>𝑛</m:t>
                              </m:r>
                              <m:r>
                                <a:rPr lang="sr-Latn-RS" sz="4000" b="0" i="1" smtClean="0">
                                  <a:solidFill>
                                    <a:srgbClr val="00B050"/>
                                  </a:solidFill>
                                  <a:latin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b="0" i="1" smtClean="0">
                                  <a:solidFill>
                                    <a:srgbClr val="0000FF"/>
                                  </a:solidFill>
                                  <a:latin typeface="Cambria Math" panose="02040503050406030204" pitchFamily="18" charset="0"/>
                                  <a:ea typeface="Cambria Math" panose="02040503050406030204" pitchFamily="18" charset="0"/>
                                </a:rPr>
                              </m:ctrlPr>
                            </m:sSubPr>
                            <m:e>
                              <m:r>
                                <a:rPr lang="sr-Latn-RS" sz="4000" b="0" i="1" smtClean="0">
                                  <a:solidFill>
                                    <a:srgbClr val="0000FF"/>
                                  </a:solidFill>
                                  <a:latin typeface="Cambria Math" panose="02040503050406030204" pitchFamily="18" charset="0"/>
                                  <a:ea typeface="Cambria Math" panose="02040503050406030204" pitchFamily="18" charset="0"/>
                                </a:rPr>
                                <m:t>𝑞</m:t>
                              </m:r>
                            </m:e>
                            <m:sub>
                              <m:r>
                                <a:rPr lang="sr-Latn-RS" sz="4000" b="0" i="1" smtClean="0">
                                  <a:solidFill>
                                    <a:srgbClr val="0000FF"/>
                                  </a:solidFill>
                                  <a:latin typeface="Cambria Math" panose="02040503050406030204" pitchFamily="18" charset="0"/>
                                  <a:ea typeface="Cambria Math" panose="02040503050406030204" pitchFamily="18" charset="0"/>
                                </a:rPr>
                                <m:t>1</m:t>
                              </m:r>
                            </m:sub>
                          </m:sSub>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sr-Latn-RS" sz="4000" b="0" i="1" smtClean="0">
                                  <a:solidFill>
                                    <a:srgbClr val="FF0000"/>
                                  </a:solidFill>
                                  <a:latin typeface="Cambria Math" panose="02040503050406030204" pitchFamily="18" charset="0"/>
                                  <a:ea typeface="Cambria Math" panose="02040503050406030204" pitchFamily="18" charset="0"/>
                                </a:rPr>
                                <m:t>𝑞</m:t>
                              </m:r>
                            </m:e>
                            <m:sub>
                              <m:r>
                                <a:rPr lang="sr-Latn-RS" sz="4000" b="0" i="1" smtClean="0">
                                  <a:solidFill>
                                    <a:srgbClr val="FF0000"/>
                                  </a:solidFill>
                                  <a:latin typeface="Cambria Math" panose="02040503050406030204" pitchFamily="18" charset="0"/>
                                  <a:ea typeface="Cambria Math" panose="02040503050406030204" pitchFamily="18" charset="0"/>
                                </a:rPr>
                                <m:t>0</m:t>
                              </m:r>
                            </m:sub>
                          </m:sSub>
                        </m:e>
                      </m:d>
                    </m:oMath>
                  </m:oMathPara>
                </a14:m>
                <a:endParaRPr lang="en-US" sz="4000" dirty="0"/>
              </a:p>
            </p:txBody>
          </p:sp>
        </mc:Choice>
        <mc:Fallback xmlns="">
          <p:sp>
            <p:nvSpPr>
              <p:cNvPr id="68" name="Rectangle 67">
                <a:extLst>
                  <a:ext uri="{FF2B5EF4-FFF2-40B4-BE49-F238E27FC236}">
                    <a16:creationId xmlns:a16="http://schemas.microsoft.com/office/drawing/2014/main" id="{6B855634-A70D-B740-8701-1CE52398A69B}"/>
                  </a:ext>
                </a:extLst>
              </p:cNvPr>
              <p:cNvSpPr>
                <a:spLocks noRot="1" noChangeAspect="1" noMove="1" noResize="1" noEditPoints="1" noAdjustHandles="1" noChangeArrowheads="1" noChangeShapeType="1" noTextEdit="1"/>
              </p:cNvSpPr>
              <p:nvPr/>
            </p:nvSpPr>
            <p:spPr>
              <a:xfrm>
                <a:off x="7694895" y="5107490"/>
                <a:ext cx="3277820" cy="707886"/>
              </a:xfrm>
              <a:prstGeom prst="rect">
                <a:avLst/>
              </a:prstGeom>
              <a:blipFill>
                <a:blip r:embed="rId15"/>
                <a:stretch>
                  <a:fillRect b="-12281"/>
                </a:stretch>
              </a:blipFill>
            </p:spPr>
            <p:txBody>
              <a:bodyPr/>
              <a:lstStyle/>
              <a:p>
                <a:r>
                  <a:rPr lang="en-US">
                    <a:noFill/>
                  </a:rPr>
                  <a:t> </a:t>
                </a:r>
              </a:p>
            </p:txBody>
          </p:sp>
        </mc:Fallback>
      </mc:AlternateContent>
      <p:grpSp>
        <p:nvGrpSpPr>
          <p:cNvPr id="72" name="Group 71">
            <a:extLst>
              <a:ext uri="{FF2B5EF4-FFF2-40B4-BE49-F238E27FC236}">
                <a16:creationId xmlns:a16="http://schemas.microsoft.com/office/drawing/2014/main" id="{97356856-0960-3D4E-9231-69DC4D7C5D40}"/>
              </a:ext>
            </a:extLst>
          </p:cNvPr>
          <p:cNvGrpSpPr/>
          <p:nvPr/>
        </p:nvGrpSpPr>
        <p:grpSpPr>
          <a:xfrm flipH="1">
            <a:off x="7977946" y="2379525"/>
            <a:ext cx="1830906" cy="2847992"/>
            <a:chOff x="481928" y="2067275"/>
            <a:chExt cx="1830906" cy="2847992"/>
          </a:xfrm>
        </p:grpSpPr>
        <p:grpSp>
          <p:nvGrpSpPr>
            <p:cNvPr id="73" name="Group 72">
              <a:extLst>
                <a:ext uri="{FF2B5EF4-FFF2-40B4-BE49-F238E27FC236}">
                  <a16:creationId xmlns:a16="http://schemas.microsoft.com/office/drawing/2014/main" id="{305E9BB9-466E-9745-9E09-1CC58E2D0BBD}"/>
                </a:ext>
              </a:extLst>
            </p:cNvPr>
            <p:cNvGrpSpPr/>
            <p:nvPr/>
          </p:nvGrpSpPr>
          <p:grpSpPr>
            <a:xfrm>
              <a:off x="2131003" y="4372480"/>
              <a:ext cx="181831" cy="542787"/>
              <a:chOff x="3098800" y="3837671"/>
              <a:chExt cx="575733" cy="542787"/>
            </a:xfrm>
          </p:grpSpPr>
          <p:cxnSp>
            <p:nvCxnSpPr>
              <p:cNvPr id="80" name="Straight Connector 79">
                <a:extLst>
                  <a:ext uri="{FF2B5EF4-FFF2-40B4-BE49-F238E27FC236}">
                    <a16:creationId xmlns:a16="http://schemas.microsoft.com/office/drawing/2014/main" id="{945F33B0-53BB-7045-AFB4-C8F668B8623A}"/>
                  </a:ext>
                </a:extLst>
              </p:cNvPr>
              <p:cNvCxnSpPr>
                <a:cxnSpLocks/>
              </p:cNvCxnSpPr>
              <p:nvPr/>
            </p:nvCxnSpPr>
            <p:spPr>
              <a:xfrm flipH="1">
                <a:off x="3098800" y="3837671"/>
                <a:ext cx="575733" cy="0"/>
              </a:xfrm>
              <a:prstGeom prst="line">
                <a:avLst/>
              </a:prstGeom>
              <a:ln w="25400" cap="rnd">
                <a:solidFill>
                  <a:srgbClr val="00B050"/>
                </a:solidFill>
                <a:tailEnd type="non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77D771B-7E7D-764D-B337-1847C791286A}"/>
                  </a:ext>
                </a:extLst>
              </p:cNvPr>
              <p:cNvCxnSpPr>
                <a:cxnSpLocks/>
              </p:cNvCxnSpPr>
              <p:nvPr/>
            </p:nvCxnSpPr>
            <p:spPr>
              <a:xfrm>
                <a:off x="3098800" y="3837671"/>
                <a:ext cx="0" cy="542787"/>
              </a:xfrm>
              <a:prstGeom prst="straightConnector1">
                <a:avLst/>
              </a:prstGeom>
              <a:ln w="254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F170A9F4-3CA5-004C-B962-C0A33EE90F15}"/>
                </a:ext>
              </a:extLst>
            </p:cNvPr>
            <p:cNvGrpSpPr/>
            <p:nvPr/>
          </p:nvGrpSpPr>
          <p:grpSpPr>
            <a:xfrm>
              <a:off x="1031204" y="2820992"/>
              <a:ext cx="1228063" cy="2057344"/>
              <a:chOff x="3098800" y="3837671"/>
              <a:chExt cx="562464" cy="2057344"/>
            </a:xfrm>
          </p:grpSpPr>
          <p:cxnSp>
            <p:nvCxnSpPr>
              <p:cNvPr id="78" name="Straight Connector 77">
                <a:extLst>
                  <a:ext uri="{FF2B5EF4-FFF2-40B4-BE49-F238E27FC236}">
                    <a16:creationId xmlns:a16="http://schemas.microsoft.com/office/drawing/2014/main" id="{B4384353-8689-D94D-B438-5BBEC8ECF07C}"/>
                  </a:ext>
                </a:extLst>
              </p:cNvPr>
              <p:cNvCxnSpPr>
                <a:cxnSpLocks/>
              </p:cNvCxnSpPr>
              <p:nvPr/>
            </p:nvCxnSpPr>
            <p:spPr>
              <a:xfrm flipH="1">
                <a:off x="3098800" y="3837671"/>
                <a:ext cx="562464" cy="0"/>
              </a:xfrm>
              <a:prstGeom prst="line">
                <a:avLst/>
              </a:prstGeom>
              <a:ln w="25400" cap="rnd">
                <a:solidFill>
                  <a:srgbClr val="0000FF"/>
                </a:solidFill>
                <a:tailEnd type="non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55303E9-F08D-9A4A-A5C8-9EB0F7CF6973}"/>
                  </a:ext>
                </a:extLst>
              </p:cNvPr>
              <p:cNvCxnSpPr>
                <a:cxnSpLocks/>
              </p:cNvCxnSpPr>
              <p:nvPr/>
            </p:nvCxnSpPr>
            <p:spPr>
              <a:xfrm>
                <a:off x="3098800" y="3837671"/>
                <a:ext cx="0" cy="2057344"/>
              </a:xfrm>
              <a:prstGeom prst="straightConnector1">
                <a:avLst/>
              </a:prstGeom>
              <a:ln w="254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B8BA12E8-81E9-B240-BB5D-1E2BB18B577F}"/>
                </a:ext>
              </a:extLst>
            </p:cNvPr>
            <p:cNvGrpSpPr/>
            <p:nvPr/>
          </p:nvGrpSpPr>
          <p:grpSpPr>
            <a:xfrm>
              <a:off x="481928" y="2067275"/>
              <a:ext cx="1761926" cy="2804802"/>
              <a:chOff x="3098800" y="3837671"/>
              <a:chExt cx="696724" cy="2057344"/>
            </a:xfrm>
          </p:grpSpPr>
          <p:cxnSp>
            <p:nvCxnSpPr>
              <p:cNvPr id="76" name="Straight Connector 75">
                <a:extLst>
                  <a:ext uri="{FF2B5EF4-FFF2-40B4-BE49-F238E27FC236}">
                    <a16:creationId xmlns:a16="http://schemas.microsoft.com/office/drawing/2014/main" id="{53513935-BBD1-4B43-BAD1-802F75E0DF0C}"/>
                  </a:ext>
                </a:extLst>
              </p:cNvPr>
              <p:cNvCxnSpPr>
                <a:cxnSpLocks/>
              </p:cNvCxnSpPr>
              <p:nvPr/>
            </p:nvCxnSpPr>
            <p:spPr>
              <a:xfrm flipH="1">
                <a:off x="3098800" y="3837671"/>
                <a:ext cx="696724" cy="0"/>
              </a:xfrm>
              <a:prstGeom prst="line">
                <a:avLst/>
              </a:prstGeom>
              <a:ln w="25400" cap="rnd">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ABC14D0-DB7A-B349-A7E6-EE166F797F1C}"/>
                  </a:ext>
                </a:extLst>
              </p:cNvPr>
              <p:cNvCxnSpPr>
                <a:cxnSpLocks/>
              </p:cNvCxnSpPr>
              <p:nvPr/>
            </p:nvCxnSpPr>
            <p:spPr>
              <a:xfrm>
                <a:off x="3098800" y="3837671"/>
                <a:ext cx="0" cy="2057344"/>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grpSp>
      </p:grpSp>
      <p:pic>
        <p:nvPicPr>
          <p:cNvPr id="18" name="Picture 17">
            <a:extLst>
              <a:ext uri="{FF2B5EF4-FFF2-40B4-BE49-F238E27FC236}">
                <a16:creationId xmlns:a16="http://schemas.microsoft.com/office/drawing/2014/main" id="{33444B27-790D-6A45-ABA8-7B9F65FA342D}"/>
              </a:ext>
            </a:extLst>
          </p:cNvPr>
          <p:cNvPicPr>
            <a:picLocks noChangeAspect="1"/>
          </p:cNvPicPr>
          <p:nvPr/>
        </p:nvPicPr>
        <p:blipFill>
          <a:blip r:embed="rId16"/>
          <a:stretch>
            <a:fillRect/>
          </a:stretch>
        </p:blipFill>
        <p:spPr>
          <a:xfrm>
            <a:off x="122000" y="867968"/>
            <a:ext cx="2606012" cy="2305319"/>
          </a:xfrm>
          <a:prstGeom prst="rect">
            <a:avLst/>
          </a:prstGeom>
        </p:spPr>
      </p:pic>
      <p:pic>
        <p:nvPicPr>
          <p:cNvPr id="19" name="Picture 18">
            <a:extLst>
              <a:ext uri="{FF2B5EF4-FFF2-40B4-BE49-F238E27FC236}">
                <a16:creationId xmlns:a16="http://schemas.microsoft.com/office/drawing/2014/main" id="{A33A2322-D7FE-D447-B050-9FE41D3F1339}"/>
              </a:ext>
            </a:extLst>
          </p:cNvPr>
          <p:cNvPicPr>
            <a:picLocks noChangeAspect="1"/>
          </p:cNvPicPr>
          <p:nvPr/>
        </p:nvPicPr>
        <p:blipFill>
          <a:blip r:embed="rId17"/>
          <a:stretch>
            <a:fillRect/>
          </a:stretch>
        </p:blipFill>
        <p:spPr>
          <a:xfrm>
            <a:off x="9399325" y="928688"/>
            <a:ext cx="2580330" cy="2204554"/>
          </a:xfrm>
          <a:prstGeom prst="rect">
            <a:avLst/>
          </a:prstGeom>
        </p:spPr>
      </p:pic>
    </p:spTree>
    <p:extLst>
      <p:ext uri="{BB962C8B-B14F-4D97-AF65-F5344CB8AC3E}">
        <p14:creationId xmlns:p14="http://schemas.microsoft.com/office/powerpoint/2010/main" val="17717124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0FCFA1-A687-0D4F-A47D-E7E174B56612}"/>
              </a:ext>
            </a:extLst>
          </p:cNvPr>
          <p:cNvSpPr>
            <a:spLocks noGrp="1"/>
          </p:cNvSpPr>
          <p:nvPr>
            <p:ph type="sldNum" sz="quarter" idx="12"/>
          </p:nvPr>
        </p:nvSpPr>
        <p:spPr/>
        <p:txBody>
          <a:bodyPr/>
          <a:lstStyle/>
          <a:p>
            <a:fld id="{591A223C-FA10-BC46-A853-03BA373D023C}" type="slidenum">
              <a:rPr lang="en-US" smtClean="0"/>
              <a:t>58</a:t>
            </a:fld>
            <a:endParaRPr lang="en-US"/>
          </a:p>
        </p:txBody>
      </p:sp>
      <p:sp>
        <p:nvSpPr>
          <p:cNvPr id="3" name="Title 2">
            <a:extLst>
              <a:ext uri="{FF2B5EF4-FFF2-40B4-BE49-F238E27FC236}">
                <a16:creationId xmlns:a16="http://schemas.microsoft.com/office/drawing/2014/main" id="{0E2D5BF3-176B-1E4E-A795-EEC232C5DF7B}"/>
              </a:ext>
            </a:extLst>
          </p:cNvPr>
          <p:cNvSpPr>
            <a:spLocks noGrp="1"/>
          </p:cNvSpPr>
          <p:nvPr>
            <p:ph type="title"/>
          </p:nvPr>
        </p:nvSpPr>
        <p:spPr>
          <a:xfrm>
            <a:off x="0" y="0"/>
            <a:ext cx="12192000" cy="928688"/>
          </a:xfrm>
        </p:spPr>
        <p:txBody>
          <a:bodyPr/>
          <a:lstStyle/>
          <a:p>
            <a:r>
              <a:rPr lang="en-US" dirty="0"/>
              <a:t>Mixed state</a:t>
            </a:r>
          </a:p>
        </p:txBody>
      </p:sp>
      <p:pic>
        <p:nvPicPr>
          <p:cNvPr id="5" name="Picture 4">
            <a:extLst>
              <a:ext uri="{FF2B5EF4-FFF2-40B4-BE49-F238E27FC236}">
                <a16:creationId xmlns:a16="http://schemas.microsoft.com/office/drawing/2014/main" id="{3F4604B7-16A2-2948-854A-43D61EB5B1F9}"/>
              </a:ext>
            </a:extLst>
          </p:cNvPr>
          <p:cNvPicPr>
            <a:picLocks noChangeAspect="1"/>
          </p:cNvPicPr>
          <p:nvPr/>
        </p:nvPicPr>
        <p:blipFill>
          <a:blip r:embed="rId3"/>
          <a:stretch>
            <a:fillRect/>
          </a:stretch>
        </p:blipFill>
        <p:spPr>
          <a:xfrm>
            <a:off x="1669649" y="1085963"/>
            <a:ext cx="8212765" cy="1749879"/>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2078E15-8D52-BE4B-9685-F7CBE741B32B}"/>
                  </a:ext>
                </a:extLst>
              </p:cNvPr>
              <p:cNvSpPr/>
              <p:nvPr/>
            </p:nvSpPr>
            <p:spPr>
              <a:xfrm>
                <a:off x="3998443" y="5188220"/>
                <a:ext cx="4654223" cy="988540"/>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𝜌</m:t>
                            </m:r>
                            <m:r>
                              <a:rPr lang="en-US" sz="2400" i="0">
                                <a:latin typeface="Cambria Math" panose="02040503050406030204" pitchFamily="18" charset="0"/>
                              </a:rPr>
                              <m:t>=</m:t>
                            </m:r>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i="1">
                                        <a:latin typeface="Cambria Math" panose="02040503050406030204" pitchFamily="18" charset="0"/>
                                      </a:rPr>
                                      <m:t>𝑘</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𝑘</m:t>
                                        </m:r>
                                      </m:sub>
                                    </m:sSub>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𝑘</m:t>
                                    </m:r>
                                  </m:sub>
                                </m:sSub>
                                <m:r>
                                  <a:rPr lang="en-US" sz="2400" i="0">
                                    <a:latin typeface="Cambria Math" panose="02040503050406030204" pitchFamily="18" charset="0"/>
                                  </a:rPr>
                                  <m:t>|</m:t>
                                </m:r>
                              </m:e>
                            </m:nary>
                            <m:r>
                              <a:rPr lang="en-US" sz="2400" i="0">
                                <a:latin typeface="Cambria Math" panose="02040503050406030204" pitchFamily="18" charset="0"/>
                              </a:rPr>
                              <m:t>,</m:t>
                            </m:r>
                          </m:e>
                          <m:e>
                            <m:r>
                              <a:rPr lang="en-US" sz="2400" i="0">
                                <a:latin typeface="Cambria Math" panose="02040503050406030204" pitchFamily="18" charset="0"/>
                              </a:rPr>
                              <m:t>  </m:t>
                            </m:r>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i="1">
                                        <a:latin typeface="Cambria Math" panose="02040503050406030204" pitchFamily="18" charset="0"/>
                                      </a:rPr>
                                      <m:t>𝑘</m:t>
                                    </m:r>
                                  </m:sub>
                                </m:sSub>
                                <m:r>
                                  <a:rPr lang="en-US" sz="2400" i="0">
                                    <a:latin typeface="Cambria Math" panose="02040503050406030204" pitchFamily="18" charset="0"/>
                                  </a:rPr>
                                  <m:t>=1</m:t>
                                </m:r>
                              </m:e>
                            </m:nary>
                          </m:e>
                        </m:mr>
                      </m:m>
                    </m:oMath>
                  </m:oMathPara>
                </a14:m>
                <a:endParaRPr lang="en-US" sz="2400" dirty="0"/>
              </a:p>
            </p:txBody>
          </p:sp>
        </mc:Choice>
        <mc:Fallback xmlns="">
          <p:sp>
            <p:nvSpPr>
              <p:cNvPr id="6" name="Rectangle 5">
                <a:extLst>
                  <a:ext uri="{FF2B5EF4-FFF2-40B4-BE49-F238E27FC236}">
                    <a16:creationId xmlns:a16="http://schemas.microsoft.com/office/drawing/2014/main" id="{82078E15-8D52-BE4B-9685-F7CBE741B32B}"/>
                  </a:ext>
                </a:extLst>
              </p:cNvPr>
              <p:cNvSpPr>
                <a:spLocks noRot="1" noChangeAspect="1" noMove="1" noResize="1" noEditPoints="1" noAdjustHandles="1" noChangeArrowheads="1" noChangeShapeType="1" noTextEdit="1"/>
              </p:cNvSpPr>
              <p:nvPr/>
            </p:nvSpPr>
            <p:spPr>
              <a:xfrm>
                <a:off x="3998443" y="5188220"/>
                <a:ext cx="4654223" cy="988540"/>
              </a:xfrm>
              <a:prstGeom prst="rect">
                <a:avLst/>
              </a:prstGeom>
              <a:blipFill>
                <a:blip r:embed="rId4"/>
                <a:stretch>
                  <a:fillRect l="-8447" t="-130769" b="-1820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9FFE08A-0D83-4F46-82FB-35C427004976}"/>
                  </a:ext>
                </a:extLst>
              </p:cNvPr>
              <p:cNvSpPr/>
              <p:nvPr/>
            </p:nvSpPr>
            <p:spPr>
              <a:xfrm>
                <a:off x="2552465" y="2993117"/>
                <a:ext cx="7758214" cy="15283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𝜌</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⟨0|+</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r>
                        <a:rPr lang="en-US" sz="2400" i="0">
                          <a:latin typeface="Cambria Math" panose="02040503050406030204" pitchFamily="18" charset="0"/>
                        </a:rPr>
                        <m:t>⟨1|=</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r>
                                  <a:rPr lang="en-US" sz="2400" i="0">
                                    <a:latin typeface="Cambria Math" panose="02040503050406030204" pitchFamily="18" charset="0"/>
                                  </a:rPr>
                                  <m:t>0</m:t>
                                </m:r>
                              </m:e>
                            </m:mr>
                            <m:mr>
                              <m:e>
                                <m:r>
                                  <a:rPr lang="en-US" sz="2400" i="0">
                                    <a:latin typeface="Cambria Math" panose="02040503050406030204" pitchFamily="18" charset="0"/>
                                  </a:rPr>
                                  <m:t>0</m:t>
                                </m:r>
                              </m:e>
                              <m:e>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mr>
                          </m:m>
                        </m:e>
                      </m:d>
                    </m:oMath>
                  </m:oMathPara>
                </a14:m>
                <a:endParaRPr lang="en-US" sz="2400" dirty="0"/>
              </a:p>
            </p:txBody>
          </p:sp>
        </mc:Choice>
        <mc:Fallback xmlns="">
          <p:sp>
            <p:nvSpPr>
              <p:cNvPr id="7" name="Rectangle 6">
                <a:extLst>
                  <a:ext uri="{FF2B5EF4-FFF2-40B4-BE49-F238E27FC236}">
                    <a16:creationId xmlns:a16="http://schemas.microsoft.com/office/drawing/2014/main" id="{39FFE08A-0D83-4F46-82FB-35C427004976}"/>
                  </a:ext>
                </a:extLst>
              </p:cNvPr>
              <p:cNvSpPr>
                <a:spLocks noRot="1" noChangeAspect="1" noMove="1" noResize="1" noEditPoints="1" noAdjustHandles="1" noChangeArrowheads="1" noChangeShapeType="1" noTextEdit="1"/>
              </p:cNvSpPr>
              <p:nvPr/>
            </p:nvSpPr>
            <p:spPr>
              <a:xfrm>
                <a:off x="2552465" y="2993117"/>
                <a:ext cx="7758214" cy="1528303"/>
              </a:xfrm>
              <a:prstGeom prst="rect">
                <a:avLst/>
              </a:prstGeom>
              <a:blipFill>
                <a:blip r:embed="rId5"/>
                <a:stretch>
                  <a:fillRect b="-3306"/>
                </a:stretch>
              </a:blipFill>
            </p:spPr>
            <p:txBody>
              <a:bodyPr/>
              <a:lstStyle/>
              <a:p>
                <a:r>
                  <a:rPr lang="en-US">
                    <a:noFill/>
                  </a:rPr>
                  <a:t> </a:t>
                </a:r>
              </a:p>
            </p:txBody>
          </p:sp>
        </mc:Fallback>
      </mc:AlternateContent>
    </p:spTree>
    <p:extLst>
      <p:ext uri="{BB962C8B-B14F-4D97-AF65-F5344CB8AC3E}">
        <p14:creationId xmlns:p14="http://schemas.microsoft.com/office/powerpoint/2010/main" val="25480211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0FCFA1-A687-0D4F-A47D-E7E174B56612}"/>
              </a:ext>
            </a:extLst>
          </p:cNvPr>
          <p:cNvSpPr>
            <a:spLocks noGrp="1"/>
          </p:cNvSpPr>
          <p:nvPr>
            <p:ph type="sldNum" sz="quarter" idx="12"/>
          </p:nvPr>
        </p:nvSpPr>
        <p:spPr/>
        <p:txBody>
          <a:bodyPr/>
          <a:lstStyle/>
          <a:p>
            <a:fld id="{591A223C-FA10-BC46-A853-03BA373D023C}" type="slidenum">
              <a:rPr lang="en-US" smtClean="0"/>
              <a:t>59</a:t>
            </a:fld>
            <a:endParaRPr lang="en-US"/>
          </a:p>
        </p:txBody>
      </p:sp>
      <p:sp>
        <p:nvSpPr>
          <p:cNvPr id="3" name="Title 2">
            <a:extLst>
              <a:ext uri="{FF2B5EF4-FFF2-40B4-BE49-F238E27FC236}">
                <a16:creationId xmlns:a16="http://schemas.microsoft.com/office/drawing/2014/main" id="{0E2D5BF3-176B-1E4E-A795-EEC232C5DF7B}"/>
              </a:ext>
            </a:extLst>
          </p:cNvPr>
          <p:cNvSpPr>
            <a:spLocks noGrp="1"/>
          </p:cNvSpPr>
          <p:nvPr>
            <p:ph type="title"/>
          </p:nvPr>
        </p:nvSpPr>
        <p:spPr>
          <a:xfrm>
            <a:off x="0" y="0"/>
            <a:ext cx="12192000" cy="928688"/>
          </a:xfrm>
        </p:spPr>
        <p:txBody>
          <a:bodyPr/>
          <a:lstStyle/>
          <a:p>
            <a:r>
              <a:rPr lang="en-US" dirty="0"/>
              <a:t>Mixed state</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2078E15-8D52-BE4B-9685-F7CBE741B32B}"/>
                  </a:ext>
                </a:extLst>
              </p:cNvPr>
              <p:cNvSpPr/>
              <p:nvPr/>
            </p:nvSpPr>
            <p:spPr>
              <a:xfrm>
                <a:off x="3998443" y="5188220"/>
                <a:ext cx="4654223" cy="988540"/>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400" i="1" smtClean="0">
                              <a:latin typeface="Cambria Math" panose="02040503050406030204" pitchFamily="18" charset="0"/>
                            </a:rPr>
                          </m:ctrlPr>
                        </m:mPr>
                        <m:mr>
                          <m:e>
                            <m:r>
                              <a:rPr lang="en-US" sz="2400" i="1">
                                <a:latin typeface="Cambria Math" panose="02040503050406030204" pitchFamily="18" charset="0"/>
                              </a:rPr>
                              <m:t>𝜌</m:t>
                            </m:r>
                            <m:r>
                              <a:rPr lang="en-US" sz="2400" i="0">
                                <a:latin typeface="Cambria Math" panose="02040503050406030204" pitchFamily="18" charset="0"/>
                              </a:rPr>
                              <m:t>=</m:t>
                            </m:r>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i="1">
                                        <a:latin typeface="Cambria Math" panose="02040503050406030204" pitchFamily="18" charset="0"/>
                                      </a:rPr>
                                      <m:t>𝑘</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𝑘</m:t>
                                        </m:r>
                                      </m:sub>
                                    </m:sSub>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𝑘</m:t>
                                    </m:r>
                                  </m:sub>
                                </m:sSub>
                                <m:r>
                                  <a:rPr lang="en-US" sz="2400" i="0">
                                    <a:latin typeface="Cambria Math" panose="02040503050406030204" pitchFamily="18" charset="0"/>
                                  </a:rPr>
                                  <m:t>|</m:t>
                                </m:r>
                              </m:e>
                            </m:nary>
                            <m:r>
                              <a:rPr lang="en-US" sz="2400" i="0">
                                <a:latin typeface="Cambria Math" panose="02040503050406030204" pitchFamily="18" charset="0"/>
                              </a:rPr>
                              <m:t>,</m:t>
                            </m:r>
                          </m:e>
                          <m:e>
                            <m:r>
                              <a:rPr lang="en-US" sz="2400" i="0">
                                <a:latin typeface="Cambria Math" panose="02040503050406030204" pitchFamily="18" charset="0"/>
                              </a:rPr>
                              <m:t>  </m:t>
                            </m:r>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i="1">
                                        <a:latin typeface="Cambria Math" panose="02040503050406030204" pitchFamily="18" charset="0"/>
                                      </a:rPr>
                                      <m:t>𝑘</m:t>
                                    </m:r>
                                  </m:sub>
                                </m:sSub>
                                <m:r>
                                  <a:rPr lang="en-US" sz="2400" i="0">
                                    <a:latin typeface="Cambria Math" panose="02040503050406030204" pitchFamily="18" charset="0"/>
                                  </a:rPr>
                                  <m:t>=1</m:t>
                                </m:r>
                              </m:e>
                            </m:nary>
                          </m:e>
                        </m:mr>
                      </m:m>
                    </m:oMath>
                  </m:oMathPara>
                </a14:m>
                <a:endParaRPr lang="en-US" sz="2400" dirty="0"/>
              </a:p>
            </p:txBody>
          </p:sp>
        </mc:Choice>
        <mc:Fallback xmlns="">
          <p:sp>
            <p:nvSpPr>
              <p:cNvPr id="6" name="Rectangle 5">
                <a:extLst>
                  <a:ext uri="{FF2B5EF4-FFF2-40B4-BE49-F238E27FC236}">
                    <a16:creationId xmlns:a16="http://schemas.microsoft.com/office/drawing/2014/main" id="{82078E15-8D52-BE4B-9685-F7CBE741B32B}"/>
                  </a:ext>
                </a:extLst>
              </p:cNvPr>
              <p:cNvSpPr>
                <a:spLocks noRot="1" noChangeAspect="1" noMove="1" noResize="1" noEditPoints="1" noAdjustHandles="1" noChangeArrowheads="1" noChangeShapeType="1" noTextEdit="1"/>
              </p:cNvSpPr>
              <p:nvPr/>
            </p:nvSpPr>
            <p:spPr>
              <a:xfrm>
                <a:off x="3998443" y="5188220"/>
                <a:ext cx="4654223" cy="988540"/>
              </a:xfrm>
              <a:prstGeom prst="rect">
                <a:avLst/>
              </a:prstGeom>
              <a:blipFill>
                <a:blip r:embed="rId4"/>
                <a:stretch>
                  <a:fillRect l="-8447" t="-130769" b="-1820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39FFE08A-0D83-4F46-82FB-35C427004976}"/>
                  </a:ext>
                </a:extLst>
              </p:cNvPr>
              <p:cNvSpPr/>
              <p:nvPr/>
            </p:nvSpPr>
            <p:spPr>
              <a:xfrm>
                <a:off x="2531200" y="3478950"/>
                <a:ext cx="7758214" cy="15283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𝜌</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⟨0|+</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r>
                        <a:rPr lang="en-US" sz="2400" i="0">
                          <a:latin typeface="Cambria Math" panose="02040503050406030204" pitchFamily="18" charset="0"/>
                        </a:rPr>
                        <m:t>⟨1|=</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r>
                                  <a:rPr lang="en-US" sz="2400" i="0">
                                    <a:latin typeface="Cambria Math" panose="02040503050406030204" pitchFamily="18" charset="0"/>
                                  </a:rPr>
                                  <m:t>0</m:t>
                                </m:r>
                              </m:e>
                            </m:mr>
                            <m:mr>
                              <m:e>
                                <m:r>
                                  <a:rPr lang="en-US" sz="2400" i="0">
                                    <a:latin typeface="Cambria Math" panose="02040503050406030204" pitchFamily="18" charset="0"/>
                                  </a:rPr>
                                  <m:t>0</m:t>
                                </m:r>
                              </m:e>
                              <m:e>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mr>
                          </m:m>
                        </m:e>
                      </m:d>
                    </m:oMath>
                  </m:oMathPara>
                </a14:m>
                <a:endParaRPr lang="en-US" sz="2400" dirty="0"/>
              </a:p>
            </p:txBody>
          </p:sp>
        </mc:Choice>
        <mc:Fallback>
          <p:sp>
            <p:nvSpPr>
              <p:cNvPr id="7" name="Rectangle 6">
                <a:extLst>
                  <a:ext uri="{FF2B5EF4-FFF2-40B4-BE49-F238E27FC236}">
                    <a16:creationId xmlns:a16="http://schemas.microsoft.com/office/drawing/2014/main" id="{39FFE08A-0D83-4F46-82FB-35C427004976}"/>
                  </a:ext>
                </a:extLst>
              </p:cNvPr>
              <p:cNvSpPr>
                <a:spLocks noRot="1" noChangeAspect="1" noMove="1" noResize="1" noEditPoints="1" noAdjustHandles="1" noChangeArrowheads="1" noChangeShapeType="1" noTextEdit="1"/>
              </p:cNvSpPr>
              <p:nvPr/>
            </p:nvSpPr>
            <p:spPr>
              <a:xfrm>
                <a:off x="2531200" y="3478950"/>
                <a:ext cx="7758214" cy="1528303"/>
              </a:xfrm>
              <a:prstGeom prst="rect">
                <a:avLst/>
              </a:prstGeom>
              <a:blipFill>
                <a:blip r:embed="rId5"/>
                <a:stretch>
                  <a:fillRect b="-330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A6F3155-98AB-5844-9ED2-2B1BAF488EF5}"/>
              </a:ext>
            </a:extLst>
          </p:cNvPr>
          <p:cNvGrpSpPr>
            <a:grpSpLocks noChangeAspect="1"/>
          </p:cNvGrpSpPr>
          <p:nvPr/>
        </p:nvGrpSpPr>
        <p:grpSpPr>
          <a:xfrm>
            <a:off x="1576723" y="1467764"/>
            <a:ext cx="1951483" cy="1694685"/>
            <a:chOff x="-1001425" y="2817900"/>
            <a:chExt cx="3488660" cy="3029584"/>
          </a:xfrm>
        </p:grpSpPr>
        <p:pic>
          <p:nvPicPr>
            <p:cNvPr id="10" name="Picture 9">
              <a:extLst>
                <a:ext uri="{FF2B5EF4-FFF2-40B4-BE49-F238E27FC236}">
                  <a16:creationId xmlns:a16="http://schemas.microsoft.com/office/drawing/2014/main" id="{29892FB0-A145-4546-9558-838DD9E9A741}"/>
                </a:ext>
              </a:extLst>
            </p:cNvPr>
            <p:cNvPicPr>
              <a:picLocks noChangeAspect="1"/>
            </p:cNvPicPr>
            <p:nvPr/>
          </p:nvPicPr>
          <p:blipFill>
            <a:blip r:embed="rId6"/>
            <a:stretch>
              <a:fillRect/>
            </a:stretch>
          </p:blipFill>
          <p:spPr>
            <a:xfrm>
              <a:off x="-1001425" y="2817900"/>
              <a:ext cx="2041366" cy="2004250"/>
            </a:xfrm>
            <a:prstGeom prst="rect">
              <a:avLst/>
            </a:prstGeom>
          </p:spPr>
        </p:pic>
        <p:pic>
          <p:nvPicPr>
            <p:cNvPr id="16" name="Picture 15">
              <a:extLst>
                <a:ext uri="{FF2B5EF4-FFF2-40B4-BE49-F238E27FC236}">
                  <a16:creationId xmlns:a16="http://schemas.microsoft.com/office/drawing/2014/main" id="{4C242F82-E8D5-C842-8233-547C5139EE33}"/>
                </a:ext>
              </a:extLst>
            </p:cNvPr>
            <p:cNvPicPr>
              <a:picLocks noChangeAspect="1"/>
            </p:cNvPicPr>
            <p:nvPr/>
          </p:nvPicPr>
          <p:blipFill>
            <a:blip r:embed="rId7"/>
            <a:stretch>
              <a:fillRect/>
            </a:stretch>
          </p:blipFill>
          <p:spPr>
            <a:xfrm>
              <a:off x="-190240" y="4895320"/>
              <a:ext cx="1620000" cy="952164"/>
            </a:xfrm>
            <a:prstGeom prst="rect">
              <a:avLst/>
            </a:prstGeom>
          </p:spPr>
        </p:pic>
        <p:pic>
          <p:nvPicPr>
            <p:cNvPr id="17" name="Picture 16">
              <a:extLst>
                <a:ext uri="{FF2B5EF4-FFF2-40B4-BE49-F238E27FC236}">
                  <a16:creationId xmlns:a16="http://schemas.microsoft.com/office/drawing/2014/main" id="{15ECC335-CA14-4840-B939-85BAD0C9ED05}"/>
                </a:ext>
              </a:extLst>
            </p:cNvPr>
            <p:cNvPicPr>
              <a:picLocks noChangeAspect="1"/>
            </p:cNvPicPr>
            <p:nvPr/>
          </p:nvPicPr>
          <p:blipFill>
            <a:blip r:embed="rId8"/>
            <a:stretch>
              <a:fillRect/>
            </a:stretch>
          </p:blipFill>
          <p:spPr>
            <a:xfrm>
              <a:off x="867235" y="3628548"/>
              <a:ext cx="1620000" cy="952106"/>
            </a:xfrm>
            <a:prstGeom prst="rect">
              <a:avLst/>
            </a:prstGeom>
          </p:spPr>
        </p:pic>
        <p:sp>
          <p:nvSpPr>
            <p:cNvPr id="18" name="Freeform 17">
              <a:extLst>
                <a:ext uri="{FF2B5EF4-FFF2-40B4-BE49-F238E27FC236}">
                  <a16:creationId xmlns:a16="http://schemas.microsoft.com/office/drawing/2014/main" id="{0955E562-132D-5C4B-9593-9B72E31836B7}"/>
                </a:ext>
              </a:extLst>
            </p:cNvPr>
            <p:cNvSpPr/>
            <p:nvPr/>
          </p:nvSpPr>
          <p:spPr>
            <a:xfrm rot="2433216">
              <a:off x="-831174" y="4322165"/>
              <a:ext cx="1122318" cy="988261"/>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Freeform 18">
              <a:extLst>
                <a:ext uri="{FF2B5EF4-FFF2-40B4-BE49-F238E27FC236}">
                  <a16:creationId xmlns:a16="http://schemas.microsoft.com/office/drawing/2014/main" id="{0CF47B06-33D1-5144-92E8-0E580387740E}"/>
                </a:ext>
              </a:extLst>
            </p:cNvPr>
            <p:cNvSpPr/>
            <p:nvPr/>
          </p:nvSpPr>
          <p:spPr>
            <a:xfrm rot="14470856" flipH="1">
              <a:off x="829700" y="3386601"/>
              <a:ext cx="623050" cy="653237"/>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22" name="Picture 21">
            <a:extLst>
              <a:ext uri="{FF2B5EF4-FFF2-40B4-BE49-F238E27FC236}">
                <a16:creationId xmlns:a16="http://schemas.microsoft.com/office/drawing/2014/main" id="{9EE77C80-D1EE-4349-A1BB-06990DAF5DB9}"/>
              </a:ext>
            </a:extLst>
          </p:cNvPr>
          <p:cNvPicPr>
            <a:picLocks noChangeAspect="1"/>
          </p:cNvPicPr>
          <p:nvPr/>
        </p:nvPicPr>
        <p:blipFill>
          <a:blip r:embed="rId9"/>
          <a:stretch>
            <a:fillRect/>
          </a:stretch>
        </p:blipFill>
        <p:spPr>
          <a:xfrm>
            <a:off x="462382" y="1664359"/>
            <a:ext cx="1050265" cy="1617814"/>
          </a:xfrm>
          <a:prstGeom prst="rect">
            <a:avLst/>
          </a:prstGeom>
        </p:spPr>
      </p:pic>
      <p:pic>
        <p:nvPicPr>
          <p:cNvPr id="23" name="Picture 22">
            <a:extLst>
              <a:ext uri="{FF2B5EF4-FFF2-40B4-BE49-F238E27FC236}">
                <a16:creationId xmlns:a16="http://schemas.microsoft.com/office/drawing/2014/main" id="{89C8E09F-EA08-8C4F-A4C4-4C2217F85E67}"/>
              </a:ext>
            </a:extLst>
          </p:cNvPr>
          <p:cNvPicPr>
            <a:picLocks noChangeAspect="1"/>
          </p:cNvPicPr>
          <p:nvPr/>
        </p:nvPicPr>
        <p:blipFill>
          <a:blip r:embed="rId10"/>
          <a:stretch>
            <a:fillRect/>
          </a:stretch>
        </p:blipFill>
        <p:spPr>
          <a:xfrm>
            <a:off x="10510987" y="1582418"/>
            <a:ext cx="1202890" cy="1781697"/>
          </a:xfrm>
          <a:prstGeom prst="rect">
            <a:avLst/>
          </a:prstGeom>
        </p:spPr>
      </p:pic>
      <p:pic>
        <p:nvPicPr>
          <p:cNvPr id="24" name="Picture 23">
            <a:extLst>
              <a:ext uri="{FF2B5EF4-FFF2-40B4-BE49-F238E27FC236}">
                <a16:creationId xmlns:a16="http://schemas.microsoft.com/office/drawing/2014/main" id="{BDB60AE4-4315-D640-A700-14CBC6D10792}"/>
              </a:ext>
            </a:extLst>
          </p:cNvPr>
          <p:cNvPicPr>
            <a:picLocks noChangeAspect="1"/>
          </p:cNvPicPr>
          <p:nvPr/>
        </p:nvPicPr>
        <p:blipFill>
          <a:blip r:embed="rId11">
            <a:alphaModFix/>
          </a:blip>
          <a:stretch>
            <a:fillRect/>
          </a:stretch>
        </p:blipFill>
        <p:spPr>
          <a:xfrm>
            <a:off x="6117632" y="1410238"/>
            <a:ext cx="2126056" cy="2126056"/>
          </a:xfrm>
          <a:prstGeom prst="rect">
            <a:avLst/>
          </a:prstGeom>
        </p:spPr>
      </p:pic>
      <p:sp>
        <p:nvSpPr>
          <p:cNvPr id="25" name="Freeform 24">
            <a:extLst>
              <a:ext uri="{FF2B5EF4-FFF2-40B4-BE49-F238E27FC236}">
                <a16:creationId xmlns:a16="http://schemas.microsoft.com/office/drawing/2014/main" id="{7562B0F7-1C90-DF46-9DEE-A162368C0510}"/>
              </a:ext>
            </a:extLst>
          </p:cNvPr>
          <p:cNvSpPr/>
          <p:nvPr/>
        </p:nvSpPr>
        <p:spPr>
          <a:xfrm>
            <a:off x="4852938" y="2308984"/>
            <a:ext cx="1264694" cy="328565"/>
          </a:xfrm>
          <a:custGeom>
            <a:avLst/>
            <a:gdLst>
              <a:gd name="connsiteX0" fmla="*/ 0 w 1783080"/>
              <a:gd name="connsiteY0" fmla="*/ 355966 h 362503"/>
              <a:gd name="connsiteX1" fmla="*/ 359228 w 1783080"/>
              <a:gd name="connsiteY1" fmla="*/ 4 h 362503"/>
              <a:gd name="connsiteX2" fmla="*/ 711925 w 1783080"/>
              <a:gd name="connsiteY2" fmla="*/ 362498 h 362503"/>
              <a:gd name="connsiteX3" fmla="*/ 1058091 w 1783080"/>
              <a:gd name="connsiteY3" fmla="*/ 9801 h 362503"/>
              <a:gd name="connsiteX4" fmla="*/ 1436914 w 1783080"/>
              <a:gd name="connsiteY4" fmla="*/ 362498 h 362503"/>
              <a:gd name="connsiteX5" fmla="*/ 1783080 w 1783080"/>
              <a:gd name="connsiteY5" fmla="*/ 6535 h 362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3080" h="362503">
                <a:moveTo>
                  <a:pt x="0" y="355966"/>
                </a:moveTo>
                <a:cubicBezTo>
                  <a:pt x="120287" y="177440"/>
                  <a:pt x="240574" y="-1085"/>
                  <a:pt x="359228" y="4"/>
                </a:cubicBezTo>
                <a:cubicBezTo>
                  <a:pt x="477882" y="1093"/>
                  <a:pt x="595448" y="360865"/>
                  <a:pt x="711925" y="362498"/>
                </a:cubicBezTo>
                <a:cubicBezTo>
                  <a:pt x="828402" y="364131"/>
                  <a:pt x="937260" y="9801"/>
                  <a:pt x="1058091" y="9801"/>
                </a:cubicBezTo>
                <a:cubicBezTo>
                  <a:pt x="1178922" y="9801"/>
                  <a:pt x="1316083" y="363042"/>
                  <a:pt x="1436914" y="362498"/>
                </a:cubicBezTo>
                <a:cubicBezTo>
                  <a:pt x="1557745" y="361954"/>
                  <a:pt x="1670412" y="184244"/>
                  <a:pt x="1783080" y="653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5F18ACC-D747-D04C-A56C-D2832318C2E4}"/>
              </a:ext>
            </a:extLst>
          </p:cNvPr>
          <p:cNvSpPr/>
          <p:nvPr/>
        </p:nvSpPr>
        <p:spPr>
          <a:xfrm>
            <a:off x="9737397" y="2203266"/>
            <a:ext cx="540000" cy="5400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a:extLst>
              <a:ext uri="{FF2B5EF4-FFF2-40B4-BE49-F238E27FC236}">
                <a16:creationId xmlns:a16="http://schemas.microsoft.com/office/drawing/2014/main" id="{517BF88A-53A6-9B40-B1DA-24E200C52189}"/>
              </a:ext>
            </a:extLst>
          </p:cNvPr>
          <p:cNvSpPr/>
          <p:nvPr/>
        </p:nvSpPr>
        <p:spPr>
          <a:xfrm>
            <a:off x="8207680" y="2308984"/>
            <a:ext cx="1264694" cy="328565"/>
          </a:xfrm>
          <a:custGeom>
            <a:avLst/>
            <a:gdLst>
              <a:gd name="connsiteX0" fmla="*/ 0 w 1783080"/>
              <a:gd name="connsiteY0" fmla="*/ 355966 h 362503"/>
              <a:gd name="connsiteX1" fmla="*/ 359228 w 1783080"/>
              <a:gd name="connsiteY1" fmla="*/ 4 h 362503"/>
              <a:gd name="connsiteX2" fmla="*/ 711925 w 1783080"/>
              <a:gd name="connsiteY2" fmla="*/ 362498 h 362503"/>
              <a:gd name="connsiteX3" fmla="*/ 1058091 w 1783080"/>
              <a:gd name="connsiteY3" fmla="*/ 9801 h 362503"/>
              <a:gd name="connsiteX4" fmla="*/ 1436914 w 1783080"/>
              <a:gd name="connsiteY4" fmla="*/ 362498 h 362503"/>
              <a:gd name="connsiteX5" fmla="*/ 1783080 w 1783080"/>
              <a:gd name="connsiteY5" fmla="*/ 6535 h 362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3080" h="362503">
                <a:moveTo>
                  <a:pt x="0" y="355966"/>
                </a:moveTo>
                <a:cubicBezTo>
                  <a:pt x="120287" y="177440"/>
                  <a:pt x="240574" y="-1085"/>
                  <a:pt x="359228" y="4"/>
                </a:cubicBezTo>
                <a:cubicBezTo>
                  <a:pt x="477882" y="1093"/>
                  <a:pt x="595448" y="360865"/>
                  <a:pt x="711925" y="362498"/>
                </a:cubicBezTo>
                <a:cubicBezTo>
                  <a:pt x="828402" y="364131"/>
                  <a:pt x="937260" y="9801"/>
                  <a:pt x="1058091" y="9801"/>
                </a:cubicBezTo>
                <a:cubicBezTo>
                  <a:pt x="1178922" y="9801"/>
                  <a:pt x="1316083" y="363042"/>
                  <a:pt x="1436914" y="362498"/>
                </a:cubicBezTo>
                <a:cubicBezTo>
                  <a:pt x="1557745" y="361954"/>
                  <a:pt x="1670412" y="184244"/>
                  <a:pt x="1783080" y="653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5204B0F-6174-714A-9E03-4F35E52A22F9}"/>
              </a:ext>
            </a:extLst>
          </p:cNvPr>
          <p:cNvSpPr/>
          <p:nvPr/>
        </p:nvSpPr>
        <p:spPr>
          <a:xfrm>
            <a:off x="4044280" y="2203266"/>
            <a:ext cx="540000" cy="5400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5A8FAA6E-14C2-0B4A-A814-4A22504B5822}"/>
                  </a:ext>
                </a:extLst>
              </p:cNvPr>
              <p:cNvSpPr txBox="1"/>
              <p:nvPr/>
            </p:nvSpPr>
            <p:spPr>
              <a:xfrm>
                <a:off x="3968287" y="1559693"/>
                <a:ext cx="631519"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b="0" i="0" smtClean="0">
                              <a:latin typeface="Cambria Math" panose="02040503050406030204" pitchFamily="18" charset="0"/>
                            </a:rPr>
                            <m:t>1</m:t>
                          </m:r>
                        </m:e>
                      </m:d>
                    </m:oMath>
                  </m:oMathPara>
                </a14:m>
                <a:endParaRPr lang="en-US" sz="2400" dirty="0"/>
              </a:p>
            </p:txBody>
          </p:sp>
        </mc:Choice>
        <mc:Fallback>
          <p:sp>
            <p:nvSpPr>
              <p:cNvPr id="30" name="TextBox 29">
                <a:extLst>
                  <a:ext uri="{FF2B5EF4-FFF2-40B4-BE49-F238E27FC236}">
                    <a16:creationId xmlns:a16="http://schemas.microsoft.com/office/drawing/2014/main" id="{5A8FAA6E-14C2-0B4A-A814-4A22504B5822}"/>
                  </a:ext>
                </a:extLst>
              </p:cNvPr>
              <p:cNvSpPr txBox="1">
                <a:spLocks noRot="1" noChangeAspect="1" noMove="1" noResize="1" noEditPoints="1" noAdjustHandles="1" noChangeArrowheads="1" noChangeShapeType="1" noTextEdit="1"/>
              </p:cNvSpPr>
              <p:nvPr/>
            </p:nvSpPr>
            <p:spPr>
              <a:xfrm>
                <a:off x="3968287" y="1559693"/>
                <a:ext cx="631519"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04D815FF-B0CE-E147-A11F-315A83EEE0CE}"/>
                  </a:ext>
                </a:extLst>
              </p:cNvPr>
              <p:cNvSpPr txBox="1"/>
              <p:nvPr/>
            </p:nvSpPr>
            <p:spPr>
              <a:xfrm>
                <a:off x="3894854" y="2866506"/>
                <a:ext cx="631520"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oMath>
                  </m:oMathPara>
                </a14:m>
                <a:endParaRPr lang="en-US" sz="2400" dirty="0"/>
              </a:p>
            </p:txBody>
          </p:sp>
        </mc:Choice>
        <mc:Fallback>
          <p:sp>
            <p:nvSpPr>
              <p:cNvPr id="31" name="TextBox 30">
                <a:extLst>
                  <a:ext uri="{FF2B5EF4-FFF2-40B4-BE49-F238E27FC236}">
                    <a16:creationId xmlns:a16="http://schemas.microsoft.com/office/drawing/2014/main" id="{04D815FF-B0CE-E147-A11F-315A83EEE0CE}"/>
                  </a:ext>
                </a:extLst>
              </p:cNvPr>
              <p:cNvSpPr txBox="1">
                <a:spLocks noRot="1" noChangeAspect="1" noMove="1" noResize="1" noEditPoints="1" noAdjustHandles="1" noChangeArrowheads="1" noChangeShapeType="1" noTextEdit="1"/>
              </p:cNvSpPr>
              <p:nvPr/>
            </p:nvSpPr>
            <p:spPr>
              <a:xfrm>
                <a:off x="3894854" y="2866506"/>
                <a:ext cx="631520"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B60F7C1B-EE8D-1A46-909C-14217A33C83D}"/>
                  </a:ext>
                </a:extLst>
              </p:cNvPr>
              <p:cNvSpPr txBox="1"/>
              <p:nvPr/>
            </p:nvSpPr>
            <p:spPr>
              <a:xfrm>
                <a:off x="9472374" y="1034156"/>
                <a:ext cx="1063433" cy="116935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e>
                              <m:e>
                                <m:r>
                                  <a:rPr lang="en-US">
                                    <a:latin typeface="Cambria Math" panose="02040503050406030204" pitchFamily="18" charset="0"/>
                                  </a:rPr>
                                  <m:t>0</m:t>
                                </m:r>
                              </m:e>
                            </m:mr>
                            <m:mr>
                              <m:e>
                                <m:r>
                                  <a:rPr lang="en-US">
                                    <a:latin typeface="Cambria Math" panose="02040503050406030204" pitchFamily="18" charset="0"/>
                                  </a:rPr>
                                  <m:t>0</m:t>
                                </m:r>
                              </m:e>
                              <m:e>
                                <m:f>
                                  <m:fPr>
                                    <m:ctrlPr>
                                      <a:rPr lang="en-US" i="1">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e>
                            </m:mr>
                          </m:m>
                        </m:e>
                      </m:d>
                    </m:oMath>
                  </m:oMathPara>
                </a14:m>
                <a:endParaRPr lang="en-US" dirty="0"/>
              </a:p>
            </p:txBody>
          </p:sp>
        </mc:Choice>
        <mc:Fallback>
          <p:sp>
            <p:nvSpPr>
              <p:cNvPr id="32" name="TextBox 31">
                <a:extLst>
                  <a:ext uri="{FF2B5EF4-FFF2-40B4-BE49-F238E27FC236}">
                    <a16:creationId xmlns:a16="http://schemas.microsoft.com/office/drawing/2014/main" id="{B60F7C1B-EE8D-1A46-909C-14217A33C83D}"/>
                  </a:ext>
                </a:extLst>
              </p:cNvPr>
              <p:cNvSpPr txBox="1">
                <a:spLocks noRot="1" noChangeAspect="1" noMove="1" noResize="1" noEditPoints="1" noAdjustHandles="1" noChangeArrowheads="1" noChangeShapeType="1" noTextEdit="1"/>
              </p:cNvSpPr>
              <p:nvPr/>
            </p:nvSpPr>
            <p:spPr>
              <a:xfrm>
                <a:off x="9472374" y="1034156"/>
                <a:ext cx="1063433" cy="1169359"/>
              </a:xfrm>
              <a:prstGeom prst="rect">
                <a:avLst/>
              </a:prstGeom>
              <a:blipFill>
                <a:blip r:embed="rId14"/>
                <a:stretch>
                  <a:fillRect/>
                </a:stretch>
              </a:blipFill>
            </p:spPr>
            <p:txBody>
              <a:bodyPr/>
              <a:lstStyle/>
              <a:p>
                <a:r>
                  <a:rPr lang="en-US">
                    <a:noFill/>
                  </a:rPr>
                  <a:t> </a:t>
                </a:r>
              </a:p>
            </p:txBody>
          </p:sp>
        </mc:Fallback>
      </mc:AlternateContent>
      <p:sp>
        <p:nvSpPr>
          <p:cNvPr id="33" name="Arc 32">
            <a:extLst>
              <a:ext uri="{FF2B5EF4-FFF2-40B4-BE49-F238E27FC236}">
                <a16:creationId xmlns:a16="http://schemas.microsoft.com/office/drawing/2014/main" id="{14DBCB6A-8518-0540-B0D2-996CC80D61D1}"/>
              </a:ext>
            </a:extLst>
          </p:cNvPr>
          <p:cNvSpPr/>
          <p:nvPr/>
        </p:nvSpPr>
        <p:spPr>
          <a:xfrm>
            <a:off x="3049918" y="1871011"/>
            <a:ext cx="1006584" cy="502315"/>
          </a:xfrm>
          <a:prstGeom prst="arc">
            <a:avLst>
              <a:gd name="adj1" fmla="val 13517173"/>
              <a:gd name="adj2" fmla="val 21285373"/>
            </a:avLst>
          </a:pr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Arc 33">
            <a:extLst>
              <a:ext uri="{FF2B5EF4-FFF2-40B4-BE49-F238E27FC236}">
                <a16:creationId xmlns:a16="http://schemas.microsoft.com/office/drawing/2014/main" id="{143D579D-9E91-BB47-A48C-F2353DEACC39}"/>
              </a:ext>
            </a:extLst>
          </p:cNvPr>
          <p:cNvSpPr/>
          <p:nvPr/>
        </p:nvSpPr>
        <p:spPr>
          <a:xfrm rot="385993" flipV="1">
            <a:off x="2813155" y="2605324"/>
            <a:ext cx="1006584" cy="502315"/>
          </a:xfrm>
          <a:prstGeom prst="arc">
            <a:avLst>
              <a:gd name="adj1" fmla="val 13517173"/>
              <a:gd name="adj2" fmla="val 21285373"/>
            </a:avLst>
          </a:pr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5379581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BF080-E1A2-4146-92EC-57A4FACD4BCB}"/>
              </a:ext>
            </a:extLst>
          </p:cNvPr>
          <p:cNvSpPr>
            <a:spLocks noGrp="1"/>
          </p:cNvSpPr>
          <p:nvPr>
            <p:ph type="sldNum" sz="quarter" idx="12"/>
          </p:nvPr>
        </p:nvSpPr>
        <p:spPr/>
        <p:txBody>
          <a:bodyPr/>
          <a:lstStyle/>
          <a:p>
            <a:fld id="{591A223C-FA10-BC46-A853-03BA373D023C}" type="slidenum">
              <a:rPr lang="en-US" smtClean="0"/>
              <a:t>60</a:t>
            </a:fld>
            <a:endParaRPr lang="en-US"/>
          </a:p>
        </p:txBody>
      </p:sp>
      <p:sp>
        <p:nvSpPr>
          <p:cNvPr id="3" name="Title 2">
            <a:extLst>
              <a:ext uri="{FF2B5EF4-FFF2-40B4-BE49-F238E27FC236}">
                <a16:creationId xmlns:a16="http://schemas.microsoft.com/office/drawing/2014/main" id="{4AAC33FA-2318-914B-A325-9A61E4A2889B}"/>
              </a:ext>
            </a:extLst>
          </p:cNvPr>
          <p:cNvSpPr>
            <a:spLocks noGrp="1"/>
          </p:cNvSpPr>
          <p:nvPr>
            <p:ph type="title"/>
          </p:nvPr>
        </p:nvSpPr>
        <p:spPr>
          <a:xfrm>
            <a:off x="0" y="0"/>
            <a:ext cx="12192000" cy="928688"/>
          </a:xfrm>
        </p:spPr>
        <p:txBody>
          <a:bodyPr/>
          <a:lstStyle/>
          <a:p>
            <a:r>
              <a:rPr lang="en-ZA" dirty="0"/>
              <a:t>Purity of Quantum States</a:t>
            </a:r>
            <a:endParaRPr lang="en-US" dirty="0"/>
          </a:p>
        </p:txBody>
      </p:sp>
      <p:grpSp>
        <p:nvGrpSpPr>
          <p:cNvPr id="23" name="Group 22">
            <a:extLst>
              <a:ext uri="{FF2B5EF4-FFF2-40B4-BE49-F238E27FC236}">
                <a16:creationId xmlns:a16="http://schemas.microsoft.com/office/drawing/2014/main" id="{DB1D6855-159F-9143-9336-210C1F0676C3}"/>
              </a:ext>
            </a:extLst>
          </p:cNvPr>
          <p:cNvGrpSpPr/>
          <p:nvPr/>
        </p:nvGrpSpPr>
        <p:grpSpPr>
          <a:xfrm>
            <a:off x="0" y="2247779"/>
            <a:ext cx="5967798" cy="4245744"/>
            <a:chOff x="0" y="2247779"/>
            <a:chExt cx="5967798" cy="4245744"/>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0D269FB-B4BF-564C-ABBC-13D78DA08815}"/>
                    </a:ext>
                  </a:extLst>
                </p:cNvPr>
                <p:cNvSpPr/>
                <p:nvPr/>
              </p:nvSpPr>
              <p:spPr>
                <a:xfrm>
                  <a:off x="3822339" y="3351320"/>
                  <a:ext cx="2145459" cy="15283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𝜌</m:t>
                            </m:r>
                          </m:e>
                          <m:sub>
                            <m:r>
                              <a:rPr lang="sr-Latn-RS" sz="2400" b="0" i="1" smtClean="0">
                                <a:latin typeface="Cambria Math" panose="02040503050406030204" pitchFamily="18" charset="0"/>
                              </a:rPr>
                              <m:t>𝑚</m:t>
                            </m:r>
                          </m:sub>
                        </m:sSub>
                        <m:r>
                          <a:rPr lang="en-US" sz="2400" i="0">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e>
                                  <m:r>
                                    <a:rPr lang="sr-Latn-RS" sz="2400" i="1">
                                      <a:latin typeface="Cambria Math" panose="02040503050406030204" pitchFamily="18" charset="0"/>
                                    </a:rPr>
                                    <m:t>0</m:t>
                                  </m:r>
                                </m:e>
                              </m:mr>
                              <m:mr>
                                <m:e>
                                  <m:r>
                                    <a:rPr lang="sr-Latn-RS" sz="2400" i="1">
                                      <a:latin typeface="Cambria Math" panose="02040503050406030204" pitchFamily="18" charset="0"/>
                                    </a:rPr>
                                    <m:t>0</m:t>
                                  </m:r>
                                </m:e>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mr>
                            </m:m>
                          </m:e>
                        </m:d>
                      </m:oMath>
                    </m:oMathPara>
                  </a14:m>
                  <a:endParaRPr lang="en-US" sz="2400" dirty="0"/>
                </a:p>
              </p:txBody>
            </p:sp>
          </mc:Choice>
          <mc:Fallback xmlns="">
            <p:sp>
              <p:nvSpPr>
                <p:cNvPr id="4" name="Rectangle 3">
                  <a:extLst>
                    <a:ext uri="{FF2B5EF4-FFF2-40B4-BE49-F238E27FC236}">
                      <a16:creationId xmlns:a16="http://schemas.microsoft.com/office/drawing/2014/main" id="{B0D269FB-B4BF-564C-ABBC-13D78DA08815}"/>
                    </a:ext>
                  </a:extLst>
                </p:cNvPr>
                <p:cNvSpPr>
                  <a:spLocks noRot="1" noChangeAspect="1" noMove="1" noResize="1" noEditPoints="1" noAdjustHandles="1" noChangeArrowheads="1" noChangeShapeType="1" noTextEdit="1"/>
                </p:cNvSpPr>
                <p:nvPr/>
              </p:nvSpPr>
              <p:spPr>
                <a:xfrm>
                  <a:off x="3822339" y="3351320"/>
                  <a:ext cx="2145459" cy="1528303"/>
                </a:xfrm>
                <a:prstGeom prst="rect">
                  <a:avLst/>
                </a:prstGeom>
                <a:blipFill>
                  <a:blip r:embed="rId3"/>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025DA94-AA15-1D46-9A51-4B396D27566D}"/>
                    </a:ext>
                  </a:extLst>
                </p:cNvPr>
                <p:cNvSpPr/>
                <p:nvPr/>
              </p:nvSpPr>
              <p:spPr>
                <a:xfrm>
                  <a:off x="0" y="3122475"/>
                  <a:ext cx="3451522" cy="17571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m:rPr>
                                <m:sty m:val="p"/>
                              </m:rPr>
                              <a:rPr lang="sr-Latn-RS" sz="2400">
                                <a:latin typeface="Cambria Math" panose="02040503050406030204" pitchFamily="18" charset="0"/>
                              </a:rPr>
                              <m:t>S</m:t>
                            </m:r>
                          </m:e>
                        </m:d>
                        <m:r>
                          <a:rPr lang="en-US" sz="2400">
                            <a:latin typeface="Cambria Math" panose="02040503050406030204" pitchFamily="18" charset="0"/>
                          </a:rPr>
                          <m:t>=</m:t>
                        </m:r>
                        <m:d>
                          <m:dPr>
                            <m:begChr m:val="{"/>
                            <m:endChr m:val=""/>
                            <m:ctrlPr>
                              <a:rPr lang="en-US" sz="2400" i="1" smtClean="0">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0</m:t>
                                      </m:r>
                                    </m:e>
                                  </m:d>
                                  <m:r>
                                    <a:rPr lang="sr-Latn-RS" sz="2400" b="0" i="1" smtClean="0">
                                      <a:latin typeface="Cambria Math" panose="02040503050406030204" pitchFamily="18" charset="0"/>
                                    </a:rPr>
                                    <m:t>,  </m:t>
                                  </m:r>
                                  <m:r>
                                    <a:rPr lang="en-US" sz="2400" b="0" i="1" smtClean="0">
                                      <a:latin typeface="Cambria Math" panose="02040503050406030204" pitchFamily="18" charset="0"/>
                                    </a:rPr>
                                    <m:t>𝑝</m:t>
                                  </m:r>
                                  <m:d>
                                    <m:dPr>
                                      <m:ctrlPr>
                                        <a:rPr lang="sr-Latn-RS" sz="2400" b="0" i="1" smtClean="0">
                                          <a:latin typeface="Cambria Math" panose="02040503050406030204" pitchFamily="18" charset="0"/>
                                        </a:rPr>
                                      </m:ctrlPr>
                                    </m:dPr>
                                    <m:e>
                                      <m:r>
                                        <a:rPr lang="sr-Latn-RS" sz="2400" b="0" i="1" smtClean="0">
                                          <a:latin typeface="Cambria Math" panose="02040503050406030204" pitchFamily="18" charset="0"/>
                                        </a:rPr>
                                        <m:t>0</m:t>
                                      </m:r>
                                    </m:e>
                                  </m:d>
                                  <m:r>
                                    <a:rPr lang="sr-Latn-RS" sz="2400" b="0" i="1" smtClean="0">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mr>
                              <m:mr>
                                <m:e>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1</m:t>
                                      </m:r>
                                    </m:e>
                                  </m:d>
                                  <m:r>
                                    <a:rPr lang="sr-Latn-RS" sz="2400" i="1">
                                      <a:latin typeface="Cambria Math" panose="02040503050406030204" pitchFamily="18" charset="0"/>
                                    </a:rPr>
                                    <m:t>,  </m:t>
                                  </m:r>
                                  <m:r>
                                    <a:rPr lang="en-US" sz="2400" b="0" i="1" smtClean="0">
                                      <a:latin typeface="Cambria Math" panose="02040503050406030204" pitchFamily="18" charset="0"/>
                                    </a:rPr>
                                    <m:t>𝑝</m:t>
                                  </m:r>
                                  <m:d>
                                    <m:dPr>
                                      <m:ctrlPr>
                                        <a:rPr lang="sr-Latn-RS" sz="2400" i="1">
                                          <a:latin typeface="Cambria Math" panose="02040503050406030204" pitchFamily="18" charset="0"/>
                                        </a:rPr>
                                      </m:ctrlPr>
                                    </m:dPr>
                                    <m:e>
                                      <m:r>
                                        <a:rPr lang="sr-Latn-RS" sz="2400" i="1" smtClean="0">
                                          <a:latin typeface="Cambria Math" panose="02040503050406030204" pitchFamily="18" charset="0"/>
                                        </a:rPr>
                                        <m:t>1</m:t>
                                      </m:r>
                                    </m:e>
                                  </m:d>
                                  <m:r>
                                    <a:rPr lang="sr-Latn-RS" sz="2400" i="1">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mr>
                            </m:m>
                          </m:e>
                        </m:d>
                      </m:oMath>
                    </m:oMathPara>
                  </a14:m>
                  <a:endParaRPr lang="en-US" sz="2400" dirty="0"/>
                </a:p>
              </p:txBody>
            </p:sp>
          </mc:Choice>
          <mc:Fallback xmlns="">
            <p:sp>
              <p:nvSpPr>
                <p:cNvPr id="7" name="Rectangle 6">
                  <a:extLst>
                    <a:ext uri="{FF2B5EF4-FFF2-40B4-BE49-F238E27FC236}">
                      <a16:creationId xmlns:a16="http://schemas.microsoft.com/office/drawing/2014/main" id="{9025DA94-AA15-1D46-9A51-4B396D27566D}"/>
                    </a:ext>
                  </a:extLst>
                </p:cNvPr>
                <p:cNvSpPr>
                  <a:spLocks noRot="1" noChangeAspect="1" noMove="1" noResize="1" noEditPoints="1" noAdjustHandles="1" noChangeArrowheads="1" noChangeShapeType="1" noTextEdit="1"/>
                </p:cNvSpPr>
                <p:nvPr/>
              </p:nvSpPr>
              <p:spPr>
                <a:xfrm>
                  <a:off x="0" y="3122475"/>
                  <a:ext cx="3451522" cy="17571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C225115-E4DE-8949-8CAE-A4288E326380}"/>
                    </a:ext>
                  </a:extLst>
                </p:cNvPr>
                <p:cNvSpPr/>
                <p:nvPr/>
              </p:nvSpPr>
              <p:spPr>
                <a:xfrm>
                  <a:off x="690830" y="5212147"/>
                  <a:ext cx="3657796" cy="1281376"/>
                </a:xfrm>
                <a:prstGeom prst="rect">
                  <a:avLst/>
                </a:prstGeom>
              </p:spPr>
              <p:txBody>
                <a:bodyPr wrap="none">
                  <a:spAutoFit/>
                </a:bodyPr>
                <a:lstStyle/>
                <a:p>
                  <a:r>
                    <a:rPr lang="en-US" sz="2400" dirty="0"/>
                    <a:t>T</a:t>
                  </a:r>
                  <a14:m>
                    <m:oMath xmlns:m="http://schemas.openxmlformats.org/officeDocument/2006/math">
                      <m:r>
                        <a:rPr lang="en-US" sz="2400" i="1" smtClean="0">
                          <a:latin typeface="Cambria Math" panose="02040503050406030204" pitchFamily="18" charset="0"/>
                        </a:rPr>
                        <m:t>𝑟</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sr-Latn-RS" sz="2400" i="1">
                                      <a:latin typeface="Cambria Math" panose="02040503050406030204" pitchFamily="18" charset="0"/>
                                    </a:rPr>
                                    <m:t>𝑚</m:t>
                                  </m:r>
                                </m:sub>
                              </m:sSub>
                            </m:e>
                            <m:sup>
                              <m:r>
                                <a:rPr lang="en-US" sz="2400" i="0">
                                  <a:latin typeface="Cambria Math" panose="02040503050406030204" pitchFamily="18" charset="0"/>
                                </a:rPr>
                                <m:t>2</m:t>
                              </m:r>
                            </m:sup>
                          </m:sSup>
                        </m:e>
                      </m:d>
                      <m:r>
                        <a:rPr lang="en-US" sz="2400" i="0">
                          <a:latin typeface="Cambria Math" panose="02040503050406030204" pitchFamily="18" charset="0"/>
                        </a:rPr>
                        <m:t>=</m:t>
                      </m:r>
                      <m:r>
                        <a:rPr lang="sr-Latn-RS" sz="2400" b="0" i="1" smtClean="0">
                          <a:latin typeface="Cambria Math" panose="02040503050406030204" pitchFamily="18" charset="0"/>
                        </a:rPr>
                        <m:t>𝑇</m:t>
                      </m:r>
                      <m:r>
                        <a:rPr lang="en-US" sz="2400" i="1">
                          <a:latin typeface="Cambria Math" panose="02040503050406030204" pitchFamily="18" charset="0"/>
                        </a:rPr>
                        <m:t>𝑟</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b="0" i="1" smtClean="0">
                                        <a:latin typeface="Cambria Math" panose="02040503050406030204" pitchFamily="18" charset="0"/>
                                      </a:rPr>
                                      <m:t>4</m:t>
                                    </m:r>
                                  </m:den>
                                </m:f>
                              </m:e>
                              <m:e>
                                <m:r>
                                  <a:rPr lang="sr-Latn-RS" sz="2400" i="1">
                                    <a:latin typeface="Cambria Math" panose="02040503050406030204" pitchFamily="18" charset="0"/>
                                  </a:rPr>
                                  <m:t>0</m:t>
                                </m:r>
                              </m:e>
                            </m:mr>
                            <m:mr>
                              <m:e>
                                <m:r>
                                  <a:rPr lang="sr-Latn-RS" sz="2400" i="1">
                                    <a:latin typeface="Cambria Math" panose="02040503050406030204" pitchFamily="18" charset="0"/>
                                  </a:rPr>
                                  <m:t>0</m:t>
                                </m:r>
                              </m:e>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b="0" i="1" smtClean="0">
                                        <a:latin typeface="Cambria Math" panose="02040503050406030204" pitchFamily="18" charset="0"/>
                                      </a:rPr>
                                      <m:t>4</m:t>
                                    </m:r>
                                  </m:den>
                                </m:f>
                              </m:e>
                            </m:mr>
                          </m:m>
                        </m:e>
                      </m:d>
                      <m:r>
                        <a:rPr lang="sr-Latn-R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oMath>
                  </a14:m>
                  <a:endParaRPr lang="en-US" sz="2400" dirty="0"/>
                </a:p>
              </p:txBody>
            </p:sp>
          </mc:Choice>
          <mc:Fallback xmlns="">
            <p:sp>
              <p:nvSpPr>
                <p:cNvPr id="8" name="Rectangle 7">
                  <a:extLst>
                    <a:ext uri="{FF2B5EF4-FFF2-40B4-BE49-F238E27FC236}">
                      <a16:creationId xmlns:a16="http://schemas.microsoft.com/office/drawing/2014/main" id="{3C225115-E4DE-8949-8CAE-A4288E326380}"/>
                    </a:ext>
                  </a:extLst>
                </p:cNvPr>
                <p:cNvSpPr>
                  <a:spLocks noRot="1" noChangeAspect="1" noMove="1" noResize="1" noEditPoints="1" noAdjustHandles="1" noChangeArrowheads="1" noChangeShapeType="1" noTextEdit="1"/>
                </p:cNvSpPr>
                <p:nvPr/>
              </p:nvSpPr>
              <p:spPr>
                <a:xfrm>
                  <a:off x="690830" y="5212147"/>
                  <a:ext cx="3657796" cy="1281376"/>
                </a:xfrm>
                <a:prstGeom prst="rect">
                  <a:avLst/>
                </a:prstGeom>
                <a:blipFill>
                  <a:blip r:embed="rId5"/>
                  <a:stretch>
                    <a:fillRect l="-207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15F2392-8D44-EE4C-A8F0-67EE28F8151C}"/>
                </a:ext>
              </a:extLst>
            </p:cNvPr>
            <p:cNvSpPr txBox="1"/>
            <p:nvPr/>
          </p:nvSpPr>
          <p:spPr>
            <a:xfrm>
              <a:off x="1619482" y="2247779"/>
              <a:ext cx="1641027" cy="461665"/>
            </a:xfrm>
            <a:prstGeom prst="rect">
              <a:avLst/>
            </a:prstGeom>
            <a:noFill/>
          </p:spPr>
          <p:txBody>
            <a:bodyPr wrap="none" rtlCol="0">
              <a:spAutoFit/>
            </a:bodyPr>
            <a:lstStyle/>
            <a:p>
              <a:r>
                <a:rPr lang="en-US" sz="2400" dirty="0"/>
                <a:t>Mixed state</a:t>
              </a:r>
            </a:p>
          </p:txBody>
        </p:sp>
      </p:grpSp>
      <p:grpSp>
        <p:nvGrpSpPr>
          <p:cNvPr id="20" name="Group 19">
            <a:extLst>
              <a:ext uri="{FF2B5EF4-FFF2-40B4-BE49-F238E27FC236}">
                <a16:creationId xmlns:a16="http://schemas.microsoft.com/office/drawing/2014/main" id="{2C1D5B2D-AC4F-8C4D-A153-27110884089C}"/>
              </a:ext>
            </a:extLst>
          </p:cNvPr>
          <p:cNvGrpSpPr/>
          <p:nvPr/>
        </p:nvGrpSpPr>
        <p:grpSpPr>
          <a:xfrm>
            <a:off x="5967798" y="2322984"/>
            <a:ext cx="6377413" cy="4175417"/>
            <a:chOff x="5469467" y="2317458"/>
            <a:chExt cx="6377413" cy="4175417"/>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4BFAFD5-7868-B343-B179-ED3257D0607F}"/>
                    </a:ext>
                  </a:extLst>
                </p:cNvPr>
                <p:cNvSpPr/>
                <p:nvPr/>
              </p:nvSpPr>
              <p:spPr>
                <a:xfrm>
                  <a:off x="5814588" y="3960835"/>
                  <a:ext cx="6032292"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𝜌</m:t>
                            </m:r>
                          </m:e>
                          <m:sub>
                            <m:r>
                              <a:rPr lang="sr-Latn-RS" sz="2400" b="0" i="1" smtClean="0">
                                <a:latin typeface="Cambria Math" panose="02040503050406030204" pitchFamily="18" charset="0"/>
                              </a:rPr>
                              <m:t>𝑐</m:t>
                            </m:r>
                          </m:sub>
                        </m:sSub>
                        <m:f>
                          <m:fPr>
                            <m:ctrlPr>
                              <a:rPr lang="en-ZA"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ZA"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ZA" sz="2400" i="1">
                                <a:latin typeface="Cambria Math" panose="02040503050406030204" pitchFamily="18" charset="0"/>
                                <a:ea typeface="Cambria Math" panose="02040503050406030204" pitchFamily="18" charset="0"/>
                              </a:rPr>
                            </m:ctrlPr>
                          </m:dPr>
                          <m:e>
                            <m:d>
                              <m:dPr>
                                <m:begChr m:val="|"/>
                                <m:endChr m:val="⟩"/>
                                <m:ctrlPr>
                                  <a:rPr lang="en-ZA" sz="2400" i="1">
                                    <a:latin typeface="Cambria Math" panose="02040503050406030204" pitchFamily="18" charset="0"/>
                                    <a:ea typeface="Cambria Math" panose="02040503050406030204" pitchFamily="18" charset="0"/>
                                  </a:rPr>
                                </m:ctrlPr>
                              </m:dPr>
                              <m:e>
                                <m:r>
                                  <a:rPr lang="sr-Latn-RS" sz="2400" i="1">
                                    <a:latin typeface="Cambria Math" panose="02040503050406030204" pitchFamily="18" charset="0"/>
                                    <a:ea typeface="Cambria Math" panose="02040503050406030204" pitchFamily="18" charset="0"/>
                                  </a:rPr>
                                  <m:t>0</m:t>
                                </m:r>
                              </m:e>
                            </m:d>
                            <m:r>
                              <a:rPr lang="sr-Latn-RS" sz="2400" i="1">
                                <a:latin typeface="Cambria Math" panose="02040503050406030204" pitchFamily="18" charset="0"/>
                                <a:ea typeface="Cambria Math" panose="02040503050406030204" pitchFamily="18" charset="0"/>
                              </a:rPr>
                              <m:t>+</m:t>
                            </m:r>
                            <m:d>
                              <m:dPr>
                                <m:begChr m:val="|"/>
                                <m:endChr m:val="⟩"/>
                                <m:ctrlPr>
                                  <a:rPr lang="en-ZA" sz="2400" i="1">
                                    <a:latin typeface="Cambria Math" panose="02040503050406030204" pitchFamily="18" charset="0"/>
                                    <a:ea typeface="Cambria Math" panose="02040503050406030204" pitchFamily="18" charset="0"/>
                                  </a:rPr>
                                </m:ctrlPr>
                              </m:dPr>
                              <m:e>
                                <m:r>
                                  <a:rPr lang="sr-Latn-RS" sz="2400" i="1">
                                    <a:latin typeface="Cambria Math" panose="02040503050406030204" pitchFamily="18" charset="0"/>
                                    <a:ea typeface="Cambria Math" panose="02040503050406030204" pitchFamily="18" charset="0"/>
                                  </a:rPr>
                                  <m:t>1</m:t>
                                </m:r>
                              </m:e>
                            </m:d>
                          </m:e>
                        </m:d>
                        <m:f>
                          <m:fPr>
                            <m:ctrlPr>
                              <a:rPr lang="en-ZA"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ZA"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ZA" sz="2400" i="1">
                                <a:latin typeface="Cambria Math" panose="02040503050406030204" pitchFamily="18" charset="0"/>
                                <a:ea typeface="Cambria Math" panose="02040503050406030204" pitchFamily="18" charset="0"/>
                              </a:rPr>
                            </m:ctrlPr>
                          </m:dPr>
                          <m:e>
                            <m:r>
                              <a:rPr lang="sr-Latn-RS" sz="240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0</m:t>
                            </m:r>
                            <m:r>
                              <a:rPr lang="sr-Latn-RS" sz="240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m:t>
                            </m:r>
                            <m:r>
                              <a:rPr lang="sr-Latn-RS" sz="2400">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1</m:t>
                            </m:r>
                            <m:r>
                              <a:rPr lang="sr-Latn-RS" sz="2400">
                                <a:latin typeface="Cambria Math" panose="02040503050406030204" pitchFamily="18" charset="0"/>
                                <a:ea typeface="Cambria Math" panose="02040503050406030204" pitchFamily="18" charset="0"/>
                              </a:rPr>
                              <m:t>|</m:t>
                            </m:r>
                          </m:e>
                        </m:d>
                        <m:r>
                          <a:rPr lang="en-US" sz="2400">
                            <a:latin typeface="Cambria Math" panose="02040503050406030204" pitchFamily="18" charset="0"/>
                            <a:ea typeface="Cambria Math" panose="02040503050406030204" pitchFamily="18" charset="0"/>
                          </a:rPr>
                          <m:t>=</m:t>
                        </m:r>
                        <m:f>
                          <m:fPr>
                            <m:ctrlPr>
                              <a:rPr lang="en-ZA" sz="2400" i="1">
                                <a:latin typeface="Cambria Math" panose="02040503050406030204" pitchFamily="18" charset="0"/>
                                <a:ea typeface="Cambria Math" panose="02040503050406030204" pitchFamily="18" charset="0"/>
                              </a:rPr>
                            </m:ctrlPr>
                          </m:fPr>
                          <m:num>
                            <m:r>
                              <a:rPr lang="sr-Latn-RS" sz="2400" i="1">
                                <a:latin typeface="Cambria Math" panose="02040503050406030204" pitchFamily="18" charset="0"/>
                                <a:ea typeface="Cambria Math" panose="02040503050406030204" pitchFamily="18" charset="0"/>
                              </a:rPr>
                              <m:t>1</m:t>
                            </m:r>
                          </m:num>
                          <m:den>
                            <m:r>
                              <a:rPr lang="sr-Latn-RS" sz="2400" i="1">
                                <a:latin typeface="Cambria Math" panose="02040503050406030204" pitchFamily="18" charset="0"/>
                                <a:ea typeface="Cambria Math" panose="02040503050406030204" pitchFamily="18" charset="0"/>
                              </a:rPr>
                              <m:t>2</m:t>
                            </m:r>
                          </m:den>
                        </m:f>
                        <m:d>
                          <m:dPr>
                            <m:ctrlPr>
                              <a:rPr lang="en-ZA" sz="2400" i="1">
                                <a:latin typeface="Cambria Math" panose="02040503050406030204" pitchFamily="18" charset="0"/>
                                <a:ea typeface="Cambria Math" panose="02040503050406030204" pitchFamily="18" charset="0"/>
                              </a:rPr>
                            </m:ctrlPr>
                          </m:dPr>
                          <m:e>
                            <m:m>
                              <m:mPr>
                                <m:mcs>
                                  <m:mc>
                                    <m:mcPr>
                                      <m:count m:val="2"/>
                                      <m:mcJc m:val="center"/>
                                    </m:mcPr>
                                  </m:mc>
                                </m:mcs>
                                <m:ctrlPr>
                                  <a:rPr lang="en-ZA" sz="2400" i="1">
                                    <a:latin typeface="Cambria Math" panose="02040503050406030204" pitchFamily="18" charset="0"/>
                                    <a:ea typeface="Cambria Math" panose="02040503050406030204" pitchFamily="18" charset="0"/>
                                  </a:rPr>
                                </m:ctrlPr>
                              </m:mPr>
                              <m:mr>
                                <m:e>
                                  <m:r>
                                    <m:rPr>
                                      <m:brk m:alnAt="7"/>
                                    </m:rP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1</m:t>
                                  </m:r>
                                </m:e>
                              </m:mr>
                              <m:mr>
                                <m:e>
                                  <m: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1</m:t>
                                  </m:r>
                                </m:e>
                              </m:mr>
                            </m:m>
                          </m:e>
                        </m:d>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5" name="Rectangle 4">
                  <a:extLst>
                    <a:ext uri="{FF2B5EF4-FFF2-40B4-BE49-F238E27FC236}">
                      <a16:creationId xmlns:a16="http://schemas.microsoft.com/office/drawing/2014/main" id="{F4BFAFD5-7868-B343-B179-ED3257D0607F}"/>
                    </a:ext>
                  </a:extLst>
                </p:cNvPr>
                <p:cNvSpPr>
                  <a:spLocks noRot="1" noChangeAspect="1" noMove="1" noResize="1" noEditPoints="1" noAdjustHandles="1" noChangeArrowheads="1" noChangeShapeType="1" noTextEdit="1"/>
                </p:cNvSpPr>
                <p:nvPr/>
              </p:nvSpPr>
              <p:spPr>
                <a:xfrm>
                  <a:off x="5814588" y="3960835"/>
                  <a:ext cx="6032292" cy="855299"/>
                </a:xfrm>
                <a:prstGeom prst="rect">
                  <a:avLst/>
                </a:prstGeom>
                <a:blipFill>
                  <a:blip r:embed="rId6"/>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E4CDC79-8F75-384F-96FF-1DFD6638638B}"/>
                    </a:ext>
                  </a:extLst>
                </p:cNvPr>
                <p:cNvSpPr/>
                <p:nvPr/>
              </p:nvSpPr>
              <p:spPr>
                <a:xfrm>
                  <a:off x="7346697" y="2931878"/>
                  <a:ext cx="213596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m:rPr>
                                <m:sty m:val="p"/>
                              </m:rPr>
                              <a:rPr lang="sr-Latn-RS" sz="2400" b="0" i="0" smtClean="0">
                                <a:latin typeface="Cambria Math" panose="02040503050406030204" pitchFamily="18" charset="0"/>
                              </a:rPr>
                              <m:t>S</m:t>
                            </m:r>
                          </m:e>
                        </m:d>
                        <m:r>
                          <a:rPr lang="en-US" sz="240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oMath>
                    </m:oMathPara>
                  </a14:m>
                  <a:endParaRPr lang="en-US" sz="2400" dirty="0"/>
                </a:p>
              </p:txBody>
            </p:sp>
          </mc:Choice>
          <mc:Fallback xmlns="">
            <p:sp>
              <p:nvSpPr>
                <p:cNvPr id="6" name="Rectangle 5">
                  <a:extLst>
                    <a:ext uri="{FF2B5EF4-FFF2-40B4-BE49-F238E27FC236}">
                      <a16:creationId xmlns:a16="http://schemas.microsoft.com/office/drawing/2014/main" id="{9E4CDC79-8F75-384F-96FF-1DFD6638638B}"/>
                    </a:ext>
                  </a:extLst>
                </p:cNvPr>
                <p:cNvSpPr>
                  <a:spLocks noRot="1" noChangeAspect="1" noMove="1" noResize="1" noEditPoints="1" noAdjustHandles="1" noChangeArrowheads="1" noChangeShapeType="1" noTextEdit="1"/>
                </p:cNvSpPr>
                <p:nvPr/>
              </p:nvSpPr>
              <p:spPr>
                <a:xfrm>
                  <a:off x="7346697" y="2931878"/>
                  <a:ext cx="2135969" cy="876202"/>
                </a:xfrm>
                <a:prstGeom prst="rect">
                  <a:avLst/>
                </a:prstGeom>
                <a:blipFill>
                  <a:blip r:embed="rId7"/>
                  <a:stretch>
                    <a:fillRect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7DFB4DFE-C2B9-4442-9AA9-C40ADA2B4F4A}"/>
                    </a:ext>
                  </a:extLst>
                </p:cNvPr>
                <p:cNvSpPr/>
                <p:nvPr/>
              </p:nvSpPr>
              <p:spPr>
                <a:xfrm>
                  <a:off x="6966666" y="4968889"/>
                  <a:ext cx="3524811" cy="1281376"/>
                </a:xfrm>
                <a:prstGeom prst="rect">
                  <a:avLst/>
                </a:prstGeom>
              </p:spPr>
              <p:txBody>
                <a:bodyPr wrap="none">
                  <a:spAutoFit/>
                </a:bodyPr>
                <a:lstStyle/>
                <a:p>
                  <a:r>
                    <a:rPr lang="en-US" sz="2400" dirty="0"/>
                    <a:t>T</a:t>
                  </a:r>
                  <a14:m>
                    <m:oMath xmlns:m="http://schemas.openxmlformats.org/officeDocument/2006/math">
                      <m:r>
                        <a:rPr lang="en-US" sz="2400" i="1" smtClean="0">
                          <a:latin typeface="Cambria Math" panose="02040503050406030204" pitchFamily="18" charset="0"/>
                        </a:rPr>
                        <m:t>𝑟</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sr-Latn-RS" sz="2400" b="0" i="1" smtClean="0">
                                      <a:latin typeface="Cambria Math" panose="02040503050406030204" pitchFamily="18" charset="0"/>
                                    </a:rPr>
                                    <m:t>𝑐</m:t>
                                  </m:r>
                                </m:sub>
                              </m:sSub>
                            </m:e>
                            <m:sup>
                              <m:r>
                                <a:rPr lang="en-US" sz="2400" i="0">
                                  <a:latin typeface="Cambria Math" panose="02040503050406030204" pitchFamily="18" charset="0"/>
                                </a:rPr>
                                <m:t>2</m:t>
                              </m:r>
                            </m:sup>
                          </m:sSup>
                        </m:e>
                      </m:d>
                      <m:r>
                        <a:rPr lang="en-US" sz="2400" i="0">
                          <a:latin typeface="Cambria Math" panose="02040503050406030204" pitchFamily="18" charset="0"/>
                        </a:rPr>
                        <m:t>=</m:t>
                      </m:r>
                      <m:r>
                        <a:rPr lang="sr-Latn-RS" sz="2400" b="0" i="1" smtClean="0">
                          <a:latin typeface="Cambria Math" panose="02040503050406030204" pitchFamily="18" charset="0"/>
                        </a:rPr>
                        <m:t>𝑇</m:t>
                      </m:r>
                      <m:r>
                        <a:rPr lang="en-US" sz="2400" i="1">
                          <a:latin typeface="Cambria Math" panose="02040503050406030204" pitchFamily="18" charset="0"/>
                        </a:rPr>
                        <m:t>𝑟</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b="0" i="1" smtClean="0">
                                        <a:latin typeface="Cambria Math" panose="02040503050406030204" pitchFamily="18" charset="0"/>
                                      </a:rPr>
                                      <m:t>2</m:t>
                                    </m:r>
                                  </m:den>
                                </m:f>
                              </m:e>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mr>
                            <m:mr>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e>
                              <m:e>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b="0" i="1" smtClean="0">
                                        <a:latin typeface="Cambria Math" panose="02040503050406030204" pitchFamily="18" charset="0"/>
                                      </a:rPr>
                                      <m:t>2</m:t>
                                    </m:r>
                                  </m:den>
                                </m:f>
                              </m:e>
                            </m:mr>
                          </m:m>
                        </m:e>
                      </m:d>
                      <m:r>
                        <a:rPr lang="sr-Latn-RS" sz="2400" b="0" i="0" smtClean="0">
                          <a:latin typeface="Cambria Math" panose="02040503050406030204" pitchFamily="18" charset="0"/>
                        </a:rPr>
                        <m:t>=</m:t>
                      </m:r>
                      <m:r>
                        <a:rPr lang="sr-Latn-RS" sz="2400" b="0" i="1" smtClean="0">
                          <a:latin typeface="Cambria Math" panose="02040503050406030204" pitchFamily="18" charset="0"/>
                        </a:rPr>
                        <m:t>1</m:t>
                      </m:r>
                    </m:oMath>
                  </a14:m>
                  <a:endParaRPr lang="en-US" sz="2400" dirty="0"/>
                </a:p>
              </p:txBody>
            </p:sp>
          </mc:Choice>
          <mc:Fallback xmlns="">
            <p:sp>
              <p:nvSpPr>
                <p:cNvPr id="9" name="Rectangle 8">
                  <a:extLst>
                    <a:ext uri="{FF2B5EF4-FFF2-40B4-BE49-F238E27FC236}">
                      <a16:creationId xmlns:a16="http://schemas.microsoft.com/office/drawing/2014/main" id="{7DFB4DFE-C2B9-4442-9AA9-C40ADA2B4F4A}"/>
                    </a:ext>
                  </a:extLst>
                </p:cNvPr>
                <p:cNvSpPr>
                  <a:spLocks noRot="1" noChangeAspect="1" noMove="1" noResize="1" noEditPoints="1" noAdjustHandles="1" noChangeArrowheads="1" noChangeShapeType="1" noTextEdit="1"/>
                </p:cNvSpPr>
                <p:nvPr/>
              </p:nvSpPr>
              <p:spPr>
                <a:xfrm>
                  <a:off x="6966666" y="4968889"/>
                  <a:ext cx="3524811" cy="1281376"/>
                </a:xfrm>
                <a:prstGeom prst="rect">
                  <a:avLst/>
                </a:prstGeom>
                <a:blipFill>
                  <a:blip r:embed="rId8"/>
                  <a:stretch>
                    <a:fillRect l="-2888"/>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3E5E55DE-1B3E-1A40-A2D1-5CE9DCF7BE4D}"/>
                </a:ext>
              </a:extLst>
            </p:cNvPr>
            <p:cNvCxnSpPr>
              <a:cxnSpLocks/>
            </p:cNvCxnSpPr>
            <p:nvPr/>
          </p:nvCxnSpPr>
          <p:spPr>
            <a:xfrm>
              <a:off x="5469467" y="2754607"/>
              <a:ext cx="0" cy="3738268"/>
            </a:xfrm>
            <a:prstGeom prst="line">
              <a:avLst/>
            </a:prstGeom>
            <a:ln w="50800" cmpd="tri"/>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C21CEBF-266F-ED47-A33D-B1ADAD7DBDB8}"/>
                </a:ext>
              </a:extLst>
            </p:cNvPr>
            <p:cNvSpPr txBox="1"/>
            <p:nvPr/>
          </p:nvSpPr>
          <p:spPr>
            <a:xfrm>
              <a:off x="7699452" y="2317458"/>
              <a:ext cx="1444754" cy="461665"/>
            </a:xfrm>
            <a:prstGeom prst="rect">
              <a:avLst/>
            </a:prstGeom>
            <a:noFill/>
          </p:spPr>
          <p:txBody>
            <a:bodyPr wrap="none" rtlCol="0">
              <a:spAutoFit/>
            </a:bodyPr>
            <a:lstStyle/>
            <a:p>
              <a:r>
                <a:rPr lang="en-US" sz="2400" dirty="0"/>
                <a:t>Pure state</a:t>
              </a:r>
            </a:p>
          </p:txBody>
        </p:sp>
      </p:gr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DFFE5E5B-EE1A-3A4C-9CDA-8270FAFA3B65}"/>
                  </a:ext>
                </a:extLst>
              </p:cNvPr>
              <p:cNvSpPr/>
              <p:nvPr/>
            </p:nvSpPr>
            <p:spPr>
              <a:xfrm>
                <a:off x="3886624" y="996558"/>
                <a:ext cx="3641894" cy="916148"/>
              </a:xfrm>
              <a:prstGeom prst="rect">
                <a:avLst/>
              </a:prstGeom>
              <a:solidFill>
                <a:schemeClr val="accent4">
                  <a:lumMod val="20000"/>
                  <a:lumOff val="80000"/>
                </a:schemeClr>
              </a:solidFill>
            </p:spPr>
            <p:txBody>
              <a:bodyPr wrap="none">
                <a:spAutoFit/>
              </a:bodyPr>
              <a:lstStyle/>
              <a:p>
                <a:r>
                  <a:rPr lang="sr-Latn-RS" sz="2400" dirty="0"/>
                  <a:t>T</a:t>
                </a:r>
                <a14:m>
                  <m:oMath xmlns:m="http://schemas.openxmlformats.org/officeDocument/2006/math">
                    <m:r>
                      <a:rPr lang="sr-Latn-RS" sz="2400" i="1">
                        <a:latin typeface="Cambria Math" panose="02040503050406030204" pitchFamily="18" charset="0"/>
                      </a:rPr>
                      <m:t>𝑟</m:t>
                    </m:r>
                    <m:d>
                      <m:dPr>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r>
                              <a:rPr lang="sr-Latn-RS" sz="2400" i="1">
                                <a:latin typeface="Cambria Math" panose="02040503050406030204" pitchFamily="18" charset="0"/>
                              </a:rPr>
                              <m:t>𝜌</m:t>
                            </m:r>
                          </m:e>
                          <m:sup>
                            <m:r>
                              <a:rPr lang="sr-Latn-RS" sz="2400" i="1">
                                <a:latin typeface="Cambria Math" panose="02040503050406030204" pitchFamily="18" charset="0"/>
                              </a:rPr>
                              <m:t>2</m:t>
                            </m:r>
                          </m:sup>
                        </m:sSup>
                      </m:e>
                    </m:d>
                    <m:r>
                      <a:rPr lang="sr-Latn-RS" sz="2400" i="1">
                        <a:latin typeface="Cambria Math" panose="02040503050406030204" pitchFamily="18" charset="0"/>
                      </a:rPr>
                      <m:t> </m:t>
                    </m:r>
                    <m:d>
                      <m:dPr>
                        <m:begChr m:val="{"/>
                        <m:endChr m:val=""/>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e>
                            <m:e>
                              <m:r>
                                <m:rPr>
                                  <m:sty m:val="p"/>
                                </m:rPr>
                                <a:rPr lang="en-US" sz="2400" b="0" i="0" smtClean="0">
                                  <a:latin typeface="Cambria Math" panose="02040503050406030204" pitchFamily="18" charset="0"/>
                                </a:rPr>
                                <m:t>pure</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state</m:t>
                              </m:r>
                            </m:e>
                          </m:mr>
                          <m:mr>
                            <m:e>
                              <m:r>
                                <a:rPr lang="sr-Latn-RS" sz="2400" i="1">
                                  <a:latin typeface="Cambria Math" panose="02040503050406030204" pitchFamily="18" charset="0"/>
                                </a:rPr>
                                <m:t>&lt;1</m:t>
                              </m:r>
                            </m:e>
                            <m:e>
                              <m:r>
                                <m:rPr>
                                  <m:sty m:val="p"/>
                                </m:rPr>
                                <a:rPr lang="en-US" sz="2400" b="0" i="0" smtClean="0">
                                  <a:latin typeface="Cambria Math" panose="02040503050406030204" pitchFamily="18" charset="0"/>
                                </a:rPr>
                                <m:t>mixed</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state</m:t>
                              </m:r>
                            </m:e>
                          </m:mr>
                        </m:m>
                      </m:e>
                    </m:d>
                  </m:oMath>
                </a14:m>
                <a:endParaRPr lang="en-ZA" sz="2400" dirty="0"/>
              </a:p>
            </p:txBody>
          </p:sp>
        </mc:Choice>
        <mc:Fallback xmlns="">
          <p:sp>
            <p:nvSpPr>
              <p:cNvPr id="22" name="Rectangle 21">
                <a:extLst>
                  <a:ext uri="{FF2B5EF4-FFF2-40B4-BE49-F238E27FC236}">
                    <a16:creationId xmlns:a16="http://schemas.microsoft.com/office/drawing/2014/main" id="{DFFE5E5B-EE1A-3A4C-9CDA-8270FAFA3B65}"/>
                  </a:ext>
                </a:extLst>
              </p:cNvPr>
              <p:cNvSpPr>
                <a:spLocks noRot="1" noChangeAspect="1" noMove="1" noResize="1" noEditPoints="1" noAdjustHandles="1" noChangeArrowheads="1" noChangeShapeType="1" noTextEdit="1"/>
              </p:cNvSpPr>
              <p:nvPr/>
            </p:nvSpPr>
            <p:spPr>
              <a:xfrm>
                <a:off x="3886624" y="996558"/>
                <a:ext cx="3641894" cy="916148"/>
              </a:xfrm>
              <a:prstGeom prst="rect">
                <a:avLst/>
              </a:prstGeom>
              <a:blipFill>
                <a:blip r:embed="rId9"/>
                <a:stretch>
                  <a:fillRect l="-12847" t="-193243" b="-283784"/>
                </a:stretch>
              </a:blipFill>
            </p:spPr>
            <p:txBody>
              <a:bodyPr/>
              <a:lstStyle/>
              <a:p>
                <a:r>
                  <a:rPr lang="en-US">
                    <a:noFill/>
                  </a:rPr>
                  <a:t> </a:t>
                </a:r>
              </a:p>
            </p:txBody>
          </p:sp>
        </mc:Fallback>
      </mc:AlternateContent>
    </p:spTree>
    <p:extLst>
      <p:ext uri="{BB962C8B-B14F-4D97-AF65-F5344CB8AC3E}">
        <p14:creationId xmlns:p14="http://schemas.microsoft.com/office/powerpoint/2010/main" val="42808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DB225B-1997-E344-B43D-6DD26CB696F9}"/>
              </a:ext>
            </a:extLst>
          </p:cNvPr>
          <p:cNvSpPr>
            <a:spLocks noGrp="1"/>
          </p:cNvSpPr>
          <p:nvPr>
            <p:ph type="sldNum" sz="quarter" idx="12"/>
          </p:nvPr>
        </p:nvSpPr>
        <p:spPr/>
        <p:txBody>
          <a:bodyPr/>
          <a:lstStyle/>
          <a:p>
            <a:fld id="{591A223C-FA10-BC46-A853-03BA373D023C}" type="slidenum">
              <a:rPr lang="en-US" smtClean="0"/>
              <a:t>61</a:t>
            </a:fld>
            <a:endParaRPr lang="en-US"/>
          </a:p>
        </p:txBody>
      </p:sp>
      <p:sp>
        <p:nvSpPr>
          <p:cNvPr id="3" name="Title 2">
            <a:extLst>
              <a:ext uri="{FF2B5EF4-FFF2-40B4-BE49-F238E27FC236}">
                <a16:creationId xmlns:a16="http://schemas.microsoft.com/office/drawing/2014/main" id="{862CE3C7-6CD5-4040-8DCB-7D4DC0314E4F}"/>
              </a:ext>
            </a:extLst>
          </p:cNvPr>
          <p:cNvSpPr>
            <a:spLocks noGrp="1"/>
          </p:cNvSpPr>
          <p:nvPr>
            <p:ph type="title"/>
          </p:nvPr>
        </p:nvSpPr>
        <p:spPr>
          <a:xfrm>
            <a:off x="0" y="0"/>
            <a:ext cx="12192000" cy="928688"/>
          </a:xfrm>
        </p:spPr>
        <p:txBody>
          <a:bodyPr/>
          <a:lstStyle/>
          <a:p>
            <a:r>
              <a:rPr lang="en-ZA" dirty="0"/>
              <a:t>Density Matrix of a Multi-Qubit System</a:t>
            </a:r>
            <a:endParaRPr lang="en-US" dirty="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ADD06670-667D-1B40-A223-78924A8A8F53}"/>
                  </a:ext>
                </a:extLst>
              </p:cNvPr>
              <p:cNvSpPr/>
              <p:nvPr/>
            </p:nvSpPr>
            <p:spPr>
              <a:xfrm>
                <a:off x="321733" y="2746840"/>
                <a:ext cx="3596882" cy="1459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sr-Latn-RS" sz="2400" i="1" smtClean="0">
                              <a:latin typeface="Cambria Math" panose="02040503050406030204" pitchFamily="18" charset="0"/>
                            </a:rPr>
                          </m:ctrlPr>
                        </m:dPr>
                        <m:e>
                          <m:m>
                            <m:mPr>
                              <m:mcs>
                                <m:mc>
                                  <m:mcPr>
                                    <m:count m:val="1"/>
                                    <m:mcJc m:val="center"/>
                                  </m:mcPr>
                                </m:mc>
                              </m:mcs>
                              <m:ctrlPr>
                                <a:rPr lang="sr-Latn-RS" sz="2400" i="1" smtClean="0">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a:latin typeface="Cambria Math" panose="02040503050406030204" pitchFamily="18" charset="0"/>
                                      </a:rPr>
                                      <m:t>0</m:t>
                                    </m:r>
                                  </m:sub>
                                </m:sSub>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0</m:t>
                                    </m:r>
                                  </m:e>
                                </m:d>
                                <m:r>
                                  <a:rPr lang="en-US" sz="2400">
                                    <a:latin typeface="Cambria Math" panose="02040503050406030204" pitchFamily="18" charset="0"/>
                                  </a:rPr>
                                  <m:t>⟨0|=</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0</m:t>
                                          </m:r>
                                        </m:e>
                                      </m:mr>
                                    </m:m>
                                  </m:e>
                                </m:d>
                              </m:e>
                            </m:mr>
                            <m:mr>
                              <m:e>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a:latin typeface="Cambria Math" panose="02040503050406030204" pitchFamily="18" charset="0"/>
                                      </a:rPr>
                                      <m:t>1</m:t>
                                    </m:r>
                                  </m:sub>
                                </m:sSub>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e>
                                </m:d>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2</m:t>
                                    </m:r>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1</m:t>
                                          </m:r>
                                        </m:e>
                                      </m:mr>
                                      <m:mr>
                                        <m:e>
                                          <m:r>
                                            <a:rPr lang="en-US" sz="2400">
                                              <a:latin typeface="Cambria Math" panose="02040503050406030204" pitchFamily="18" charset="0"/>
                                            </a:rPr>
                                            <m:t>1</m:t>
                                          </m:r>
                                        </m:e>
                                        <m:e>
                                          <m:r>
                                            <a:rPr lang="en-US" sz="2400">
                                              <a:latin typeface="Cambria Math" panose="02040503050406030204" pitchFamily="18" charset="0"/>
                                            </a:rPr>
                                            <m:t>1</m:t>
                                          </m:r>
                                        </m:e>
                                      </m:mr>
                                    </m:m>
                                  </m:e>
                                </m:d>
                              </m:e>
                            </m:mr>
                          </m:m>
                        </m:e>
                      </m:d>
                    </m:oMath>
                  </m:oMathPara>
                </a14:m>
                <a:endParaRPr lang="en-US" sz="2400" dirty="0"/>
              </a:p>
            </p:txBody>
          </p:sp>
        </mc:Choice>
        <mc:Fallback xmlns="">
          <p:sp>
            <p:nvSpPr>
              <p:cNvPr id="7" name="Rectangle 6">
                <a:extLst>
                  <a:ext uri="{FF2B5EF4-FFF2-40B4-BE49-F238E27FC236}">
                    <a16:creationId xmlns:a16="http://schemas.microsoft.com/office/drawing/2014/main" id="{ADD06670-667D-1B40-A223-78924A8A8F53}"/>
                  </a:ext>
                </a:extLst>
              </p:cNvPr>
              <p:cNvSpPr>
                <a:spLocks noRot="1" noChangeAspect="1" noMove="1" noResize="1" noEditPoints="1" noAdjustHandles="1" noChangeArrowheads="1" noChangeShapeType="1" noTextEdit="1"/>
              </p:cNvSpPr>
              <p:nvPr/>
            </p:nvSpPr>
            <p:spPr>
              <a:xfrm>
                <a:off x="321733" y="2746840"/>
                <a:ext cx="3596882" cy="1459887"/>
              </a:xfrm>
              <a:prstGeom prst="rect">
                <a:avLst/>
              </a:prstGeom>
              <a:blipFill>
                <a:blip r:embed="rId3"/>
                <a:stretch>
                  <a:fillRect t="-216522" r="-62807" b="-31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884F13C-DEE6-2443-9FE1-92756D59B770}"/>
                  </a:ext>
                </a:extLst>
              </p:cNvPr>
              <p:cNvSpPr/>
              <p:nvPr/>
            </p:nvSpPr>
            <p:spPr>
              <a:xfrm>
                <a:off x="4361903" y="2746840"/>
                <a:ext cx="7661649"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01</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0</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1</m:t>
                          </m:r>
                        </m:sub>
                      </m:sSub>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1</m:t>
                                    </m:r>
                                  </m:sub>
                                </m:sSub>
                              </m:e>
                              <m:e>
                                <m:r>
                                  <a:rPr lang="en-US" sz="2400" i="0">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1</m:t>
                                    </m:r>
                                  </m:sub>
                                </m:sSub>
                              </m:e>
                            </m:mr>
                            <m:mr>
                              <m:e>
                                <m:r>
                                  <a:rPr lang="en-US" sz="2400" i="0">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1</m:t>
                                    </m:r>
                                  </m:sub>
                                </m:sSub>
                              </m:e>
                              <m:e>
                                <m:r>
                                  <a:rPr lang="en-US" sz="2400" i="0">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0">
                                        <a:latin typeface="Cambria Math" panose="02040503050406030204" pitchFamily="18" charset="0"/>
                                      </a:rPr>
                                      <m:t>1</m:t>
                                    </m:r>
                                  </m:sub>
                                </m:sSub>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4"/>
                                    <m:mcJc m:val="center"/>
                                  </m:mcPr>
                                </m:mc>
                              </m:mcs>
                              <m:ctrlPr>
                                <a:rPr lang="en-US" sz="2400" i="1">
                                  <a:latin typeface="Cambria Math" panose="02040503050406030204" pitchFamily="18" charset="0"/>
                                </a:rPr>
                              </m:ctrlPr>
                            </m:mPr>
                            <m:mr>
                              <m:e>
                                <m:f>
                                  <m:fPr>
                                    <m:type m:val="lin"/>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f>
                                  <m:fPr>
                                    <m:type m:val="lin"/>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r>
                                  <a:rPr lang="en-US" sz="2400" i="0">
                                    <a:latin typeface="Cambria Math" panose="02040503050406030204" pitchFamily="18" charset="0"/>
                                  </a:rPr>
                                  <m:t>0</m:t>
                                </m:r>
                              </m:e>
                              <m:e>
                                <m:r>
                                  <a:rPr lang="en-US" sz="2400" i="0">
                                    <a:latin typeface="Cambria Math" panose="02040503050406030204" pitchFamily="18" charset="0"/>
                                  </a:rPr>
                                  <m:t>0</m:t>
                                </m:r>
                              </m:e>
                            </m:mr>
                            <m:mr>
                              <m:e>
                                <m:f>
                                  <m:fPr>
                                    <m:type m:val="lin"/>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f>
                                  <m:fPr>
                                    <m:type m:val="lin"/>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den>
                                </m:f>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
                        </m:e>
                      </m:d>
                    </m:oMath>
                  </m:oMathPara>
                </a14:m>
                <a:endParaRPr lang="en-US" sz="2400" dirty="0"/>
              </a:p>
            </p:txBody>
          </p:sp>
        </mc:Choice>
        <mc:Fallback xmlns="">
          <p:sp>
            <p:nvSpPr>
              <p:cNvPr id="8" name="Rectangle 7">
                <a:extLst>
                  <a:ext uri="{FF2B5EF4-FFF2-40B4-BE49-F238E27FC236}">
                    <a16:creationId xmlns:a16="http://schemas.microsoft.com/office/drawing/2014/main" id="{D884F13C-DEE6-2443-9FE1-92756D59B770}"/>
                  </a:ext>
                </a:extLst>
              </p:cNvPr>
              <p:cNvSpPr>
                <a:spLocks noRot="1" noChangeAspect="1" noMove="1" noResize="1" noEditPoints="1" noAdjustHandles="1" noChangeArrowheads="1" noChangeShapeType="1" noTextEdit="1"/>
              </p:cNvSpPr>
              <p:nvPr/>
            </p:nvSpPr>
            <p:spPr>
              <a:xfrm>
                <a:off x="4361903" y="2746840"/>
                <a:ext cx="7661649" cy="1471941"/>
              </a:xfrm>
              <a:prstGeom prst="rect">
                <a:avLst/>
              </a:prstGeom>
              <a:blipFill>
                <a:blip r:embed="rId4"/>
                <a:stretch>
                  <a:fillRect t="-42241" b="-16379"/>
                </a:stretch>
              </a:blipFill>
            </p:spPr>
            <p:txBody>
              <a:bodyPr/>
              <a:lstStyle/>
              <a:p>
                <a:r>
                  <a:rPr lang="en-US">
                    <a:noFill/>
                  </a:rPr>
                  <a:t> </a:t>
                </a:r>
              </a:p>
            </p:txBody>
          </p:sp>
        </mc:Fallback>
      </mc:AlternateContent>
    </p:spTree>
    <p:extLst>
      <p:ext uri="{BB962C8B-B14F-4D97-AF65-F5344CB8AC3E}">
        <p14:creationId xmlns:p14="http://schemas.microsoft.com/office/powerpoint/2010/main" val="22597464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3FA478-EDD8-6544-8C16-E34CB47505EB}"/>
              </a:ext>
            </a:extLst>
          </p:cNvPr>
          <p:cNvSpPr>
            <a:spLocks noGrp="1"/>
          </p:cNvSpPr>
          <p:nvPr>
            <p:ph type="sldNum" sz="quarter" idx="12"/>
          </p:nvPr>
        </p:nvSpPr>
        <p:spPr/>
        <p:txBody>
          <a:bodyPr/>
          <a:lstStyle/>
          <a:p>
            <a:fld id="{591A223C-FA10-BC46-A853-03BA373D023C}" type="slidenum">
              <a:rPr lang="en-US" smtClean="0"/>
              <a:t>62</a:t>
            </a:fld>
            <a:endParaRPr lang="en-US"/>
          </a:p>
        </p:txBody>
      </p:sp>
      <p:sp>
        <p:nvSpPr>
          <p:cNvPr id="3" name="Title 2">
            <a:extLst>
              <a:ext uri="{FF2B5EF4-FFF2-40B4-BE49-F238E27FC236}">
                <a16:creationId xmlns:a16="http://schemas.microsoft.com/office/drawing/2014/main" id="{C2A77FB5-EE10-6047-B560-E29D6B243534}"/>
              </a:ext>
            </a:extLst>
          </p:cNvPr>
          <p:cNvSpPr>
            <a:spLocks noGrp="1"/>
          </p:cNvSpPr>
          <p:nvPr>
            <p:ph type="title"/>
          </p:nvPr>
        </p:nvSpPr>
        <p:spPr>
          <a:xfrm>
            <a:off x="0" y="0"/>
            <a:ext cx="12192000" cy="928688"/>
          </a:xfrm>
        </p:spPr>
        <p:txBody>
          <a:bodyPr/>
          <a:lstStyle/>
          <a:p>
            <a:r>
              <a:rPr lang="en-ZA" dirty="0"/>
              <a:t>Pure and Mixed States on the Bloch Sphere</a:t>
            </a:r>
            <a:endParaRPr lang="en-US" dirty="0"/>
          </a:p>
        </p:txBody>
      </p:sp>
      <p:sp>
        <p:nvSpPr>
          <p:cNvPr id="4" name="Oval 3">
            <a:extLst>
              <a:ext uri="{FF2B5EF4-FFF2-40B4-BE49-F238E27FC236}">
                <a16:creationId xmlns:a16="http://schemas.microsoft.com/office/drawing/2014/main" id="{D215206E-602F-F141-B059-2975E69F6EFA}"/>
              </a:ext>
            </a:extLst>
          </p:cNvPr>
          <p:cNvSpPr/>
          <p:nvPr/>
        </p:nvSpPr>
        <p:spPr>
          <a:xfrm>
            <a:off x="3768021" y="3139880"/>
            <a:ext cx="3853023" cy="1464341"/>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F1B04B6-0165-3E4C-8A59-A482FE4EA5EE}"/>
              </a:ext>
            </a:extLst>
          </p:cNvPr>
          <p:cNvSpPr>
            <a:spLocks noChangeAspect="1"/>
          </p:cNvSpPr>
          <p:nvPr/>
        </p:nvSpPr>
        <p:spPr>
          <a:xfrm>
            <a:off x="3748309" y="1804968"/>
            <a:ext cx="3857067" cy="3857067"/>
          </a:xfrm>
          <a:prstGeom prst="ellipse">
            <a:avLst/>
          </a:prstGeom>
          <a:gradFill flip="none" rotWithShape="1">
            <a:gsLst>
              <a:gs pos="100000">
                <a:schemeClr val="accent2">
                  <a:lumMod val="0"/>
                  <a:lumOff val="100000"/>
                </a:schemeClr>
              </a:gs>
              <a:gs pos="96000">
                <a:schemeClr val="accent2">
                  <a:lumMod val="0"/>
                  <a:lumOff val="100000"/>
                </a:schemeClr>
              </a:gs>
              <a:gs pos="4000">
                <a:schemeClr val="accent2">
                  <a:lumMod val="100000"/>
                </a:schemeClr>
              </a:gs>
            </a:gsLst>
            <a:path path="shape">
              <a:fillToRect l="50000" t="50000" r="50000" b="50000"/>
            </a:path>
            <a:tileRect/>
          </a:gra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F6EE4A6-444F-5546-879A-BABEBC0C61CB}"/>
              </a:ext>
            </a:extLst>
          </p:cNvPr>
          <p:cNvCxnSpPr>
            <a:cxnSpLocks/>
          </p:cNvCxnSpPr>
          <p:nvPr/>
        </p:nvCxnSpPr>
        <p:spPr>
          <a:xfrm>
            <a:off x="5676842" y="3683833"/>
            <a:ext cx="2159409" cy="69792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341DE84-BA7F-9F40-A0CF-9C1D8C018443}"/>
              </a:ext>
            </a:extLst>
          </p:cNvPr>
          <p:cNvSpPr/>
          <p:nvPr/>
        </p:nvSpPr>
        <p:spPr>
          <a:xfrm>
            <a:off x="5531543" y="206767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FC57571-BD3E-1243-A721-DB88EDA35797}"/>
              </a:ext>
            </a:extLst>
          </p:cNvPr>
          <p:cNvSpPr/>
          <p:nvPr/>
        </p:nvSpPr>
        <p:spPr>
          <a:xfrm>
            <a:off x="5531910" y="5121213"/>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4A3A3-451C-0441-B5EF-6D198A73BF7C}"/>
                  </a:ext>
                </a:extLst>
              </p:cNvPr>
              <p:cNvSpPr txBox="1"/>
              <p:nvPr/>
            </p:nvSpPr>
            <p:spPr>
              <a:xfrm>
                <a:off x="3569017" y="5153166"/>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5194A3A3-451C-0441-B5EF-6D198A73BF7C}"/>
                  </a:ext>
                </a:extLst>
              </p:cNvPr>
              <p:cNvSpPr txBox="1">
                <a:spLocks noRot="1" noChangeAspect="1" noMove="1" noResize="1" noEditPoints="1" noAdjustHandles="1" noChangeArrowheads="1" noChangeShapeType="1" noTextEdit="1"/>
              </p:cNvSpPr>
              <p:nvPr/>
            </p:nvSpPr>
            <p:spPr>
              <a:xfrm>
                <a:off x="3569017" y="5153166"/>
                <a:ext cx="42639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0823288-BB7B-664C-9EA3-D0BE3D854386}"/>
                  </a:ext>
                </a:extLst>
              </p:cNvPr>
              <p:cNvSpPr txBox="1"/>
              <p:nvPr/>
            </p:nvSpPr>
            <p:spPr>
              <a:xfrm>
                <a:off x="5286240" y="1217953"/>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1" name="TextBox 10">
                <a:extLst>
                  <a:ext uri="{FF2B5EF4-FFF2-40B4-BE49-F238E27FC236}">
                    <a16:creationId xmlns:a16="http://schemas.microsoft.com/office/drawing/2014/main" id="{E0823288-BB7B-664C-9EA3-D0BE3D854386}"/>
                  </a:ext>
                </a:extLst>
              </p:cNvPr>
              <p:cNvSpPr txBox="1">
                <a:spLocks noRot="1" noChangeAspect="1" noMove="1" noResize="1" noEditPoints="1" noAdjustHandles="1" noChangeArrowheads="1" noChangeShapeType="1" noTextEdit="1"/>
              </p:cNvSpPr>
              <p:nvPr/>
            </p:nvSpPr>
            <p:spPr>
              <a:xfrm>
                <a:off x="5286240" y="1217953"/>
                <a:ext cx="367985" cy="461665"/>
              </a:xfrm>
              <a:prstGeom prst="rect">
                <a:avLst/>
              </a:prstGeom>
              <a:blipFill>
                <a:blip r:embed="rId4"/>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CC0B3573-9607-6F4D-98A6-BEE2F483BDCB}"/>
              </a:ext>
            </a:extLst>
          </p:cNvPr>
          <p:cNvCxnSpPr>
            <a:cxnSpLocks/>
          </p:cNvCxnSpPr>
          <p:nvPr/>
        </p:nvCxnSpPr>
        <p:spPr>
          <a:xfrm flipH="1" flipV="1">
            <a:off x="4451105" y="3273963"/>
            <a:ext cx="1252531" cy="409871"/>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F8FEBA8-EB28-C543-8557-4A446BD0BAA6}"/>
              </a:ext>
            </a:extLst>
          </p:cNvPr>
          <p:cNvCxnSpPr>
            <a:cxnSpLocks/>
            <a:stCxn id="9" idx="0"/>
          </p:cNvCxnSpPr>
          <p:nvPr/>
        </p:nvCxnSpPr>
        <p:spPr>
          <a:xfrm flipH="1" flipV="1">
            <a:off x="5677979" y="3710073"/>
            <a:ext cx="14082" cy="1411140"/>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C27B0A9-5511-8641-9F3E-00287FFB47A5}"/>
              </a:ext>
            </a:extLst>
          </p:cNvPr>
          <p:cNvCxnSpPr>
            <a:cxnSpLocks/>
          </p:cNvCxnSpPr>
          <p:nvPr/>
        </p:nvCxnSpPr>
        <p:spPr>
          <a:xfrm flipH="1">
            <a:off x="3957766" y="3684174"/>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BEE6542-AD20-F147-9758-B54DE829AD71}"/>
              </a:ext>
            </a:extLst>
          </p:cNvPr>
          <p:cNvCxnSpPr>
            <a:cxnSpLocks/>
          </p:cNvCxnSpPr>
          <p:nvPr/>
        </p:nvCxnSpPr>
        <p:spPr>
          <a:xfrm flipV="1">
            <a:off x="5682871" y="1479623"/>
            <a:ext cx="0" cy="221397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14557B8-B402-D943-A928-F55939571589}"/>
                  </a:ext>
                </a:extLst>
              </p:cNvPr>
              <p:cNvSpPr txBox="1"/>
              <p:nvPr/>
            </p:nvSpPr>
            <p:spPr>
              <a:xfrm>
                <a:off x="7836251" y="4262157"/>
                <a:ext cx="36798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18" name="TextBox 17">
                <a:extLst>
                  <a:ext uri="{FF2B5EF4-FFF2-40B4-BE49-F238E27FC236}">
                    <a16:creationId xmlns:a16="http://schemas.microsoft.com/office/drawing/2014/main" id="{E14557B8-B402-D943-A928-F55939571589}"/>
                  </a:ext>
                </a:extLst>
              </p:cNvPr>
              <p:cNvSpPr txBox="1">
                <a:spLocks noRot="1" noChangeAspect="1" noMove="1" noResize="1" noEditPoints="1" noAdjustHandles="1" noChangeArrowheads="1" noChangeShapeType="1" noTextEdit="1"/>
              </p:cNvSpPr>
              <p:nvPr/>
            </p:nvSpPr>
            <p:spPr>
              <a:xfrm>
                <a:off x="7836251" y="4262157"/>
                <a:ext cx="367985" cy="461665"/>
              </a:xfrm>
              <a:prstGeom prst="rect">
                <a:avLst/>
              </a:prstGeom>
              <a:blipFill>
                <a:blip r:embed="rId5"/>
                <a:stretch>
                  <a:fillRect b="-8333"/>
                </a:stretch>
              </a:blipFill>
            </p:spPr>
            <p:txBody>
              <a:bodyPr/>
              <a:lstStyle/>
              <a:p>
                <a:r>
                  <a:rPr lang="en-US">
                    <a:noFill/>
                  </a:rPr>
                  <a:t> </a:t>
                </a:r>
              </a:p>
            </p:txBody>
          </p:sp>
        </mc:Fallback>
      </mc:AlternateContent>
    </p:spTree>
    <p:extLst>
      <p:ext uri="{BB962C8B-B14F-4D97-AF65-F5344CB8AC3E}">
        <p14:creationId xmlns:p14="http://schemas.microsoft.com/office/powerpoint/2010/main" val="34296155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22619"/>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63</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10" name="Picture 9">
            <a:extLst>
              <a:ext uri="{FF2B5EF4-FFF2-40B4-BE49-F238E27FC236}">
                <a16:creationId xmlns:a16="http://schemas.microsoft.com/office/drawing/2014/main" id="{0C8917C3-325D-F84F-87E3-701C88163FBE}"/>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11" name="Picture 10">
            <a:extLst>
              <a:ext uri="{FF2B5EF4-FFF2-40B4-BE49-F238E27FC236}">
                <a16:creationId xmlns:a16="http://schemas.microsoft.com/office/drawing/2014/main" id="{4380F4B2-F5F9-D14B-A42A-1BCB2C702405}"/>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3320322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158574</TotalTime>
  <Words>13698</Words>
  <Application>Microsoft Macintosh PowerPoint</Application>
  <PresentationFormat>Widescreen</PresentationFormat>
  <Paragraphs>1378</Paragraphs>
  <Slides>63</Slides>
  <Notes>63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63</vt:i4>
      </vt:variant>
    </vt:vector>
  </HeadingPairs>
  <TitlesOfParts>
    <vt:vector size="77" baseType="lpstr">
      <vt:lpstr>Andale Mono</vt:lpstr>
      <vt:lpstr>Arial</vt:lpstr>
      <vt:lpstr>Arial Narrow</vt:lpstr>
      <vt:lpstr>Calibri</vt:lpstr>
      <vt:lpstr>Calibri Light</vt:lpstr>
      <vt:lpstr>Cambria</vt:lpstr>
      <vt:lpstr>Cambria Math</vt:lpstr>
      <vt:lpstr>Comic Sans MS</vt:lpstr>
      <vt:lpstr>Courier New</vt:lpstr>
      <vt:lpstr>Menlo</vt:lpstr>
      <vt:lpstr>Menlo Regular</vt:lpstr>
      <vt:lpstr>Times</vt:lpstr>
      <vt:lpstr>Times New Roman</vt:lpstr>
      <vt:lpstr>Office Theme</vt:lpstr>
      <vt:lpstr>PowerPoint Presentation</vt:lpstr>
      <vt:lpstr>Model of Quantum Computation</vt:lpstr>
      <vt:lpstr>Classical vs Quantum Bit</vt:lpstr>
      <vt:lpstr>Complex Numbers</vt:lpstr>
      <vt:lpstr>Vectors in braket (Dirac) Notation</vt:lpstr>
      <vt:lpstr>State Vector Representation of a Qubit</vt:lpstr>
      <vt:lpstr>Superposition as a Linear Combination</vt:lpstr>
      <vt:lpstr>Kronecker delta</vt:lpstr>
      <vt:lpstr>Inner product</vt:lpstr>
      <vt:lpstr>Hilbert Space</vt:lpstr>
      <vt:lpstr>Quantum State Postulate</vt:lpstr>
      <vt:lpstr>PowerPoint Presentation</vt:lpstr>
      <vt:lpstr>Bloch Sphere</vt:lpstr>
      <vt:lpstr>Euler’s Formula</vt:lpstr>
      <vt:lpstr>2D Vector Model vs. Bloch Sphere Model</vt:lpstr>
      <vt:lpstr>From a 2D Model to the Bloch Sphere</vt:lpstr>
      <vt:lpstr>Qubit State Equations</vt:lpstr>
      <vt:lpstr>Changing the Basis</vt:lpstr>
      <vt:lpstr>Standard Basis: {|0⟩,|1⟩}</vt:lpstr>
      <vt:lpstr>Diagonal Basis: {├|+⟩,├|-⟩} </vt:lpstr>
      <vt:lpstr>Circular basis: {├|+i⟩,├|-i⟩} </vt:lpstr>
      <vt:lpstr>Breitbart Bases : {├|b_0 ⟩,├|b_1 ⟩},{├|〖b′〗_0 ⟩,├|〖b′〗_1 ⟩}</vt:lpstr>
      <vt:lpstr>Invariance under a Change of Basis</vt:lpstr>
      <vt:lpstr>Qubit state visualization using a bar chart</vt:lpstr>
      <vt:lpstr>Matrrces</vt:lpstr>
      <vt:lpstr>Outer product</vt:lpstr>
      <vt:lpstr>Density Matrix Representation</vt:lpstr>
      <vt:lpstr>PowerPoint Presentation</vt:lpstr>
      <vt:lpstr>Key matrix types in quantum computing</vt:lpstr>
      <vt:lpstr>Pauli matrices</vt:lpstr>
      <vt:lpstr>Eigenvalues and eigenvectors</vt:lpstr>
      <vt:lpstr>The spectral decomposition theorem</vt:lpstr>
      <vt:lpstr>Born Rule</vt:lpstr>
      <vt:lpstr>Born’s Rule – The Famous Footnote</vt:lpstr>
      <vt:lpstr>Histogram of Measurement Results</vt:lpstr>
      <vt:lpstr>Effect of Relative and Global Phase on Measurement Outcomes</vt:lpstr>
      <vt:lpstr>Born Rule Revisited</vt:lpstr>
      <vt:lpstr>Projective Measurement and Observables</vt:lpstr>
      <vt:lpstr>Measurement of the Pauli-Z Observable</vt:lpstr>
      <vt:lpstr>Measurement Postulate / Born Rule (1926)</vt:lpstr>
      <vt:lpstr>Von Neumann Postulate (1932)</vt:lpstr>
      <vt:lpstr>Lüders' rule (1951)</vt:lpstr>
      <vt:lpstr>Applying the Measurement Postulates</vt:lpstr>
      <vt:lpstr>Expectation Value of a Measurement</vt:lpstr>
      <vt:lpstr>Expectation Value</vt:lpstr>
      <vt:lpstr>Quantum Algorithms and Measurement Outcomes</vt:lpstr>
      <vt:lpstr>Physical Implementation of Qubit Measurement</vt:lpstr>
      <vt:lpstr>PowerPoint Presentation</vt:lpstr>
      <vt:lpstr>Kronecker (tensor) product</vt:lpstr>
      <vt:lpstr>2-Qubit Register</vt:lpstr>
      <vt:lpstr>n-Qubit Register</vt:lpstr>
      <vt:lpstr>Postulate of Composite Quantum Systems</vt:lpstr>
      <vt:lpstr>Q Sphere</vt:lpstr>
      <vt:lpstr>Registers</vt:lpstr>
      <vt:lpstr>Register Measurement</vt:lpstr>
      <vt:lpstr>Partial Measurement</vt:lpstr>
      <vt:lpstr>Big Endian / Little Endian</vt:lpstr>
      <vt:lpstr>Mixed state</vt:lpstr>
      <vt:lpstr>Mixed state</vt:lpstr>
      <vt:lpstr>Purity of Quantum States</vt:lpstr>
      <vt:lpstr>Density Matrix of a Multi-Qubit System</vt:lpstr>
      <vt:lpstr>Pure and Mixed States on the Bloch Sphere</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2829</cp:revision>
  <cp:lastPrinted>2026-08-06T17:38:15Z</cp:lastPrinted>
  <dcterms:created xsi:type="dcterms:W3CDTF">2021-12-18T08:25:37Z</dcterms:created>
  <dcterms:modified xsi:type="dcterms:W3CDTF">2026-10-15T09:43:31Z</dcterms:modified>
</cp:coreProperties>
</file>