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sldIdLst>
    <p:sldId id="730" r:id="rId2"/>
    <p:sldId id="620" r:id="rId3"/>
    <p:sldId id="695" r:id="rId4"/>
    <p:sldId id="763" r:id="rId5"/>
    <p:sldId id="731" r:id="rId6"/>
    <p:sldId id="590" r:id="rId7"/>
    <p:sldId id="735" r:id="rId8"/>
    <p:sldId id="611" r:id="rId9"/>
    <p:sldId id="608" r:id="rId10"/>
    <p:sldId id="612" r:id="rId11"/>
    <p:sldId id="595" r:id="rId12"/>
    <p:sldId id="615" r:id="rId13"/>
    <p:sldId id="616" r:id="rId14"/>
    <p:sldId id="617" r:id="rId15"/>
    <p:sldId id="618" r:id="rId16"/>
    <p:sldId id="623" r:id="rId17"/>
    <p:sldId id="610" r:id="rId18"/>
    <p:sldId id="609" r:id="rId19"/>
    <p:sldId id="619" r:id="rId20"/>
    <p:sldId id="622" r:id="rId21"/>
    <p:sldId id="732" r:id="rId22"/>
    <p:sldId id="736" r:id="rId23"/>
    <p:sldId id="606" r:id="rId24"/>
    <p:sldId id="591" r:id="rId25"/>
    <p:sldId id="594" r:id="rId26"/>
    <p:sldId id="592" r:id="rId27"/>
    <p:sldId id="593" r:id="rId28"/>
    <p:sldId id="764" r:id="rId29"/>
    <p:sldId id="596" r:id="rId30"/>
    <p:sldId id="598" r:id="rId31"/>
    <p:sldId id="599" r:id="rId32"/>
    <p:sldId id="601" r:id="rId33"/>
    <p:sldId id="600" r:id="rId34"/>
    <p:sldId id="602" r:id="rId35"/>
    <p:sldId id="604" r:id="rId36"/>
    <p:sldId id="605" r:id="rId37"/>
    <p:sldId id="603" r:id="rId38"/>
    <p:sldId id="72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E845"/>
    <a:srgbClr val="EEEEEE"/>
    <a:srgbClr val="FFD0CE"/>
    <a:srgbClr val="0000FF"/>
    <a:srgbClr val="219125"/>
    <a:srgbClr val="FF750F"/>
    <a:srgbClr val="CA251F"/>
    <a:srgbClr val="008001"/>
    <a:srgbClr val="F7F7F7"/>
    <a:srgbClr val="009D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64"/>
    <p:restoredTop sz="50344"/>
  </p:normalViewPr>
  <p:slideViewPr>
    <p:cSldViewPr snapToGrid="0" snapToObjects="1">
      <p:cViewPr varScale="1">
        <p:scale>
          <a:sx n="60" d="100"/>
          <a:sy n="60" d="100"/>
        </p:scale>
        <p:origin x="2400" y="168"/>
      </p:cViewPr>
      <p:guideLst/>
    </p:cSldViewPr>
  </p:slideViewPr>
  <p:outlineViewPr>
    <p:cViewPr>
      <p:scale>
        <a:sx n="33" d="100"/>
        <a:sy n="33" d="100"/>
      </p:scale>
      <p:origin x="0" y="0"/>
    </p:cViewPr>
  </p:outlineViewPr>
  <p:notesTextViewPr>
    <p:cViewPr>
      <p:scale>
        <a:sx n="185" d="100"/>
        <a:sy n="185" d="100"/>
      </p:scale>
      <p:origin x="0" y="0"/>
    </p:cViewPr>
  </p:notesTextViewPr>
  <p:sorterViewPr>
    <p:cViewPr>
      <p:scale>
        <a:sx n="66" d="100"/>
        <a:sy n="66" d="100"/>
      </p:scale>
      <p:origin x="0" y="0"/>
    </p:cViewPr>
  </p:sorterViewPr>
  <p:notesViewPr>
    <p:cSldViewPr snapToGrid="0" snapToObjects="1">
      <p:cViewPr varScale="1">
        <p:scale>
          <a:sx n="95" d="100"/>
          <a:sy n="95" d="100"/>
        </p:scale>
        <p:origin x="227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F4B801-95EB-FF4A-83A6-3D9DA065C637}" type="doc">
      <dgm:prSet loTypeId="urn:microsoft.com/office/officeart/2005/8/layout/list1" loCatId="" qsTypeId="urn:microsoft.com/office/officeart/2005/8/quickstyle/simple1" qsCatId="simple" csTypeId="urn:microsoft.com/office/officeart/2005/8/colors/colorful1" csCatId="colorful" phldr="1"/>
      <dgm:spPr/>
      <dgm:t>
        <a:bodyPr/>
        <a:lstStyle/>
        <a:p>
          <a:endParaRPr lang="en-US"/>
        </a:p>
      </dgm:t>
    </dgm:pt>
    <dgm:pt modelId="{EA150C90-195D-2844-99BF-70811144415D}">
      <dgm:prSet phldrT="[Text]"/>
      <dgm:spPr/>
      <dgm:t>
        <a:bodyPr/>
        <a:lstStyle/>
        <a:p>
          <a:r>
            <a:rPr lang="en-US" i="0" dirty="0"/>
            <a:t>3. </a:t>
          </a:r>
          <a:r>
            <a:rPr lang="en-US" dirty="0"/>
            <a:t>Bernstein–</a:t>
          </a:r>
          <a:r>
            <a:rPr lang="en-US" dirty="0" err="1"/>
            <a:t>Vazirani</a:t>
          </a:r>
          <a:r>
            <a:rPr lang="en-US" dirty="0"/>
            <a:t> algorithm</a:t>
          </a:r>
          <a:endParaRPr lang="en-US" i="0" dirty="0"/>
        </a:p>
      </dgm:t>
    </dgm:pt>
    <dgm:pt modelId="{5130A1B0-7C5A-5F4C-873A-75C50B32C692}" type="parTrans" cxnId="{399DCC1F-91BA-094B-ACEA-F6724B74867C}">
      <dgm:prSet/>
      <dgm:spPr/>
      <dgm:t>
        <a:bodyPr/>
        <a:lstStyle/>
        <a:p>
          <a:endParaRPr lang="en-US"/>
        </a:p>
      </dgm:t>
    </dgm:pt>
    <dgm:pt modelId="{5DF055C6-6691-6946-B9ED-EF65CF3C9B61}" type="sibTrans" cxnId="{399DCC1F-91BA-094B-ACEA-F6724B74867C}">
      <dgm:prSet/>
      <dgm:spPr/>
      <dgm:t>
        <a:bodyPr/>
        <a:lstStyle/>
        <a:p>
          <a:endParaRPr lang="en-US"/>
        </a:p>
      </dgm:t>
    </dgm:pt>
    <dgm:pt modelId="{D2352AE6-655F-D342-B30B-E0077CF48F86}">
      <dgm:prSet phldrT="[Text]"/>
      <dgm:spPr/>
      <dgm:t>
        <a:bodyPr/>
        <a:lstStyle/>
        <a:p>
          <a:r>
            <a:rPr lang="en-US" i="0" dirty="0"/>
            <a:t>2. Deutsch–</a:t>
          </a:r>
          <a:r>
            <a:rPr lang="en-US" i="0" dirty="0" err="1"/>
            <a:t>Jozsa</a:t>
          </a:r>
          <a:r>
            <a:rPr lang="en-US" i="0" dirty="0"/>
            <a:t> algorithm</a:t>
          </a:r>
        </a:p>
      </dgm:t>
    </dgm:pt>
    <dgm:pt modelId="{F837EEC0-867E-474E-9A64-B0B836FA4B0C}" type="parTrans" cxnId="{6D8DE5A3-659E-5345-950B-8E3BB7A639BF}">
      <dgm:prSet/>
      <dgm:spPr/>
      <dgm:t>
        <a:bodyPr/>
        <a:lstStyle/>
        <a:p>
          <a:endParaRPr lang="en-US"/>
        </a:p>
      </dgm:t>
    </dgm:pt>
    <dgm:pt modelId="{C1D72DB6-923D-FA48-9693-9E1560A44712}" type="sibTrans" cxnId="{6D8DE5A3-659E-5345-950B-8E3BB7A639BF}">
      <dgm:prSet/>
      <dgm:spPr/>
      <dgm:t>
        <a:bodyPr/>
        <a:lstStyle/>
        <a:p>
          <a:endParaRPr lang="en-US"/>
        </a:p>
      </dgm:t>
    </dgm:pt>
    <dgm:pt modelId="{40AFC066-9C2A-644D-8DDD-CE2EC309D36C}">
      <dgm:prSet phldrT="[Text]"/>
      <dgm:spPr/>
      <dgm:t>
        <a:bodyPr/>
        <a:lstStyle/>
        <a:p>
          <a:r>
            <a:rPr lang="en-US" i="0" dirty="0"/>
            <a:t>4. Simon’s algorithm</a:t>
          </a:r>
        </a:p>
      </dgm:t>
    </dgm:pt>
    <dgm:pt modelId="{67074FA0-F370-2F42-BBD3-1DC111F48853}" type="parTrans" cxnId="{90D1FD19-EEB0-C542-B02F-CF8473E9281B}">
      <dgm:prSet/>
      <dgm:spPr/>
      <dgm:t>
        <a:bodyPr/>
        <a:lstStyle/>
        <a:p>
          <a:endParaRPr lang="en-US"/>
        </a:p>
      </dgm:t>
    </dgm:pt>
    <dgm:pt modelId="{D0C02410-8FAC-7C44-A9CE-8DA330D1E0F7}" type="sibTrans" cxnId="{90D1FD19-EEB0-C542-B02F-CF8473E9281B}">
      <dgm:prSet/>
      <dgm:spPr/>
      <dgm:t>
        <a:bodyPr/>
        <a:lstStyle/>
        <a:p>
          <a:endParaRPr lang="en-US"/>
        </a:p>
      </dgm:t>
    </dgm:pt>
    <dgm:pt modelId="{16A55EBB-93C5-3A44-B979-A498C7F5E1A5}">
      <dgm:prSet phldrT="[Text]"/>
      <dgm:spPr/>
      <dgm:t>
        <a:bodyPr/>
        <a:lstStyle/>
        <a:p>
          <a:r>
            <a:rPr lang="en-US" i="0" dirty="0"/>
            <a:t>1. Deutsch algorithm</a:t>
          </a:r>
        </a:p>
      </dgm:t>
    </dgm:pt>
    <dgm:pt modelId="{3FE776D7-F0CD-2D44-AD2D-2ACB7FC80C87}" type="parTrans" cxnId="{A074C998-53E3-7446-9EC5-D7D8E151CB8D}">
      <dgm:prSet/>
      <dgm:spPr/>
      <dgm:t>
        <a:bodyPr/>
        <a:lstStyle/>
        <a:p>
          <a:endParaRPr lang="en-US"/>
        </a:p>
      </dgm:t>
    </dgm:pt>
    <dgm:pt modelId="{63B3FA57-D93A-AA4F-B554-E2128DF7EF72}" type="sibTrans" cxnId="{A074C998-53E3-7446-9EC5-D7D8E151CB8D}">
      <dgm:prSet/>
      <dgm:spPr/>
      <dgm:t>
        <a:bodyPr/>
        <a:lstStyle/>
        <a:p>
          <a:endParaRPr lang="en-US"/>
        </a:p>
      </dgm:t>
    </dgm:pt>
    <dgm:pt modelId="{94ACFDC8-4A23-444B-9C4C-04B274E58FC4}" type="pres">
      <dgm:prSet presAssocID="{76F4B801-95EB-FF4A-83A6-3D9DA065C637}" presName="linear" presStyleCnt="0">
        <dgm:presLayoutVars>
          <dgm:dir/>
          <dgm:animLvl val="lvl"/>
          <dgm:resizeHandles val="exact"/>
        </dgm:presLayoutVars>
      </dgm:prSet>
      <dgm:spPr/>
    </dgm:pt>
    <dgm:pt modelId="{793C360D-B496-7742-81C3-E0052BC3F983}" type="pres">
      <dgm:prSet presAssocID="{16A55EBB-93C5-3A44-B979-A498C7F5E1A5}" presName="parentLin" presStyleCnt="0"/>
      <dgm:spPr/>
    </dgm:pt>
    <dgm:pt modelId="{F5DC0236-B274-184C-8659-66DB662B0BDA}" type="pres">
      <dgm:prSet presAssocID="{16A55EBB-93C5-3A44-B979-A498C7F5E1A5}" presName="parentLeftMargin" presStyleLbl="node1" presStyleIdx="0" presStyleCnt="4"/>
      <dgm:spPr/>
    </dgm:pt>
    <dgm:pt modelId="{4EF29C9E-18C1-4348-B059-CFE0B3AF0EED}" type="pres">
      <dgm:prSet presAssocID="{16A55EBB-93C5-3A44-B979-A498C7F5E1A5}" presName="parentText" presStyleLbl="node1" presStyleIdx="0" presStyleCnt="4">
        <dgm:presLayoutVars>
          <dgm:chMax val="0"/>
          <dgm:bulletEnabled val="1"/>
        </dgm:presLayoutVars>
      </dgm:prSet>
      <dgm:spPr/>
    </dgm:pt>
    <dgm:pt modelId="{2FEB09F8-16C3-1149-879E-193C35EC4195}" type="pres">
      <dgm:prSet presAssocID="{16A55EBB-93C5-3A44-B979-A498C7F5E1A5}" presName="negativeSpace" presStyleCnt="0"/>
      <dgm:spPr/>
    </dgm:pt>
    <dgm:pt modelId="{CFA83E18-5AF8-E141-85F0-231EEDCC3F5C}" type="pres">
      <dgm:prSet presAssocID="{16A55EBB-93C5-3A44-B979-A498C7F5E1A5}" presName="childText" presStyleLbl="conFgAcc1" presStyleIdx="0" presStyleCnt="4">
        <dgm:presLayoutVars>
          <dgm:bulletEnabled val="1"/>
        </dgm:presLayoutVars>
      </dgm:prSet>
      <dgm:spPr/>
    </dgm:pt>
    <dgm:pt modelId="{5DD2E187-CB05-EC40-9186-B292AA1682D0}" type="pres">
      <dgm:prSet presAssocID="{63B3FA57-D93A-AA4F-B554-E2128DF7EF72}" presName="spaceBetweenRectangles" presStyleCnt="0"/>
      <dgm:spPr/>
    </dgm:pt>
    <dgm:pt modelId="{9FE4510D-FDEF-B049-8EE0-BF275D65A744}" type="pres">
      <dgm:prSet presAssocID="{D2352AE6-655F-D342-B30B-E0077CF48F86}" presName="parentLin" presStyleCnt="0"/>
      <dgm:spPr/>
    </dgm:pt>
    <dgm:pt modelId="{2C77BD83-9627-704F-819D-B50CD4586500}" type="pres">
      <dgm:prSet presAssocID="{D2352AE6-655F-D342-B30B-E0077CF48F86}" presName="parentLeftMargin" presStyleLbl="node1" presStyleIdx="0" presStyleCnt="4"/>
      <dgm:spPr/>
    </dgm:pt>
    <dgm:pt modelId="{98792070-AF90-3045-BF67-EF5560C3914B}" type="pres">
      <dgm:prSet presAssocID="{D2352AE6-655F-D342-B30B-E0077CF48F86}" presName="parentText" presStyleLbl="node1" presStyleIdx="1" presStyleCnt="4">
        <dgm:presLayoutVars>
          <dgm:chMax val="0"/>
          <dgm:bulletEnabled val="1"/>
        </dgm:presLayoutVars>
      </dgm:prSet>
      <dgm:spPr/>
    </dgm:pt>
    <dgm:pt modelId="{BF113815-F7EC-674D-825A-27FD88D3A341}" type="pres">
      <dgm:prSet presAssocID="{D2352AE6-655F-D342-B30B-E0077CF48F86}" presName="negativeSpace" presStyleCnt="0"/>
      <dgm:spPr/>
    </dgm:pt>
    <dgm:pt modelId="{9073885E-3740-714C-8272-5B84FBC71B46}" type="pres">
      <dgm:prSet presAssocID="{D2352AE6-655F-D342-B30B-E0077CF48F86}" presName="childText" presStyleLbl="conFgAcc1" presStyleIdx="1" presStyleCnt="4">
        <dgm:presLayoutVars>
          <dgm:bulletEnabled val="1"/>
        </dgm:presLayoutVars>
      </dgm:prSet>
      <dgm:spPr/>
    </dgm:pt>
    <dgm:pt modelId="{34416056-4A66-C341-9B48-EC21B0D52B5C}" type="pres">
      <dgm:prSet presAssocID="{C1D72DB6-923D-FA48-9693-9E1560A44712}" presName="spaceBetweenRectangles" presStyleCnt="0"/>
      <dgm:spPr/>
    </dgm:pt>
    <dgm:pt modelId="{113C9A18-565C-8645-A2CC-BEBB6F3018B9}" type="pres">
      <dgm:prSet presAssocID="{EA150C90-195D-2844-99BF-70811144415D}" presName="parentLin" presStyleCnt="0"/>
      <dgm:spPr/>
    </dgm:pt>
    <dgm:pt modelId="{6151AB4B-4D12-7442-8A7C-C4D892EE341C}" type="pres">
      <dgm:prSet presAssocID="{EA150C90-195D-2844-99BF-70811144415D}" presName="parentLeftMargin" presStyleLbl="node1" presStyleIdx="1" presStyleCnt="4"/>
      <dgm:spPr/>
    </dgm:pt>
    <dgm:pt modelId="{9B5595DC-DC1D-4647-AB92-CD5EF129F4A5}" type="pres">
      <dgm:prSet presAssocID="{EA150C90-195D-2844-99BF-70811144415D}" presName="parentText" presStyleLbl="node1" presStyleIdx="2" presStyleCnt="4">
        <dgm:presLayoutVars>
          <dgm:chMax val="0"/>
          <dgm:bulletEnabled val="1"/>
        </dgm:presLayoutVars>
      </dgm:prSet>
      <dgm:spPr/>
    </dgm:pt>
    <dgm:pt modelId="{FD7D5EB1-0E48-A94C-B5F3-96A7F5503A76}" type="pres">
      <dgm:prSet presAssocID="{EA150C90-195D-2844-99BF-70811144415D}" presName="negativeSpace" presStyleCnt="0"/>
      <dgm:spPr/>
    </dgm:pt>
    <dgm:pt modelId="{A8229FF7-11F7-5E40-A8AF-DA7A4F5FF3E2}" type="pres">
      <dgm:prSet presAssocID="{EA150C90-195D-2844-99BF-70811144415D}" presName="childText" presStyleLbl="conFgAcc1" presStyleIdx="2" presStyleCnt="4">
        <dgm:presLayoutVars>
          <dgm:bulletEnabled val="1"/>
        </dgm:presLayoutVars>
      </dgm:prSet>
      <dgm:spPr/>
    </dgm:pt>
    <dgm:pt modelId="{B0397D08-F7B0-4A44-95AF-23D21E49C003}" type="pres">
      <dgm:prSet presAssocID="{5DF055C6-6691-6946-B9ED-EF65CF3C9B61}" presName="spaceBetweenRectangles" presStyleCnt="0"/>
      <dgm:spPr/>
    </dgm:pt>
    <dgm:pt modelId="{62798BBD-D4A4-1547-B0C1-6D6DEF686FF8}" type="pres">
      <dgm:prSet presAssocID="{40AFC066-9C2A-644D-8DDD-CE2EC309D36C}" presName="parentLin" presStyleCnt="0"/>
      <dgm:spPr/>
    </dgm:pt>
    <dgm:pt modelId="{44A9D39D-ABFC-0B44-85F2-B924E47BCE6B}" type="pres">
      <dgm:prSet presAssocID="{40AFC066-9C2A-644D-8DDD-CE2EC309D36C}" presName="parentLeftMargin" presStyleLbl="node1" presStyleIdx="2" presStyleCnt="4"/>
      <dgm:spPr/>
    </dgm:pt>
    <dgm:pt modelId="{1D45D2FC-BA1A-164F-8995-F98B7BDCB355}" type="pres">
      <dgm:prSet presAssocID="{40AFC066-9C2A-644D-8DDD-CE2EC309D36C}" presName="parentText" presStyleLbl="node1" presStyleIdx="3" presStyleCnt="4">
        <dgm:presLayoutVars>
          <dgm:chMax val="0"/>
          <dgm:bulletEnabled val="1"/>
        </dgm:presLayoutVars>
      </dgm:prSet>
      <dgm:spPr/>
    </dgm:pt>
    <dgm:pt modelId="{FE6ADBC4-1FB5-A24D-AB44-6895DE9EACB3}" type="pres">
      <dgm:prSet presAssocID="{40AFC066-9C2A-644D-8DDD-CE2EC309D36C}" presName="negativeSpace" presStyleCnt="0"/>
      <dgm:spPr/>
    </dgm:pt>
    <dgm:pt modelId="{3B56B596-60D5-5149-9DC2-42F681C67C1C}" type="pres">
      <dgm:prSet presAssocID="{40AFC066-9C2A-644D-8DDD-CE2EC309D36C}" presName="childText" presStyleLbl="conFgAcc1" presStyleIdx="3" presStyleCnt="4">
        <dgm:presLayoutVars>
          <dgm:bulletEnabled val="1"/>
        </dgm:presLayoutVars>
      </dgm:prSet>
      <dgm:spPr/>
    </dgm:pt>
  </dgm:ptLst>
  <dgm:cxnLst>
    <dgm:cxn modelId="{60EA050D-2F8A-7E43-883C-48E4E8C8E66E}" type="presOf" srcId="{D2352AE6-655F-D342-B30B-E0077CF48F86}" destId="{2C77BD83-9627-704F-819D-B50CD4586500}" srcOrd="0" destOrd="0" presId="urn:microsoft.com/office/officeart/2005/8/layout/list1"/>
    <dgm:cxn modelId="{85658914-477F-4343-910B-4203BD229277}" type="presOf" srcId="{76F4B801-95EB-FF4A-83A6-3D9DA065C637}" destId="{94ACFDC8-4A23-444B-9C4C-04B274E58FC4}" srcOrd="0" destOrd="0" presId="urn:microsoft.com/office/officeart/2005/8/layout/list1"/>
    <dgm:cxn modelId="{90D1FD19-EEB0-C542-B02F-CF8473E9281B}" srcId="{76F4B801-95EB-FF4A-83A6-3D9DA065C637}" destId="{40AFC066-9C2A-644D-8DDD-CE2EC309D36C}" srcOrd="3" destOrd="0" parTransId="{67074FA0-F370-2F42-BBD3-1DC111F48853}" sibTransId="{D0C02410-8FAC-7C44-A9CE-8DA330D1E0F7}"/>
    <dgm:cxn modelId="{08969D1E-9CA7-8E4A-AF71-DDB1F5E6B1F5}" type="presOf" srcId="{EA150C90-195D-2844-99BF-70811144415D}" destId="{9B5595DC-DC1D-4647-AB92-CD5EF129F4A5}" srcOrd="1" destOrd="0" presId="urn:microsoft.com/office/officeart/2005/8/layout/list1"/>
    <dgm:cxn modelId="{399DCC1F-91BA-094B-ACEA-F6724B74867C}" srcId="{76F4B801-95EB-FF4A-83A6-3D9DA065C637}" destId="{EA150C90-195D-2844-99BF-70811144415D}" srcOrd="2" destOrd="0" parTransId="{5130A1B0-7C5A-5F4C-873A-75C50B32C692}" sibTransId="{5DF055C6-6691-6946-B9ED-EF65CF3C9B61}"/>
    <dgm:cxn modelId="{F1B99F5C-6456-7D4F-858F-96B7EA523395}" type="presOf" srcId="{EA150C90-195D-2844-99BF-70811144415D}" destId="{6151AB4B-4D12-7442-8A7C-C4D892EE341C}" srcOrd="0" destOrd="0" presId="urn:microsoft.com/office/officeart/2005/8/layout/list1"/>
    <dgm:cxn modelId="{5E1A0373-58A6-7B43-AADE-3396EDEC3076}" type="presOf" srcId="{16A55EBB-93C5-3A44-B979-A498C7F5E1A5}" destId="{F5DC0236-B274-184C-8659-66DB662B0BDA}" srcOrd="0" destOrd="0" presId="urn:microsoft.com/office/officeart/2005/8/layout/list1"/>
    <dgm:cxn modelId="{A074C998-53E3-7446-9EC5-D7D8E151CB8D}" srcId="{76F4B801-95EB-FF4A-83A6-3D9DA065C637}" destId="{16A55EBB-93C5-3A44-B979-A498C7F5E1A5}" srcOrd="0" destOrd="0" parTransId="{3FE776D7-F0CD-2D44-AD2D-2ACB7FC80C87}" sibTransId="{63B3FA57-D93A-AA4F-B554-E2128DF7EF72}"/>
    <dgm:cxn modelId="{6D8DE5A3-659E-5345-950B-8E3BB7A639BF}" srcId="{76F4B801-95EB-FF4A-83A6-3D9DA065C637}" destId="{D2352AE6-655F-D342-B30B-E0077CF48F86}" srcOrd="1" destOrd="0" parTransId="{F837EEC0-867E-474E-9A64-B0B836FA4B0C}" sibTransId="{C1D72DB6-923D-FA48-9693-9E1560A44712}"/>
    <dgm:cxn modelId="{D5E0A3B0-8D81-C340-BC63-DCEE4E8E8165}" type="presOf" srcId="{40AFC066-9C2A-644D-8DDD-CE2EC309D36C}" destId="{44A9D39D-ABFC-0B44-85F2-B924E47BCE6B}" srcOrd="0" destOrd="0" presId="urn:microsoft.com/office/officeart/2005/8/layout/list1"/>
    <dgm:cxn modelId="{98C58EE4-115F-7544-A423-ED78D5F28AA5}" type="presOf" srcId="{16A55EBB-93C5-3A44-B979-A498C7F5E1A5}" destId="{4EF29C9E-18C1-4348-B059-CFE0B3AF0EED}" srcOrd="1" destOrd="0" presId="urn:microsoft.com/office/officeart/2005/8/layout/list1"/>
    <dgm:cxn modelId="{1693BEF8-AAE5-8D4C-B4F3-702271317194}" type="presOf" srcId="{40AFC066-9C2A-644D-8DDD-CE2EC309D36C}" destId="{1D45D2FC-BA1A-164F-8995-F98B7BDCB355}" srcOrd="1" destOrd="0" presId="urn:microsoft.com/office/officeart/2005/8/layout/list1"/>
    <dgm:cxn modelId="{7DD0B8FC-FD8E-434B-B96C-7DD0A7AFBB8D}" type="presOf" srcId="{D2352AE6-655F-D342-B30B-E0077CF48F86}" destId="{98792070-AF90-3045-BF67-EF5560C3914B}" srcOrd="1" destOrd="0" presId="urn:microsoft.com/office/officeart/2005/8/layout/list1"/>
    <dgm:cxn modelId="{A7821B86-0866-5C40-9B69-12CDA1ACFB9A}" type="presParOf" srcId="{94ACFDC8-4A23-444B-9C4C-04B274E58FC4}" destId="{793C360D-B496-7742-81C3-E0052BC3F983}" srcOrd="0" destOrd="0" presId="urn:microsoft.com/office/officeart/2005/8/layout/list1"/>
    <dgm:cxn modelId="{3BBBDCB8-251F-2E48-ADD4-13DDC68E1768}" type="presParOf" srcId="{793C360D-B496-7742-81C3-E0052BC3F983}" destId="{F5DC0236-B274-184C-8659-66DB662B0BDA}" srcOrd="0" destOrd="0" presId="urn:microsoft.com/office/officeart/2005/8/layout/list1"/>
    <dgm:cxn modelId="{EEE1CC68-6CB1-AF4C-9BA6-D7AE6FD41F93}" type="presParOf" srcId="{793C360D-B496-7742-81C3-E0052BC3F983}" destId="{4EF29C9E-18C1-4348-B059-CFE0B3AF0EED}" srcOrd="1" destOrd="0" presId="urn:microsoft.com/office/officeart/2005/8/layout/list1"/>
    <dgm:cxn modelId="{D5D2ED3A-692F-104B-94C1-59A67DD17AF6}" type="presParOf" srcId="{94ACFDC8-4A23-444B-9C4C-04B274E58FC4}" destId="{2FEB09F8-16C3-1149-879E-193C35EC4195}" srcOrd="1" destOrd="0" presId="urn:microsoft.com/office/officeart/2005/8/layout/list1"/>
    <dgm:cxn modelId="{DBFD6099-0592-8847-B5B3-F25C4B834CCA}" type="presParOf" srcId="{94ACFDC8-4A23-444B-9C4C-04B274E58FC4}" destId="{CFA83E18-5AF8-E141-85F0-231EEDCC3F5C}" srcOrd="2" destOrd="0" presId="urn:microsoft.com/office/officeart/2005/8/layout/list1"/>
    <dgm:cxn modelId="{6B455BF8-D9C4-844F-A081-76D28CC54F9D}" type="presParOf" srcId="{94ACFDC8-4A23-444B-9C4C-04B274E58FC4}" destId="{5DD2E187-CB05-EC40-9186-B292AA1682D0}" srcOrd="3" destOrd="0" presId="urn:microsoft.com/office/officeart/2005/8/layout/list1"/>
    <dgm:cxn modelId="{0A435703-2996-FB4D-B936-3B48373597F1}" type="presParOf" srcId="{94ACFDC8-4A23-444B-9C4C-04B274E58FC4}" destId="{9FE4510D-FDEF-B049-8EE0-BF275D65A744}" srcOrd="4" destOrd="0" presId="urn:microsoft.com/office/officeart/2005/8/layout/list1"/>
    <dgm:cxn modelId="{E42CE608-7F61-3244-A4F1-7901DA7BFC51}" type="presParOf" srcId="{9FE4510D-FDEF-B049-8EE0-BF275D65A744}" destId="{2C77BD83-9627-704F-819D-B50CD4586500}" srcOrd="0" destOrd="0" presId="urn:microsoft.com/office/officeart/2005/8/layout/list1"/>
    <dgm:cxn modelId="{7836EF1B-851F-5444-9361-E3F4D47062C6}" type="presParOf" srcId="{9FE4510D-FDEF-B049-8EE0-BF275D65A744}" destId="{98792070-AF90-3045-BF67-EF5560C3914B}" srcOrd="1" destOrd="0" presId="urn:microsoft.com/office/officeart/2005/8/layout/list1"/>
    <dgm:cxn modelId="{496B200F-F300-254F-BEFF-253BF2F9769E}" type="presParOf" srcId="{94ACFDC8-4A23-444B-9C4C-04B274E58FC4}" destId="{BF113815-F7EC-674D-825A-27FD88D3A341}" srcOrd="5" destOrd="0" presId="urn:microsoft.com/office/officeart/2005/8/layout/list1"/>
    <dgm:cxn modelId="{D630BA32-1910-6642-A8B7-D25F727CF7D6}" type="presParOf" srcId="{94ACFDC8-4A23-444B-9C4C-04B274E58FC4}" destId="{9073885E-3740-714C-8272-5B84FBC71B46}" srcOrd="6" destOrd="0" presId="urn:microsoft.com/office/officeart/2005/8/layout/list1"/>
    <dgm:cxn modelId="{8F0B551C-8F57-6E49-8050-D46BC34FDD62}" type="presParOf" srcId="{94ACFDC8-4A23-444B-9C4C-04B274E58FC4}" destId="{34416056-4A66-C341-9B48-EC21B0D52B5C}" srcOrd="7" destOrd="0" presId="urn:microsoft.com/office/officeart/2005/8/layout/list1"/>
    <dgm:cxn modelId="{9635CECC-C6F1-7545-A451-E6E905041C71}" type="presParOf" srcId="{94ACFDC8-4A23-444B-9C4C-04B274E58FC4}" destId="{113C9A18-565C-8645-A2CC-BEBB6F3018B9}" srcOrd="8" destOrd="0" presId="urn:microsoft.com/office/officeart/2005/8/layout/list1"/>
    <dgm:cxn modelId="{1A3EF6CA-993D-C64B-9CEF-C17AE360C985}" type="presParOf" srcId="{113C9A18-565C-8645-A2CC-BEBB6F3018B9}" destId="{6151AB4B-4D12-7442-8A7C-C4D892EE341C}" srcOrd="0" destOrd="0" presId="urn:microsoft.com/office/officeart/2005/8/layout/list1"/>
    <dgm:cxn modelId="{BC847603-7C7D-C44D-9A05-8E2F519A2ADE}" type="presParOf" srcId="{113C9A18-565C-8645-A2CC-BEBB6F3018B9}" destId="{9B5595DC-DC1D-4647-AB92-CD5EF129F4A5}" srcOrd="1" destOrd="0" presId="urn:microsoft.com/office/officeart/2005/8/layout/list1"/>
    <dgm:cxn modelId="{5BA67BC2-8A70-5A41-B8DA-CFB41A2BB8E5}" type="presParOf" srcId="{94ACFDC8-4A23-444B-9C4C-04B274E58FC4}" destId="{FD7D5EB1-0E48-A94C-B5F3-96A7F5503A76}" srcOrd="9" destOrd="0" presId="urn:microsoft.com/office/officeart/2005/8/layout/list1"/>
    <dgm:cxn modelId="{12FC0CB7-CFDB-8D4B-BAE2-24DEED778D24}" type="presParOf" srcId="{94ACFDC8-4A23-444B-9C4C-04B274E58FC4}" destId="{A8229FF7-11F7-5E40-A8AF-DA7A4F5FF3E2}" srcOrd="10" destOrd="0" presId="urn:microsoft.com/office/officeart/2005/8/layout/list1"/>
    <dgm:cxn modelId="{1E958D19-9D4E-D141-A2A2-C3D19791DF19}" type="presParOf" srcId="{94ACFDC8-4A23-444B-9C4C-04B274E58FC4}" destId="{B0397D08-F7B0-4A44-95AF-23D21E49C003}" srcOrd="11" destOrd="0" presId="urn:microsoft.com/office/officeart/2005/8/layout/list1"/>
    <dgm:cxn modelId="{768D7491-939F-4A41-8230-365825D99BFE}" type="presParOf" srcId="{94ACFDC8-4A23-444B-9C4C-04B274E58FC4}" destId="{62798BBD-D4A4-1547-B0C1-6D6DEF686FF8}" srcOrd="12" destOrd="0" presId="urn:microsoft.com/office/officeart/2005/8/layout/list1"/>
    <dgm:cxn modelId="{48210223-8F53-5644-8E3B-248E7343954C}" type="presParOf" srcId="{62798BBD-D4A4-1547-B0C1-6D6DEF686FF8}" destId="{44A9D39D-ABFC-0B44-85F2-B924E47BCE6B}" srcOrd="0" destOrd="0" presId="urn:microsoft.com/office/officeart/2005/8/layout/list1"/>
    <dgm:cxn modelId="{680C60B3-CF9E-3249-BCE7-A2F7538CD155}" type="presParOf" srcId="{62798BBD-D4A4-1547-B0C1-6D6DEF686FF8}" destId="{1D45D2FC-BA1A-164F-8995-F98B7BDCB355}" srcOrd="1" destOrd="0" presId="urn:microsoft.com/office/officeart/2005/8/layout/list1"/>
    <dgm:cxn modelId="{8CFA49FD-0962-024E-BB9E-EFECA5394C43}" type="presParOf" srcId="{94ACFDC8-4A23-444B-9C4C-04B274E58FC4}" destId="{FE6ADBC4-1FB5-A24D-AB44-6895DE9EACB3}" srcOrd="13" destOrd="0" presId="urn:microsoft.com/office/officeart/2005/8/layout/list1"/>
    <dgm:cxn modelId="{89CB65EF-F353-7348-90B5-3E3526D1CA2B}" type="presParOf" srcId="{94ACFDC8-4A23-444B-9C4C-04B274E58FC4}" destId="{3B56B596-60D5-5149-9DC2-42F681C67C1C}"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A83E18-5AF8-E141-85F0-231EEDCC3F5C}">
      <dsp:nvSpPr>
        <dsp:cNvPr id="0" name=""/>
        <dsp:cNvSpPr/>
      </dsp:nvSpPr>
      <dsp:spPr>
        <a:xfrm>
          <a:off x="0" y="511533"/>
          <a:ext cx="10987086" cy="756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F29C9E-18C1-4348-B059-CFE0B3AF0EED}">
      <dsp:nvSpPr>
        <dsp:cNvPr id="0" name=""/>
        <dsp:cNvSpPr/>
      </dsp:nvSpPr>
      <dsp:spPr>
        <a:xfrm>
          <a:off x="549354" y="68733"/>
          <a:ext cx="7690960" cy="885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700" tIns="0" rIns="290700" bIns="0" numCol="1" spcCol="1270" anchor="ctr" anchorCtr="0">
          <a:noAutofit/>
        </a:bodyPr>
        <a:lstStyle/>
        <a:p>
          <a:pPr marL="0" lvl="0" indent="0" algn="l" defTabSz="1333500">
            <a:lnSpc>
              <a:spcPct val="90000"/>
            </a:lnSpc>
            <a:spcBef>
              <a:spcPct val="0"/>
            </a:spcBef>
            <a:spcAft>
              <a:spcPct val="35000"/>
            </a:spcAft>
            <a:buNone/>
          </a:pPr>
          <a:r>
            <a:rPr lang="en-US" sz="3000" i="0" kern="1200" dirty="0"/>
            <a:t>1. Deutsch algorithm</a:t>
          </a:r>
        </a:p>
      </dsp:txBody>
      <dsp:txXfrm>
        <a:off x="592585" y="111964"/>
        <a:ext cx="7604498" cy="799138"/>
      </dsp:txXfrm>
    </dsp:sp>
    <dsp:sp modelId="{9073885E-3740-714C-8272-5B84FBC71B46}">
      <dsp:nvSpPr>
        <dsp:cNvPr id="0" name=""/>
        <dsp:cNvSpPr/>
      </dsp:nvSpPr>
      <dsp:spPr>
        <a:xfrm>
          <a:off x="0" y="1872333"/>
          <a:ext cx="10987086" cy="756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792070-AF90-3045-BF67-EF5560C3914B}">
      <dsp:nvSpPr>
        <dsp:cNvPr id="0" name=""/>
        <dsp:cNvSpPr/>
      </dsp:nvSpPr>
      <dsp:spPr>
        <a:xfrm>
          <a:off x="549354" y="1429533"/>
          <a:ext cx="7690960" cy="8856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700" tIns="0" rIns="290700" bIns="0" numCol="1" spcCol="1270" anchor="ctr" anchorCtr="0">
          <a:noAutofit/>
        </a:bodyPr>
        <a:lstStyle/>
        <a:p>
          <a:pPr marL="0" lvl="0" indent="0" algn="l" defTabSz="1333500">
            <a:lnSpc>
              <a:spcPct val="90000"/>
            </a:lnSpc>
            <a:spcBef>
              <a:spcPct val="0"/>
            </a:spcBef>
            <a:spcAft>
              <a:spcPct val="35000"/>
            </a:spcAft>
            <a:buNone/>
          </a:pPr>
          <a:r>
            <a:rPr lang="en-US" sz="3000" i="0" kern="1200" dirty="0"/>
            <a:t>2. Deutsch–</a:t>
          </a:r>
          <a:r>
            <a:rPr lang="en-US" sz="3000" i="0" kern="1200" dirty="0" err="1"/>
            <a:t>Jozsa</a:t>
          </a:r>
          <a:r>
            <a:rPr lang="en-US" sz="3000" i="0" kern="1200" dirty="0"/>
            <a:t> algorithm</a:t>
          </a:r>
        </a:p>
      </dsp:txBody>
      <dsp:txXfrm>
        <a:off x="592585" y="1472764"/>
        <a:ext cx="7604498" cy="799138"/>
      </dsp:txXfrm>
    </dsp:sp>
    <dsp:sp modelId="{A8229FF7-11F7-5E40-A8AF-DA7A4F5FF3E2}">
      <dsp:nvSpPr>
        <dsp:cNvPr id="0" name=""/>
        <dsp:cNvSpPr/>
      </dsp:nvSpPr>
      <dsp:spPr>
        <a:xfrm>
          <a:off x="0" y="3233133"/>
          <a:ext cx="10987086" cy="756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B5595DC-DC1D-4647-AB92-CD5EF129F4A5}">
      <dsp:nvSpPr>
        <dsp:cNvPr id="0" name=""/>
        <dsp:cNvSpPr/>
      </dsp:nvSpPr>
      <dsp:spPr>
        <a:xfrm>
          <a:off x="549354" y="2790333"/>
          <a:ext cx="7690960" cy="885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700" tIns="0" rIns="290700" bIns="0" numCol="1" spcCol="1270" anchor="ctr" anchorCtr="0">
          <a:noAutofit/>
        </a:bodyPr>
        <a:lstStyle/>
        <a:p>
          <a:pPr marL="0" lvl="0" indent="0" algn="l" defTabSz="1333500">
            <a:lnSpc>
              <a:spcPct val="90000"/>
            </a:lnSpc>
            <a:spcBef>
              <a:spcPct val="0"/>
            </a:spcBef>
            <a:spcAft>
              <a:spcPct val="35000"/>
            </a:spcAft>
            <a:buNone/>
          </a:pPr>
          <a:r>
            <a:rPr lang="en-US" sz="3000" i="0" kern="1200" dirty="0"/>
            <a:t>3. </a:t>
          </a:r>
          <a:r>
            <a:rPr lang="en-US" sz="3000" kern="1200" dirty="0"/>
            <a:t>Bernstein–</a:t>
          </a:r>
          <a:r>
            <a:rPr lang="en-US" sz="3000" kern="1200" dirty="0" err="1"/>
            <a:t>Vazirani</a:t>
          </a:r>
          <a:r>
            <a:rPr lang="en-US" sz="3000" kern="1200" dirty="0"/>
            <a:t> algorithm</a:t>
          </a:r>
          <a:endParaRPr lang="en-US" sz="3000" i="0" kern="1200" dirty="0"/>
        </a:p>
      </dsp:txBody>
      <dsp:txXfrm>
        <a:off x="592585" y="2833564"/>
        <a:ext cx="7604498" cy="799138"/>
      </dsp:txXfrm>
    </dsp:sp>
    <dsp:sp modelId="{3B56B596-60D5-5149-9DC2-42F681C67C1C}">
      <dsp:nvSpPr>
        <dsp:cNvPr id="0" name=""/>
        <dsp:cNvSpPr/>
      </dsp:nvSpPr>
      <dsp:spPr>
        <a:xfrm>
          <a:off x="0" y="4593933"/>
          <a:ext cx="10987086" cy="756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45D2FC-BA1A-164F-8995-F98B7BDCB355}">
      <dsp:nvSpPr>
        <dsp:cNvPr id="0" name=""/>
        <dsp:cNvSpPr/>
      </dsp:nvSpPr>
      <dsp:spPr>
        <a:xfrm>
          <a:off x="549354" y="4151133"/>
          <a:ext cx="7690960" cy="8856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700" tIns="0" rIns="290700" bIns="0" numCol="1" spcCol="1270" anchor="ctr" anchorCtr="0">
          <a:noAutofit/>
        </a:bodyPr>
        <a:lstStyle/>
        <a:p>
          <a:pPr marL="0" lvl="0" indent="0" algn="l" defTabSz="1333500">
            <a:lnSpc>
              <a:spcPct val="90000"/>
            </a:lnSpc>
            <a:spcBef>
              <a:spcPct val="0"/>
            </a:spcBef>
            <a:spcAft>
              <a:spcPct val="35000"/>
            </a:spcAft>
            <a:buNone/>
          </a:pPr>
          <a:r>
            <a:rPr lang="en-US" sz="3000" i="0" kern="1200" dirty="0"/>
            <a:t>4. Simon’s algorithm</a:t>
          </a:r>
        </a:p>
      </dsp:txBody>
      <dsp:txXfrm>
        <a:off x="592585" y="4194364"/>
        <a:ext cx="7604498" cy="7991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BEB82-778D-AD40-9C78-E0B63E5D4744}" type="datetimeFigureOut">
              <a:rPr lang="en-US" smtClean="0"/>
              <a:t>9/2/26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CE5E3-B8BD-D040-AC87-D640191DD8F1}" type="slidenum">
              <a:rPr lang="en-US" smtClean="0"/>
              <a:t>‹#›</a:t>
            </a:fld>
            <a:endParaRPr lang="en-US"/>
          </a:p>
        </p:txBody>
      </p:sp>
    </p:spTree>
    <p:extLst>
      <p:ext uri="{BB962C8B-B14F-4D97-AF65-F5344CB8AC3E}">
        <p14:creationId xmlns:p14="http://schemas.microsoft.com/office/powerpoint/2010/main" val="81190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202478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US" i="0" dirty="0"/>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1724803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XOR Boolean operation is often used in quantum algorithms.</a:t>
                </a:r>
              </a:p>
              <a:p>
                <a:pPr algn="just"/>
                <a:endParaRPr lang="en-ZA" b="0" dirty="0"/>
              </a:p>
              <a:p>
                <a:pPr marL="228600" indent="-228600" algn="just">
                  <a:buAutoNum type="arabicPeriod"/>
                </a:pPr>
                <a:r>
                  <a:rPr lang="en-ZA" dirty="0"/>
                  <a:t>XOR gives 1 when the two inputs are different and 0 when they are the same. It can also be viewed as </a:t>
                </a:r>
                <a:r>
                  <a:rPr lang="en-ZA" b="0" dirty="0"/>
                  <a:t>addition modulo 2</a:t>
                </a:r>
                <a:r>
                  <a:rPr lang="en-ZA" dirty="0"/>
                  <a:t>. For example, 1⊕1=0, because the carry bit is ignored in single-bit addition.</a:t>
                </a:r>
              </a:p>
              <a:p>
                <a:pPr marL="228600" indent="-228600" algn="just">
                  <a:buAutoNum type="arabicPeriod"/>
                </a:pPr>
                <a:endParaRPr lang="en-ZA" b="0"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Using a Boolean variable </a:t>
                </a:r>
                <a:r>
                  <a:rPr lang="en-ZA" b="0" dirty="0"/>
                  <a:t> </a:t>
                </a:r>
                <a14:m>
                  <m:oMath xmlns:m="http://schemas.openxmlformats.org/officeDocument/2006/math">
                    <m:r>
                      <a:rPr lang="sr-Latn-RS" sz="1200" b="0" i="1" smtClean="0">
                        <a:latin typeface="Cambria Math" panose="02040503050406030204" pitchFamily="18" charset="0"/>
                      </a:rPr>
                      <m:t>𝑥</m:t>
                    </m:r>
                  </m:oMath>
                </a14:m>
                <a:r>
                  <a:rPr lang="en-ZA" b="0" dirty="0"/>
                  <a:t>, </a:t>
                </a:r>
                <a:r>
                  <a:rPr lang="en-ZA" dirty="0"/>
                  <a:t>some useful XOR identities are</a:t>
                </a:r>
                <a:r>
                  <a:rPr lang="en-ZA" b="0" dirty="0"/>
                  <a:t>: </a:t>
                </a:r>
                <a14:m>
                  <m:oMath xmlns:m="http://schemas.openxmlformats.org/officeDocument/2006/math">
                    <m:r>
                      <a:rPr lang="sr-Latn-RS" sz="1200" b="0" i="1" smtClean="0">
                        <a:latin typeface="Cambria Math" panose="02040503050406030204" pitchFamily="18" charset="0"/>
                      </a:rPr>
                      <m:t>0 </m:t>
                    </m:r>
                    <m:r>
                      <a:rPr lang="sr-Latn-RS" sz="1200" i="1">
                        <a:latin typeface="Cambria Math" panose="02040503050406030204" pitchFamily="18" charset="0"/>
                      </a:rPr>
                      <m:t>⨁</m:t>
                    </m:r>
                  </m:oMath>
                </a14:m>
                <a:r>
                  <a:rPr lang="en-US" sz="1200" i="1" dirty="0"/>
                  <a:t> </a:t>
                </a:r>
                <a14:m>
                  <m:oMath xmlns:m="http://schemas.openxmlformats.org/officeDocument/2006/math">
                    <m:r>
                      <a:rPr lang="sr-Latn-RS" sz="1200" b="0" i="1" smtClean="0">
                        <a:latin typeface="Cambria Math" panose="02040503050406030204" pitchFamily="18" charset="0"/>
                      </a:rPr>
                      <m:t>𝑥</m:t>
                    </m:r>
                    <m:r>
                      <a:rPr lang="sr-Latn-RS" sz="1200" b="0" i="1" smtClean="0">
                        <a:latin typeface="Cambria Math" panose="02040503050406030204" pitchFamily="18" charset="0"/>
                      </a:rPr>
                      <m:t>=</m:t>
                    </m:r>
                    <m:r>
                      <a:rPr lang="sr-Latn-RS" sz="1200" b="0" i="1" smtClean="0">
                        <a:latin typeface="Cambria Math" panose="02040503050406030204" pitchFamily="18" charset="0"/>
                      </a:rPr>
                      <m:t>𝑥</m:t>
                    </m:r>
                  </m:oMath>
                </a14:m>
                <a:r>
                  <a:rPr lang="sr-Latn-RS" sz="1200" b="0" i="1" dirty="0"/>
                  <a:t>, </a:t>
                </a:r>
                <a14:m>
                  <m:oMath xmlns:m="http://schemas.openxmlformats.org/officeDocument/2006/math">
                    <m:r>
                      <a:rPr lang="sr-Latn-RS" sz="1200" b="0" i="1" smtClean="0">
                        <a:latin typeface="Cambria Math" panose="02040503050406030204" pitchFamily="18" charset="0"/>
                      </a:rPr>
                      <m:t>1 </m:t>
                    </m:r>
                    <m:r>
                      <a:rPr lang="sr-Latn-RS" sz="1200" i="1">
                        <a:latin typeface="Cambria Math" panose="02040503050406030204" pitchFamily="18" charset="0"/>
                      </a:rPr>
                      <m:t>⨁</m:t>
                    </m:r>
                  </m:oMath>
                </a14:m>
                <a:r>
                  <a:rPr lang="en-US" sz="1200" i="1" dirty="0"/>
                  <a:t> </a:t>
                </a:r>
                <a14:m>
                  <m:oMath xmlns:m="http://schemas.openxmlformats.org/officeDocument/2006/math">
                    <m:r>
                      <a:rPr lang="sr-Latn-RS" sz="1200" b="0" i="1" smtClean="0">
                        <a:latin typeface="Cambria Math" panose="02040503050406030204" pitchFamily="18" charset="0"/>
                      </a:rPr>
                      <m:t>𝑥</m:t>
                    </m:r>
                    <m:r>
                      <a:rPr lang="sr-Latn-RS" sz="1200" b="0" i="1" smtClean="0">
                        <a:latin typeface="Cambria Math" panose="02040503050406030204" pitchFamily="18" charset="0"/>
                      </a:rPr>
                      <m:t>=</m:t>
                    </m:r>
                    <m:acc>
                      <m:accPr>
                        <m:chr m:val="̅"/>
                        <m:ctrlPr>
                          <a:rPr lang="sr-Latn-RS" sz="1200" i="1" smtClean="0">
                            <a:latin typeface="Cambria Math" panose="02040503050406030204" pitchFamily="18" charset="0"/>
                          </a:rPr>
                        </m:ctrlPr>
                      </m:accPr>
                      <m:e>
                        <m:r>
                          <a:rPr lang="sr-Latn-RS" sz="1200" b="0" i="1" smtClean="0">
                            <a:latin typeface="Cambria Math" panose="02040503050406030204" pitchFamily="18" charset="0"/>
                          </a:rPr>
                          <m:t>𝑥</m:t>
                        </m:r>
                      </m:e>
                    </m:acc>
                  </m:oMath>
                </a14:m>
                <a:r>
                  <a:rPr lang="sr-Latn-RS" sz="1200" i="1" dirty="0"/>
                  <a:t> </a:t>
                </a:r>
                <a:r>
                  <a:rPr lang="sr-Latn-RS" sz="1200" i="0" dirty="0"/>
                  <a:t>and</a:t>
                </a:r>
                <a:r>
                  <a:rPr lang="sr-Latn-RS" sz="1200" i="1" dirty="0"/>
                  <a:t>  </a:t>
                </a:r>
                <a14:m>
                  <m:oMath xmlns:m="http://schemas.openxmlformats.org/officeDocument/2006/math">
                    <m:r>
                      <a:rPr lang="sr-Latn-RS" sz="1200" i="1" smtClean="0">
                        <a:latin typeface="Cambria Math" panose="02040503050406030204" pitchFamily="18" charset="0"/>
                      </a:rPr>
                      <m:t>𝑥</m:t>
                    </m:r>
                    <m:r>
                      <a:rPr lang="sr-Latn-RS" sz="1200" i="1">
                        <a:latin typeface="Cambria Math" panose="02040503050406030204" pitchFamily="18" charset="0"/>
                      </a:rPr>
                      <m:t> ⨁</m:t>
                    </m:r>
                  </m:oMath>
                </a14:m>
                <a:r>
                  <a:rPr lang="en-US" sz="1200" i="1" dirty="0"/>
                  <a:t> </a:t>
                </a:r>
                <a14:m>
                  <m:oMath xmlns:m="http://schemas.openxmlformats.org/officeDocument/2006/math">
                    <m:r>
                      <a:rPr lang="sr-Latn-RS" sz="1200" i="1">
                        <a:latin typeface="Cambria Math" panose="02040503050406030204" pitchFamily="18" charset="0"/>
                      </a:rPr>
                      <m:t>𝑥</m:t>
                    </m:r>
                    <m:r>
                      <a:rPr lang="sr-Latn-RS" sz="1200" i="1">
                        <a:latin typeface="Cambria Math" panose="02040503050406030204" pitchFamily="18" charset="0"/>
                      </a:rPr>
                      <m:t>=0</m:t>
                    </m:r>
                  </m:oMath>
                </a14:m>
                <a:endParaRPr lang="sr-Latn-RS" sz="1200" i="1"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sr-Latn-RS" sz="1200" i="1" dirty="0"/>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Another important operation is the inner product of two Boolean vectors. It is defined as the modulo-2 sum, or XOR, of the logical ANDs of their corresponding elements.</a:t>
                </a:r>
                <a:endParaRPr lang="en-US" b="0" dirty="0"/>
              </a:p>
            </p:txBody>
          </p:sp>
        </mc:Choice>
        <mc:Fallback xmlns="">
          <p:sp>
            <p:nvSpPr>
              <p:cNvPr id="3" name="Notes Placeholder 2"/>
              <p:cNvSpPr>
                <a:spLocks noGrp="1"/>
              </p:cNvSpPr>
              <p:nvPr>
                <p:ph type="body" idx="1"/>
              </p:nvPr>
            </p:nvSpPr>
            <p:spPr/>
            <p:txBody>
              <a:bodyPr/>
              <a:lstStyle/>
              <a:p>
                <a:pPr algn="just"/>
                <a:r>
                  <a:rPr lang="en-ZA" dirty="0"/>
                  <a:t>Before we continue, let’s open our math toolbox and introduce some useful concepts. We'll define the unit circle and the unit vector.</a:t>
                </a:r>
              </a:p>
              <a:p>
                <a:pPr algn="just"/>
                <a:endParaRPr lang="en-ZA" b="0" dirty="0"/>
              </a:p>
              <a:p>
                <a:pPr algn="just"/>
                <a:r>
                  <a:rPr lang="en-ZA" b="0" dirty="0"/>
                  <a:t>A qubit, which is a unit of data in quantum computing, is visualized as an arrow representing a unit vector of length 1, residing on a unit circle of radius 1.</a:t>
                </a:r>
              </a:p>
              <a:p>
                <a:pPr algn="just"/>
                <a:endParaRPr lang="en-ZA" b="0" dirty="0"/>
              </a:p>
              <a:p>
                <a:pPr algn="just"/>
                <a:r>
                  <a:rPr lang="en-ZA" b="0" dirty="0"/>
                  <a:t>By defining horizontal and vertical axes, </a:t>
                </a:r>
                <a:r>
                  <a:rPr lang="en-US" sz="1200" b="0" i="0">
                    <a:latin typeface="Cambria Math" panose="02040503050406030204" pitchFamily="18" charset="0"/>
                  </a:rPr>
                  <a:t>𝑥</a:t>
                </a:r>
                <a:r>
                  <a:rPr lang="en-ZA" dirty="0"/>
                  <a:t> and </a:t>
                </a:r>
                <a:r>
                  <a:rPr lang="en-US" sz="1200" b="0" i="0">
                    <a:latin typeface="Cambria Math" panose="02040503050406030204" pitchFamily="18" charset="0"/>
                  </a:rPr>
                  <a:t>𝑦</a:t>
                </a:r>
                <a:r>
                  <a:rPr lang="en-ZA" b="0" dirty="0"/>
                  <a:t>, that intersect at the circle’s </a:t>
                </a:r>
                <a:r>
                  <a:rPr lang="en-ZA" b="0" dirty="0" err="1"/>
                  <a:t>center</a:t>
                </a:r>
                <a:r>
                  <a:rPr lang="en-ZA" b="0" dirty="0"/>
                  <a:t>, the vector’s position on the circle is described by its coordinates </a:t>
                </a:r>
                <a:r>
                  <a:rPr lang="en-US" sz="1200" b="0" i="0">
                    <a:latin typeface="Cambria Math" panose="02040503050406030204" pitchFamily="18" charset="0"/>
                  </a:rPr>
                  <a:t>(</a:t>
                </a:r>
                <a:r>
                  <a:rPr lang="en-US" sz="1200" i="0">
                    <a:latin typeface="Cambria Math" panose="02040503050406030204" pitchFamily="18" charset="0"/>
                  </a:rPr>
                  <a:t>𝑎</a:t>
                </a:r>
                <a:r>
                  <a:rPr lang="en-US" sz="1200" b="0" i="0">
                    <a:latin typeface="Cambria Math" panose="02040503050406030204" pitchFamily="18" charset="0"/>
                  </a:rPr>
                  <a:t>,𝑏)</a:t>
                </a:r>
                <a:r>
                  <a:rPr lang="en-ZA" b="0" dirty="0"/>
                  <a:t>. These coordinates represent the horizontal and vertical distances from the origin, denoted as O.</a:t>
                </a:r>
                <a:r>
                  <a:rPr lang="en-ZA" b="0" baseline="0" dirty="0"/>
                  <a:t> </a:t>
                </a:r>
                <a:r>
                  <a:rPr lang="en-ZA" b="0" dirty="0"/>
                  <a:t>The coordinates of this vector are written in a format called a </a:t>
                </a:r>
                <a:r>
                  <a:rPr lang="en-ZA" b="1" dirty="0"/>
                  <a:t>column vector</a:t>
                </a:r>
                <a:r>
                  <a:rPr lang="en-ZA" b="0" dirty="0"/>
                  <a:t>. In this case, the coordinates </a:t>
                </a:r>
                <a:r>
                  <a:rPr lang="en-US" sz="1200" b="0" i="0">
                    <a:latin typeface="Cambria Math" panose="02040503050406030204" pitchFamily="18" charset="0"/>
                  </a:rPr>
                  <a:t>(</a:t>
                </a:r>
                <a:r>
                  <a:rPr lang="en-US" sz="1200" i="0">
                    <a:latin typeface="Cambria Math" panose="02040503050406030204" pitchFamily="18" charset="0"/>
                  </a:rPr>
                  <a:t>𝑎</a:t>
                </a:r>
                <a:r>
                  <a:rPr lang="en-US" sz="1200" b="0" i="0">
                    <a:latin typeface="Cambria Math" panose="02040503050406030204" pitchFamily="18" charset="0"/>
                  </a:rPr>
                  <a:t>,𝑏)</a:t>
                </a:r>
                <a:r>
                  <a:rPr lang="en-ZA" b="0" dirty="0"/>
                  <a:t> are expressed as the column vector</a:t>
                </a:r>
                <a:r>
                  <a:rPr lang="en-ZA" b="0" baseline="0" dirty="0"/>
                  <a:t> </a:t>
                </a:r>
                <a:r>
                  <a:rPr lang="en-US" sz="1200" i="0">
                    <a:latin typeface="Cambria Math" panose="02040503050406030204" pitchFamily="18" charset="0"/>
                  </a:rPr>
                  <a:t>(■8(𝑎@𝑏))</a:t>
                </a:r>
                <a:r>
                  <a:rPr lang="en-ZA" dirty="0"/>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a:t>
                </a:r>
                <a:r>
                  <a:rPr lang="en-ZA" baseline="0" dirty="0"/>
                  <a:t> </a:t>
                </a:r>
                <a:r>
                  <a:rPr lang="en-ZA" dirty="0"/>
                  <a:t>vector is assigned a name written between a vertical bar and a right-angle bracket, in a notation called </a:t>
                </a:r>
                <a:r>
                  <a:rPr lang="en-ZA" i="1" dirty="0"/>
                  <a:t>bra-ket notation</a:t>
                </a:r>
                <a:r>
                  <a:rPr lang="en-ZA" dirty="0"/>
                  <a:t>, derived from the word </a:t>
                </a:r>
                <a:r>
                  <a:rPr lang="en-ZA" i="1" dirty="0"/>
                  <a:t>bra(c)ket</a:t>
                </a:r>
                <a:r>
                  <a:rPr lang="en-ZA" dirty="0"/>
                  <a:t>. For example, the vector in the diagram is denoted as </a:t>
                </a:r>
                <a:r>
                  <a:rPr lang="en-US" sz="1200" i="0">
                    <a:latin typeface="Cambria Math" panose="02040503050406030204" pitchFamily="18" charset="0"/>
                  </a:rPr>
                  <a:t>|𝑆⟩</a:t>
                </a:r>
                <a:r>
                  <a:rPr lang="en-ZA" dirty="0"/>
                  <a:t> (read as </a:t>
                </a:r>
                <a:r>
                  <a:rPr lang="en-ZA" i="1" dirty="0"/>
                  <a:t>ket S</a:t>
                </a:r>
                <a:r>
                  <a:rPr lang="en-ZA" dirty="0"/>
                  <a:t>). This notation</a:t>
                </a:r>
                <a:r>
                  <a:rPr lang="en-ZA" baseline="0" dirty="0"/>
                  <a:t> </a:t>
                </a:r>
                <a:r>
                  <a:rPr lang="en-ZA" dirty="0"/>
                  <a:t>was introduced by English  physicist Paul Dirac in the 1930s.</a:t>
                </a:r>
                <a:endParaRPr lang="en-ZA" b="0" dirty="0"/>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2318359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A </a:t>
                </a:r>
                <a:r>
                  <a:rPr lang="en-ZA" b="1" dirty="0"/>
                  <a:t>quantum oracle</a:t>
                </a:r>
                <a:r>
                  <a:rPr lang="en-ZA" dirty="0"/>
                  <a:t> is like a black box that hides a function inside it. We do not need to know how the function is implemented internally; we only need to know how it maps inputs to outputs. In many quantum algorithms, the oracle represents a Boolean function that takes an n-bit input and produces either 0 or 1.</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oracle is implemented as a </a:t>
                </a:r>
                <a:r>
                  <a:rPr lang="en-ZA" b="0" dirty="0"/>
                  <a:t>unitary operation acting </a:t>
                </a:r>
                <a:r>
                  <a:rPr lang="en-ZA" dirty="0"/>
                  <a:t>on two registers: one holding the input</a:t>
                </a:r>
                <a:r>
                  <a:rPr lang="en-ZA" b="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i="0" smtClean="0">
                            <a:latin typeface="Cambria Math" panose="02040503050406030204" pitchFamily="18" charset="0"/>
                          </a:rPr>
                          <m:t>|</m:t>
                        </m:r>
                        <m:r>
                          <a:rPr lang="sr-Latn-RS" sz="1200" b="0" i="1" smtClean="0">
                            <a:latin typeface="Cambria Math" panose="02040503050406030204" pitchFamily="18" charset="0"/>
                          </a:rPr>
                          <m:t>𝑥</m:t>
                        </m:r>
                      </m:e>
                    </m:d>
                  </m:oMath>
                </a14:m>
                <a:r>
                  <a:rPr lang="en-ZA" b="0" dirty="0"/>
                  <a:t>, </a:t>
                </a:r>
                <a:r>
                  <a:rPr lang="en-ZA" dirty="0"/>
                  <a:t>and the other holding an auxiliary qubit</a:t>
                </a:r>
                <a:r>
                  <a:rPr lang="en-ZA" b="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i="0" smtClean="0">
                            <a:latin typeface="Cambria Math" panose="02040503050406030204" pitchFamily="18" charset="0"/>
                          </a:rPr>
                          <m:t>|</m:t>
                        </m:r>
                        <m:r>
                          <a:rPr lang="en-US" sz="1200" b="0" i="1" smtClean="0">
                            <a:latin typeface="Cambria Math" panose="02040503050406030204" pitchFamily="18" charset="0"/>
                          </a:rPr>
                          <m:t>𝑦</m:t>
                        </m:r>
                      </m:e>
                    </m:d>
                  </m:oMath>
                </a14:m>
                <a:r>
                  <a:rPr lang="en-ZA" b="0" dirty="0"/>
                  <a:t>. Its action is: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𝑦</m:t>
                          </m:r>
                        </m:e>
                      </m:d>
                      <m:r>
                        <a:rPr lang="en-US" sz="1200" i="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𝑥</m:t>
                          </m:r>
                        </m:e>
                      </m:d>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𝑦</m:t>
                          </m:r>
                          <m:r>
                            <a:rPr lang="en-US" sz="1200">
                              <a:latin typeface="Cambria Math" panose="02040503050406030204" pitchFamily="18" charset="0"/>
                            </a:rPr>
                            <m:t>⨁</m:t>
                          </m:r>
                          <m:r>
                            <a:rPr lang="en-US" sz="1200" i="1">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𝑥</m:t>
                              </m:r>
                            </m:e>
                          </m:d>
                        </m:e>
                      </m:d>
                    </m:oMath>
                  </m:oMathPara>
                </a14:m>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Here,</a:t>
                </a:r>
                <a:r>
                  <a:rPr lang="en-ZA" b="0" baseline="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oMath>
                </a14:m>
                <a:r>
                  <a:rPr lang="en-ZA" b="0" dirty="0"/>
                  <a:t> is left unchanged, while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𝑦</m:t>
                        </m:r>
                      </m:e>
                    </m:d>
                  </m:oMath>
                </a14:m>
                <a:r>
                  <a:rPr lang="en-ZA" b="0" dirty="0"/>
                  <a:t> is flipped if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b="0" i="1" smtClean="0">
                        <a:latin typeface="Cambria Math" panose="02040503050406030204" pitchFamily="18" charset="0"/>
                      </a:rPr>
                      <m:t>=1</m:t>
                    </m:r>
                  </m:oMath>
                </a14:m>
                <a:r>
                  <a:rPr lang="en-ZA" b="0" dirty="0"/>
                  <a:t>, </a:t>
                </a:r>
                <a:r>
                  <a:rPr lang="en-ZA" dirty="0"/>
                  <a:t>and remains unchanged if</a:t>
                </a:r>
                <a:r>
                  <a:rPr lang="en-ZA" b="0" dirty="0"/>
                  <a:t>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b="0" i="1" smtClean="0">
                        <a:latin typeface="Cambria Math" panose="02040503050406030204" pitchFamily="18" charset="0"/>
                      </a:rPr>
                      <m:t>=0</m:t>
                    </m:r>
                  </m:oMath>
                </a14:m>
                <a:r>
                  <a:rPr lang="en-ZA" b="0" dirty="0"/>
                  <a:t>.</a:t>
                </a:r>
              </a:p>
              <a:p>
                <a:endParaRPr lang="en-ZA" b="0" dirty="0"/>
              </a:p>
              <a:p>
                <a:pPr marL="228600" indent="-228600">
                  <a:buFont typeface="+mj-lt"/>
                  <a:buAutoNum type="arabicPeriod"/>
                </a:pPr>
                <a:r>
                  <a:rPr lang="en-ZA" dirty="0"/>
                  <a:t>If the auxiliary qubit is set to ∣0⟩, the oracle operates as a </a:t>
                </a:r>
                <a:r>
                  <a:rPr lang="en-ZA" i="1" dirty="0"/>
                  <a:t>binary oracle.</a:t>
                </a:r>
                <a:r>
                  <a:rPr lang="en-ZA" dirty="0"/>
                  <a:t> The oracle stores the function value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𝑥</m:t>
                        </m:r>
                      </m:e>
                    </m:d>
                  </m:oMath>
                </a14:m>
                <a:r>
                  <a:rPr lang="en-ZA" dirty="0"/>
                  <a:t> in the auxiliary qubit. This allows us to evaluate the function for the input </a:t>
                </a:r>
                <a14:m>
                  <m:oMath xmlns:m="http://schemas.openxmlformats.org/officeDocument/2006/math">
                    <m:r>
                      <a:rPr lang="en-US" sz="1200" i="1" smtClean="0">
                        <a:latin typeface="Cambria Math" panose="02040503050406030204" pitchFamily="18" charset="0"/>
                      </a:rPr>
                      <m:t>𝑥</m:t>
                    </m:r>
                  </m:oMath>
                </a14:m>
                <a:r>
                  <a:rPr lang="en-ZA" dirty="0"/>
                  <a:t>.</a:t>
                </a:r>
              </a:p>
              <a:p>
                <a:pPr marL="228600" indent="-228600">
                  <a:buFont typeface="+mj-lt"/>
                  <a:buAutoNum type="arabicPeriod"/>
                </a:pPr>
                <a:endParaRPr lang="en-ZA" dirty="0"/>
              </a:p>
              <a:p>
                <a:pPr marL="228600" indent="-228600">
                  <a:buFont typeface="+mj-lt"/>
                  <a:buAutoNum type="arabicPeriod"/>
                </a:pPr>
                <a:r>
                  <a:rPr lang="en-ZA" dirty="0"/>
                  <a:t>If the auxiliary qubit is set to ∣–⟩, the oracle operates as a </a:t>
                </a:r>
                <a:r>
                  <a:rPr lang="en-ZA" i="1" dirty="0"/>
                  <a:t>phase oracle</a:t>
                </a:r>
                <a:r>
                  <a:rPr lang="en-ZA" i="0" dirty="0"/>
                  <a:t>.</a:t>
                </a:r>
                <a:r>
                  <a:rPr lang="en-ZA" dirty="0"/>
                  <a:t> The oracle doesn’t output the value directly, but instead adds a phase of </a:t>
                </a:r>
                <a14:m>
                  <m:oMath xmlns:m="http://schemas.openxmlformats.org/officeDocument/2006/math">
                    <m:r>
                      <a:rPr lang="sr-Latn-RS" sz="1200" b="0" i="1" smtClean="0">
                        <a:latin typeface="Cambria Math" panose="02040503050406030204" pitchFamily="18" charset="0"/>
                      </a:rPr>
                      <m:t>(−1)</m:t>
                    </m:r>
                  </m:oMath>
                </a14:m>
                <a:r>
                  <a:rPr lang="en-ZA" dirty="0"/>
                  <a:t> whenever </a:t>
                </a:r>
                <a14:m>
                  <m:oMath xmlns:m="http://schemas.openxmlformats.org/officeDocument/2006/math">
                    <m:r>
                      <a:rPr lang="sr-Latn-RS" sz="1200" b="0" i="1" smtClean="0">
                        <a:latin typeface="Cambria Math" panose="02040503050406030204" pitchFamily="18" charset="0"/>
                      </a:rPr>
                      <m:t>𝑓</m:t>
                    </m:r>
                    <m:d>
                      <m:dPr>
                        <m:ctrlPr>
                          <a:rPr lang="sr-Latn-RS" sz="1200" b="0" i="1" smtClean="0">
                            <a:latin typeface="Cambria Math" panose="02040503050406030204" pitchFamily="18" charset="0"/>
                          </a:rPr>
                        </m:ctrlPr>
                      </m:dPr>
                      <m:e>
                        <m:r>
                          <a:rPr lang="sr-Latn-RS" sz="1200" b="0" i="1" smtClean="0">
                            <a:latin typeface="Cambria Math" panose="02040503050406030204" pitchFamily="18" charset="0"/>
                          </a:rPr>
                          <m:t>𝑥</m:t>
                        </m:r>
                      </m:e>
                    </m:d>
                    <m:r>
                      <a:rPr lang="en-US" sz="1200" b="0" i="1" smtClean="0">
                        <a:latin typeface="Cambria Math" panose="02040503050406030204" pitchFamily="18" charset="0"/>
                      </a:rPr>
                      <m:t>=1</m:t>
                    </m:r>
                  </m:oMath>
                </a14:m>
                <a:r>
                  <a:rPr lang="en-ZA" dirty="0"/>
                  <a:t>In other words, it marks the inputs for which the function evaluates to TRUE. </a:t>
                </a:r>
              </a:p>
              <a:p>
                <a:pPr marL="228600" indent="-228600">
                  <a:buFont typeface="+mj-lt"/>
                  <a:buAutoNum type="arabicPeriod"/>
                </a:pPr>
                <a:endParaRPr lang="en-ZA" dirty="0"/>
              </a:p>
              <a:p>
                <a:pPr marL="0" indent="0">
                  <a:buFont typeface="+mj-lt"/>
                  <a:buNone/>
                </a:pPr>
                <a:r>
                  <a:rPr lang="en-ZA" dirty="0"/>
                  <a:t>More generally, the oracle can use a multi-qubit auxiliary register when the function produces more than one output bit.</a:t>
                </a:r>
              </a:p>
            </p:txBody>
          </p:sp>
        </mc:Choice>
        <mc:Fallback xmlns="">
          <p:sp>
            <p:nvSpPr>
              <p:cNvPr id="3" name="Notes Placeholder 2"/>
              <p:cNvSpPr>
                <a:spLocks noGrp="1"/>
              </p:cNvSpPr>
              <p:nvPr>
                <p:ph type="body" idx="1"/>
              </p:nvPr>
            </p:nvSpPr>
            <p:spPr/>
            <p:txBody>
              <a:bodyPr/>
              <a:lstStyle/>
              <a:p>
                <a:r>
                  <a:rPr lang="en-US" dirty="0"/>
                  <a:t>Kvantni </a:t>
                </a:r>
                <a:r>
                  <a:rPr lang="en-US" dirty="0" err="1"/>
                  <a:t>orakl</a:t>
                </a:r>
                <a:r>
                  <a:rPr lang="en-US" dirty="0"/>
                  <a:t> se </a:t>
                </a:r>
                <a:r>
                  <a:rPr lang="en-US" dirty="0" err="1"/>
                  <a:t>može</a:t>
                </a:r>
                <a:r>
                  <a:rPr lang="en-US" dirty="0"/>
                  <a:t> </a:t>
                </a:r>
                <a:r>
                  <a:rPr lang="en-US" dirty="0" err="1"/>
                  <a:t>zamisliti</a:t>
                </a:r>
                <a:r>
                  <a:rPr lang="en-US" dirty="0"/>
                  <a:t> </a:t>
                </a:r>
                <a:r>
                  <a:rPr lang="en-US" dirty="0" err="1"/>
                  <a:t>kao</a:t>
                </a:r>
                <a:r>
                  <a:rPr lang="en-US" dirty="0"/>
                  <a:t> </a:t>
                </a:r>
                <a:r>
                  <a:rPr lang="en-US" dirty="0" err="1"/>
                  <a:t>crna</a:t>
                </a:r>
                <a:r>
                  <a:rPr lang="en-US" dirty="0"/>
                  <a:t> </a:t>
                </a:r>
                <a:r>
                  <a:rPr lang="en-US" dirty="0" err="1"/>
                  <a:t>kutija</a:t>
                </a:r>
                <a:r>
                  <a:rPr lang="en-US" dirty="0"/>
                  <a:t> </a:t>
                </a:r>
                <a:r>
                  <a:rPr lang="en-US" dirty="0" err="1"/>
                  <a:t>koja</a:t>
                </a:r>
                <a:r>
                  <a:rPr lang="en-US" dirty="0"/>
                  <a:t> </a:t>
                </a:r>
                <a:r>
                  <a:rPr lang="en-US" dirty="0" err="1"/>
                  <a:t>implementira</a:t>
                </a:r>
                <a:r>
                  <a:rPr lang="en-US" dirty="0"/>
                  <a:t> </a:t>
                </a:r>
                <a:r>
                  <a:rPr lang="en-US" dirty="0" err="1"/>
                  <a:t>neku</a:t>
                </a:r>
                <a:r>
                  <a:rPr lang="en-US" dirty="0"/>
                  <a:t> </a:t>
                </a:r>
                <a:r>
                  <a:rPr lang="en-US" dirty="0" err="1"/>
                  <a:t>funkciju</a:t>
                </a:r>
                <a:r>
                  <a:rPr lang="en-US" dirty="0"/>
                  <a:t> f(x) </a:t>
                </a:r>
                <a:r>
                  <a:rPr lang="en-US" dirty="0" err="1"/>
                  <a:t>koju</a:t>
                </a:r>
                <a:r>
                  <a:rPr lang="en-US" dirty="0"/>
                  <a:t> </a:t>
                </a:r>
                <a:r>
                  <a:rPr lang="en-US" dirty="0" err="1"/>
                  <a:t>poznajemo</a:t>
                </a:r>
                <a:r>
                  <a:rPr lang="en-US" dirty="0"/>
                  <a:t> </a:t>
                </a:r>
                <a:r>
                  <a:rPr lang="en-US" dirty="0" err="1"/>
                  <a:t>samo</a:t>
                </a:r>
                <a:r>
                  <a:rPr lang="en-US" dirty="0"/>
                  <a:t> </a:t>
                </a:r>
                <a:r>
                  <a:rPr lang="en-US" dirty="0" err="1"/>
                  <a:t>po</a:t>
                </a:r>
                <a:r>
                  <a:rPr lang="en-US" dirty="0"/>
                  <a:t> </a:t>
                </a:r>
                <a:r>
                  <a:rPr lang="en-US" dirty="0" err="1"/>
                  <a:t>njenim</a:t>
                </a:r>
                <a:r>
                  <a:rPr lang="en-US" dirty="0"/>
                  <a:t> </a:t>
                </a:r>
                <a:r>
                  <a:rPr lang="en-US" dirty="0" err="1"/>
                  <a:t>ulazima</a:t>
                </a:r>
                <a:r>
                  <a:rPr lang="en-US" dirty="0"/>
                  <a:t> </a:t>
                </a:r>
                <a:r>
                  <a:rPr lang="en-US" dirty="0" err="1"/>
                  <a:t>i</a:t>
                </a:r>
                <a:r>
                  <a:rPr lang="en-US" dirty="0"/>
                  <a:t> </a:t>
                </a:r>
                <a:r>
                  <a:rPr lang="en-US" dirty="0" err="1"/>
                  <a:t>izlazima</a:t>
                </a:r>
                <a:r>
                  <a:rPr lang="en-US" dirty="0"/>
                  <a:t>.</a:t>
                </a:r>
              </a:p>
              <a:p>
                <a:endParaRPr lang="en-US" dirty="0"/>
              </a:p>
              <a:p>
                <a:r>
                  <a:rPr lang="en-US" dirty="0" err="1"/>
                  <a:t>Neka</a:t>
                </a:r>
                <a:r>
                  <a:rPr lang="en-US" dirty="0"/>
                  <a:t> se </a:t>
                </a:r>
                <a:r>
                  <a:rPr lang="en-US" dirty="0" err="1"/>
                  <a:t>na</a:t>
                </a:r>
                <a:r>
                  <a:rPr lang="en-US" dirty="0"/>
                  <a:t> </a:t>
                </a:r>
                <a:r>
                  <a:rPr lang="en-US" dirty="0" err="1"/>
                  <a:t>ulaz</a:t>
                </a:r>
                <a:r>
                  <a:rPr lang="en-US" dirty="0"/>
                  <a:t> </a:t>
                </a:r>
                <a:r>
                  <a:rPr lang="en-US" dirty="0" err="1"/>
                  <a:t>orakla</a:t>
                </a:r>
                <a:r>
                  <a:rPr lang="en-US" dirty="0"/>
                  <a:t> </a:t>
                </a:r>
                <a:r>
                  <a:rPr lang="en-US" dirty="0" err="1"/>
                  <a:t>dovode</a:t>
                </a:r>
                <a:r>
                  <a:rPr lang="en-US" dirty="0"/>
                  <a:t> </a:t>
                </a:r>
                <a:r>
                  <a:rPr lang="en-US" dirty="0" err="1"/>
                  <a:t>dva</a:t>
                </a:r>
                <a:r>
                  <a:rPr lang="en-US" dirty="0"/>
                  <a:t> kubita |x⟩ </a:t>
                </a:r>
                <a:r>
                  <a:rPr lang="en-US" dirty="0" err="1"/>
                  <a:t>i</a:t>
                </a:r>
                <a:r>
                  <a:rPr lang="en-US" dirty="0"/>
                  <a:t> |y⟩. Na </a:t>
                </a:r>
                <a:r>
                  <a:rPr lang="en-US" dirty="0" err="1"/>
                  <a:t>jednom</a:t>
                </a:r>
                <a:r>
                  <a:rPr lang="en-US" dirty="0"/>
                  <a:t> </a:t>
                </a:r>
                <a:r>
                  <a:rPr lang="en-US" dirty="0" err="1"/>
                  <a:t>izlazu</a:t>
                </a:r>
                <a:r>
                  <a:rPr lang="en-US" dirty="0"/>
                  <a:t> </a:t>
                </a:r>
                <a:r>
                  <a:rPr lang="en-US" dirty="0" err="1"/>
                  <a:t>orakl</a:t>
                </a:r>
                <a:r>
                  <a:rPr lang="en-US" dirty="0"/>
                  <a:t> </a:t>
                </a:r>
                <a:r>
                  <a:rPr lang="en-US" dirty="0" err="1"/>
                  <a:t>daje</a:t>
                </a:r>
                <a:r>
                  <a:rPr lang="en-US" dirty="0"/>
                  <a:t> </a:t>
                </a:r>
                <a:r>
                  <a:rPr lang="en-US" dirty="0" err="1"/>
                  <a:t>ulaz</a:t>
                </a:r>
                <a:r>
                  <a:rPr lang="en-US" dirty="0"/>
                  <a:t> |x⟩, a </a:t>
                </a:r>
                <a:r>
                  <a:rPr lang="en-US" dirty="0" err="1"/>
                  <a:t>na</a:t>
                </a:r>
                <a:r>
                  <a:rPr lang="en-US" dirty="0"/>
                  <a:t> </a:t>
                </a:r>
                <a:r>
                  <a:rPr lang="en-US" dirty="0" err="1"/>
                  <a:t>drugom</a:t>
                </a:r>
                <a:r>
                  <a:rPr lang="en-US" dirty="0"/>
                  <a:t> </a:t>
                </a:r>
                <a:r>
                  <a:rPr lang="en-US" dirty="0" err="1"/>
                  <a:t>zbir</a:t>
                </a:r>
                <a:r>
                  <a:rPr lang="en-US" dirty="0"/>
                  <a:t> </a:t>
                </a:r>
                <a:r>
                  <a:rPr lang="en-US" dirty="0" err="1"/>
                  <a:t>ulaza</a:t>
                </a:r>
                <a:r>
                  <a:rPr lang="en-US" dirty="0"/>
                  <a:t> </a:t>
                </a:r>
                <a:r>
                  <a:rPr lang="en-US" dirty="0" err="1"/>
                  <a:t>po</a:t>
                </a:r>
                <a:r>
                  <a:rPr lang="en-US" dirty="0"/>
                  <a:t> </a:t>
                </a:r>
                <a:r>
                  <a:rPr lang="en-US" dirty="0" err="1"/>
                  <a:t>modulu</a:t>
                </a:r>
                <a:r>
                  <a:rPr lang="en-US" dirty="0"/>
                  <a:t> 2 |y ⨁ f(x)⟩.</a:t>
                </a:r>
              </a:p>
              <a:p>
                <a:endParaRPr lang="en-US" dirty="0"/>
              </a:p>
              <a:p>
                <a:pPr marL="228600" indent="-228600">
                  <a:buFont typeface="Arial" panose="020B0604020202020204" pitchFamily="34" charset="0"/>
                  <a:buChar char="•"/>
                </a:pPr>
                <a:r>
                  <a:rPr lang="en-US" dirty="0" err="1"/>
                  <a:t>Ako</a:t>
                </a:r>
                <a:r>
                  <a:rPr lang="en-US" dirty="0"/>
                  <a:t> </a:t>
                </a:r>
                <a:r>
                  <a:rPr lang="en-US" dirty="0" err="1"/>
                  <a:t>je</a:t>
                </a:r>
                <a:r>
                  <a:rPr lang="en-US" dirty="0"/>
                  <a:t> </a:t>
                </a:r>
                <a:r>
                  <a:rPr lang="en-US" dirty="0" err="1"/>
                  <a:t>ulaz</a:t>
                </a:r>
                <a:r>
                  <a:rPr lang="en-US" dirty="0"/>
                  <a:t> </a:t>
                </a:r>
                <a:r>
                  <a:rPr lang="en-US" sz="1200" i="0">
                    <a:latin typeface="Cambria Math" panose="02040503050406030204" pitchFamily="18" charset="0"/>
                  </a:rPr>
                  <a:t>𝑦</a:t>
                </a:r>
                <a:r>
                  <a:rPr lang="en-US" sz="1200" dirty="0"/>
                  <a:t>= </a:t>
                </a:r>
                <a:r>
                  <a:rPr lang="en-US" sz="1200" i="0">
                    <a:latin typeface="Cambria Math" panose="02040503050406030204" pitchFamily="18" charset="0"/>
                  </a:rPr>
                  <a:t>|</a:t>
                </a:r>
                <a:r>
                  <a:rPr lang="sr-Latn-RS" sz="1200" i="0">
                    <a:latin typeface="Cambria Math" panose="02040503050406030204" pitchFamily="18" charset="0"/>
                  </a:rPr>
                  <a:t>0⟩  </a:t>
                </a:r>
                <a:r>
                  <a:rPr lang="en-US" dirty="0"/>
                  <a:t>  </a:t>
                </a:r>
                <a:r>
                  <a:rPr lang="en-US" dirty="0" err="1"/>
                  <a:t>na</a:t>
                </a:r>
                <a:r>
                  <a:rPr lang="en-US" dirty="0"/>
                  <a:t> </a:t>
                </a:r>
                <a:r>
                  <a:rPr lang="en-US" dirty="0" err="1"/>
                  <a:t>istom</a:t>
                </a:r>
                <a:r>
                  <a:rPr lang="en-US" dirty="0"/>
                  <a:t> </a:t>
                </a:r>
                <a:r>
                  <a:rPr lang="en-US" dirty="0" err="1"/>
                  <a:t>izlazu</a:t>
                </a:r>
                <a:r>
                  <a:rPr lang="en-US" dirty="0"/>
                  <a:t> se dobija</a:t>
                </a:r>
                <a:r>
                  <a:rPr lang="en-US" baseline="0" dirty="0"/>
                  <a:t> </a:t>
                </a:r>
                <a:r>
                  <a:rPr lang="en-US" sz="1200" i="0">
                    <a:latin typeface="Cambria Math" panose="02040503050406030204" pitchFamily="18" charset="0"/>
                  </a:rPr>
                  <a:t>|𝑓(𝑥)⟩</a:t>
                </a:r>
                <a:r>
                  <a:rPr lang="en-US" dirty="0"/>
                  <a:t> </a:t>
                </a:r>
                <a:r>
                  <a:rPr lang="en-US" dirty="0" err="1"/>
                  <a:t>jer</a:t>
                </a:r>
                <a:r>
                  <a:rPr lang="en-US" dirty="0"/>
                  <a:t> </a:t>
                </a:r>
                <a:r>
                  <a:rPr lang="en-US" dirty="0" err="1"/>
                  <a:t>rezultat</a:t>
                </a:r>
                <a:r>
                  <a:rPr lang="en-US" dirty="0"/>
                  <a:t> XOR </a:t>
                </a:r>
                <a:r>
                  <a:rPr lang="en-US" dirty="0" err="1"/>
                  <a:t>operacije</a:t>
                </a:r>
                <a:r>
                  <a:rPr lang="en-US" dirty="0"/>
                  <a:t> </a:t>
                </a:r>
                <a:r>
                  <a:rPr lang="en-US" dirty="0" err="1"/>
                  <a:t>neke</a:t>
                </a:r>
                <a:r>
                  <a:rPr lang="en-US" dirty="0"/>
                  <a:t> </a:t>
                </a:r>
                <a:r>
                  <a:rPr lang="en-US" dirty="0" err="1"/>
                  <a:t>binarne</a:t>
                </a:r>
                <a:r>
                  <a:rPr lang="en-US" dirty="0"/>
                  <a:t> </a:t>
                </a:r>
                <a:r>
                  <a:rPr lang="en-US" dirty="0" err="1"/>
                  <a:t>vrednosti</a:t>
                </a:r>
                <a:r>
                  <a:rPr lang="en-US" dirty="0"/>
                  <a:t> </a:t>
                </a:r>
                <a:r>
                  <a:rPr lang="en-US" dirty="0" err="1"/>
                  <a:t>sa</a:t>
                </a:r>
                <a:r>
                  <a:rPr lang="en-US" dirty="0"/>
                  <a:t> </a:t>
                </a:r>
                <a:r>
                  <a:rPr lang="en-US" dirty="0" err="1"/>
                  <a:t>nulom</a:t>
                </a:r>
                <a:r>
                  <a:rPr lang="en-US" dirty="0"/>
                  <a:t> ne </a:t>
                </a:r>
                <a:r>
                  <a:rPr lang="en-US" dirty="0" err="1"/>
                  <a:t>menja</a:t>
                </a:r>
                <a:r>
                  <a:rPr lang="en-US" dirty="0"/>
                  <a:t> </a:t>
                </a:r>
                <a:r>
                  <a:rPr lang="en-US" dirty="0" err="1"/>
                  <a:t>tu</a:t>
                </a:r>
                <a:r>
                  <a:rPr lang="en-US" dirty="0"/>
                  <a:t> </a:t>
                </a:r>
                <a:r>
                  <a:rPr lang="en-US" dirty="0" err="1"/>
                  <a:t>vrednost</a:t>
                </a:r>
                <a:r>
                  <a:rPr lang="en-US" dirty="0"/>
                  <a:t>.</a:t>
                </a:r>
                <a:br>
                  <a:rPr lang="en-US" dirty="0"/>
                </a:br>
                <a:endParaRPr lang="en-US" dirty="0"/>
              </a:p>
              <a:p>
                <a:pPr marL="228600" indent="-228600">
                  <a:buFont typeface="Arial" panose="020B0604020202020204" pitchFamily="34" charset="0"/>
                  <a:buChar char="•"/>
                </a:pPr>
                <a:r>
                  <a:rPr lang="en-US" dirty="0" err="1"/>
                  <a:t>Ako</a:t>
                </a:r>
                <a:r>
                  <a:rPr lang="en-US" dirty="0"/>
                  <a:t> </a:t>
                </a:r>
                <a:r>
                  <a:rPr lang="en-US" dirty="0" err="1"/>
                  <a:t>je</a:t>
                </a:r>
                <a:r>
                  <a:rPr lang="en-US" dirty="0"/>
                  <a:t> </a:t>
                </a:r>
                <a:r>
                  <a:rPr lang="en-US" dirty="0" err="1"/>
                  <a:t>ulaz</a:t>
                </a:r>
                <a:r>
                  <a:rPr lang="en-US" dirty="0"/>
                  <a:t> </a:t>
                </a:r>
                <a:r>
                  <a:rPr lang="en-US" sz="1200" i="0">
                    <a:latin typeface="Cambria Math" panose="02040503050406030204" pitchFamily="18" charset="0"/>
                  </a:rPr>
                  <a:t>𝑦</a:t>
                </a:r>
                <a:r>
                  <a:rPr lang="en-US" sz="1200" dirty="0"/>
                  <a:t>= </a:t>
                </a:r>
                <a:r>
                  <a:rPr lang="en-US" sz="1200" i="0">
                    <a:latin typeface="Cambria Math" panose="02040503050406030204" pitchFamily="18" charset="0"/>
                  </a:rPr>
                  <a:t>|</a:t>
                </a:r>
                <a:r>
                  <a:rPr lang="sr-Latn-RS" sz="1200" b="0" i="0">
                    <a:latin typeface="Cambria Math" panose="02040503050406030204" pitchFamily="18" charset="0"/>
                  </a:rPr>
                  <a:t>−⟩ </a:t>
                </a:r>
                <a:r>
                  <a:rPr lang="sr-Latn-RS" sz="1200" i="0">
                    <a:latin typeface="Cambria Math" panose="02040503050406030204" pitchFamily="18" charset="0"/>
                  </a:rPr>
                  <a:t> </a:t>
                </a:r>
                <a:r>
                  <a:rPr lang="en-US" dirty="0"/>
                  <a:t> onda </a:t>
                </a:r>
                <a:r>
                  <a:rPr lang="en-US" dirty="0" err="1"/>
                  <a:t>dolazi</a:t>
                </a:r>
                <a:r>
                  <a:rPr lang="en-US" dirty="0"/>
                  <a:t> do </a:t>
                </a:r>
                <a:r>
                  <a:rPr lang="en-US" dirty="0" err="1"/>
                  <a:t>prenosa</a:t>
                </a:r>
                <a:r>
                  <a:rPr lang="en-US" dirty="0"/>
                  <a:t> faze </a:t>
                </a:r>
                <a:r>
                  <a:rPr lang="en-US" dirty="0" err="1"/>
                  <a:t>na</a:t>
                </a:r>
                <a:r>
                  <a:rPr lang="en-US" dirty="0"/>
                  <a:t> </a:t>
                </a:r>
                <a:r>
                  <a:rPr lang="en-US" dirty="0" err="1"/>
                  <a:t>izlaz</a:t>
                </a:r>
                <a:r>
                  <a:rPr lang="en-US" dirty="0"/>
                  <a:t> </a:t>
                </a:r>
                <a:r>
                  <a:rPr lang="en-US" sz="1200" i="0">
                    <a:latin typeface="Cambria Math" panose="02040503050406030204" pitchFamily="18" charset="0"/>
                  </a:rPr>
                  <a:t>𝑥</a:t>
                </a:r>
                <a:r>
                  <a:rPr lang="en-US" dirty="0"/>
                  <a:t> </a:t>
                </a:r>
                <a:r>
                  <a:rPr lang="en-US" dirty="0" err="1"/>
                  <a:t>koji</a:t>
                </a:r>
                <a:r>
                  <a:rPr lang="en-US" dirty="0"/>
                  <a:t> </a:t>
                </a:r>
                <a:r>
                  <a:rPr lang="en-US" dirty="0" err="1"/>
                  <a:t>postaje</a:t>
                </a:r>
                <a:r>
                  <a:rPr lang="en-US" dirty="0"/>
                  <a:t>  </a:t>
                </a:r>
                <a:r>
                  <a:rPr lang="en-US" sz="1200" i="0">
                    <a:latin typeface="Cambria Math" panose="02040503050406030204" pitchFamily="18" charset="0"/>
                  </a:rPr>
                  <a:t>〖</a:t>
                </a:r>
                <a:r>
                  <a:rPr lang="sr-Latn-RS" sz="1200" b="0" i="0">
                    <a:latin typeface="Cambria Math" panose="02040503050406030204" pitchFamily="18" charset="0"/>
                  </a:rPr>
                  <a:t>(−1)</a:t>
                </a:r>
                <a:r>
                  <a:rPr lang="en-US" sz="1200" b="0" i="0">
                    <a:latin typeface="Cambria Math" panose="02040503050406030204" pitchFamily="18" charset="0"/>
                  </a:rPr>
                  <a:t>〗^(</a:t>
                </a:r>
                <a:r>
                  <a:rPr lang="sr-Latn-RS" sz="1200" b="0" i="0">
                    <a:latin typeface="Cambria Math" panose="02040503050406030204" pitchFamily="18" charset="0"/>
                  </a:rPr>
                  <a:t>𝑓(𝑥)</a:t>
                </a:r>
                <a:r>
                  <a:rPr lang="en-US" sz="1200" b="0" i="0">
                    <a:latin typeface="Cambria Math" panose="02040503050406030204" pitchFamily="18" charset="0"/>
                  </a:rPr>
                  <a:t>) </a:t>
                </a:r>
                <a:r>
                  <a:rPr lang="en-US" sz="1200" i="0">
                    <a:latin typeface="Cambria Math" panose="02040503050406030204" pitchFamily="18" charset="0"/>
                  </a:rPr>
                  <a:t>|𝑥⟩</a:t>
                </a:r>
                <a:r>
                  <a:rPr lang="en-US" dirty="0"/>
                  <a:t>. </a:t>
                </a:r>
                <a:r>
                  <a:rPr lang="en-US" dirty="0" err="1"/>
                  <a:t>Pri</a:t>
                </a:r>
                <a:r>
                  <a:rPr lang="en-US" dirty="0"/>
                  <a:t> tome </a:t>
                </a:r>
                <a:r>
                  <a:rPr lang="en-US" dirty="0" err="1"/>
                  <a:t>izlaz</a:t>
                </a:r>
                <a:r>
                  <a:rPr lang="en-US" dirty="0"/>
                  <a:t> </a:t>
                </a:r>
                <a:r>
                  <a:rPr lang="en-US" sz="1200" i="0">
                    <a:latin typeface="Cambria Math" panose="02040503050406030204" pitchFamily="18" charset="0"/>
                  </a:rPr>
                  <a:t>𝑦</a:t>
                </a:r>
                <a:r>
                  <a:rPr lang="en-US" dirty="0"/>
                  <a:t> ne </a:t>
                </a:r>
                <a:r>
                  <a:rPr lang="en-US" dirty="0" err="1"/>
                  <a:t>menja</a:t>
                </a:r>
                <a:r>
                  <a:rPr lang="en-US" dirty="0"/>
                  <a:t> </a:t>
                </a:r>
                <a:r>
                  <a:rPr lang="en-US" dirty="0" err="1"/>
                  <a:t>vrednost</a:t>
                </a:r>
                <a:r>
                  <a:rPr lang="en-US" dirty="0"/>
                  <a:t>, </a:t>
                </a:r>
                <a:r>
                  <a:rPr lang="en-US" dirty="0" err="1"/>
                  <a:t>odnosno</a:t>
                </a:r>
                <a:r>
                  <a:rPr lang="en-US" dirty="0"/>
                  <a:t> </a:t>
                </a:r>
                <a:r>
                  <a:rPr lang="en-US" dirty="0" err="1"/>
                  <a:t>ostaje</a:t>
                </a:r>
                <a:r>
                  <a:rPr lang="en-US" dirty="0"/>
                  <a:t> </a:t>
                </a:r>
                <a:r>
                  <a:rPr lang="en-US" baseline="0" dirty="0"/>
                  <a:t> </a:t>
                </a:r>
                <a:r>
                  <a:rPr lang="en-US" dirty="0"/>
                  <a:t>|–⟩. </a:t>
                </a:r>
                <a:r>
                  <a:rPr lang="en-US" dirty="0" err="1"/>
                  <a:t>Ovakav</a:t>
                </a:r>
                <a:r>
                  <a:rPr lang="en-US" dirty="0"/>
                  <a:t> </a:t>
                </a:r>
                <a:r>
                  <a:rPr lang="en-US" dirty="0" err="1"/>
                  <a:t>orakl</a:t>
                </a:r>
                <a:r>
                  <a:rPr lang="en-US" dirty="0"/>
                  <a:t> se </a:t>
                </a:r>
                <a:r>
                  <a:rPr lang="en-US" dirty="0" err="1"/>
                  <a:t>naziva</a:t>
                </a:r>
                <a:r>
                  <a:rPr lang="en-US" dirty="0"/>
                  <a:t> </a:t>
                </a:r>
                <a:r>
                  <a:rPr lang="en-US" dirty="0" err="1"/>
                  <a:t>fazni</a:t>
                </a:r>
                <a:r>
                  <a:rPr lang="en-US" dirty="0"/>
                  <a:t> </a:t>
                </a:r>
                <a:r>
                  <a:rPr lang="en-US" dirty="0" err="1"/>
                  <a:t>orakl</a:t>
                </a:r>
                <a:r>
                  <a:rPr lang="en-US"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2652504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One of the key properties used in quantum algorithms is superposition. Many quantum algorithms begin by creating an equal superposition of all computational basis states, which can be achieved by applying Hadamard gates to all qubits.</a:t>
                </a:r>
              </a:p>
              <a:p>
                <a:pPr algn="just"/>
                <a:endParaRPr lang="en-ZA" b="0" dirty="0"/>
              </a:p>
              <a:p>
                <a:pPr algn="just"/>
                <a:r>
                  <a:rPr lang="en-ZA" b="0" dirty="0"/>
                  <a:t>A single qubit can be placed in an equal superposition of its basis states denoted as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m:t>
                        </m:r>
                      </m:e>
                    </m:d>
                  </m:oMath>
                </a14:m>
                <a:r>
                  <a:rPr lang="en-ZA" b="0" dirty="0"/>
                  <a:t> and </a:t>
                </a:r>
                <a14:m>
                  <m:oMath xmlns:m="http://schemas.openxmlformats.org/officeDocument/2006/math">
                    <m:d>
                      <m:dPr>
                        <m:begChr m:val=""/>
                        <m:endChr m:val="⟩"/>
                        <m:ctrlPr>
                          <a:rPr lang="en-US" sz="1200" i="1" smtClean="0">
                            <a:solidFill>
                              <a:srgbClr val="002060"/>
                            </a:solidFill>
                            <a:latin typeface="Cambria Math" panose="02040503050406030204" pitchFamily="18" charset="0"/>
                            <a:ea typeface="Cambria Math" panose="02040503050406030204" pitchFamily="18" charset="0"/>
                          </a:rPr>
                        </m:ctrlPr>
                      </m:dPr>
                      <m:e>
                        <m:r>
                          <a:rPr lang="en-US" sz="1200" i="1">
                            <a:solidFill>
                              <a:srgbClr val="002060"/>
                            </a:solidFill>
                            <a:latin typeface="Cambria Math" panose="02040503050406030204" pitchFamily="18" charset="0"/>
                            <a:ea typeface="Cambria Math" panose="02040503050406030204" pitchFamily="18" charset="0"/>
                          </a:rPr>
                          <m:t>|</m:t>
                        </m:r>
                        <m:r>
                          <a:rPr lang="en-US" sz="1200" b="0" i="1" smtClean="0">
                            <a:solidFill>
                              <a:srgbClr val="002060"/>
                            </a:solidFill>
                            <a:latin typeface="Cambria Math" panose="02040503050406030204" pitchFamily="18" charset="0"/>
                            <a:ea typeface="Cambria Math" panose="02040503050406030204" pitchFamily="18" charset="0"/>
                          </a:rPr>
                          <m:t>−</m:t>
                        </m:r>
                      </m:e>
                    </m:d>
                    <m:r>
                      <a:rPr lang="en-US" sz="1200" b="0" i="0" smtClean="0">
                        <a:solidFill>
                          <a:srgbClr val="002060"/>
                        </a:solidFill>
                        <a:latin typeface="Cambria Math" panose="02040503050406030204" pitchFamily="18" charset="0"/>
                        <a:ea typeface="Cambria Math" panose="02040503050406030204" pitchFamily="18" charset="0"/>
                      </a:rPr>
                      <m:t>.</m:t>
                    </m:r>
                  </m:oMath>
                </a14:m>
                <a:endParaRPr lang="en-ZA" b="0" dirty="0"/>
              </a:p>
              <a:p>
                <a:pPr algn="just"/>
                <a:endParaRPr lang="en-ZA" b="0" dirty="0"/>
              </a:p>
              <a:p>
                <a:pPr algn="just"/>
                <a:r>
                  <a:rPr lang="en-ZA" b="0" dirty="0"/>
                  <a:t>The superposition of two qubits can be obtained as the Kronecker product of their individual superposition states. </a:t>
                </a:r>
              </a:p>
              <a:p>
                <a:pPr algn="just"/>
                <a:endParaRPr lang="en-ZA" b="0" dirty="0"/>
              </a:p>
              <a:p>
                <a:pPr algn="just"/>
                <a:r>
                  <a:rPr lang="en-ZA" b="0" dirty="0"/>
                  <a:t>Similarly, the superposition of n qubits can be obtained by taking the Kronecker product of their individual superposition states. This produces a sum over all possible n-bit basis states. Each basis state has the same amplitude magnitude, while its phase is determined by the bitwise inner product </a:t>
                </a:r>
                <a:r>
                  <a:rPr lang="en-ZA" b="0" dirty="0" err="1"/>
                  <a:t>q⋅k</a:t>
                </a:r>
                <a:r>
                  <a:rPr lang="en-ZA" b="0" dirty="0"/>
                  <a:t> of the initial bit string q with the basis state k, calculated modulo 2.</a:t>
                </a:r>
              </a:p>
            </p:txBody>
          </p:sp>
        </mc:Choice>
        <mc:Fallback xmlns="">
          <p:sp>
            <p:nvSpPr>
              <p:cNvPr id="3" name="Notes Placeholder 2"/>
              <p:cNvSpPr>
                <a:spLocks noGrp="1"/>
              </p:cNvSpPr>
              <p:nvPr>
                <p:ph type="body" idx="1"/>
              </p:nvPr>
            </p:nvSpPr>
            <p:spPr/>
            <p:txBody>
              <a:bodyPr/>
              <a:lstStyle/>
              <a:p>
                <a:r>
                  <a:rPr lang="en-US" sz="2000" dirty="0"/>
                  <a:t>Superposition is one of the keys of quantum computing. Quantum circuit usually start by putting qubits into superposition by using the Hadamard gate. In a case of one qubit, that can</a:t>
                </a:r>
                <a:r>
                  <a:rPr lang="en-US" sz="2000" baseline="0" dirty="0"/>
                  <a:t> be either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a:t>
                </a:r>
                <a:r>
                  <a:rPr lang="en-US" sz="2000" dirty="0"/>
                  <a:t> or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1⟩</a:t>
                </a:r>
                <a:r>
                  <a:rPr lang="en-US" sz="2000" dirty="0"/>
                  <a:t>, we get a familiar state of superposition.</a:t>
                </a:r>
              </a:p>
              <a:p>
                <a:pPr marL="457200" indent="-457200">
                  <a:buFont typeface="+mj-lt"/>
                  <a:buAutoNum type="arabicPeriod"/>
                </a:pPr>
                <a:r>
                  <a:rPr lang="en-US" sz="2000" dirty="0"/>
                  <a:t>We can generalize this expression by introducing term </a:t>
                </a:r>
                <a:r>
                  <a:rPr lang="en-US" sz="2000" b="0" i="0">
                    <a:solidFill>
                      <a:srgbClr val="002060"/>
                    </a:solidFill>
                    <a:latin typeface="Cambria Math" panose="02040503050406030204" pitchFamily="18" charset="0"/>
                    <a:ea typeface="Cambria Math" panose="02040503050406030204" pitchFamily="18" charset="0"/>
                  </a:rPr>
                  <a:t>(−1)^</a:t>
                </a:r>
                <a:r>
                  <a:rPr lang="en-US" sz="2000" i="0">
                    <a:solidFill>
                      <a:srgbClr val="002060"/>
                    </a:solidFill>
                    <a:latin typeface="Cambria Math" panose="02040503050406030204" pitchFamily="18" charset="0"/>
                    <a:ea typeface="Cambria Math" panose="02040503050406030204" pitchFamily="18" charset="0"/>
                  </a:rPr>
                  <a:t>𝑥</a:t>
                </a:r>
                <a:r>
                  <a:rPr lang="en-US" sz="2000" dirty="0"/>
                  <a:t> where </a:t>
                </a:r>
                <a:r>
                  <a:rPr lang="en-US" sz="2000" i="0">
                    <a:solidFill>
                      <a:srgbClr val="002060"/>
                    </a:solidFill>
                    <a:latin typeface="Cambria Math" panose="02040503050406030204" pitchFamily="18" charset="0"/>
                    <a:ea typeface="Cambria Math" panose="02040503050406030204" pitchFamily="18" charset="0"/>
                  </a:rPr>
                  <a:t>𝑥</a:t>
                </a:r>
                <a:r>
                  <a:rPr lang="en-US" sz="2000" dirty="0"/>
                  <a:t> can be </a:t>
                </a:r>
                <a:r>
                  <a:rPr lang="en-US" sz="2000" i="0">
                    <a:solidFill>
                      <a:srgbClr val="002060"/>
                    </a:solidFill>
                    <a:latin typeface="Cambria Math" panose="02040503050406030204" pitchFamily="18" charset="0"/>
                    <a:ea typeface="Cambria Math" panose="02040503050406030204" pitchFamily="18" charset="0"/>
                  </a:rPr>
                  <a:t>0</a:t>
                </a:r>
                <a:r>
                  <a:rPr lang="en-US" sz="2000" dirty="0"/>
                  <a:t> or </a:t>
                </a:r>
                <a:r>
                  <a:rPr lang="en-US" sz="2000" b="0" i="0">
                    <a:latin typeface="Cambria Math" panose="02040503050406030204" pitchFamily="18" charset="0"/>
                  </a:rPr>
                  <a:t>1</a:t>
                </a:r>
                <a:r>
                  <a:rPr lang="en-US" sz="2000" dirty="0"/>
                  <a:t>. In addition we can compact the sum by introducing</a:t>
                </a:r>
                <a:r>
                  <a:rPr lang="en-US" sz="2000" baseline="0" dirty="0"/>
                  <a:t> another variable k that indicate qubits 0 and 1.</a:t>
                </a:r>
              </a:p>
              <a:p>
                <a:pPr marL="457200" indent="-457200">
                  <a:buFont typeface="+mj-lt"/>
                  <a:buAutoNum type="arabicPeriod"/>
                </a:pPr>
                <a:r>
                  <a:rPr lang="en-US" sz="2000" baseline="0" dirty="0"/>
                  <a:t>For two qubits we calculate the Kronecker product. Since superposition is equally distributed, the first term is 1/</a:t>
                </a:r>
                <a:r>
                  <a:rPr lang="en-US" sz="2000" i="0">
                    <a:solidFill>
                      <a:srgbClr val="002060"/>
                    </a:solidFill>
                    <a:latin typeface="Cambria Math" panose="02040503050406030204" pitchFamily="18" charset="0"/>
                    <a:ea typeface="Cambria Math" panose="02040503050406030204" pitchFamily="18" charset="0"/>
                  </a:rPr>
                  <a:t>√(</a:t>
                </a:r>
                <a:r>
                  <a:rPr lang="en-US" sz="2000" b="0" i="0">
                    <a:solidFill>
                      <a:srgbClr val="002060"/>
                    </a:solidFill>
                    <a:latin typeface="Cambria Math" panose="02040503050406030204" pitchFamily="18" charset="0"/>
                    <a:ea typeface="Cambria Math" panose="02040503050406030204" pitchFamily="18" charset="0"/>
                  </a:rPr>
                  <a:t>2^2 )</a:t>
                </a:r>
                <a:r>
                  <a:rPr lang="en-US" sz="2000" baseline="0" dirty="0"/>
                  <a:t>  Note that value of the (-1) exponent simply determine plus or minus. Finally the combination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𝑘_</a:t>
                </a:r>
                <a:r>
                  <a:rPr lang="en-US" sz="2000" i="0">
                    <a:solidFill>
                      <a:srgbClr val="002060"/>
                    </a:solidFill>
                    <a:latin typeface="Cambria Math" panose="02040503050406030204" pitchFamily="18" charset="0"/>
                    <a:ea typeface="Cambria Math" panose="02040503050406030204" pitchFamily="18" charset="0"/>
                  </a:rPr>
                  <a:t>1 </a:t>
                </a:r>
                <a:r>
                  <a:rPr lang="en-US" sz="2000" b="0" i="0">
                    <a:solidFill>
                      <a:srgbClr val="002060"/>
                    </a:solidFill>
                    <a:latin typeface="Cambria Math" panose="02040503050406030204" pitchFamily="18" charset="0"/>
                    <a:ea typeface="Cambria Math" panose="02040503050406030204" pitchFamily="18" charset="0"/>
                  </a:rPr>
                  <a:t>𝑘_2 ⟩</a:t>
                </a:r>
                <a:r>
                  <a:rPr lang="en-US" sz="2000" dirty="0"/>
                  <a:t> generate all possible</a:t>
                </a:r>
                <a:r>
                  <a:rPr lang="en-US" sz="2000" baseline="0" dirty="0"/>
                  <a:t> states of two qubits from 00 to 11.</a:t>
                </a:r>
              </a:p>
              <a:p>
                <a:pPr marL="457200" indent="-457200">
                  <a:buFont typeface="+mj-lt"/>
                  <a:buAutoNum type="arabicPeriod"/>
                </a:pPr>
                <a:r>
                  <a:rPr lang="en-US" sz="2000" baseline="0" dirty="0"/>
                  <a:t>Like in this example of two </a:t>
                </a:r>
                <a:r>
                  <a:rPr lang="en-US" sz="2000" i="0">
                    <a:solidFill>
                      <a:srgbClr val="002060"/>
                    </a:solidFill>
                    <a:latin typeface="Cambria Math" panose="02040503050406030204" pitchFamily="18" charset="0"/>
                    <a:ea typeface="Cambria Math" panose="02040503050406030204" pitchFamily="18" charset="0"/>
                  </a:rPr>
                  <a:t>|├ </a:t>
                </a:r>
                <a:r>
                  <a:rPr lang="en-US" sz="2000" b="0" i="0">
                    <a:solidFill>
                      <a:srgbClr val="002060"/>
                    </a:solidFill>
                    <a:latin typeface="Cambria Math" panose="02040503050406030204" pitchFamily="18" charset="0"/>
                    <a:ea typeface="Cambria Math" panose="02040503050406030204" pitchFamily="18" charset="0"/>
                  </a:rPr>
                  <a:t>0⟩</a:t>
                </a:r>
                <a:r>
                  <a:rPr lang="en-US" sz="2000" dirty="0"/>
                  <a:t> qubits. We</a:t>
                </a:r>
                <a:r>
                  <a:rPr lang="en-US" sz="2000" baseline="0" dirty="0"/>
                  <a:t> can apply the same formula for any number of qubits.</a:t>
                </a: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a:t>
            </a:fld>
            <a:endParaRPr lang="en-US"/>
          </a:p>
        </p:txBody>
      </p:sp>
    </p:spTree>
    <p:extLst>
      <p:ext uri="{BB962C8B-B14F-4D97-AF65-F5344CB8AC3E}">
        <p14:creationId xmlns:p14="http://schemas.microsoft.com/office/powerpoint/2010/main" val="3374261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David Deutsch’s algorithm, published in 1985, is generally considered the first quantum algorithm. With this algorithm, Deutsch demonstrated how the principles of quantum superposition and interference could be used to solve computational problems.</a:t>
            </a:r>
          </a:p>
          <a:p>
            <a:pPr algn="just"/>
            <a:endParaRPr lang="en-ZA" b="0" dirty="0"/>
          </a:p>
          <a:p>
            <a:pPr algn="just"/>
            <a:r>
              <a:rPr lang="en-ZA" b="0" dirty="0"/>
              <a:t>His work played a major role in establishing the foundations of quantum computing as a scientific discipline and contributed to the later development of practical quantum computers.</a:t>
            </a:r>
          </a:p>
          <a:p>
            <a:pPr algn="just"/>
            <a:endParaRPr lang="en-ZA" b="0" dirty="0"/>
          </a:p>
          <a:p>
            <a:pPr algn="just"/>
            <a:r>
              <a:rPr lang="en-ZA" b="0" dirty="0"/>
              <a:t>Today, the algorithm is mainly of theoretical importance, but the principles of superposition and interference that it demonstrates remain fundamental to many modern quantum algorithms.</a:t>
            </a:r>
          </a:p>
        </p:txBody>
      </p:sp>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2673858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Imagine you have a mysterious machine that takes a binary input x, either 0 or 1, and produces a single-bit output </a:t>
                </a:r>
                <a14:m>
                  <m:oMath xmlns:m="http://schemas.openxmlformats.org/officeDocument/2006/math">
                    <m:r>
                      <a:rPr lang="en-US" sz="1200" i="1" smtClean="0">
                        <a:solidFill>
                          <a:schemeClr val="tx1"/>
                        </a:solidFill>
                        <a:latin typeface="Cambria Math" panose="02040503050406030204" pitchFamily="18" charset="0"/>
                      </a:rPr>
                      <m:t>𝑓</m:t>
                    </m:r>
                    <m:d>
                      <m:dPr>
                        <m:ctrlPr>
                          <a:rPr lang="en-US" sz="120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𝑥</m:t>
                        </m:r>
                      </m:e>
                    </m:d>
                  </m:oMath>
                </a14:m>
                <a:r>
                  <a:rPr lang="en-ZA" dirty="0">
                    <a:solidFill>
                      <a:schemeClr val="tx1"/>
                    </a:solidFill>
                  </a:rPr>
                  <a:t>. </a:t>
                </a:r>
                <a:r>
                  <a:rPr lang="en-ZA" dirty="0"/>
                  <a:t>The machine can behave in two possible ways:</a:t>
                </a:r>
              </a:p>
              <a:p>
                <a:pPr algn="just"/>
                <a:endParaRPr lang="en-ZA" b="0" dirty="0">
                  <a:solidFill>
                    <a:schemeClr val="tx1"/>
                  </a:solidFill>
                </a:endParaRPr>
              </a:p>
              <a:p>
                <a:pPr marL="228600" indent="-228600" algn="just">
                  <a:buFont typeface="+mj-lt"/>
                  <a:buAutoNum type="arabicPeriod"/>
                </a:pPr>
                <a:r>
                  <a:rPr lang="en-ZA" b="0" dirty="0"/>
                  <a:t>Constant machine: No matter what you put in, the output is always the same. It will always give 0 or always give 1</a:t>
                </a:r>
                <a:r>
                  <a:rPr lang="en-ZA" b="0" dirty="0">
                    <a:solidFill>
                      <a:schemeClr val="tx1"/>
                    </a:solidFill>
                  </a:rPr>
                  <a:t>.</a:t>
                </a:r>
              </a:p>
              <a:p>
                <a:pPr marL="228600" indent="-228600" algn="just">
                  <a:buFont typeface="+mj-lt"/>
                  <a:buAutoNum type="arabicPeriod"/>
                </a:pPr>
                <a:endParaRPr lang="en-ZA" b="0" dirty="0">
                  <a:solidFill>
                    <a:schemeClr val="tx1"/>
                  </a:solidFill>
                </a:endParaRPr>
              </a:p>
              <a:p>
                <a:pPr marL="228600" indent="-228600" algn="just">
                  <a:buFont typeface="+mj-lt"/>
                  <a:buAutoNum type="arabicPeriod"/>
                </a:pPr>
                <a:r>
                  <a:rPr lang="en-ZA" dirty="0"/>
                  <a:t>Balanced machine: half of all possible inputs give 0, and half give 1.</a:t>
                </a:r>
                <a:endParaRPr lang="en-ZA" b="0" dirty="0">
                  <a:solidFill>
                    <a:schemeClr val="tx1"/>
                  </a:solidFill>
                </a:endParaRPr>
              </a:p>
              <a:p>
                <a:pPr marL="0" indent="0" algn="just">
                  <a:buFont typeface="+mj-lt"/>
                  <a:buNone/>
                </a:pPr>
                <a:endParaRPr lang="en-ZA" b="0" dirty="0">
                  <a:solidFill>
                    <a:schemeClr val="tx1"/>
                  </a:solidFill>
                </a:endParaRPr>
              </a:p>
              <a:p>
                <a:pPr algn="just"/>
                <a:r>
                  <a:rPr lang="en-ZA" dirty="0"/>
                  <a:t>The challenge, known as Deutsch’s problem, is this: using the machine as few times as possible, can we determine whether it is constant or balanced?</a:t>
                </a:r>
              </a:p>
              <a:p>
                <a:pPr algn="just"/>
                <a:endParaRPr lang="en-ZA" b="0" dirty="0">
                  <a:solidFill>
                    <a:schemeClr val="tx1"/>
                  </a:solidFill>
                </a:endParaRPr>
              </a:p>
              <a:p>
                <a:pPr algn="just"/>
                <a:r>
                  <a:rPr lang="en-ZA" dirty="0"/>
                  <a:t>Classically, determining whether the machine is constant or balanced requires evaluating the function for both inputs, 0 and 1. Deutsch showed that a quantum computer can use superposition and interference to determine whether the function is constant or balanced with a single evaluation of the function. This was the first demonstration of how quantum computation can solve a problem using fewer function evaluations than a classical deterministic approach.</a:t>
                </a:r>
                <a:endParaRPr lang="en-US" b="0" dirty="0">
                  <a:solidFill>
                    <a:schemeClr val="tx1"/>
                  </a:solidFill>
                </a:endParaRPr>
              </a:p>
            </p:txBody>
          </p:sp>
        </mc:Choice>
        <mc:Fallback xmlns="">
          <p:sp>
            <p:nvSpPr>
              <p:cNvPr id="3" name="Notes Placeholder 2"/>
              <p:cNvSpPr>
                <a:spLocks noGrp="1"/>
              </p:cNvSpPr>
              <p:nvPr>
                <p:ph type="body" idx="1"/>
              </p:nvPr>
            </p:nvSpPr>
            <p:spPr/>
            <p:txBody>
              <a:bodyPr/>
              <a:lstStyle/>
              <a:p>
                <a:pPr algn="just"/>
                <a:r>
                  <a:rPr lang="en-ZA" dirty="0">
                    <a:solidFill>
                      <a:schemeClr val="tx1"/>
                    </a:solidFill>
                  </a:rPr>
                  <a:t>Imagine you have a mysterious machine that takes in a binary input </a:t>
                </a:r>
                <a:r>
                  <a:rPr lang="en-US" sz="1200" b="0" i="0">
                    <a:solidFill>
                      <a:schemeClr val="tx1"/>
                    </a:solidFill>
                    <a:latin typeface="Cambria Math" panose="02040503050406030204" pitchFamily="18" charset="0"/>
                  </a:rPr>
                  <a:t>𝑥</a:t>
                </a:r>
                <a:r>
                  <a:rPr lang="en-ZA" dirty="0">
                    <a:solidFill>
                      <a:schemeClr val="tx1"/>
                    </a:solidFill>
                  </a:rPr>
                  <a:t>, either 0 or 1, and outputs a single bit, </a:t>
                </a:r>
                <a:r>
                  <a:rPr lang="en-US" sz="1200" i="0">
                    <a:solidFill>
                      <a:schemeClr val="tx1"/>
                    </a:solidFill>
                    <a:latin typeface="Cambria Math" panose="02040503050406030204" pitchFamily="18" charset="0"/>
                  </a:rPr>
                  <a:t>𝑓(</a:t>
                </a:r>
                <a:r>
                  <a:rPr lang="en-US" sz="1200" b="0" i="0">
                    <a:solidFill>
                      <a:schemeClr val="tx1"/>
                    </a:solidFill>
                    <a:latin typeface="Cambria Math" panose="02040503050406030204" pitchFamily="18" charset="0"/>
                  </a:rPr>
                  <a:t>𝑥)</a:t>
                </a:r>
                <a:r>
                  <a:rPr lang="en-ZA" dirty="0">
                    <a:solidFill>
                      <a:schemeClr val="tx1"/>
                    </a:solidFill>
                  </a:rPr>
                  <a:t>. </a:t>
                </a:r>
                <a:r>
                  <a:rPr lang="en-ZA" b="0" dirty="0">
                    <a:solidFill>
                      <a:schemeClr val="tx1"/>
                    </a:solidFill>
                  </a:rPr>
                  <a:t>The machine can behave in two possible ways:</a:t>
                </a:r>
              </a:p>
              <a:p>
                <a:pPr algn="just"/>
                <a:endParaRPr lang="en-ZA" b="0" dirty="0">
                  <a:solidFill>
                    <a:schemeClr val="tx1"/>
                  </a:solidFill>
                </a:endParaRPr>
              </a:p>
              <a:p>
                <a:pPr marL="228600" indent="-228600" algn="just">
                  <a:buFont typeface="+mj-lt"/>
                  <a:buAutoNum type="arabicPeriod"/>
                </a:pPr>
                <a:r>
                  <a:rPr lang="en-ZA" b="0" dirty="0">
                    <a:solidFill>
                      <a:schemeClr val="tx1"/>
                    </a:solidFill>
                  </a:rPr>
                  <a:t>Constant machine: no matter what you put in, the output is always the same. It will always give all 0s or always all 1s.</a:t>
                </a:r>
              </a:p>
              <a:p>
                <a:pPr marL="228600" indent="-228600" algn="just">
                  <a:buFont typeface="+mj-lt"/>
                  <a:buAutoNum type="arabicPeriod"/>
                </a:pPr>
                <a:endParaRPr lang="en-ZA" b="0" dirty="0">
                  <a:solidFill>
                    <a:schemeClr val="tx1"/>
                  </a:solidFill>
                </a:endParaRPr>
              </a:p>
              <a:p>
                <a:pPr marL="228600" indent="-228600" algn="just">
                  <a:buFont typeface="+mj-lt"/>
                  <a:buAutoNum type="arabicPeriod"/>
                </a:pPr>
                <a:r>
                  <a:rPr lang="en-ZA" dirty="0"/>
                  <a:t>Balanced machine: half of all possible inputs give 0, and half give 1.</a:t>
                </a:r>
                <a:endParaRPr lang="en-ZA" b="0" dirty="0">
                  <a:solidFill>
                    <a:schemeClr val="tx1"/>
                  </a:solidFill>
                </a:endParaRPr>
              </a:p>
              <a:p>
                <a:pPr marL="0" indent="0" algn="just">
                  <a:buFont typeface="+mj-lt"/>
                  <a:buNone/>
                </a:pPr>
                <a:endParaRPr lang="en-ZA" b="0" dirty="0">
                  <a:solidFill>
                    <a:schemeClr val="tx1"/>
                  </a:solidFill>
                </a:endParaRPr>
              </a:p>
              <a:p>
                <a:pPr algn="just"/>
                <a:r>
                  <a:rPr lang="en-ZA" b="0" dirty="0">
                    <a:solidFill>
                      <a:schemeClr val="tx1"/>
                    </a:solidFill>
                  </a:rPr>
                  <a:t>The challenge, known as Deutsch’s problem, is this: by using the machine as few times as possible, can we figure out whether it is constant or balanced?</a:t>
                </a:r>
              </a:p>
              <a:p>
                <a:pPr algn="just"/>
                <a:endParaRPr lang="en-ZA" b="0" dirty="0">
                  <a:solidFill>
                    <a:schemeClr val="tx1"/>
                  </a:solidFill>
                </a:endParaRPr>
              </a:p>
              <a:p>
                <a:pPr algn="just"/>
                <a:r>
                  <a:rPr lang="en-ZA" dirty="0"/>
                  <a:t>Classically, to figure out whether the Deutsch machine is constant or balanced, you only need to try two inputs: 0 and 1. The order doesn’t matter, but if you keep repeating the same input, you won’t learn anything new. </a:t>
                </a:r>
                <a:r>
                  <a:rPr lang="en-ZA" b="0" dirty="0">
                    <a:solidFill>
                      <a:schemeClr val="tx1"/>
                    </a:solidFill>
                  </a:rPr>
                  <a:t>Deutsch showed that a quantum computer, by putting the input into superposition, can figure it out in a single run. This is the first example of how quantum parallelism and interference give us an advantage over classical computation.</a:t>
                </a:r>
              </a:p>
              <a:p>
                <a:pPr algn="just"/>
                <a:endParaRPr lang="en-US" b="0" dirty="0">
                  <a:solidFill>
                    <a:schemeClr val="tx1"/>
                  </a:solidFill>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344853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The behaviour of this unknown function </a:t>
                </a:r>
                <a14:m>
                  <m:oMath xmlns:m="http://schemas.openxmlformats.org/officeDocument/2006/math">
                    <m:r>
                      <a:rPr lang="sr-Latn-RS" sz="1200" b="0" i="1" smtClean="0">
                        <a:latin typeface="Cambria Math" panose="02040503050406030204" pitchFamily="18" charset="0"/>
                      </a:rPr>
                      <m:t>𝑓</m:t>
                    </m:r>
                    <m:d>
                      <m:dPr>
                        <m:ctrlPr>
                          <a:rPr lang="sr-Latn-RS" sz="1200" b="0" i="1">
                            <a:latin typeface="Cambria Math" panose="02040503050406030204" pitchFamily="18" charset="0"/>
                          </a:rPr>
                        </m:ctrlPr>
                      </m:dPr>
                      <m:e>
                        <m:r>
                          <m:rPr>
                            <m:sty m:val="p"/>
                          </m:rPr>
                          <a:rPr lang="en-US" sz="1200" b="0" i="0" smtClean="0">
                            <a:latin typeface="Cambria Math" panose="02040503050406030204" pitchFamily="18" charset="0"/>
                          </a:rPr>
                          <m:t>x</m:t>
                        </m:r>
                      </m:e>
                    </m:d>
                  </m:oMath>
                </a14:m>
                <a:r>
                  <a:rPr lang="en-ZA" b="0" dirty="0"/>
                  <a:t>, can be classified into four distinct </a:t>
                </a:r>
                <a:r>
                  <a:rPr lang="en-ZA" dirty="0"/>
                  <a:t>cases</a:t>
                </a:r>
                <a:r>
                  <a:rPr lang="en-ZA" b="0" dirty="0"/>
                  <a:t>:</a:t>
                </a:r>
              </a:p>
              <a:p>
                <a:endParaRPr lang="en-ZA" b="0" dirty="0"/>
              </a:p>
              <a:p>
                <a:pPr marL="171450" indent="-171450">
                  <a:buFont typeface="Arial" panose="020B0604020202020204" pitchFamily="34" charset="0"/>
                  <a:buChar char="•"/>
                </a:pPr>
                <a:r>
                  <a:rPr lang="en-ZA" b="0" dirty="0"/>
                  <a:t>Type I – Constant function (output is always 0):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b="0" i="1" smtClean="0">
                        <a:latin typeface="Cambria Math" panose="02040503050406030204" pitchFamily="18" charset="0"/>
                      </a:rPr>
                      <m:t>=</m:t>
                    </m:r>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b="0" i="1" smtClean="0">
                        <a:latin typeface="Cambria Math" panose="02040503050406030204" pitchFamily="18" charset="0"/>
                      </a:rPr>
                      <m:t>=0</m:t>
                    </m:r>
                  </m:oMath>
                </a14:m>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Type II – Constant function (output is always 1):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b="0" i="1" smtClean="0">
                        <a:latin typeface="Cambria Math" panose="02040503050406030204" pitchFamily="18" charset="0"/>
                      </a:rPr>
                      <m:t>=</m:t>
                    </m:r>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b="0" i="1" smtClean="0">
                        <a:latin typeface="Cambria Math" panose="02040503050406030204" pitchFamily="18" charset="0"/>
                      </a:rPr>
                      <m:t>=1</m:t>
                    </m:r>
                  </m:oMath>
                </a14:m>
                <a:endParaRPr lang="en-ZA" b="0" dirty="0"/>
              </a:p>
              <a:p>
                <a:pPr marL="171450" indent="-171450">
                  <a:buFont typeface="Arial" panose="020B0604020202020204" pitchFamily="34" charset="0"/>
                  <a:buChar char="•"/>
                </a:pPr>
                <a:r>
                  <a:rPr lang="en-ZA" b="0" dirty="0"/>
                  <a:t>Type III – Balanced function (output equals the input):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b="0" i="1" smtClean="0">
                        <a:latin typeface="Cambria Math" panose="02040503050406030204" pitchFamily="18" charset="0"/>
                      </a:rPr>
                      <m:t>=0</m:t>
                    </m:r>
                  </m:oMath>
                </a14:m>
                <a:r>
                  <a:rPr lang="en-ZA" b="0" dirty="0"/>
                  <a:t>,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b="0" i="1" smtClean="0">
                        <a:latin typeface="Cambria Math" panose="02040503050406030204" pitchFamily="18" charset="0"/>
                      </a:rPr>
                      <m:t>=1</m:t>
                    </m:r>
                  </m:oMath>
                </a14:m>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Type IV – Balanced function (output is the opposite of the input):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b="0" i="1" smtClean="0">
                        <a:latin typeface="Cambria Math" panose="02040503050406030204" pitchFamily="18" charset="0"/>
                      </a:rPr>
                      <m:t>=1</m:t>
                    </m:r>
                  </m:oMath>
                </a14:m>
                <a:r>
                  <a:rPr lang="en-ZA" b="0" dirty="0"/>
                  <a:t>,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1</m:t>
                        </m:r>
                      </m:e>
                    </m:d>
                    <m:r>
                      <a:rPr lang="en-US" sz="1200" b="0" i="1" smtClean="0">
                        <a:latin typeface="Cambria Math" panose="02040503050406030204" pitchFamily="18" charset="0"/>
                      </a:rPr>
                      <m:t>=0</m:t>
                    </m:r>
                  </m:oMath>
                </a14:m>
                <a:endParaRPr lang="en-ZA" b="0" dirty="0"/>
              </a:p>
              <a:p>
                <a:endParaRPr lang="en-ZA" b="0" dirty="0"/>
              </a:p>
              <a:p>
                <a:r>
                  <a:rPr lang="en-ZA" b="0" dirty="0"/>
                  <a:t>Conclusion:</a:t>
                </a:r>
              </a:p>
              <a:p>
                <a:pPr marL="171450" indent="-171450">
                  <a:buFont typeface="Arial" panose="020B0604020202020204" pitchFamily="34" charset="0"/>
                  <a:buChar char="•"/>
                </a:pPr>
                <a:r>
                  <a:rPr lang="en-US" sz="1200" dirty="0"/>
                  <a:t>If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b="0" i="1" smtClean="0">
                        <a:latin typeface="Cambria Math" panose="02040503050406030204" pitchFamily="18" charset="0"/>
                      </a:rPr>
                      <m:t>=</m:t>
                    </m:r>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1</m:t>
                        </m:r>
                      </m:e>
                    </m:d>
                  </m:oMath>
                </a14:m>
                <a:r>
                  <a:rPr lang="en-ZA" b="0" dirty="0"/>
                  <a:t>, then </a:t>
                </a:r>
                <a14:m>
                  <m:oMath xmlns:m="http://schemas.openxmlformats.org/officeDocument/2006/math">
                    <m:r>
                      <a:rPr lang="en-US" sz="1200" i="1" smtClean="0">
                        <a:latin typeface="Cambria Math" panose="02040503050406030204" pitchFamily="18" charset="0"/>
                      </a:rPr>
                      <m:t>𝑓</m:t>
                    </m:r>
                  </m:oMath>
                </a14:m>
                <a:r>
                  <a:rPr lang="en-ZA" b="0" dirty="0"/>
                  <a:t> is a constant function, since the output does not depend on the input.</a:t>
                </a:r>
              </a:p>
              <a:p>
                <a:pPr marL="171450" indent="-171450">
                  <a:buFont typeface="Arial" panose="020B0604020202020204" pitchFamily="34" charset="0"/>
                  <a:buChar char="•"/>
                </a:pPr>
                <a:r>
                  <a:rPr lang="en-US" sz="1200" dirty="0"/>
                  <a:t>If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0</m:t>
                        </m:r>
                      </m:e>
                    </m:d>
                    <m:r>
                      <a:rPr lang="en-US" sz="1200" b="0" i="1" smtClean="0">
                        <a:latin typeface="Cambria Math" panose="02040503050406030204" pitchFamily="18" charset="0"/>
                        <a:ea typeface="Cambria Math" panose="02040503050406030204" pitchFamily="18" charset="0"/>
                      </a:rPr>
                      <m:t>≠</m:t>
                    </m:r>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b="0" i="1" smtClean="0">
                            <a:latin typeface="Cambria Math" panose="02040503050406030204" pitchFamily="18" charset="0"/>
                          </a:rPr>
                          <m:t>1</m:t>
                        </m:r>
                      </m:e>
                    </m:d>
                  </m:oMath>
                </a14:m>
                <a:r>
                  <a:rPr lang="en-ZA" b="0" dirty="0"/>
                  <a:t>, then </a:t>
                </a:r>
                <a14:m>
                  <m:oMath xmlns:m="http://schemas.openxmlformats.org/officeDocument/2006/math">
                    <m:r>
                      <a:rPr lang="en-US" sz="1200" i="1" smtClean="0">
                        <a:latin typeface="Cambria Math" panose="02040503050406030204" pitchFamily="18" charset="0"/>
                      </a:rPr>
                      <m:t>𝑓</m:t>
                    </m:r>
                  </m:oMath>
                </a14:m>
                <a:r>
                  <a:rPr lang="en-ZA" b="0" dirty="0"/>
                  <a:t> is a balanced function, since it produces one 0 and one 1 across the two inputs.</a:t>
                </a:r>
              </a:p>
            </p:txBody>
          </p:sp>
        </mc:Choice>
        <mc:Fallback xmlns="">
          <p:sp>
            <p:nvSpPr>
              <p:cNvPr id="3" name="Notes Placeholder 2"/>
              <p:cNvSpPr>
                <a:spLocks noGrp="1"/>
              </p:cNvSpPr>
              <p:nvPr>
                <p:ph type="body" idx="1"/>
              </p:nvPr>
            </p:nvSpPr>
            <p:spPr/>
            <p:txBody>
              <a:bodyPr/>
              <a:lstStyle/>
              <a:p>
                <a:r>
                  <a:rPr lang="en-ZA" b="0" dirty="0"/>
                  <a:t>Bob’s answers — or equivalently, the </a:t>
                </a:r>
                <a:r>
                  <a:rPr lang="en-ZA" b="0" dirty="0" err="1"/>
                  <a:t>behavior</a:t>
                </a:r>
                <a:r>
                  <a:rPr lang="en-ZA" b="0" dirty="0"/>
                  <a:t> of the function</a:t>
                </a:r>
                <a:r>
                  <a:rPr lang="sr-Latn-RS" sz="1200" i="0">
                    <a:latin typeface="Cambria Math" panose="02040503050406030204" pitchFamily="18" charset="0"/>
                  </a:rPr>
                  <a:t>𝒇(</a:t>
                </a:r>
                <a:r>
                  <a:rPr lang="en-US" sz="1200" b="0" i="0">
                    <a:latin typeface="Cambria Math" panose="02040503050406030204" pitchFamily="18" charset="0"/>
                  </a:rPr>
                  <a:t>x</a:t>
                </a:r>
                <a:r>
                  <a:rPr lang="sr-Latn-RS" sz="1200" b="0" i="0">
                    <a:latin typeface="Cambria Math" panose="02040503050406030204" pitchFamily="18" charset="0"/>
                  </a:rPr>
                  <a:t>)</a:t>
                </a:r>
                <a:r>
                  <a:rPr lang="en-ZA" b="0" dirty="0"/>
                  <a:t>, can be classified into four distinct categories:</a:t>
                </a:r>
              </a:p>
              <a:p>
                <a:endParaRPr lang="en-ZA" b="0" dirty="0"/>
              </a:p>
              <a:p>
                <a:pPr marL="171450" indent="-171450">
                  <a:buFont typeface="Arial" panose="020B0604020202020204" pitchFamily="34" charset="0"/>
                  <a:buChar char="•"/>
                </a:pPr>
                <a:r>
                  <a:rPr lang="en-ZA" b="0" dirty="0"/>
                  <a:t>Type I – Constant function (output is always 0): </a:t>
                </a:r>
                <a:r>
                  <a:rPr lang="en-US" sz="1200" i="0">
                    <a:latin typeface="Cambria Math" panose="02040503050406030204" pitchFamily="18" charset="0"/>
                  </a:rPr>
                  <a:t>𝑓(</a:t>
                </a:r>
                <a:r>
                  <a:rPr lang="en-US" sz="1200" b="0" i="0">
                    <a:latin typeface="Cambria Math" panose="02040503050406030204" pitchFamily="18" charset="0"/>
                  </a:rPr>
                  <a:t>0)=</a:t>
                </a:r>
                <a:r>
                  <a:rPr lang="en-US" sz="1200" i="0">
                    <a:latin typeface="Cambria Math" panose="02040503050406030204" pitchFamily="18" charset="0"/>
                  </a:rPr>
                  <a:t>𝑓(</a:t>
                </a:r>
                <a:r>
                  <a:rPr lang="en-US" sz="1200" b="0" i="0">
                    <a:latin typeface="Cambria Math" panose="02040503050406030204" pitchFamily="18" charset="0"/>
                  </a:rPr>
                  <a:t>1)=0</a:t>
                </a:r>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Type II – Constant function (output is always 1): </a:t>
                </a:r>
                <a:r>
                  <a:rPr lang="en-US" sz="1200" i="0">
                    <a:latin typeface="Cambria Math" panose="02040503050406030204" pitchFamily="18" charset="0"/>
                  </a:rPr>
                  <a:t>𝑓(</a:t>
                </a:r>
                <a:r>
                  <a:rPr lang="en-US" sz="1200" b="0" i="0">
                    <a:latin typeface="Cambria Math" panose="02040503050406030204" pitchFamily="18" charset="0"/>
                  </a:rPr>
                  <a:t>0)=</a:t>
                </a:r>
                <a:r>
                  <a:rPr lang="en-US" sz="1200" i="0">
                    <a:latin typeface="Cambria Math" panose="02040503050406030204" pitchFamily="18" charset="0"/>
                  </a:rPr>
                  <a:t>𝑓(</a:t>
                </a:r>
                <a:r>
                  <a:rPr lang="en-US" sz="1200" b="0" i="0">
                    <a:latin typeface="Cambria Math" panose="02040503050406030204" pitchFamily="18" charset="0"/>
                  </a:rPr>
                  <a:t>1)=1</a:t>
                </a:r>
                <a:endParaRPr lang="en-ZA" b="0" dirty="0"/>
              </a:p>
              <a:p>
                <a:pPr marL="171450" indent="-171450">
                  <a:buFont typeface="Arial" panose="020B0604020202020204" pitchFamily="34" charset="0"/>
                  <a:buChar char="•"/>
                </a:pPr>
                <a:r>
                  <a:rPr lang="en-ZA" b="0" dirty="0"/>
                  <a:t>Type III – Balanced function (output equals the input): </a:t>
                </a:r>
                <a:r>
                  <a:rPr lang="en-US" sz="1200" i="0">
                    <a:latin typeface="Cambria Math" panose="02040503050406030204" pitchFamily="18" charset="0"/>
                  </a:rPr>
                  <a:t>𝑓(</a:t>
                </a:r>
                <a:r>
                  <a:rPr lang="en-US" sz="1200" b="0" i="0">
                    <a:latin typeface="Cambria Math" panose="02040503050406030204" pitchFamily="18" charset="0"/>
                  </a:rPr>
                  <a:t>0)=0</a:t>
                </a:r>
                <a:r>
                  <a:rPr lang="en-ZA" b="0" dirty="0"/>
                  <a:t>, </a:t>
                </a:r>
                <a:r>
                  <a:rPr lang="en-US" sz="1200" i="0">
                    <a:latin typeface="Cambria Math" panose="02040503050406030204" pitchFamily="18" charset="0"/>
                  </a:rPr>
                  <a:t>𝑓(</a:t>
                </a:r>
                <a:r>
                  <a:rPr lang="en-US" sz="1200" b="0" i="0">
                    <a:latin typeface="Cambria Math" panose="02040503050406030204" pitchFamily="18" charset="0"/>
                  </a:rPr>
                  <a:t>1)=1</a:t>
                </a:r>
                <a:endParaRPr lang="en-ZA"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t>Type IV – Balanced function (output is the opposite of the input): </a:t>
                </a:r>
                <a:r>
                  <a:rPr lang="en-US" sz="1200" i="0">
                    <a:latin typeface="Cambria Math" panose="02040503050406030204" pitchFamily="18" charset="0"/>
                  </a:rPr>
                  <a:t>𝑓(</a:t>
                </a:r>
                <a:r>
                  <a:rPr lang="en-US" sz="1200" b="0" i="0">
                    <a:latin typeface="Cambria Math" panose="02040503050406030204" pitchFamily="18" charset="0"/>
                  </a:rPr>
                  <a:t>0)=1</a:t>
                </a:r>
                <a:r>
                  <a:rPr lang="en-ZA" b="0" dirty="0"/>
                  <a:t>, </a:t>
                </a:r>
                <a:r>
                  <a:rPr lang="en-US" sz="1200" i="0">
                    <a:latin typeface="Cambria Math" panose="02040503050406030204" pitchFamily="18" charset="0"/>
                  </a:rPr>
                  <a:t>𝑓(</a:t>
                </a:r>
                <a:r>
                  <a:rPr lang="en-US" sz="1200" b="0" i="0">
                    <a:latin typeface="Cambria Math" panose="02040503050406030204" pitchFamily="18" charset="0"/>
                  </a:rPr>
                  <a:t>1)=0</a:t>
                </a:r>
                <a:endParaRPr lang="en-ZA" b="0" dirty="0"/>
              </a:p>
              <a:p>
                <a:endParaRPr lang="en-ZA" b="0" dirty="0"/>
              </a:p>
              <a:p>
                <a:r>
                  <a:rPr lang="en-ZA" b="0" dirty="0"/>
                  <a:t>Conclusion:</a:t>
                </a:r>
              </a:p>
              <a:p>
                <a:r>
                  <a:rPr lang="en-US" sz="1200" i="0">
                    <a:latin typeface="Cambria Math" panose="02040503050406030204" pitchFamily="18" charset="0"/>
                  </a:rPr>
                  <a:t>𝑓(</a:t>
                </a:r>
                <a:r>
                  <a:rPr lang="en-US" sz="1200" b="0" i="0">
                    <a:latin typeface="Cambria Math" panose="02040503050406030204" pitchFamily="18" charset="0"/>
                  </a:rPr>
                  <a:t>0)=</a:t>
                </a:r>
                <a:r>
                  <a:rPr lang="en-US" sz="1200" i="0">
                    <a:latin typeface="Cambria Math" panose="02040503050406030204" pitchFamily="18" charset="0"/>
                  </a:rPr>
                  <a:t>𝑓(</a:t>
                </a:r>
                <a:r>
                  <a:rPr lang="en-US" sz="1200" b="0" i="0">
                    <a:latin typeface="Cambria Math" panose="02040503050406030204" pitchFamily="18" charset="0"/>
                  </a:rPr>
                  <a:t>1)</a:t>
                </a:r>
                <a:r>
                  <a:rPr lang="en-ZA" b="0" dirty="0"/>
                  <a:t>, then </a:t>
                </a:r>
                <a:r>
                  <a:rPr lang="en-US" sz="1200" i="0">
                    <a:latin typeface="Cambria Math" panose="02040503050406030204" pitchFamily="18" charset="0"/>
                  </a:rPr>
                  <a:t>𝑓</a:t>
                </a:r>
                <a:r>
                  <a:rPr lang="en-ZA" b="0" dirty="0"/>
                  <a:t> is a constant function, since the output does not depend on the input.</a:t>
                </a:r>
              </a:p>
              <a:p>
                <a:r>
                  <a:rPr lang="en-US" sz="1200" i="0">
                    <a:latin typeface="Cambria Math" panose="02040503050406030204" pitchFamily="18" charset="0"/>
                  </a:rPr>
                  <a:t>𝑓(</a:t>
                </a:r>
                <a:r>
                  <a:rPr lang="en-US" sz="1200" b="0" i="0">
                    <a:latin typeface="Cambria Math" panose="02040503050406030204" pitchFamily="18" charset="0"/>
                  </a:rPr>
                  <a:t>0)</a:t>
                </a:r>
                <a:r>
                  <a:rPr lang="en-US" sz="1200" b="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𝑓(</a:t>
                </a:r>
                <a:r>
                  <a:rPr lang="en-US" sz="1200" b="0" i="0">
                    <a:latin typeface="Cambria Math" panose="02040503050406030204" pitchFamily="18" charset="0"/>
                  </a:rPr>
                  <a:t>1)</a:t>
                </a:r>
                <a:r>
                  <a:rPr lang="en-ZA" b="0" dirty="0"/>
                  <a:t>, then </a:t>
                </a:r>
                <a:r>
                  <a:rPr lang="en-US" sz="1200" i="0">
                    <a:latin typeface="Cambria Math" panose="02040503050406030204" pitchFamily="18" charset="0"/>
                  </a:rPr>
                  <a:t>𝑓</a:t>
                </a:r>
                <a:r>
                  <a:rPr lang="en-ZA" b="0" dirty="0"/>
                  <a:t> is a balanced function, since it produces one 0 and one 1 across the two inputs.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1199002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Deutsch problem can be formulated as follows:</a:t>
                </a:r>
              </a:p>
              <a:p>
                <a:pPr algn="just"/>
                <a:endParaRPr lang="en-ZA" b="0" dirty="0"/>
              </a:p>
              <a:p>
                <a:pPr algn="just">
                  <a:spcAft>
                    <a:spcPts val="1200"/>
                  </a:spcAft>
                </a:pPr>
                <a:r>
                  <a:rPr lang="en-ZA" sz="1200" dirty="0"/>
                  <a:t>Given a one-bit function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0,1</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0,1</m:t>
                        </m:r>
                      </m:e>
                    </m:d>
                  </m:oMath>
                </a14:m>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en-ZA" sz="1200" dirty="0"/>
                  <a:t>that is promised to be either constant or balanced, determine with as few evaluations as possible whether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𝑓</m:t>
                    </m:r>
                  </m:oMath>
                </a14:m>
                <a:r>
                  <a:rPr lang="en-ZA" sz="1200" dirty="0"/>
                  <a:t> is constant or balanced</a:t>
                </a:r>
                <a:r>
                  <a:rPr lang="en-ZA" sz="1100" dirty="0"/>
                  <a:t>.</a:t>
                </a:r>
              </a:p>
              <a:p>
                <a:pPr algn="ctr">
                  <a:spcAft>
                    <a:spcPts val="1200"/>
                  </a:spcAft>
                </a:pPr>
                <a:endParaRPr lang="sr-Latn-RS" sz="800" dirty="0">
                  <a:latin typeface="Cambria" panose="02040503050406030204" pitchFamily="18" charset="0"/>
                  <a:ea typeface="Times New Roman" panose="02020603050405020304" pitchFamily="18" charset="0"/>
                  <a:cs typeface="Times New Roman" panose="02020603050405020304" pitchFamily="18" charset="0"/>
                </a:endParaRPr>
              </a:p>
              <a:p>
                <a:pPr marL="457200" indent="-457200">
                  <a:spcAft>
                    <a:spcPts val="1200"/>
                  </a:spcAft>
                  <a:buFont typeface="Arial" panose="020B0604020202020204" pitchFamily="34" charset="0"/>
                  <a:buChar char="•"/>
                </a:pPr>
                <a:r>
                  <a:rPr lang="en-ZA" sz="1100" b="0" dirty="0"/>
                  <a:t>A constant function</a:t>
                </a:r>
                <a:r>
                  <a:rPr lang="en-ZA" sz="1100" dirty="0"/>
                  <a:t> maps both inputs to the same output, either 0 or 1: </a:t>
                </a:r>
                <a14:m>
                  <m:oMath xmlns:m="http://schemas.openxmlformats.org/officeDocument/2006/math">
                    <m:r>
                      <a:rPr lang="en-US" sz="1100" i="1">
                        <a:latin typeface="Cambria Math" panose="02040503050406030204" pitchFamily="18" charset="0"/>
                      </a:rPr>
                      <m:t>𝑓</m:t>
                    </m:r>
                    <m:d>
                      <m:dPr>
                        <m:ctrlPr>
                          <a:rPr lang="en-US" sz="1100" i="1">
                            <a:latin typeface="Cambria Math" panose="02040503050406030204" pitchFamily="18" charset="0"/>
                          </a:rPr>
                        </m:ctrlPr>
                      </m:dPr>
                      <m:e>
                        <m:r>
                          <a:rPr lang="en-US" sz="1100" i="1">
                            <a:latin typeface="Cambria Math" panose="02040503050406030204" pitchFamily="18" charset="0"/>
                          </a:rPr>
                          <m:t>0</m:t>
                        </m:r>
                      </m:e>
                    </m:d>
                    <m:r>
                      <a:rPr lang="en-US" sz="1100" b="0" i="1" smtClean="0">
                        <a:latin typeface="Cambria Math" panose="02040503050406030204" pitchFamily="18" charset="0"/>
                      </a:rPr>
                      <m:t>=</m:t>
                    </m:r>
                    <m:r>
                      <a:rPr lang="en-US" sz="1100" i="1">
                        <a:latin typeface="Cambria Math" panose="02040503050406030204" pitchFamily="18" charset="0"/>
                      </a:rPr>
                      <m:t>𝑓</m:t>
                    </m:r>
                    <m:d>
                      <m:dPr>
                        <m:ctrlPr>
                          <a:rPr lang="en-US" sz="1100" i="1">
                            <a:latin typeface="Cambria Math" panose="02040503050406030204" pitchFamily="18" charset="0"/>
                          </a:rPr>
                        </m:ctrlPr>
                      </m:dPr>
                      <m:e>
                        <m:r>
                          <a:rPr lang="en-US" sz="1100" i="1">
                            <a:latin typeface="Cambria Math" panose="02040503050406030204" pitchFamily="18" charset="0"/>
                          </a:rPr>
                          <m:t>1</m:t>
                        </m:r>
                      </m:e>
                    </m:d>
                  </m:oMath>
                </a14:m>
                <a:endParaRPr lang="sr-Latn-RS" sz="1100" dirty="0">
                  <a:ea typeface="Times New Roman" panose="02020603050405020304" pitchFamily="18" charset="0"/>
                  <a:cs typeface="Times New Roman" panose="02020603050405020304" pitchFamily="18" charset="0"/>
                </a:endParaRPr>
              </a:p>
              <a:p>
                <a:pPr marL="457200" indent="-457200">
                  <a:spcAft>
                    <a:spcPts val="1200"/>
                  </a:spcAft>
                  <a:buFont typeface="Arial" panose="020B0604020202020204" pitchFamily="34" charset="0"/>
                  <a:buChar char="•"/>
                </a:pPr>
                <a:r>
                  <a:rPr lang="en-ZA" sz="1100" b="0" dirty="0"/>
                  <a:t>A balanced function maps one input to 0 and the other to 1</a:t>
                </a:r>
                <a:r>
                  <a:rPr lang="en-ZA" sz="1100" dirty="0"/>
                  <a:t>: </a:t>
                </a:r>
                <a14:m>
                  <m:oMath xmlns:m="http://schemas.openxmlformats.org/officeDocument/2006/math">
                    <m:r>
                      <a:rPr lang="en-US" sz="1100" i="1">
                        <a:latin typeface="Cambria Math" panose="02040503050406030204" pitchFamily="18" charset="0"/>
                      </a:rPr>
                      <m:t>𝑓</m:t>
                    </m:r>
                    <m:d>
                      <m:dPr>
                        <m:ctrlPr>
                          <a:rPr lang="en-US" sz="1100" i="1">
                            <a:latin typeface="Cambria Math" panose="02040503050406030204" pitchFamily="18" charset="0"/>
                          </a:rPr>
                        </m:ctrlPr>
                      </m:dPr>
                      <m:e>
                        <m:r>
                          <a:rPr lang="en-US" sz="1100" i="1">
                            <a:latin typeface="Cambria Math" panose="02040503050406030204" pitchFamily="18" charset="0"/>
                          </a:rPr>
                          <m:t>0</m:t>
                        </m:r>
                      </m:e>
                    </m:d>
                    <m:r>
                      <a:rPr lang="en-US" sz="1100" i="1">
                        <a:latin typeface="Cambria Math" panose="02040503050406030204" pitchFamily="18" charset="0"/>
                        <a:ea typeface="Cambria Math" panose="02040503050406030204" pitchFamily="18" charset="0"/>
                      </a:rPr>
                      <m:t>≠</m:t>
                    </m:r>
                    <m:r>
                      <a:rPr lang="en-US" sz="1100" i="1">
                        <a:latin typeface="Cambria Math" panose="02040503050406030204" pitchFamily="18" charset="0"/>
                      </a:rPr>
                      <m:t>𝑓</m:t>
                    </m:r>
                    <m:d>
                      <m:dPr>
                        <m:ctrlPr>
                          <a:rPr lang="en-US" sz="1100" i="1">
                            <a:latin typeface="Cambria Math" panose="02040503050406030204" pitchFamily="18" charset="0"/>
                          </a:rPr>
                        </m:ctrlPr>
                      </m:dPr>
                      <m:e>
                        <m:r>
                          <a:rPr lang="en-US" sz="1100" i="1">
                            <a:latin typeface="Cambria Math" panose="02040503050406030204" pitchFamily="18" charset="0"/>
                          </a:rPr>
                          <m:t>1</m:t>
                        </m:r>
                      </m:e>
                    </m:d>
                  </m:oMath>
                </a14:m>
                <a:endParaRPr lang="sr-Latn-RS" sz="1100" dirty="0">
                  <a:ea typeface="Times New Roman" panose="02020603050405020304" pitchFamily="18" charset="0"/>
                  <a:cs typeface="Times New Roman" panose="02020603050405020304" pitchFamily="18" charset="0"/>
                </a:endParaRPr>
              </a:p>
            </p:txBody>
          </p:sp>
        </mc:Choice>
        <mc:Fallback xmlns="">
          <p:sp>
            <p:nvSpPr>
              <p:cNvPr id="3" name="Notes Placeholder 2"/>
              <p:cNvSpPr>
                <a:spLocks noGrp="1"/>
              </p:cNvSpPr>
              <p:nvPr>
                <p:ph type="body" idx="1"/>
              </p:nvPr>
            </p:nvSpPr>
            <p:spPr/>
            <p:txBody>
              <a:bodyPr/>
              <a:lstStyle/>
              <a:p>
                <a:pPr algn="just"/>
                <a:r>
                  <a:rPr lang="en-ZA" b="0" dirty="0"/>
                  <a:t>Deutsch problem can be formulated as follows:</a:t>
                </a:r>
              </a:p>
              <a:p>
                <a:pPr algn="just"/>
                <a:endParaRPr lang="en-ZA" b="0" dirty="0"/>
              </a:p>
              <a:p>
                <a:pPr algn="just">
                  <a:spcAft>
                    <a:spcPts val="1200"/>
                  </a:spcAft>
                </a:pPr>
                <a:r>
                  <a:rPr lang="en-ZA" sz="1200" dirty="0"/>
                  <a:t>Given a one-bit function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𝑓:</a:t>
                </a:r>
                <a:r>
                  <a:rPr lang="en-ZA" sz="1200"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0,1}→</a:t>
                </a:r>
                <a:r>
                  <a:rPr lang="en-ZA" sz="1200"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0,1}</a:t>
                </a:r>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en-ZA" sz="1200" dirty="0"/>
                  <a:t>that is promised to be either constant or balanced, determine with as few evaluations as possible whether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𝑓</a:t>
                </a:r>
                <a:r>
                  <a:rPr lang="en-ZA" sz="1200" dirty="0"/>
                  <a:t> is constant or balanced</a:t>
                </a:r>
                <a:r>
                  <a:rPr lang="en-ZA" sz="1100" dirty="0"/>
                  <a:t>.</a:t>
                </a:r>
              </a:p>
              <a:p>
                <a:pPr algn="ctr">
                  <a:spcAft>
                    <a:spcPts val="1200"/>
                  </a:spcAft>
                </a:pPr>
                <a:endParaRPr lang="sr-Latn-RS" sz="800" dirty="0">
                  <a:latin typeface="Cambria" panose="02040503050406030204" pitchFamily="18" charset="0"/>
                  <a:ea typeface="Times New Roman" panose="02020603050405020304" pitchFamily="18" charset="0"/>
                  <a:cs typeface="Times New Roman" panose="02020603050405020304" pitchFamily="18" charset="0"/>
                </a:endParaRPr>
              </a:p>
              <a:p>
                <a:pPr marL="457200" indent="-457200">
                  <a:spcAft>
                    <a:spcPts val="1200"/>
                  </a:spcAft>
                  <a:buFont typeface="Arial" panose="020B0604020202020204" pitchFamily="34" charset="0"/>
                  <a:buChar char="•"/>
                </a:pPr>
                <a:r>
                  <a:rPr lang="en-ZA" sz="1100" dirty="0"/>
                  <a:t>A constant function maps all inputs to the same output, either 0 or 1: </a:t>
                </a:r>
                <a:r>
                  <a:rPr lang="en-US" sz="1100" i="0">
                    <a:latin typeface="Cambria Math" panose="02040503050406030204" pitchFamily="18" charset="0"/>
                  </a:rPr>
                  <a:t>𝑓(0)</a:t>
                </a:r>
                <a:r>
                  <a:rPr lang="en-US" sz="1100" b="0" i="0">
                    <a:latin typeface="Cambria Math" panose="02040503050406030204" pitchFamily="18" charset="0"/>
                  </a:rPr>
                  <a:t>=</a:t>
                </a:r>
                <a:r>
                  <a:rPr lang="en-US" sz="1100" i="0">
                    <a:latin typeface="Cambria Math" panose="02040503050406030204" pitchFamily="18" charset="0"/>
                  </a:rPr>
                  <a:t>𝑓(1)</a:t>
                </a:r>
                <a:endParaRPr lang="sr-Latn-RS" sz="1100" dirty="0">
                  <a:ea typeface="Times New Roman" panose="02020603050405020304" pitchFamily="18" charset="0"/>
                  <a:cs typeface="Times New Roman" panose="02020603050405020304" pitchFamily="18" charset="0"/>
                </a:endParaRPr>
              </a:p>
              <a:p>
                <a:pPr marL="457200" indent="-457200">
                  <a:spcAft>
                    <a:spcPts val="1200"/>
                  </a:spcAft>
                  <a:buFont typeface="Arial" panose="020B0604020202020204" pitchFamily="34" charset="0"/>
                  <a:buChar char="•"/>
                </a:pPr>
                <a:r>
                  <a:rPr lang="en-ZA" sz="1100" dirty="0"/>
                  <a:t>A balanced function maps exactly half of its inputs to 0 and the other half to 1: </a:t>
                </a:r>
                <a:r>
                  <a:rPr lang="en-US" sz="1100" i="0">
                    <a:latin typeface="Cambria Math" panose="02040503050406030204" pitchFamily="18" charset="0"/>
                  </a:rPr>
                  <a:t>𝑓(0)</a:t>
                </a:r>
                <a:r>
                  <a:rPr lang="en-US" sz="1100" i="0">
                    <a:latin typeface="Cambria Math" panose="02040503050406030204" pitchFamily="18" charset="0"/>
                    <a:ea typeface="Cambria Math" panose="02040503050406030204" pitchFamily="18" charset="0"/>
                  </a:rPr>
                  <a:t>≠</a:t>
                </a:r>
                <a:r>
                  <a:rPr lang="en-US" sz="1100" i="0">
                    <a:latin typeface="Cambria Math" panose="02040503050406030204" pitchFamily="18" charset="0"/>
                  </a:rPr>
                  <a:t>𝑓(1)</a:t>
                </a:r>
                <a:endParaRPr lang="sr-Latn-RS" sz="1100" dirty="0">
                  <a:ea typeface="Times New Roman" panose="02020603050405020304" pitchFamily="18" charset="0"/>
                  <a:cs typeface="Times New Roman" panose="02020603050405020304" pitchFamily="18" charset="0"/>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1933573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In the classical solution, the function must be evaluated twice, once for each input:</a:t>
            </a:r>
          </a:p>
          <a:p>
            <a:endParaRPr lang="en-ZA" b="0" dirty="0"/>
          </a:p>
          <a:p>
            <a:pPr marL="171450" indent="-171450">
              <a:buFont typeface="Arial" panose="020B0604020202020204" pitchFamily="34" charset="0"/>
              <a:buChar char="•"/>
            </a:pPr>
            <a:r>
              <a:rPr lang="en-ZA" b="0" dirty="0"/>
              <a:t>If both outputs are the same, the function is constant. </a:t>
            </a:r>
          </a:p>
          <a:p>
            <a:pPr marL="171450" indent="-171450">
              <a:buFont typeface="Arial" panose="020B0604020202020204" pitchFamily="34" charset="0"/>
              <a:buChar char="•"/>
            </a:pPr>
            <a:r>
              <a:rPr lang="en-ZA" b="0" dirty="0"/>
              <a:t>If the outputs are different, the function is balanced. </a:t>
            </a:r>
          </a:p>
          <a:p>
            <a:endParaRPr lang="en-ZA" b="0" dirty="0"/>
          </a:p>
          <a:p>
            <a:r>
              <a:rPr lang="en-ZA" b="0" dirty="0"/>
              <a:t>In the quantum solution, the function is evaluated only once, with the input in superposition:</a:t>
            </a:r>
          </a:p>
          <a:p>
            <a:endParaRPr lang="en-ZA" b="0" dirty="0"/>
          </a:p>
          <a:p>
            <a:pPr marL="171450" indent="-171450">
              <a:buFont typeface="Arial" panose="020B0604020202020204" pitchFamily="34" charset="0"/>
              <a:buChar char="•"/>
            </a:pPr>
            <a:r>
              <a:rPr lang="en-ZA" b="0" dirty="0"/>
              <a:t>If the measurement outcome is 0, the function is constant. </a:t>
            </a:r>
          </a:p>
          <a:p>
            <a:pPr marL="171450" indent="-171450">
              <a:buFont typeface="Arial" panose="020B0604020202020204" pitchFamily="34" charset="0"/>
              <a:buChar char="•"/>
            </a:pPr>
            <a:r>
              <a:rPr lang="en-ZA" b="0" dirty="0"/>
              <a:t>If the measurement outcome is 1, the function is balanced.</a:t>
            </a:r>
          </a:p>
          <a:p>
            <a:pPr marL="0" indent="0">
              <a:buFont typeface="Arial" panose="020B0604020202020204" pitchFamily="34" charset="0"/>
              <a:buNone/>
            </a:pP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3390655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figure shows an implementation of Deutsch’s algorithm. The oracle has two inputs: the first qubit carries the input </a:t>
                </a:r>
                <a14:m>
                  <m:oMath xmlns:m="http://schemas.openxmlformats.org/officeDocument/2006/math">
                    <m:r>
                      <a:rPr lang="en-US" sz="1200" b="0" i="1" smtClean="0">
                        <a:latin typeface="Cambria Math" panose="02040503050406030204" pitchFamily="18" charset="0"/>
                      </a:rPr>
                      <m:t>𝑥</m:t>
                    </m:r>
                  </m:oMath>
                </a14:m>
                <a:r>
                  <a:rPr lang="en-ZA" dirty="0"/>
                  <a:t>, while the second is the auxiliary qubit </a:t>
                </a:r>
                <a14:m>
                  <m:oMath xmlns:m="http://schemas.openxmlformats.org/officeDocument/2006/math">
                    <m:r>
                      <a:rPr lang="en-US" sz="1200" b="0" i="1" smtClean="0">
                        <a:latin typeface="Cambria Math" panose="02040503050406030204" pitchFamily="18" charset="0"/>
                      </a:rPr>
                      <m:t>𝑦</m:t>
                    </m:r>
                  </m:oMath>
                </a14:m>
                <a:r>
                  <a:rPr lang="en-ZA" dirty="0"/>
                  <a:t>. At the output, only the first qubit is measured. If the result is 0, the function is constant; if the result is 1, the function is balanced.</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algn="just"/>
                <a:r>
                  <a:rPr lang="en-ZA" dirty="0"/>
                  <a:t>The state evolution through Deutsch’s circuit can now be followed step by step, starting from </a:t>
                </a:r>
                <a14:m>
                  <m:oMath xmlns:m="http://schemas.openxmlformats.org/officeDocument/2006/math">
                    <m:d>
                      <m:dPr>
                        <m:begChr m:val=""/>
                        <m:endChr m:val="⟩"/>
                        <m:ctrlPr>
                          <a:rPr lang="en-US" sz="1200" i="1" smtClean="0">
                            <a:latin typeface="Cambria Math" panose="02040503050406030204" pitchFamily="18" charset="0"/>
                          </a:rPr>
                        </m:ctrlPr>
                      </m:dPr>
                      <m:e>
                        <m:r>
                          <a:rPr lang="en-US" sz="1200" i="0">
                            <a:latin typeface="Cambria Math" panose="02040503050406030204" pitchFamily="18" charset="0"/>
                          </a:rPr>
                          <m:t>|</m:t>
                        </m:r>
                        <m:r>
                          <a:rPr lang="en-US" sz="1200" b="0" i="1" smtClean="0">
                            <a:latin typeface="Cambria Math" panose="02040503050406030204" pitchFamily="18" charset="0"/>
                          </a:rPr>
                          <m:t>00</m:t>
                        </m:r>
                      </m:e>
                    </m:d>
                  </m:oMath>
                </a14:m>
                <a:r>
                  <a:rPr lang="en-ZA" b="0" dirty="0"/>
                  <a:t>.</a:t>
                </a:r>
              </a:p>
              <a:p>
                <a:pPr algn="just"/>
                <a:endParaRPr lang="en-ZA" b="0" dirty="0"/>
              </a:p>
              <a:p>
                <a:pPr marL="171450" indent="-171450" algn="just">
                  <a:buFont typeface="Arial" panose="020B0604020202020204" pitchFamily="34" charset="0"/>
                  <a:buChar char="•"/>
                </a:pPr>
                <a:r>
                  <a:rPr lang="en-ZA" dirty="0"/>
                  <a:t>After applying a Hadamard gate, the top qubit becomes </a:t>
                </a:r>
                <a14:m>
                  <m:oMath xmlns:m="http://schemas.openxmlformats.org/officeDocument/2006/math">
                    <m:d>
                      <m:dPr>
                        <m:begChr m:val=""/>
                        <m:endChr m:val="⟩"/>
                        <m:ctrlPr>
                          <a:rPr lang="en-US" sz="1200" i="1" smtClean="0">
                            <a:latin typeface="Cambria Math" panose="02040503050406030204" pitchFamily="18" charset="0"/>
                          </a:rPr>
                        </m:ctrlPr>
                      </m:dPr>
                      <m:e>
                        <m:r>
                          <a:rPr lang="en-US" sz="1200" i="0">
                            <a:latin typeface="Cambria Math" panose="02040503050406030204" pitchFamily="18" charset="0"/>
                          </a:rPr>
                          <m:t>|</m:t>
                        </m:r>
                        <m:r>
                          <a:rPr lang="en-US" sz="1200" b="0" i="1" smtClean="0">
                            <a:latin typeface="Cambria Math" panose="02040503050406030204" pitchFamily="18" charset="0"/>
                          </a:rPr>
                          <m:t>+</m:t>
                        </m:r>
                      </m:e>
                    </m:d>
                  </m:oMath>
                </a14:m>
                <a:r>
                  <a:rPr lang="en-ZA" dirty="0"/>
                  <a:t>. On the bottom qubit, the sequence XH prepares the state </a:t>
                </a:r>
                <a14:m>
                  <m:oMath xmlns:m="http://schemas.openxmlformats.org/officeDocument/2006/math">
                    <m:d>
                      <m:dPr>
                        <m:begChr m:val=""/>
                        <m:endChr m:val="⟩"/>
                        <m:ctrlPr>
                          <a:rPr lang="en-US" sz="1200" i="1" smtClean="0">
                            <a:latin typeface="Cambria Math" panose="02040503050406030204" pitchFamily="18" charset="0"/>
                          </a:rPr>
                        </m:ctrlPr>
                      </m:dPr>
                      <m:e>
                        <m:r>
                          <a:rPr lang="en-US" sz="1200" i="0">
                            <a:latin typeface="Cambria Math" panose="02040503050406030204" pitchFamily="18" charset="0"/>
                          </a:rPr>
                          <m:t>|</m:t>
                        </m:r>
                        <m:r>
                          <a:rPr lang="en-US" sz="1200" b="0" i="1" smtClean="0">
                            <a:latin typeface="Cambria Math" panose="02040503050406030204" pitchFamily="18" charset="0"/>
                          </a:rPr>
                          <m:t>−</m:t>
                        </m:r>
                      </m:e>
                    </m:d>
                  </m:oMath>
                </a14:m>
                <a:r>
                  <a:rPr lang="en-ZA" b="0" dirty="0"/>
                  <a:t>. </a:t>
                </a:r>
                <a:r>
                  <a:rPr lang="en-ZA" dirty="0"/>
                  <a:t>The combined state entering the oracle is</a:t>
                </a:r>
                <a:r>
                  <a:rPr lang="en-ZA" b="0" dirty="0"/>
                  <a:t>:</a:t>
                </a:r>
              </a:p>
              <a:p>
                <a:pPr algn="just"/>
                <a14:m>
                  <m:oMathPara xmlns:m="http://schemas.openxmlformats.org/officeDocument/2006/math">
                    <m:oMathParaPr>
                      <m:jc m:val="centerGroup"/>
                    </m:oMathParaPr>
                    <m:oMath xmlns:m="http://schemas.openxmlformats.org/officeDocument/2006/math">
                      <m:d>
                        <m:dPr>
                          <m:begChr m:val=""/>
                          <m:endChr m:val="⟩"/>
                          <m:ctrlPr>
                            <a:rPr lang="en-US" sz="1200" i="1" smtClean="0">
                              <a:latin typeface="Cambria Math" panose="02040503050406030204" pitchFamily="18" charset="0"/>
                            </a:rPr>
                          </m:ctrlPr>
                        </m:dPr>
                        <m:e>
                          <m:r>
                            <a:rPr lang="en-US" sz="1200" i="0">
                              <a:latin typeface="Cambria Math" panose="02040503050406030204" pitchFamily="18" charset="0"/>
                            </a:rPr>
                            <m:t>|</m:t>
                          </m:r>
                          <m:r>
                            <a:rPr lang="en-US" sz="1200" b="0" i="1" smtClean="0">
                              <a:latin typeface="Cambria Math" panose="02040503050406030204" pitchFamily="18" charset="0"/>
                            </a:rPr>
                            <m:t>+−</m:t>
                          </m:r>
                        </m:e>
                      </m:d>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num>
                        <m:den>
                          <m:r>
                            <a:rPr lang="en-US" sz="1200" b="0" i="1" smtClean="0">
                              <a:latin typeface="Cambria Math" panose="02040503050406030204" pitchFamily="18" charset="0"/>
                            </a:rPr>
                            <m:t>2</m:t>
                          </m:r>
                        </m:den>
                      </m:f>
                      <m:d>
                        <m:dPr>
                          <m:ctrlPr>
                            <a:rPr lang="en-US" sz="1200" b="0" i="1" smtClean="0">
                              <a:latin typeface="Cambria Math" panose="02040503050406030204" pitchFamily="18" charset="0"/>
                            </a:rPr>
                          </m:ctrlPr>
                        </m:dPr>
                        <m:e>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i="1">
                                  <a:latin typeface="Cambria Math" panose="02040503050406030204" pitchFamily="18" charset="0"/>
                                </a:rPr>
                                <m:t>0</m:t>
                              </m:r>
                            </m:e>
                          </m:d>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en-US" sz="1200" i="1">
                                  <a:latin typeface="Cambria Math" panose="02040503050406030204" pitchFamily="18" charset="0"/>
                                </a:rPr>
                                <m:t>0</m:t>
                              </m:r>
                            </m:e>
                          </m:d>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en-US" sz="1200" b="0" i="1" smtClean="0">
                                  <a:latin typeface="Cambria Math" panose="02040503050406030204" pitchFamily="18" charset="0"/>
                                </a:rPr>
                                <m:t>1</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en-US" sz="1200" b="0" i="1" smtClean="0">
                                  <a:latin typeface="Cambria Math" panose="02040503050406030204" pitchFamily="18" charset="0"/>
                                </a:rPr>
                                <m:t>1</m:t>
                              </m:r>
                            </m:e>
                          </m:d>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en-US" sz="1200" b="0" i="1" smtClean="0">
                                  <a:latin typeface="Cambria Math" panose="02040503050406030204" pitchFamily="18" charset="0"/>
                                </a:rPr>
                                <m:t>1</m:t>
                              </m:r>
                            </m:e>
                          </m:d>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en-US" sz="1200" b="0" i="1" smtClean="0">
                                  <a:latin typeface="Cambria Math" panose="02040503050406030204" pitchFamily="18" charset="0"/>
                                </a:rPr>
                                <m:t>1</m:t>
                              </m:r>
                            </m:e>
                          </m:d>
                        </m:e>
                      </m:d>
                    </m:oMath>
                  </m:oMathPara>
                </a14:m>
                <a:endParaRPr lang="en-ZA" b="0" dirty="0"/>
              </a:p>
              <a:p>
                <a:pPr algn="just"/>
                <a:endParaRPr lang="en-ZA" b="0" dirty="0"/>
              </a:p>
              <a:p>
                <a:pPr marL="171450" indent="-171450" algn="just">
                  <a:buFont typeface="Arial" panose="020B0604020202020204" pitchFamily="34" charset="0"/>
                  <a:buChar char="•"/>
                </a:pPr>
                <a:r>
                  <a:rPr lang="en-ZA" dirty="0"/>
                  <a:t>When the oracle is applied, the second qubit in each term is transformed according to</a:t>
                </a:r>
                <a:r>
                  <a:rPr lang="en-ZA" b="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i="0" smtClean="0">
                            <a:latin typeface="Cambria Math" panose="02040503050406030204" pitchFamily="18" charset="0"/>
                          </a:rPr>
                          <m:t>|</m:t>
                        </m:r>
                        <m:r>
                          <a:rPr lang="sr-Latn-RS" sz="1200" i="1">
                            <a:latin typeface="Cambria Math" panose="02040503050406030204" pitchFamily="18" charset="0"/>
                          </a:rPr>
                          <m:t>𝑦</m:t>
                        </m:r>
                        <m:r>
                          <a:rPr lang="sr-Latn-RS" sz="1200" i="1">
                            <a:latin typeface="Cambria Math" panose="02040503050406030204" pitchFamily="18" charset="0"/>
                          </a:rPr>
                          <m:t>⨁</m:t>
                        </m:r>
                        <m:d>
                          <m:dPr>
                            <m:begChr m:val=""/>
                            <m:ctrlPr>
                              <a:rPr lang="en-US" sz="1200" i="1">
                                <a:latin typeface="Cambria Math" panose="02040503050406030204" pitchFamily="18" charset="0"/>
                              </a:rPr>
                            </m:ctrlPr>
                          </m:dPr>
                          <m:e>
                            <m:r>
                              <a:rPr lang="en-US" sz="1200" i="1">
                                <a:latin typeface="Cambria Math" panose="02040503050406030204" pitchFamily="18" charset="0"/>
                              </a:rPr>
                              <m:t>𝑓</m:t>
                            </m:r>
                            <m:r>
                              <a:rPr lang="en-US" sz="1200">
                                <a:latin typeface="Cambria Math" panose="02040503050406030204" pitchFamily="18" charset="0"/>
                              </a:rPr>
                              <m:t>(</m:t>
                            </m:r>
                            <m:r>
                              <a:rPr lang="en-US" sz="1200" i="1">
                                <a:latin typeface="Cambria Math" panose="02040503050406030204" pitchFamily="18" charset="0"/>
                              </a:rPr>
                              <m:t>𝑥</m:t>
                            </m:r>
                          </m:e>
                        </m:d>
                      </m:e>
                    </m:d>
                  </m:oMath>
                </a14:m>
                <a:r>
                  <a:rPr lang="en-ZA" b="0" dirty="0"/>
                  <a:t> where </a:t>
                </a:r>
                <a14:m>
                  <m:oMath xmlns:m="http://schemas.openxmlformats.org/officeDocument/2006/math">
                    <m:r>
                      <a:rPr lang="en-US" sz="1200" i="1" smtClean="0">
                        <a:latin typeface="Cambria Math" panose="02040503050406030204" pitchFamily="18" charset="0"/>
                      </a:rPr>
                      <m:t>𝑥</m:t>
                    </m:r>
                  </m:oMath>
                </a14:m>
                <a:r>
                  <a:rPr lang="en-ZA" b="0" dirty="0"/>
                  <a:t> and </a:t>
                </a:r>
                <a14:m>
                  <m:oMath xmlns:m="http://schemas.openxmlformats.org/officeDocument/2006/math">
                    <m:r>
                      <a:rPr lang="en-US" sz="1200" b="0" i="1" smtClean="0">
                        <a:latin typeface="Cambria Math" panose="02040503050406030204" pitchFamily="18" charset="0"/>
                      </a:rPr>
                      <m:t>𝑦</m:t>
                    </m:r>
                  </m:oMath>
                </a14:m>
                <a:r>
                  <a:rPr lang="en-ZA" b="0" dirty="0"/>
                  <a:t> are the bit values of the first and second qubit respectively. </a:t>
                </a:r>
                <a:r>
                  <a:rPr lang="en-ZA" dirty="0"/>
                  <a:t>The resulting state is denoted by</a:t>
                </a:r>
                <a:r>
                  <a:rPr lang="en-ZA" b="0" baseline="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sr-Latn-RS" sz="1200" b="0" i="1" smtClean="0">
                            <a:latin typeface="Cambria Math" panose="02040503050406030204" pitchFamily="18" charset="0"/>
                          </a:rPr>
                          <m:t>𝑆</m:t>
                        </m:r>
                      </m:e>
                    </m:d>
                  </m:oMath>
                </a14:m>
                <a:r>
                  <a:rPr lang="en-ZA" b="0" dirty="0"/>
                  <a:t>.</a:t>
                </a:r>
              </a:p>
            </p:txBody>
          </p:sp>
        </mc:Choice>
        <mc:Fallback xmlns="">
          <p:sp>
            <p:nvSpPr>
              <p:cNvPr id="3" name="Notes Placeholder 2"/>
              <p:cNvSpPr>
                <a:spLocks noGrp="1"/>
              </p:cNvSpPr>
              <p:nvPr>
                <p:ph type="body" idx="1"/>
              </p:nvPr>
            </p:nvSpPr>
            <p:spPr/>
            <p:txBody>
              <a:bodyPr/>
              <a:lstStyle/>
              <a:p>
                <a:r>
                  <a:rPr lang="en-US" dirty="0"/>
                  <a:t>Slika </a:t>
                </a:r>
                <a:r>
                  <a:rPr lang="en-US" dirty="0" err="1"/>
                  <a:t>prikazuje</a:t>
                </a:r>
                <a:r>
                  <a:rPr lang="en-US" dirty="0"/>
                  <a:t> </a:t>
                </a:r>
                <a:r>
                  <a:rPr lang="en-US" dirty="0" err="1"/>
                  <a:t>kvatno</a:t>
                </a:r>
                <a:r>
                  <a:rPr lang="en-US" dirty="0"/>
                  <a:t> </a:t>
                </a:r>
                <a:r>
                  <a:rPr lang="en-US" dirty="0" err="1"/>
                  <a:t>kolo</a:t>
                </a:r>
                <a:r>
                  <a:rPr lang="en-US" dirty="0"/>
                  <a:t> </a:t>
                </a:r>
                <a:r>
                  <a:rPr lang="en-US" dirty="0" err="1"/>
                  <a:t>koje</a:t>
                </a:r>
                <a:r>
                  <a:rPr lang="en-US" dirty="0"/>
                  <a:t> </a:t>
                </a:r>
                <a:r>
                  <a:rPr lang="en-US" dirty="0" err="1"/>
                  <a:t>realizuje</a:t>
                </a:r>
                <a:r>
                  <a:rPr lang="en-US" dirty="0"/>
                  <a:t> </a:t>
                </a:r>
                <a:r>
                  <a:rPr lang="en-US" dirty="0" err="1"/>
                  <a:t>Dojčov</a:t>
                </a:r>
                <a:r>
                  <a:rPr lang="en-US" dirty="0"/>
                  <a:t> </a:t>
                </a:r>
                <a:r>
                  <a:rPr lang="en-US" dirty="0" err="1"/>
                  <a:t>algoritam</a:t>
                </a:r>
                <a:r>
                  <a:rPr lang="en-US" dirty="0"/>
                  <a:t>. </a:t>
                </a:r>
                <a:r>
                  <a:rPr lang="en-US" dirty="0" err="1"/>
                  <a:t>Algoritam</a:t>
                </a:r>
                <a:r>
                  <a:rPr lang="en-US" dirty="0"/>
                  <a:t> </a:t>
                </a:r>
                <a:r>
                  <a:rPr lang="en-US" dirty="0" err="1"/>
                  <a:t>koristi</a:t>
                </a:r>
                <a:r>
                  <a:rPr lang="en-US" dirty="0"/>
                  <a:t> </a:t>
                </a:r>
                <a:r>
                  <a:rPr lang="en-US" dirty="0" err="1"/>
                  <a:t>orakl</a:t>
                </a:r>
                <a:r>
                  <a:rPr lang="en-US" dirty="0"/>
                  <a:t> </a:t>
                </a:r>
                <a:r>
                  <a:rPr lang="en-US" dirty="0" err="1"/>
                  <a:t>na</a:t>
                </a:r>
                <a:r>
                  <a:rPr lang="en-US" dirty="0"/>
                  <a:t> </a:t>
                </a:r>
                <a:r>
                  <a:rPr lang="en-US" dirty="0" err="1"/>
                  <a:t>čiji</a:t>
                </a:r>
                <a:r>
                  <a:rPr lang="en-US" dirty="0"/>
                  <a:t> se </a:t>
                </a:r>
                <a:r>
                  <a:rPr lang="en-US" dirty="0" err="1"/>
                  <a:t>jedan</a:t>
                </a:r>
                <a:r>
                  <a:rPr lang="en-US" dirty="0"/>
                  <a:t> </a:t>
                </a:r>
                <a:r>
                  <a:rPr lang="en-US" dirty="0" err="1"/>
                  <a:t>ulaz</a:t>
                </a:r>
                <a:r>
                  <a:rPr lang="en-US" dirty="0"/>
                  <a:t> </a:t>
                </a:r>
                <a:r>
                  <a:rPr lang="en-US" dirty="0" err="1"/>
                  <a:t>dovodi</a:t>
                </a:r>
                <a:r>
                  <a:rPr lang="en-US" dirty="0"/>
                  <a:t> argument </a:t>
                </a:r>
                <a:r>
                  <a:rPr lang="sr-Latn-RS" sz="1200" b="0" i="0">
                    <a:latin typeface="Cambria Math" panose="02040503050406030204" pitchFamily="18" charset="0"/>
                  </a:rPr>
                  <a:t>𝑥</a:t>
                </a:r>
                <a:r>
                  <a:rPr lang="en-US" dirty="0"/>
                  <a:t> u </a:t>
                </a:r>
                <a:r>
                  <a:rPr lang="en-US" dirty="0" err="1"/>
                  <a:t>superpoziciji</a:t>
                </a:r>
                <a:r>
                  <a:rPr lang="en-US" dirty="0"/>
                  <a:t> </a:t>
                </a:r>
                <a:r>
                  <a:rPr lang="en-US" sz="1200" i="0">
                    <a:latin typeface="Cambria Math" panose="02040503050406030204" pitchFamily="18" charset="0"/>
                  </a:rPr>
                  <a:t>├ |</a:t>
                </a:r>
                <a:r>
                  <a:rPr lang="sr-Latn-RS" sz="1200" b="0" i="0">
                    <a:latin typeface="Cambria Math" panose="02040503050406030204" pitchFamily="18" charset="0"/>
                  </a:rPr>
                  <a:t>+⟩</a:t>
                </a:r>
                <a:r>
                  <a:rPr lang="en-US" dirty="0"/>
                  <a:t>. Na </a:t>
                </a:r>
                <a:r>
                  <a:rPr lang="en-US" dirty="0" err="1"/>
                  <a:t>drugi</a:t>
                </a:r>
                <a:r>
                  <a:rPr lang="en-US" dirty="0"/>
                  <a:t> </a:t>
                </a:r>
                <a:r>
                  <a:rPr lang="en-US" dirty="0" err="1"/>
                  <a:t>ulaz</a:t>
                </a:r>
                <a:r>
                  <a:rPr lang="en-US" dirty="0"/>
                  <a:t> se </a:t>
                </a:r>
                <a:r>
                  <a:rPr lang="en-US" dirty="0" err="1"/>
                  <a:t>dovodi</a:t>
                </a:r>
                <a:r>
                  <a:rPr lang="en-US" dirty="0"/>
                  <a:t> kubit u </a:t>
                </a:r>
                <a:r>
                  <a:rPr lang="en-US" dirty="0" err="1"/>
                  <a:t>stanju</a:t>
                </a:r>
                <a:r>
                  <a:rPr lang="en-US" dirty="0"/>
                  <a:t> </a:t>
                </a:r>
                <a:r>
                  <a:rPr lang="en-US" sz="1200" i="0">
                    <a:latin typeface="Cambria Math" panose="02040503050406030204" pitchFamily="18" charset="0"/>
                  </a:rPr>
                  <a:t>├ |</a:t>
                </a:r>
                <a:r>
                  <a:rPr lang="sr-Latn-RS" sz="1200" b="0" i="0">
                    <a:latin typeface="Cambria Math" panose="02040503050406030204" pitchFamily="18" charset="0"/>
                  </a:rPr>
                  <a:t>−⟩</a:t>
                </a:r>
                <a:r>
                  <a:rPr lang="en-US" dirty="0"/>
                  <a:t>.</a:t>
                </a:r>
              </a:p>
              <a:p>
                <a:r>
                  <a:rPr lang="en-US" dirty="0"/>
                  <a:t>Na </a:t>
                </a:r>
                <a:r>
                  <a:rPr lang="en-US" dirty="0" err="1"/>
                  <a:t>izlazu</a:t>
                </a:r>
                <a:r>
                  <a:rPr lang="en-US" dirty="0"/>
                  <a:t> </a:t>
                </a:r>
                <a:r>
                  <a:rPr lang="sr-Latn-RS" sz="1200" b="0" i="0">
                    <a:latin typeface="Cambria Math" panose="02040503050406030204" pitchFamily="18" charset="0"/>
                  </a:rPr>
                  <a:t>𝑥</a:t>
                </a:r>
                <a:r>
                  <a:rPr lang="en-US" dirty="0"/>
                  <a:t>, </a:t>
                </a:r>
                <a:r>
                  <a:rPr lang="en-US" dirty="0" err="1"/>
                  <a:t>superpozicija</a:t>
                </a:r>
                <a:r>
                  <a:rPr lang="en-US" dirty="0"/>
                  <a:t> se </a:t>
                </a:r>
                <a:r>
                  <a:rPr lang="en-US" dirty="0" err="1"/>
                  <a:t>zatvara</a:t>
                </a:r>
                <a:r>
                  <a:rPr lang="en-US" dirty="0"/>
                  <a:t>,</a:t>
                </a:r>
                <a:r>
                  <a:rPr lang="en-US" baseline="0" dirty="0"/>
                  <a:t> a </a:t>
                </a:r>
                <a:r>
                  <a:rPr lang="en-US" baseline="0" dirty="0" err="1"/>
                  <a:t>zatim</a:t>
                </a:r>
                <a:r>
                  <a:rPr lang="en-US" dirty="0"/>
                  <a:t> </a:t>
                </a:r>
                <a:r>
                  <a:rPr lang="en-US" dirty="0" err="1"/>
                  <a:t>vrši</a:t>
                </a:r>
                <a:r>
                  <a:rPr lang="en-US" dirty="0"/>
                  <a:t> </a:t>
                </a:r>
                <a:r>
                  <a:rPr lang="en-US" dirty="0" err="1"/>
                  <a:t>merenje</a:t>
                </a:r>
                <a:r>
                  <a:rPr lang="en-US" dirty="0"/>
                  <a:t> </a:t>
                </a:r>
                <a:r>
                  <a:rPr lang="en-US" dirty="0" err="1"/>
                  <a:t>gornjeg</a:t>
                </a:r>
                <a:r>
                  <a:rPr lang="en-US" dirty="0"/>
                  <a:t> kubita </a:t>
                </a:r>
                <a:r>
                  <a:rPr lang="en-US" dirty="0" err="1"/>
                  <a:t>koje</a:t>
                </a:r>
                <a:r>
                  <a:rPr lang="en-US" dirty="0"/>
                  <a:t> </a:t>
                </a:r>
                <a:r>
                  <a:rPr lang="en-US" dirty="0" err="1"/>
                  <a:t>daje</a:t>
                </a:r>
                <a:r>
                  <a:rPr lang="en-US" dirty="0"/>
                  <a:t> </a:t>
                </a:r>
                <a:r>
                  <a:rPr lang="en-US" dirty="0" err="1"/>
                  <a:t>rezultat</a:t>
                </a:r>
                <a:r>
                  <a:rPr lang="en-US" dirty="0"/>
                  <a:t> 0 </a:t>
                </a:r>
                <a:r>
                  <a:rPr lang="en-US" dirty="0" err="1"/>
                  <a:t>ili</a:t>
                </a:r>
                <a:r>
                  <a:rPr lang="en-US" dirty="0"/>
                  <a:t> 1.</a:t>
                </a:r>
              </a:p>
              <a:p>
                <a:endParaRPr lang="en-US" dirty="0"/>
              </a:p>
              <a:p>
                <a:r>
                  <a:rPr lang="en-US" dirty="0" err="1"/>
                  <a:t>Pogledajmo</a:t>
                </a:r>
                <a:r>
                  <a:rPr lang="en-US" dirty="0"/>
                  <a:t> </a:t>
                </a:r>
                <a:r>
                  <a:rPr lang="en-US" dirty="0" err="1"/>
                  <a:t>korak</a:t>
                </a:r>
                <a:r>
                  <a:rPr lang="en-US" dirty="0"/>
                  <a:t>, </a:t>
                </a:r>
                <a:r>
                  <a:rPr lang="en-US" dirty="0" err="1"/>
                  <a:t>po</a:t>
                </a:r>
                <a:r>
                  <a:rPr lang="en-US" dirty="0"/>
                  <a:t> </a:t>
                </a:r>
                <a:r>
                  <a:rPr lang="en-US" dirty="0" err="1"/>
                  <a:t>korak</a:t>
                </a:r>
                <a:r>
                  <a:rPr lang="en-US" dirty="0"/>
                  <a:t>, </a:t>
                </a:r>
                <a:r>
                  <a:rPr lang="en-US" dirty="0" err="1"/>
                  <a:t>kako</a:t>
                </a:r>
                <a:r>
                  <a:rPr lang="en-US" dirty="0"/>
                  <a:t> se </a:t>
                </a:r>
                <a:r>
                  <a:rPr lang="en-US" dirty="0" err="1"/>
                  <a:t>menja</a:t>
                </a:r>
                <a:r>
                  <a:rPr lang="en-US" dirty="0"/>
                  <a:t> </a:t>
                </a:r>
                <a:r>
                  <a:rPr lang="en-US" dirty="0" err="1"/>
                  <a:t>stanje</a:t>
                </a:r>
                <a:r>
                  <a:rPr lang="en-US" dirty="0"/>
                  <a:t> u </a:t>
                </a:r>
                <a:r>
                  <a:rPr lang="en-US" dirty="0" err="1"/>
                  <a:t>kolu</a:t>
                </a:r>
                <a:r>
                  <a:rPr lang="en-US" dirty="0"/>
                  <a:t>.</a:t>
                </a:r>
              </a:p>
              <a:p>
                <a:endParaRPr lang="en-US" dirty="0"/>
              </a:p>
              <a:p>
                <a:pPr marL="228600" indent="-228600">
                  <a:buFont typeface="+mj-lt"/>
                  <a:buAutoNum type="arabicPeriod"/>
                </a:pPr>
                <a:r>
                  <a:rPr lang="en-US" dirty="0" err="1"/>
                  <a:t>Posle</a:t>
                </a:r>
                <a:r>
                  <a:rPr lang="en-US" dirty="0"/>
                  <a:t> </a:t>
                </a:r>
                <a:r>
                  <a:rPr lang="en-US" dirty="0" err="1"/>
                  <a:t>primene</a:t>
                </a:r>
                <a:r>
                  <a:rPr lang="en-US" dirty="0"/>
                  <a:t> </a:t>
                </a:r>
                <a:r>
                  <a:rPr lang="en-US" dirty="0" err="1"/>
                  <a:t>Adamarovih</a:t>
                </a:r>
                <a:r>
                  <a:rPr lang="en-US" dirty="0"/>
                  <a:t> kola, </a:t>
                </a:r>
                <a:r>
                  <a:rPr lang="en-US" dirty="0" err="1"/>
                  <a:t>stanje</a:t>
                </a:r>
                <a:r>
                  <a:rPr lang="en-US" dirty="0"/>
                  <a:t> </a:t>
                </a:r>
                <a:r>
                  <a:rPr lang="en-US" dirty="0" err="1"/>
                  <a:t>na</a:t>
                </a:r>
                <a:r>
                  <a:rPr lang="en-US" dirty="0"/>
                  <a:t> </a:t>
                </a:r>
                <a:r>
                  <a:rPr lang="en-US" dirty="0" err="1"/>
                  <a:t>ulazu</a:t>
                </a:r>
                <a:r>
                  <a:rPr lang="en-US" dirty="0"/>
                  <a:t> u </a:t>
                </a:r>
                <a:r>
                  <a:rPr lang="en-US" dirty="0" err="1"/>
                  <a:t>orakl</a:t>
                </a:r>
                <a:r>
                  <a:rPr lang="en-US" dirty="0"/>
                  <a:t> </a:t>
                </a:r>
                <a:r>
                  <a:rPr lang="en-US" dirty="0" err="1"/>
                  <a:t>je</a:t>
                </a:r>
                <a:r>
                  <a:rPr lang="en-US" dirty="0"/>
                  <a:t> </a:t>
                </a:r>
                <a:r>
                  <a:rPr lang="en-US" dirty="0" err="1"/>
                  <a:t>dato</a:t>
                </a:r>
                <a:r>
                  <a:rPr lang="en-US" dirty="0"/>
                  <a:t> </a:t>
                </a:r>
                <a:r>
                  <a:rPr lang="en-US" dirty="0" err="1"/>
                  <a:t>superpozicijom</a:t>
                </a:r>
                <a:r>
                  <a:rPr lang="en-US" dirty="0"/>
                  <a:t> |+⟩|–⟩. </a:t>
                </a:r>
                <a:r>
                  <a:rPr lang="en-US" dirty="0" err="1"/>
                  <a:t>Množenje</a:t>
                </a:r>
                <a:r>
                  <a:rPr lang="en-US" dirty="0"/>
                  <a:t> </a:t>
                </a:r>
                <a:r>
                  <a:rPr lang="en-US" dirty="0" err="1"/>
                  <a:t>daje</a:t>
                </a:r>
                <a:r>
                  <a:rPr lang="en-US" dirty="0"/>
                  <a:t> </a:t>
                </a:r>
                <a:r>
                  <a:rPr lang="en-US" dirty="0" err="1"/>
                  <a:t>komponente</a:t>
                </a:r>
                <a:r>
                  <a:rPr lang="en-US" dirty="0"/>
                  <a:t> </a:t>
                </a:r>
                <a:r>
                  <a:rPr lang="en-US" dirty="0" err="1"/>
                  <a:t>superpozicije</a:t>
                </a:r>
                <a:r>
                  <a:rPr lang="en-US" dirty="0"/>
                  <a:t>, </a:t>
                </a:r>
                <a:r>
                  <a:rPr lang="en-US" dirty="0" err="1"/>
                  <a:t>odnosno</a:t>
                </a:r>
                <a:r>
                  <a:rPr lang="en-US" dirty="0"/>
                  <a:t> </a:t>
                </a:r>
                <a:r>
                  <a:rPr lang="en-US" dirty="0" err="1"/>
                  <a:t>razdvaja</a:t>
                </a:r>
                <a:r>
                  <a:rPr lang="en-US" dirty="0"/>
                  <a:t> </a:t>
                </a:r>
                <a:r>
                  <a:rPr lang="en-US" dirty="0" err="1"/>
                  <a:t>gornji</a:t>
                </a:r>
                <a:r>
                  <a:rPr lang="en-US" dirty="0"/>
                  <a:t> </a:t>
                </a:r>
                <a:r>
                  <a:rPr lang="en-US" dirty="0" err="1"/>
                  <a:t>i</a:t>
                </a:r>
                <a:r>
                  <a:rPr lang="en-US" dirty="0"/>
                  <a:t> </a:t>
                </a:r>
                <a:r>
                  <a:rPr lang="en-US" dirty="0" err="1"/>
                  <a:t>donji</a:t>
                </a:r>
                <a:r>
                  <a:rPr lang="en-US" dirty="0"/>
                  <a:t> kubit.</a:t>
                </a:r>
              </a:p>
              <a:p>
                <a:pPr marL="228600" indent="-228600">
                  <a:buFont typeface="+mj-lt"/>
                  <a:buAutoNum type="arabicPeriod"/>
                </a:pPr>
                <a:endParaRPr lang="en-US" dirty="0"/>
              </a:p>
              <a:p>
                <a:pPr marL="228600" indent="-228600">
                  <a:buFont typeface="+mj-lt"/>
                  <a:buAutoNum type="arabicPeriod"/>
                </a:pPr>
                <a:r>
                  <a:rPr lang="en-US" dirty="0"/>
                  <a:t>Na </a:t>
                </a:r>
                <a:r>
                  <a:rPr lang="en-US" dirty="0" err="1"/>
                  <a:t>izlazu</a:t>
                </a:r>
                <a:r>
                  <a:rPr lang="en-US" dirty="0"/>
                  <a:t> </a:t>
                </a:r>
                <a:r>
                  <a:rPr lang="en-US" dirty="0" err="1"/>
                  <a:t>iz</a:t>
                </a:r>
                <a:r>
                  <a:rPr lang="en-US" dirty="0"/>
                  <a:t> </a:t>
                </a:r>
                <a:r>
                  <a:rPr lang="en-US" dirty="0" err="1"/>
                  <a:t>orakla</a:t>
                </a:r>
                <a:r>
                  <a:rPr lang="en-US" dirty="0"/>
                  <a:t>, </a:t>
                </a:r>
                <a:r>
                  <a:rPr lang="en-US" dirty="0" err="1"/>
                  <a:t>drugi</a:t>
                </a:r>
                <a:r>
                  <a:rPr lang="en-US" dirty="0"/>
                  <a:t> kubit </a:t>
                </a:r>
                <a:r>
                  <a:rPr lang="en-US" dirty="0" err="1"/>
                  <a:t>prethodnog</a:t>
                </a:r>
                <a:r>
                  <a:rPr lang="en-US" dirty="0"/>
                  <a:t> </a:t>
                </a:r>
                <a:r>
                  <a:rPr lang="en-US" dirty="0" err="1"/>
                  <a:t>izraza</a:t>
                </a:r>
                <a:r>
                  <a:rPr lang="en-US" dirty="0"/>
                  <a:t> </a:t>
                </a:r>
                <a:r>
                  <a:rPr lang="en-US" dirty="0" err="1"/>
                  <a:t>zamenjujemo</a:t>
                </a:r>
                <a:r>
                  <a:rPr lang="en-US" dirty="0"/>
                  <a:t> </a:t>
                </a:r>
                <a:r>
                  <a:rPr lang="en-US" dirty="0" err="1"/>
                  <a:t>sa</a:t>
                </a:r>
                <a:r>
                  <a:rPr lang="en-US" dirty="0"/>
                  <a:t>  </a:t>
                </a:r>
                <a:r>
                  <a:rPr lang="en-US" sz="1200" i="0">
                    <a:latin typeface="Cambria Math" panose="02040503050406030204" pitchFamily="18" charset="0"/>
                  </a:rPr>
                  <a:t>├ |</a:t>
                </a:r>
                <a:r>
                  <a:rPr lang="sr-Latn-RS" sz="1200" i="0">
                    <a:latin typeface="Cambria Math" panose="02040503050406030204" pitchFamily="18" charset="0"/>
                  </a:rPr>
                  <a:t>𝑦⨁</a:t>
                </a:r>
                <a:r>
                  <a:rPr lang="en-US" sz="1200" i="0">
                    <a:latin typeface="Cambria Math" panose="02040503050406030204" pitchFamily="18" charset="0"/>
                  </a:rPr>
                  <a:t>├ 𝑓(𝑥)⟩</a:t>
                </a:r>
                <a:r>
                  <a:rPr lang="en-US" dirty="0"/>
                  <a:t> </a:t>
                </a:r>
                <a:r>
                  <a:rPr lang="en-US" dirty="0" err="1"/>
                  <a:t>gde</a:t>
                </a:r>
                <a:r>
                  <a:rPr lang="en-US" dirty="0"/>
                  <a:t> </a:t>
                </a:r>
                <a:r>
                  <a:rPr lang="en-US" dirty="0" err="1"/>
                  <a:t>su</a:t>
                </a:r>
                <a:r>
                  <a:rPr lang="en-US" dirty="0"/>
                  <a:t> </a:t>
                </a:r>
                <a:r>
                  <a:rPr lang="en-US" sz="1200" i="0">
                    <a:latin typeface="Cambria Math" panose="02040503050406030204" pitchFamily="18" charset="0"/>
                  </a:rPr>
                  <a:t>𝑥</a:t>
                </a:r>
                <a:r>
                  <a:rPr lang="en-US" dirty="0"/>
                  <a:t> </a:t>
                </a:r>
                <a:r>
                  <a:rPr lang="en-US" dirty="0" err="1"/>
                  <a:t>i</a:t>
                </a:r>
                <a:r>
                  <a:rPr lang="en-US" dirty="0"/>
                  <a:t> </a:t>
                </a:r>
                <a:r>
                  <a:rPr lang="sr-Latn-RS" sz="1200" b="0" i="0">
                    <a:latin typeface="Cambria Math" panose="02040503050406030204" pitchFamily="18" charset="0"/>
                  </a:rPr>
                  <a:t>𝑦</a:t>
                </a:r>
                <a:r>
                  <a:rPr lang="en-US" dirty="0"/>
                  <a:t> </a:t>
                </a:r>
                <a:r>
                  <a:rPr lang="en-US" dirty="0" err="1"/>
                  <a:t>bitovi</a:t>
                </a:r>
                <a:r>
                  <a:rPr lang="en-US" dirty="0"/>
                  <a:t> </a:t>
                </a:r>
                <a:r>
                  <a:rPr lang="en-US" dirty="0" err="1"/>
                  <a:t>stanja</a:t>
                </a:r>
                <a:r>
                  <a:rPr lang="en-US" dirty="0"/>
                  <a:t> </a:t>
                </a:r>
                <a:r>
                  <a:rPr lang="en-US" dirty="0" err="1"/>
                  <a:t>prvog</a:t>
                </a:r>
                <a:r>
                  <a:rPr lang="en-US" dirty="0"/>
                  <a:t> </a:t>
                </a:r>
                <a:r>
                  <a:rPr lang="en-US" dirty="0" err="1"/>
                  <a:t>i</a:t>
                </a:r>
                <a:r>
                  <a:rPr lang="en-US" dirty="0"/>
                  <a:t> </a:t>
                </a:r>
                <a:r>
                  <a:rPr lang="en-US" dirty="0" err="1"/>
                  <a:t>drugog</a:t>
                </a:r>
                <a:r>
                  <a:rPr lang="en-US" dirty="0"/>
                  <a:t> kubita </a:t>
                </a:r>
                <a:r>
                  <a:rPr lang="en-US" dirty="0" err="1"/>
                  <a:t>respektivno</a:t>
                </a:r>
                <a:r>
                  <a:rPr lang="en-US" dirty="0"/>
                  <a:t>. </a:t>
                </a:r>
                <a:r>
                  <a:rPr lang="en-US" dirty="0" err="1"/>
                  <a:t>Neka</a:t>
                </a:r>
                <a:r>
                  <a:rPr lang="en-US" dirty="0"/>
                  <a:t> </a:t>
                </a:r>
                <a:r>
                  <a:rPr lang="en-US" dirty="0" err="1"/>
                  <a:t>je</a:t>
                </a:r>
                <a:r>
                  <a:rPr lang="en-US" dirty="0"/>
                  <a:t> </a:t>
                </a:r>
                <a:r>
                  <a:rPr lang="en-US" dirty="0" err="1"/>
                  <a:t>ovo</a:t>
                </a:r>
                <a:r>
                  <a:rPr lang="en-US" dirty="0"/>
                  <a:t> </a:t>
                </a:r>
                <a:r>
                  <a:rPr lang="en-US" dirty="0" err="1"/>
                  <a:t>stanje</a:t>
                </a:r>
                <a:r>
                  <a:rPr lang="en-US" dirty="0"/>
                  <a:t> </a:t>
                </a:r>
                <a:r>
                  <a:rPr lang="en-US" dirty="0" err="1"/>
                  <a:t>obeleženo</a:t>
                </a:r>
                <a:r>
                  <a:rPr lang="en-US" dirty="0"/>
                  <a:t> </a:t>
                </a:r>
                <a:r>
                  <a:rPr lang="en-US" dirty="0" err="1"/>
                  <a:t>sa</a:t>
                </a:r>
                <a:r>
                  <a:rPr lang="en-US" dirty="0"/>
                  <a:t> |S⟩.</a:t>
                </a:r>
              </a:p>
              <a:p>
                <a:pPr marL="228600" indent="-228600">
                  <a:buFont typeface="+mj-lt"/>
                  <a:buAutoNum type="arabicPeriod"/>
                </a:pPr>
                <a:endParaRPr lang="en-US" dirty="0"/>
              </a:p>
              <a:p>
                <a:pPr marL="228600" indent="-228600">
                  <a:buFont typeface="+mj-lt"/>
                  <a:buAutoNum type="arabicPeriod"/>
                </a:pP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3821476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For a constant function, where</a:t>
                </a:r>
                <a:r>
                  <a:rPr lang="en-ZA" b="0" dirty="0"/>
                  <a:t>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b="0" i="1" smtClean="0">
                        <a:latin typeface="Cambria Math" panose="02040503050406030204" pitchFamily="18" charset="0"/>
                      </a:rPr>
                      <m:t>=</m:t>
                    </m:r>
                    <m:r>
                      <a:rPr lang="en-US" sz="1200" i="1">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1</m:t>
                        </m:r>
                      </m:e>
                    </m:d>
                  </m:oMath>
                </a14:m>
                <a:r>
                  <a:rPr lang="en-ZA" b="0" dirty="0"/>
                  <a:t>, </a:t>
                </a:r>
                <a:r>
                  <a:rPr lang="en-ZA" dirty="0"/>
                  <a:t>the state of the first qubit can be </a:t>
                </a:r>
                <a:r>
                  <a:rPr lang="en-ZA" dirty="0" err="1"/>
                  <a:t>analyzed</a:t>
                </a:r>
                <a:r>
                  <a:rPr lang="en-ZA" dirty="0"/>
                  <a:t> as follows.</a:t>
                </a:r>
                <a:endParaRPr lang="en-ZA" b="0" dirty="0"/>
              </a:p>
              <a:p>
                <a:pPr algn="just"/>
                <a:endParaRPr lang="en-ZA" b="0" dirty="0"/>
              </a:p>
              <a:p>
                <a:pPr marL="228600" indent="-228600" algn="just">
                  <a:buFont typeface="+mj-lt"/>
                  <a:buAutoNum type="arabicPeriod"/>
                </a:pPr>
                <a:r>
                  <a:rPr lang="en-ZA" dirty="0"/>
                  <a:t>The oracle’s output can be simplified by replacing</a:t>
                </a:r>
                <a14:m>
                  <m:oMath xmlns:m="http://schemas.openxmlformats.org/officeDocument/2006/math">
                    <m:r>
                      <a:rPr lang="en-US" sz="1200" b="0" i="0" smtClean="0">
                        <a:latin typeface="Cambria Math" panose="02040503050406030204" pitchFamily="18" charset="0"/>
                      </a:rPr>
                      <m:t> </m:t>
                    </m:r>
                    <m:r>
                      <a:rPr lang="en-US" sz="1200" b="0" i="1" smtClean="0">
                        <a:latin typeface="Cambria Math" panose="02040503050406030204" pitchFamily="18" charset="0"/>
                      </a:rPr>
                      <m:t>𝑓</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1</m:t>
                        </m:r>
                      </m:e>
                    </m:d>
                  </m:oMath>
                </a14:m>
                <a:r>
                  <a:rPr lang="en-ZA" b="0" dirty="0"/>
                  <a:t> with </a:t>
                </a:r>
                <a14:m>
                  <m:oMath xmlns:m="http://schemas.openxmlformats.org/officeDocument/2006/math">
                    <m:r>
                      <a:rPr lang="en-US" sz="1200" b="0" i="1" smtClean="0">
                        <a:latin typeface="Cambria Math" panose="02040503050406030204" pitchFamily="18" charset="0"/>
                      </a:rPr>
                      <m:t>𝑓</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0</m:t>
                        </m:r>
                      </m:e>
                    </m:d>
                  </m:oMath>
                </a14:m>
                <a:r>
                  <a:rPr lang="en-ZA" b="0" dirty="0"/>
                  <a:t>, since they are equal.</a:t>
                </a:r>
              </a:p>
              <a:p>
                <a:pPr marL="228600" indent="-228600" algn="just">
                  <a:buFont typeface="+mj-lt"/>
                  <a:buAutoNum type="arabicPeriod"/>
                </a:pPr>
                <a:endParaRPr lang="en-ZA" b="0" dirty="0"/>
              </a:p>
              <a:p>
                <a:pPr marL="228600" indent="-228600" algn="just">
                  <a:buFont typeface="+mj-lt"/>
                  <a:buAutoNum type="arabicPeriod"/>
                </a:pPr>
                <a:r>
                  <a:rPr lang="en-ZA" dirty="0"/>
                  <a:t>Next, the expression is rearranged by factoring out the common term</a:t>
                </a:r>
                <a:r>
                  <a:rPr lang="en-ZA" b="0" dirty="0"/>
                  <a:t> </a:t>
                </a:r>
                <a14:m>
                  <m:oMath xmlns:m="http://schemas.openxmlformats.org/officeDocument/2006/math">
                    <m:d>
                      <m:dPr>
                        <m:ctrlPr>
                          <a:rPr lang="sr-Latn-RS" sz="1200" b="0" i="1" smtClean="0">
                            <a:latin typeface="Cambria Math" panose="02040503050406030204" pitchFamily="18" charset="0"/>
                          </a:rPr>
                        </m:ctrlPr>
                      </m:dPr>
                      <m:e>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en-US" sz="1200" i="1">
                                <a:latin typeface="Cambria Math" panose="02040503050406030204" pitchFamily="18" charset="0"/>
                              </a:rPr>
                              <m:t>0</m:t>
                            </m:r>
                          </m:e>
                        </m:d>
                        <m:r>
                          <a:rPr lang="sr-Latn-R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sr-Latn-RS" sz="1200" b="0" i="1" smtClean="0">
                                <a:latin typeface="Cambria Math" panose="02040503050406030204" pitchFamily="18" charset="0"/>
                              </a:rPr>
                              <m:t>1</m:t>
                            </m:r>
                          </m:e>
                        </m:d>
                      </m:e>
                    </m:d>
                  </m:oMath>
                </a14:m>
                <a:r>
                  <a:rPr lang="en-ZA" b="0" dirty="0"/>
                  <a:t>. </a:t>
                </a:r>
              </a:p>
              <a:p>
                <a:pPr marL="228600" indent="-228600" algn="just">
                  <a:buFont typeface="+mj-lt"/>
                  <a:buAutoNum type="arabicPeriod"/>
                </a:pPr>
                <a:endParaRPr lang="en-ZA" b="0" dirty="0"/>
              </a:p>
              <a:p>
                <a:pPr marL="228600" indent="-228600" algn="just">
                  <a:buFont typeface="+mj-lt"/>
                  <a:buAutoNum type="arabicPeriod"/>
                </a:pPr>
                <a:r>
                  <a:rPr lang="en-ZA" dirty="0"/>
                  <a:t>This leaves the first qubit in the state</a:t>
                </a:r>
                <a:r>
                  <a:rPr lang="en-ZA" b="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1" smtClean="0">
                            <a:latin typeface="Cambria Math" panose="02040503050406030204" pitchFamily="18" charset="0"/>
                          </a:rPr>
                          <m:t>+</m:t>
                        </m:r>
                      </m:e>
                    </m:d>
                  </m:oMath>
                </a14:m>
                <a:r>
                  <a:rPr lang="en-ZA" b="0" dirty="0"/>
                  <a:t>. </a:t>
                </a:r>
                <a:r>
                  <a:rPr lang="en-ZA" dirty="0"/>
                  <a:t>After applying the Hadamard gate, it becomes</a:t>
                </a:r>
                <a:r>
                  <a:rPr lang="en-ZA" b="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1" smtClean="0">
                            <a:latin typeface="Cambria Math" panose="02040503050406030204" pitchFamily="18" charset="0"/>
                          </a:rPr>
                          <m:t>0</m:t>
                        </m:r>
                      </m:e>
                    </m:d>
                  </m:oMath>
                </a14:m>
                <a:r>
                  <a:rPr lang="en-ZA" dirty="0"/>
                  <a:t>, so the measurement outcome is </a:t>
                </a:r>
                <a:r>
                  <a:rPr lang="en-ZA" b="0" dirty="0"/>
                  <a:t>0</a:t>
                </a:r>
                <a:r>
                  <a:rPr lang="en-ZA" dirty="0"/>
                  <a:t>.</a:t>
                </a:r>
                <a:endParaRPr lang="en-ZA" b="0" dirty="0"/>
              </a:p>
              <a:p>
                <a:pPr algn="just"/>
                <a:endParaRPr lang="en-ZA" b="0" dirty="0"/>
              </a:p>
              <a:p>
                <a:pPr algn="just"/>
                <a:r>
                  <a:rPr lang="en-ZA" dirty="0"/>
                  <a:t>In other words, when the function is constant, with </a:t>
                </a:r>
                <a:r>
                  <a:rPr lang="en-ZA" b="0" dirty="0"/>
                  <a:t> </a:t>
                </a:r>
                <a14:m>
                  <m:oMath xmlns:m="http://schemas.openxmlformats.org/officeDocument/2006/math">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0</m:t>
                        </m:r>
                      </m:e>
                    </m:d>
                    <m:r>
                      <a:rPr lang="en-US" sz="1200" b="0" i="1" smtClean="0">
                        <a:latin typeface="Cambria Math" panose="02040503050406030204" pitchFamily="18" charset="0"/>
                      </a:rPr>
                      <m:t>=</m:t>
                    </m:r>
                    <m:r>
                      <a:rPr lang="en-US" sz="1200" i="1">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1</m:t>
                        </m:r>
                      </m:e>
                    </m:d>
                  </m:oMath>
                </a14:m>
                <a:r>
                  <a:rPr lang="en-ZA" b="0" dirty="0"/>
                  <a:t>, </a:t>
                </a:r>
                <a:r>
                  <a:rPr lang="en-ZA" dirty="0"/>
                  <a:t>the algorithm correctly identifies it by producing the output 0.</a:t>
                </a: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Izračunajmo </a:t>
                </a:r>
                <a:r>
                  <a:rPr lang="en-US" dirty="0" err="1">
                    <a:solidFill>
                      <a:schemeClr val="tx1"/>
                    </a:solidFill>
                  </a:rPr>
                  <a:t>ovo</a:t>
                </a:r>
                <a:r>
                  <a:rPr lang="en-US" dirty="0">
                    <a:solidFill>
                      <a:schemeClr val="tx1"/>
                    </a:solidFill>
                  </a:rPr>
                  <a:t> </a:t>
                </a:r>
                <a:r>
                  <a:rPr lang="en-US" dirty="0" err="1">
                    <a:solidFill>
                      <a:schemeClr val="tx1"/>
                    </a:solidFill>
                  </a:rPr>
                  <a:t>stanje</a:t>
                </a:r>
                <a:r>
                  <a:rPr lang="en-US" dirty="0">
                    <a:solidFill>
                      <a:schemeClr val="tx1"/>
                    </a:solidFill>
                  </a:rPr>
                  <a:t> </a:t>
                </a:r>
                <a:r>
                  <a:rPr lang="en-US" dirty="0" err="1">
                    <a:solidFill>
                      <a:schemeClr val="tx1"/>
                    </a:solidFill>
                  </a:rPr>
                  <a:t>za</a:t>
                </a:r>
                <a:r>
                  <a:rPr lang="en-US" dirty="0">
                    <a:solidFill>
                      <a:schemeClr val="tx1"/>
                    </a:solidFill>
                  </a:rPr>
                  <a:t>  </a:t>
                </a:r>
                <a:r>
                  <a:rPr lang="en-US" dirty="0" err="1">
                    <a:solidFill>
                      <a:schemeClr val="tx1"/>
                    </a:solidFill>
                  </a:rPr>
                  <a:t>slučaj</a:t>
                </a:r>
                <a:r>
                  <a:rPr lang="en-US" dirty="0">
                    <a:solidFill>
                      <a:schemeClr val="tx1"/>
                    </a:solidFill>
                  </a:rPr>
                  <a:t> da </a:t>
                </a:r>
                <a:r>
                  <a:rPr lang="en-US" dirty="0" err="1">
                    <a:solidFill>
                      <a:schemeClr val="tx1"/>
                    </a:solidFill>
                  </a:rPr>
                  <a:t>je</a:t>
                </a:r>
                <a:r>
                  <a:rPr lang="en-US" dirty="0">
                    <a:solidFill>
                      <a:schemeClr val="tx1"/>
                    </a:solidFill>
                  </a:rPr>
                  <a:t> </a:t>
                </a:r>
                <a:r>
                  <a:rPr lang="en-US" dirty="0" err="1">
                    <a:solidFill>
                      <a:schemeClr val="tx1"/>
                    </a:solidFill>
                  </a:rPr>
                  <a:t>funkcija</a:t>
                </a:r>
                <a:r>
                  <a:rPr lang="en-US" dirty="0">
                    <a:solidFill>
                      <a:schemeClr val="tx1"/>
                    </a:solidFill>
                  </a:rPr>
                  <a:t> </a:t>
                </a:r>
                <a:r>
                  <a:rPr lang="en-US" dirty="0" err="1">
                    <a:solidFill>
                      <a:schemeClr val="tx1"/>
                    </a:solidFill>
                  </a:rPr>
                  <a:t>konstantna</a:t>
                </a:r>
                <a:r>
                  <a:rPr lang="en-US" dirty="0">
                    <a:solidFill>
                      <a:schemeClr val="tx1"/>
                    </a:solidFill>
                  </a:rPr>
                  <a:t>, </a:t>
                </a:r>
                <a:r>
                  <a:rPr lang="en-US" dirty="0" err="1">
                    <a:solidFill>
                      <a:schemeClr val="tx1"/>
                    </a:solidFill>
                  </a:rPr>
                  <a:t>odnosno</a:t>
                </a:r>
                <a:r>
                  <a:rPr lang="en-US" dirty="0">
                    <a:solidFill>
                      <a:schemeClr val="tx1"/>
                    </a:solidFill>
                  </a:rPr>
                  <a:t> </a:t>
                </a:r>
                <a:r>
                  <a:rPr lang="en-US" b="0" dirty="0">
                    <a:solidFill>
                      <a:schemeClr val="tx1"/>
                    </a:solidFill>
                  </a:rPr>
                  <a:t>𝒇(0)=𝒇(1)</a:t>
                </a:r>
                <a:r>
                  <a:rPr lang="en-US" dirty="0">
                    <a:solidFill>
                      <a:schemeClr val="tx1"/>
                    </a:solidFill>
                  </a:rPr>
                  <a:t> </a:t>
                </a:r>
                <a:r>
                  <a:rPr lang="en-US" dirty="0" err="1">
                    <a:solidFill>
                      <a:schemeClr val="tx1"/>
                    </a:solidFill>
                  </a:rPr>
                  <a:t>primenjujći</a:t>
                </a:r>
                <a:r>
                  <a:rPr lang="en-US" dirty="0">
                    <a:solidFill>
                      <a:schemeClr val="tx1"/>
                    </a:solidFill>
                  </a:rPr>
                  <a:t> </a:t>
                </a:r>
                <a:r>
                  <a:rPr lang="en-US" dirty="0" err="1">
                    <a:solidFill>
                      <a:schemeClr val="tx1"/>
                    </a:solidFill>
                  </a:rPr>
                  <a:t>pravilo</a:t>
                </a:r>
                <a:r>
                  <a:rPr lang="en-US" dirty="0">
                    <a:solidFill>
                      <a:schemeClr val="tx1"/>
                    </a:solidFill>
                  </a:rPr>
                  <a:t> da XOR </a:t>
                </a:r>
                <a:r>
                  <a:rPr lang="en-US" dirty="0" err="1">
                    <a:solidFill>
                      <a:schemeClr val="tx1"/>
                    </a:solidFill>
                  </a:rPr>
                  <a:t>operacija</a:t>
                </a:r>
                <a:r>
                  <a:rPr lang="en-US" dirty="0">
                    <a:solidFill>
                      <a:schemeClr val="tx1"/>
                    </a:solidFill>
                  </a:rPr>
                  <a:t> </a:t>
                </a:r>
                <a:r>
                  <a:rPr lang="en-US" dirty="0" err="1">
                    <a:solidFill>
                      <a:schemeClr val="tx1"/>
                    </a:solidFill>
                  </a:rPr>
                  <a:t>između</a:t>
                </a:r>
                <a:r>
                  <a:rPr lang="en-US" dirty="0">
                    <a:solidFill>
                      <a:schemeClr val="tx1"/>
                    </a:solidFill>
                  </a:rPr>
                  <a:t> </a:t>
                </a:r>
                <a:r>
                  <a:rPr lang="en-US" dirty="0" err="1">
                    <a:solidFill>
                      <a:schemeClr val="tx1"/>
                    </a:solidFill>
                  </a:rPr>
                  <a:t>nule</a:t>
                </a:r>
                <a:r>
                  <a:rPr lang="en-US" dirty="0">
                    <a:solidFill>
                      <a:schemeClr val="tx1"/>
                    </a:solidFill>
                  </a:rPr>
                  <a:t> </a:t>
                </a:r>
                <a:r>
                  <a:rPr lang="en-US" dirty="0" err="1">
                    <a:solidFill>
                      <a:schemeClr val="tx1"/>
                    </a:solidFill>
                  </a:rPr>
                  <a:t>i</a:t>
                </a:r>
                <a:r>
                  <a:rPr lang="en-US" dirty="0">
                    <a:solidFill>
                      <a:schemeClr val="tx1"/>
                    </a:solidFill>
                  </a:rPr>
                  <a:t> </a:t>
                </a:r>
                <a:r>
                  <a:rPr lang="en-US" dirty="0" err="1">
                    <a:solidFill>
                      <a:schemeClr val="tx1"/>
                    </a:solidFill>
                  </a:rPr>
                  <a:t>binarnog</a:t>
                </a:r>
                <a:r>
                  <a:rPr lang="en-US" dirty="0">
                    <a:solidFill>
                      <a:schemeClr val="tx1"/>
                    </a:solidFill>
                  </a:rPr>
                  <a:t> </a:t>
                </a:r>
                <a:r>
                  <a:rPr lang="en-US" dirty="0" err="1">
                    <a:solidFill>
                      <a:schemeClr val="tx1"/>
                    </a:solidFill>
                  </a:rPr>
                  <a:t>niza</a:t>
                </a:r>
                <a:r>
                  <a:rPr lang="en-US" dirty="0">
                    <a:solidFill>
                      <a:schemeClr val="tx1"/>
                    </a:solidFill>
                  </a:rPr>
                  <a:t> </a:t>
                </a:r>
                <a:r>
                  <a:rPr lang="en-US" dirty="0" err="1">
                    <a:solidFill>
                      <a:schemeClr val="tx1"/>
                    </a:solidFill>
                  </a:rPr>
                  <a:t>rezultuje</a:t>
                </a:r>
                <a:r>
                  <a:rPr lang="en-US" dirty="0">
                    <a:solidFill>
                      <a:schemeClr val="tx1"/>
                    </a:solidFill>
                  </a:rPr>
                  <a:t> </a:t>
                </a:r>
                <a:r>
                  <a:rPr lang="en-US" dirty="0" err="1">
                    <a:solidFill>
                      <a:schemeClr val="tx1"/>
                    </a:solidFill>
                  </a:rPr>
                  <a:t>istim</a:t>
                </a:r>
                <a:r>
                  <a:rPr lang="en-US" dirty="0">
                    <a:solidFill>
                      <a:schemeClr val="tx1"/>
                    </a:solidFill>
                  </a:rPr>
                  <a:t> </a:t>
                </a:r>
                <a:r>
                  <a:rPr lang="en-US" dirty="0" err="1">
                    <a:solidFill>
                      <a:schemeClr val="tx1"/>
                    </a:solidFill>
                  </a:rPr>
                  <a:t>tim</a:t>
                </a:r>
                <a:r>
                  <a:rPr lang="en-US" dirty="0">
                    <a:solidFill>
                      <a:schemeClr val="tx1"/>
                    </a:solidFill>
                  </a:rPr>
                  <a:t> </a:t>
                </a:r>
                <a:r>
                  <a:rPr lang="en-US" dirty="0" err="1">
                    <a:solidFill>
                      <a:schemeClr val="tx1"/>
                    </a:solidFill>
                  </a:rPr>
                  <a:t>nizom</a:t>
                </a:r>
                <a:r>
                  <a:rPr lang="en-US" dirty="0">
                    <a:solidFill>
                      <a:schemeClr val="tx1"/>
                    </a:solidFill>
                  </a:rPr>
                  <a:t>. </a:t>
                </a:r>
                <a:r>
                  <a:rPr lang="en-US" dirty="0" err="1">
                    <a:solidFill>
                      <a:schemeClr val="tx1"/>
                    </a:solidFill>
                  </a:rPr>
                  <a:t>Drugim</a:t>
                </a:r>
                <a:r>
                  <a:rPr lang="en-US" dirty="0">
                    <a:solidFill>
                      <a:schemeClr val="tx1"/>
                    </a:solidFill>
                  </a:rPr>
                  <a:t> </a:t>
                </a:r>
                <a:r>
                  <a:rPr lang="en-US" dirty="0" err="1">
                    <a:solidFill>
                      <a:schemeClr val="tx1"/>
                    </a:solidFill>
                  </a:rPr>
                  <a:t>rečima</a:t>
                </a:r>
                <a:r>
                  <a:rPr lang="en-US" dirty="0">
                    <a:solidFill>
                      <a:schemeClr val="tx1"/>
                    </a:solidFill>
                  </a:rPr>
                  <a:t>, </a:t>
                </a:r>
                <a:r>
                  <a:rPr lang="sr-Latn-RS" sz="1200" b="0" i="0">
                    <a:solidFill>
                      <a:schemeClr val="tx1"/>
                    </a:solidFill>
                    <a:latin typeface="Cambria Math" panose="02040503050406030204" pitchFamily="18" charset="0"/>
                  </a:rPr>
                  <a:t>0 </a:t>
                </a:r>
                <a:r>
                  <a:rPr lang="sr-Latn-RS" sz="1200" i="0">
                    <a:solidFill>
                      <a:schemeClr val="tx1"/>
                    </a:solidFill>
                    <a:latin typeface="Cambria Math" panose="02040503050406030204" pitchFamily="18" charset="0"/>
                  </a:rPr>
                  <a:t>⨁</a:t>
                </a:r>
                <a:r>
                  <a:rPr lang="en-US" sz="1200" i="0">
                    <a:solidFill>
                      <a:schemeClr val="tx1"/>
                    </a:solidFill>
                    <a:latin typeface="Cambria Math" panose="02040503050406030204" pitchFamily="18" charset="0"/>
                  </a:rPr>
                  <a:t>├ 𝑓(</a:t>
                </a:r>
                <a:r>
                  <a:rPr lang="sr-Latn-RS" sz="1200" b="0" i="0">
                    <a:solidFill>
                      <a:schemeClr val="tx1"/>
                    </a:solidFill>
                    <a:latin typeface="Cambria Math" panose="02040503050406030204" pitchFamily="18" charset="0"/>
                  </a:rPr>
                  <a:t>0)=0</a:t>
                </a:r>
                <a:r>
                  <a:rPr lang="en-US" dirty="0">
                    <a:solidFill>
                      <a:schemeClr val="tx1"/>
                    </a:solidFill>
                  </a:rPr>
                  <a:t>. Izraz se </a:t>
                </a:r>
                <a:r>
                  <a:rPr lang="en-US" dirty="0" err="1">
                    <a:solidFill>
                      <a:schemeClr val="tx1"/>
                    </a:solidFill>
                  </a:rPr>
                  <a:t>sada</a:t>
                </a:r>
                <a:r>
                  <a:rPr lang="en-US" dirty="0">
                    <a:solidFill>
                      <a:schemeClr val="tx1"/>
                    </a:solidFill>
                  </a:rPr>
                  <a:t> </a:t>
                </a:r>
                <a:r>
                  <a:rPr lang="en-US" dirty="0" err="1">
                    <a:solidFill>
                      <a:schemeClr val="tx1"/>
                    </a:solidFill>
                  </a:rPr>
                  <a:t>može</a:t>
                </a:r>
                <a:r>
                  <a:rPr lang="en-US" dirty="0">
                    <a:solidFill>
                      <a:schemeClr val="tx1"/>
                    </a:solidFill>
                  </a:rPr>
                  <a:t> </a:t>
                </a:r>
                <a:r>
                  <a:rPr lang="en-US" dirty="0" err="1">
                    <a:solidFill>
                      <a:schemeClr val="tx1"/>
                    </a:solidFill>
                  </a:rPr>
                  <a:t>pojednostaviti</a:t>
                </a:r>
                <a:r>
                  <a:rPr lang="en-US" dirty="0">
                    <a:solidFill>
                      <a:schemeClr val="tx1"/>
                    </a:solidFill>
                  </a:rPr>
                  <a:t> </a:t>
                </a:r>
                <a:r>
                  <a:rPr lang="en-US" dirty="0" err="1">
                    <a:solidFill>
                      <a:schemeClr val="tx1"/>
                    </a:solidFill>
                  </a:rPr>
                  <a:t>zamenom</a:t>
                </a:r>
                <a:r>
                  <a:rPr lang="en-US" dirty="0">
                    <a:solidFill>
                      <a:schemeClr val="tx1"/>
                    </a:solidFill>
                  </a:rPr>
                  <a:t> 𝒇(1) </a:t>
                </a:r>
                <a:r>
                  <a:rPr lang="en-US" dirty="0" err="1">
                    <a:solidFill>
                      <a:schemeClr val="tx1"/>
                    </a:solidFill>
                  </a:rPr>
                  <a:t>sa</a:t>
                </a:r>
                <a:r>
                  <a:rPr lang="en-US" dirty="0">
                    <a:solidFill>
                      <a:schemeClr val="tx1"/>
                    </a:solidFill>
                  </a:rPr>
                  <a:t> 𝒇(0).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U </a:t>
                </a:r>
                <a:r>
                  <a:rPr lang="en-US" dirty="0" err="1">
                    <a:solidFill>
                      <a:schemeClr val="tx1"/>
                    </a:solidFill>
                  </a:rPr>
                  <a:t>sledećem</a:t>
                </a:r>
                <a:r>
                  <a:rPr lang="en-US" dirty="0">
                    <a:solidFill>
                      <a:schemeClr val="tx1"/>
                    </a:solidFill>
                  </a:rPr>
                  <a:t> </a:t>
                </a:r>
                <a:r>
                  <a:rPr lang="en-US" dirty="0" err="1">
                    <a:solidFill>
                      <a:schemeClr val="tx1"/>
                    </a:solidFill>
                  </a:rPr>
                  <a:t>koraku</a:t>
                </a:r>
                <a:r>
                  <a:rPr lang="en-US" dirty="0">
                    <a:solidFill>
                      <a:schemeClr val="tx1"/>
                    </a:solidFill>
                  </a:rPr>
                  <a:t>, </a:t>
                </a:r>
                <a:r>
                  <a:rPr lang="en-US" dirty="0" err="1">
                    <a:solidFill>
                      <a:schemeClr val="tx1"/>
                    </a:solidFill>
                  </a:rPr>
                  <a:t>izraz</a:t>
                </a:r>
                <a:r>
                  <a:rPr lang="en-US" dirty="0">
                    <a:solidFill>
                      <a:schemeClr val="tx1"/>
                    </a:solidFill>
                  </a:rPr>
                  <a:t> se </a:t>
                </a:r>
                <a:r>
                  <a:rPr lang="en-US" dirty="0" err="1">
                    <a:solidFill>
                      <a:schemeClr val="tx1"/>
                    </a:solidFill>
                  </a:rPr>
                  <a:t>preuređuje</a:t>
                </a:r>
                <a:r>
                  <a:rPr lang="en-US" dirty="0">
                    <a:solidFill>
                      <a:schemeClr val="tx1"/>
                    </a:solidFill>
                  </a:rPr>
                  <a:t> </a:t>
                </a:r>
                <a:r>
                  <a:rPr lang="en-US" dirty="0" err="1">
                    <a:solidFill>
                      <a:schemeClr val="tx1"/>
                    </a:solidFill>
                  </a:rPr>
                  <a:t>izdvajanjem</a:t>
                </a:r>
                <a:r>
                  <a:rPr lang="en-US" dirty="0">
                    <a:solidFill>
                      <a:schemeClr val="tx1"/>
                    </a:solidFill>
                  </a:rPr>
                  <a:t> u </a:t>
                </a:r>
                <a:r>
                  <a:rPr lang="en-US" dirty="0" err="1">
                    <a:solidFill>
                      <a:schemeClr val="tx1"/>
                    </a:solidFill>
                  </a:rPr>
                  <a:t>zagradu</a:t>
                </a:r>
                <a:r>
                  <a:rPr lang="en-US" dirty="0">
                    <a:solidFill>
                      <a:schemeClr val="tx1"/>
                    </a:solidFill>
                  </a:rPr>
                  <a:t> </a:t>
                </a:r>
                <a:r>
                  <a:rPr lang="en-US" dirty="0" err="1">
                    <a:solidFill>
                      <a:schemeClr val="tx1"/>
                    </a:solidFill>
                  </a:rPr>
                  <a:t>zbira</a:t>
                </a:r>
                <a:r>
                  <a:rPr lang="en-US" dirty="0">
                    <a:solidFill>
                      <a:schemeClr val="tx1"/>
                    </a:solidFill>
                  </a:rPr>
                  <a:t> kubita |0⟩ </a:t>
                </a:r>
                <a:r>
                  <a:rPr lang="en-US" dirty="0" err="1">
                    <a:solidFill>
                      <a:schemeClr val="tx1"/>
                    </a:solidFill>
                  </a:rPr>
                  <a:t>i</a:t>
                </a:r>
                <a:r>
                  <a:rPr lang="en-US" dirty="0">
                    <a:solidFill>
                      <a:schemeClr val="tx1"/>
                    </a:solidFill>
                  </a:rPr>
                  <a:t> |1⟩.</a:t>
                </a:r>
                <a:r>
                  <a:rPr lang="en-US" baseline="0" dirty="0">
                    <a:solidFill>
                      <a:schemeClr val="tx1"/>
                    </a:solidFill>
                  </a:rPr>
                  <a:t> </a:t>
                </a:r>
                <a:r>
                  <a:rPr lang="en-US" dirty="0">
                    <a:solidFill>
                      <a:schemeClr val="tx1"/>
                    </a:solidFill>
                  </a:rPr>
                  <a:t> </a:t>
                </a:r>
                <a:r>
                  <a:rPr lang="en-US" dirty="0" err="1">
                    <a:solidFill>
                      <a:schemeClr val="tx1"/>
                    </a:solidFill>
                  </a:rPr>
                  <a:t>Faktorisanjem</a:t>
                </a:r>
                <a:r>
                  <a:rPr lang="en-US" baseline="0" dirty="0">
                    <a:solidFill>
                      <a:schemeClr val="tx1"/>
                    </a:solidFill>
                  </a:rPr>
                  <a:t> </a:t>
                </a:r>
                <a:r>
                  <a:rPr lang="en-US" baseline="0" dirty="0" err="1">
                    <a:solidFill>
                      <a:schemeClr val="tx1"/>
                    </a:solidFill>
                  </a:rPr>
                  <a:t>postaje</a:t>
                </a:r>
                <a:r>
                  <a:rPr lang="en-US" baseline="0" dirty="0">
                    <a:solidFill>
                      <a:schemeClr val="tx1"/>
                    </a:solidFill>
                  </a:rPr>
                  <a:t> </a:t>
                </a:r>
                <a:r>
                  <a:rPr lang="en-US" baseline="0" dirty="0" err="1">
                    <a:solidFill>
                      <a:schemeClr val="tx1"/>
                    </a:solidFill>
                  </a:rPr>
                  <a:t>očigledno</a:t>
                </a:r>
                <a:r>
                  <a:rPr lang="en-US" baseline="0" dirty="0">
                    <a:solidFill>
                      <a:schemeClr val="tx1"/>
                    </a:solidFill>
                  </a:rPr>
                  <a:t> </a:t>
                </a:r>
                <a:r>
                  <a:rPr lang="en-US" dirty="0">
                    <a:solidFill>
                      <a:schemeClr val="tx1"/>
                    </a:solidFill>
                  </a:rPr>
                  <a:t>da </a:t>
                </a:r>
                <a:r>
                  <a:rPr lang="en-US" dirty="0" err="1">
                    <a:solidFill>
                      <a:schemeClr val="tx1"/>
                    </a:solidFill>
                  </a:rPr>
                  <a:t>je</a:t>
                </a:r>
                <a:r>
                  <a:rPr lang="en-US" dirty="0">
                    <a:solidFill>
                      <a:schemeClr val="tx1"/>
                    </a:solidFill>
                  </a:rPr>
                  <a:t> </a:t>
                </a:r>
                <a:r>
                  <a:rPr lang="en-US" dirty="0" err="1">
                    <a:solidFill>
                      <a:schemeClr val="tx1"/>
                    </a:solidFill>
                  </a:rPr>
                  <a:t>stanje</a:t>
                </a:r>
                <a:r>
                  <a:rPr lang="en-US" dirty="0">
                    <a:solidFill>
                      <a:schemeClr val="tx1"/>
                    </a:solidFill>
                  </a:rPr>
                  <a:t> </a:t>
                </a:r>
                <a:r>
                  <a:rPr lang="en-US" dirty="0" err="1">
                    <a:solidFill>
                      <a:schemeClr val="tx1"/>
                    </a:solidFill>
                  </a:rPr>
                  <a:t>gornjeg</a:t>
                </a:r>
                <a:r>
                  <a:rPr lang="en-US" dirty="0">
                    <a:solidFill>
                      <a:schemeClr val="tx1"/>
                    </a:solidFill>
                  </a:rPr>
                  <a:t> kubita </a:t>
                </a:r>
                <a:r>
                  <a:rPr lang="en-US" sz="1200" i="0">
                    <a:solidFill>
                      <a:schemeClr val="tx1"/>
                    </a:solidFill>
                    <a:latin typeface="Cambria Math" panose="02040503050406030204" pitchFamily="18" charset="0"/>
                  </a:rPr>
                  <a:t>├ |</a:t>
                </a:r>
                <a:r>
                  <a:rPr lang="sr-Latn-RS" sz="1200" b="0" i="0">
                    <a:solidFill>
                      <a:schemeClr val="tx1"/>
                    </a:solidFill>
                    <a:latin typeface="Cambria Math" panose="02040503050406030204" pitchFamily="18" charset="0"/>
                  </a:rPr>
                  <a:t>+⟩</a:t>
                </a:r>
                <a:r>
                  <a:rPr lang="en-US" dirty="0">
                    <a:solidFill>
                      <a:schemeClr val="tx1"/>
                    </a:solidFill>
                  </a:rPr>
                  <a:t>. </a:t>
                </a:r>
                <a:r>
                  <a:rPr lang="en-US" dirty="0" err="1">
                    <a:solidFill>
                      <a:schemeClr val="tx1"/>
                    </a:solidFill>
                  </a:rPr>
                  <a:t>Konačno</a:t>
                </a:r>
                <a:r>
                  <a:rPr lang="en-US" dirty="0">
                    <a:solidFill>
                      <a:schemeClr val="tx1"/>
                    </a:solidFill>
                  </a:rPr>
                  <a:t>, </a:t>
                </a:r>
                <a:r>
                  <a:rPr lang="en-US" dirty="0" err="1">
                    <a:solidFill>
                      <a:schemeClr val="tx1"/>
                    </a:solidFill>
                  </a:rPr>
                  <a:t>posle</a:t>
                </a:r>
                <a:r>
                  <a:rPr lang="en-US" dirty="0">
                    <a:solidFill>
                      <a:schemeClr val="tx1"/>
                    </a:solidFill>
                  </a:rPr>
                  <a:t> </a:t>
                </a:r>
                <a:r>
                  <a:rPr lang="en-US" dirty="0" err="1">
                    <a:solidFill>
                      <a:schemeClr val="tx1"/>
                    </a:solidFill>
                  </a:rPr>
                  <a:t>primene</a:t>
                </a:r>
                <a:r>
                  <a:rPr lang="en-US" dirty="0">
                    <a:solidFill>
                      <a:schemeClr val="tx1"/>
                    </a:solidFill>
                  </a:rPr>
                  <a:t> </a:t>
                </a:r>
                <a:r>
                  <a:rPr lang="en-US" dirty="0" err="1">
                    <a:solidFill>
                      <a:schemeClr val="tx1"/>
                    </a:solidFill>
                  </a:rPr>
                  <a:t>Adamarovog</a:t>
                </a:r>
                <a:r>
                  <a:rPr lang="en-US" dirty="0">
                    <a:solidFill>
                      <a:schemeClr val="tx1"/>
                    </a:solidFill>
                  </a:rPr>
                  <a:t> kola, </a:t>
                </a:r>
                <a:r>
                  <a:rPr lang="en-US" sz="1200" i="0">
                    <a:solidFill>
                      <a:schemeClr val="tx1"/>
                    </a:solidFill>
                    <a:latin typeface="Cambria Math" panose="02040503050406030204" pitchFamily="18" charset="0"/>
                  </a:rPr>
                  <a:t>├ |</a:t>
                </a:r>
                <a:r>
                  <a:rPr lang="sr-Latn-RS" sz="1200" b="0" i="0">
                    <a:solidFill>
                      <a:schemeClr val="tx1"/>
                    </a:solidFill>
                    <a:latin typeface="Cambria Math" panose="02040503050406030204" pitchFamily="18" charset="0"/>
                  </a:rPr>
                  <a:t>+⟩</a:t>
                </a:r>
                <a:r>
                  <a:rPr lang="en-US" dirty="0">
                    <a:solidFill>
                      <a:schemeClr val="tx1"/>
                    </a:solidFill>
                  </a:rPr>
                  <a:t> </a:t>
                </a:r>
                <a:r>
                  <a:rPr lang="en-US" dirty="0" err="1">
                    <a:solidFill>
                      <a:schemeClr val="tx1"/>
                    </a:solidFill>
                  </a:rPr>
                  <a:t>prelazi</a:t>
                </a:r>
                <a:r>
                  <a:rPr lang="en-US" dirty="0">
                    <a:solidFill>
                      <a:schemeClr val="tx1"/>
                    </a:solidFill>
                  </a:rPr>
                  <a:t> u |0⟩ </a:t>
                </a:r>
                <a:r>
                  <a:rPr lang="en-US" dirty="0" err="1">
                    <a:solidFill>
                      <a:schemeClr val="tx1"/>
                    </a:solidFill>
                  </a:rPr>
                  <a:t>tako</a:t>
                </a:r>
                <a:r>
                  <a:rPr lang="en-US" dirty="0">
                    <a:solidFill>
                      <a:schemeClr val="tx1"/>
                    </a:solidFill>
                  </a:rPr>
                  <a:t> da</a:t>
                </a:r>
                <a:r>
                  <a:rPr lang="en-US" baseline="0" dirty="0">
                    <a:solidFill>
                      <a:schemeClr val="tx1"/>
                    </a:solidFill>
                  </a:rPr>
                  <a:t> </a:t>
                </a:r>
                <a:r>
                  <a:rPr lang="en-US" dirty="0" err="1">
                    <a:solidFill>
                      <a:schemeClr val="tx1"/>
                    </a:solidFill>
                  </a:rPr>
                  <a:t>merenje</a:t>
                </a:r>
                <a:r>
                  <a:rPr lang="en-US" dirty="0">
                    <a:solidFill>
                      <a:schemeClr val="tx1"/>
                    </a:solidFill>
                  </a:rPr>
                  <a:t> </a:t>
                </a:r>
                <a:r>
                  <a:rPr lang="en-US" dirty="0" err="1">
                    <a:solidFill>
                      <a:schemeClr val="tx1"/>
                    </a:solidFill>
                  </a:rPr>
                  <a:t>daje</a:t>
                </a:r>
                <a:r>
                  <a:rPr lang="en-US" dirty="0">
                    <a:solidFill>
                      <a:schemeClr val="tx1"/>
                    </a:solidFill>
                  </a:rPr>
                  <a:t> </a:t>
                </a:r>
                <a:r>
                  <a:rPr lang="en-US" dirty="0" err="1">
                    <a:solidFill>
                      <a:schemeClr val="tx1"/>
                    </a:solidFill>
                  </a:rPr>
                  <a:t>rezultat</a:t>
                </a:r>
                <a:r>
                  <a:rPr lang="en-US" dirty="0">
                    <a:solidFill>
                      <a:schemeClr val="tx1"/>
                    </a:solidFill>
                  </a:rPr>
                  <a:t> 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tx1"/>
                    </a:solidFill>
                  </a:rPr>
                  <a:t>Drugim</a:t>
                </a:r>
                <a:r>
                  <a:rPr lang="en-US" dirty="0">
                    <a:solidFill>
                      <a:schemeClr val="tx1"/>
                    </a:solidFill>
                  </a:rPr>
                  <a:t> </a:t>
                </a:r>
                <a:r>
                  <a:rPr lang="en-US" dirty="0" err="1">
                    <a:solidFill>
                      <a:schemeClr val="tx1"/>
                    </a:solidFill>
                  </a:rPr>
                  <a:t>rečima</a:t>
                </a:r>
                <a:r>
                  <a:rPr lang="en-US" dirty="0">
                    <a:solidFill>
                      <a:schemeClr val="tx1"/>
                    </a:solidFill>
                  </a:rPr>
                  <a:t>, </a:t>
                </a:r>
                <a:r>
                  <a:rPr lang="en-US" dirty="0" err="1">
                    <a:solidFill>
                      <a:schemeClr val="tx1"/>
                    </a:solidFill>
                  </a:rPr>
                  <a:t>kada</a:t>
                </a:r>
                <a:r>
                  <a:rPr lang="en-US" dirty="0">
                    <a:solidFill>
                      <a:schemeClr val="tx1"/>
                    </a:solidFill>
                  </a:rPr>
                  <a:t> </a:t>
                </a:r>
                <a:r>
                  <a:rPr lang="en-US" dirty="0" err="1">
                    <a:solidFill>
                      <a:schemeClr val="tx1"/>
                    </a:solidFill>
                  </a:rPr>
                  <a:t>je</a:t>
                </a:r>
                <a:r>
                  <a:rPr lang="en-US" dirty="0">
                    <a:solidFill>
                      <a:schemeClr val="tx1"/>
                    </a:solidFill>
                  </a:rPr>
                  <a:t> 𝒇(0)=𝒇(1), </a:t>
                </a:r>
                <a:r>
                  <a:rPr lang="en-US" dirty="0" err="1">
                    <a:solidFill>
                      <a:schemeClr val="tx1"/>
                    </a:solidFill>
                  </a:rPr>
                  <a:t>odnosno</a:t>
                </a:r>
                <a:r>
                  <a:rPr lang="en-US" dirty="0">
                    <a:solidFill>
                      <a:schemeClr val="tx1"/>
                    </a:solidFill>
                  </a:rPr>
                  <a:t> </a:t>
                </a:r>
                <a:r>
                  <a:rPr lang="en-US" dirty="0" err="1">
                    <a:solidFill>
                      <a:schemeClr val="tx1"/>
                    </a:solidFill>
                  </a:rPr>
                  <a:t>kada</a:t>
                </a:r>
                <a:r>
                  <a:rPr lang="en-US" dirty="0">
                    <a:solidFill>
                      <a:schemeClr val="tx1"/>
                    </a:solidFill>
                  </a:rPr>
                  <a:t> </a:t>
                </a:r>
                <a:r>
                  <a:rPr lang="en-US" dirty="0" err="1">
                    <a:solidFill>
                      <a:schemeClr val="tx1"/>
                    </a:solidFill>
                  </a:rPr>
                  <a:t>je</a:t>
                </a:r>
                <a:r>
                  <a:rPr lang="en-US" dirty="0">
                    <a:solidFill>
                      <a:schemeClr val="tx1"/>
                    </a:solidFill>
                  </a:rPr>
                  <a:t> </a:t>
                </a:r>
                <a:r>
                  <a:rPr lang="en-US" dirty="0" err="1">
                    <a:solidFill>
                      <a:schemeClr val="tx1"/>
                    </a:solidFill>
                  </a:rPr>
                  <a:t>funkcija</a:t>
                </a:r>
                <a:r>
                  <a:rPr lang="en-US" dirty="0">
                    <a:solidFill>
                      <a:schemeClr val="tx1"/>
                    </a:solidFill>
                  </a:rPr>
                  <a:t> </a:t>
                </a:r>
                <a:r>
                  <a:rPr lang="en-US" dirty="0" err="1">
                    <a:solidFill>
                      <a:schemeClr val="tx1"/>
                    </a:solidFill>
                  </a:rPr>
                  <a:t>konstantna</a:t>
                </a:r>
                <a:r>
                  <a:rPr lang="en-US" dirty="0">
                    <a:solidFill>
                      <a:schemeClr val="tx1"/>
                    </a:solidFill>
                  </a:rPr>
                  <a:t>, </a:t>
                </a:r>
                <a:r>
                  <a:rPr lang="en-US" dirty="0" err="1">
                    <a:solidFill>
                      <a:schemeClr val="tx1"/>
                    </a:solidFill>
                  </a:rPr>
                  <a:t>dobija</a:t>
                </a:r>
                <a:r>
                  <a:rPr lang="en-US" dirty="0">
                    <a:solidFill>
                      <a:schemeClr val="tx1"/>
                    </a:solidFill>
                  </a:rPr>
                  <a:t> se </a:t>
                </a:r>
                <a:r>
                  <a:rPr lang="en-US" dirty="0" err="1">
                    <a:solidFill>
                      <a:schemeClr val="tx1"/>
                    </a:solidFill>
                  </a:rPr>
                  <a:t>rezultat</a:t>
                </a:r>
                <a:r>
                  <a:rPr lang="en-US" dirty="0">
                    <a:solidFill>
                      <a:schemeClr val="tx1"/>
                    </a:solidFill>
                  </a:rPr>
                  <a:t> 0 </a:t>
                </a:r>
                <a:r>
                  <a:rPr lang="en-US" dirty="0" err="1">
                    <a:solidFill>
                      <a:schemeClr val="tx1"/>
                    </a:solidFill>
                  </a:rPr>
                  <a:t>što</a:t>
                </a:r>
                <a:r>
                  <a:rPr lang="en-US" dirty="0">
                    <a:solidFill>
                      <a:schemeClr val="tx1"/>
                    </a:solidFill>
                  </a:rPr>
                  <a:t> </a:t>
                </a:r>
                <a:r>
                  <a:rPr lang="en-US" dirty="0" err="1">
                    <a:solidFill>
                      <a:schemeClr val="tx1"/>
                    </a:solidFill>
                  </a:rPr>
                  <a:t>je</a:t>
                </a:r>
                <a:r>
                  <a:rPr lang="en-US" dirty="0">
                    <a:solidFill>
                      <a:schemeClr val="tx1"/>
                    </a:solidFill>
                  </a:rPr>
                  <a:t> </a:t>
                </a:r>
                <a:r>
                  <a:rPr lang="en-US" dirty="0" err="1">
                    <a:solidFill>
                      <a:schemeClr val="tx1"/>
                    </a:solidFill>
                  </a:rPr>
                  <a:t>algoritam</a:t>
                </a:r>
                <a:r>
                  <a:rPr lang="en-US" dirty="0">
                    <a:solidFill>
                      <a:schemeClr val="tx1"/>
                    </a:solidFill>
                  </a:rPr>
                  <a:t> </a:t>
                </a:r>
                <a:r>
                  <a:rPr lang="en-US" dirty="0" err="1">
                    <a:solidFill>
                      <a:schemeClr val="tx1"/>
                    </a:solidFill>
                  </a:rPr>
                  <a:t>i</a:t>
                </a:r>
                <a:r>
                  <a:rPr lang="en-US" dirty="0">
                    <a:solidFill>
                      <a:schemeClr val="tx1"/>
                    </a:solidFill>
                  </a:rPr>
                  <a:t> </a:t>
                </a:r>
                <a:r>
                  <a:rPr lang="en-US" dirty="0" err="1">
                    <a:solidFill>
                      <a:schemeClr val="tx1"/>
                    </a:solidFill>
                  </a:rPr>
                  <a:t>tvrdio</a:t>
                </a:r>
                <a:r>
                  <a:rPr lang="en-US" dirty="0">
                    <a:solidFill>
                      <a:schemeClr val="tx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690893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For a balanced function, where if</a:t>
                </a:r>
                <a:r>
                  <a:rPr lang="en-ZA" b="0" dirty="0">
                    <a:solidFill>
                      <a:schemeClr val="tx1"/>
                    </a:solidFill>
                  </a:rPr>
                  <a:t> </a:t>
                </a:r>
                <a14:m>
                  <m:oMath xmlns:m="http://schemas.openxmlformats.org/officeDocument/2006/math">
                    <m:r>
                      <a:rPr lang="sr-Latn-RS" sz="1200" b="0" i="1" smtClean="0">
                        <a:solidFill>
                          <a:schemeClr val="tx1"/>
                        </a:solidFill>
                        <a:latin typeface="Cambria Math" panose="02040503050406030204" pitchFamily="18" charset="0"/>
                      </a:rPr>
                      <m:t>𝑓</m:t>
                    </m:r>
                    <m:d>
                      <m:dPr>
                        <m:ctrlPr>
                          <a:rPr lang="sr-Latn-RS" sz="1200" b="0" i="1">
                            <a:solidFill>
                              <a:schemeClr val="tx1"/>
                            </a:solidFill>
                            <a:latin typeface="Cambria Math" panose="02040503050406030204" pitchFamily="18" charset="0"/>
                          </a:rPr>
                        </m:ctrlPr>
                      </m:dPr>
                      <m:e>
                        <m:r>
                          <a:rPr lang="sr-Latn-RS" sz="1200" b="0" i="1">
                            <a:solidFill>
                              <a:schemeClr val="tx1"/>
                            </a:solidFill>
                            <a:latin typeface="Cambria Math" panose="02040503050406030204" pitchFamily="18" charset="0"/>
                          </a:rPr>
                          <m:t>0</m:t>
                        </m:r>
                      </m:e>
                    </m:d>
                    <m:r>
                      <a:rPr lang="sr-Latn-RS" sz="1200" b="0" i="1" smtClean="0">
                        <a:solidFill>
                          <a:schemeClr val="tx1"/>
                        </a:solidFill>
                        <a:latin typeface="Cambria Math" panose="02040503050406030204" pitchFamily="18" charset="0"/>
                        <a:ea typeface="Cambria Math" panose="02040503050406030204" pitchFamily="18" charset="0"/>
                      </a:rPr>
                      <m:t>≠</m:t>
                    </m:r>
                    <m:r>
                      <a:rPr lang="sr-Latn-RS" sz="1200" b="0" i="1">
                        <a:solidFill>
                          <a:schemeClr val="tx1"/>
                        </a:solidFill>
                        <a:latin typeface="Cambria Math" panose="02040503050406030204" pitchFamily="18" charset="0"/>
                      </a:rPr>
                      <m:t>𝑓</m:t>
                    </m:r>
                    <m:d>
                      <m:dPr>
                        <m:ctrlPr>
                          <a:rPr lang="sr-Latn-RS" sz="1200" b="0" i="1">
                            <a:solidFill>
                              <a:schemeClr val="tx1"/>
                            </a:solidFill>
                            <a:latin typeface="Cambria Math" panose="02040503050406030204" pitchFamily="18" charset="0"/>
                          </a:rPr>
                        </m:ctrlPr>
                      </m:dPr>
                      <m:e>
                        <m:r>
                          <a:rPr lang="sr-Latn-RS" sz="1200" b="0" i="1">
                            <a:solidFill>
                              <a:schemeClr val="tx1"/>
                            </a:solidFill>
                            <a:latin typeface="Cambria Math" panose="02040503050406030204" pitchFamily="18" charset="0"/>
                          </a:rPr>
                          <m:t>1</m:t>
                        </m:r>
                      </m:e>
                    </m:d>
                    <m:r>
                      <a:rPr lang="en-US" sz="1200" b="0" i="0" smtClean="0">
                        <a:solidFill>
                          <a:schemeClr val="tx1"/>
                        </a:solidFill>
                        <a:latin typeface="Cambria Math" panose="02040503050406030204" pitchFamily="18" charset="0"/>
                      </a:rPr>
                      <m:t>,</m:t>
                    </m:r>
                    <m:r>
                      <m:rPr>
                        <m:nor/>
                      </m:rPr>
                      <a:rPr lang="en-ZA" smtClean="0"/>
                      <m:t>the</m:t>
                    </m:r>
                    <m:r>
                      <m:rPr>
                        <m:nor/>
                      </m:rPr>
                      <a:rPr lang="en-ZA" smtClean="0"/>
                      <m:t> </m:t>
                    </m:r>
                    <m:r>
                      <m:rPr>
                        <m:nor/>
                      </m:rPr>
                      <a:rPr lang="en-ZA" smtClean="0"/>
                      <m:t>state</m:t>
                    </m:r>
                    <m:r>
                      <m:rPr>
                        <m:nor/>
                      </m:rPr>
                      <a:rPr lang="en-ZA" smtClean="0"/>
                      <m:t> </m:t>
                    </m:r>
                    <m:r>
                      <m:rPr>
                        <m:nor/>
                      </m:rPr>
                      <a:rPr lang="en-ZA" smtClean="0"/>
                      <m:t>of</m:t>
                    </m:r>
                    <m:r>
                      <m:rPr>
                        <m:nor/>
                      </m:rPr>
                      <a:rPr lang="en-ZA" smtClean="0"/>
                      <m:t> </m:t>
                    </m:r>
                    <m:r>
                      <m:rPr>
                        <m:nor/>
                      </m:rPr>
                      <a:rPr lang="en-ZA" smtClean="0"/>
                      <m:t>the</m:t>
                    </m:r>
                    <m:r>
                      <m:rPr>
                        <m:nor/>
                      </m:rPr>
                      <a:rPr lang="en-ZA" smtClean="0"/>
                      <m:t> </m:t>
                    </m:r>
                    <m:r>
                      <m:rPr>
                        <m:nor/>
                      </m:rPr>
                      <a:rPr lang="en-ZA" smtClean="0"/>
                      <m:t>first</m:t>
                    </m:r>
                    <m:r>
                      <m:rPr>
                        <m:nor/>
                      </m:rPr>
                      <a:rPr lang="en-ZA" smtClean="0"/>
                      <m:t> </m:t>
                    </m:r>
                    <m:r>
                      <m:rPr>
                        <m:nor/>
                      </m:rPr>
                      <a:rPr lang="en-ZA" smtClean="0"/>
                      <m:t>qubit</m:t>
                    </m:r>
                    <m:r>
                      <m:rPr>
                        <m:nor/>
                      </m:rPr>
                      <a:rPr lang="en-ZA" smtClean="0"/>
                      <m:t> </m:t>
                    </m:r>
                    <m:r>
                      <m:rPr>
                        <m:nor/>
                      </m:rPr>
                      <a:rPr lang="en-ZA" smtClean="0"/>
                      <m:t>can</m:t>
                    </m:r>
                    <m:r>
                      <m:rPr>
                        <m:nor/>
                      </m:rPr>
                      <a:rPr lang="en-ZA" smtClean="0"/>
                      <m:t> </m:t>
                    </m:r>
                    <m:r>
                      <m:rPr>
                        <m:nor/>
                      </m:rPr>
                      <a:rPr lang="en-ZA" smtClean="0"/>
                      <m:t>be</m:t>
                    </m:r>
                    <m:r>
                      <m:rPr>
                        <m:nor/>
                      </m:rPr>
                      <a:rPr lang="en-ZA" smtClean="0"/>
                      <m:t> </m:t>
                    </m:r>
                    <m:r>
                      <m:rPr>
                        <m:nor/>
                      </m:rPr>
                      <a:rPr lang="en-ZA" smtClean="0"/>
                      <m:t>analyzed</m:t>
                    </m:r>
                    <m:r>
                      <m:rPr>
                        <m:nor/>
                      </m:rPr>
                      <a:rPr lang="en-ZA" smtClean="0"/>
                      <m:t> </m:t>
                    </m:r>
                    <m:r>
                      <m:rPr>
                        <m:nor/>
                      </m:rPr>
                      <a:rPr lang="en-ZA" smtClean="0"/>
                      <m:t>as</m:t>
                    </m:r>
                    <m:r>
                      <m:rPr>
                        <m:nor/>
                      </m:rPr>
                      <a:rPr lang="en-ZA" smtClean="0"/>
                      <m:t> </m:t>
                    </m:r>
                    <m:r>
                      <m:rPr>
                        <m:nor/>
                      </m:rPr>
                      <a:rPr lang="en-ZA" smtClean="0"/>
                      <m:t>follows</m:t>
                    </m:r>
                    <m:r>
                      <m:rPr>
                        <m:nor/>
                      </m:rPr>
                      <a:rPr lang="en-ZA" smtClean="0"/>
                      <m:t>.</m:t>
                    </m:r>
                  </m:oMath>
                </a14:m>
                <a:endParaRPr lang="en-ZA" b="0" dirty="0">
                  <a:solidFill>
                    <a:schemeClr val="tx1"/>
                  </a:solidFill>
                </a:endParaRPr>
              </a:p>
              <a:p>
                <a:pPr algn="just"/>
                <a:endParaRPr lang="en-ZA" b="0" dirty="0">
                  <a:solidFill>
                    <a:schemeClr val="tx1"/>
                  </a:solidFill>
                </a:endParaRPr>
              </a:p>
              <a:p>
                <a:pPr marL="228600" indent="-228600">
                  <a:buFont typeface="+mj-lt"/>
                  <a:buAutoNum type="arabicPeriod"/>
                </a:pPr>
                <a:r>
                  <a:rPr lang="en-ZA" dirty="0"/>
                  <a:t>Since XOR with 1 flips a binary value,</a:t>
                </a:r>
                <a:r>
                  <a:rPr lang="en-ZA" b="0" dirty="0"/>
                  <a:t> </a:t>
                </a:r>
                <a14:m>
                  <m:oMath xmlns:m="http://schemas.openxmlformats.org/officeDocument/2006/math">
                    <m:r>
                      <a:rPr lang="en-US" i="1" smtClean="0">
                        <a:solidFill>
                          <a:schemeClr val="tx1"/>
                        </a:solidFill>
                        <a:latin typeface="Cambria Math" panose="02040503050406030204" pitchFamily="18" charset="0"/>
                      </a:rPr>
                      <m:t>1</m:t>
                    </m:r>
                    <m:r>
                      <a:rPr lang="sr-Latn-RS" i="1">
                        <a:solidFill>
                          <a:schemeClr val="tx1"/>
                        </a:solidFill>
                        <a:latin typeface="Cambria Math" panose="02040503050406030204" pitchFamily="18" charset="0"/>
                      </a:rPr>
                      <m:t>⨁</m:t>
                    </m:r>
                    <m:d>
                      <m:dPr>
                        <m:beg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𝑓</m:t>
                        </m:r>
                        <m:r>
                          <a:rPr lang="en-US" i="1">
                            <a:solidFill>
                              <a:schemeClr val="tx1"/>
                            </a:solidFill>
                            <a:latin typeface="Cambria Math" panose="02040503050406030204" pitchFamily="18" charset="0"/>
                          </a:rPr>
                          <m:t>(0</m:t>
                        </m:r>
                      </m:e>
                    </m:d>
                  </m:oMath>
                </a14:m>
                <a:r>
                  <a:rPr lang="en-US" b="0" i="1" dirty="0">
                    <a:solidFill>
                      <a:schemeClr val="tx1"/>
                    </a:solidFill>
                  </a:rPr>
                  <a:t> </a:t>
                </a:r>
                <a:r>
                  <a:rPr lang="en-ZA" dirty="0"/>
                  <a:t>can be replaced by</a:t>
                </a:r>
                <a:r>
                  <a:rPr lang="en-US" b="0" i="1" dirty="0">
                    <a:solidFill>
                      <a:schemeClr val="tx1"/>
                    </a:solidFill>
                  </a:rPr>
                  <a:t> </a:t>
                </a:r>
                <a14:m>
                  <m:oMath xmlns:m="http://schemas.openxmlformats.org/officeDocument/2006/math">
                    <m:r>
                      <a:rPr lang="sr-Latn-RS" b="0" i="1" smtClean="0">
                        <a:solidFill>
                          <a:schemeClr val="tx1"/>
                        </a:solidFill>
                        <a:latin typeface="Cambria Math" panose="02040503050406030204" pitchFamily="18" charset="0"/>
                      </a:rPr>
                      <m:t>𝑓</m:t>
                    </m:r>
                    <m:d>
                      <m:dPr>
                        <m:ctrlPr>
                          <a:rPr lang="sr-Latn-RS" b="0" i="1" smtClean="0">
                            <a:solidFill>
                              <a:schemeClr val="tx1"/>
                            </a:solidFill>
                            <a:latin typeface="Cambria Math" panose="02040503050406030204" pitchFamily="18" charset="0"/>
                          </a:rPr>
                        </m:ctrlPr>
                      </m:dPr>
                      <m:e>
                        <m:r>
                          <a:rPr lang="sr-Latn-RS" b="0" i="1" smtClean="0">
                            <a:solidFill>
                              <a:schemeClr val="tx1"/>
                            </a:solidFill>
                            <a:latin typeface="Cambria Math" panose="02040503050406030204" pitchFamily="18" charset="0"/>
                          </a:rPr>
                          <m:t>1</m:t>
                        </m:r>
                      </m:e>
                    </m:d>
                  </m:oMath>
                </a14:m>
                <a:r>
                  <a:rPr lang="en-US" b="0" i="0" dirty="0">
                    <a:solidFill>
                      <a:schemeClr val="tx1"/>
                    </a:solidFill>
                  </a:rPr>
                  <a:t> and</a:t>
                </a:r>
                <a:r>
                  <a:rPr lang="en-US" b="0" i="1" dirty="0">
                    <a:solidFill>
                      <a:schemeClr val="tx1"/>
                    </a:solidFill>
                  </a:rPr>
                  <a:t> </a:t>
                </a:r>
                <a14:m>
                  <m:oMath xmlns:m="http://schemas.openxmlformats.org/officeDocument/2006/math">
                    <m:d>
                      <m:dPr>
                        <m:begChr m:val=""/>
                        <m:ctrlPr>
                          <a:rPr lang="en-US" i="1">
                            <a:solidFill>
                              <a:schemeClr val="tx1"/>
                            </a:solidFill>
                            <a:latin typeface="Cambria Math" panose="02040503050406030204" pitchFamily="18" charset="0"/>
                          </a:rPr>
                        </m:ctrlPr>
                      </m:dPr>
                      <m:e>
                        <m:r>
                          <a:rPr lang="en-US" i="1">
                            <a:solidFill>
                              <a:schemeClr val="tx1"/>
                            </a:solidFill>
                            <a:latin typeface="Cambria Math" panose="02040503050406030204" pitchFamily="18" charset="0"/>
                          </a:rPr>
                          <m:t>𝑓</m:t>
                        </m:r>
                        <m:r>
                          <a:rPr lang="en-US" i="1">
                            <a:solidFill>
                              <a:schemeClr val="tx1"/>
                            </a:solidFill>
                            <a:latin typeface="Cambria Math" panose="02040503050406030204" pitchFamily="18" charset="0"/>
                          </a:rPr>
                          <m:t>(1</m:t>
                        </m:r>
                      </m:e>
                    </m:d>
                  </m:oMath>
                </a14:m>
                <a:r>
                  <a:rPr lang="en-US" b="0" i="0" dirty="0">
                    <a:solidFill>
                      <a:schemeClr val="tx1"/>
                    </a:solidFill>
                  </a:rPr>
                  <a:t> with </a:t>
                </a:r>
                <a14:m>
                  <m:oMath xmlns:m="http://schemas.openxmlformats.org/officeDocument/2006/math">
                    <m:r>
                      <a:rPr lang="sr-Latn-RS" b="0" i="1" smtClean="0">
                        <a:solidFill>
                          <a:schemeClr val="tx1"/>
                        </a:solidFill>
                        <a:latin typeface="Cambria Math" panose="02040503050406030204" pitchFamily="18" charset="0"/>
                      </a:rPr>
                      <m:t>𝑓</m:t>
                    </m:r>
                    <m:d>
                      <m:dPr>
                        <m:ctrlPr>
                          <a:rPr lang="sr-Latn-R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0</m:t>
                        </m:r>
                      </m:e>
                    </m:d>
                    <m:r>
                      <a:rPr lang="en-US" b="0" i="0" smtClean="0">
                        <a:solidFill>
                          <a:schemeClr val="tx1"/>
                        </a:solidFill>
                        <a:latin typeface="Cambria Math" panose="02040503050406030204" pitchFamily="18" charset="0"/>
                      </a:rPr>
                      <m:t>,</m:t>
                    </m:r>
                  </m:oMath>
                </a14:m>
                <a:r>
                  <a:rPr lang="en-US" b="0" i="0" dirty="0">
                    <a:solidFill>
                      <a:schemeClr val="tx1"/>
                    </a:solidFill>
                  </a:rPr>
                  <a:t> </a:t>
                </a:r>
                <a:r>
                  <a:rPr lang="en-ZA" dirty="0"/>
                  <a:t>which simplifies the state.</a:t>
                </a:r>
                <a:endParaRPr lang="en-US" b="0" i="0" dirty="0">
                  <a:solidFill>
                    <a:schemeClr val="tx1"/>
                  </a:solidFill>
                </a:endParaRPr>
              </a:p>
              <a:p>
                <a:pPr marL="228600" indent="-228600">
                  <a:buFont typeface="+mj-lt"/>
                  <a:buAutoNum type="arabicPeriod"/>
                </a:pPr>
                <a:endParaRPr lang="en-US" b="0" i="0" dirty="0">
                  <a:solidFill>
                    <a:schemeClr val="tx1"/>
                  </a:solidFill>
                </a:endParaRPr>
              </a:p>
              <a:p>
                <a:pPr marL="228600" indent="-228600">
                  <a:buFont typeface="+mj-lt"/>
                  <a:buAutoNum type="arabicPeriod"/>
                </a:pPr>
                <a:r>
                  <a:rPr lang="en-ZA" dirty="0"/>
                  <a:t>Next, the expression is rearranged by factoring out the common term</a:t>
                </a:r>
                <a:r>
                  <a:rPr lang="en-ZA" b="0" dirty="0"/>
                  <a:t> </a:t>
                </a:r>
                <a14:m>
                  <m:oMath xmlns:m="http://schemas.openxmlformats.org/officeDocument/2006/math">
                    <m:d>
                      <m:dPr>
                        <m:ctrlPr>
                          <a:rPr lang="sr-Latn-RS" sz="1200" b="0" i="1" smtClean="0">
                            <a:latin typeface="Cambria Math" panose="02040503050406030204" pitchFamily="18" charset="0"/>
                          </a:rPr>
                        </m:ctrlPr>
                      </m:dPr>
                      <m:e>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en-US" sz="1200" i="1">
                                <a:latin typeface="Cambria Math" panose="02040503050406030204" pitchFamily="18" charset="0"/>
                              </a:rPr>
                              <m:t>0</m:t>
                            </m:r>
                          </m:e>
                        </m:d>
                        <m:r>
                          <a:rPr lang="en-U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sr-Latn-RS" sz="1200" b="0" i="1" smtClean="0">
                                <a:latin typeface="Cambria Math" panose="02040503050406030204" pitchFamily="18" charset="0"/>
                              </a:rPr>
                              <m:t>1</m:t>
                            </m:r>
                          </m:e>
                        </m:d>
                      </m:e>
                    </m:d>
                  </m:oMath>
                </a14:m>
                <a:r>
                  <a:rPr lang="en-ZA" b="0" dirty="0"/>
                  <a:t>. </a:t>
                </a:r>
              </a:p>
              <a:p>
                <a:pPr marL="228600" indent="-228600">
                  <a:buFont typeface="+mj-lt"/>
                  <a:buAutoNum type="arabicPeriod"/>
                </a:pPr>
                <a:endParaRPr lang="en-ZA" b="0" i="0" dirty="0">
                  <a:solidFill>
                    <a:schemeClr val="tx1"/>
                  </a:solidFill>
                </a:endParaRPr>
              </a:p>
              <a:p>
                <a:pPr marL="228600" indent="-228600">
                  <a:buFont typeface="+mj-lt"/>
                  <a:buAutoNum type="arabicPeriod"/>
                </a:pPr>
                <a:r>
                  <a:rPr lang="en-ZA" dirty="0"/>
                  <a:t>This leaves the first qubit in the state</a:t>
                </a:r>
                <a:r>
                  <a:rPr lang="en-ZA" b="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1" smtClean="0">
                            <a:latin typeface="Cambria Math" panose="02040503050406030204" pitchFamily="18" charset="0"/>
                          </a:rPr>
                          <m:t>−</m:t>
                        </m:r>
                      </m:e>
                    </m:d>
                  </m:oMath>
                </a14:m>
                <a:r>
                  <a:rPr lang="en-ZA" b="0" dirty="0"/>
                  <a:t>. </a:t>
                </a:r>
                <a:r>
                  <a:rPr lang="en-ZA" dirty="0"/>
                  <a:t>After applying the Hadamard gate, it becomes ∣1⟩, so the measurement outcome is </a:t>
                </a:r>
                <a:r>
                  <a:rPr lang="en-ZA" b="0" dirty="0"/>
                  <a:t>1.</a:t>
                </a:r>
              </a:p>
              <a:p>
                <a:pPr marL="228600" indent="-228600">
                  <a:buFont typeface="+mj-lt"/>
                  <a:buAutoNum type="arabicPeriod"/>
                </a:pPr>
                <a:endParaRPr lang="en-ZA" b="0" i="0" dirty="0">
                  <a:solidFill>
                    <a:schemeClr val="tx1"/>
                  </a:solidFill>
                </a:endParaRPr>
              </a:p>
              <a:p>
                <a:pPr marL="0" indent="0">
                  <a:buFont typeface="+mj-lt"/>
                  <a:buNone/>
                </a:pPr>
                <a:r>
                  <a:rPr lang="en-ZA" dirty="0"/>
                  <a:t>In other words, when the function is balanced, with </a:t>
                </a:r>
                <a14:m>
                  <m:oMath xmlns:m="http://schemas.openxmlformats.org/officeDocument/2006/math">
                    <m:r>
                      <a:rPr lang="sr-Latn-RS" sz="1200" b="0" i="1" smtClean="0">
                        <a:solidFill>
                          <a:schemeClr val="tx1"/>
                        </a:solidFill>
                        <a:latin typeface="Cambria Math" panose="02040503050406030204" pitchFamily="18" charset="0"/>
                      </a:rPr>
                      <m:t>𝑓</m:t>
                    </m:r>
                    <m:d>
                      <m:dPr>
                        <m:ctrlPr>
                          <a:rPr lang="sr-Latn-RS" sz="1200" b="0" i="1">
                            <a:solidFill>
                              <a:schemeClr val="tx1"/>
                            </a:solidFill>
                            <a:latin typeface="Cambria Math" panose="02040503050406030204" pitchFamily="18" charset="0"/>
                          </a:rPr>
                        </m:ctrlPr>
                      </m:dPr>
                      <m:e>
                        <m:r>
                          <a:rPr lang="sr-Latn-RS" sz="1200" b="0" i="1">
                            <a:solidFill>
                              <a:schemeClr val="tx1"/>
                            </a:solidFill>
                            <a:latin typeface="Cambria Math" panose="02040503050406030204" pitchFamily="18" charset="0"/>
                          </a:rPr>
                          <m:t>0</m:t>
                        </m:r>
                      </m:e>
                    </m:d>
                    <m:r>
                      <a:rPr lang="sr-Latn-RS" sz="1200" b="0" i="1" smtClean="0">
                        <a:solidFill>
                          <a:schemeClr val="tx1"/>
                        </a:solidFill>
                        <a:latin typeface="Cambria Math" panose="02040503050406030204" pitchFamily="18" charset="0"/>
                        <a:ea typeface="Cambria Math" panose="02040503050406030204" pitchFamily="18" charset="0"/>
                      </a:rPr>
                      <m:t>≠</m:t>
                    </m:r>
                    <m:r>
                      <a:rPr lang="sr-Latn-RS" sz="1200" b="0" i="1">
                        <a:solidFill>
                          <a:schemeClr val="tx1"/>
                        </a:solidFill>
                        <a:latin typeface="Cambria Math" panose="02040503050406030204" pitchFamily="18" charset="0"/>
                      </a:rPr>
                      <m:t>𝑓</m:t>
                    </m:r>
                    <m:d>
                      <m:dPr>
                        <m:ctrlPr>
                          <a:rPr lang="sr-Latn-RS" sz="1200" b="0" i="1">
                            <a:solidFill>
                              <a:schemeClr val="tx1"/>
                            </a:solidFill>
                            <a:latin typeface="Cambria Math" panose="02040503050406030204" pitchFamily="18" charset="0"/>
                          </a:rPr>
                        </m:ctrlPr>
                      </m:dPr>
                      <m:e>
                        <m:r>
                          <a:rPr lang="sr-Latn-RS" sz="1200" b="0" i="1">
                            <a:solidFill>
                              <a:schemeClr val="tx1"/>
                            </a:solidFill>
                            <a:latin typeface="Cambria Math" panose="02040503050406030204" pitchFamily="18" charset="0"/>
                          </a:rPr>
                          <m:t>1</m:t>
                        </m:r>
                      </m:e>
                    </m:d>
                  </m:oMath>
                </a14:m>
                <a:r>
                  <a:rPr lang="en-ZA" b="0" dirty="0"/>
                  <a:t>, </a:t>
                </a:r>
                <a:r>
                  <a:rPr lang="en-ZA" dirty="0"/>
                  <a:t>the algorithm correctly identifies it by producing the output 1.</a:t>
                </a:r>
                <a:endParaRPr lang="en-US" b="0" i="0" dirty="0">
                  <a:solidFill>
                    <a:schemeClr val="tx1"/>
                  </a:solidFill>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Recimo </a:t>
                </a:r>
                <a:r>
                  <a:rPr lang="en-US" dirty="0" err="1"/>
                  <a:t>sada</a:t>
                </a:r>
                <a:r>
                  <a:rPr lang="en-US" dirty="0"/>
                  <a:t> da </a:t>
                </a:r>
                <a:r>
                  <a:rPr lang="en-US" dirty="0" err="1"/>
                  <a:t>je</a:t>
                </a:r>
                <a:r>
                  <a:rPr lang="en-US" dirty="0"/>
                  <a:t> </a:t>
                </a:r>
                <a:r>
                  <a:rPr lang="en-US" dirty="0" err="1"/>
                  <a:t>funkcija</a:t>
                </a:r>
                <a:r>
                  <a:rPr lang="en-US" dirty="0"/>
                  <a:t> </a:t>
                </a:r>
                <a:r>
                  <a:rPr lang="en-US" dirty="0" err="1"/>
                  <a:t>balansirana</a:t>
                </a:r>
                <a:r>
                  <a:rPr lang="en-US" dirty="0"/>
                  <a:t>, </a:t>
                </a:r>
                <a:r>
                  <a:rPr lang="en-US" dirty="0" err="1"/>
                  <a:t>odnosno</a:t>
                </a:r>
                <a:r>
                  <a:rPr lang="en-US" dirty="0"/>
                  <a:t> 𝒇(0)≠𝒇(1) </a:t>
                </a:r>
                <a:r>
                  <a:rPr lang="en-US" dirty="0" err="1"/>
                  <a:t>i</a:t>
                </a:r>
                <a:r>
                  <a:rPr lang="en-US" dirty="0"/>
                  <a:t> </a:t>
                </a:r>
                <a:r>
                  <a:rPr lang="en-US" dirty="0" err="1"/>
                  <a:t>vratimo</a:t>
                </a:r>
                <a:r>
                  <a:rPr lang="en-US" dirty="0"/>
                  <a:t> se </a:t>
                </a:r>
                <a:r>
                  <a:rPr lang="en-US" dirty="0" err="1"/>
                  <a:t>istom</a:t>
                </a:r>
                <a:r>
                  <a:rPr lang="en-US" dirty="0"/>
                  <a:t> </a:t>
                </a:r>
                <a:r>
                  <a:rPr lang="en-US" dirty="0" err="1"/>
                  <a:t>izrazu</a:t>
                </a:r>
                <a:r>
                  <a:rPr lang="en-US" dirty="0"/>
                  <a:t> </a:t>
                </a:r>
                <a:r>
                  <a:rPr lang="en-US" dirty="0" err="1"/>
                  <a:t>koji</a:t>
                </a:r>
                <a:r>
                  <a:rPr lang="en-US" dirty="0"/>
                  <a:t> </a:t>
                </a:r>
                <a:r>
                  <a:rPr lang="en-US" dirty="0" err="1"/>
                  <a:t>pokazuje</a:t>
                </a:r>
                <a:r>
                  <a:rPr lang="en-US" dirty="0"/>
                  <a:t> </a:t>
                </a:r>
                <a:r>
                  <a:rPr lang="en-US" dirty="0" err="1"/>
                  <a:t>stanje</a:t>
                </a:r>
                <a:r>
                  <a:rPr lang="en-US" dirty="0"/>
                  <a:t> </a:t>
                </a:r>
                <a:r>
                  <a:rPr lang="en-US" dirty="0" err="1"/>
                  <a:t>gorenjeg</a:t>
                </a:r>
                <a:r>
                  <a:rPr lang="en-US" dirty="0"/>
                  <a:t> kubita </a:t>
                </a:r>
                <a:r>
                  <a:rPr lang="en-US" dirty="0" err="1"/>
                  <a:t>na</a:t>
                </a:r>
                <a:r>
                  <a:rPr lang="en-US" dirty="0"/>
                  <a:t> </a:t>
                </a:r>
                <a:r>
                  <a:rPr lang="en-US" dirty="0" err="1"/>
                  <a:t>izlazu</a:t>
                </a:r>
                <a:r>
                  <a:rPr lang="en-US" dirty="0"/>
                  <a:t> </a:t>
                </a:r>
                <a:r>
                  <a:rPr lang="en-US" dirty="0" err="1"/>
                  <a:t>iz</a:t>
                </a:r>
                <a:r>
                  <a:rPr lang="en-US" dirty="0"/>
                  <a:t> </a:t>
                </a:r>
                <a:r>
                  <a:rPr lang="en-US" dirty="0" err="1"/>
                  <a:t>orakla</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Radi</a:t>
                </a:r>
                <a:r>
                  <a:rPr lang="en-US" dirty="0"/>
                  <a:t> </a:t>
                </a:r>
                <a:r>
                  <a:rPr lang="en-US" dirty="0" err="1"/>
                  <a:t>pojednostavljivanja</a:t>
                </a:r>
                <a:r>
                  <a:rPr lang="en-US" dirty="0"/>
                  <a:t> </a:t>
                </a:r>
                <a:r>
                  <a:rPr lang="en-US" dirty="0" err="1"/>
                  <a:t>izraza</a:t>
                </a:r>
                <a:r>
                  <a:rPr lang="en-US" dirty="0"/>
                  <a:t>, </a:t>
                </a:r>
                <a:r>
                  <a:rPr lang="en-US" dirty="0" err="1"/>
                  <a:t>koristi</a:t>
                </a:r>
                <a:r>
                  <a:rPr lang="en-US" dirty="0"/>
                  <a:t> se </a:t>
                </a:r>
                <a:r>
                  <a:rPr lang="en-US" dirty="0" err="1"/>
                  <a:t>osobina</a:t>
                </a:r>
                <a:r>
                  <a:rPr lang="en-US" dirty="0"/>
                  <a:t> da XOR </a:t>
                </a:r>
                <a:r>
                  <a:rPr lang="en-US" dirty="0" err="1"/>
                  <a:t>operacija</a:t>
                </a:r>
                <a:r>
                  <a:rPr lang="en-US" dirty="0"/>
                  <a:t> </a:t>
                </a:r>
                <a:r>
                  <a:rPr lang="en-US" dirty="0" err="1"/>
                  <a:t>između</a:t>
                </a:r>
                <a:r>
                  <a:rPr lang="en-US" dirty="0"/>
                  <a:t> </a:t>
                </a:r>
                <a:r>
                  <a:rPr lang="en-US" dirty="0" err="1"/>
                  <a:t>jedinice</a:t>
                </a:r>
                <a:r>
                  <a:rPr lang="en-US" dirty="0"/>
                  <a:t> </a:t>
                </a:r>
                <a:r>
                  <a:rPr lang="en-US" dirty="0" err="1"/>
                  <a:t>i</a:t>
                </a:r>
                <a:r>
                  <a:rPr lang="en-US" dirty="0"/>
                  <a:t> </a:t>
                </a:r>
                <a:r>
                  <a:rPr lang="en-US" dirty="0" err="1"/>
                  <a:t>nekog</a:t>
                </a:r>
                <a:r>
                  <a:rPr lang="en-US" dirty="0"/>
                  <a:t> </a:t>
                </a:r>
                <a:r>
                  <a:rPr lang="en-US" dirty="0" err="1"/>
                  <a:t>binarnog</a:t>
                </a:r>
                <a:r>
                  <a:rPr lang="en-US" dirty="0"/>
                  <a:t> </a:t>
                </a:r>
                <a:r>
                  <a:rPr lang="en-US" dirty="0" err="1"/>
                  <a:t>niza</a:t>
                </a:r>
                <a:r>
                  <a:rPr lang="en-US" dirty="0"/>
                  <a:t> </a:t>
                </a:r>
                <a:r>
                  <a:rPr lang="en-US" dirty="0" err="1"/>
                  <a:t>negira</a:t>
                </a:r>
                <a:r>
                  <a:rPr lang="en-US" dirty="0"/>
                  <a:t> </a:t>
                </a:r>
                <a:r>
                  <a:rPr lang="en-US" dirty="0" err="1"/>
                  <a:t>taj</a:t>
                </a:r>
                <a:r>
                  <a:rPr lang="en-US" dirty="0"/>
                  <a:t> </a:t>
                </a:r>
                <a:r>
                  <a:rPr lang="en-US" dirty="0" err="1"/>
                  <a:t>niz</a:t>
                </a:r>
                <a:r>
                  <a:rPr lang="en-US" dirty="0"/>
                  <a:t>. U </a:t>
                </a:r>
                <a:r>
                  <a:rPr lang="en-US" dirty="0" err="1"/>
                  <a:t>ovom</a:t>
                </a:r>
                <a:r>
                  <a:rPr lang="en-US" dirty="0"/>
                  <a:t> </a:t>
                </a:r>
                <a:r>
                  <a:rPr lang="en-US" dirty="0" err="1"/>
                  <a:t>slučaju</a:t>
                </a:r>
                <a:r>
                  <a:rPr lang="en-US" dirty="0"/>
                  <a:t> to </a:t>
                </a:r>
                <a:r>
                  <a:rPr lang="en-US" dirty="0" err="1"/>
                  <a:t>znači</a:t>
                </a:r>
                <a:r>
                  <a:rPr lang="en-US" dirty="0"/>
                  <a:t> da </a:t>
                </a:r>
                <a:r>
                  <a:rPr lang="en-US" dirty="0" err="1"/>
                  <a:t>je</a:t>
                </a:r>
                <a:r>
                  <a:rPr lang="en-US" dirty="0"/>
                  <a:t> </a:t>
                </a:r>
                <a:r>
                  <a:rPr lang="en-US" i="0">
                    <a:latin typeface="Cambria Math" panose="02040503050406030204" pitchFamily="18" charset="0"/>
                  </a:rPr>
                  <a:t>1</a:t>
                </a:r>
                <a:r>
                  <a:rPr lang="sr-Latn-RS" i="0">
                    <a:latin typeface="Cambria Math" panose="02040503050406030204" pitchFamily="18" charset="0"/>
                  </a:rPr>
                  <a:t>⨁</a:t>
                </a:r>
                <a:r>
                  <a:rPr lang="en-US" i="0">
                    <a:latin typeface="Cambria Math" panose="02040503050406030204" pitchFamily="18" charset="0"/>
                  </a:rPr>
                  <a:t>├ 𝑓(0)</a:t>
                </a:r>
                <a:r>
                  <a:rPr lang="sr-Latn-RS" b="0" i="0">
                    <a:latin typeface="Cambria Math" panose="02040503050406030204" pitchFamily="18" charset="0"/>
                  </a:rPr>
                  <a:t>=𝑓(1)</a:t>
                </a:r>
                <a:r>
                  <a:rPr lang="en-US" dirty="0"/>
                  <a:t> </a:t>
                </a:r>
                <a:r>
                  <a:rPr lang="en-US" dirty="0" err="1"/>
                  <a:t>i</a:t>
                </a:r>
                <a:r>
                  <a:rPr lang="en-US" dirty="0"/>
                  <a:t> </a:t>
                </a:r>
                <a:r>
                  <a:rPr lang="en-US" i="0">
                    <a:latin typeface="Cambria Math" panose="02040503050406030204" pitchFamily="18" charset="0"/>
                  </a:rPr>
                  <a:t>1</a:t>
                </a:r>
                <a:r>
                  <a:rPr lang="sr-Latn-RS" i="0">
                    <a:latin typeface="Cambria Math" panose="02040503050406030204" pitchFamily="18" charset="0"/>
                  </a:rPr>
                  <a:t>⨁</a:t>
                </a:r>
                <a:r>
                  <a:rPr lang="en-US" i="0">
                    <a:latin typeface="Cambria Math" panose="02040503050406030204" pitchFamily="18" charset="0"/>
                  </a:rPr>
                  <a:t>├ 𝑓(</a:t>
                </a:r>
                <a:r>
                  <a:rPr lang="sr-Latn-RS" b="0" i="0">
                    <a:latin typeface="Cambria Math" panose="02040503050406030204" pitchFamily="18" charset="0"/>
                  </a:rPr>
                  <a:t>1</a:t>
                </a:r>
                <a:r>
                  <a:rPr lang="en-US" b="0" i="0">
                    <a:latin typeface="Cambria Math" panose="02040503050406030204" pitchFamily="18" charset="0"/>
                  </a:rPr>
                  <a:t>)</a:t>
                </a:r>
                <a:r>
                  <a:rPr lang="sr-Latn-RS" b="0" i="0">
                    <a:latin typeface="Cambria Math" panose="02040503050406030204" pitchFamily="18" charset="0"/>
                  </a:rPr>
                  <a:t>=𝑓(0)</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Preuređivanje</a:t>
                </a:r>
                <a:r>
                  <a:rPr lang="en-US" dirty="0"/>
                  <a:t>  </a:t>
                </a:r>
                <a:r>
                  <a:rPr lang="en-US" dirty="0" err="1"/>
                  <a:t>izraza</a:t>
                </a:r>
                <a:r>
                  <a:rPr lang="en-US" dirty="0"/>
                  <a:t> </a:t>
                </a:r>
                <a:r>
                  <a:rPr lang="en-US" dirty="0" err="1"/>
                  <a:t>pokazuje</a:t>
                </a:r>
                <a:r>
                  <a:rPr lang="en-US" dirty="0"/>
                  <a:t> da </a:t>
                </a:r>
                <a:r>
                  <a:rPr lang="en-US" dirty="0" err="1"/>
                  <a:t>je</a:t>
                </a:r>
                <a:r>
                  <a:rPr lang="en-US" dirty="0"/>
                  <a:t> </a:t>
                </a:r>
                <a:r>
                  <a:rPr lang="en-US" dirty="0" err="1"/>
                  <a:t>stanje</a:t>
                </a:r>
                <a:r>
                  <a:rPr lang="en-US" dirty="0"/>
                  <a:t> </a:t>
                </a:r>
                <a:r>
                  <a:rPr lang="en-US" dirty="0" err="1"/>
                  <a:t>gornjeg</a:t>
                </a:r>
                <a:r>
                  <a:rPr lang="en-US" dirty="0"/>
                  <a:t> kubita </a:t>
                </a:r>
                <a:r>
                  <a:rPr lang="en-US" sz="1200" i="0">
                    <a:solidFill>
                      <a:srgbClr val="FF0000"/>
                    </a:solidFill>
                    <a:latin typeface="Cambria Math" panose="02040503050406030204" pitchFamily="18" charset="0"/>
                  </a:rPr>
                  <a:t>├ |</a:t>
                </a:r>
                <a:r>
                  <a:rPr lang="sr-Latn-RS" sz="1200" b="0" i="0">
                    <a:solidFill>
                      <a:srgbClr val="FF0000"/>
                    </a:solidFill>
                    <a:latin typeface="Cambria Math" panose="02040503050406030204" pitchFamily="18" charset="0"/>
                  </a:rPr>
                  <a:t>−⟩</a:t>
                </a:r>
                <a:r>
                  <a:rPr lang="en-US" dirty="0"/>
                  <a:t>. </a:t>
                </a:r>
                <a:r>
                  <a:rPr lang="en-US" dirty="0">
                    <a:solidFill>
                      <a:schemeClr val="tx1"/>
                    </a:solidFill>
                  </a:rPr>
                  <a:t>Konačno, </a:t>
                </a:r>
                <a:r>
                  <a:rPr lang="en-US" dirty="0" err="1">
                    <a:solidFill>
                      <a:schemeClr val="tx1"/>
                    </a:solidFill>
                  </a:rPr>
                  <a:t>posle</a:t>
                </a:r>
                <a:r>
                  <a:rPr lang="en-US" dirty="0">
                    <a:solidFill>
                      <a:schemeClr val="tx1"/>
                    </a:solidFill>
                  </a:rPr>
                  <a:t> </a:t>
                </a:r>
                <a:r>
                  <a:rPr lang="en-US" dirty="0" err="1">
                    <a:solidFill>
                      <a:schemeClr val="tx1"/>
                    </a:solidFill>
                  </a:rPr>
                  <a:t>primene</a:t>
                </a:r>
                <a:r>
                  <a:rPr lang="en-US" dirty="0">
                    <a:solidFill>
                      <a:schemeClr val="tx1"/>
                    </a:solidFill>
                  </a:rPr>
                  <a:t> </a:t>
                </a:r>
                <a:r>
                  <a:rPr lang="en-US" dirty="0" err="1">
                    <a:solidFill>
                      <a:schemeClr val="tx1"/>
                    </a:solidFill>
                  </a:rPr>
                  <a:t>Adamarovog</a:t>
                </a:r>
                <a:r>
                  <a:rPr lang="en-US" dirty="0">
                    <a:solidFill>
                      <a:schemeClr val="tx1"/>
                    </a:solidFill>
                  </a:rPr>
                  <a:t> kola, </a:t>
                </a:r>
                <a:r>
                  <a:rPr lang="en-US" sz="1200" i="0">
                    <a:solidFill>
                      <a:schemeClr val="tx1"/>
                    </a:solidFill>
                    <a:latin typeface="Cambria Math" panose="02040503050406030204" pitchFamily="18" charset="0"/>
                  </a:rPr>
                  <a:t>├ |</a:t>
                </a:r>
                <a:r>
                  <a:rPr lang="sr-Latn-RS" sz="1200" b="0" i="0">
                    <a:solidFill>
                      <a:schemeClr val="tx1"/>
                    </a:solidFill>
                    <a:latin typeface="Cambria Math" panose="02040503050406030204" pitchFamily="18" charset="0"/>
                  </a:rPr>
                  <a:t>−⟩</a:t>
                </a:r>
                <a:r>
                  <a:rPr lang="en-US" dirty="0">
                    <a:solidFill>
                      <a:schemeClr val="tx1"/>
                    </a:solidFill>
                  </a:rPr>
                  <a:t> </a:t>
                </a:r>
                <a:r>
                  <a:rPr lang="en-US" dirty="0" err="1">
                    <a:solidFill>
                      <a:schemeClr val="tx1"/>
                    </a:solidFill>
                  </a:rPr>
                  <a:t>prelazi</a:t>
                </a:r>
                <a:r>
                  <a:rPr lang="en-US" dirty="0">
                    <a:solidFill>
                      <a:schemeClr val="tx1"/>
                    </a:solidFill>
                  </a:rPr>
                  <a:t> u |1⟩ </a:t>
                </a:r>
                <a:r>
                  <a:rPr lang="en-US" dirty="0" err="1">
                    <a:solidFill>
                      <a:schemeClr val="tx1"/>
                    </a:solidFill>
                  </a:rPr>
                  <a:t>tako</a:t>
                </a:r>
                <a:r>
                  <a:rPr lang="en-US" dirty="0">
                    <a:solidFill>
                      <a:schemeClr val="tx1"/>
                    </a:solidFill>
                  </a:rPr>
                  <a:t> da</a:t>
                </a:r>
                <a:r>
                  <a:rPr lang="en-US" baseline="0" dirty="0">
                    <a:solidFill>
                      <a:schemeClr val="tx1"/>
                    </a:solidFill>
                  </a:rPr>
                  <a:t> </a:t>
                </a:r>
                <a:r>
                  <a:rPr lang="en-US" dirty="0" err="1">
                    <a:solidFill>
                      <a:schemeClr val="tx1"/>
                    </a:solidFill>
                  </a:rPr>
                  <a:t>merenje</a:t>
                </a:r>
                <a:r>
                  <a:rPr lang="en-US" dirty="0">
                    <a:solidFill>
                      <a:schemeClr val="tx1"/>
                    </a:solidFill>
                  </a:rPr>
                  <a:t> </a:t>
                </a:r>
                <a:r>
                  <a:rPr lang="en-US" dirty="0" err="1">
                    <a:solidFill>
                      <a:schemeClr val="tx1"/>
                    </a:solidFill>
                  </a:rPr>
                  <a:t>daje</a:t>
                </a:r>
                <a:r>
                  <a:rPr lang="en-US" dirty="0">
                    <a:solidFill>
                      <a:schemeClr val="tx1"/>
                    </a:solidFill>
                  </a:rPr>
                  <a:t> </a:t>
                </a:r>
                <a:r>
                  <a:rPr lang="en-US" dirty="0" err="1">
                    <a:solidFill>
                      <a:schemeClr val="tx1"/>
                    </a:solidFill>
                  </a:rPr>
                  <a:t>rezultat</a:t>
                </a:r>
                <a:r>
                  <a:rPr lang="en-US" dirty="0">
                    <a:solidFill>
                      <a:schemeClr val="tx1"/>
                    </a:solidFill>
                  </a:rPr>
                  <a:t> 1.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Drugim</a:t>
                </a:r>
                <a:r>
                  <a:rPr lang="en-US" dirty="0"/>
                  <a:t> </a:t>
                </a:r>
                <a:r>
                  <a:rPr lang="en-US" dirty="0" err="1"/>
                  <a:t>rečima</a:t>
                </a:r>
                <a:r>
                  <a:rPr lang="en-US" dirty="0"/>
                  <a:t>, </a:t>
                </a:r>
                <a:r>
                  <a:rPr lang="en-US" dirty="0" err="1"/>
                  <a:t>kada</a:t>
                </a:r>
                <a:r>
                  <a:rPr lang="en-US" dirty="0"/>
                  <a:t> </a:t>
                </a:r>
                <a:r>
                  <a:rPr lang="en-US" dirty="0" err="1"/>
                  <a:t>je</a:t>
                </a:r>
                <a:r>
                  <a:rPr lang="en-US" dirty="0"/>
                  <a:t> 𝒇(0)≠𝒇(1), </a:t>
                </a:r>
                <a:r>
                  <a:rPr lang="en-US" dirty="0" err="1"/>
                  <a:t>odnosno</a:t>
                </a:r>
                <a:r>
                  <a:rPr lang="en-US" dirty="0"/>
                  <a:t> </a:t>
                </a:r>
                <a:r>
                  <a:rPr lang="en-US" dirty="0" err="1"/>
                  <a:t>kada</a:t>
                </a:r>
                <a:r>
                  <a:rPr lang="en-US" dirty="0"/>
                  <a:t> </a:t>
                </a:r>
                <a:r>
                  <a:rPr lang="en-US" dirty="0" err="1"/>
                  <a:t>je</a:t>
                </a:r>
                <a:r>
                  <a:rPr lang="en-US" dirty="0"/>
                  <a:t> </a:t>
                </a:r>
                <a:r>
                  <a:rPr lang="en-US" dirty="0" err="1"/>
                  <a:t>funkcija</a:t>
                </a:r>
                <a:r>
                  <a:rPr lang="en-US" dirty="0"/>
                  <a:t> </a:t>
                </a:r>
                <a:r>
                  <a:rPr lang="en-US" dirty="0" err="1"/>
                  <a:t>balansirana</a:t>
                </a:r>
                <a:r>
                  <a:rPr lang="en-US" dirty="0"/>
                  <a:t> </a:t>
                </a:r>
                <a:r>
                  <a:rPr lang="en-US" dirty="0" err="1"/>
                  <a:t>dobija</a:t>
                </a:r>
                <a:r>
                  <a:rPr lang="en-US" dirty="0"/>
                  <a:t> se </a:t>
                </a:r>
                <a:r>
                  <a:rPr lang="en-US" dirty="0" err="1"/>
                  <a:t>rezultat</a:t>
                </a:r>
                <a:r>
                  <a:rPr lang="en-US" dirty="0"/>
                  <a:t> 1 </a:t>
                </a:r>
                <a:r>
                  <a:rPr lang="en-US" dirty="0" err="1"/>
                  <a:t>što</a:t>
                </a:r>
                <a:r>
                  <a:rPr lang="en-US" dirty="0"/>
                  <a:t> </a:t>
                </a:r>
                <a:r>
                  <a:rPr lang="en-US" dirty="0" err="1"/>
                  <a:t>je</a:t>
                </a:r>
                <a:r>
                  <a:rPr lang="en-US" dirty="0"/>
                  <a:t> </a:t>
                </a:r>
                <a:r>
                  <a:rPr lang="en-US" dirty="0" err="1"/>
                  <a:t>algoritam</a:t>
                </a:r>
                <a:r>
                  <a:rPr lang="en-US" dirty="0"/>
                  <a:t> </a:t>
                </a:r>
                <a:r>
                  <a:rPr lang="en-US" dirty="0" err="1"/>
                  <a:t>i</a:t>
                </a:r>
                <a:r>
                  <a:rPr lang="en-US" dirty="0"/>
                  <a:t> </a:t>
                </a:r>
                <a:r>
                  <a:rPr lang="en-US" dirty="0" err="1"/>
                  <a:t>tvrdio</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76226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Instead of storing the function value in the auxiliary qubit, it can be encoded directly in the phase. This leads to the phase oracle.</a:t>
                </a:r>
              </a:p>
              <a:p>
                <a:endParaRPr lang="en-ZA" b="0" dirty="0"/>
              </a:p>
              <a:p>
                <a:r>
                  <a:rPr lang="en-ZA" b="0" dirty="0"/>
                  <a:t>The phase oracle applies a phase factor </a:t>
                </a:r>
                <a14:m>
                  <m:oMath xmlns:m="http://schemas.openxmlformats.org/officeDocument/2006/math">
                    <m:sSup>
                      <m:sSupPr>
                        <m:ctrlPr>
                          <a:rPr lang="en-US" sz="1200" i="1" smtClean="0">
                            <a:latin typeface="Cambria Math" panose="02040503050406030204" pitchFamily="18" charset="0"/>
                          </a:rPr>
                        </m:ctrlPr>
                      </m:sSupPr>
                      <m:e>
                        <m:r>
                          <a:rPr lang="sr-Latn-RS" sz="1200" i="1">
                            <a:latin typeface="Cambria Math" panose="02040503050406030204" pitchFamily="18" charset="0"/>
                          </a:rPr>
                          <m:t>(−1)</m:t>
                        </m:r>
                      </m:e>
                      <m:sup>
                        <m:r>
                          <a:rPr lang="sr-Latn-RS" sz="1200" i="1">
                            <a:latin typeface="Cambria Math" panose="02040503050406030204" pitchFamily="18" charset="0"/>
                          </a:rPr>
                          <m:t>𝑓</m:t>
                        </m:r>
                        <m:r>
                          <a:rPr lang="sr-Latn-RS" sz="1200" i="1">
                            <a:latin typeface="Cambria Math" panose="02040503050406030204" pitchFamily="18" charset="0"/>
                          </a:rPr>
                          <m:t>(</m:t>
                        </m:r>
                        <m:r>
                          <a:rPr lang="sr-Latn-RS" sz="1200" i="1">
                            <a:latin typeface="Cambria Math" panose="02040503050406030204" pitchFamily="18" charset="0"/>
                          </a:rPr>
                          <m:t>𝑥</m:t>
                        </m:r>
                        <m:r>
                          <a:rPr lang="sr-Latn-RS" sz="1200" i="1">
                            <a:latin typeface="Cambria Math" panose="02040503050406030204" pitchFamily="18" charset="0"/>
                          </a:rPr>
                          <m:t>)</m:t>
                        </m:r>
                      </m:sup>
                    </m:sSup>
                  </m:oMath>
                </a14:m>
                <a:r>
                  <a:rPr lang="en-ZA" b="0" dirty="0"/>
                  <a:t> to the state associated with the input </a:t>
                </a:r>
                <a14:m>
                  <m:oMath xmlns:m="http://schemas.openxmlformats.org/officeDocument/2006/math">
                    <m:r>
                      <a:rPr lang="sr-Latn-RS" sz="1200" i="1" smtClean="0">
                        <a:latin typeface="Cambria Math" panose="02040503050406030204" pitchFamily="18" charset="0"/>
                      </a:rPr>
                      <m:t>𝑥</m:t>
                    </m:r>
                  </m:oMath>
                </a14:m>
                <a:r>
                  <a:rPr lang="en-ZA" b="0" dirty="0"/>
                  <a:t>, while leaving the auxiliary qubit y unchanged.</a:t>
                </a:r>
                <a:r>
                  <a:rPr lang="en-ZA" b="0" baseline="0" dirty="0"/>
                  <a:t> </a:t>
                </a:r>
                <a:r>
                  <a:rPr lang="en-ZA" dirty="0"/>
                  <a:t>The state at the oracle’s output is denoted by</a:t>
                </a:r>
                <a:r>
                  <a:rPr lang="en-ZA" b="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sr-Latn-RS" sz="1200" b="0" i="1" smtClean="0">
                            <a:latin typeface="Cambria Math" panose="02040503050406030204" pitchFamily="18" charset="0"/>
                          </a:rPr>
                          <m:t>𝑆</m:t>
                        </m:r>
                      </m:e>
                    </m:d>
                  </m:oMath>
                </a14:m>
                <a:r>
                  <a:rPr lang="en-ZA" b="0" dirty="0"/>
                  <a:t>.</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Ako </a:t>
                </a:r>
                <a:r>
                  <a:rPr lang="en-US" dirty="0" err="1"/>
                  <a:t>je</a:t>
                </a:r>
                <a:r>
                  <a:rPr lang="en-US" dirty="0"/>
                  <a:t> </a:t>
                </a:r>
                <a:r>
                  <a:rPr lang="sr-Latn-RS" sz="1200" b="0" i="0">
                    <a:latin typeface="Cambria Math" panose="02040503050406030204" pitchFamily="18" charset="0"/>
                  </a:rPr>
                  <a:t>𝑦</a:t>
                </a:r>
                <a:r>
                  <a:rPr lang="en-US" dirty="0"/>
                  <a:t> </a:t>
                </a:r>
                <a:r>
                  <a:rPr lang="en-US" dirty="0" err="1"/>
                  <a:t>ulaz</a:t>
                </a:r>
                <a:r>
                  <a:rPr lang="en-US" dirty="0"/>
                  <a:t> u </a:t>
                </a:r>
                <a:r>
                  <a:rPr lang="en-US" dirty="0" err="1"/>
                  <a:t>orakl</a:t>
                </a:r>
                <a:r>
                  <a:rPr lang="en-US" baseline="0" dirty="0"/>
                  <a:t>  u </a:t>
                </a:r>
                <a:r>
                  <a:rPr lang="en-US" dirty="0" err="1"/>
                  <a:t>stanju</a:t>
                </a:r>
                <a:r>
                  <a:rPr lang="en-US" dirty="0"/>
                  <a:t> |–⟩, to </a:t>
                </a:r>
                <a:r>
                  <a:rPr lang="en-US" dirty="0" err="1"/>
                  <a:t>može</a:t>
                </a:r>
                <a:r>
                  <a:rPr lang="en-US" dirty="0"/>
                  <a:t> </a:t>
                </a:r>
                <a:r>
                  <a:rPr lang="en-US" dirty="0" err="1"/>
                  <a:t>biti</a:t>
                </a:r>
                <a:r>
                  <a:rPr lang="en-US" dirty="0"/>
                  <a:t>,</a:t>
                </a:r>
                <a:r>
                  <a:rPr lang="en-US" baseline="0" dirty="0"/>
                  <a:t> </a:t>
                </a:r>
                <a:r>
                  <a:rPr lang="en-US" baseline="0" dirty="0" err="1"/>
                  <a:t>kao</a:t>
                </a:r>
                <a:r>
                  <a:rPr lang="en-US" baseline="0" dirty="0"/>
                  <a:t> u </a:t>
                </a:r>
                <a:r>
                  <a:rPr lang="en-US" baseline="0" dirty="0" err="1"/>
                  <a:t>ovom</a:t>
                </a:r>
                <a:r>
                  <a:rPr lang="en-US" baseline="0" dirty="0"/>
                  <a:t> </a:t>
                </a:r>
                <a:r>
                  <a:rPr lang="en-US" baseline="0" dirty="0" err="1"/>
                  <a:t>slučaju</a:t>
                </a:r>
                <a:r>
                  <a:rPr lang="en-US" baseline="0" dirty="0"/>
                  <a:t>, </a:t>
                </a:r>
                <a:r>
                  <a:rPr lang="en-US" baseline="0" dirty="0" err="1"/>
                  <a:t>indikator</a:t>
                </a:r>
                <a:r>
                  <a:rPr lang="en-US" baseline="0" dirty="0"/>
                  <a:t> </a:t>
                </a:r>
                <a:r>
                  <a:rPr lang="en-US" dirty="0"/>
                  <a:t>da </a:t>
                </a:r>
                <a:r>
                  <a:rPr lang="en-US" dirty="0" err="1"/>
                  <a:t>je</a:t>
                </a:r>
                <a:r>
                  <a:rPr lang="en-US" dirty="0"/>
                  <a:t> u </a:t>
                </a:r>
                <a:r>
                  <a:rPr lang="en-US" dirty="0" err="1"/>
                  <a:t>pitanju</a:t>
                </a:r>
                <a:r>
                  <a:rPr lang="en-US" dirty="0"/>
                  <a:t> </a:t>
                </a:r>
                <a:r>
                  <a:rPr lang="en-US" dirty="0" err="1"/>
                  <a:t>fazni</a:t>
                </a:r>
                <a:r>
                  <a:rPr lang="en-US" dirty="0"/>
                  <a:t> </a:t>
                </a:r>
                <a:r>
                  <a:rPr lang="en-US" dirty="0" err="1"/>
                  <a:t>orakl</a:t>
                </a:r>
                <a:r>
                  <a:rPr lang="en-US" dirty="0"/>
                  <a:t> </a:t>
                </a:r>
                <a:r>
                  <a:rPr lang="en-US" dirty="0" err="1"/>
                  <a:t>koji</a:t>
                </a:r>
                <a:r>
                  <a:rPr lang="en-US" dirty="0"/>
                  <a:t> </a:t>
                </a:r>
                <a:r>
                  <a:rPr lang="en-US" dirty="0" err="1"/>
                  <a:t>na</a:t>
                </a:r>
                <a:r>
                  <a:rPr lang="en-US" dirty="0"/>
                  <a:t> </a:t>
                </a:r>
                <a:r>
                  <a:rPr lang="en-US" dirty="0" err="1"/>
                  <a:t>izlazu</a:t>
                </a:r>
                <a:r>
                  <a:rPr lang="en-US" dirty="0"/>
                  <a:t> </a:t>
                </a:r>
                <a:r>
                  <a:rPr lang="en-US" dirty="0" err="1"/>
                  <a:t>vrši</a:t>
                </a:r>
                <a:r>
                  <a:rPr lang="en-US" baseline="0" dirty="0"/>
                  <a:t> </a:t>
                </a:r>
                <a:r>
                  <a:rPr lang="en-US" baseline="0" dirty="0" err="1"/>
                  <a:t>prenos</a:t>
                </a:r>
                <a:r>
                  <a:rPr lang="en-US" baseline="0" dirty="0"/>
                  <a:t> faze </a:t>
                </a:r>
                <a:r>
                  <a:rPr lang="en-US" baseline="0" dirty="0" err="1"/>
                  <a:t>sa</a:t>
                </a:r>
                <a:r>
                  <a:rPr lang="en-US" baseline="0" dirty="0"/>
                  <a:t> </a:t>
                </a:r>
                <a:r>
                  <a:rPr lang="sr-Latn-RS" sz="1200" b="0" i="0">
                    <a:latin typeface="Cambria Math" panose="02040503050406030204" pitchFamily="18" charset="0"/>
                  </a:rPr>
                  <a:t>𝑦</a:t>
                </a:r>
                <a:r>
                  <a:rPr lang="en-US" dirty="0"/>
                  <a:t> na </a:t>
                </a:r>
                <a:r>
                  <a:rPr lang="sr-Latn-RS" sz="1200" b="0" i="0">
                    <a:latin typeface="Cambria Math" panose="02040503050406030204" pitchFamily="18" charset="0"/>
                  </a:rPr>
                  <a:t>𝑥</a:t>
                </a:r>
                <a:r>
                  <a:rPr lang="en-US" dirty="0"/>
                  <a:t>. U </a:t>
                </a:r>
                <a:r>
                  <a:rPr lang="en-US" dirty="0" err="1"/>
                  <a:t>ovom</a:t>
                </a:r>
                <a:r>
                  <a:rPr lang="en-US" dirty="0"/>
                  <a:t> </a:t>
                </a:r>
                <a:r>
                  <a:rPr lang="en-US" dirty="0" err="1"/>
                  <a:t>slučaju</a:t>
                </a:r>
                <a:r>
                  <a:rPr lang="en-US" dirty="0"/>
                  <a:t> </a:t>
                </a:r>
                <a:r>
                  <a:rPr lang="en-US" dirty="0" err="1"/>
                  <a:t>stanje</a:t>
                </a:r>
                <a:r>
                  <a:rPr lang="en-US" dirty="0"/>
                  <a:t> </a:t>
                </a:r>
                <a:r>
                  <a:rPr lang="en-US" dirty="0" err="1"/>
                  <a:t>izlaza</a:t>
                </a:r>
                <a:r>
                  <a:rPr lang="en-US" dirty="0"/>
                  <a:t> </a:t>
                </a:r>
                <a:r>
                  <a:rPr lang="sr-Latn-RS" sz="1200" b="0" i="0">
                    <a:latin typeface="Cambria Math" panose="02040503050406030204" pitchFamily="18" charset="0"/>
                  </a:rPr>
                  <a:t>𝑦</a:t>
                </a:r>
                <a:r>
                  <a:rPr lang="en-US" dirty="0"/>
                  <a:t> se </a:t>
                </a:r>
                <a:r>
                  <a:rPr lang="en-US" dirty="0" err="1"/>
                  <a:t>piše</a:t>
                </a:r>
                <a:r>
                  <a:rPr lang="en-US" dirty="0"/>
                  <a:t> u </a:t>
                </a:r>
                <a:r>
                  <a:rPr lang="en-US" dirty="0" err="1"/>
                  <a:t>obliku</a:t>
                </a:r>
                <a:r>
                  <a:rPr lang="en-US" dirty="0"/>
                  <a:t>  </a:t>
                </a:r>
                <a:r>
                  <a:rPr lang="en-US" sz="1200" i="0">
                    <a:latin typeface="Cambria Math" panose="02040503050406030204" pitchFamily="18" charset="0"/>
                  </a:rPr>
                  <a:t>〖</a:t>
                </a:r>
                <a:r>
                  <a:rPr lang="sr-Latn-RS" sz="1200" i="0">
                    <a:latin typeface="Cambria Math" panose="02040503050406030204" pitchFamily="18" charset="0"/>
                  </a:rPr>
                  <a:t>(−1)</a:t>
                </a:r>
                <a:r>
                  <a:rPr lang="en-US" sz="1200" i="0">
                    <a:latin typeface="Cambria Math" panose="02040503050406030204" pitchFamily="18" charset="0"/>
                  </a:rPr>
                  <a:t>〗^(</a:t>
                </a:r>
                <a:r>
                  <a:rPr lang="sr-Latn-RS" sz="1200" i="0">
                    <a:latin typeface="Cambria Math" panose="02040503050406030204" pitchFamily="18" charset="0"/>
                  </a:rPr>
                  <a:t>𝑓(</a:t>
                </a:r>
                <a:r>
                  <a:rPr lang="sr-Latn-RS" sz="1200" b="0" i="0">
                    <a:latin typeface="Cambria Math" panose="02040503050406030204" pitchFamily="18" charset="0"/>
                  </a:rPr>
                  <a:t>𝑥</a:t>
                </a:r>
                <a:r>
                  <a:rPr lang="sr-Latn-RS" sz="1200" i="0">
                    <a:latin typeface="Cambria Math" panose="02040503050406030204" pitchFamily="18" charset="0"/>
                  </a:rPr>
                  <a:t>)</a:t>
                </a:r>
                <a:r>
                  <a:rPr lang="en-US" sz="1200" i="0">
                    <a:latin typeface="Cambria Math" panose="02040503050406030204" pitchFamily="18" charset="0"/>
                  </a:rPr>
                  <a:t>)</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Posle</a:t>
                </a:r>
                <a:r>
                  <a:rPr lang="en-US" dirty="0"/>
                  <a:t> </a:t>
                </a:r>
                <a:r>
                  <a:rPr lang="en-US" dirty="0" err="1"/>
                  <a:t>primene</a:t>
                </a:r>
                <a:r>
                  <a:rPr lang="en-US" dirty="0"/>
                  <a:t> </a:t>
                </a:r>
                <a:r>
                  <a:rPr lang="en-US" dirty="0" err="1"/>
                  <a:t>prve</a:t>
                </a:r>
                <a:r>
                  <a:rPr lang="en-US" dirty="0"/>
                  <a:t> </a:t>
                </a:r>
                <a:r>
                  <a:rPr lang="en-US" dirty="0" err="1"/>
                  <a:t>grupe</a:t>
                </a:r>
                <a:r>
                  <a:rPr lang="en-US" dirty="0"/>
                  <a:t> </a:t>
                </a:r>
                <a:r>
                  <a:rPr lang="en-US" dirty="0" err="1"/>
                  <a:t>Adamarovih</a:t>
                </a:r>
                <a:r>
                  <a:rPr lang="en-US" dirty="0"/>
                  <a:t> </a:t>
                </a:r>
                <a:r>
                  <a:rPr lang="en-US" dirty="0" err="1"/>
                  <a:t>elementarnih</a:t>
                </a:r>
                <a:r>
                  <a:rPr lang="en-US" dirty="0"/>
                  <a:t> kola, </a:t>
                </a:r>
                <a:r>
                  <a:rPr lang="en-US" dirty="0" err="1"/>
                  <a:t>stanje</a:t>
                </a:r>
                <a:r>
                  <a:rPr lang="en-US" dirty="0"/>
                  <a:t> </a:t>
                </a:r>
                <a:r>
                  <a:rPr lang="en-US" dirty="0" err="1"/>
                  <a:t>na</a:t>
                </a:r>
                <a:r>
                  <a:rPr lang="en-US" dirty="0"/>
                  <a:t> </a:t>
                </a:r>
                <a:r>
                  <a:rPr lang="en-US" dirty="0" err="1"/>
                  <a:t>ulazu</a:t>
                </a:r>
                <a:r>
                  <a:rPr lang="en-US" dirty="0"/>
                  <a:t> u </a:t>
                </a:r>
                <a:r>
                  <a:rPr lang="en-US" dirty="0" err="1"/>
                  <a:t>orakl</a:t>
                </a:r>
                <a:r>
                  <a:rPr lang="en-US" dirty="0"/>
                  <a:t> </a:t>
                </a:r>
                <a:r>
                  <a:rPr lang="en-US" dirty="0" err="1"/>
                  <a:t>je</a:t>
                </a:r>
                <a:r>
                  <a:rPr lang="en-US" dirty="0"/>
                  <a:t> </a:t>
                </a:r>
                <a:r>
                  <a:rPr lang="en-US" dirty="0" err="1"/>
                  <a:t>dato</a:t>
                </a:r>
                <a:r>
                  <a:rPr lang="en-US" dirty="0"/>
                  <a:t> </a:t>
                </a:r>
                <a:r>
                  <a:rPr lang="en-US" dirty="0" err="1"/>
                  <a:t>proizvodom</a:t>
                </a:r>
                <a:r>
                  <a:rPr lang="en-US" dirty="0"/>
                  <a:t> |+⟩|–⟩. </a:t>
                </a:r>
                <a:r>
                  <a:rPr lang="en-US" dirty="0" err="1"/>
                  <a:t>Pošto</a:t>
                </a:r>
                <a:r>
                  <a:rPr lang="en-US" dirty="0"/>
                  <a:t> </a:t>
                </a:r>
                <a:r>
                  <a:rPr lang="en-US" dirty="0" err="1"/>
                  <a:t>je</a:t>
                </a:r>
                <a:r>
                  <a:rPr lang="en-US" dirty="0"/>
                  <a:t> od </a:t>
                </a:r>
                <a:r>
                  <a:rPr lang="en-US" dirty="0" err="1"/>
                  <a:t>značaja</a:t>
                </a:r>
                <a:r>
                  <a:rPr lang="en-US" dirty="0"/>
                  <a:t> </a:t>
                </a:r>
                <a:r>
                  <a:rPr lang="en-US" dirty="0" err="1"/>
                  <a:t>samo</a:t>
                </a:r>
                <a:r>
                  <a:rPr lang="en-US" dirty="0"/>
                  <a:t> </a:t>
                </a:r>
                <a:r>
                  <a:rPr lang="en-US" dirty="0" err="1"/>
                  <a:t>stanje</a:t>
                </a:r>
                <a:r>
                  <a:rPr lang="en-US" dirty="0"/>
                  <a:t> </a:t>
                </a:r>
                <a:r>
                  <a:rPr lang="en-US" dirty="0" err="1"/>
                  <a:t>gorjeg</a:t>
                </a:r>
                <a:r>
                  <a:rPr lang="en-US" dirty="0"/>
                  <a:t> kubita, </a:t>
                </a:r>
                <a:r>
                  <a:rPr lang="en-US" dirty="0" err="1"/>
                  <a:t>razvićemo</a:t>
                </a:r>
                <a:r>
                  <a:rPr lang="en-US" dirty="0"/>
                  <a:t> |+⟩ u </a:t>
                </a:r>
                <a:r>
                  <a:rPr lang="en-US" dirty="0" err="1"/>
                  <a:t>superpoziciju</a:t>
                </a:r>
                <a:r>
                  <a:rPr lang="en-US" dirty="0"/>
                  <a:t>, a </a:t>
                </a:r>
                <a:r>
                  <a:rPr lang="en-US" dirty="0" err="1"/>
                  <a:t>stanje</a:t>
                </a:r>
                <a:r>
                  <a:rPr lang="en-US" dirty="0"/>
                  <a:t> |–⟩ </a:t>
                </a:r>
                <a:r>
                  <a:rPr lang="en-US" dirty="0" err="1"/>
                  <a:t>ostavljamo</a:t>
                </a:r>
                <a:r>
                  <a:rPr lang="en-US" dirty="0"/>
                  <a:t> u </a:t>
                </a:r>
                <a:r>
                  <a:rPr lang="en-US" dirty="0" err="1"/>
                  <a:t>ovom</a:t>
                </a:r>
                <a:r>
                  <a:rPr lang="en-US" dirty="0"/>
                  <a:t> </a:t>
                </a:r>
                <a:r>
                  <a:rPr lang="en-US" dirty="0" err="1"/>
                  <a:t>obliku</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Znajući</a:t>
                </a:r>
                <a:r>
                  <a:rPr lang="en-US" dirty="0"/>
                  <a:t> da </a:t>
                </a:r>
                <a:r>
                  <a:rPr lang="en-US" dirty="0" err="1"/>
                  <a:t>fazni</a:t>
                </a:r>
                <a:r>
                  <a:rPr lang="en-US" dirty="0"/>
                  <a:t> </a:t>
                </a:r>
                <a:r>
                  <a:rPr lang="en-US" dirty="0" err="1"/>
                  <a:t>orakl</a:t>
                </a:r>
                <a:r>
                  <a:rPr lang="en-US" dirty="0"/>
                  <a:t> </a:t>
                </a:r>
                <a:r>
                  <a:rPr lang="en-US" dirty="0" err="1"/>
                  <a:t>vrši</a:t>
                </a:r>
                <a:r>
                  <a:rPr lang="en-US" dirty="0"/>
                  <a:t> </a:t>
                </a:r>
                <a:r>
                  <a:rPr lang="en-US" dirty="0" err="1"/>
                  <a:t>prenos</a:t>
                </a:r>
                <a:r>
                  <a:rPr lang="en-US" dirty="0"/>
                  <a:t> faze </a:t>
                </a:r>
                <a:r>
                  <a:rPr lang="en-US" dirty="0" err="1"/>
                  <a:t>na</a:t>
                </a:r>
                <a:r>
                  <a:rPr lang="en-US" dirty="0"/>
                  <a:t> </a:t>
                </a:r>
                <a:r>
                  <a:rPr lang="en-US" dirty="0" err="1"/>
                  <a:t>gornji</a:t>
                </a:r>
                <a:r>
                  <a:rPr lang="en-US" dirty="0"/>
                  <a:t>, </a:t>
                </a:r>
                <a:r>
                  <a:rPr lang="sr-Latn-RS" sz="1200" b="0" i="0">
                    <a:latin typeface="Cambria Math" panose="02040503050406030204" pitchFamily="18" charset="0"/>
                  </a:rPr>
                  <a:t>𝑥</a:t>
                </a:r>
                <a:r>
                  <a:rPr lang="en-US" dirty="0"/>
                  <a:t> kubit, </a:t>
                </a:r>
                <a:r>
                  <a:rPr lang="en-US" dirty="0" err="1"/>
                  <a:t>stanju</a:t>
                </a:r>
                <a:r>
                  <a:rPr lang="en-US" dirty="0"/>
                  <a:t> </a:t>
                </a:r>
                <a:r>
                  <a:rPr lang="en-US" dirty="0" err="1"/>
                  <a:t>ovog</a:t>
                </a:r>
                <a:r>
                  <a:rPr lang="en-US" dirty="0"/>
                  <a:t> kubita </a:t>
                </a:r>
                <a:r>
                  <a:rPr lang="en-US" dirty="0" err="1"/>
                  <a:t>na</a:t>
                </a:r>
                <a:r>
                  <a:rPr lang="en-US" dirty="0"/>
                  <a:t> </a:t>
                </a:r>
                <a:r>
                  <a:rPr lang="en-US" dirty="0" err="1"/>
                  <a:t>izlazu</a:t>
                </a:r>
                <a:r>
                  <a:rPr lang="en-US" dirty="0"/>
                  <a:t> </a:t>
                </a:r>
                <a:r>
                  <a:rPr lang="en-US" dirty="0" err="1"/>
                  <a:t>iz</a:t>
                </a:r>
                <a:r>
                  <a:rPr lang="en-US" dirty="0"/>
                  <a:t> </a:t>
                </a:r>
                <a:r>
                  <a:rPr lang="en-US" dirty="0" err="1"/>
                  <a:t>orakla</a:t>
                </a:r>
                <a:r>
                  <a:rPr lang="en-US" dirty="0"/>
                  <a:t> se </a:t>
                </a:r>
                <a:r>
                  <a:rPr lang="en-US" dirty="0" err="1"/>
                  <a:t>dodaje</a:t>
                </a:r>
                <a:r>
                  <a:rPr lang="en-US" dirty="0"/>
                  <a:t> </a:t>
                </a:r>
                <a:r>
                  <a:rPr lang="en-US" dirty="0" err="1"/>
                  <a:t>fazni</a:t>
                </a:r>
                <a:r>
                  <a:rPr lang="en-US" dirty="0"/>
                  <a:t> </a:t>
                </a:r>
                <a:r>
                  <a:rPr lang="en-US" dirty="0" err="1"/>
                  <a:t>faktor</a:t>
                </a:r>
                <a:r>
                  <a:rPr lang="en-US" dirty="0"/>
                  <a:t> od  </a:t>
                </a:r>
                <a:r>
                  <a:rPr lang="en-US" sz="1200" i="0">
                    <a:latin typeface="Cambria Math" panose="02040503050406030204" pitchFamily="18" charset="0"/>
                  </a:rPr>
                  <a:t>〖</a:t>
                </a:r>
                <a:r>
                  <a:rPr lang="sr-Latn-RS" sz="1200" i="0">
                    <a:latin typeface="Cambria Math" panose="02040503050406030204" pitchFamily="18" charset="0"/>
                  </a:rPr>
                  <a:t>(−1)</a:t>
                </a:r>
                <a:r>
                  <a:rPr lang="en-US" sz="1200" i="0">
                    <a:latin typeface="Cambria Math" panose="02040503050406030204" pitchFamily="18" charset="0"/>
                  </a:rPr>
                  <a:t>〗^(</a:t>
                </a:r>
                <a:r>
                  <a:rPr lang="sr-Latn-RS" sz="1200" i="0">
                    <a:latin typeface="Cambria Math" panose="02040503050406030204" pitchFamily="18" charset="0"/>
                  </a:rPr>
                  <a:t>𝑓(</a:t>
                </a:r>
                <a:r>
                  <a:rPr lang="sr-Latn-RS" sz="1200" b="0" i="0">
                    <a:latin typeface="Cambria Math" panose="02040503050406030204" pitchFamily="18" charset="0"/>
                  </a:rPr>
                  <a:t>𝑥</a:t>
                </a:r>
                <a:r>
                  <a:rPr lang="sr-Latn-RS" sz="1200" i="0">
                    <a:latin typeface="Cambria Math" panose="02040503050406030204" pitchFamily="18" charset="0"/>
                  </a:rPr>
                  <a:t>)</a:t>
                </a:r>
                <a:r>
                  <a:rPr lang="en-US" sz="1200" i="0">
                    <a:latin typeface="Cambria Math" panose="02040503050406030204" pitchFamily="18" charset="0"/>
                  </a:rPr>
                  <a:t>)</a:t>
                </a:r>
                <a:r>
                  <a:rPr lang="en-US" dirty="0"/>
                  <a:t>. </a:t>
                </a:r>
                <a:r>
                  <a:rPr lang="en-US" dirty="0" err="1"/>
                  <a:t>Neka</a:t>
                </a:r>
                <a:r>
                  <a:rPr lang="en-US" dirty="0"/>
                  <a:t> </a:t>
                </a:r>
                <a:r>
                  <a:rPr lang="en-US" dirty="0" err="1"/>
                  <a:t>je</a:t>
                </a:r>
                <a:r>
                  <a:rPr lang="en-US" dirty="0"/>
                  <a:t> </a:t>
                </a:r>
                <a:r>
                  <a:rPr lang="en-US" dirty="0" err="1"/>
                  <a:t>ovo</a:t>
                </a:r>
                <a:r>
                  <a:rPr lang="en-US" dirty="0"/>
                  <a:t> </a:t>
                </a:r>
                <a:r>
                  <a:rPr lang="en-US" dirty="0" err="1"/>
                  <a:t>stanje</a:t>
                </a:r>
                <a:r>
                  <a:rPr lang="en-US" dirty="0"/>
                  <a:t> </a:t>
                </a:r>
                <a:r>
                  <a:rPr lang="en-US" dirty="0" err="1"/>
                  <a:t>obeleženo</a:t>
                </a:r>
                <a:r>
                  <a:rPr lang="en-US" dirty="0"/>
                  <a:t> </a:t>
                </a:r>
                <a:r>
                  <a:rPr lang="en-US" dirty="0" err="1"/>
                  <a:t>sa</a:t>
                </a:r>
                <a:r>
                  <a:rPr lang="en-US" dirty="0"/>
                  <a:t> |S⟩.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2434782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output state of the first qubit can now be examined for both constant and balanced functions.</a:t>
                </a:r>
              </a:p>
              <a:p>
                <a:pPr algn="just"/>
                <a:endParaRPr lang="en-ZA" b="0" dirty="0">
                  <a:solidFill>
                    <a:schemeClr val="tx1"/>
                  </a:solidFill>
                </a:endParaRPr>
              </a:p>
              <a:p>
                <a:pPr marL="228600" indent="-228600" algn="just">
                  <a:buFont typeface="+mj-lt"/>
                  <a:buAutoNum type="arabicPeriod"/>
                </a:pPr>
                <a:r>
                  <a:rPr lang="en-ZA" dirty="0"/>
                  <a:t>For the constant function, after substituting </a:t>
                </a:r>
                <a14:m>
                  <m:oMath xmlns:m="http://schemas.openxmlformats.org/officeDocument/2006/math">
                    <m:r>
                      <a:rPr lang="sr-Latn-RS" sz="1200" b="0" i="1" smtClean="0">
                        <a:solidFill>
                          <a:schemeClr val="tx1"/>
                        </a:solidFill>
                        <a:latin typeface="Cambria Math" panose="02040503050406030204" pitchFamily="18" charset="0"/>
                      </a:rPr>
                      <m:t>𝑓</m:t>
                    </m:r>
                    <m:d>
                      <m:dPr>
                        <m:ctrlPr>
                          <a:rPr lang="sr-Latn-RS" sz="1200" b="0" i="1">
                            <a:solidFill>
                              <a:schemeClr val="tx1"/>
                            </a:solidFill>
                            <a:latin typeface="Cambria Math" panose="02040503050406030204" pitchFamily="18" charset="0"/>
                          </a:rPr>
                        </m:ctrlPr>
                      </m:dPr>
                      <m:e>
                        <m:r>
                          <a:rPr lang="sr-Latn-RS" sz="1200" b="0" i="0" smtClean="0">
                            <a:solidFill>
                              <a:schemeClr val="tx1"/>
                            </a:solidFill>
                            <a:latin typeface="Cambria Math" panose="02040503050406030204" pitchFamily="18" charset="0"/>
                          </a:rPr>
                          <m:t>1</m:t>
                        </m:r>
                      </m:e>
                    </m:d>
                  </m:oMath>
                </a14:m>
                <a:r>
                  <a:rPr lang="en-ZA" dirty="0"/>
                  <a:t> with </a:t>
                </a:r>
                <a14:m>
                  <m:oMath xmlns:m="http://schemas.openxmlformats.org/officeDocument/2006/math">
                    <m:r>
                      <a:rPr lang="sr-Latn-RS" sz="1200" b="0" i="1" smtClean="0">
                        <a:solidFill>
                          <a:schemeClr val="tx1"/>
                        </a:solidFill>
                        <a:latin typeface="Cambria Math" panose="02040503050406030204" pitchFamily="18" charset="0"/>
                      </a:rPr>
                      <m:t>𝑓</m:t>
                    </m:r>
                    <m:d>
                      <m:dPr>
                        <m:ctrlPr>
                          <a:rPr lang="sr-Latn-RS" sz="1200" b="0" i="1">
                            <a:solidFill>
                              <a:schemeClr val="tx1"/>
                            </a:solidFill>
                            <a:latin typeface="Cambria Math" panose="02040503050406030204" pitchFamily="18" charset="0"/>
                          </a:rPr>
                        </m:ctrlPr>
                      </m:dPr>
                      <m:e>
                        <m:r>
                          <a:rPr lang="en-US" sz="1200" b="0" i="0" smtClean="0">
                            <a:solidFill>
                              <a:schemeClr val="tx1"/>
                            </a:solidFill>
                            <a:latin typeface="Cambria Math" panose="02040503050406030204" pitchFamily="18" charset="0"/>
                          </a:rPr>
                          <m:t>0</m:t>
                        </m:r>
                      </m:e>
                    </m:d>
                  </m:oMath>
                </a14:m>
                <a:r>
                  <a:rPr lang="en-ZA" dirty="0"/>
                  <a:t>, a common phase factor can be factored out. Since a global phase has no effect on the measurement outcome, it can simply be ignored. The first qubit is left in the state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1" smtClean="0">
                            <a:latin typeface="Cambria Math" panose="02040503050406030204" pitchFamily="18" charset="0"/>
                          </a:rPr>
                          <m:t>+</m:t>
                        </m:r>
                      </m:e>
                    </m:d>
                  </m:oMath>
                </a14:m>
                <a:r>
                  <a:rPr lang="en-ZA" dirty="0"/>
                  <a:t> , which becomes ∣0⟩ after applying the Hadamard gate. So, when measured, the algorithm correctly outputs </a:t>
                </a:r>
                <a:r>
                  <a:rPr lang="en-ZA" b="1" dirty="0"/>
                  <a:t>0</a:t>
                </a:r>
                <a:r>
                  <a:rPr lang="en-ZA" dirty="0"/>
                  <a:t> for a constant function.</a:t>
                </a:r>
              </a:p>
              <a:p>
                <a:pPr marL="228600" indent="-228600" algn="just">
                  <a:buFont typeface="+mj-lt"/>
                  <a:buAutoNum type="arabicPeriod"/>
                </a:pPr>
                <a:endParaRPr lang="en-ZA" dirty="0"/>
              </a:p>
              <a:p>
                <a:pPr marL="228600" indent="-228600" algn="l">
                  <a:buFont typeface="+mj-lt"/>
                  <a:buAutoNum type="arabicPeriod"/>
                </a:pPr>
                <a:r>
                  <a:rPr lang="en-ZA" b="0" dirty="0"/>
                  <a:t>For a balanced function,</a:t>
                </a:r>
                <a:r>
                  <a:rPr lang="en-ZA" dirty="0"/>
                  <a:t> suppose that </a:t>
                </a:r>
                <a14:m>
                  <m:oMath xmlns:m="http://schemas.openxmlformats.org/officeDocument/2006/math">
                    <m:r>
                      <a:rPr lang="sr-Latn-RS" sz="1200" b="0" i="1" smtClean="0">
                        <a:latin typeface="Cambria Math" panose="02040503050406030204" pitchFamily="18" charset="0"/>
                      </a:rPr>
                      <m:t>𝑓</m:t>
                    </m:r>
                    <m:d>
                      <m:dPr>
                        <m:ctrlPr>
                          <a:rPr lang="sr-Latn-RS" sz="1200" i="1">
                            <a:latin typeface="Cambria Math" panose="02040503050406030204" pitchFamily="18" charset="0"/>
                          </a:rPr>
                        </m:ctrlPr>
                      </m:dPr>
                      <m:e>
                        <m:r>
                          <a:rPr lang="sr-Latn-RS" sz="1200" b="0" i="1">
                            <a:latin typeface="Cambria Math" panose="02040503050406030204" pitchFamily="18" charset="0"/>
                          </a:rPr>
                          <m:t>0</m:t>
                        </m:r>
                      </m:e>
                    </m:d>
                    <m:r>
                      <a:rPr lang="en-US" sz="1200" b="0" i="1" smtClean="0">
                        <a:latin typeface="Cambria Math" panose="02040503050406030204" pitchFamily="18" charset="0"/>
                      </a:rPr>
                      <m:t>=0</m:t>
                    </m:r>
                  </m:oMath>
                </a14:m>
                <a:r>
                  <a:rPr lang="en-ZA" b="0" dirty="0">
                    <a:solidFill>
                      <a:schemeClr val="tx1"/>
                    </a:solidFill>
                  </a:rPr>
                  <a:t> and </a:t>
                </a:r>
                <a14:m>
                  <m:oMath xmlns:m="http://schemas.openxmlformats.org/officeDocument/2006/math">
                    <m:r>
                      <a:rPr lang="en-US" sz="1200" b="0" i="1" smtClean="0">
                        <a:latin typeface="Cambria Math" panose="02040503050406030204" pitchFamily="18" charset="0"/>
                      </a:rPr>
                      <m:t> </m:t>
                    </m:r>
                    <m:r>
                      <a:rPr lang="sr-Latn-RS" sz="1200" b="0" i="1">
                        <a:latin typeface="Cambria Math" panose="02040503050406030204" pitchFamily="18" charset="0"/>
                      </a:rPr>
                      <m:t>𝑓</m:t>
                    </m:r>
                    <m:d>
                      <m:dPr>
                        <m:ctrlPr>
                          <a:rPr lang="sr-Latn-RS" sz="1200" i="1">
                            <a:latin typeface="Cambria Math" panose="02040503050406030204" pitchFamily="18" charset="0"/>
                          </a:rPr>
                        </m:ctrlPr>
                      </m:dPr>
                      <m:e>
                        <m:r>
                          <a:rPr lang="sr-Latn-RS" sz="1200" b="0" i="1">
                            <a:latin typeface="Cambria Math" panose="02040503050406030204" pitchFamily="18" charset="0"/>
                          </a:rPr>
                          <m:t>1</m:t>
                        </m:r>
                      </m:e>
                    </m:d>
                    <m:r>
                      <a:rPr lang="en-US" sz="1200" b="0" i="1" smtClean="0">
                        <a:latin typeface="Cambria Math" panose="02040503050406030204" pitchFamily="18" charset="0"/>
                      </a:rPr>
                      <m:t>=1</m:t>
                    </m:r>
                  </m:oMath>
                </a14:m>
                <a:r>
                  <a:rPr lang="en-ZA" dirty="0"/>
                  <a:t>. After substituting the phase factors +1</a:t>
                </a:r>
                <a:r>
                  <a:rPr lang="en-ZA" baseline="0" dirty="0"/>
                  <a:t> </a:t>
                </a:r>
                <a:r>
                  <a:rPr lang="en-ZA" dirty="0"/>
                  <a:t>and −1, the expression simplifies, leaving the first qubit in the state∣−⟩. After applying the Hadamard gate, it becomes ∣1⟩. So, the algorithm correctly outputs </a:t>
                </a:r>
                <a:r>
                  <a:rPr lang="en-ZA" b="1" dirty="0"/>
                  <a:t>1</a:t>
                </a:r>
                <a:r>
                  <a:rPr lang="en-ZA" dirty="0"/>
                  <a:t> for a balanced function.</a:t>
                </a:r>
                <a:br>
                  <a:rPr lang="en-ZA" dirty="0"/>
                </a:br>
                <a:br>
                  <a:rPr lang="en-ZA" dirty="0"/>
                </a:br>
                <a:r>
                  <a:rPr lang="en-ZA" dirty="0"/>
                  <a:t>The same applies when </a:t>
                </a:r>
                <a14:m>
                  <m:oMath xmlns:m="http://schemas.openxmlformats.org/officeDocument/2006/math">
                    <m:r>
                      <a:rPr lang="sr-Latn-RS" sz="1200" b="0" i="1" smtClean="0">
                        <a:latin typeface="Cambria Math" panose="02040503050406030204" pitchFamily="18" charset="0"/>
                      </a:rPr>
                      <m:t>𝑓</m:t>
                    </m:r>
                    <m:d>
                      <m:dPr>
                        <m:ctrlPr>
                          <a:rPr lang="sr-Latn-RS" sz="1200" i="1">
                            <a:latin typeface="Cambria Math" panose="02040503050406030204" pitchFamily="18" charset="0"/>
                          </a:rPr>
                        </m:ctrlPr>
                      </m:dPr>
                      <m:e>
                        <m:r>
                          <a:rPr lang="sr-Latn-RS" sz="1200" b="0" i="1">
                            <a:latin typeface="Cambria Math" panose="02040503050406030204" pitchFamily="18" charset="0"/>
                          </a:rPr>
                          <m:t>0</m:t>
                        </m:r>
                      </m:e>
                    </m:d>
                    <m:r>
                      <a:rPr lang="en-US" sz="1200" b="0" i="1" smtClean="0">
                        <a:latin typeface="Cambria Math" panose="02040503050406030204" pitchFamily="18" charset="0"/>
                      </a:rPr>
                      <m:t>=1</m:t>
                    </m:r>
                  </m:oMath>
                </a14:m>
                <a:r>
                  <a:rPr lang="en-ZA" b="0" dirty="0">
                    <a:solidFill>
                      <a:schemeClr val="tx1"/>
                    </a:solidFill>
                  </a:rPr>
                  <a:t> and </a:t>
                </a:r>
                <a14:m>
                  <m:oMath xmlns:m="http://schemas.openxmlformats.org/officeDocument/2006/math">
                    <m:r>
                      <a:rPr lang="en-US" sz="1200" b="0" i="1" smtClean="0">
                        <a:latin typeface="Cambria Math" panose="02040503050406030204" pitchFamily="18" charset="0"/>
                      </a:rPr>
                      <m:t> </m:t>
                    </m:r>
                    <m:r>
                      <a:rPr lang="sr-Latn-RS" sz="1200" b="0" i="1">
                        <a:latin typeface="Cambria Math" panose="02040503050406030204" pitchFamily="18" charset="0"/>
                      </a:rPr>
                      <m:t>𝑓</m:t>
                    </m:r>
                    <m:d>
                      <m:dPr>
                        <m:ctrlPr>
                          <a:rPr lang="sr-Latn-RS" sz="1200" i="1">
                            <a:latin typeface="Cambria Math" panose="02040503050406030204" pitchFamily="18" charset="0"/>
                          </a:rPr>
                        </m:ctrlPr>
                      </m:dPr>
                      <m:e>
                        <m:r>
                          <a:rPr lang="sr-Latn-RS" sz="1200" b="0" i="1">
                            <a:latin typeface="Cambria Math" panose="02040503050406030204" pitchFamily="18" charset="0"/>
                          </a:rPr>
                          <m:t>1</m:t>
                        </m:r>
                      </m:e>
                    </m:d>
                    <m:r>
                      <a:rPr lang="en-US" sz="1200" b="0" i="1" smtClean="0">
                        <a:latin typeface="Cambria Math" panose="02040503050406030204" pitchFamily="18" charset="0"/>
                      </a:rPr>
                      <m:t>=0</m:t>
                    </m:r>
                  </m:oMath>
                </a14:m>
                <a:r>
                  <a:rPr lang="en-ZA" dirty="0"/>
                  <a:t>. In this case, the state of the first qubit becomes </a:t>
                </a:r>
                <a14:m>
                  <m:oMath xmlns:m="http://schemas.openxmlformats.org/officeDocument/2006/math">
                    <m:d>
                      <m:dPr>
                        <m:begChr m:val=""/>
                        <m:endChr m:val="⟩"/>
                        <m:ctrlPr>
                          <a:rPr lang="en-US" sz="1200" i="1" smtClean="0">
                            <a:latin typeface="Cambria Math" panose="02040503050406030204" pitchFamily="18" charset="0"/>
                          </a:rPr>
                        </m:ctrlPr>
                      </m:dPr>
                      <m:e>
                        <m:r>
                          <a:rPr lang="en-US" sz="1200" b="0" i="0" smtClean="0">
                            <a:latin typeface="Cambria Math" panose="02040503050406030204" pitchFamily="18" charset="0"/>
                          </a:rPr>
                          <m:t>−(</m:t>
                        </m:r>
                        <m:r>
                          <a:rPr lang="en-US" sz="1200">
                            <a:latin typeface="Cambria Math" panose="02040503050406030204" pitchFamily="18" charset="0"/>
                          </a:rPr>
                          <m:t>|</m:t>
                        </m:r>
                        <m:r>
                          <a:rPr lang="en-US" sz="1200" i="1">
                            <a:latin typeface="Cambria Math" panose="02040503050406030204" pitchFamily="18" charset="0"/>
                          </a:rPr>
                          <m:t>0</m:t>
                        </m:r>
                      </m:e>
                    </m:d>
                    <m:r>
                      <a:rPr lang="sr-Latn-RS" sz="1200" b="0" i="1"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a:latin typeface="Cambria Math" panose="02040503050406030204" pitchFamily="18" charset="0"/>
                          </a:rPr>
                          <m:t>|</m:t>
                        </m:r>
                        <m:r>
                          <a:rPr lang="sr-Latn-RS" sz="1200" i="1">
                            <a:latin typeface="Cambria Math" panose="02040503050406030204" pitchFamily="18" charset="0"/>
                          </a:rPr>
                          <m:t>1</m:t>
                        </m:r>
                      </m:e>
                    </m:d>
                    <m:r>
                      <a:rPr lang="en-US" sz="1200" b="0" i="1" smtClean="0">
                        <a:latin typeface="Cambria Math" panose="02040503050406030204" pitchFamily="18" charset="0"/>
                      </a:rPr>
                      <m:t>)/</m:t>
                    </m:r>
                    <m:rad>
                      <m:radPr>
                        <m:degHide m:val="on"/>
                        <m:ctrlPr>
                          <a:rPr lang="en-US" sz="1200" i="1" smtClean="0">
                            <a:latin typeface="Cambria Math" panose="02040503050406030204" pitchFamily="18" charset="0"/>
                          </a:rPr>
                        </m:ctrlPr>
                      </m:radPr>
                      <m:deg/>
                      <m:e>
                        <m:r>
                          <a:rPr lang="sr-Latn-RS" sz="1200" i="1">
                            <a:latin typeface="Cambria Math" panose="02040503050406030204" pitchFamily="18" charset="0"/>
                          </a:rPr>
                          <m:t>2</m:t>
                        </m:r>
                      </m:e>
                    </m:rad>
                  </m:oMath>
                </a14:m>
                <a:r>
                  <a:rPr lang="en-ZA" dirty="0"/>
                  <a:t>. Since the global phase −1 has no effect on the measurement outcome, this state is physically equivalent to ∣−⟩.</a:t>
                </a:r>
              </a:p>
              <a:p>
                <a:pPr marL="228600" indent="-228600" algn="just">
                  <a:buFont typeface="+mj-lt"/>
                  <a:buAutoNum type="arabicPeriod"/>
                </a:pPr>
                <a:endParaRPr lang="en-ZA" dirty="0"/>
              </a:p>
            </p:txBody>
          </p:sp>
        </mc:Choice>
        <mc:Fallback xmlns="">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solidFill>
                      <a:schemeClr val="tx1"/>
                    </a:solidFill>
                  </a:rPr>
                  <a:t>Pogledajmo </a:t>
                </a:r>
                <a:r>
                  <a:rPr lang="en-US" dirty="0" err="1">
                    <a:solidFill>
                      <a:schemeClr val="tx1"/>
                    </a:solidFill>
                  </a:rPr>
                  <a:t>opet</a:t>
                </a:r>
                <a:r>
                  <a:rPr lang="en-US" dirty="0">
                    <a:solidFill>
                      <a:schemeClr val="tx1"/>
                    </a:solidFill>
                  </a:rPr>
                  <a:t> </a:t>
                </a:r>
                <a:r>
                  <a:rPr lang="en-US" dirty="0" err="1">
                    <a:solidFill>
                      <a:schemeClr val="tx1"/>
                    </a:solidFill>
                  </a:rPr>
                  <a:t>izraz</a:t>
                </a:r>
                <a:r>
                  <a:rPr lang="en-US" dirty="0">
                    <a:solidFill>
                      <a:schemeClr val="tx1"/>
                    </a:solidFill>
                  </a:rPr>
                  <a:t> </a:t>
                </a:r>
                <a:r>
                  <a:rPr lang="en-US" dirty="0" err="1">
                    <a:solidFill>
                      <a:schemeClr val="tx1"/>
                    </a:solidFill>
                  </a:rPr>
                  <a:t>za</a:t>
                </a:r>
                <a:r>
                  <a:rPr lang="en-US" dirty="0">
                    <a:solidFill>
                      <a:schemeClr val="tx1"/>
                    </a:solidFill>
                  </a:rPr>
                  <a:t> </a:t>
                </a:r>
                <a:r>
                  <a:rPr lang="en-US" dirty="0" err="1">
                    <a:solidFill>
                      <a:schemeClr val="tx1"/>
                    </a:solidFill>
                  </a:rPr>
                  <a:t>stanje</a:t>
                </a:r>
                <a:r>
                  <a:rPr lang="en-US" dirty="0">
                    <a:solidFill>
                      <a:schemeClr val="tx1"/>
                    </a:solidFill>
                  </a:rPr>
                  <a:t> |S⟩ </a:t>
                </a:r>
                <a:r>
                  <a:rPr lang="en-US" dirty="0" err="1">
                    <a:solidFill>
                      <a:schemeClr val="tx1"/>
                    </a:solidFill>
                  </a:rPr>
                  <a:t>za</a:t>
                </a:r>
                <a:r>
                  <a:rPr lang="en-US" dirty="0">
                    <a:solidFill>
                      <a:schemeClr val="tx1"/>
                    </a:solidFill>
                  </a:rPr>
                  <a:t> </a:t>
                </a:r>
                <a:r>
                  <a:rPr lang="en-US" dirty="0" err="1">
                    <a:solidFill>
                      <a:schemeClr val="tx1"/>
                    </a:solidFill>
                  </a:rPr>
                  <a:t>slučaj</a:t>
                </a:r>
                <a:r>
                  <a:rPr lang="en-US" dirty="0">
                    <a:solidFill>
                      <a:schemeClr val="tx1"/>
                    </a:solidFill>
                  </a:rPr>
                  <a:t> </a:t>
                </a:r>
                <a:r>
                  <a:rPr lang="en-US" dirty="0" err="1">
                    <a:solidFill>
                      <a:schemeClr val="tx1"/>
                    </a:solidFill>
                  </a:rPr>
                  <a:t>kada</a:t>
                </a:r>
                <a:r>
                  <a:rPr lang="en-US" dirty="0">
                    <a:solidFill>
                      <a:schemeClr val="tx1"/>
                    </a:solidFill>
                  </a:rPr>
                  <a:t> </a:t>
                </a:r>
                <a:r>
                  <a:rPr lang="en-US" dirty="0" err="1">
                    <a:solidFill>
                      <a:schemeClr val="tx1"/>
                    </a:solidFill>
                  </a:rPr>
                  <a:t>je</a:t>
                </a:r>
                <a:r>
                  <a:rPr lang="en-US" dirty="0">
                    <a:solidFill>
                      <a:schemeClr val="tx1"/>
                    </a:solidFill>
                  </a:rPr>
                  <a:t> </a:t>
                </a:r>
                <a:r>
                  <a:rPr lang="en-US" dirty="0" err="1">
                    <a:solidFill>
                      <a:schemeClr val="tx1"/>
                    </a:solidFill>
                  </a:rPr>
                  <a:t>funkcija</a:t>
                </a:r>
                <a:r>
                  <a:rPr lang="en-US" dirty="0">
                    <a:solidFill>
                      <a:schemeClr val="tx1"/>
                    </a:solidFill>
                  </a:rPr>
                  <a:t> </a:t>
                </a:r>
                <a:r>
                  <a:rPr lang="en-US" dirty="0" err="1">
                    <a:solidFill>
                      <a:schemeClr val="tx1"/>
                    </a:solidFill>
                  </a:rPr>
                  <a:t>konstantna</a:t>
                </a:r>
                <a:r>
                  <a:rPr lang="en-US" dirty="0">
                    <a:solidFill>
                      <a:schemeClr val="tx1"/>
                    </a:solidFill>
                  </a:rPr>
                  <a:t>, </a:t>
                </a:r>
                <a:r>
                  <a:rPr lang="en-US" dirty="0" err="1">
                    <a:solidFill>
                      <a:schemeClr val="tx1"/>
                    </a:solidFill>
                  </a:rPr>
                  <a:t>odnosno</a:t>
                </a:r>
                <a:r>
                  <a:rPr lang="en-US" dirty="0">
                    <a:solidFill>
                      <a:schemeClr val="tx1"/>
                    </a:solidFill>
                  </a:rPr>
                  <a:t> </a:t>
                </a:r>
                <a:r>
                  <a:rPr lang="en-US" dirty="0" err="1">
                    <a:solidFill>
                      <a:schemeClr val="tx1"/>
                    </a:solidFill>
                  </a:rPr>
                  <a:t>kada</a:t>
                </a:r>
                <a:r>
                  <a:rPr lang="en-US" dirty="0">
                    <a:solidFill>
                      <a:schemeClr val="tx1"/>
                    </a:solidFill>
                  </a:rPr>
                  <a:t> </a:t>
                </a:r>
                <a:r>
                  <a:rPr lang="en-US" dirty="0" err="1">
                    <a:solidFill>
                      <a:schemeClr val="tx1"/>
                    </a:solidFill>
                  </a:rPr>
                  <a:t>je</a:t>
                </a:r>
                <a:r>
                  <a:rPr lang="en-US" dirty="0">
                    <a:solidFill>
                      <a:schemeClr val="tx1"/>
                    </a:solidFill>
                  </a:rPr>
                  <a:t> </a:t>
                </a:r>
                <a:r>
                  <a:rPr lang="sr-Latn-RS" sz="1200" i="0">
                    <a:solidFill>
                      <a:schemeClr val="tx1"/>
                    </a:solidFill>
                    <a:latin typeface="Cambria Math" panose="02040503050406030204" pitchFamily="18" charset="0"/>
                  </a:rPr>
                  <a:t>𝒇(</a:t>
                </a:r>
                <a:r>
                  <a:rPr lang="sr-Latn-RS" sz="1200" b="0" i="0">
                    <a:solidFill>
                      <a:schemeClr val="tx1"/>
                    </a:solidFill>
                    <a:latin typeface="Cambria Math" panose="02040503050406030204" pitchFamily="18" charset="0"/>
                  </a:rPr>
                  <a:t>0)=</a:t>
                </a:r>
                <a:r>
                  <a:rPr lang="sr-Latn-RS" sz="1200" i="0">
                    <a:solidFill>
                      <a:schemeClr val="tx1"/>
                    </a:solidFill>
                    <a:latin typeface="Cambria Math" panose="02040503050406030204" pitchFamily="18" charset="0"/>
                  </a:rPr>
                  <a:t>𝒇(</a:t>
                </a:r>
                <a:r>
                  <a:rPr lang="sr-Latn-RS" sz="1200" b="0" i="0">
                    <a:solidFill>
                      <a:schemeClr val="tx1"/>
                    </a:solidFill>
                    <a:latin typeface="Cambria Math" panose="02040503050406030204" pitchFamily="18" charset="0"/>
                  </a:rPr>
                  <a:t>1)</a:t>
                </a:r>
                <a:r>
                  <a:rPr lang="en-US" dirty="0">
                    <a:solidFill>
                      <a:schemeClr val="tx1"/>
                    </a:solidFill>
                  </a:rPr>
                  <a:t>. </a:t>
                </a:r>
                <a:r>
                  <a:rPr lang="en-US" baseline="0" dirty="0">
                    <a:solidFill>
                      <a:schemeClr val="tx1"/>
                    </a:solidFill>
                  </a:rPr>
                  <a:t> </a:t>
                </a:r>
                <a:r>
                  <a:rPr lang="en-US" dirty="0" err="1">
                    <a:solidFill>
                      <a:schemeClr val="tx1"/>
                    </a:solidFill>
                  </a:rPr>
                  <a:t>Zamenom</a:t>
                </a:r>
                <a:r>
                  <a:rPr lang="en-US" dirty="0">
                    <a:solidFill>
                      <a:schemeClr val="tx1"/>
                    </a:solidFill>
                  </a:rPr>
                  <a:t> </a:t>
                </a:r>
                <a:r>
                  <a:rPr lang="sr-Latn-RS" sz="1200" i="0">
                    <a:solidFill>
                      <a:schemeClr val="tx1"/>
                    </a:solidFill>
                    <a:latin typeface="Cambria Math" panose="02040503050406030204" pitchFamily="18" charset="0"/>
                  </a:rPr>
                  <a:t>𝒇(</a:t>
                </a:r>
                <a:r>
                  <a:rPr lang="sr-Latn-RS" sz="1200" b="0" i="0">
                    <a:solidFill>
                      <a:schemeClr val="tx1"/>
                    </a:solidFill>
                    <a:latin typeface="Cambria Math" panose="02040503050406030204" pitchFamily="18" charset="0"/>
                  </a:rPr>
                  <a:t>1)</a:t>
                </a:r>
                <a:r>
                  <a:rPr lang="en-US" dirty="0">
                    <a:solidFill>
                      <a:schemeClr val="tx1"/>
                    </a:solidFill>
                  </a:rPr>
                  <a:t> sa </a:t>
                </a:r>
                <a:r>
                  <a:rPr lang="sr-Latn-RS" sz="1200" i="0">
                    <a:solidFill>
                      <a:schemeClr val="tx1"/>
                    </a:solidFill>
                    <a:latin typeface="Cambria Math" panose="02040503050406030204" pitchFamily="18" charset="0"/>
                  </a:rPr>
                  <a:t>𝒇(</a:t>
                </a:r>
                <a:r>
                  <a:rPr lang="sr-Latn-RS" sz="1200" b="0" i="0">
                    <a:solidFill>
                      <a:schemeClr val="tx1"/>
                    </a:solidFill>
                    <a:latin typeface="Cambria Math" panose="02040503050406030204" pitchFamily="18" charset="0"/>
                  </a:rPr>
                  <a:t>0)</a:t>
                </a:r>
                <a:r>
                  <a:rPr lang="en-US" dirty="0">
                    <a:solidFill>
                      <a:schemeClr val="tx1"/>
                    </a:solidFill>
                  </a:rPr>
                  <a:t> i </a:t>
                </a:r>
                <a:r>
                  <a:rPr lang="en-US" dirty="0" err="1">
                    <a:solidFill>
                      <a:schemeClr val="tx1"/>
                    </a:solidFill>
                  </a:rPr>
                  <a:t>izvlačenjem</a:t>
                </a:r>
                <a:r>
                  <a:rPr lang="en-US" baseline="0" dirty="0">
                    <a:solidFill>
                      <a:schemeClr val="tx1"/>
                    </a:solidFill>
                  </a:rPr>
                  <a:t> </a:t>
                </a:r>
                <a:r>
                  <a:rPr lang="en-US" baseline="0" dirty="0" err="1">
                    <a:solidFill>
                      <a:schemeClr val="tx1"/>
                    </a:solidFill>
                  </a:rPr>
                  <a:t>faznog</a:t>
                </a:r>
                <a:r>
                  <a:rPr lang="en-US" baseline="0" dirty="0">
                    <a:solidFill>
                      <a:schemeClr val="tx1"/>
                    </a:solidFill>
                  </a:rPr>
                  <a:t> </a:t>
                </a:r>
                <a:r>
                  <a:rPr lang="en-US" baseline="0" dirty="0" err="1">
                    <a:solidFill>
                      <a:schemeClr val="tx1"/>
                    </a:solidFill>
                  </a:rPr>
                  <a:t>faktora</a:t>
                </a:r>
                <a:r>
                  <a:rPr lang="en-US" baseline="0" dirty="0">
                    <a:solidFill>
                      <a:schemeClr val="tx1"/>
                    </a:solidFill>
                  </a:rPr>
                  <a:t> </a:t>
                </a:r>
                <a:r>
                  <a:rPr lang="en-US" baseline="0" dirty="0" err="1">
                    <a:solidFill>
                      <a:schemeClr val="tx1"/>
                    </a:solidFill>
                  </a:rPr>
                  <a:t>ispred</a:t>
                </a:r>
                <a:r>
                  <a:rPr lang="en-US" baseline="0" dirty="0">
                    <a:solidFill>
                      <a:schemeClr val="tx1"/>
                    </a:solidFill>
                  </a:rPr>
                  <a:t> </a:t>
                </a:r>
                <a:r>
                  <a:rPr lang="en-US" baseline="0" dirty="0" err="1">
                    <a:solidFill>
                      <a:schemeClr val="tx1"/>
                    </a:solidFill>
                  </a:rPr>
                  <a:t>izraza</a:t>
                </a:r>
                <a:r>
                  <a:rPr lang="en-US" baseline="0" dirty="0">
                    <a:solidFill>
                      <a:schemeClr val="tx1"/>
                    </a:solidFill>
                  </a:rPr>
                  <a:t> </a:t>
                </a:r>
                <a:r>
                  <a:rPr lang="en-US" baseline="0" dirty="0" err="1">
                    <a:solidFill>
                      <a:schemeClr val="tx1"/>
                    </a:solidFill>
                  </a:rPr>
                  <a:t>dobija</a:t>
                </a:r>
                <a:r>
                  <a:rPr lang="en-US" baseline="0" dirty="0">
                    <a:solidFill>
                      <a:schemeClr val="tx1"/>
                    </a:solidFill>
                  </a:rPr>
                  <a:t> se da </a:t>
                </a:r>
                <a:r>
                  <a:rPr lang="en-US" baseline="0" dirty="0" err="1">
                    <a:solidFill>
                      <a:schemeClr val="tx1"/>
                    </a:solidFill>
                  </a:rPr>
                  <a:t>je</a:t>
                </a:r>
                <a:r>
                  <a:rPr lang="en-US" baseline="0" dirty="0">
                    <a:solidFill>
                      <a:schemeClr val="tx1"/>
                    </a:solidFill>
                  </a:rPr>
                  <a:t> </a:t>
                </a:r>
                <a:r>
                  <a:rPr lang="en-US" dirty="0">
                    <a:solidFill>
                      <a:schemeClr val="tx1"/>
                    </a:solidFill>
                  </a:rPr>
                  <a:t>|S⟩ </a:t>
                </a:r>
                <a:r>
                  <a:rPr lang="en-US" dirty="0" err="1">
                    <a:solidFill>
                      <a:schemeClr val="tx1"/>
                    </a:solidFill>
                  </a:rPr>
                  <a:t>proizvod</a:t>
                </a:r>
                <a:r>
                  <a:rPr lang="en-US" dirty="0">
                    <a:solidFill>
                      <a:schemeClr val="tx1"/>
                    </a:solidFill>
                  </a:rPr>
                  <a:t> </a:t>
                </a:r>
                <a:r>
                  <a:rPr lang="en-US" dirty="0" err="1">
                    <a:solidFill>
                      <a:schemeClr val="tx1"/>
                    </a:solidFill>
                  </a:rPr>
                  <a:t>stanja</a:t>
                </a:r>
                <a:r>
                  <a:rPr lang="en-US" dirty="0">
                    <a:solidFill>
                      <a:schemeClr val="tx1"/>
                    </a:solidFill>
                  </a:rPr>
                  <a:t> </a:t>
                </a:r>
                <a:r>
                  <a:rPr lang="en-US" sz="1200" i="0">
                    <a:solidFill>
                      <a:schemeClr val="tx1"/>
                    </a:solidFill>
                    <a:latin typeface="Cambria Math" panose="02040503050406030204" pitchFamily="18" charset="0"/>
                  </a:rPr>
                  <a:t>├ |+⟩├ |−⟩</a:t>
                </a:r>
                <a:r>
                  <a:rPr lang="en-US" dirty="0">
                    <a:solidFill>
                      <a:schemeClr val="tx1"/>
                    </a:solidFill>
                  </a:rPr>
                  <a:t>.  </a:t>
                </a:r>
                <a:r>
                  <a:rPr lang="en-US" dirty="0" err="1">
                    <a:solidFill>
                      <a:schemeClr val="tx1"/>
                    </a:solidFill>
                  </a:rPr>
                  <a:t>Primena</a:t>
                </a:r>
                <a:r>
                  <a:rPr lang="en-US" dirty="0">
                    <a:solidFill>
                      <a:schemeClr val="tx1"/>
                    </a:solidFill>
                  </a:rPr>
                  <a:t> </a:t>
                </a:r>
                <a:r>
                  <a:rPr lang="en-US" dirty="0" err="1">
                    <a:solidFill>
                      <a:schemeClr val="tx1"/>
                    </a:solidFill>
                  </a:rPr>
                  <a:t>Admarovog</a:t>
                </a:r>
                <a:r>
                  <a:rPr lang="en-US" dirty="0">
                    <a:solidFill>
                      <a:schemeClr val="tx1"/>
                    </a:solidFill>
                  </a:rPr>
                  <a:t> kola </a:t>
                </a:r>
                <a:r>
                  <a:rPr lang="en-US" dirty="0" err="1">
                    <a:solidFill>
                      <a:schemeClr val="tx1"/>
                    </a:solidFill>
                  </a:rPr>
                  <a:t>na</a:t>
                </a:r>
                <a:r>
                  <a:rPr lang="en-US" dirty="0">
                    <a:solidFill>
                      <a:schemeClr val="tx1"/>
                    </a:solidFill>
                  </a:rPr>
                  <a:t> kubit </a:t>
                </a:r>
                <a:r>
                  <a:rPr lang="en-US" sz="1200" i="0">
                    <a:solidFill>
                      <a:schemeClr val="tx1"/>
                    </a:solidFill>
                    <a:latin typeface="Cambria Math" panose="02040503050406030204" pitchFamily="18" charset="0"/>
                  </a:rPr>
                  <a:t>├ |+⟩</a:t>
                </a:r>
                <a:r>
                  <a:rPr lang="en-US" dirty="0">
                    <a:solidFill>
                      <a:schemeClr val="tx1"/>
                    </a:solidFill>
                  </a:rPr>
                  <a:t> daje </a:t>
                </a:r>
                <a:r>
                  <a:rPr lang="en-US" dirty="0" err="1">
                    <a:solidFill>
                      <a:schemeClr val="tx1"/>
                    </a:solidFill>
                  </a:rPr>
                  <a:t>stanje</a:t>
                </a:r>
                <a:r>
                  <a:rPr lang="en-US" dirty="0">
                    <a:solidFill>
                      <a:schemeClr val="tx1"/>
                    </a:solidFill>
                  </a:rPr>
                  <a:t> |0⟩ </a:t>
                </a:r>
                <a:r>
                  <a:rPr lang="en-US" dirty="0" err="1">
                    <a:solidFill>
                      <a:schemeClr val="tx1"/>
                    </a:solidFill>
                  </a:rPr>
                  <a:t>koje</a:t>
                </a:r>
                <a:r>
                  <a:rPr lang="en-US" dirty="0">
                    <a:solidFill>
                      <a:schemeClr val="tx1"/>
                    </a:solidFill>
                  </a:rPr>
                  <a:t> </a:t>
                </a:r>
                <a:r>
                  <a:rPr lang="en-US" dirty="0" err="1">
                    <a:solidFill>
                      <a:schemeClr val="tx1"/>
                    </a:solidFill>
                  </a:rPr>
                  <a:t>merenjem</a:t>
                </a:r>
                <a:r>
                  <a:rPr lang="en-US" dirty="0">
                    <a:solidFill>
                      <a:schemeClr val="tx1"/>
                    </a:solidFill>
                  </a:rPr>
                  <a:t> </a:t>
                </a:r>
                <a:r>
                  <a:rPr lang="en-US" dirty="0" err="1">
                    <a:solidFill>
                      <a:schemeClr val="tx1"/>
                    </a:solidFill>
                  </a:rPr>
                  <a:t>daje</a:t>
                </a:r>
                <a:r>
                  <a:rPr lang="en-US" dirty="0">
                    <a:solidFill>
                      <a:schemeClr val="tx1"/>
                    </a:solidFill>
                  </a:rPr>
                  <a:t> bit 0, </a:t>
                </a:r>
                <a:r>
                  <a:rPr lang="en-US" dirty="0" err="1">
                    <a:solidFill>
                      <a:schemeClr val="tx1"/>
                    </a:solidFill>
                  </a:rPr>
                  <a:t>što</a:t>
                </a:r>
                <a:r>
                  <a:rPr lang="en-US" dirty="0">
                    <a:solidFill>
                      <a:schemeClr val="tx1"/>
                    </a:solidFill>
                  </a:rPr>
                  <a:t> </a:t>
                </a:r>
                <a:r>
                  <a:rPr lang="en-US" dirty="0" err="1">
                    <a:solidFill>
                      <a:schemeClr val="tx1"/>
                    </a:solidFill>
                  </a:rPr>
                  <a:t>potvrđuje</a:t>
                </a:r>
                <a:r>
                  <a:rPr lang="en-US" dirty="0">
                    <a:solidFill>
                      <a:schemeClr val="tx1"/>
                    </a:solidFill>
                  </a:rPr>
                  <a:t> da </a:t>
                </a:r>
                <a:r>
                  <a:rPr lang="en-US" dirty="0" err="1">
                    <a:solidFill>
                      <a:schemeClr val="tx1"/>
                    </a:solidFill>
                  </a:rPr>
                  <a:t>je</a:t>
                </a:r>
                <a:r>
                  <a:rPr lang="en-US" dirty="0">
                    <a:solidFill>
                      <a:schemeClr val="tx1"/>
                    </a:solidFill>
                  </a:rPr>
                  <a:t> </a:t>
                </a:r>
                <a:r>
                  <a:rPr lang="en-US" dirty="0" err="1">
                    <a:solidFill>
                      <a:schemeClr val="tx1"/>
                    </a:solidFill>
                  </a:rPr>
                  <a:t>funkcija</a:t>
                </a:r>
                <a:r>
                  <a:rPr lang="en-US" dirty="0">
                    <a:solidFill>
                      <a:schemeClr val="tx1"/>
                    </a:solidFill>
                  </a:rPr>
                  <a:t> </a:t>
                </a:r>
                <a:r>
                  <a:rPr lang="en-US" dirty="0" err="1">
                    <a:solidFill>
                      <a:schemeClr val="tx1"/>
                    </a:solidFill>
                  </a:rPr>
                  <a:t>konstantna</a:t>
                </a:r>
                <a:r>
                  <a:rPr lang="en-US" dirty="0">
                    <a:solidFill>
                      <a:schemeClr val="tx1"/>
                    </a:solidFill>
                  </a:rPr>
                  <a:t>.</a:t>
                </a:r>
              </a:p>
              <a:p>
                <a:endParaRPr lang="en-US" dirty="0">
                  <a:solidFill>
                    <a:schemeClr val="tx1"/>
                  </a:solidFill>
                </a:endParaRPr>
              </a:p>
              <a:p>
                <a:pPr marL="228600" indent="-228600">
                  <a:buFont typeface="Arial" panose="020B0604020202020204" pitchFamily="34" charset="0"/>
                  <a:buChar char="•"/>
                </a:pPr>
                <a:r>
                  <a:rPr lang="en-US" dirty="0">
                    <a:solidFill>
                      <a:schemeClr val="tx1"/>
                    </a:solidFill>
                  </a:rPr>
                  <a:t>U </a:t>
                </a:r>
                <a:r>
                  <a:rPr lang="en-US" dirty="0" err="1">
                    <a:solidFill>
                      <a:schemeClr val="tx1"/>
                    </a:solidFill>
                  </a:rPr>
                  <a:t>slučaju</a:t>
                </a:r>
                <a:r>
                  <a:rPr lang="en-US" dirty="0">
                    <a:solidFill>
                      <a:schemeClr val="tx1"/>
                    </a:solidFill>
                  </a:rPr>
                  <a:t> </a:t>
                </a:r>
                <a:r>
                  <a:rPr lang="en-US" dirty="0" err="1">
                    <a:solidFill>
                      <a:schemeClr val="tx1"/>
                    </a:solidFill>
                  </a:rPr>
                  <a:t>balansirane</a:t>
                </a:r>
                <a:r>
                  <a:rPr lang="en-US" dirty="0">
                    <a:solidFill>
                      <a:schemeClr val="tx1"/>
                    </a:solidFill>
                  </a:rPr>
                  <a:t> </a:t>
                </a:r>
                <a:r>
                  <a:rPr lang="en-US" dirty="0" err="1">
                    <a:solidFill>
                      <a:schemeClr val="tx1"/>
                    </a:solidFill>
                  </a:rPr>
                  <a:t>funkcije</a:t>
                </a:r>
                <a:r>
                  <a:rPr lang="en-US" dirty="0">
                    <a:solidFill>
                      <a:schemeClr val="tx1"/>
                    </a:solidFill>
                  </a:rPr>
                  <a:t>, </a:t>
                </a:r>
                <a:r>
                  <a:rPr lang="en-US" dirty="0" err="1">
                    <a:solidFill>
                      <a:schemeClr val="tx1"/>
                    </a:solidFill>
                  </a:rPr>
                  <a:t>umesto</a:t>
                </a:r>
                <a:r>
                  <a:rPr lang="en-US" dirty="0">
                    <a:solidFill>
                      <a:schemeClr val="tx1"/>
                    </a:solidFill>
                  </a:rPr>
                  <a:t> </a:t>
                </a:r>
                <a:r>
                  <a:rPr lang="en-US" dirty="0" err="1">
                    <a:solidFill>
                      <a:schemeClr val="tx1"/>
                    </a:solidFill>
                  </a:rPr>
                  <a:t>faznog</a:t>
                </a:r>
                <a:r>
                  <a:rPr lang="en-US" dirty="0">
                    <a:solidFill>
                      <a:schemeClr val="tx1"/>
                    </a:solidFill>
                  </a:rPr>
                  <a:t> </a:t>
                </a:r>
                <a:r>
                  <a:rPr lang="en-US" dirty="0" err="1">
                    <a:solidFill>
                      <a:schemeClr val="tx1"/>
                    </a:solidFill>
                  </a:rPr>
                  <a:t>faktora</a:t>
                </a:r>
                <a:r>
                  <a:rPr lang="en-US" dirty="0">
                    <a:solidFill>
                      <a:schemeClr val="tx1"/>
                    </a:solidFill>
                  </a:rPr>
                  <a:t>, </a:t>
                </a:r>
                <a:r>
                  <a:rPr lang="en-US" dirty="0" err="1">
                    <a:solidFill>
                      <a:schemeClr val="tx1"/>
                    </a:solidFill>
                  </a:rPr>
                  <a:t>ispred</a:t>
                </a:r>
                <a:r>
                  <a:rPr lang="en-US" dirty="0">
                    <a:solidFill>
                      <a:schemeClr val="tx1"/>
                    </a:solidFill>
                  </a:rPr>
                  <a:t> </a:t>
                </a:r>
                <a:r>
                  <a:rPr lang="en-US" dirty="0" err="1">
                    <a:solidFill>
                      <a:schemeClr val="tx1"/>
                    </a:solidFill>
                  </a:rPr>
                  <a:t>izraza</a:t>
                </a:r>
                <a:r>
                  <a:rPr lang="en-US" dirty="0">
                    <a:solidFill>
                      <a:schemeClr val="tx1"/>
                    </a:solidFill>
                  </a:rPr>
                  <a:t> </a:t>
                </a:r>
                <a:r>
                  <a:rPr lang="en-US" dirty="0" err="1">
                    <a:solidFill>
                      <a:schemeClr val="tx1"/>
                    </a:solidFill>
                  </a:rPr>
                  <a:t>za</a:t>
                </a:r>
                <a:r>
                  <a:rPr lang="en-US" dirty="0">
                    <a:solidFill>
                      <a:schemeClr val="tx1"/>
                    </a:solidFill>
                  </a:rPr>
                  <a:t> |S⟩ se </a:t>
                </a:r>
                <a:r>
                  <a:rPr lang="en-US" dirty="0" err="1">
                    <a:solidFill>
                      <a:schemeClr val="tx1"/>
                    </a:solidFill>
                  </a:rPr>
                  <a:t>može</a:t>
                </a:r>
                <a:r>
                  <a:rPr lang="en-US" dirty="0">
                    <a:solidFill>
                      <a:schemeClr val="tx1"/>
                    </a:solidFill>
                  </a:rPr>
                  <a:t> </a:t>
                </a:r>
                <a:r>
                  <a:rPr lang="en-US" dirty="0" err="1">
                    <a:solidFill>
                      <a:schemeClr val="tx1"/>
                    </a:solidFill>
                  </a:rPr>
                  <a:t>jednostavno</a:t>
                </a:r>
                <a:r>
                  <a:rPr lang="en-US" dirty="0">
                    <a:solidFill>
                      <a:schemeClr val="tx1"/>
                    </a:solidFill>
                  </a:rPr>
                  <a:t> </a:t>
                </a:r>
                <a:r>
                  <a:rPr lang="en-US" dirty="0" err="1">
                    <a:solidFill>
                      <a:schemeClr val="tx1"/>
                    </a:solidFill>
                  </a:rPr>
                  <a:t>staviti</a:t>
                </a:r>
                <a:r>
                  <a:rPr lang="en-US" dirty="0">
                    <a:solidFill>
                      <a:schemeClr val="tx1"/>
                    </a:solidFill>
                  </a:rPr>
                  <a:t> ± </a:t>
                </a:r>
                <a:r>
                  <a:rPr lang="en-US" dirty="0" err="1">
                    <a:solidFill>
                      <a:schemeClr val="tx1"/>
                    </a:solidFill>
                  </a:rPr>
                  <a:t>pošto</a:t>
                </a:r>
                <a:r>
                  <a:rPr lang="en-US" dirty="0">
                    <a:solidFill>
                      <a:schemeClr val="tx1"/>
                    </a:solidFill>
                  </a:rPr>
                  <a:t> </a:t>
                </a:r>
                <a:r>
                  <a:rPr lang="en-US" dirty="0" err="1">
                    <a:solidFill>
                      <a:schemeClr val="tx1"/>
                    </a:solidFill>
                  </a:rPr>
                  <a:t>globalna</a:t>
                </a:r>
                <a:r>
                  <a:rPr lang="en-US" dirty="0">
                    <a:solidFill>
                      <a:schemeClr val="tx1"/>
                    </a:solidFill>
                  </a:rPr>
                  <a:t> </a:t>
                </a:r>
                <a:r>
                  <a:rPr lang="en-US" dirty="0" err="1">
                    <a:solidFill>
                      <a:schemeClr val="tx1"/>
                    </a:solidFill>
                  </a:rPr>
                  <a:t>faza</a:t>
                </a:r>
                <a:r>
                  <a:rPr lang="en-US" dirty="0">
                    <a:solidFill>
                      <a:schemeClr val="tx1"/>
                    </a:solidFill>
                  </a:rPr>
                  <a:t> ne </a:t>
                </a:r>
                <a:r>
                  <a:rPr lang="en-US" dirty="0" err="1">
                    <a:solidFill>
                      <a:schemeClr val="tx1"/>
                    </a:solidFill>
                  </a:rPr>
                  <a:t>utiče</a:t>
                </a:r>
                <a:r>
                  <a:rPr lang="en-US" dirty="0">
                    <a:solidFill>
                      <a:schemeClr val="tx1"/>
                    </a:solidFill>
                  </a:rPr>
                  <a:t> </a:t>
                </a:r>
                <a:r>
                  <a:rPr lang="en-US" dirty="0" err="1">
                    <a:solidFill>
                      <a:schemeClr val="tx1"/>
                    </a:solidFill>
                  </a:rPr>
                  <a:t>na</a:t>
                </a:r>
                <a:r>
                  <a:rPr lang="en-US" dirty="0">
                    <a:solidFill>
                      <a:schemeClr val="tx1"/>
                    </a:solidFill>
                  </a:rPr>
                  <a:t> </a:t>
                </a:r>
                <a:r>
                  <a:rPr lang="en-US" dirty="0" err="1">
                    <a:solidFill>
                      <a:schemeClr val="tx1"/>
                    </a:solidFill>
                  </a:rPr>
                  <a:t>rezultat</a:t>
                </a:r>
                <a:r>
                  <a:rPr lang="en-US" dirty="0">
                    <a:solidFill>
                      <a:schemeClr val="tx1"/>
                    </a:solidFill>
                  </a:rPr>
                  <a:t> </a:t>
                </a:r>
                <a:r>
                  <a:rPr lang="en-US" dirty="0" err="1">
                    <a:solidFill>
                      <a:schemeClr val="tx1"/>
                    </a:solidFill>
                  </a:rPr>
                  <a:t>merenja</a:t>
                </a:r>
                <a:r>
                  <a:rPr lang="en-US" dirty="0">
                    <a:solidFill>
                      <a:schemeClr val="tx1"/>
                    </a:solidFill>
                  </a:rPr>
                  <a:t>. U tom </a:t>
                </a:r>
                <a:r>
                  <a:rPr lang="en-US" dirty="0" err="1">
                    <a:solidFill>
                      <a:schemeClr val="tx1"/>
                    </a:solidFill>
                  </a:rPr>
                  <a:t>slučaju</a:t>
                </a:r>
                <a:r>
                  <a:rPr lang="en-US" dirty="0">
                    <a:solidFill>
                      <a:schemeClr val="tx1"/>
                    </a:solidFill>
                  </a:rPr>
                  <a:t> , </a:t>
                </a:r>
                <a:r>
                  <a:rPr lang="en-US" dirty="0" err="1">
                    <a:solidFill>
                      <a:schemeClr val="tx1"/>
                    </a:solidFill>
                  </a:rPr>
                  <a:t>prvi</a:t>
                </a:r>
                <a:r>
                  <a:rPr lang="en-US" dirty="0">
                    <a:solidFill>
                      <a:schemeClr val="tx1"/>
                    </a:solidFill>
                  </a:rPr>
                  <a:t> kubit se </a:t>
                </a:r>
                <a:r>
                  <a:rPr lang="en-US" dirty="0" err="1">
                    <a:solidFill>
                      <a:schemeClr val="tx1"/>
                    </a:solidFill>
                  </a:rPr>
                  <a:t>izražava</a:t>
                </a:r>
                <a:r>
                  <a:rPr lang="en-US" dirty="0">
                    <a:solidFill>
                      <a:schemeClr val="tx1"/>
                    </a:solidFill>
                  </a:rPr>
                  <a:t> </a:t>
                </a:r>
                <a:r>
                  <a:rPr lang="en-US" dirty="0" err="1">
                    <a:solidFill>
                      <a:schemeClr val="tx1"/>
                    </a:solidFill>
                  </a:rPr>
                  <a:t>preko</a:t>
                </a:r>
                <a:r>
                  <a:rPr lang="en-US" dirty="0">
                    <a:solidFill>
                      <a:schemeClr val="tx1"/>
                    </a:solidFill>
                  </a:rPr>
                  <a:t> </a:t>
                </a:r>
                <a:r>
                  <a:rPr lang="en-US" dirty="0" err="1">
                    <a:solidFill>
                      <a:schemeClr val="tx1"/>
                    </a:solidFill>
                  </a:rPr>
                  <a:t>stanja</a:t>
                </a:r>
                <a:r>
                  <a:rPr lang="en-US" dirty="0">
                    <a:solidFill>
                      <a:schemeClr val="tx1"/>
                    </a:solidFill>
                  </a:rPr>
                  <a:t> |–⟩, </a:t>
                </a:r>
                <a:r>
                  <a:rPr lang="en-US" dirty="0" err="1">
                    <a:solidFill>
                      <a:schemeClr val="tx1"/>
                    </a:solidFill>
                  </a:rPr>
                  <a:t>koji</a:t>
                </a:r>
                <a:r>
                  <a:rPr lang="en-US" dirty="0">
                    <a:solidFill>
                      <a:schemeClr val="tx1"/>
                    </a:solidFill>
                  </a:rPr>
                  <a:t> </a:t>
                </a:r>
                <a:r>
                  <a:rPr lang="en-US" dirty="0" err="1">
                    <a:solidFill>
                      <a:schemeClr val="tx1"/>
                    </a:solidFill>
                  </a:rPr>
                  <a:t>posle</a:t>
                </a:r>
                <a:r>
                  <a:rPr lang="en-US" dirty="0">
                    <a:solidFill>
                      <a:schemeClr val="tx1"/>
                    </a:solidFill>
                  </a:rPr>
                  <a:t> </a:t>
                </a:r>
                <a:r>
                  <a:rPr lang="en-US" dirty="0" err="1">
                    <a:solidFill>
                      <a:schemeClr val="tx1"/>
                    </a:solidFill>
                  </a:rPr>
                  <a:t>primene</a:t>
                </a:r>
                <a:r>
                  <a:rPr lang="en-US" dirty="0">
                    <a:solidFill>
                      <a:schemeClr val="tx1"/>
                    </a:solidFill>
                  </a:rPr>
                  <a:t> </a:t>
                </a:r>
                <a:r>
                  <a:rPr lang="en-US" dirty="0" err="1">
                    <a:solidFill>
                      <a:schemeClr val="tx1"/>
                    </a:solidFill>
                  </a:rPr>
                  <a:t>Adamarovog</a:t>
                </a:r>
                <a:r>
                  <a:rPr lang="en-US" dirty="0">
                    <a:solidFill>
                      <a:schemeClr val="tx1"/>
                    </a:solidFill>
                  </a:rPr>
                  <a:t> kola </a:t>
                </a:r>
                <a:r>
                  <a:rPr lang="en-US" dirty="0" err="1">
                    <a:solidFill>
                      <a:schemeClr val="tx1"/>
                    </a:solidFill>
                  </a:rPr>
                  <a:t>postaje</a:t>
                </a:r>
                <a:r>
                  <a:rPr lang="en-US" dirty="0">
                    <a:solidFill>
                      <a:schemeClr val="tx1"/>
                    </a:solidFill>
                  </a:rPr>
                  <a:t> |1⟩, </a:t>
                </a:r>
                <a:r>
                  <a:rPr lang="en-US" dirty="0" err="1">
                    <a:solidFill>
                      <a:schemeClr val="tx1"/>
                    </a:solidFill>
                  </a:rPr>
                  <a:t>što</a:t>
                </a:r>
                <a:r>
                  <a:rPr lang="en-US" dirty="0">
                    <a:solidFill>
                      <a:schemeClr val="tx1"/>
                    </a:solidFill>
                  </a:rPr>
                  <a:t> </a:t>
                </a:r>
                <a:r>
                  <a:rPr lang="en-US" dirty="0" err="1">
                    <a:solidFill>
                      <a:schemeClr val="tx1"/>
                    </a:solidFill>
                  </a:rPr>
                  <a:t>dokazuje</a:t>
                </a:r>
                <a:r>
                  <a:rPr lang="en-US" dirty="0">
                    <a:solidFill>
                      <a:schemeClr val="tx1"/>
                    </a:solidFill>
                  </a:rPr>
                  <a:t> da </a:t>
                </a:r>
                <a:r>
                  <a:rPr lang="en-US" dirty="0" err="1">
                    <a:solidFill>
                      <a:schemeClr val="tx1"/>
                    </a:solidFill>
                  </a:rPr>
                  <a:t>je</a:t>
                </a:r>
                <a:r>
                  <a:rPr lang="en-US" dirty="0">
                    <a:solidFill>
                      <a:schemeClr val="tx1"/>
                    </a:solidFill>
                  </a:rPr>
                  <a:t> </a:t>
                </a:r>
                <a:r>
                  <a:rPr lang="en-US" dirty="0" err="1">
                    <a:solidFill>
                      <a:schemeClr val="tx1"/>
                    </a:solidFill>
                  </a:rPr>
                  <a:t>funkcija</a:t>
                </a:r>
                <a:r>
                  <a:rPr lang="en-US" dirty="0">
                    <a:solidFill>
                      <a:schemeClr val="tx1"/>
                    </a:solidFill>
                  </a:rPr>
                  <a:t> </a:t>
                </a:r>
                <a:r>
                  <a:rPr lang="en-US" dirty="0" err="1">
                    <a:solidFill>
                      <a:schemeClr val="tx1"/>
                    </a:solidFill>
                  </a:rPr>
                  <a:t>balansirana</a:t>
                </a:r>
                <a:r>
                  <a:rPr lang="en-US" dirty="0">
                    <a:solidFill>
                      <a:schemeClr val="tx1"/>
                    </a:solidFill>
                  </a:rPr>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3413003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figure shows the four possible configurations of Deutsch’s oracle.</a:t>
                </a:r>
              </a:p>
              <a:p>
                <a:pPr algn="just"/>
                <a:endParaRPr lang="en-ZA" b="0" dirty="0"/>
              </a:p>
              <a:p>
                <a:pPr marL="171450" indent="-171450" algn="just">
                  <a:buFont typeface="Arial" panose="020B0604020202020204" pitchFamily="34" charset="0"/>
                  <a:buChar char="•"/>
                </a:pPr>
                <a:r>
                  <a:rPr lang="en-ZA" dirty="0"/>
                  <a:t>For the constant function </a:t>
                </a:r>
                <a14:m>
                  <m:oMath xmlns:m="http://schemas.openxmlformats.org/officeDocument/2006/math">
                    <m:r>
                      <a:rPr lang="sr-Latn-RS" sz="1200" b="0" i="1" smtClean="0">
                        <a:latin typeface="Cambria Math" panose="02040503050406030204" pitchFamily="18" charset="0"/>
                      </a:rPr>
                      <m:t>𝑓</m:t>
                    </m:r>
                    <m:d>
                      <m:dPr>
                        <m:ctrlPr>
                          <a:rPr lang="sr-Latn-RS" sz="1200" i="1">
                            <a:latin typeface="Cambria Math" panose="02040503050406030204" pitchFamily="18" charset="0"/>
                          </a:rPr>
                        </m:ctrlPr>
                      </m:dPr>
                      <m:e>
                        <m:r>
                          <a:rPr lang="sr-Latn-RS" sz="1200" b="0" i="1" smtClean="0">
                            <a:latin typeface="Cambria Math" panose="02040503050406030204" pitchFamily="18" charset="0"/>
                          </a:rPr>
                          <m:t>𝑥</m:t>
                        </m:r>
                      </m:e>
                    </m:d>
                    <m:r>
                      <a:rPr lang="sr-Latn-RS" sz="1200" b="0" i="1" smtClean="0">
                        <a:latin typeface="Cambria Math" panose="02040503050406030204" pitchFamily="18" charset="0"/>
                      </a:rPr>
                      <m:t>=0</m:t>
                    </m:r>
                  </m:oMath>
                </a14:m>
                <a:r>
                  <a:rPr lang="en-ZA" dirty="0"/>
                  <a:t>, the oracle consists of two direct qubit lines. The auxiliary qubit remains unchanged. </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For the constant function </a:t>
                </a:r>
                <a14:m>
                  <m:oMath xmlns:m="http://schemas.openxmlformats.org/officeDocument/2006/math">
                    <m:r>
                      <a:rPr lang="sr-Latn-RS" sz="1200" b="0" i="1" smtClean="0">
                        <a:latin typeface="Cambria Math" panose="02040503050406030204" pitchFamily="18" charset="0"/>
                      </a:rPr>
                      <m:t>𝑓</m:t>
                    </m:r>
                    <m:d>
                      <m:dPr>
                        <m:ctrlPr>
                          <a:rPr lang="sr-Latn-RS" sz="1200" i="1">
                            <a:latin typeface="Cambria Math" panose="02040503050406030204" pitchFamily="18" charset="0"/>
                          </a:rPr>
                        </m:ctrlPr>
                      </m:dPr>
                      <m:e>
                        <m:r>
                          <a:rPr lang="sr-Latn-RS" sz="1200" b="0" i="1" smtClean="0">
                            <a:latin typeface="Cambria Math" panose="02040503050406030204" pitchFamily="18" charset="0"/>
                          </a:rPr>
                          <m:t>𝑥</m:t>
                        </m:r>
                      </m:e>
                    </m:d>
                    <m:r>
                      <a:rPr lang="sr-Latn-RS" sz="1200" b="0" i="1" smtClean="0">
                        <a:latin typeface="Cambria Math" panose="02040503050406030204" pitchFamily="18" charset="0"/>
                      </a:rPr>
                      <m:t>=</m:t>
                    </m:r>
                    <m:r>
                      <a:rPr lang="en-US" sz="1200" b="0" i="1" smtClean="0">
                        <a:latin typeface="Cambria Math" panose="02040503050406030204" pitchFamily="18" charset="0"/>
                      </a:rPr>
                      <m:t>1</m:t>
                    </m:r>
                  </m:oMath>
                </a14:m>
                <a:r>
                  <a:rPr lang="en-ZA" dirty="0"/>
                  <a:t>, an X gate is applied to the auxiliary qubit, so its state is flipped regardless of the input </a:t>
                </a:r>
                <a14:m>
                  <m:oMath xmlns:m="http://schemas.openxmlformats.org/officeDocument/2006/math">
                    <m:r>
                      <a:rPr lang="en-US" sz="1200" b="0" i="1" smtClean="0">
                        <a:latin typeface="Cambria Math" panose="02040503050406030204" pitchFamily="18" charset="0"/>
                      </a:rPr>
                      <m:t>𝑥</m:t>
                    </m:r>
                  </m:oMath>
                </a14:m>
                <a:r>
                  <a:rPr lang="en-ZA" dirty="0"/>
                  <a:t>. </a:t>
                </a:r>
              </a:p>
              <a:p>
                <a:pPr marL="171450" indent="-171450" algn="just">
                  <a:buFont typeface="Arial" panose="020B0604020202020204" pitchFamily="34" charset="0"/>
                  <a:buChar char="•"/>
                </a:pPr>
                <a:endParaRPr lang="en-ZA" dirty="0"/>
              </a:p>
              <a:p>
                <a:pPr marL="171450" indent="-171450" algn="just">
                  <a:buFont typeface="Arial" panose="020B0604020202020204" pitchFamily="34" charset="0"/>
                  <a:buChar char="•"/>
                </a:pPr>
                <a:r>
                  <a:rPr lang="en-ZA" dirty="0"/>
                  <a:t>For the balanced function </a:t>
                </a:r>
                <a14:m>
                  <m:oMath xmlns:m="http://schemas.openxmlformats.org/officeDocument/2006/math">
                    <m:r>
                      <a:rPr lang="sr-Latn-RS" sz="1200" b="0" i="1" smtClean="0">
                        <a:latin typeface="Cambria Math" panose="02040503050406030204" pitchFamily="18" charset="0"/>
                      </a:rPr>
                      <m:t>𝑓</m:t>
                    </m:r>
                    <m:d>
                      <m:dPr>
                        <m:ctrlPr>
                          <a:rPr lang="sr-Latn-RS" sz="1200" i="1">
                            <a:latin typeface="Cambria Math" panose="02040503050406030204" pitchFamily="18" charset="0"/>
                          </a:rPr>
                        </m:ctrlPr>
                      </m:dPr>
                      <m:e>
                        <m:r>
                          <a:rPr lang="sr-Latn-RS" sz="1200" b="0" i="1" smtClean="0">
                            <a:latin typeface="Cambria Math" panose="02040503050406030204" pitchFamily="18" charset="0"/>
                          </a:rPr>
                          <m:t>𝑥</m:t>
                        </m:r>
                      </m:e>
                    </m:d>
                    <m:r>
                      <a:rPr lang="sr-Latn-RS" sz="1200" b="0" i="1" smtClean="0">
                        <a:latin typeface="Cambria Math" panose="02040503050406030204" pitchFamily="18" charset="0"/>
                      </a:rPr>
                      <m:t>=</m:t>
                    </m:r>
                    <m:r>
                      <a:rPr lang="en-US" sz="1200" b="0" i="1" smtClean="0">
                        <a:latin typeface="Cambria Math" panose="02040503050406030204" pitchFamily="18" charset="0"/>
                      </a:rPr>
                      <m:t>𝑥</m:t>
                    </m:r>
                  </m:oMath>
                </a14:m>
                <a:r>
                  <a:rPr lang="en-ZA" dirty="0"/>
                  <a:t>, the oracle contains a CNOT gate. The auxiliary qubit is flipped whenever </a:t>
                </a:r>
                <a14:m>
                  <m:oMath xmlns:m="http://schemas.openxmlformats.org/officeDocument/2006/math">
                    <m:r>
                      <a:rPr lang="en-US" sz="1200" b="0" i="1" smtClean="0">
                        <a:latin typeface="Cambria Math" panose="02040503050406030204" pitchFamily="18" charset="0"/>
                      </a:rPr>
                      <m:t>𝑥</m:t>
                    </m:r>
                    <m:r>
                      <a:rPr lang="en-US" sz="1200" b="0" i="1" smtClean="0">
                        <a:latin typeface="Cambria Math" panose="02040503050406030204" pitchFamily="18" charset="0"/>
                      </a:rPr>
                      <m:t>=1</m:t>
                    </m:r>
                  </m:oMath>
                </a14:m>
                <a:r>
                  <a:rPr lang="en-ZA" dirty="0"/>
                  <a:t>. </a:t>
                </a:r>
              </a:p>
              <a:p>
                <a:pPr marL="171450" indent="-171450" algn="just">
                  <a:buFont typeface="Arial" panose="020B0604020202020204" pitchFamily="34" charset="0"/>
                  <a:buChar char="•"/>
                </a:pPr>
                <a:endParaRPr lang="en-ZA"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For the other balanced function, </a:t>
                </a:r>
                <a14:m>
                  <m:oMath xmlns:m="http://schemas.openxmlformats.org/officeDocument/2006/math">
                    <m:r>
                      <a:rPr lang="sr-Latn-RS" sz="1200" b="0" i="1" smtClean="0">
                        <a:latin typeface="Cambria Math" panose="02040503050406030204" pitchFamily="18" charset="0"/>
                      </a:rPr>
                      <m:t>𝑓</m:t>
                    </m:r>
                    <m:d>
                      <m:dPr>
                        <m:ctrlPr>
                          <a:rPr lang="sr-Latn-RS" sz="1200" i="1">
                            <a:latin typeface="Cambria Math" panose="02040503050406030204" pitchFamily="18" charset="0"/>
                          </a:rPr>
                        </m:ctrlPr>
                      </m:dPr>
                      <m:e>
                        <m:r>
                          <a:rPr lang="sr-Latn-RS" sz="1200" b="0" i="1" smtClean="0">
                            <a:latin typeface="Cambria Math" panose="02040503050406030204" pitchFamily="18" charset="0"/>
                          </a:rPr>
                          <m:t>𝑥</m:t>
                        </m:r>
                      </m:e>
                    </m:d>
                    <m:r>
                      <a:rPr lang="sr-Latn-RS" sz="1200" b="0" i="1" smtClean="0">
                        <a:latin typeface="Cambria Math" panose="02040503050406030204" pitchFamily="18" charset="0"/>
                      </a:rPr>
                      <m:t>=</m:t>
                    </m:r>
                    <m:r>
                      <a:rPr lang="sr-Latn-RS" sz="1200" b="0" i="1" smtClean="0">
                        <a:latin typeface="Cambria Math" panose="02040503050406030204" pitchFamily="18" charset="0"/>
                      </a:rPr>
                      <m:t>𝑥</m:t>
                    </m:r>
                    <m:r>
                      <a:rPr lang="sr-Latn-RS" sz="1200" i="1">
                        <a:latin typeface="Cambria Math" panose="02040503050406030204" pitchFamily="18" charset="0"/>
                      </a:rPr>
                      <m:t>⨁</m:t>
                    </m:r>
                  </m:oMath>
                </a14:m>
                <a:r>
                  <a:rPr lang="en-US" sz="1200" dirty="0"/>
                  <a:t>1</a:t>
                </a:r>
                <a:r>
                  <a:rPr lang="en-ZA" dirty="0"/>
                  <a:t>, an additional X gate is added to the auxiliary qubit. This implements the opposite Boolean function, where </a:t>
                </a:r>
                <a14:m>
                  <m:oMath xmlns:m="http://schemas.openxmlformats.org/officeDocument/2006/math">
                    <m:r>
                      <a:rPr lang="sr-Latn-RS" sz="1200" b="0" i="1" smtClean="0">
                        <a:latin typeface="Cambria Math" panose="02040503050406030204" pitchFamily="18" charset="0"/>
                      </a:rPr>
                      <m:t>𝑓</m:t>
                    </m:r>
                    <m:d>
                      <m:dPr>
                        <m:ctrlPr>
                          <a:rPr lang="sr-Latn-RS" sz="1200" i="1">
                            <a:latin typeface="Cambria Math" panose="02040503050406030204" pitchFamily="18" charset="0"/>
                          </a:rPr>
                        </m:ctrlPr>
                      </m:dPr>
                      <m:e>
                        <m:r>
                          <a:rPr lang="sr-Latn-RS" sz="1200" b="0" i="1" smtClean="0">
                            <a:latin typeface="Cambria Math" panose="02040503050406030204" pitchFamily="18" charset="0"/>
                          </a:rPr>
                          <m:t>𝑥</m:t>
                        </m:r>
                      </m:e>
                    </m:d>
                    <m:r>
                      <a:rPr lang="sr-Latn-RS" sz="1200" b="0" i="1" smtClean="0">
                        <a:latin typeface="Cambria Math" panose="02040503050406030204" pitchFamily="18" charset="0"/>
                      </a:rPr>
                      <m:t>=</m:t>
                    </m:r>
                    <m:r>
                      <a:rPr lang="en-US" sz="1200" b="0" i="1" smtClean="0">
                        <a:latin typeface="Cambria Math" panose="02040503050406030204" pitchFamily="18" charset="0"/>
                      </a:rPr>
                      <m:t>1</m:t>
                    </m:r>
                  </m:oMath>
                </a14:m>
                <a:r>
                  <a:rPr lang="en-ZA" dirty="0"/>
                  <a:t> for </a:t>
                </a:r>
                <a14:m>
                  <m:oMath xmlns:m="http://schemas.openxmlformats.org/officeDocument/2006/math">
                    <m:r>
                      <a:rPr lang="sr-Latn-RS" sz="1200" b="0" i="1" smtClean="0">
                        <a:latin typeface="Cambria Math" panose="02040503050406030204" pitchFamily="18" charset="0"/>
                      </a:rPr>
                      <m:t>𝑥</m:t>
                    </m:r>
                    <m:r>
                      <a:rPr lang="en-US" sz="1200" b="0" i="1" smtClean="0">
                        <a:latin typeface="Cambria Math" panose="02040503050406030204" pitchFamily="18" charset="0"/>
                      </a:rPr>
                      <m:t>=0</m:t>
                    </m:r>
                  </m:oMath>
                </a14:m>
                <a:r>
                  <a:rPr lang="en-ZA" dirty="0"/>
                  <a:t> and </a:t>
                </a:r>
                <a14:m>
                  <m:oMath xmlns:m="http://schemas.openxmlformats.org/officeDocument/2006/math">
                    <m:r>
                      <a:rPr lang="sr-Latn-RS" sz="1200" b="0" i="1" smtClean="0">
                        <a:latin typeface="Cambria Math" panose="02040503050406030204" pitchFamily="18" charset="0"/>
                      </a:rPr>
                      <m:t>𝑓</m:t>
                    </m:r>
                    <m:d>
                      <m:dPr>
                        <m:ctrlPr>
                          <a:rPr lang="sr-Latn-RS" sz="1200" i="1">
                            <a:latin typeface="Cambria Math" panose="02040503050406030204" pitchFamily="18" charset="0"/>
                          </a:rPr>
                        </m:ctrlPr>
                      </m:dPr>
                      <m:e>
                        <m:r>
                          <a:rPr lang="sr-Latn-RS" sz="1200" b="0" i="1" smtClean="0">
                            <a:latin typeface="Cambria Math" panose="02040503050406030204" pitchFamily="18" charset="0"/>
                          </a:rPr>
                          <m:t>𝑥</m:t>
                        </m:r>
                      </m:e>
                    </m:d>
                    <m:r>
                      <a:rPr lang="sr-Latn-RS" sz="1200" b="0" i="1" smtClean="0">
                        <a:latin typeface="Cambria Math" panose="02040503050406030204" pitchFamily="18" charset="0"/>
                      </a:rPr>
                      <m:t>=</m:t>
                    </m:r>
                    <m:r>
                      <a:rPr lang="en-US" sz="1200" b="0" i="1" smtClean="0">
                        <a:latin typeface="Cambria Math" panose="02040503050406030204" pitchFamily="18" charset="0"/>
                      </a:rPr>
                      <m:t>0</m:t>
                    </m:r>
                  </m:oMath>
                </a14:m>
                <a:r>
                  <a:rPr lang="en-ZA" dirty="0"/>
                  <a:t> for </a:t>
                </a:r>
                <a14:m>
                  <m:oMath xmlns:m="http://schemas.openxmlformats.org/officeDocument/2006/math">
                    <m:r>
                      <a:rPr lang="sr-Latn-RS" sz="1200" b="0" i="1" smtClean="0">
                        <a:latin typeface="Cambria Math" panose="02040503050406030204" pitchFamily="18" charset="0"/>
                      </a:rPr>
                      <m:t>𝑥</m:t>
                    </m:r>
                    <m:r>
                      <a:rPr lang="en-US" sz="1200" b="0" i="1" smtClean="0">
                        <a:latin typeface="Cambria Math" panose="02040503050406030204" pitchFamily="18" charset="0"/>
                      </a:rPr>
                      <m:t>=1</m:t>
                    </m:r>
                  </m:oMath>
                </a14:m>
                <a:r>
                  <a:rPr lang="en-ZA" dirty="0"/>
                  <a:t>.</a:t>
                </a:r>
                <a:endParaRPr lang="en-ZA" b="0" dirty="0"/>
              </a:p>
              <a:p>
                <a:pPr algn="just"/>
                <a:endParaRPr lang="en-ZA" b="0" dirty="0"/>
              </a:p>
            </p:txBody>
          </p:sp>
        </mc:Choice>
        <mc:Fallback xmlns="">
          <p:sp>
            <p:nvSpPr>
              <p:cNvPr id="3" name="Notes Placeholder 2"/>
              <p:cNvSpPr>
                <a:spLocks noGrp="1"/>
              </p:cNvSpPr>
              <p:nvPr>
                <p:ph type="body" idx="1"/>
              </p:nvPr>
            </p:nvSpPr>
            <p:spPr/>
            <p:txBody>
              <a:bodyPr/>
              <a:lstStyle/>
              <a:p>
                <a:r>
                  <a:rPr lang="en-US" dirty="0"/>
                  <a:t>Slika </a:t>
                </a:r>
                <a:r>
                  <a:rPr lang="en-US" dirty="0" err="1"/>
                  <a:t>prikazuje</a:t>
                </a:r>
                <a:r>
                  <a:rPr lang="en-US" dirty="0"/>
                  <a:t> </a:t>
                </a:r>
                <a:r>
                  <a:rPr lang="en-US" dirty="0" err="1"/>
                  <a:t>nekoliko</a:t>
                </a:r>
                <a:r>
                  <a:rPr lang="en-US" dirty="0"/>
                  <a:t> </a:t>
                </a:r>
                <a:r>
                  <a:rPr lang="en-US" dirty="0" err="1"/>
                  <a:t>eksperimentalnih</a:t>
                </a:r>
                <a:r>
                  <a:rPr lang="en-US" dirty="0"/>
                  <a:t> </a:t>
                </a:r>
                <a:r>
                  <a:rPr lang="en-US" dirty="0" err="1"/>
                  <a:t>konfiguracija</a:t>
                </a:r>
                <a:r>
                  <a:rPr lang="en-US" dirty="0"/>
                  <a:t> </a:t>
                </a:r>
                <a:r>
                  <a:rPr lang="en-US" dirty="0" err="1"/>
                  <a:t>Dojčovog</a:t>
                </a:r>
                <a:r>
                  <a:rPr lang="en-US" dirty="0"/>
                  <a:t> </a:t>
                </a:r>
                <a:r>
                  <a:rPr lang="en-US" dirty="0" err="1"/>
                  <a:t>orakla</a:t>
                </a:r>
                <a:r>
                  <a:rPr lang="en-US" dirty="0"/>
                  <a:t>.</a:t>
                </a:r>
              </a:p>
              <a:p>
                <a:endParaRPr lang="en-US" dirty="0"/>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 </a:t>
                </a:r>
                <a:r>
                  <a:rPr lang="en-US" dirty="0" err="1"/>
                  <a:t>slučaju</a:t>
                </a:r>
                <a:r>
                  <a:rPr lang="en-US" dirty="0"/>
                  <a:t> </a:t>
                </a:r>
                <a:r>
                  <a:rPr lang="en-US" dirty="0" err="1"/>
                  <a:t>konstantne</a:t>
                </a:r>
                <a:r>
                  <a:rPr lang="en-US" dirty="0"/>
                  <a:t> </a:t>
                </a:r>
                <a:r>
                  <a:rPr lang="en-US" dirty="0" err="1"/>
                  <a:t>funkcije</a:t>
                </a:r>
                <a:r>
                  <a:rPr lang="en-US" dirty="0"/>
                  <a:t> </a:t>
                </a:r>
                <a:r>
                  <a:rPr lang="sr-Latn-RS" sz="1200" b="0" i="0">
                    <a:latin typeface="Cambria Math" panose="02040503050406030204" pitchFamily="18" charset="0"/>
                  </a:rPr>
                  <a:t>𝑓</a:t>
                </a:r>
                <a:r>
                  <a:rPr lang="sr-Latn-RS" sz="1200" i="0">
                    <a:latin typeface="Cambria Math" panose="02040503050406030204" pitchFamily="18" charset="0"/>
                  </a:rPr>
                  <a:t>(</a:t>
                </a:r>
                <a:r>
                  <a:rPr lang="sr-Latn-RS" sz="1200" b="0" i="0">
                    <a:latin typeface="Cambria Math" panose="02040503050406030204" pitchFamily="18" charset="0"/>
                  </a:rPr>
                  <a:t>𝑥)=0</a:t>
                </a:r>
                <a:r>
                  <a:rPr lang="en-US" dirty="0"/>
                  <a:t>, </a:t>
                </a:r>
                <a:r>
                  <a:rPr lang="en-US" dirty="0" err="1"/>
                  <a:t>orakl</a:t>
                </a:r>
                <a:r>
                  <a:rPr lang="en-US" dirty="0"/>
                  <a:t> se </a:t>
                </a:r>
                <a:r>
                  <a:rPr lang="en-US" dirty="0" err="1"/>
                  <a:t>sastoji</a:t>
                </a:r>
                <a:r>
                  <a:rPr lang="en-US" dirty="0"/>
                  <a:t> od </a:t>
                </a:r>
                <a:r>
                  <a:rPr lang="en-US" dirty="0" err="1"/>
                  <a:t>dve</a:t>
                </a:r>
                <a:r>
                  <a:rPr lang="en-US" dirty="0"/>
                  <a:t> </a:t>
                </a:r>
                <a:r>
                  <a:rPr lang="en-US" dirty="0" err="1"/>
                  <a:t>direktne</a:t>
                </a:r>
                <a:r>
                  <a:rPr lang="en-US" dirty="0"/>
                  <a:t> </a:t>
                </a:r>
                <a:r>
                  <a:rPr lang="en-US" dirty="0" err="1"/>
                  <a:t>linije</a:t>
                </a:r>
                <a:r>
                  <a:rPr lang="en-US" dirty="0"/>
                  <a:t> kubita. Na </a:t>
                </a:r>
                <a:r>
                  <a:rPr lang="en-US" dirty="0" err="1"/>
                  <a:t>donjem</a:t>
                </a:r>
                <a:r>
                  <a:rPr lang="en-US" dirty="0"/>
                  <a:t> </a:t>
                </a:r>
                <a:r>
                  <a:rPr lang="en-US" dirty="0" err="1"/>
                  <a:t>izlazu</a:t>
                </a:r>
                <a:r>
                  <a:rPr lang="en-US" dirty="0"/>
                  <a:t> se </a:t>
                </a:r>
                <a:r>
                  <a:rPr lang="en-US" dirty="0" err="1"/>
                  <a:t>dobija</a:t>
                </a:r>
                <a:r>
                  <a:rPr lang="en-US" dirty="0"/>
                  <a:t> </a:t>
                </a:r>
                <a:r>
                  <a:rPr lang="en-US" sz="1200" i="0">
                    <a:latin typeface="Cambria Math" panose="02040503050406030204" pitchFamily="18" charset="0"/>
                  </a:rPr>
                  <a:t>├ |</a:t>
                </a:r>
                <a:r>
                  <a:rPr lang="sr-Latn-RS" sz="1200" b="0" i="0">
                    <a:latin typeface="Cambria Math" panose="02040503050406030204" pitchFamily="18" charset="0"/>
                  </a:rPr>
                  <a:t>0⟩</a:t>
                </a:r>
                <a:r>
                  <a:rPr lang="en-US" dirty="0"/>
                  <a:t> bez </a:t>
                </a:r>
                <a:r>
                  <a:rPr lang="en-US" dirty="0" err="1"/>
                  <a:t>obzira</a:t>
                </a:r>
                <a:r>
                  <a:rPr lang="en-US" dirty="0"/>
                  <a:t> </a:t>
                </a:r>
                <a:r>
                  <a:rPr lang="en-US" dirty="0" err="1"/>
                  <a:t>na</a:t>
                </a:r>
                <a:r>
                  <a:rPr lang="en-US" dirty="0"/>
                  <a:t> </a:t>
                </a:r>
                <a:r>
                  <a:rPr lang="en-US" dirty="0" err="1"/>
                  <a:t>ulaz</a:t>
                </a:r>
                <a:r>
                  <a:rPr lang="en-US" dirty="0"/>
                  <a:t>.</a:t>
                </a:r>
              </a:p>
              <a:p>
                <a:pPr marL="228600" indent="-228600">
                  <a:buFont typeface="Arial" panose="020B0604020202020204" pitchFamily="34" charset="0"/>
                  <a:buChar char="•"/>
                </a:pPr>
                <a:endParaRPr lang="en-US" dirty="0"/>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 </a:t>
                </a:r>
                <a:r>
                  <a:rPr lang="en-US" dirty="0" err="1"/>
                  <a:t>slučaju</a:t>
                </a:r>
                <a:r>
                  <a:rPr lang="en-US" dirty="0"/>
                  <a:t> </a:t>
                </a:r>
                <a:r>
                  <a:rPr lang="en-US" dirty="0" err="1"/>
                  <a:t>konstantne</a:t>
                </a:r>
                <a:r>
                  <a:rPr lang="en-US" dirty="0"/>
                  <a:t> </a:t>
                </a:r>
                <a:r>
                  <a:rPr lang="en-US" dirty="0" err="1"/>
                  <a:t>funkcije</a:t>
                </a:r>
                <a:r>
                  <a:rPr lang="en-US" dirty="0"/>
                  <a:t> </a:t>
                </a:r>
                <a:r>
                  <a:rPr lang="sr-Latn-RS" sz="1200" b="0" i="0">
                    <a:latin typeface="Cambria Math" panose="02040503050406030204" pitchFamily="18" charset="0"/>
                  </a:rPr>
                  <a:t>𝑓</a:t>
                </a:r>
                <a:r>
                  <a:rPr lang="sr-Latn-RS" sz="1200" i="0">
                    <a:latin typeface="Cambria Math" panose="02040503050406030204" pitchFamily="18" charset="0"/>
                  </a:rPr>
                  <a:t>(</a:t>
                </a:r>
                <a:r>
                  <a:rPr lang="sr-Latn-RS" sz="1200" b="0" i="0">
                    <a:latin typeface="Cambria Math" panose="02040503050406030204" pitchFamily="18" charset="0"/>
                  </a:rPr>
                  <a:t>𝑥)=1</a:t>
                </a:r>
                <a:r>
                  <a:rPr lang="en-US" dirty="0"/>
                  <a:t>, </a:t>
                </a:r>
                <a:r>
                  <a:rPr lang="en-US" dirty="0" err="1"/>
                  <a:t>na</a:t>
                </a:r>
                <a:r>
                  <a:rPr lang="en-US" dirty="0"/>
                  <a:t> </a:t>
                </a:r>
                <a:r>
                  <a:rPr lang="en-US" dirty="0" err="1"/>
                  <a:t>liniju</a:t>
                </a:r>
                <a:r>
                  <a:rPr lang="en-US" dirty="0"/>
                  <a:t> </a:t>
                </a:r>
                <a:r>
                  <a:rPr lang="en-US" dirty="0" err="1"/>
                  <a:t>donjeg</a:t>
                </a:r>
                <a:r>
                  <a:rPr lang="en-US" dirty="0"/>
                  <a:t> kubita se </a:t>
                </a:r>
                <a:r>
                  <a:rPr lang="en-US" dirty="0" err="1"/>
                  <a:t>stavlja</a:t>
                </a:r>
                <a:r>
                  <a:rPr lang="en-US" dirty="0"/>
                  <a:t> </a:t>
                </a:r>
                <a:r>
                  <a:rPr lang="en-US" dirty="0" err="1"/>
                  <a:t>elementarno</a:t>
                </a:r>
                <a:r>
                  <a:rPr lang="en-US" dirty="0"/>
                  <a:t> X </a:t>
                </a:r>
                <a:r>
                  <a:rPr lang="en-US" dirty="0" err="1"/>
                  <a:t>kolo</a:t>
                </a:r>
                <a:r>
                  <a:rPr lang="en-US" dirty="0"/>
                  <a:t>. Na </a:t>
                </a:r>
                <a:r>
                  <a:rPr lang="en-US" dirty="0" err="1"/>
                  <a:t>donjem</a:t>
                </a:r>
                <a:r>
                  <a:rPr lang="en-US" dirty="0"/>
                  <a:t> </a:t>
                </a:r>
                <a:r>
                  <a:rPr lang="en-US" dirty="0" err="1"/>
                  <a:t>izlazu</a:t>
                </a:r>
                <a:r>
                  <a:rPr lang="en-US" dirty="0"/>
                  <a:t> se </a:t>
                </a:r>
                <a:r>
                  <a:rPr lang="en-US" dirty="0" err="1"/>
                  <a:t>dobija</a:t>
                </a:r>
                <a:r>
                  <a:rPr lang="en-US" dirty="0"/>
                  <a:t> </a:t>
                </a:r>
                <a:r>
                  <a:rPr lang="en-US" sz="1200" i="0">
                    <a:latin typeface="Cambria Math" panose="02040503050406030204" pitchFamily="18" charset="0"/>
                  </a:rPr>
                  <a:t>├ |</a:t>
                </a:r>
                <a:r>
                  <a:rPr lang="sr-Latn-RS" sz="1200" b="0" i="0">
                    <a:latin typeface="Cambria Math" panose="02040503050406030204" pitchFamily="18" charset="0"/>
                  </a:rPr>
                  <a:t>1⟩</a:t>
                </a:r>
                <a:r>
                  <a:rPr lang="en-US" dirty="0"/>
                  <a:t> bez </a:t>
                </a:r>
                <a:r>
                  <a:rPr lang="en-US" dirty="0" err="1"/>
                  <a:t>obzira</a:t>
                </a:r>
                <a:r>
                  <a:rPr lang="en-US" dirty="0"/>
                  <a:t> </a:t>
                </a:r>
                <a:r>
                  <a:rPr lang="en-US" dirty="0" err="1"/>
                  <a:t>na</a:t>
                </a:r>
                <a:r>
                  <a:rPr lang="en-US" dirty="0"/>
                  <a:t> </a:t>
                </a:r>
                <a:r>
                  <a:rPr lang="en-US" dirty="0" err="1"/>
                  <a:t>ulaz</a:t>
                </a:r>
                <a:r>
                  <a:rPr lang="en-US" dirty="0"/>
                  <a:t>.</a:t>
                </a:r>
              </a:p>
              <a:p>
                <a:pPr marL="228600" indent="-228600">
                  <a:buFont typeface="Arial" panose="020B0604020202020204" pitchFamily="34" charset="0"/>
                  <a:buChar char="•"/>
                </a:pPr>
                <a:endParaRPr lang="en-US" dirty="0"/>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Za</a:t>
                </a:r>
                <a:r>
                  <a:rPr lang="en-US" dirty="0"/>
                  <a:t> </a:t>
                </a:r>
                <a:r>
                  <a:rPr lang="en-US" dirty="0" err="1"/>
                  <a:t>balansiranu</a:t>
                </a:r>
                <a:r>
                  <a:rPr lang="en-US" dirty="0"/>
                  <a:t> </a:t>
                </a:r>
                <a:r>
                  <a:rPr lang="en-US" dirty="0" err="1"/>
                  <a:t>funkciju</a:t>
                </a:r>
                <a:r>
                  <a:rPr lang="en-US" dirty="0"/>
                  <a:t>  </a:t>
                </a:r>
                <a:r>
                  <a:rPr lang="sr-Latn-RS" sz="1200" b="0" i="0">
                    <a:latin typeface="Cambria Math" panose="02040503050406030204" pitchFamily="18" charset="0"/>
                  </a:rPr>
                  <a:t>𝑓</a:t>
                </a:r>
                <a:r>
                  <a:rPr lang="sr-Latn-RS" sz="1200" i="0">
                    <a:latin typeface="Cambria Math" panose="02040503050406030204" pitchFamily="18" charset="0"/>
                  </a:rPr>
                  <a:t>(</a:t>
                </a:r>
                <a:r>
                  <a:rPr lang="sr-Latn-RS" sz="1200" b="0" i="0">
                    <a:latin typeface="Cambria Math" panose="02040503050406030204" pitchFamily="18" charset="0"/>
                  </a:rPr>
                  <a:t>𝑥)=𝑥 </a:t>
                </a:r>
                <a:r>
                  <a:rPr lang="en-US" dirty="0"/>
                  <a:t> </a:t>
                </a:r>
                <a:r>
                  <a:rPr lang="en-US" dirty="0" err="1"/>
                  <a:t>orakl</a:t>
                </a:r>
                <a:r>
                  <a:rPr lang="en-US" dirty="0"/>
                  <a:t> </a:t>
                </a:r>
                <a:r>
                  <a:rPr lang="en-US" dirty="0" err="1"/>
                  <a:t>sadrži</a:t>
                </a:r>
                <a:r>
                  <a:rPr lang="en-US" dirty="0"/>
                  <a:t> </a:t>
                </a:r>
                <a:r>
                  <a:rPr lang="en-US" dirty="0" err="1"/>
                  <a:t>jedno</a:t>
                </a:r>
                <a:r>
                  <a:rPr lang="en-US" dirty="0"/>
                  <a:t> </a:t>
                </a:r>
                <a:r>
                  <a:rPr lang="en-US" dirty="0" err="1"/>
                  <a:t>kontrolisano</a:t>
                </a:r>
                <a:r>
                  <a:rPr lang="en-US" dirty="0"/>
                  <a:t> X </a:t>
                </a:r>
                <a:r>
                  <a:rPr lang="en-US" dirty="0" err="1"/>
                  <a:t>kolo</a:t>
                </a:r>
                <a:r>
                  <a:rPr lang="en-US" dirty="0"/>
                  <a:t>, </a:t>
                </a:r>
                <a:r>
                  <a:rPr lang="en-US" dirty="0" err="1"/>
                  <a:t>čiji</a:t>
                </a:r>
                <a:r>
                  <a:rPr lang="en-US" dirty="0"/>
                  <a:t> </a:t>
                </a:r>
                <a:r>
                  <a:rPr lang="en-US" dirty="0" err="1"/>
                  <a:t>je</a:t>
                </a:r>
                <a:r>
                  <a:rPr lang="en-US" dirty="0"/>
                  <a:t> </a:t>
                </a:r>
                <a:r>
                  <a:rPr lang="en-US" dirty="0" err="1"/>
                  <a:t>ciljni</a:t>
                </a:r>
                <a:r>
                  <a:rPr lang="en-US" dirty="0"/>
                  <a:t> kubit </a:t>
                </a:r>
                <a:r>
                  <a:rPr lang="en-US" dirty="0" err="1"/>
                  <a:t>kopija</a:t>
                </a:r>
                <a:r>
                  <a:rPr lang="en-US" dirty="0"/>
                  <a:t> </a:t>
                </a:r>
                <a:r>
                  <a:rPr lang="en-US" dirty="0" err="1"/>
                  <a:t>kontrolnog</a:t>
                </a:r>
                <a:r>
                  <a:rPr lang="en-US" dirty="0"/>
                  <a:t> kubita.</a:t>
                </a:r>
              </a:p>
              <a:p>
                <a:pPr marL="228600" indent="-228600">
                  <a:buFont typeface="Arial" panose="020B0604020202020204" pitchFamily="34" charset="0"/>
                  <a:buChar char="•"/>
                </a:pPr>
                <a:endParaRPr lang="en-US" dirty="0"/>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Za</a:t>
                </a:r>
                <a:r>
                  <a:rPr lang="en-US" dirty="0"/>
                  <a:t> </a:t>
                </a:r>
                <a:r>
                  <a:rPr lang="en-US" dirty="0" err="1"/>
                  <a:t>balansiranu</a:t>
                </a:r>
                <a:r>
                  <a:rPr lang="en-US" dirty="0"/>
                  <a:t> </a:t>
                </a:r>
                <a:r>
                  <a:rPr lang="en-US" dirty="0" err="1"/>
                  <a:t>funkciju</a:t>
                </a:r>
                <a:r>
                  <a:rPr lang="en-US" dirty="0"/>
                  <a:t> </a:t>
                </a:r>
                <a:r>
                  <a:rPr lang="sr-Latn-RS" sz="1200" b="0" i="0">
                    <a:latin typeface="Cambria Math" panose="02040503050406030204" pitchFamily="18" charset="0"/>
                  </a:rPr>
                  <a:t>𝑓</a:t>
                </a:r>
                <a:r>
                  <a:rPr lang="sr-Latn-RS" sz="1200" i="0">
                    <a:latin typeface="Cambria Math" panose="02040503050406030204" pitchFamily="18" charset="0"/>
                  </a:rPr>
                  <a:t>(</a:t>
                </a:r>
                <a:r>
                  <a:rPr lang="sr-Latn-RS" sz="1200" b="0" i="0">
                    <a:latin typeface="Cambria Math" panose="02040503050406030204" pitchFamily="18" charset="0"/>
                  </a:rPr>
                  <a:t>𝑥)=𝑥</a:t>
                </a:r>
                <a:r>
                  <a:rPr lang="sr-Latn-RS" sz="1200" i="0">
                    <a:latin typeface="Cambria Math" panose="02040503050406030204" pitchFamily="18" charset="0"/>
                  </a:rPr>
                  <a:t>⨁</a:t>
                </a:r>
                <a:r>
                  <a:rPr lang="en-US" sz="1200" dirty="0"/>
                  <a:t>1</a:t>
                </a:r>
                <a:r>
                  <a:rPr lang="en-US" dirty="0"/>
                  <a:t> </a:t>
                </a:r>
                <a:r>
                  <a:rPr lang="en-US" dirty="0" err="1"/>
                  <a:t>na</a:t>
                </a:r>
                <a:r>
                  <a:rPr lang="en-US" dirty="0"/>
                  <a:t> </a:t>
                </a:r>
                <a:r>
                  <a:rPr lang="en-US" dirty="0" err="1"/>
                  <a:t>ciljni</a:t>
                </a:r>
                <a:r>
                  <a:rPr lang="en-US" dirty="0"/>
                  <a:t> kubit se </a:t>
                </a:r>
                <a:r>
                  <a:rPr lang="en-US" dirty="0" err="1"/>
                  <a:t>dodaje</a:t>
                </a:r>
                <a:r>
                  <a:rPr lang="en-US" dirty="0"/>
                  <a:t> </a:t>
                </a:r>
                <a:r>
                  <a:rPr lang="en-US" dirty="0" err="1"/>
                  <a:t>još</a:t>
                </a:r>
                <a:r>
                  <a:rPr lang="en-US" dirty="0"/>
                  <a:t> </a:t>
                </a:r>
                <a:r>
                  <a:rPr lang="en-US" dirty="0" err="1"/>
                  <a:t>jedno</a:t>
                </a:r>
                <a:r>
                  <a:rPr lang="en-US" dirty="0"/>
                  <a:t> X </a:t>
                </a:r>
                <a:r>
                  <a:rPr lang="en-US" dirty="0" err="1"/>
                  <a:t>kolo</a:t>
                </a:r>
                <a:r>
                  <a:rPr lang="en-US" dirty="0"/>
                  <a:t>. U </a:t>
                </a:r>
                <a:r>
                  <a:rPr lang="en-US" dirty="0" err="1"/>
                  <a:t>ovom</a:t>
                </a:r>
                <a:r>
                  <a:rPr lang="en-US" dirty="0"/>
                  <a:t> </a:t>
                </a:r>
                <a:r>
                  <a:rPr lang="en-US" dirty="0" err="1"/>
                  <a:t>slučaju</a:t>
                </a:r>
                <a:r>
                  <a:rPr lang="en-US" dirty="0"/>
                  <a:t> </a:t>
                </a:r>
                <a:r>
                  <a:rPr lang="en-US" dirty="0" err="1"/>
                  <a:t>je</a:t>
                </a:r>
                <a:r>
                  <a:rPr lang="en-US" dirty="0"/>
                  <a:t> </a:t>
                </a:r>
                <a:r>
                  <a:rPr lang="en-US" dirty="0" err="1"/>
                  <a:t>ciljni</a:t>
                </a:r>
                <a:r>
                  <a:rPr lang="en-US" dirty="0"/>
                  <a:t> kubit </a:t>
                </a:r>
                <a:r>
                  <a:rPr lang="en-US" dirty="0" err="1"/>
                  <a:t>negacija</a:t>
                </a:r>
                <a:r>
                  <a:rPr lang="en-US" dirty="0"/>
                  <a:t> </a:t>
                </a:r>
                <a:r>
                  <a:rPr lang="en-US" dirty="0" err="1"/>
                  <a:t>kontrolnog</a:t>
                </a:r>
                <a:r>
                  <a:rPr lang="en-US" dirty="0"/>
                  <a:t> kubita </a:t>
                </a:r>
                <a:r>
                  <a:rPr lang="en-US" dirty="0" err="1"/>
                  <a:t>što</a:t>
                </a:r>
                <a:r>
                  <a:rPr lang="en-US" dirty="0"/>
                  <a:t> se </a:t>
                </a:r>
                <a:r>
                  <a:rPr lang="en-US" dirty="0" err="1"/>
                  <a:t>i</a:t>
                </a:r>
                <a:r>
                  <a:rPr lang="en-US" dirty="0"/>
                  <a:t> </a:t>
                </a:r>
                <a:r>
                  <a:rPr lang="en-US" dirty="0" err="1"/>
                  <a:t>tražilo</a:t>
                </a:r>
                <a:r>
                  <a:rPr lang="en-US" dirty="0"/>
                  <a:t>.</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1504222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In 1992, David Deutsch and Richard </a:t>
            </a:r>
            <a:r>
              <a:rPr lang="en-ZA" dirty="0" err="1"/>
              <a:t>Jozsa</a:t>
            </a:r>
            <a:r>
              <a:rPr lang="en-ZA" dirty="0"/>
              <a:t> introduced a generalization of Deutsch’s algorithm. The Deutsch–</a:t>
            </a:r>
            <a:r>
              <a:rPr lang="en-ZA" dirty="0" err="1"/>
              <a:t>Jozsa</a:t>
            </a:r>
            <a:r>
              <a:rPr lang="en-ZA" dirty="0"/>
              <a:t> algorithm extends the idea to functions with multiple input bits rather than just a single bit.</a:t>
            </a:r>
            <a:endParaRPr lang="en-US" sz="1200" b="0" dirty="0">
              <a:latin typeface="+mn-lt"/>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17</a:t>
            </a:fld>
            <a:endParaRPr lang="en-US"/>
          </a:p>
        </p:txBody>
      </p:sp>
    </p:spTree>
    <p:extLst>
      <p:ext uri="{BB962C8B-B14F-4D97-AF65-F5344CB8AC3E}">
        <p14:creationId xmlns:p14="http://schemas.microsoft.com/office/powerpoint/2010/main" val="38632636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problem solved by the Deutsch–</a:t>
                </a:r>
                <a:r>
                  <a:rPr lang="en-ZA" b="0" dirty="0" err="1"/>
                  <a:t>Jozsa</a:t>
                </a:r>
                <a:r>
                  <a:rPr lang="en-ZA" b="0" dirty="0"/>
                  <a:t> algorithm can be formally stated as follows.</a:t>
                </a:r>
              </a:p>
              <a:p>
                <a:pPr algn="just"/>
                <a:endParaRPr lang="en-ZA" sz="1200" b="0" dirty="0"/>
              </a:p>
              <a:p>
                <a:pPr algn="l">
                  <a:spcAft>
                    <a:spcPts val="1200"/>
                  </a:spcAft>
                </a:pPr>
                <a:r>
                  <a:rPr lang="en-ZA" sz="1200" b="0" dirty="0"/>
                  <a:t>Let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oMath>
                </a14:m>
                <a:r>
                  <a:rPr lang="en-ZA" sz="1200" b="0" dirty="0"/>
                  <a:t> be a function that maps an </a:t>
                </a:r>
                <a14:m>
                  <m:oMath xmlns:m="http://schemas.openxmlformats.org/officeDocument/2006/math">
                    <m:r>
                      <a:rPr lang="en-US" sz="1200" b="0" i="1" smtClean="0">
                        <a:latin typeface="Cambria Math" panose="02040503050406030204" pitchFamily="18" charset="0"/>
                        <a:ea typeface="Times New Roman" panose="02020603050405020304" pitchFamily="18" charset="0"/>
                        <a:cs typeface="Times New Roman" panose="02020603050405020304" pitchFamily="18" charset="0"/>
                      </a:rPr>
                      <m:t>𝑛</m:t>
                    </m:r>
                  </m:oMath>
                </a14:m>
                <a:r>
                  <a:rPr lang="en-ZA" sz="1200" b="0" dirty="0"/>
                  <a:t>-bit input to a single-bit output, i.e.</a:t>
                </a:r>
                <a:br>
                  <a:rPr lang="sr-Latn-RS" sz="1200" b="0" dirty="0">
                    <a:latin typeface="Cambria" panose="02040503050406030204" pitchFamily="18" charset="0"/>
                    <a:cs typeface="Times New Roman" panose="02020603050405020304" pitchFamily="18" charset="0"/>
                  </a:rPr>
                </a:br>
                <a14:m>
                  <m:oMathPara xmlns:m="http://schemas.openxmlformats.org/officeDocument/2006/math">
                    <m:oMathParaPr>
                      <m:jc m:val="centerGroup"/>
                    </m:oMathParaPr>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1200" b="0" i="1">
                              <a:latin typeface="Cambria Math" panose="02040503050406030204" pitchFamily="18" charset="0"/>
                              <a:ea typeface="Times New Roman" panose="02020603050405020304" pitchFamily="18" charset="0"/>
                              <a:cs typeface="Times New Roman" panose="02020603050405020304" pitchFamily="18" charset="0"/>
                            </a:rPr>
                          </m:ctrlPr>
                        </m:sSupPr>
                        <m:e>
                          <m:d>
                            <m:dPr>
                              <m:begChr m:val="{"/>
                              <m:endChr m:val="}"/>
                              <m:ctrlPr>
                                <a:rPr lang="en-ZA" sz="1200" b="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𝑛</m:t>
                          </m:r>
                        </m:sup>
                      </m:sSup>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1200" b="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0,1</m:t>
                          </m:r>
                        </m:e>
                      </m:d>
                    </m:oMath>
                  </m:oMathPara>
                </a14:m>
                <a:endParaRPr lang="sr-Latn-RS" sz="1200" b="0" dirty="0">
                  <a:latin typeface="Cambria" panose="02040503050406030204" pitchFamily="18" charset="0"/>
                  <a:ea typeface="Times New Roman" panose="02020603050405020304" pitchFamily="18" charset="0"/>
                  <a:cs typeface="Times New Roman" panose="02020603050405020304" pitchFamily="18" charset="0"/>
                </a:endParaRPr>
              </a:p>
              <a:p>
                <a:pPr algn="just">
                  <a:spcAft>
                    <a:spcPts val="1200"/>
                  </a:spcAft>
                </a:pPr>
                <a:r>
                  <a:rPr lang="en-ZA" sz="1200" b="0" dirty="0"/>
                  <a:t>It is promised that the function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oMath>
                </a14:m>
                <a:r>
                  <a:rPr lang="en-ZA" sz="1200" b="0" dirty="0"/>
                  <a:t> is either</a:t>
                </a:r>
                <a:r>
                  <a:rPr lang="sr-Latn-RS" sz="1200" b="0" dirty="0">
                    <a:cs typeface="Times New Roman" panose="02020603050405020304" pitchFamily="18" charset="0"/>
                  </a:rPr>
                  <a:t>:</a:t>
                </a:r>
              </a:p>
              <a:p>
                <a:pPr algn="just">
                  <a:spcAft>
                    <a:spcPts val="1200"/>
                  </a:spcAft>
                </a:pPr>
                <a:endParaRPr lang="sr-Latn-RS" sz="1200" b="0" dirty="0">
                  <a:cs typeface="Times New Roman" panose="02020603050405020304" pitchFamily="18" charset="0"/>
                </a:endParaRPr>
              </a:p>
              <a:p>
                <a:pPr marL="457200" indent="-457200" algn="just">
                  <a:spcAft>
                    <a:spcPts val="1200"/>
                  </a:spcAft>
                  <a:buFont typeface="Arial" panose="020B0604020202020204" pitchFamily="34" charset="0"/>
                  <a:buChar char="•"/>
                </a:pPr>
                <a:r>
                  <a:rPr lang="en-ZA" sz="1200" b="0" dirty="0"/>
                  <a:t>Constant: All outputs are the same — either all 0s or all 1s</a:t>
                </a:r>
                <a:r>
                  <a:rPr lang="sr-Latn-RS" sz="1200" b="0" dirty="0">
                    <a:ea typeface="Times New Roman" panose="02020603050405020304" pitchFamily="18" charset="0"/>
                    <a:cs typeface="Times New Roman" panose="02020603050405020304" pitchFamily="18" charset="0"/>
                  </a:rPr>
                  <a:t>. </a:t>
                </a:r>
              </a:p>
              <a:p>
                <a:pPr marL="457200" indent="-457200" algn="just">
                  <a:spcAft>
                    <a:spcPts val="1200"/>
                  </a:spcAft>
                  <a:buFont typeface="Arial" panose="020B0604020202020204" pitchFamily="34" charset="0"/>
                  <a:buChar char="•"/>
                </a:pPr>
                <a:r>
                  <a:rPr lang="en-ZA" sz="1200" b="0" dirty="0"/>
                  <a:t>Balanced: Half of the inputs map to 0, and the other half to 1</a:t>
                </a:r>
                <a:r>
                  <a:rPr lang="sr-Latn-RS" sz="1200" b="0" dirty="0">
                    <a:ea typeface="Times New Roman" panose="02020603050405020304" pitchFamily="18" charset="0"/>
                    <a:cs typeface="Times New Roman" panose="02020603050405020304" pitchFamily="18" charset="0"/>
                  </a:rPr>
                  <a:t>.</a:t>
                </a:r>
              </a:p>
              <a:p>
                <a:pPr algn="just"/>
                <a:endParaRPr lang="sr-Latn-RS" sz="1200" b="0" dirty="0">
                  <a:cs typeface="Times New Roman" panose="02020603050405020304" pitchFamily="18" charset="0"/>
                </a:endParaRPr>
              </a:p>
              <a:p>
                <a:pPr algn="just"/>
                <a:r>
                  <a:rPr lang="en-ZA" sz="1200" b="0" dirty="0"/>
                  <a:t>The goal is to determine whether the function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oMath>
                </a14:m>
                <a:r>
                  <a:rPr lang="en-ZA" sz="1200" b="0" dirty="0"/>
                  <a:t> is constant or balanced.</a:t>
                </a:r>
              </a:p>
              <a:p>
                <a:pPr algn="just"/>
                <a:endParaRPr lang="en-ZA" sz="1200" b="0" dirty="0"/>
              </a:p>
              <a:p>
                <a:pPr algn="just"/>
                <a:r>
                  <a:rPr lang="en-ZA" b="0" dirty="0"/>
                  <a:t>In the original Deutsch problem, there were only two possible inputs, so solving it classically required at most two function evaluations. With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𝑛</m:t>
                    </m:r>
                  </m:oMath>
                </a14:m>
                <a:r>
                  <a:rPr lang="en-ZA" b="0" dirty="0"/>
                  <a:t> input bits, however, there are 2</a:t>
                </a:r>
                <a:r>
                  <a:rPr lang="en-ZA" b="0" baseline="30000" dirty="0"/>
                  <a:t>𝑛</a:t>
                </a:r>
                <a:r>
                  <a:rPr lang="en-ZA" b="0" dirty="0"/>
                  <a:t> possible inputs. Classically, in the worst case, half of them must be checked without finding a different output. That means 2</a:t>
                </a:r>
                <a:r>
                  <a:rPr lang="en-ZA" b="0" baseline="30000" dirty="0"/>
                  <a:t>(𝑛−1)</a:t>
                </a:r>
                <a:r>
                  <a:rPr lang="en-ZA" b="0" dirty="0"/>
                  <a:t> evaluations may still not be enough. Only after checking one additional input can it be determined with certainty whether the function is constant or balanced. The classical deterministic solution thus requires up to 2</a:t>
                </a:r>
                <a:r>
                  <a:rPr lang="en-ZA" b="0" baseline="30000" dirty="0"/>
                  <a:t>(𝑛−1)</a:t>
                </a:r>
                <a:r>
                  <a:rPr lang="en-ZA" sz="1200" b="0" dirty="0"/>
                  <a:t>+1 </a:t>
                </a:r>
                <a:r>
                  <a:rPr lang="en-ZA" b="0" dirty="0"/>
                  <a:t>function evaluations.</a:t>
                </a:r>
              </a:p>
              <a:p>
                <a:endParaRPr lang="en-ZA" b="0" dirty="0"/>
              </a:p>
              <a:p>
                <a:r>
                  <a:rPr lang="en-ZA" b="0" dirty="0"/>
                  <a:t>Just like Deutsch’s algorithm, the Deutsch–</a:t>
                </a:r>
                <a:r>
                  <a:rPr lang="en-ZA" b="0" dirty="0" err="1"/>
                  <a:t>Jozsa</a:t>
                </a:r>
                <a:r>
                  <a:rPr lang="en-ZA" b="0" dirty="0"/>
                  <a:t> algorithm solves the problem with only one call to the quantum oracle.</a:t>
                </a:r>
              </a:p>
              <a:p>
                <a:endParaRPr lang="en-ZA" b="0" dirty="0"/>
              </a:p>
              <a:p>
                <a:pPr marL="171450" indent="-171450">
                  <a:buFont typeface="Arial" panose="020B0604020202020204" pitchFamily="34" charset="0"/>
                  <a:buChar char="•"/>
                </a:pPr>
                <a:r>
                  <a:rPr lang="en-ZA" b="0" dirty="0"/>
                  <a:t>If the function is constant, quantum interference produces the output ∣00…0⟩.</a:t>
                </a:r>
              </a:p>
              <a:p>
                <a:pPr marL="171450" indent="-171450">
                  <a:buFont typeface="Arial" panose="020B0604020202020204" pitchFamily="34" charset="0"/>
                  <a:buChar char="•"/>
                </a:pPr>
                <a:r>
                  <a:rPr lang="en-ZA" b="0" dirty="0"/>
                  <a:t>If the function is balanced, the interference produces a state for which the measurement gives a non-zero bit string. </a:t>
                </a:r>
              </a:p>
              <a:p>
                <a:pPr marL="171450" indent="-171450">
                  <a:buFont typeface="Arial" panose="020B0604020202020204" pitchFamily="34" charset="0"/>
                  <a:buChar char="•"/>
                </a:pPr>
                <a:endParaRPr lang="en-ZA" b="0" dirty="0"/>
              </a:p>
              <a:p>
                <a:pPr marL="0" indent="0">
                  <a:buFont typeface="Arial" panose="020B0604020202020204" pitchFamily="34" charset="0"/>
                  <a:buNone/>
                </a:pPr>
                <a:r>
                  <a:rPr lang="en-ZA" b="0" dirty="0"/>
                  <a:t>This allows a constant function to be distinguished from a balanced function with a single quantum oracle call.</a:t>
                </a:r>
              </a:p>
              <a:p>
                <a:endParaRPr lang="en-ZA" b="0" dirty="0"/>
              </a:p>
            </p:txBody>
          </p:sp>
        </mc:Choice>
        <mc:Fallback xmlns="">
          <p:sp>
            <p:nvSpPr>
              <p:cNvPr id="3" name="Notes Placeholder 2"/>
              <p:cNvSpPr>
                <a:spLocks noGrp="1"/>
              </p:cNvSpPr>
              <p:nvPr>
                <p:ph type="body" idx="1"/>
              </p:nvPr>
            </p:nvSpPr>
            <p:spPr/>
            <p:txBody>
              <a:bodyPr/>
              <a:lstStyle/>
              <a:p>
                <a:pPr algn="just"/>
                <a:r>
                  <a:rPr lang="en-ZA" b="0" dirty="0"/>
                  <a:t>The problem solved by the Deutsch–</a:t>
                </a:r>
                <a:r>
                  <a:rPr lang="en-ZA" b="0" dirty="0" err="1"/>
                  <a:t>Jozsa</a:t>
                </a:r>
                <a:r>
                  <a:rPr lang="en-ZA" b="0" dirty="0"/>
                  <a:t> algorithm can be formally stated as follows.</a:t>
                </a:r>
              </a:p>
              <a:p>
                <a:pPr algn="just"/>
                <a:endParaRPr lang="en-ZA" b="0" dirty="0"/>
              </a:p>
              <a:p>
                <a:pPr algn="just">
                  <a:spcAft>
                    <a:spcPts val="1200"/>
                  </a:spcAft>
                </a:pPr>
                <a:r>
                  <a:rPr lang="en-ZA" sz="2800" b="0" dirty="0"/>
                  <a:t>Let </a:t>
                </a:r>
                <a:r>
                  <a:rPr lang="sr-Latn-RS" sz="2800" b="0" i="0">
                    <a:latin typeface="Cambria Math" panose="02040503050406030204" pitchFamily="18" charset="0"/>
                    <a:ea typeface="Times New Roman" panose="02020603050405020304" pitchFamily="18" charset="0"/>
                    <a:cs typeface="Times New Roman" panose="02020603050405020304" pitchFamily="18" charset="0"/>
                  </a:rPr>
                  <a:t>𝑓</a:t>
                </a:r>
                <a:r>
                  <a:rPr lang="en-ZA" sz="2800" b="0" dirty="0"/>
                  <a:t> be a function that maps an </a:t>
                </a:r>
                <a:r>
                  <a:rPr lang="en-US" sz="2800" b="0" i="0">
                    <a:latin typeface="Cambria Math" panose="02040503050406030204" pitchFamily="18" charset="0"/>
                    <a:ea typeface="Times New Roman" panose="02020603050405020304" pitchFamily="18" charset="0"/>
                    <a:cs typeface="Times New Roman" panose="02020603050405020304" pitchFamily="18" charset="0"/>
                  </a:rPr>
                  <a:t>𝑛</a:t>
                </a:r>
                <a:r>
                  <a:rPr lang="en-ZA" sz="2800" b="0" dirty="0"/>
                  <a:t>-bit input to a single-bit output, i.e.</a:t>
                </a:r>
                <a:r>
                  <a:rPr lang="sr-Latn-RS" sz="2500" b="0" dirty="0">
                    <a:latin typeface="Cambria" panose="02040503050406030204" pitchFamily="18" charset="0"/>
                    <a:ea typeface="Times New Roman" panose="02020603050405020304" pitchFamily="18" charset="0"/>
                    <a:cs typeface="Times New Roman" panose="02020603050405020304" pitchFamily="18" charset="0"/>
                  </a:rPr>
                  <a:t> </a:t>
                </a:r>
                <a:r>
                  <a:rPr lang="sr-Latn-RS" sz="2500" b="0" i="0">
                    <a:latin typeface="Cambria Math" panose="02040503050406030204" pitchFamily="18" charset="0"/>
                    <a:ea typeface="Times New Roman" panose="02020603050405020304" pitchFamily="18" charset="0"/>
                    <a:cs typeface="Times New Roman" panose="02020603050405020304" pitchFamily="18" charset="0"/>
                  </a:rPr>
                  <a:t>𝑓:</a:t>
                </a:r>
                <a:r>
                  <a:rPr lang="en-ZA" sz="2500" b="0" i="0">
                    <a:latin typeface="Cambria Math" panose="02040503050406030204" pitchFamily="18" charset="0"/>
                    <a:cs typeface="Times New Roman" panose="02020603050405020304" pitchFamily="18" charset="0"/>
                  </a:rPr>
                  <a:t>{</a:t>
                </a:r>
                <a:r>
                  <a:rPr lang="sr-Latn-RS" sz="2500" b="0" i="0">
                    <a:latin typeface="Cambria Math" panose="02040503050406030204" pitchFamily="18" charset="0"/>
                    <a:ea typeface="Times New Roman" panose="02020603050405020304" pitchFamily="18" charset="0"/>
                    <a:cs typeface="Times New Roman" panose="02020603050405020304" pitchFamily="18" charset="0"/>
                  </a:rPr>
                  <a:t>0,1}</a:t>
                </a:r>
                <a:r>
                  <a:rPr lang="en-ZA" sz="2500" b="0" i="0">
                    <a:latin typeface="Cambria Math" panose="02040503050406030204" pitchFamily="18" charset="0"/>
                    <a:ea typeface="Times New Roman" panose="02020603050405020304" pitchFamily="18" charset="0"/>
                    <a:cs typeface="Times New Roman" panose="02020603050405020304" pitchFamily="18" charset="0"/>
                  </a:rPr>
                  <a:t>^</a:t>
                </a:r>
                <a:r>
                  <a:rPr lang="sr-Latn-RS" sz="2500" b="0" i="0">
                    <a:latin typeface="Cambria Math" panose="02040503050406030204" pitchFamily="18" charset="0"/>
                    <a:ea typeface="Times New Roman" panose="02020603050405020304" pitchFamily="18" charset="0"/>
                    <a:cs typeface="Times New Roman" panose="02020603050405020304" pitchFamily="18" charset="0"/>
                  </a:rPr>
                  <a:t>𝑛→</a:t>
                </a:r>
                <a:r>
                  <a:rPr lang="en-ZA" sz="2500" b="0" i="0">
                    <a:latin typeface="Cambria Math" panose="02040503050406030204" pitchFamily="18" charset="0"/>
                    <a:cs typeface="Times New Roman" panose="02020603050405020304" pitchFamily="18" charset="0"/>
                  </a:rPr>
                  <a:t>{</a:t>
                </a:r>
                <a:r>
                  <a:rPr lang="sr-Latn-RS" sz="2500" b="0" i="0">
                    <a:latin typeface="Cambria Math" panose="02040503050406030204" pitchFamily="18" charset="0"/>
                    <a:ea typeface="Times New Roman" panose="02020603050405020304" pitchFamily="18" charset="0"/>
                    <a:cs typeface="Times New Roman" panose="02020603050405020304" pitchFamily="18" charset="0"/>
                  </a:rPr>
                  <a:t>0,1}</a:t>
                </a:r>
                <a:r>
                  <a:rPr lang="sr-Latn-RS" sz="2500" b="0" dirty="0">
                    <a:latin typeface="Cambria" panose="02040503050406030204" pitchFamily="18" charset="0"/>
                    <a:ea typeface="Times New Roman" panose="02020603050405020304" pitchFamily="18" charset="0"/>
                    <a:cs typeface="Times New Roman" panose="02020603050405020304" pitchFamily="18" charset="0"/>
                  </a:rPr>
                  <a:t> </a:t>
                </a:r>
              </a:p>
              <a:p>
                <a:pPr algn="just">
                  <a:spcAft>
                    <a:spcPts val="1200"/>
                  </a:spcAft>
                </a:pPr>
                <a:r>
                  <a:rPr lang="en-ZA" sz="2800" b="0" dirty="0"/>
                  <a:t>It is promised that the function </a:t>
                </a:r>
                <a:r>
                  <a:rPr lang="sr-Latn-RS" sz="2800" b="0" i="0">
                    <a:latin typeface="Cambria Math" panose="02040503050406030204" pitchFamily="18" charset="0"/>
                    <a:ea typeface="Times New Roman" panose="02020603050405020304" pitchFamily="18" charset="0"/>
                    <a:cs typeface="Times New Roman" panose="02020603050405020304" pitchFamily="18" charset="0"/>
                  </a:rPr>
                  <a:t>𝑓</a:t>
                </a:r>
                <a:r>
                  <a:rPr lang="en-ZA" sz="2800" b="0" dirty="0"/>
                  <a:t> is either</a:t>
                </a:r>
                <a:r>
                  <a:rPr lang="sr-Latn-RS" sz="2500" b="0" dirty="0">
                    <a:cs typeface="Times New Roman" panose="02020603050405020304" pitchFamily="18" charset="0"/>
                  </a:rPr>
                  <a:t>:</a:t>
                </a:r>
              </a:p>
              <a:p>
                <a:pPr algn="just">
                  <a:spcAft>
                    <a:spcPts val="1200"/>
                  </a:spcAft>
                </a:pPr>
                <a:endParaRPr lang="sr-Latn-RS" sz="2500" b="0" dirty="0">
                  <a:cs typeface="Times New Roman" panose="02020603050405020304" pitchFamily="18" charset="0"/>
                </a:endParaRPr>
              </a:p>
              <a:p>
                <a:pPr marL="457200" indent="-457200" algn="just">
                  <a:spcAft>
                    <a:spcPts val="1200"/>
                  </a:spcAft>
                  <a:buFont typeface="Arial" panose="020B0604020202020204" pitchFamily="34" charset="0"/>
                  <a:buChar char="•"/>
                </a:pPr>
                <a:r>
                  <a:rPr lang="en-ZA" sz="2800" b="0" dirty="0"/>
                  <a:t>Constant: All outputs are the same — either all 0s or all 1s</a:t>
                </a:r>
                <a:r>
                  <a:rPr lang="sr-Latn-RS" sz="2500" b="0" dirty="0">
                    <a:ea typeface="Times New Roman" panose="02020603050405020304" pitchFamily="18" charset="0"/>
                    <a:cs typeface="Times New Roman" panose="02020603050405020304" pitchFamily="18" charset="0"/>
                  </a:rPr>
                  <a:t>. </a:t>
                </a:r>
              </a:p>
              <a:p>
                <a:pPr marL="457200" indent="-457200" algn="just">
                  <a:spcAft>
                    <a:spcPts val="1200"/>
                  </a:spcAft>
                  <a:buFont typeface="Arial" panose="020B0604020202020204" pitchFamily="34" charset="0"/>
                  <a:buChar char="•"/>
                </a:pPr>
                <a:r>
                  <a:rPr lang="en-ZA" sz="2800" b="0" dirty="0"/>
                  <a:t>Balanced: Half of the inputs map to 0, and the other half to 1</a:t>
                </a:r>
                <a:r>
                  <a:rPr lang="sr-Latn-RS" sz="2500" b="0" dirty="0">
                    <a:ea typeface="Times New Roman" panose="02020603050405020304" pitchFamily="18" charset="0"/>
                    <a:cs typeface="Times New Roman" panose="02020603050405020304" pitchFamily="18" charset="0"/>
                  </a:rPr>
                  <a:t>.</a:t>
                </a:r>
              </a:p>
              <a:p>
                <a:pPr marL="457200" indent="-457200" algn="just">
                  <a:spcAft>
                    <a:spcPts val="1200"/>
                  </a:spcAft>
                  <a:buFont typeface="Arial" panose="020B0604020202020204" pitchFamily="34" charset="0"/>
                  <a:buChar char="•"/>
                </a:pPr>
                <a:endParaRPr lang="sr-Latn-RS" sz="2500" b="0" dirty="0">
                  <a:ea typeface="Times New Roman" panose="02020603050405020304" pitchFamily="18" charset="0"/>
                  <a:cs typeface="Times New Roman" panose="02020603050405020304" pitchFamily="18" charset="0"/>
                </a:endParaRPr>
              </a:p>
              <a:p>
                <a:pPr algn="just"/>
                <a:r>
                  <a:rPr lang="en-ZA" sz="2800" b="0" dirty="0"/>
                  <a:t>The goal is to determine whether the function </a:t>
                </a:r>
                <a:r>
                  <a:rPr lang="sr-Latn-RS" sz="2800" b="0" i="0">
                    <a:latin typeface="Cambria Math" panose="02040503050406030204" pitchFamily="18" charset="0"/>
                    <a:ea typeface="Times New Roman" panose="02020603050405020304" pitchFamily="18" charset="0"/>
                    <a:cs typeface="Times New Roman" panose="02020603050405020304" pitchFamily="18" charset="0"/>
                  </a:rPr>
                  <a:t>𝑓</a:t>
                </a:r>
                <a:r>
                  <a:rPr lang="en-ZA" sz="2800" b="0" dirty="0"/>
                  <a:t> is constant or balanced.</a:t>
                </a:r>
              </a:p>
              <a:p>
                <a:pPr algn="just"/>
                <a:endParaRPr lang="en-ZA" sz="2800" b="0" dirty="0"/>
              </a:p>
              <a:p>
                <a:pPr algn="just"/>
                <a:r>
                  <a:rPr lang="en-ZA" sz="2800" b="0" dirty="0"/>
                  <a:t>Classical Complexity:</a:t>
                </a:r>
              </a:p>
              <a:p>
                <a:pPr algn="just"/>
                <a:r>
                  <a:rPr lang="en-ZA" sz="2800" b="0" dirty="0"/>
                  <a:t>In the original Deutsch problem, only 2 inputs existed, so solving it classically required 2 evaluations in the worst case. But now, with </a:t>
                </a:r>
                <a:r>
                  <a:rPr lang="en-US" sz="2800" b="0" i="0">
                    <a:latin typeface="Cambria Math" panose="02040503050406030204" pitchFamily="18" charset="0"/>
                    <a:ea typeface="Times New Roman" panose="02020603050405020304" pitchFamily="18" charset="0"/>
                    <a:cs typeface="Times New Roman" panose="02020603050405020304" pitchFamily="18" charset="0"/>
                  </a:rPr>
                  <a:t>𝑛</a:t>
                </a:r>
                <a:r>
                  <a:rPr lang="en-ZA" sz="2800" b="0" dirty="0"/>
                  <a:t> input bits, there are </a:t>
                </a:r>
                <a:r>
                  <a:rPr lang="en-US" sz="2800" b="0" i="0">
                    <a:latin typeface="Cambria Math" panose="02040503050406030204" pitchFamily="18" charset="0"/>
                    <a:cs typeface="Times New Roman" panose="02020603050405020304" pitchFamily="18" charset="0"/>
                  </a:rPr>
                  <a:t>2^𝑛</a:t>
                </a:r>
                <a:r>
                  <a:rPr lang="en-ZA" sz="2800" b="0" dirty="0"/>
                  <a:t> possible inputs.</a:t>
                </a:r>
              </a:p>
              <a:p>
                <a:pPr algn="just"/>
                <a:r>
                  <a:rPr lang="en-ZA" sz="2800" b="0" dirty="0"/>
                  <a:t>To classically determine whether the function is constant or balanced, in the worst case one must evaluate </a:t>
                </a:r>
                <a:r>
                  <a:rPr lang="sr-Latn-RS" sz="2800" b="0" i="0">
                    <a:latin typeface="Cambria Math" panose="02040503050406030204" pitchFamily="18" charset="0"/>
                    <a:ea typeface="Times New Roman" panose="02020603050405020304" pitchFamily="18" charset="0"/>
                    <a:cs typeface="Times New Roman" panose="02020603050405020304" pitchFamily="18" charset="0"/>
                  </a:rPr>
                  <a:t>𝑓</a:t>
                </a:r>
                <a:r>
                  <a:rPr lang="en-ZA" sz="2800" b="0" dirty="0"/>
                  <a:t> on half of the inputs, i.e.: </a:t>
                </a:r>
                <a:r>
                  <a:rPr lang="en-US" sz="2800" b="0" i="0">
                    <a:latin typeface="Cambria Math" panose="02040503050406030204" pitchFamily="18" charset="0"/>
                    <a:cs typeface="Times New Roman" panose="02020603050405020304" pitchFamily="18" charset="0"/>
                  </a:rPr>
                  <a:t>2^𝑛∕2=2^(𝑛−1)</a:t>
                </a:r>
                <a:r>
                  <a:rPr lang="en-ZA" sz="2800" b="0" dirty="0"/>
                  <a:t>.  And only on the next input, can the nature of the function be definitively known.</a:t>
                </a:r>
              </a:p>
              <a:p>
                <a:pPr algn="just"/>
                <a:endParaRPr lang="en-ZA" sz="2800" b="0" dirty="0"/>
              </a:p>
              <a:p>
                <a:r>
                  <a:rPr lang="en-ZA" b="0" dirty="0"/>
                  <a:t>Quantum Advantage:</a:t>
                </a:r>
              </a:p>
              <a:p>
                <a:r>
                  <a:rPr lang="en-ZA" b="0" dirty="0"/>
                  <a:t>Just like in Deutsch’s algorithm, the Deutsch–</a:t>
                </a:r>
                <a:r>
                  <a:rPr lang="en-ZA" b="0" dirty="0" err="1"/>
                  <a:t>Jozsa</a:t>
                </a:r>
                <a:r>
                  <a:rPr lang="en-ZA" b="0" dirty="0"/>
                  <a:t> algorithm solves this problem with a single query to the quantum oracle.</a:t>
                </a:r>
              </a:p>
              <a:p>
                <a:endParaRPr lang="en-ZA" b="0" dirty="0"/>
              </a:p>
              <a:p>
                <a:pPr marL="171450" indent="-171450">
                  <a:buFont typeface="Arial" panose="020B0604020202020204" pitchFamily="34" charset="0"/>
                  <a:buChar char="•"/>
                </a:pPr>
                <a:r>
                  <a:rPr lang="en-ZA" b="0" dirty="0"/>
                  <a:t>If the function is constant, the algorithm returns 0</a:t>
                </a:r>
              </a:p>
              <a:p>
                <a:pPr marL="171450" indent="-171450">
                  <a:buFont typeface="Arial" panose="020B0604020202020204" pitchFamily="34" charset="0"/>
                  <a:buChar char="•"/>
                </a:pPr>
                <a:r>
                  <a:rPr lang="en-ZA" b="0" dirty="0"/>
                  <a:t>If the function is balanced, the algorithm returns a non-zero value</a:t>
                </a:r>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28704548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dirty="0"/>
                  <a:t>The Deutsch–</a:t>
                </a:r>
                <a:r>
                  <a:rPr lang="en-ZA" dirty="0" err="1"/>
                  <a:t>Jozsa</a:t>
                </a:r>
                <a:r>
                  <a:rPr lang="en-ZA" dirty="0"/>
                  <a:t> circuit uses the same type of oracle as Deutsch’s algorithm, but this time the input is an</a:t>
                </a:r>
                <a14:m>
                  <m:oMath xmlns:m="http://schemas.openxmlformats.org/officeDocument/2006/math">
                    <m:r>
                      <a:rPr lang="en-US" sz="1200" b="0" i="0" smtClean="0">
                        <a:latin typeface="Cambria Math" panose="02040503050406030204" pitchFamily="18" charset="0"/>
                        <a:ea typeface="Times New Roman" panose="02020603050405020304" pitchFamily="18" charset="0"/>
                        <a:cs typeface="Times New Roman" panose="02020603050405020304" pitchFamily="18" charset="0"/>
                      </a:rPr>
                      <m:t> </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𝑛</m:t>
                    </m:r>
                  </m:oMath>
                </a14:m>
                <a:r>
                  <a:rPr lang="en-ZA" dirty="0"/>
                  <a:t>-qubit register.</a:t>
                </a:r>
              </a:p>
              <a:p>
                <a:pPr marL="0" indent="0" algn="just">
                  <a:buFont typeface="Arial" panose="020B0604020202020204" pitchFamily="34" charset="0"/>
                  <a:buNone/>
                </a:pPr>
                <a:endParaRPr lang="en-ZA" dirty="0"/>
              </a:p>
              <a:p>
                <a:pPr marL="228600" indent="-228600" algn="just">
                  <a:buFont typeface="+mj-lt"/>
                  <a:buAutoNum type="arabicPeriod"/>
                </a:pPr>
                <a:r>
                  <a:rPr lang="en-ZA" dirty="0"/>
                  <a:t>After preparing the input registers: </a:t>
                </a:r>
              </a:p>
              <a:p>
                <a:pPr marL="685800" lvl="1" indent="-228600">
                  <a:buFont typeface="Arial" panose="020B0604020202020204" pitchFamily="34" charset="0"/>
                  <a:buChar char="•"/>
                </a:pPr>
                <a:r>
                  <a:rPr lang="en-ZA" dirty="0"/>
                  <a:t>the upper register </a:t>
                </a:r>
                <a14:m>
                  <m:oMath xmlns:m="http://schemas.openxmlformats.org/officeDocument/2006/math">
                    <m:r>
                      <a:rPr lang="en-US" sz="1200" b="0" i="1" smtClean="0">
                        <a:latin typeface="Cambria Math" panose="02040503050406030204" pitchFamily="18" charset="0"/>
                      </a:rPr>
                      <m:t>𝑥</m:t>
                    </m:r>
                  </m:oMath>
                </a14:m>
                <a:r>
                  <a:rPr lang="en-ZA" dirty="0"/>
                  <a:t> contains </a:t>
                </a:r>
                <a14:m>
                  <m:oMath xmlns:m="http://schemas.openxmlformats.org/officeDocument/2006/math">
                    <m:r>
                      <a:rPr lang="en-US" sz="1200" b="0" i="1" smtClean="0">
                        <a:latin typeface="Cambria Math" panose="02040503050406030204" pitchFamily="18" charset="0"/>
                      </a:rPr>
                      <m:t>𝑛</m:t>
                    </m:r>
                  </m:oMath>
                </a14:m>
                <a:r>
                  <a:rPr lang="en-ZA" dirty="0"/>
                  <a:t> qubits in an equal superposition of all possible inputs,</a:t>
                </a:r>
              </a:p>
              <a:p>
                <a:pPr marL="685800" lvl="1" indent="-228600">
                  <a:buFont typeface="Arial" panose="020B0604020202020204" pitchFamily="34" charset="0"/>
                  <a:buChar char="•"/>
                </a:pPr>
                <a:r>
                  <a:rPr lang="en-ZA" dirty="0"/>
                  <a:t>the lower register </a:t>
                </a:r>
                <a14:m>
                  <m:oMath xmlns:m="http://schemas.openxmlformats.org/officeDocument/2006/math">
                    <m:r>
                      <a:rPr lang="en-US" sz="1200" b="0" i="1" smtClean="0">
                        <a:latin typeface="Cambria Math" panose="02040503050406030204" pitchFamily="18" charset="0"/>
                      </a:rPr>
                      <m:t>𝑦</m:t>
                    </m:r>
                  </m:oMath>
                </a14:m>
                <a:r>
                  <a:rPr lang="en-ZA" dirty="0"/>
                  <a:t> is prepared in the ∣−⟩ state.</a:t>
                </a:r>
              </a:p>
              <a:p>
                <a:pPr marL="685800" lvl="1" indent="-228600">
                  <a:buFont typeface="Arial" panose="020B0604020202020204" pitchFamily="34" charset="0"/>
                  <a:buChar char="•"/>
                </a:pPr>
                <a:endParaRPr lang="en-ZA" dirty="0"/>
              </a:p>
              <a:p>
                <a:pPr marL="228600" lvl="0" indent="-228600">
                  <a:buFont typeface="+mj-lt"/>
                  <a:buAutoNum type="arabicPeriod"/>
                </a:pPr>
                <a:r>
                  <a:rPr lang="en-ZA" dirty="0"/>
                  <a:t>The oracle then applies phase kickback to the upper register. It flips the phase of every basis state</a:t>
                </a:r>
                <a:r>
                  <a:rPr lang="en-ZA" b="0" baseline="0" dirty="0"/>
                  <a:t>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sr-Latn-RS" sz="1200" b="0" i="1" smtClean="0">
                            <a:latin typeface="Cambria Math" panose="02040503050406030204" pitchFamily="18" charset="0"/>
                          </a:rPr>
                          <m:t>𝑥</m:t>
                        </m:r>
                      </m:e>
                    </m:d>
                  </m:oMath>
                </a14:m>
                <a:r>
                  <a:rPr lang="en-ZA" b="0" baseline="0" dirty="0"/>
                  <a:t> for which which </a:t>
                </a:r>
                <a14:m>
                  <m:oMath xmlns:m="http://schemas.openxmlformats.org/officeDocument/2006/math">
                    <m:d>
                      <m:dPr>
                        <m:begChr m:val=""/>
                        <m:ctrlPr>
                          <a:rPr lang="en-US" sz="1200" i="1" smtClean="0">
                            <a:latin typeface="Cambria Math" panose="02040503050406030204" pitchFamily="18" charset="0"/>
                          </a:rPr>
                        </m:ctrlPr>
                      </m:dPr>
                      <m:e>
                        <m:r>
                          <a:rPr lang="en-US" sz="1200" i="1">
                            <a:latin typeface="Cambria Math" panose="02040503050406030204" pitchFamily="18" charset="0"/>
                          </a:rPr>
                          <m:t>𝑓</m:t>
                        </m:r>
                        <m:r>
                          <a:rPr lang="en-US" sz="1200">
                            <a:latin typeface="Cambria Math" panose="02040503050406030204" pitchFamily="18" charset="0"/>
                          </a:rPr>
                          <m:t>(</m:t>
                        </m:r>
                        <m:r>
                          <a:rPr lang="en-US" sz="1200" i="1">
                            <a:latin typeface="Cambria Math" panose="02040503050406030204" pitchFamily="18" charset="0"/>
                          </a:rPr>
                          <m:t>𝑥</m:t>
                        </m:r>
                      </m:e>
                    </m:d>
                    <m:r>
                      <a:rPr lang="en-US" sz="1200" b="0" i="1" smtClean="0">
                        <a:latin typeface="Cambria Math" panose="02040503050406030204" pitchFamily="18" charset="0"/>
                      </a:rPr>
                      <m:t>=1</m:t>
                    </m:r>
                  </m:oMath>
                </a14:m>
                <a:r>
                  <a:rPr lang="en-ZA" b="0" baseline="0" dirty="0"/>
                  <a:t>. </a:t>
                </a:r>
                <a:endParaRPr lang="en-ZA" dirty="0"/>
              </a:p>
              <a:p>
                <a:pPr marL="228600" lvl="0" indent="-228600">
                  <a:buFont typeface="+mj-lt"/>
                  <a:buAutoNum type="arabicPeriod"/>
                </a:pPr>
                <a:endParaRPr lang="en-ZA" b="0" dirty="0"/>
              </a:p>
              <a:p>
                <a:pPr marL="228600" lvl="0" indent="-228600">
                  <a:buFont typeface="+mj-lt"/>
                  <a:buAutoNum type="arabicPeriod"/>
                </a:pPr>
                <a:r>
                  <a:rPr lang="en-ZA" dirty="0"/>
                  <a:t>Hadamard gates are then applied to the upper register, combining the amplitudes of the different basis states and creating quantum interference determined by </a:t>
                </a:r>
                <a14:m>
                  <m:oMath xmlns:m="http://schemas.openxmlformats.org/officeDocument/2006/math">
                    <m:d>
                      <m:dPr>
                        <m:begChr m:val=""/>
                        <m:ctrlPr>
                          <a:rPr lang="en-US" sz="1200" i="1" smtClean="0">
                            <a:latin typeface="Cambria Math" panose="02040503050406030204" pitchFamily="18" charset="0"/>
                          </a:rPr>
                        </m:ctrlPr>
                      </m:dPr>
                      <m:e>
                        <m:r>
                          <a:rPr lang="en-US" sz="1200" i="1">
                            <a:latin typeface="Cambria Math" panose="02040503050406030204" pitchFamily="18" charset="0"/>
                          </a:rPr>
                          <m:t>𝑓</m:t>
                        </m:r>
                        <m:r>
                          <a:rPr lang="en-US" sz="1200">
                            <a:latin typeface="Cambria Math" panose="02040503050406030204" pitchFamily="18" charset="0"/>
                          </a:rPr>
                          <m:t>(</m:t>
                        </m:r>
                        <m:r>
                          <a:rPr lang="en-US" sz="1200" i="1">
                            <a:latin typeface="Cambria Math" panose="02040503050406030204" pitchFamily="18" charset="0"/>
                          </a:rPr>
                          <m:t>𝑥</m:t>
                        </m:r>
                      </m:e>
                    </m:d>
                  </m:oMath>
                </a14:m>
                <a:r>
                  <a:rPr lang="en-ZA" dirty="0"/>
                  <a:t>.</a:t>
                </a:r>
                <a:endParaRPr lang="en-ZA" b="0" dirty="0"/>
              </a:p>
            </p:txBody>
          </p:sp>
        </mc:Choice>
        <mc:Fallback xmlns="">
          <p:sp>
            <p:nvSpPr>
              <p:cNvPr id="3" name="Notes Placeholder 2"/>
              <p:cNvSpPr>
                <a:spLocks noGrp="1"/>
              </p:cNvSpPr>
              <p:nvPr>
                <p:ph type="body" idx="1"/>
              </p:nvPr>
            </p:nvSpPr>
            <p:spPr/>
            <p:txBody>
              <a:bodyPr/>
              <a:lstStyle/>
              <a:p>
                <a:r>
                  <a:rPr lang="en-US" dirty="0" err="1"/>
                  <a:t>Kvantno</a:t>
                </a:r>
                <a:r>
                  <a:rPr lang="en-US" dirty="0"/>
                  <a:t> </a:t>
                </a:r>
                <a:r>
                  <a:rPr lang="en-US" dirty="0" err="1"/>
                  <a:t>kolo</a:t>
                </a:r>
                <a:r>
                  <a:rPr lang="en-US" dirty="0"/>
                  <a:t> </a:t>
                </a:r>
                <a:r>
                  <a:rPr lang="en-US" dirty="0" err="1"/>
                  <a:t>za</a:t>
                </a:r>
                <a:r>
                  <a:rPr lang="en-US" dirty="0"/>
                  <a:t> </a:t>
                </a:r>
                <a:r>
                  <a:rPr lang="en-US" dirty="0" err="1"/>
                  <a:t>rešavanje</a:t>
                </a:r>
                <a:r>
                  <a:rPr lang="en-US" dirty="0"/>
                  <a:t> </a:t>
                </a:r>
                <a:r>
                  <a:rPr lang="en-US" dirty="0" err="1"/>
                  <a:t>Dojč-Džosa</a:t>
                </a:r>
                <a:r>
                  <a:rPr lang="en-US" dirty="0"/>
                  <a:t> </a:t>
                </a:r>
                <a:r>
                  <a:rPr lang="en-US" dirty="0" err="1"/>
                  <a:t>problema</a:t>
                </a:r>
                <a:r>
                  <a:rPr lang="en-US" dirty="0"/>
                  <a:t> </a:t>
                </a:r>
                <a:r>
                  <a:rPr lang="en-US" dirty="0" err="1"/>
                  <a:t>sadrži</a:t>
                </a:r>
                <a:r>
                  <a:rPr lang="en-US" dirty="0"/>
                  <a:t> </a:t>
                </a:r>
                <a:r>
                  <a:rPr lang="en-US" dirty="0" err="1"/>
                  <a:t>orakl</a:t>
                </a:r>
                <a:r>
                  <a:rPr lang="en-US" dirty="0"/>
                  <a:t> </a:t>
                </a:r>
                <a:r>
                  <a:rPr lang="en-US" dirty="0" err="1"/>
                  <a:t>koji</a:t>
                </a:r>
                <a:r>
                  <a:rPr lang="en-US" dirty="0"/>
                  <a:t> </a:t>
                </a:r>
                <a:r>
                  <a:rPr lang="en-US" dirty="0" err="1"/>
                  <a:t>obavlja</a:t>
                </a:r>
                <a:r>
                  <a:rPr lang="en-US" dirty="0"/>
                  <a:t> </a:t>
                </a:r>
                <a:r>
                  <a:rPr lang="en-US" dirty="0" err="1"/>
                  <a:t>istu</a:t>
                </a:r>
                <a:r>
                  <a:rPr lang="en-US" dirty="0"/>
                  <a:t> </a:t>
                </a:r>
                <a:r>
                  <a:rPr lang="en-US" dirty="0" err="1"/>
                  <a:t>funkciju</a:t>
                </a:r>
                <a:r>
                  <a:rPr lang="en-US" dirty="0"/>
                  <a:t> </a:t>
                </a:r>
                <a:r>
                  <a:rPr lang="en-US" dirty="0" err="1"/>
                  <a:t>kao</a:t>
                </a:r>
                <a:r>
                  <a:rPr lang="en-US" dirty="0"/>
                  <a:t> </a:t>
                </a:r>
                <a:r>
                  <a:rPr lang="en-US" dirty="0" err="1"/>
                  <a:t>i</a:t>
                </a:r>
                <a:r>
                  <a:rPr lang="en-US" dirty="0"/>
                  <a:t> </a:t>
                </a:r>
                <a:r>
                  <a:rPr lang="en-US" dirty="0" err="1"/>
                  <a:t>kod</a:t>
                </a:r>
                <a:r>
                  <a:rPr lang="en-US" dirty="0"/>
                  <a:t>  </a:t>
                </a:r>
                <a:r>
                  <a:rPr lang="en-US" dirty="0" err="1"/>
                  <a:t>Dojčovog</a:t>
                </a:r>
                <a:r>
                  <a:rPr lang="en-US" dirty="0"/>
                  <a:t> </a:t>
                </a:r>
                <a:r>
                  <a:rPr lang="en-US" dirty="0" err="1"/>
                  <a:t>algoritma</a:t>
                </a:r>
                <a:r>
                  <a:rPr lang="en-US" dirty="0"/>
                  <a:t>, </a:t>
                </a:r>
                <a:r>
                  <a:rPr lang="en-US" dirty="0" err="1"/>
                  <a:t>osim</a:t>
                </a:r>
                <a:r>
                  <a:rPr lang="en-US" dirty="0"/>
                  <a:t> </a:t>
                </a:r>
                <a:r>
                  <a:rPr lang="en-US" dirty="0" err="1"/>
                  <a:t>što</a:t>
                </a:r>
                <a:r>
                  <a:rPr lang="en-US" dirty="0"/>
                  <a:t> </a:t>
                </a:r>
                <a:r>
                  <a:rPr lang="en-US" dirty="0" err="1"/>
                  <a:t>na</a:t>
                </a:r>
                <a:r>
                  <a:rPr lang="en-US" dirty="0"/>
                  <a:t> </a:t>
                </a:r>
                <a:r>
                  <a:rPr lang="en-US" dirty="0" err="1"/>
                  <a:t>ulazu</a:t>
                </a:r>
                <a:r>
                  <a:rPr lang="en-US" dirty="0"/>
                  <a:t> prima n-</a:t>
                </a:r>
                <a:r>
                  <a:rPr lang="en-US" dirty="0" err="1"/>
                  <a:t>kubitni</a:t>
                </a:r>
                <a:r>
                  <a:rPr lang="en-US" dirty="0"/>
                  <a:t> </a:t>
                </a:r>
                <a:r>
                  <a:rPr lang="en-US" dirty="0" err="1"/>
                  <a:t>broj</a:t>
                </a:r>
                <a:r>
                  <a:rPr lang="en-US" dirty="0"/>
                  <a:t>.</a:t>
                </a:r>
              </a:p>
              <a:p>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err="1"/>
                  <a:t>Posle</a:t>
                </a:r>
                <a:r>
                  <a:rPr lang="en-US" dirty="0"/>
                  <a:t> </a:t>
                </a:r>
                <a:r>
                  <a:rPr lang="en-US" dirty="0" err="1"/>
                  <a:t>primene</a:t>
                </a:r>
                <a:r>
                  <a:rPr lang="en-US" dirty="0"/>
                  <a:t> </a:t>
                </a:r>
                <a:r>
                  <a:rPr lang="en-US" dirty="0" err="1"/>
                  <a:t>Adamarovih</a:t>
                </a:r>
                <a:r>
                  <a:rPr lang="en-US" dirty="0"/>
                  <a:t> kola, </a:t>
                </a:r>
                <a:r>
                  <a:rPr lang="en-US" dirty="0" err="1"/>
                  <a:t>na</a:t>
                </a:r>
                <a:r>
                  <a:rPr lang="en-US" dirty="0"/>
                  <a:t> </a:t>
                </a:r>
                <a:r>
                  <a:rPr lang="en-US" dirty="0" err="1"/>
                  <a:t>ulazu</a:t>
                </a:r>
                <a:r>
                  <a:rPr lang="en-US" dirty="0"/>
                  <a:t> u </a:t>
                </a:r>
                <a:r>
                  <a:rPr lang="en-US" dirty="0" err="1"/>
                  <a:t>orakl</a:t>
                </a:r>
                <a:r>
                  <a:rPr lang="en-US" dirty="0"/>
                  <a:t>, </a:t>
                </a:r>
                <a:r>
                  <a:rPr lang="en-US" dirty="0" err="1"/>
                  <a:t>stanje</a:t>
                </a:r>
                <a:r>
                  <a:rPr lang="en-US" dirty="0"/>
                  <a:t> kola </a:t>
                </a:r>
                <a:r>
                  <a:rPr lang="en-US" dirty="0" err="1"/>
                  <a:t>je</a:t>
                </a:r>
                <a:r>
                  <a:rPr lang="en-US" dirty="0"/>
                  <a:t> </a:t>
                </a:r>
                <a:r>
                  <a:rPr lang="en-US" dirty="0" err="1"/>
                  <a:t>opisano</a:t>
                </a:r>
                <a:r>
                  <a:rPr lang="en-US" dirty="0"/>
                  <a:t> </a:t>
                </a:r>
                <a:r>
                  <a:rPr lang="en-US" dirty="0" err="1"/>
                  <a:t>kao</a:t>
                </a:r>
                <a:r>
                  <a:rPr lang="en-US" dirty="0"/>
                  <a:t> </a:t>
                </a:r>
                <a:r>
                  <a:rPr lang="en-US" dirty="0" err="1"/>
                  <a:t>proizvod</a:t>
                </a:r>
                <a:r>
                  <a:rPr lang="en-US" dirty="0"/>
                  <a:t> n kubita u </a:t>
                </a:r>
                <a:r>
                  <a:rPr lang="en-US" dirty="0" err="1"/>
                  <a:t>stanju</a:t>
                </a:r>
                <a:r>
                  <a:rPr lang="en-US" dirty="0"/>
                  <a:t> |+⟩ u </a:t>
                </a:r>
                <a:r>
                  <a:rPr lang="en-US" dirty="0" err="1"/>
                  <a:t>gorenjem</a:t>
                </a:r>
                <a:r>
                  <a:rPr lang="en-US" dirty="0"/>
                  <a:t> </a:t>
                </a:r>
                <a:r>
                  <a:rPr lang="en-US" sz="1200" b="0" i="0">
                    <a:latin typeface="Cambria Math" panose="02040503050406030204" pitchFamily="18" charset="0"/>
                  </a:rPr>
                  <a:t>𝑥</a:t>
                </a:r>
                <a:r>
                  <a:rPr lang="en-US" dirty="0"/>
                  <a:t> </a:t>
                </a:r>
                <a:r>
                  <a:rPr lang="en-US" dirty="0" err="1"/>
                  <a:t>registru</a:t>
                </a:r>
                <a:r>
                  <a:rPr lang="en-US" dirty="0"/>
                  <a:t>, </a:t>
                </a:r>
                <a:r>
                  <a:rPr lang="en-US" dirty="0" err="1"/>
                  <a:t>sa</a:t>
                </a:r>
                <a:r>
                  <a:rPr lang="en-US" dirty="0"/>
                  <a:t> kubitom </a:t>
                </a:r>
                <a:r>
                  <a:rPr lang="en-US" dirty="0" err="1"/>
                  <a:t>donjeg</a:t>
                </a:r>
                <a:r>
                  <a:rPr lang="en-US" dirty="0"/>
                  <a:t> </a:t>
                </a:r>
                <a:r>
                  <a:rPr lang="en-US" dirty="0" err="1"/>
                  <a:t>registra</a:t>
                </a:r>
                <a:r>
                  <a:rPr lang="en-US" dirty="0"/>
                  <a:t> u </a:t>
                </a:r>
                <a:r>
                  <a:rPr lang="en-US" dirty="0" err="1"/>
                  <a:t>stanju</a:t>
                </a:r>
                <a:r>
                  <a:rPr lang="en-US" dirty="0"/>
                  <a:t> |–⟩.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Na </a:t>
                </a:r>
                <a:r>
                  <a:rPr lang="en-US" dirty="0" err="1"/>
                  <a:t>ovo</a:t>
                </a:r>
                <a:r>
                  <a:rPr lang="en-US" dirty="0"/>
                  <a:t> se </a:t>
                </a:r>
                <a:r>
                  <a:rPr lang="en-US" dirty="0" err="1"/>
                  <a:t>stanje</a:t>
                </a:r>
                <a:r>
                  <a:rPr lang="en-US" dirty="0"/>
                  <a:t> </a:t>
                </a:r>
                <a:r>
                  <a:rPr lang="en-US" dirty="0" err="1"/>
                  <a:t>primenjuje</a:t>
                </a:r>
                <a:r>
                  <a:rPr lang="en-US" dirty="0"/>
                  <a:t> </a:t>
                </a:r>
                <a:r>
                  <a:rPr lang="en-US" dirty="0" err="1"/>
                  <a:t>orakl</a:t>
                </a:r>
                <a:r>
                  <a:rPr lang="en-US" dirty="0"/>
                  <a:t> </a:t>
                </a:r>
                <a:r>
                  <a:rPr lang="en-US" dirty="0" err="1"/>
                  <a:t>koji</a:t>
                </a:r>
                <a:r>
                  <a:rPr lang="en-US" dirty="0"/>
                  <a:t> </a:t>
                </a:r>
                <a:r>
                  <a:rPr lang="en-US" dirty="0" err="1"/>
                  <a:t>vrši</a:t>
                </a:r>
                <a:r>
                  <a:rPr lang="en-US" dirty="0"/>
                  <a:t> </a:t>
                </a:r>
                <a:r>
                  <a:rPr lang="en-US" dirty="0" err="1"/>
                  <a:t>prenos</a:t>
                </a:r>
                <a:r>
                  <a:rPr lang="en-US" dirty="0"/>
                  <a:t> faze </a:t>
                </a:r>
                <a:r>
                  <a:rPr lang="en-US" sz="1200" i="0">
                    <a:latin typeface="Cambria Math" panose="02040503050406030204" pitchFamily="18" charset="0"/>
                  </a:rPr>
                  <a:t>(−1)^├ 𝑓(𝑥) </a:t>
                </a:r>
                <a:r>
                  <a:rPr lang="en-US" dirty="0"/>
                  <a:t> </a:t>
                </a:r>
                <a:r>
                  <a:rPr lang="en-US" dirty="0" err="1"/>
                  <a:t>na</a:t>
                </a:r>
                <a:r>
                  <a:rPr lang="en-US" dirty="0"/>
                  <a:t> kubite </a:t>
                </a:r>
                <a:r>
                  <a:rPr lang="en-US" dirty="0" err="1"/>
                  <a:t>registra</a:t>
                </a:r>
                <a:r>
                  <a:rPr lang="en-US" dirty="0"/>
                  <a:t> </a:t>
                </a:r>
                <a:r>
                  <a:rPr lang="en-US" sz="1200" b="0" i="0">
                    <a:latin typeface="Cambria Math" panose="02040503050406030204" pitchFamily="18" charset="0"/>
                  </a:rPr>
                  <a:t>𝑥</a:t>
                </a:r>
                <a:r>
                  <a:rPr lang="en-US" dirty="0"/>
                  <a:t>.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err="1"/>
                  <a:t>Pošto</a:t>
                </a:r>
                <a:r>
                  <a:rPr lang="en-US" dirty="0"/>
                  <a:t> </a:t>
                </a:r>
                <a:r>
                  <a:rPr lang="en-US" dirty="0" err="1"/>
                  <a:t>je</a:t>
                </a:r>
                <a:r>
                  <a:rPr lang="en-US" dirty="0"/>
                  <a:t> </a:t>
                </a:r>
                <a:r>
                  <a:rPr lang="en-US" dirty="0" err="1"/>
                  <a:t>donji</a:t>
                </a:r>
                <a:r>
                  <a:rPr lang="en-US" dirty="0"/>
                  <a:t> </a:t>
                </a:r>
                <a:r>
                  <a:rPr lang="en-US" dirty="0" err="1"/>
                  <a:t>registar</a:t>
                </a:r>
                <a:r>
                  <a:rPr lang="en-US" dirty="0"/>
                  <a:t> </a:t>
                </a:r>
                <a:r>
                  <a:rPr lang="en-US" dirty="0" err="1"/>
                  <a:t>odigrao</a:t>
                </a:r>
                <a:r>
                  <a:rPr lang="en-US" dirty="0"/>
                  <a:t> </a:t>
                </a:r>
                <a:r>
                  <a:rPr lang="en-US" dirty="0" err="1"/>
                  <a:t>ulogu</a:t>
                </a:r>
                <a:r>
                  <a:rPr lang="en-US" dirty="0"/>
                  <a:t> </a:t>
                </a:r>
                <a:r>
                  <a:rPr lang="en-US" dirty="0" err="1"/>
                  <a:t>prenosa</a:t>
                </a:r>
                <a:r>
                  <a:rPr lang="en-US" dirty="0"/>
                  <a:t> faze, </a:t>
                </a:r>
                <a:r>
                  <a:rPr lang="en-US" dirty="0" err="1"/>
                  <a:t>može</a:t>
                </a:r>
                <a:r>
                  <a:rPr lang="en-US" dirty="0"/>
                  <a:t> se u </a:t>
                </a:r>
                <a:r>
                  <a:rPr lang="en-US" dirty="0" err="1"/>
                  <a:t>daljoj</a:t>
                </a:r>
                <a:r>
                  <a:rPr lang="en-US" dirty="0"/>
                  <a:t> </a:t>
                </a:r>
                <a:r>
                  <a:rPr lang="en-US" dirty="0" err="1"/>
                  <a:t>analizi</a:t>
                </a:r>
                <a:r>
                  <a:rPr lang="en-US" dirty="0"/>
                  <a:t> </a:t>
                </a:r>
                <a:r>
                  <a:rPr lang="en-US" dirty="0" err="1"/>
                  <a:t>ignorisati</a:t>
                </a:r>
                <a:r>
                  <a:rPr lang="en-US" dirty="0"/>
                  <a:t>. Na </a:t>
                </a:r>
                <a:r>
                  <a:rPr lang="en-US" dirty="0" err="1"/>
                  <a:t>gornji</a:t>
                </a:r>
                <a:r>
                  <a:rPr lang="en-US" dirty="0"/>
                  <a:t>,</a:t>
                </a:r>
                <a:r>
                  <a:rPr lang="en-US" baseline="0" dirty="0"/>
                  <a:t> </a:t>
                </a:r>
                <a:r>
                  <a:rPr lang="en-US" sz="1200" b="0" i="0">
                    <a:latin typeface="Cambria Math" panose="02040503050406030204" pitchFamily="18" charset="0"/>
                  </a:rPr>
                  <a:t>𝑥</a:t>
                </a:r>
                <a:r>
                  <a:rPr lang="en-US" dirty="0"/>
                  <a:t> </a:t>
                </a:r>
                <a:r>
                  <a:rPr lang="en-US" dirty="0" err="1"/>
                  <a:t>registar</a:t>
                </a:r>
                <a:r>
                  <a:rPr lang="en-US" dirty="0"/>
                  <a:t> se </a:t>
                </a:r>
                <a:r>
                  <a:rPr lang="en-US" dirty="0" err="1"/>
                  <a:t>sada</a:t>
                </a:r>
                <a:r>
                  <a:rPr lang="en-US" dirty="0"/>
                  <a:t> </a:t>
                </a:r>
                <a:r>
                  <a:rPr lang="en-US" dirty="0" err="1"/>
                  <a:t>primenjuju</a:t>
                </a:r>
                <a:r>
                  <a:rPr lang="en-US" dirty="0"/>
                  <a:t> </a:t>
                </a:r>
                <a:r>
                  <a:rPr lang="en-US" dirty="0" err="1"/>
                  <a:t>Adamarova</a:t>
                </a:r>
                <a:r>
                  <a:rPr lang="en-US" dirty="0"/>
                  <a:t> kola </a:t>
                </a:r>
                <a:r>
                  <a:rPr lang="en-US" dirty="0" err="1"/>
                  <a:t>koja</a:t>
                </a:r>
                <a:r>
                  <a:rPr lang="en-US" dirty="0"/>
                  <a:t> </a:t>
                </a:r>
                <a:r>
                  <a:rPr lang="en-US" dirty="0" err="1"/>
                  <a:t>izazivaju</a:t>
                </a:r>
                <a:r>
                  <a:rPr lang="en-US" baseline="0" dirty="0"/>
                  <a:t> </a:t>
                </a:r>
                <a:r>
                  <a:rPr lang="en-US" dirty="0"/>
                  <a:t> </a:t>
                </a:r>
                <a:r>
                  <a:rPr lang="en-US" dirty="0" err="1"/>
                  <a:t>kvantnu</a:t>
                </a:r>
                <a:r>
                  <a:rPr lang="en-US" dirty="0"/>
                  <a:t> </a:t>
                </a:r>
                <a:r>
                  <a:rPr lang="en-US" dirty="0" err="1"/>
                  <a:t>interferenciju</a:t>
                </a:r>
                <a:r>
                  <a:rPr lang="en-US" dirty="0"/>
                  <a:t>.</a:t>
                </a:r>
              </a:p>
              <a:p>
                <a:pPr marL="171450" indent="-171450">
                  <a:buFont typeface="Arial" panose="020B0604020202020204" pitchFamily="34" charset="0"/>
                  <a:buChar cha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19</a:t>
            </a:fld>
            <a:endParaRPr lang="en-US"/>
          </a:p>
        </p:txBody>
      </p:sp>
    </p:spTree>
    <p:extLst>
      <p:ext uri="{BB962C8B-B14F-4D97-AF65-F5344CB8AC3E}">
        <p14:creationId xmlns:p14="http://schemas.microsoft.com/office/powerpoint/2010/main" val="40809723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expression for the upper register describes the interference pattern. Each basis state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m:t>
                        </m:r>
                        <m:r>
                          <a:rPr lang="sr-Latn-RS" sz="1200" b="0" i="1" smtClean="0">
                            <a:solidFill>
                              <a:schemeClr val="tx1"/>
                            </a:solidFill>
                            <a:latin typeface="Cambria Math" panose="02040503050406030204" pitchFamily="18" charset="0"/>
                          </a:rPr>
                          <m:t>𝑘</m:t>
                        </m:r>
                      </m:e>
                    </m:d>
                  </m:oMath>
                </a14:m>
                <a:r>
                  <a:rPr lang="en-ZA" dirty="0"/>
                  <a:t> receives contributions with either a plus or minus sign, determined by the function value </a:t>
                </a:r>
                <a14:m>
                  <m:oMath xmlns:m="http://schemas.openxmlformats.org/officeDocument/2006/math">
                    <m:d>
                      <m:dPr>
                        <m:begChr m:val=""/>
                        <m:ctrlPr>
                          <a:rPr lang="en-US" sz="1200" i="1" smtClean="0">
                            <a:latin typeface="Cambria Math" panose="02040503050406030204" pitchFamily="18" charset="0"/>
                          </a:rPr>
                        </m:ctrlPr>
                      </m:dPr>
                      <m:e>
                        <m:r>
                          <a:rPr lang="en-US" sz="1200" i="1">
                            <a:latin typeface="Cambria Math" panose="02040503050406030204" pitchFamily="18" charset="0"/>
                          </a:rPr>
                          <m:t>𝑓</m:t>
                        </m:r>
                        <m:r>
                          <a:rPr lang="en-US" sz="1200">
                            <a:latin typeface="Cambria Math" panose="02040503050406030204" pitchFamily="18" charset="0"/>
                          </a:rPr>
                          <m:t>(</m:t>
                        </m:r>
                        <m:r>
                          <a:rPr lang="en-US" sz="1200" i="1">
                            <a:latin typeface="Cambria Math" panose="02040503050406030204" pitchFamily="18" charset="0"/>
                          </a:rPr>
                          <m:t>𝑥</m:t>
                        </m:r>
                      </m:e>
                    </m:d>
                  </m:oMath>
                </a14:m>
                <a:r>
                  <a:rPr lang="en-ZA" dirty="0"/>
                  <a:t> and the inner product </a:t>
                </a:r>
                <a14:m>
                  <m:oMath xmlns:m="http://schemas.openxmlformats.org/officeDocument/2006/math">
                    <m:r>
                      <a:rPr lang="sr-Latn-RS" sz="1200" i="1" smtClean="0">
                        <a:latin typeface="Cambria Math" panose="02040503050406030204" pitchFamily="18" charset="0"/>
                      </a:rPr>
                      <m:t>𝑥</m:t>
                    </m:r>
                    <m:r>
                      <a:rPr lang="sr-Latn-RS" sz="1200" i="1">
                        <a:latin typeface="Cambria Math" panose="02040503050406030204" pitchFamily="18" charset="0"/>
                        <a:ea typeface="Cambria Math" panose="02040503050406030204" pitchFamily="18" charset="0"/>
                      </a:rPr>
                      <m:t>∙</m:t>
                    </m:r>
                    <m:r>
                      <a:rPr lang="sr-Latn-RS" sz="1200" i="1">
                        <a:latin typeface="Cambria Math" panose="02040503050406030204" pitchFamily="18" charset="0"/>
                        <a:ea typeface="Cambria Math" panose="02040503050406030204" pitchFamily="18" charset="0"/>
                      </a:rPr>
                      <m:t>𝑘</m:t>
                    </m:r>
                  </m:oMath>
                </a14:m>
                <a:r>
                  <a:rPr lang="en-ZA" dirty="0"/>
                  <a:t>, which comes from the action of the Hadamard gates. The way these contributions reinforce or cancel each other allows the algorithm to distinguish between constant and balanced functions.</a:t>
                </a:r>
                <a:r>
                  <a:rPr lang="en-ZA" b="0" dirty="0"/>
                  <a:t> </a:t>
                </a:r>
                <a:r>
                  <a:rPr lang="en-ZA" dirty="0"/>
                  <a:t>Since a constant function should produce the output ∣0⋯0⟩, the next step is to determine the probability of measuring this state.</a:t>
                </a:r>
              </a:p>
              <a:p>
                <a:pPr marL="0" indent="0" algn="just">
                  <a:buFont typeface="+mj-lt"/>
                  <a:buNone/>
                </a:pPr>
                <a:endParaRPr lang="en-ZA" b="0" dirty="0"/>
              </a:p>
              <a:p>
                <a:pPr marL="228600" lvl="0" indent="-228600" algn="just">
                  <a:buFont typeface="Arial" panose="020B0604020202020204" pitchFamily="34" charset="0"/>
                  <a:buChar char="•"/>
                </a:pPr>
                <a:r>
                  <a:rPr lang="en-ZA" dirty="0"/>
                  <a:t>For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𝑘</m:t>
                        </m:r>
                      </m:e>
                    </m:d>
                    <m:r>
                      <a:rPr lang="en-US" sz="1200" b="0" i="1" smtClean="0">
                        <a:solidFill>
                          <a:schemeClr val="tx1"/>
                        </a:solidFill>
                        <a:latin typeface="Cambria Math" panose="02040503050406030204" pitchFamily="18" charset="0"/>
                      </a:rPr>
                      <m:t>=</m:t>
                    </m:r>
                    <m:d>
                      <m:dPr>
                        <m:begChr m:val=""/>
                        <m:endChr m:val="⟩"/>
                        <m:ctrlPr>
                          <a:rPr lang="en-US" sz="1200" i="1" smtClean="0">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0</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rPr>
                          <m:t>0</m:t>
                        </m:r>
                      </m:e>
                    </m:d>
                  </m:oMath>
                </a14:m>
                <a:r>
                  <a:rPr lang="en-ZA" dirty="0"/>
                  <a:t>, the inner product </a:t>
                </a:r>
                <a14:m>
                  <m:oMath xmlns:m="http://schemas.openxmlformats.org/officeDocument/2006/math">
                    <m:r>
                      <a:rPr lang="sr-Latn-RS" sz="1200" i="1" smtClean="0">
                        <a:latin typeface="Cambria Math" panose="02040503050406030204" pitchFamily="18" charset="0"/>
                      </a:rPr>
                      <m:t>𝑥</m:t>
                    </m:r>
                    <m:r>
                      <a:rPr lang="sr-Latn-RS" sz="1200" i="1">
                        <a:latin typeface="Cambria Math" panose="02040503050406030204" pitchFamily="18" charset="0"/>
                        <a:ea typeface="Cambria Math" panose="02040503050406030204" pitchFamily="18" charset="0"/>
                      </a:rPr>
                      <m:t>∙</m:t>
                    </m:r>
                    <m:r>
                      <a:rPr lang="sr-Latn-RS" sz="1200" i="1">
                        <a:latin typeface="Cambria Math" panose="02040503050406030204" pitchFamily="18" charset="0"/>
                        <a:ea typeface="Cambria Math" panose="02040503050406030204" pitchFamily="18" charset="0"/>
                      </a:rPr>
                      <m:t>𝑘</m:t>
                    </m:r>
                    <m:r>
                      <a:rPr lang="en-US" sz="1200" b="0" i="1" smtClean="0">
                        <a:latin typeface="Cambria Math" panose="02040503050406030204" pitchFamily="18" charset="0"/>
                        <a:ea typeface="Cambria Math" panose="02040503050406030204" pitchFamily="18" charset="0"/>
                      </a:rPr>
                      <m:t>=</m:t>
                    </m:r>
                    <m:r>
                      <a:rPr lang="sr-Latn-RS" sz="1200" i="1" smtClean="0">
                        <a:latin typeface="Cambria Math" panose="02040503050406030204" pitchFamily="18" charset="0"/>
                      </a:rPr>
                      <m:t>𝑥</m:t>
                    </m:r>
                    <m:r>
                      <a:rPr lang="sr-Latn-RS" sz="1200" i="1">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0</m:t>
                    </m:r>
                  </m:oMath>
                </a14:m>
                <a:r>
                  <a:rPr lang="en-ZA" dirty="0"/>
                  <a:t> is always 0</a:t>
                </a:r>
                <a:r>
                  <a:rPr lang="en-ZA" dirty="0">
                    <a:effectLst/>
                  </a:rPr>
                  <a:t>.</a:t>
                </a:r>
              </a:p>
              <a:p>
                <a:pPr marL="228600" lvl="0" indent="-228600" algn="just">
                  <a:buFont typeface="Arial" panose="020B0604020202020204" pitchFamily="34" charset="0"/>
                  <a:buChar char="•"/>
                </a:pPr>
                <a:r>
                  <a:rPr lang="en-ZA" dirty="0"/>
                  <a:t>The amplitude of</a:t>
                </a:r>
                <a:r>
                  <a:rPr lang="en-ZA" dirty="0">
                    <a:effectLst/>
                  </a:rPr>
                  <a:t> </a:t>
                </a:r>
                <a14:m>
                  <m:oMath xmlns:m="http://schemas.openxmlformats.org/officeDocument/2006/math">
                    <m:d>
                      <m:dPr>
                        <m:begChr m:val="|"/>
                        <m:endChr m:val="⟩"/>
                        <m:ctrlPr>
                          <a:rPr lang="en-ZA" sz="1200" i="1" kern="1200" smtClean="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panose="02040503050406030204" pitchFamily="18" charset="0"/>
                            <a:ea typeface="+mn-ea"/>
                            <a:cs typeface="+mn-cs"/>
                          </a:rPr>
                          <m:t>0⋯0</m:t>
                        </m:r>
                      </m:e>
                    </m:d>
                  </m:oMath>
                </a14:m>
                <a:r>
                  <a:rPr lang="en-ZA" dirty="0">
                    <a:effectLst/>
                  </a:rPr>
                  <a:t> </a:t>
                </a:r>
                <a:r>
                  <a:rPr lang="en-ZA" dirty="0"/>
                  <a:t>is determined by the sum of the phase factors</a:t>
                </a:r>
                <a:r>
                  <a:rPr lang="en-ZA" dirty="0">
                    <a:effectLst/>
                  </a:rPr>
                  <a:t>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r>
                              <a:rPr lang="en-US" sz="1200">
                                <a:latin typeface="Cambria Math" panose="02040503050406030204" pitchFamily="18" charset="0"/>
                              </a:rPr>
                              <m:t>−1</m:t>
                            </m:r>
                          </m:e>
                        </m:d>
                      </m:e>
                      <m:sup>
                        <m:r>
                          <a:rPr lang="en-US" sz="1200" b="0" i="1" smtClean="0">
                            <a:latin typeface="Cambria Math" panose="02040503050406030204" pitchFamily="18" charset="0"/>
                          </a:rPr>
                          <m:t>𝑓</m:t>
                        </m:r>
                        <m:r>
                          <a:rPr lang="en-US" sz="1200" b="0" i="1" smtClean="0">
                            <a:latin typeface="Cambria Math" panose="02040503050406030204" pitchFamily="18" charset="0"/>
                          </a:rPr>
                          <m:t>(</m:t>
                        </m:r>
                        <m:r>
                          <a:rPr lang="sr-Latn-RS" sz="1200" i="1">
                            <a:latin typeface="Cambria Math" panose="02040503050406030204" pitchFamily="18" charset="0"/>
                          </a:rPr>
                          <m:t>𝑥</m:t>
                        </m:r>
                        <m:r>
                          <a:rPr lang="en-US" sz="1200" b="0" i="1" smtClean="0">
                            <a:latin typeface="Cambria Math" panose="02040503050406030204" pitchFamily="18" charset="0"/>
                          </a:rPr>
                          <m:t>)</m:t>
                        </m:r>
                        <m:r>
                          <a:rPr lang="sr-Latn-RS" sz="1200" i="1" smtClean="0">
                            <a:latin typeface="Cambria Math" panose="02040503050406030204" pitchFamily="18" charset="0"/>
                            <a:ea typeface="Cambria Math" panose="02040503050406030204" pitchFamily="18" charset="0"/>
                          </a:rPr>
                          <m:t> </m:t>
                        </m:r>
                      </m:sup>
                    </m:sSup>
                  </m:oMath>
                </a14:m>
                <a:r>
                  <a:rPr lang="en-ZA" dirty="0">
                    <a:effectLst/>
                  </a:rPr>
                  <a:t>.</a:t>
                </a:r>
              </a:p>
              <a:p>
                <a:pPr marL="228600" lvl="0" indent="-228600" algn="l">
                  <a:buFont typeface="Arial" panose="020B0604020202020204" pitchFamily="34" charset="0"/>
                  <a:buChar char="•"/>
                </a:pPr>
                <a:r>
                  <a:rPr lang="en-ZA" dirty="0"/>
                  <a:t>If</a:t>
                </a:r>
                <a:r>
                  <a:rPr lang="en-ZA" b="0" dirty="0"/>
                  <a:t> </a:t>
                </a:r>
                <a14:m>
                  <m:oMath xmlns:m="http://schemas.openxmlformats.org/officeDocument/2006/math">
                    <m:r>
                      <a:rPr lang="sr-Latn-RS" sz="1200" i="1" kern="1200" smtClean="0">
                        <a:solidFill>
                          <a:schemeClr val="tx1"/>
                        </a:solidFill>
                        <a:effectLst/>
                        <a:latin typeface="Cambria Math" panose="02040503050406030204" pitchFamily="18" charset="0"/>
                        <a:ea typeface="+mn-ea"/>
                        <a:cs typeface="+mn-cs"/>
                      </a:rPr>
                      <m:t>𝑓</m:t>
                    </m:r>
                    <m:d>
                      <m:dPr>
                        <m:ctrlPr>
                          <a:rPr lang="en-ZA"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panose="02040503050406030204" pitchFamily="18" charset="0"/>
                            <a:ea typeface="+mn-ea"/>
                            <a:cs typeface="+mn-cs"/>
                          </a:rPr>
                          <m:t>𝑥</m:t>
                        </m:r>
                      </m:e>
                    </m:d>
                  </m:oMath>
                </a14:m>
                <a:r>
                  <a:rPr lang="en-ZA" dirty="0"/>
                  <a:t> it is either always 0 or always 1. Therefore, all terms in the sum are either +1 or all are −1, giving </a:t>
                </a:r>
                <a:br>
                  <a:rPr lang="en-ZA" dirty="0"/>
                </a:br>
                <a14:m>
                  <m:oMath xmlns:m="http://schemas.openxmlformats.org/officeDocument/2006/math">
                    <m:sSup>
                      <m:sSupPr>
                        <m:ctrlPr>
                          <a:rPr lang="sr-Latn-RS" sz="1200" i="1" smtClean="0">
                            <a:latin typeface="Cambria Math" panose="02040503050406030204" pitchFamily="18" charset="0"/>
                          </a:rPr>
                        </m:ctrlPr>
                      </m:sSupPr>
                      <m:e>
                        <m:nary>
                          <m:naryPr>
                            <m:chr m:val="∑"/>
                            <m:supHide m:val="on"/>
                            <m:ctrlPr>
                              <a:rPr lang="sr-Latn-RS" sz="1200" i="1" smtClean="0">
                                <a:latin typeface="Cambria Math" panose="02040503050406030204" pitchFamily="18" charset="0"/>
                              </a:rPr>
                            </m:ctrlPr>
                          </m:naryPr>
                          <m:sub>
                            <m:r>
                              <m:rPr>
                                <m:brk m:alnAt="7"/>
                              </m:rPr>
                              <a:rPr lang="en-US" sz="1200" b="0" i="1" smtClean="0">
                                <a:latin typeface="Cambria Math" panose="02040503050406030204" pitchFamily="18" charset="0"/>
                              </a:rPr>
                              <m:t>𝑥</m:t>
                            </m:r>
                          </m:sub>
                          <m:sup/>
                          <m:e>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r>
                                      <a:rPr lang="en-US" sz="1200">
                                        <a:latin typeface="Cambria Math" panose="02040503050406030204" pitchFamily="18" charset="0"/>
                                      </a:rPr>
                                      <m:t>−1</m:t>
                                    </m:r>
                                  </m:e>
                                </m:d>
                              </m:e>
                              <m:sup>
                                <m:r>
                                  <a:rPr lang="en-US" sz="1200" b="0" i="1" smtClean="0">
                                    <a:latin typeface="Cambria Math" panose="02040503050406030204" pitchFamily="18" charset="0"/>
                                  </a:rPr>
                                  <m:t>𝑓</m:t>
                                </m:r>
                                <m:r>
                                  <a:rPr lang="en-US" sz="1200" b="0" i="1" smtClean="0">
                                    <a:latin typeface="Cambria Math" panose="02040503050406030204" pitchFamily="18" charset="0"/>
                                  </a:rPr>
                                  <m:t>(</m:t>
                                </m:r>
                                <m:r>
                                  <a:rPr lang="sr-Latn-RS" sz="1200" i="1">
                                    <a:latin typeface="Cambria Math" panose="02040503050406030204" pitchFamily="18" charset="0"/>
                                  </a:rPr>
                                  <m:t>𝑥</m:t>
                                </m:r>
                                <m:r>
                                  <a:rPr lang="en-US" sz="1200" b="0" i="1" smtClean="0">
                                    <a:latin typeface="Cambria Math" panose="02040503050406030204" pitchFamily="18" charset="0"/>
                                  </a:rPr>
                                  <m:t>)</m:t>
                                </m:r>
                                <m:r>
                                  <a:rPr lang="sr-Latn-RS" sz="1200" i="1" smtClean="0">
                                    <a:latin typeface="Cambria Math" panose="02040503050406030204" pitchFamily="18" charset="0"/>
                                    <a:ea typeface="Cambria Math" panose="02040503050406030204" pitchFamily="18" charset="0"/>
                                  </a:rPr>
                                  <m:t> </m:t>
                                </m:r>
                              </m:sup>
                            </m:sSup>
                            <m:r>
                              <a:rPr lang="en-US" sz="1200" b="0" i="1" smtClean="0">
                                <a:latin typeface="Cambria Math" panose="02040503050406030204" pitchFamily="18" charset="0"/>
                                <a:ea typeface="Cambria Math" panose="02040503050406030204" pitchFamily="18" charset="0"/>
                              </a:rPr>
                              <m:t>=</m:t>
                            </m:r>
                          </m:e>
                        </m:nary>
                        <m:r>
                          <a:rPr lang="sr-Latn-RS" sz="120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rPr>
                          <m:t>2</m:t>
                        </m:r>
                      </m:e>
                      <m:sup>
                        <m:r>
                          <a:rPr lang="en-US" sz="1200" i="1">
                            <a:latin typeface="Cambria Math" panose="02040503050406030204" pitchFamily="18" charset="0"/>
                          </a:rPr>
                          <m:t>𝑛</m:t>
                        </m:r>
                      </m:sup>
                    </m:sSup>
                  </m:oMath>
                </a14:m>
                <a:endParaRPr lang="en-ZA" dirty="0"/>
              </a:p>
              <a:p>
                <a:pPr marL="228600" lvl="0" indent="-228600" algn="just">
                  <a:buFont typeface="Arial" panose="020B0604020202020204" pitchFamily="34" charset="0"/>
                  <a:buChar char="•"/>
                </a:pPr>
                <a:r>
                  <a:rPr lang="en-ZA" dirty="0"/>
                  <a:t>After normalization, the amplitude is </a:t>
                </a:r>
                <a14:m>
                  <m:oMath xmlns:m="http://schemas.openxmlformats.org/officeDocument/2006/math">
                    <m:r>
                      <a:rPr lang="sr-Latn-R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1</m:t>
                    </m:r>
                  </m:oMath>
                </a14:m>
                <a:r>
                  <a:rPr lang="en-ZA" dirty="0"/>
                  <a:t>, and its squared magnitude gives  p(0⋯0)=1. </a:t>
                </a:r>
                <a:r>
                  <a:rPr lang="en-ZA" b="1" baseline="0" dirty="0"/>
                  <a:t> </a:t>
                </a:r>
                <a:r>
                  <a:rPr lang="en-ZA" b="0" dirty="0"/>
                  <a:t>So, for a constant function, the upper register is measured as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0</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rPr>
                          <m:t>0</m:t>
                        </m:r>
                      </m:e>
                    </m:d>
                  </m:oMath>
                </a14:m>
                <a:r>
                  <a:rPr lang="en-ZA" b="0" dirty="0"/>
                  <a:t> with certainty.</a:t>
                </a:r>
                <a:endParaRPr lang="en-ZA" baseline="0" dirty="0"/>
              </a:p>
            </p:txBody>
          </p:sp>
        </mc:Choice>
        <mc:Fallback xmlns="">
          <p:sp>
            <p:nvSpPr>
              <p:cNvPr id="3" name="Notes Placeholder 2"/>
              <p:cNvSpPr>
                <a:spLocks noGrp="1"/>
              </p:cNvSpPr>
              <p:nvPr>
                <p:ph type="body" idx="1"/>
              </p:nvPr>
            </p:nvSpPr>
            <p:spPr/>
            <p:txBody>
              <a:bodyPr/>
              <a:lstStyle/>
              <a:p>
                <a:r>
                  <a:rPr lang="en-US" dirty="0"/>
                  <a:t>Izraz </a:t>
                </a:r>
                <a:r>
                  <a:rPr lang="en-US" dirty="0" err="1"/>
                  <a:t>prenesen</a:t>
                </a:r>
                <a:r>
                  <a:rPr lang="en-US" dirty="0"/>
                  <a:t> </a:t>
                </a:r>
                <a:r>
                  <a:rPr lang="en-US" dirty="0" err="1"/>
                  <a:t>sa</a:t>
                </a:r>
                <a:r>
                  <a:rPr lang="en-US" dirty="0"/>
                  <a:t> </a:t>
                </a:r>
                <a:r>
                  <a:rPr lang="en-US" dirty="0" err="1"/>
                  <a:t>prethodnog</a:t>
                </a:r>
                <a:r>
                  <a:rPr lang="en-US" dirty="0"/>
                  <a:t> </a:t>
                </a:r>
                <a:r>
                  <a:rPr lang="en-US" dirty="0" err="1"/>
                  <a:t>slajda</a:t>
                </a:r>
                <a:r>
                  <a:rPr lang="en-US" dirty="0"/>
                  <a:t>, </a:t>
                </a:r>
                <a:r>
                  <a:rPr lang="en-US" dirty="0" err="1"/>
                  <a:t>prikazuje</a:t>
                </a:r>
                <a:r>
                  <a:rPr lang="en-US" dirty="0"/>
                  <a:t> </a:t>
                </a:r>
                <a:r>
                  <a:rPr lang="en-US" dirty="0" err="1"/>
                  <a:t>stanje</a:t>
                </a:r>
                <a:r>
                  <a:rPr lang="en-US" dirty="0"/>
                  <a:t>  </a:t>
                </a:r>
                <a:r>
                  <a:rPr lang="en-US" dirty="0" err="1"/>
                  <a:t>gornjeg</a:t>
                </a:r>
                <a:r>
                  <a:rPr lang="en-US" dirty="0"/>
                  <a:t> </a:t>
                </a:r>
                <a:r>
                  <a:rPr lang="en-US" dirty="0" err="1"/>
                  <a:t>registra</a:t>
                </a:r>
                <a:r>
                  <a:rPr lang="en-US" dirty="0"/>
                  <a:t> pre </a:t>
                </a:r>
                <a:r>
                  <a:rPr lang="en-US" dirty="0" err="1"/>
                  <a:t>merenja</a:t>
                </a:r>
                <a:r>
                  <a:rPr lang="en-US" dirty="0"/>
                  <a:t>. </a:t>
                </a:r>
                <a:r>
                  <a:rPr lang="en-US" dirty="0" err="1"/>
                  <a:t>Izvlačenjem</a:t>
                </a:r>
                <a:r>
                  <a:rPr lang="en-US" dirty="0"/>
                  <a:t> </a:t>
                </a:r>
                <a:r>
                  <a:rPr lang="en-US" dirty="0" err="1"/>
                  <a:t>suma</a:t>
                </a:r>
                <a:r>
                  <a:rPr lang="en-US" dirty="0"/>
                  <a:t> </a:t>
                </a:r>
                <a:r>
                  <a:rPr lang="en-US" dirty="0" err="1"/>
                  <a:t>na</a:t>
                </a:r>
                <a:r>
                  <a:rPr lang="en-US" dirty="0"/>
                  <a:t> </a:t>
                </a:r>
                <a:r>
                  <a:rPr lang="en-US" dirty="0" err="1"/>
                  <a:t>levu</a:t>
                </a:r>
                <a:r>
                  <a:rPr lang="en-US" dirty="0"/>
                  <a:t> </a:t>
                </a:r>
                <a:r>
                  <a:rPr lang="en-US" dirty="0" err="1"/>
                  <a:t>stranu</a:t>
                </a:r>
                <a:r>
                  <a:rPr lang="en-US" dirty="0"/>
                  <a:t>, </a:t>
                </a:r>
                <a:r>
                  <a:rPr lang="en-US" dirty="0" err="1"/>
                  <a:t>dobija</a:t>
                </a:r>
                <a:r>
                  <a:rPr lang="en-US" dirty="0"/>
                  <a:t> se </a:t>
                </a:r>
                <a:r>
                  <a:rPr lang="en-US" dirty="0" err="1"/>
                  <a:t>izraz</a:t>
                </a:r>
                <a:r>
                  <a:rPr lang="en-US" dirty="0"/>
                  <a:t> </a:t>
                </a:r>
                <a:r>
                  <a:rPr lang="en-US" dirty="0" err="1"/>
                  <a:t>iz</a:t>
                </a:r>
                <a:r>
                  <a:rPr lang="en-US" dirty="0"/>
                  <a:t> </a:t>
                </a:r>
                <a:r>
                  <a:rPr lang="en-US" dirty="0" err="1"/>
                  <a:t>koga</a:t>
                </a:r>
                <a:r>
                  <a:rPr lang="en-US" dirty="0"/>
                  <a:t> se </a:t>
                </a:r>
                <a:r>
                  <a:rPr lang="en-US" dirty="0" err="1"/>
                  <a:t>može</a:t>
                </a:r>
                <a:r>
                  <a:rPr lang="en-US" dirty="0"/>
                  <a:t> </a:t>
                </a:r>
                <a:r>
                  <a:rPr lang="en-US" dirty="0" err="1"/>
                  <a:t>izračunati</a:t>
                </a:r>
                <a:r>
                  <a:rPr lang="en-US" dirty="0"/>
                  <a:t> </a:t>
                </a:r>
                <a:r>
                  <a:rPr lang="en-US" dirty="0" err="1"/>
                  <a:t>verovatnoću</a:t>
                </a:r>
                <a:r>
                  <a:rPr lang="en-US" dirty="0"/>
                  <a:t> </a:t>
                </a:r>
                <a:r>
                  <a:rPr lang="en-US" dirty="0" err="1"/>
                  <a:t>rezultata</a:t>
                </a:r>
                <a:r>
                  <a:rPr lang="en-US" dirty="0"/>
                  <a:t> </a:t>
                </a:r>
                <a:r>
                  <a:rPr lang="en-US" dirty="0" err="1"/>
                  <a:t>merenja</a:t>
                </a:r>
                <a:r>
                  <a:rPr lang="en-US" dirty="0"/>
                  <a:t> kubita. </a:t>
                </a:r>
              </a:p>
              <a:p>
                <a:endParaRPr lang="en-US" dirty="0"/>
              </a:p>
              <a:p>
                <a:pPr marL="171450" indent="-171450">
                  <a:buFont typeface="Arial" panose="020B0604020202020204" pitchFamily="34" charset="0"/>
                  <a:buChar char="•"/>
                </a:pPr>
                <a:r>
                  <a:rPr lang="en-US" dirty="0" err="1"/>
                  <a:t>Za</a:t>
                </a:r>
                <a:r>
                  <a:rPr lang="en-US" dirty="0"/>
                  <a:t> </a:t>
                </a:r>
                <a:r>
                  <a:rPr lang="en-US" dirty="0" err="1"/>
                  <a:t>konstantnu</a:t>
                </a:r>
                <a:r>
                  <a:rPr lang="en-US" dirty="0"/>
                  <a:t> </a:t>
                </a:r>
                <a:r>
                  <a:rPr lang="en-US" dirty="0" err="1"/>
                  <a:t>funkciju</a:t>
                </a:r>
                <a:r>
                  <a:rPr lang="en-US" dirty="0"/>
                  <a:t>  </a:t>
                </a:r>
                <a:r>
                  <a:rPr lang="en-US" dirty="0" err="1"/>
                  <a:t>faktor</a:t>
                </a:r>
                <a:r>
                  <a:rPr lang="en-US" dirty="0"/>
                  <a:t> </a:t>
                </a:r>
                <a:r>
                  <a:rPr lang="en-US" sz="1200" i="0">
                    <a:latin typeface="Cambria Math" panose="02040503050406030204" pitchFamily="18" charset="0"/>
                  </a:rPr>
                  <a:t>(−1)^├ 𝑓(𝑥) </a:t>
                </a:r>
                <a:r>
                  <a:rPr lang="en-US" dirty="0"/>
                  <a:t> se </a:t>
                </a:r>
                <a:r>
                  <a:rPr lang="en-US" dirty="0" err="1"/>
                  <a:t>može</a:t>
                </a:r>
                <a:r>
                  <a:rPr lang="en-US" dirty="0"/>
                  <a:t> </a:t>
                </a:r>
                <a:r>
                  <a:rPr lang="en-US" dirty="0" err="1"/>
                  <a:t>izvući</a:t>
                </a:r>
                <a:r>
                  <a:rPr lang="en-US" dirty="0"/>
                  <a:t> van </a:t>
                </a:r>
                <a:r>
                  <a:rPr lang="en-US" dirty="0" err="1"/>
                  <a:t>sume</a:t>
                </a:r>
                <a:r>
                  <a:rPr lang="en-US" dirty="0"/>
                  <a:t> </a:t>
                </a:r>
                <a:r>
                  <a:rPr lang="en-US" dirty="0" err="1"/>
                  <a:t>pošto</a:t>
                </a:r>
                <a:r>
                  <a:rPr lang="en-US" dirty="0"/>
                  <a:t> </a:t>
                </a:r>
                <a:r>
                  <a:rPr lang="en-US" sz="1200" i="0">
                    <a:latin typeface="Cambria Math" panose="02040503050406030204" pitchFamily="18" charset="0"/>
                  </a:rPr>
                  <a:t>𝑥</a:t>
                </a:r>
                <a:r>
                  <a:rPr lang="en-US" dirty="0"/>
                  <a:t> ne </a:t>
                </a:r>
                <a:r>
                  <a:rPr lang="en-US" dirty="0" err="1"/>
                  <a:t>utiče</a:t>
                </a:r>
                <a:r>
                  <a:rPr lang="en-US" dirty="0"/>
                  <a:t> </a:t>
                </a:r>
                <a:r>
                  <a:rPr lang="en-US" dirty="0" err="1"/>
                  <a:t>na</a:t>
                </a:r>
                <a:r>
                  <a:rPr lang="en-US" dirty="0"/>
                  <a:t> </a:t>
                </a:r>
                <a:r>
                  <a:rPr lang="en-US" dirty="0" err="1"/>
                  <a:t>izlaz</a:t>
                </a:r>
                <a:r>
                  <a:rPr lang="en-US" dirty="0"/>
                  <a:t>.  </a:t>
                </a:r>
                <a:r>
                  <a:rPr lang="en-US" dirty="0" err="1"/>
                  <a:t>Ovaj</a:t>
                </a:r>
                <a:r>
                  <a:rPr lang="en-US" dirty="0"/>
                  <a:t> </a:t>
                </a:r>
                <a:r>
                  <a:rPr lang="en-US" dirty="0" err="1"/>
                  <a:t>faktor</a:t>
                </a:r>
                <a:r>
                  <a:rPr lang="en-US" dirty="0"/>
                  <a:t> se </a:t>
                </a:r>
                <a:r>
                  <a:rPr lang="en-US" dirty="0" err="1"/>
                  <a:t>može</a:t>
                </a:r>
                <a:r>
                  <a:rPr lang="en-US" dirty="0"/>
                  <a:t> </a:t>
                </a:r>
                <a:r>
                  <a:rPr lang="en-US" dirty="0" err="1"/>
                  <a:t>smatrati</a:t>
                </a:r>
                <a:r>
                  <a:rPr lang="en-US" dirty="0"/>
                  <a:t> </a:t>
                </a:r>
                <a:r>
                  <a:rPr lang="en-US" dirty="0" err="1"/>
                  <a:t>globalnom</a:t>
                </a:r>
                <a:r>
                  <a:rPr lang="en-US" dirty="0"/>
                  <a:t> </a:t>
                </a:r>
                <a:r>
                  <a:rPr lang="en-US" dirty="0" err="1"/>
                  <a:t>fazom</a:t>
                </a:r>
                <a:r>
                  <a:rPr lang="en-US" dirty="0"/>
                  <a:t>  </a:t>
                </a:r>
                <a:r>
                  <a:rPr lang="en-US" dirty="0" err="1"/>
                  <a:t>koja</a:t>
                </a:r>
                <a:r>
                  <a:rPr lang="en-US" dirty="0"/>
                  <a:t> </a:t>
                </a:r>
                <a:r>
                  <a:rPr lang="en-US" dirty="0" err="1"/>
                  <a:t>može</a:t>
                </a:r>
                <a:r>
                  <a:rPr lang="en-US" dirty="0"/>
                  <a:t> </a:t>
                </a:r>
                <a:r>
                  <a:rPr lang="en-US" dirty="0" err="1"/>
                  <a:t>biti</a:t>
                </a:r>
                <a:r>
                  <a:rPr lang="en-US" dirty="0"/>
                  <a:t> ±1. </a:t>
                </a:r>
                <a:r>
                  <a:rPr lang="en-US" dirty="0" err="1"/>
                  <a:t>Pošto</a:t>
                </a:r>
                <a:r>
                  <a:rPr lang="en-US" dirty="0"/>
                  <a:t> se u </a:t>
                </a:r>
                <a:r>
                  <a:rPr lang="en-US" dirty="0" err="1"/>
                  <a:t>trenutku</a:t>
                </a:r>
                <a:r>
                  <a:rPr lang="en-US" dirty="0"/>
                  <a:t> </a:t>
                </a:r>
                <a:r>
                  <a:rPr lang="en-US" dirty="0" err="1"/>
                  <a:t>merenja</a:t>
                </a:r>
                <a:r>
                  <a:rPr lang="en-US" dirty="0"/>
                  <a:t> </a:t>
                </a:r>
                <a:r>
                  <a:rPr lang="sr-Latn-RS" sz="1200" b="0" i="0">
                    <a:solidFill>
                      <a:schemeClr val="tx1"/>
                    </a:solidFill>
                    <a:latin typeface="Cambria Math" panose="02040503050406030204" pitchFamily="18" charset="0"/>
                  </a:rPr>
                  <a:t>𝑧</a:t>
                </a:r>
                <a:r>
                  <a:rPr lang="en-US" dirty="0"/>
                  <a:t> </a:t>
                </a:r>
                <a:r>
                  <a:rPr lang="en-US" dirty="0" err="1"/>
                  <a:t>svodi</a:t>
                </a:r>
                <a:r>
                  <a:rPr lang="en-US" dirty="0"/>
                  <a:t> </a:t>
                </a:r>
                <a:r>
                  <a:rPr lang="en-US" dirty="0" err="1"/>
                  <a:t>na</a:t>
                </a:r>
                <a:r>
                  <a:rPr lang="en-US" dirty="0"/>
                  <a:t> </a:t>
                </a:r>
                <a:r>
                  <a:rPr lang="en-US" dirty="0" err="1"/>
                  <a:t>jednu</a:t>
                </a:r>
                <a:r>
                  <a:rPr lang="en-US" dirty="0"/>
                  <a:t> </a:t>
                </a:r>
                <a:r>
                  <a:rPr lang="en-US" dirty="0" err="1"/>
                  <a:t>vrednost</a:t>
                </a:r>
                <a:r>
                  <a:rPr lang="en-US" dirty="0"/>
                  <a:t>, </a:t>
                </a:r>
                <a:r>
                  <a:rPr lang="en-US" dirty="0" err="1"/>
                  <a:t>unutrašnja</a:t>
                </a:r>
                <a:r>
                  <a:rPr lang="en-US" dirty="0"/>
                  <a:t> </a:t>
                </a:r>
                <a:r>
                  <a:rPr lang="en-US" dirty="0" err="1"/>
                  <a:t>suma</a:t>
                </a:r>
                <a:r>
                  <a:rPr lang="en-US" dirty="0"/>
                  <a:t> </a:t>
                </a:r>
                <a:r>
                  <a:rPr lang="en-US" dirty="0" err="1"/>
                  <a:t>predstavlja</a:t>
                </a:r>
                <a:r>
                  <a:rPr lang="en-US" dirty="0"/>
                  <a:t> </a:t>
                </a:r>
                <a:r>
                  <a:rPr lang="en-US" dirty="0" err="1"/>
                  <a:t>amplitudu</a:t>
                </a:r>
                <a:r>
                  <a:rPr lang="en-US" dirty="0"/>
                  <a:t> </a:t>
                </a:r>
                <a:r>
                  <a:rPr lang="en-US" dirty="0" err="1"/>
                  <a:t>verovatnoće</a:t>
                </a:r>
                <a:r>
                  <a:rPr lang="en-US" dirty="0"/>
                  <a:t> </a:t>
                </a:r>
                <a:r>
                  <a:rPr lang="en-US" dirty="0" err="1"/>
                  <a:t>čiji</a:t>
                </a:r>
                <a:r>
                  <a:rPr lang="en-US" dirty="0"/>
                  <a:t> </a:t>
                </a:r>
                <a:r>
                  <a:rPr lang="en-US" dirty="0" err="1"/>
                  <a:t>kvadrat</a:t>
                </a:r>
                <a:r>
                  <a:rPr lang="en-US" dirty="0"/>
                  <a:t> </a:t>
                </a:r>
                <a:r>
                  <a:rPr lang="en-US" dirty="0" err="1"/>
                  <a:t>daje</a:t>
                </a:r>
                <a:r>
                  <a:rPr lang="en-US" baseline="0" dirty="0"/>
                  <a:t> </a:t>
                </a:r>
                <a:r>
                  <a:rPr lang="en-US" dirty="0" err="1"/>
                  <a:t>verovatnoću</a:t>
                </a:r>
                <a:r>
                  <a:rPr lang="en-US" dirty="0"/>
                  <a:t> </a:t>
                </a:r>
                <a:r>
                  <a:rPr lang="en-US" dirty="0" err="1"/>
                  <a:t>merenja</a:t>
                </a:r>
                <a:r>
                  <a:rPr lang="en-US" dirty="0"/>
                  <a:t>. </a:t>
                </a:r>
                <a:r>
                  <a:rPr lang="en-US" dirty="0" err="1"/>
                  <a:t>Stavljajući</a:t>
                </a:r>
                <a:r>
                  <a:rPr lang="en-US" dirty="0"/>
                  <a:t> da </a:t>
                </a:r>
                <a:r>
                  <a:rPr lang="en-US" dirty="0" err="1"/>
                  <a:t>je</a:t>
                </a:r>
                <a:r>
                  <a:rPr lang="en-US" dirty="0"/>
                  <a:t> </a:t>
                </a:r>
                <a:r>
                  <a:rPr lang="sr-Latn-RS" sz="1200" b="0" i="0">
                    <a:solidFill>
                      <a:schemeClr val="tx1"/>
                    </a:solidFill>
                    <a:latin typeface="Cambria Math" panose="02040503050406030204" pitchFamily="18" charset="0"/>
                  </a:rPr>
                  <a:t>𝑧</a:t>
                </a:r>
                <a:r>
                  <a:rPr lang="en-US" dirty="0"/>
                  <a:t>=00... </a:t>
                </a:r>
                <a:r>
                  <a:rPr lang="en-US" dirty="0" err="1"/>
                  <a:t>dobija</a:t>
                </a:r>
                <a:r>
                  <a:rPr lang="en-US" dirty="0"/>
                  <a:t> se da </a:t>
                </a:r>
                <a:r>
                  <a:rPr lang="en-US" dirty="0" err="1"/>
                  <a:t>je</a:t>
                </a:r>
                <a:r>
                  <a:rPr lang="en-US" dirty="0"/>
                  <a:t> </a:t>
                </a:r>
                <a:r>
                  <a:rPr lang="en-US" dirty="0" err="1"/>
                  <a:t>verovatnoća</a:t>
                </a:r>
                <a:r>
                  <a:rPr lang="en-US" dirty="0"/>
                  <a:t> </a:t>
                </a:r>
                <a:r>
                  <a:rPr lang="en-US" dirty="0" err="1"/>
                  <a:t>merenja</a:t>
                </a:r>
                <a:r>
                  <a:rPr lang="en-US" dirty="0"/>
                  <a:t> </a:t>
                </a:r>
                <a:r>
                  <a:rPr lang="en-US" dirty="0" err="1"/>
                  <a:t>nule</a:t>
                </a:r>
                <a:r>
                  <a:rPr lang="en-US" dirty="0"/>
                  <a:t> </a:t>
                </a:r>
                <a:r>
                  <a:rPr lang="en-US" dirty="0" err="1"/>
                  <a:t>jednaka</a:t>
                </a:r>
                <a:r>
                  <a:rPr lang="en-US" dirty="0"/>
                  <a:t> 1. </a:t>
                </a:r>
                <a:r>
                  <a:rPr lang="en-US" dirty="0" err="1"/>
                  <a:t>Drugim</a:t>
                </a:r>
                <a:r>
                  <a:rPr lang="en-US" dirty="0"/>
                  <a:t> </a:t>
                </a:r>
                <a:r>
                  <a:rPr lang="en-US" dirty="0" err="1"/>
                  <a:t>rečima</a:t>
                </a:r>
                <a:r>
                  <a:rPr lang="en-US" dirty="0"/>
                  <a:t>, </a:t>
                </a:r>
                <a:r>
                  <a:rPr lang="en-US" dirty="0" err="1"/>
                  <a:t>ako</a:t>
                </a:r>
                <a:r>
                  <a:rPr lang="en-US" dirty="0"/>
                  <a:t> se </a:t>
                </a:r>
                <a:r>
                  <a:rPr lang="en-US" dirty="0" err="1"/>
                  <a:t>gornji</a:t>
                </a:r>
                <a:r>
                  <a:rPr lang="en-US" dirty="0"/>
                  <a:t>, </a:t>
                </a:r>
                <a:r>
                  <a:rPr lang="en-US" sz="1200" i="0">
                    <a:latin typeface="Cambria Math" panose="02040503050406030204" pitchFamily="18" charset="0"/>
                  </a:rPr>
                  <a:t>𝑥</a:t>
                </a:r>
                <a:r>
                  <a:rPr lang="en-US" dirty="0"/>
                  <a:t> </a:t>
                </a:r>
                <a:r>
                  <a:rPr lang="en-US" dirty="0" err="1"/>
                  <a:t>registar</a:t>
                </a:r>
                <a:r>
                  <a:rPr lang="en-US" dirty="0"/>
                  <a:t> </a:t>
                </a:r>
                <a:r>
                  <a:rPr lang="en-US" dirty="0" err="1"/>
                  <a:t>izmeri</a:t>
                </a:r>
                <a:r>
                  <a:rPr lang="en-US" dirty="0"/>
                  <a:t> </a:t>
                </a:r>
                <a:r>
                  <a:rPr lang="en-US" dirty="0" err="1"/>
                  <a:t>kao</a:t>
                </a:r>
                <a:r>
                  <a:rPr lang="en-US" dirty="0"/>
                  <a:t> </a:t>
                </a:r>
                <a:r>
                  <a:rPr lang="en-US" dirty="0" err="1"/>
                  <a:t>niz</a:t>
                </a:r>
                <a:r>
                  <a:rPr lang="en-US" dirty="0"/>
                  <a:t> </a:t>
                </a:r>
                <a:r>
                  <a:rPr lang="en-US" dirty="0" err="1"/>
                  <a:t>nula</a:t>
                </a:r>
                <a:r>
                  <a:rPr lang="en-US" dirty="0"/>
                  <a:t>, </a:t>
                </a:r>
                <a:r>
                  <a:rPr lang="en-US" dirty="0" err="1"/>
                  <a:t>funkcija</a:t>
                </a:r>
                <a:r>
                  <a:rPr lang="en-US" dirty="0"/>
                  <a:t> </a:t>
                </a:r>
                <a:r>
                  <a:rPr lang="en-US" dirty="0" err="1"/>
                  <a:t>je</a:t>
                </a:r>
                <a:r>
                  <a:rPr lang="en-US" dirty="0"/>
                  <a:t> </a:t>
                </a:r>
                <a:r>
                  <a:rPr lang="en-US" dirty="0" err="1"/>
                  <a:t>konstantna</a:t>
                </a:r>
                <a:r>
                  <a:rPr lang="en-US" dirty="0"/>
                  <a:t>, </a:t>
                </a:r>
                <a:r>
                  <a:rPr lang="en-US" dirty="0" err="1"/>
                  <a:t>što</a:t>
                </a:r>
                <a:r>
                  <a:rPr lang="en-US" dirty="0"/>
                  <a:t> </a:t>
                </a:r>
                <a:r>
                  <a:rPr lang="en-US" dirty="0" err="1"/>
                  <a:t>je</a:t>
                </a:r>
                <a:r>
                  <a:rPr lang="en-US" dirty="0"/>
                  <a:t> </a:t>
                </a:r>
                <a:r>
                  <a:rPr lang="en-US" dirty="0" err="1"/>
                  <a:t>algoritam</a:t>
                </a:r>
                <a:r>
                  <a:rPr lang="en-US" dirty="0"/>
                  <a:t> </a:t>
                </a:r>
                <a:r>
                  <a:rPr lang="en-US" dirty="0" err="1"/>
                  <a:t>i</a:t>
                </a:r>
                <a:r>
                  <a:rPr lang="en-US" dirty="0"/>
                  <a:t> </a:t>
                </a:r>
                <a:r>
                  <a:rPr lang="en-US" dirty="0" err="1"/>
                  <a:t>tvrdio</a:t>
                </a:r>
                <a:r>
                  <a:rPr lang="en-US" dirty="0"/>
                  <a: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err="1"/>
                  <a:t>Za</a:t>
                </a:r>
                <a:r>
                  <a:rPr lang="en-US" dirty="0"/>
                  <a:t> </a:t>
                </a:r>
                <a:r>
                  <a:rPr lang="en-US" dirty="0" err="1"/>
                  <a:t>proveru</a:t>
                </a:r>
                <a:r>
                  <a:rPr lang="en-US" dirty="0"/>
                  <a:t> da li </a:t>
                </a:r>
                <a:r>
                  <a:rPr lang="en-US" dirty="0" err="1"/>
                  <a:t>je</a:t>
                </a:r>
                <a:r>
                  <a:rPr lang="en-US" dirty="0"/>
                  <a:t> </a:t>
                </a:r>
                <a:r>
                  <a:rPr lang="en-US" dirty="0" err="1"/>
                  <a:t>funkcija</a:t>
                </a:r>
                <a:r>
                  <a:rPr lang="en-US" dirty="0"/>
                  <a:t> </a:t>
                </a:r>
                <a:r>
                  <a:rPr lang="en-US" dirty="0" err="1"/>
                  <a:t>balansirana</a:t>
                </a:r>
                <a:r>
                  <a:rPr lang="en-US" dirty="0"/>
                  <a:t>, </a:t>
                </a:r>
                <a:r>
                  <a:rPr lang="en-US" dirty="0" err="1"/>
                  <a:t>opet</a:t>
                </a:r>
                <a:r>
                  <a:rPr lang="en-US" dirty="0"/>
                  <a:t> se </a:t>
                </a:r>
                <a:r>
                  <a:rPr lang="en-US" dirty="0" err="1"/>
                  <a:t>proverava</a:t>
                </a:r>
                <a:r>
                  <a:rPr lang="en-US" dirty="0"/>
                  <a:t> </a:t>
                </a:r>
                <a:r>
                  <a:rPr lang="en-US" dirty="0" err="1"/>
                  <a:t>verovatnoću</a:t>
                </a:r>
                <a:r>
                  <a:rPr lang="en-US" dirty="0"/>
                  <a:t> </a:t>
                </a:r>
                <a:r>
                  <a:rPr lang="en-US" dirty="0" err="1"/>
                  <a:t>dobijanja</a:t>
                </a:r>
                <a:r>
                  <a:rPr lang="en-US" dirty="0"/>
                  <a:t> </a:t>
                </a:r>
                <a:r>
                  <a:rPr lang="en-US" dirty="0" err="1"/>
                  <a:t>nule</a:t>
                </a:r>
                <a:r>
                  <a:rPr lang="en-US" dirty="0"/>
                  <a:t>, </a:t>
                </a:r>
                <a:r>
                  <a:rPr lang="en-US" dirty="0" err="1"/>
                  <a:t>koja</a:t>
                </a:r>
                <a:r>
                  <a:rPr lang="en-US" dirty="0"/>
                  <a:t> u </a:t>
                </a:r>
                <a:r>
                  <a:rPr lang="en-US" dirty="0" err="1"/>
                  <a:t>ovom</a:t>
                </a:r>
                <a:r>
                  <a:rPr lang="en-US" dirty="0"/>
                  <a:t> </a:t>
                </a:r>
                <a:r>
                  <a:rPr lang="en-US" dirty="0" err="1"/>
                  <a:t>slučaju</a:t>
                </a:r>
                <a:r>
                  <a:rPr lang="en-US" dirty="0"/>
                  <a:t> mora </a:t>
                </a:r>
                <a:r>
                  <a:rPr lang="en-US" dirty="0" err="1"/>
                  <a:t>biti</a:t>
                </a:r>
                <a:r>
                  <a:rPr lang="en-US" dirty="0"/>
                  <a:t> 0. </a:t>
                </a:r>
                <a:r>
                  <a:rPr lang="en-US" dirty="0" err="1"/>
                  <a:t>Kako</a:t>
                </a:r>
                <a:r>
                  <a:rPr lang="en-US" dirty="0"/>
                  <a:t> u </a:t>
                </a:r>
                <a:r>
                  <a:rPr lang="en-US" dirty="0" err="1"/>
                  <a:t>slučaju</a:t>
                </a:r>
                <a:r>
                  <a:rPr lang="en-US" dirty="0"/>
                  <a:t> </a:t>
                </a:r>
                <a:r>
                  <a:rPr lang="en-US" dirty="0" err="1"/>
                  <a:t>balansirane</a:t>
                </a:r>
                <a:r>
                  <a:rPr lang="en-US" dirty="0"/>
                  <a:t> </a:t>
                </a:r>
                <a:r>
                  <a:rPr lang="en-US" dirty="0" err="1"/>
                  <a:t>funkcije</a:t>
                </a:r>
                <a:r>
                  <a:rPr lang="en-US" dirty="0"/>
                  <a:t> </a:t>
                </a:r>
                <a:r>
                  <a:rPr lang="en-US" sz="1200" i="0">
                    <a:latin typeface="Cambria Math" panose="02040503050406030204" pitchFamily="18" charset="0"/>
                  </a:rPr>
                  <a:t>𝑓(𝑥</a:t>
                </a:r>
                <a:r>
                  <a:rPr lang="sr-Latn-RS" sz="1200" b="0" i="0">
                    <a:latin typeface="Cambria Math" panose="02040503050406030204" pitchFamily="18" charset="0"/>
                  </a:rPr>
                  <a:t>)</a:t>
                </a:r>
                <a:r>
                  <a:rPr lang="en-US" dirty="0"/>
                  <a:t> </a:t>
                </a:r>
                <a:r>
                  <a:rPr lang="en-US" dirty="0" err="1"/>
                  <a:t>unutar</a:t>
                </a:r>
                <a:r>
                  <a:rPr lang="en-US" dirty="0"/>
                  <a:t> </a:t>
                </a:r>
                <a:r>
                  <a:rPr lang="en-US" dirty="0" err="1"/>
                  <a:t>sume</a:t>
                </a:r>
                <a:r>
                  <a:rPr lang="en-US" dirty="0"/>
                  <a:t> u </a:t>
                </a:r>
                <a:r>
                  <a:rPr lang="en-US" dirty="0" err="1"/>
                  <a:t>jednoj</a:t>
                </a:r>
                <a:r>
                  <a:rPr lang="en-US" dirty="0"/>
                  <a:t> </a:t>
                </a:r>
                <a:r>
                  <a:rPr lang="en-US" dirty="0" err="1"/>
                  <a:t>polovini</a:t>
                </a:r>
                <a:r>
                  <a:rPr lang="en-US" dirty="0"/>
                  <a:t> </a:t>
                </a:r>
                <a:r>
                  <a:rPr lang="en-US" dirty="0" err="1"/>
                  <a:t>slučajeva</a:t>
                </a:r>
                <a:r>
                  <a:rPr lang="en-US" dirty="0"/>
                  <a:t> </a:t>
                </a:r>
                <a:r>
                  <a:rPr lang="en-US" dirty="0" err="1"/>
                  <a:t>daje</a:t>
                </a:r>
                <a:r>
                  <a:rPr lang="en-US" dirty="0"/>
                  <a:t> 0 a u </a:t>
                </a:r>
                <a:r>
                  <a:rPr lang="en-US" dirty="0" err="1"/>
                  <a:t>drugoj</a:t>
                </a:r>
                <a:r>
                  <a:rPr lang="en-US" dirty="0"/>
                  <a:t> </a:t>
                </a:r>
                <a:r>
                  <a:rPr lang="en-US" dirty="0" err="1"/>
                  <a:t>polovini</a:t>
                </a:r>
                <a:r>
                  <a:rPr lang="en-US" dirty="0"/>
                  <a:t> 1,</a:t>
                </a:r>
                <a:r>
                  <a:rPr lang="en-US" baseline="0" dirty="0"/>
                  <a:t> </a:t>
                </a:r>
                <a:r>
                  <a:rPr lang="en-US" baseline="0" dirty="0" err="1"/>
                  <a:t>članovi</a:t>
                </a:r>
                <a:r>
                  <a:rPr lang="en-US" baseline="0" dirty="0"/>
                  <a:t> </a:t>
                </a:r>
                <a:r>
                  <a:rPr lang="en-US" baseline="0" dirty="0" err="1"/>
                  <a:t>sume</a:t>
                </a:r>
                <a:r>
                  <a:rPr lang="en-US" baseline="0" dirty="0"/>
                  <a:t> se </a:t>
                </a:r>
                <a:r>
                  <a:rPr lang="en-US" baseline="0" dirty="0" err="1"/>
                  <a:t>poništavaju</a:t>
                </a:r>
                <a:r>
                  <a:rPr lang="en-US" baseline="0" dirty="0"/>
                  <a:t> </a:t>
                </a:r>
                <a:r>
                  <a:rPr lang="en-US" dirty="0" err="1"/>
                  <a:t>dajući</a:t>
                </a:r>
                <a:r>
                  <a:rPr lang="en-US" baseline="0" dirty="0"/>
                  <a:t> </a:t>
                </a:r>
                <a:r>
                  <a:rPr lang="en-US" baseline="0" dirty="0" err="1"/>
                  <a:t>verovatnoću</a:t>
                </a:r>
                <a:r>
                  <a:rPr lang="en-US" baseline="0" dirty="0"/>
                  <a:t> </a:t>
                </a:r>
                <a:r>
                  <a:rPr lang="en-US" baseline="0" dirty="0" err="1"/>
                  <a:t>merenja</a:t>
                </a:r>
                <a:r>
                  <a:rPr lang="en-US" baseline="0" dirty="0"/>
                  <a:t> 0</a:t>
                </a:r>
                <a:r>
                  <a:rPr lang="en-US" dirty="0"/>
                  <a:t>. </a:t>
                </a:r>
                <a:r>
                  <a:rPr lang="en-US" dirty="0" err="1"/>
                  <a:t>Drugim</a:t>
                </a:r>
                <a:r>
                  <a:rPr lang="en-US" dirty="0"/>
                  <a:t> </a:t>
                </a:r>
                <a:r>
                  <a:rPr lang="en-US" dirty="0" err="1"/>
                  <a:t>rečima</a:t>
                </a:r>
                <a:r>
                  <a:rPr lang="en-US" dirty="0"/>
                  <a:t>, </a:t>
                </a:r>
                <a:r>
                  <a:rPr lang="en-US" dirty="0" err="1"/>
                  <a:t>ako</a:t>
                </a:r>
                <a:r>
                  <a:rPr lang="en-US" dirty="0"/>
                  <a:t> </a:t>
                </a:r>
                <a:r>
                  <a:rPr lang="en-US" dirty="0" err="1"/>
                  <a:t>je</a:t>
                </a:r>
                <a:r>
                  <a:rPr lang="en-US" dirty="0"/>
                  <a:t> </a:t>
                </a:r>
                <a:r>
                  <a:rPr lang="en-US" dirty="0" err="1"/>
                  <a:t>funkcija</a:t>
                </a:r>
                <a:r>
                  <a:rPr lang="en-US" dirty="0"/>
                  <a:t> </a:t>
                </a:r>
                <a:r>
                  <a:rPr lang="en-US" dirty="0" err="1"/>
                  <a:t>balansirana</a:t>
                </a:r>
                <a:r>
                  <a:rPr lang="en-US" dirty="0"/>
                  <a:t>, </a:t>
                </a:r>
                <a:r>
                  <a:rPr lang="en-US" dirty="0" err="1"/>
                  <a:t>merenje</a:t>
                </a:r>
                <a:r>
                  <a:rPr lang="en-US" dirty="0"/>
                  <a:t> </a:t>
                </a:r>
                <a:r>
                  <a:rPr lang="en-US" dirty="0" err="1"/>
                  <a:t>će</a:t>
                </a:r>
                <a:r>
                  <a:rPr lang="en-US" dirty="0"/>
                  <a:t> </a:t>
                </a:r>
                <a:r>
                  <a:rPr lang="en-US" dirty="0" err="1"/>
                  <a:t>dati</a:t>
                </a:r>
                <a:r>
                  <a:rPr lang="en-US" dirty="0"/>
                  <a:t> </a:t>
                </a:r>
                <a:r>
                  <a:rPr lang="en-US" dirty="0" err="1"/>
                  <a:t>neki</a:t>
                </a:r>
                <a:r>
                  <a:rPr lang="en-US" dirty="0"/>
                  <a:t> </a:t>
                </a:r>
                <a:r>
                  <a:rPr lang="en-US" dirty="0" err="1"/>
                  <a:t>binarni</a:t>
                </a:r>
                <a:r>
                  <a:rPr lang="en-US" dirty="0"/>
                  <a:t> </a:t>
                </a:r>
                <a:r>
                  <a:rPr lang="en-US" dirty="0" err="1"/>
                  <a:t>niz</a:t>
                </a:r>
                <a:r>
                  <a:rPr lang="en-US" dirty="0"/>
                  <a:t> </a:t>
                </a:r>
                <a:r>
                  <a:rPr lang="en-US" dirty="0" err="1"/>
                  <a:t>različit</a:t>
                </a:r>
                <a:r>
                  <a:rPr lang="en-US" dirty="0"/>
                  <a:t> od </a:t>
                </a:r>
                <a:r>
                  <a:rPr lang="en-US" dirty="0" err="1"/>
                  <a:t>nule</a:t>
                </a:r>
                <a:r>
                  <a:rPr lang="en-US" dirty="0"/>
                  <a:t>, </a:t>
                </a:r>
                <a:r>
                  <a:rPr lang="en-US" dirty="0" err="1"/>
                  <a:t>što</a:t>
                </a:r>
                <a:r>
                  <a:rPr lang="en-US" dirty="0"/>
                  <a:t> </a:t>
                </a:r>
                <a:r>
                  <a:rPr lang="en-US" dirty="0" err="1"/>
                  <a:t>je</a:t>
                </a:r>
                <a:r>
                  <a:rPr lang="en-US" dirty="0"/>
                  <a:t> </a:t>
                </a:r>
                <a:r>
                  <a:rPr lang="en-US" dirty="0" err="1"/>
                  <a:t>algoritam</a:t>
                </a:r>
                <a:r>
                  <a:rPr lang="en-US" dirty="0"/>
                  <a:t> </a:t>
                </a:r>
                <a:r>
                  <a:rPr lang="en-US" dirty="0" err="1"/>
                  <a:t>i</a:t>
                </a:r>
                <a:r>
                  <a:rPr lang="en-US" dirty="0"/>
                  <a:t> </a:t>
                </a:r>
                <a:r>
                  <a:rPr lang="en-US" dirty="0" err="1"/>
                  <a:t>tvrdio</a:t>
                </a:r>
                <a:r>
                  <a:rPr lang="en-US" dirty="0"/>
                  <a:t>.</a:t>
                </a:r>
              </a:p>
              <a:p>
                <a:pPr marL="171450" indent="-171450">
                  <a:buFont typeface="Arial" panose="020B0604020202020204" pitchFamily="34" charset="0"/>
                  <a:buChar cha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5853688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Since measuring ∣0⋯0⟩ with probability 1 indicates that the function is constant, a probability of 0 for this outcome indicates that the function is balanced. To confirm this, the probability of measuring ∣0⋯0⟩ can be calculated for a balanced function.</a:t>
                </a:r>
              </a:p>
              <a:p>
                <a:pPr algn="just"/>
                <a:endParaRPr lang="en-ZA" b="0" baseline="0" dirty="0"/>
              </a:p>
              <a:p>
                <a:pPr marL="171450" indent="-171450" algn="just">
                  <a:buFont typeface="Arial" panose="020B0604020202020204" pitchFamily="34" charset="0"/>
                  <a:buChar char="•"/>
                </a:pPr>
                <a:r>
                  <a:rPr lang="en-ZA" dirty="0"/>
                  <a:t>For a balanced function, half of the inputs satisfy </a:t>
                </a:r>
                <a14:m>
                  <m:oMath xmlns:m="http://schemas.openxmlformats.org/officeDocument/2006/math">
                    <m:r>
                      <a:rPr lang="sr-Latn-RS" sz="1200" i="1" smtClean="0">
                        <a:latin typeface="Cambria Math" panose="02040503050406030204" pitchFamily="18" charset="0"/>
                      </a:rPr>
                      <m:t>𝑓</m:t>
                    </m:r>
                    <m:d>
                      <m:dPr>
                        <m:ctrlPr>
                          <a:rPr lang="en-ZA" sz="1200" i="1">
                            <a:latin typeface="Cambria Math" panose="02040503050406030204" pitchFamily="18" charset="0"/>
                          </a:rPr>
                        </m:ctrlPr>
                      </m:dPr>
                      <m:e>
                        <m:r>
                          <a:rPr lang="sr-Latn-RS" sz="1200" i="1">
                            <a:latin typeface="Cambria Math" panose="02040503050406030204" pitchFamily="18" charset="0"/>
                          </a:rPr>
                          <m:t>𝑥</m:t>
                        </m:r>
                      </m:e>
                    </m:d>
                    <m:r>
                      <a:rPr lang="sr-Latn-RS" sz="1200" i="1">
                        <a:latin typeface="Cambria Math" panose="02040503050406030204" pitchFamily="18" charset="0"/>
                      </a:rPr>
                      <m:t>=0</m:t>
                    </m:r>
                  </m:oMath>
                </a14:m>
                <a:r>
                  <a:rPr lang="en-ZA" dirty="0"/>
                  <a:t>, giving phase factors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(−1)</m:t>
                        </m:r>
                      </m:e>
                      <m:sup>
                        <m:r>
                          <a:rPr lang="sr-Latn-RS" sz="1200" i="1">
                            <a:latin typeface="Cambria Math" panose="02040503050406030204" pitchFamily="18" charset="0"/>
                          </a:rPr>
                          <m:t>𝑓</m:t>
                        </m:r>
                        <m:r>
                          <a:rPr lang="sr-Latn-RS" sz="1200" i="1">
                            <a:latin typeface="Cambria Math" panose="02040503050406030204" pitchFamily="18" charset="0"/>
                          </a:rPr>
                          <m:t>(</m:t>
                        </m:r>
                        <m:r>
                          <a:rPr lang="sr-Latn-RS" sz="1200" i="1">
                            <a:latin typeface="Cambria Math" panose="02040503050406030204" pitchFamily="18" charset="0"/>
                          </a:rPr>
                          <m:t>𝑥</m:t>
                        </m:r>
                        <m:r>
                          <a:rPr lang="sr-Latn-RS" sz="1200" i="1">
                            <a:latin typeface="Cambria Math" panose="02040503050406030204" pitchFamily="18" charset="0"/>
                          </a:rPr>
                          <m:t>)</m:t>
                        </m:r>
                      </m:sup>
                    </m:sSup>
                    <m:r>
                      <a:rPr lang="sr-Latn-RS" sz="1200" i="1">
                        <a:latin typeface="Cambria Math" panose="02040503050406030204" pitchFamily="18" charset="0"/>
                      </a:rPr>
                      <m:t>=1</m:t>
                    </m:r>
                  </m:oMath>
                </a14:m>
                <a:r>
                  <a:rPr lang="en-ZA" dirty="0"/>
                  <a:t>. </a:t>
                </a:r>
              </a:p>
              <a:p>
                <a:pPr marL="171450" indent="-171450" algn="just">
                  <a:buFont typeface="Arial" panose="020B0604020202020204" pitchFamily="34" charset="0"/>
                  <a:buChar char="•"/>
                </a:pPr>
                <a:r>
                  <a:rPr lang="en-ZA" dirty="0"/>
                  <a:t>For the other half, </a:t>
                </a:r>
                <a14:m>
                  <m:oMath xmlns:m="http://schemas.openxmlformats.org/officeDocument/2006/math">
                    <m:r>
                      <a:rPr lang="sr-Latn-RS" sz="1200" i="1" smtClean="0">
                        <a:latin typeface="Cambria Math" panose="02040503050406030204" pitchFamily="18" charset="0"/>
                      </a:rPr>
                      <m:t>𝑓</m:t>
                    </m:r>
                    <m:d>
                      <m:dPr>
                        <m:ctrlPr>
                          <a:rPr lang="en-ZA" sz="1200" i="1">
                            <a:latin typeface="Cambria Math" panose="02040503050406030204" pitchFamily="18" charset="0"/>
                          </a:rPr>
                        </m:ctrlPr>
                      </m:dPr>
                      <m:e>
                        <m:r>
                          <a:rPr lang="sr-Latn-RS" sz="1200" i="1">
                            <a:latin typeface="Cambria Math" panose="02040503050406030204" pitchFamily="18" charset="0"/>
                          </a:rPr>
                          <m:t>𝑥</m:t>
                        </m:r>
                      </m:e>
                    </m:d>
                    <m:r>
                      <a:rPr lang="sr-Latn-RS" sz="1200" i="1">
                        <a:latin typeface="Cambria Math" panose="02040503050406030204" pitchFamily="18" charset="0"/>
                      </a:rPr>
                      <m:t>=</m:t>
                    </m:r>
                    <m:r>
                      <a:rPr lang="en-US" sz="1200" b="0" i="1" smtClean="0">
                        <a:latin typeface="Cambria Math" panose="02040503050406030204" pitchFamily="18" charset="0"/>
                      </a:rPr>
                      <m:t>1</m:t>
                    </m:r>
                  </m:oMath>
                </a14:m>
                <a:r>
                  <a:rPr lang="en-ZA" dirty="0"/>
                  <a:t>, giving phase factors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(−1)</m:t>
                        </m:r>
                      </m:e>
                      <m:sup>
                        <m:r>
                          <a:rPr lang="sr-Latn-RS" sz="1200" i="1">
                            <a:latin typeface="Cambria Math" panose="02040503050406030204" pitchFamily="18" charset="0"/>
                          </a:rPr>
                          <m:t>𝑓</m:t>
                        </m:r>
                        <m:r>
                          <a:rPr lang="sr-Latn-RS" sz="1200" i="1">
                            <a:latin typeface="Cambria Math" panose="02040503050406030204" pitchFamily="18" charset="0"/>
                          </a:rPr>
                          <m:t>(</m:t>
                        </m:r>
                        <m:r>
                          <a:rPr lang="sr-Latn-RS" sz="1200" i="1">
                            <a:latin typeface="Cambria Math" panose="02040503050406030204" pitchFamily="18" charset="0"/>
                          </a:rPr>
                          <m:t>𝑥</m:t>
                        </m:r>
                        <m:r>
                          <a:rPr lang="sr-Latn-RS" sz="1200" i="1">
                            <a:latin typeface="Cambria Math" panose="02040503050406030204" pitchFamily="18" charset="0"/>
                          </a:rPr>
                          <m:t>)</m:t>
                        </m:r>
                      </m:sup>
                    </m:sSup>
                    <m:r>
                      <a:rPr lang="sr-Latn-RS" sz="1200" i="1">
                        <a:latin typeface="Cambria Math" panose="02040503050406030204" pitchFamily="18" charset="0"/>
                      </a:rPr>
                      <m:t>=</m:t>
                    </m:r>
                    <m:r>
                      <a:rPr lang="en-US" sz="1200" b="0" i="1" smtClean="0">
                        <a:latin typeface="Cambria Math" panose="02040503050406030204" pitchFamily="18" charset="0"/>
                      </a:rPr>
                      <m:t>−</m:t>
                    </m:r>
                    <m:r>
                      <a:rPr lang="sr-Latn-RS" sz="1200" i="1">
                        <a:latin typeface="Cambria Math" panose="02040503050406030204" pitchFamily="18" charset="0"/>
                      </a:rPr>
                      <m:t>1</m:t>
                    </m:r>
                  </m:oMath>
                </a14:m>
                <a:r>
                  <a:rPr lang="en-ZA" dirty="0"/>
                  <a:t>. </a:t>
                </a:r>
              </a:p>
              <a:p>
                <a:pPr marL="171450" indent="-171450" algn="just">
                  <a:buFont typeface="Arial" panose="020B0604020202020204" pitchFamily="34" charset="0"/>
                  <a:buChar char="•"/>
                </a:pPr>
                <a:r>
                  <a:rPr lang="en-ZA" dirty="0"/>
                  <a:t>The positive and negative contributions cancel each other, so their total sum is 0.</a:t>
                </a:r>
              </a:p>
              <a:p>
                <a:pPr marL="171450" indent="-171450" algn="just">
                  <a:buFont typeface="Arial" panose="020B0604020202020204" pitchFamily="34" charset="0"/>
                  <a:buChar char="•"/>
                </a:pPr>
                <a:r>
                  <a:rPr lang="en-ZA" dirty="0"/>
                  <a:t>This makes the amplitude of ∣0⋯0⟩ equal to 0, and consequently </a:t>
                </a:r>
                <a14:m>
                  <m:oMath xmlns:m="http://schemas.openxmlformats.org/officeDocument/2006/math">
                    <m:r>
                      <a:rPr lang="en-US" sz="1200" b="0" i="1" smtClean="0">
                        <a:solidFill>
                          <a:schemeClr val="tx1"/>
                        </a:solidFill>
                        <a:latin typeface="Cambria Math" panose="02040503050406030204" pitchFamily="18" charset="0"/>
                      </a:rPr>
                      <m:t>𝑃</m:t>
                    </m:r>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0</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rPr>
                          <m:t>0</m:t>
                        </m:r>
                      </m:e>
                    </m:d>
                    <m:r>
                      <a:rPr lang="en-US" sz="1200" b="0" i="1" smtClean="0">
                        <a:solidFill>
                          <a:schemeClr val="tx1"/>
                        </a:solidFill>
                        <a:latin typeface="Cambria Math" panose="02040503050406030204" pitchFamily="18" charset="0"/>
                      </a:rPr>
                      <m:t>=0</m:t>
                    </m:r>
                  </m:oMath>
                </a14:m>
                <a:r>
                  <a:rPr lang="en-ZA" dirty="0"/>
                  <a:t>. This confirms that for a balanced function, the outcome ∣0⋯0⟩ never appears.</a:t>
                </a:r>
              </a:p>
              <a:p>
                <a:pPr marL="171450" indent="-171450" algn="just">
                  <a:buFont typeface="Arial" panose="020B0604020202020204" pitchFamily="34" charset="0"/>
                  <a:buChar char="•"/>
                </a:pPr>
                <a:endParaRPr lang="en-ZA" b="0" baseline="0" dirty="0"/>
              </a:p>
              <a:p>
                <a:pPr marL="0" indent="0" algn="just">
                  <a:buFont typeface="Arial" panose="020B0604020202020204" pitchFamily="34" charset="0"/>
                  <a:buNone/>
                </a:pPr>
                <a:r>
                  <a:rPr lang="en-ZA" dirty="0"/>
                  <a:t>In conclusion, the algorithm rules out the constant case and identifies the function as balanced.</a:t>
                </a:r>
                <a:endParaRPr lang="en-ZA" b="0" baseline="0" dirty="0"/>
              </a:p>
            </p:txBody>
          </p:sp>
        </mc:Choice>
        <mc:Fallback xmlns="">
          <p:sp>
            <p:nvSpPr>
              <p:cNvPr id="3" name="Notes Placeholder 2"/>
              <p:cNvSpPr>
                <a:spLocks noGrp="1"/>
              </p:cNvSpPr>
              <p:nvPr>
                <p:ph type="body" idx="1"/>
              </p:nvPr>
            </p:nvSpPr>
            <p:spPr/>
            <p:txBody>
              <a:bodyPr/>
              <a:lstStyle/>
              <a:p>
                <a:r>
                  <a:rPr lang="en-US" dirty="0"/>
                  <a:t>Izraz </a:t>
                </a:r>
                <a:r>
                  <a:rPr lang="en-US" dirty="0" err="1"/>
                  <a:t>prenesen</a:t>
                </a:r>
                <a:r>
                  <a:rPr lang="en-US" dirty="0"/>
                  <a:t> </a:t>
                </a:r>
                <a:r>
                  <a:rPr lang="en-US" dirty="0" err="1"/>
                  <a:t>sa</a:t>
                </a:r>
                <a:r>
                  <a:rPr lang="en-US" dirty="0"/>
                  <a:t> </a:t>
                </a:r>
                <a:r>
                  <a:rPr lang="en-US" dirty="0" err="1"/>
                  <a:t>prethodnog</a:t>
                </a:r>
                <a:r>
                  <a:rPr lang="en-US" dirty="0"/>
                  <a:t> </a:t>
                </a:r>
                <a:r>
                  <a:rPr lang="en-US" dirty="0" err="1"/>
                  <a:t>slajda</a:t>
                </a:r>
                <a:r>
                  <a:rPr lang="en-US" dirty="0"/>
                  <a:t>, </a:t>
                </a:r>
                <a:r>
                  <a:rPr lang="en-US" dirty="0" err="1"/>
                  <a:t>prikazuje</a:t>
                </a:r>
                <a:r>
                  <a:rPr lang="en-US" dirty="0"/>
                  <a:t> </a:t>
                </a:r>
                <a:r>
                  <a:rPr lang="en-US" dirty="0" err="1"/>
                  <a:t>stanje</a:t>
                </a:r>
                <a:r>
                  <a:rPr lang="en-US" dirty="0"/>
                  <a:t>  </a:t>
                </a:r>
                <a:r>
                  <a:rPr lang="en-US" dirty="0" err="1"/>
                  <a:t>gornjeg</a:t>
                </a:r>
                <a:r>
                  <a:rPr lang="en-US" dirty="0"/>
                  <a:t> </a:t>
                </a:r>
                <a:r>
                  <a:rPr lang="en-US" dirty="0" err="1"/>
                  <a:t>registra</a:t>
                </a:r>
                <a:r>
                  <a:rPr lang="en-US" dirty="0"/>
                  <a:t> pre </a:t>
                </a:r>
                <a:r>
                  <a:rPr lang="en-US" dirty="0" err="1"/>
                  <a:t>merenja</a:t>
                </a:r>
                <a:r>
                  <a:rPr lang="en-US" dirty="0"/>
                  <a:t>. </a:t>
                </a:r>
                <a:r>
                  <a:rPr lang="en-US" dirty="0" err="1"/>
                  <a:t>Izvlačenjem</a:t>
                </a:r>
                <a:r>
                  <a:rPr lang="en-US" dirty="0"/>
                  <a:t> </a:t>
                </a:r>
                <a:r>
                  <a:rPr lang="en-US" dirty="0" err="1"/>
                  <a:t>suma</a:t>
                </a:r>
                <a:r>
                  <a:rPr lang="en-US" dirty="0"/>
                  <a:t> </a:t>
                </a:r>
                <a:r>
                  <a:rPr lang="en-US" dirty="0" err="1"/>
                  <a:t>na</a:t>
                </a:r>
                <a:r>
                  <a:rPr lang="en-US" dirty="0"/>
                  <a:t> </a:t>
                </a:r>
                <a:r>
                  <a:rPr lang="en-US" dirty="0" err="1"/>
                  <a:t>levu</a:t>
                </a:r>
                <a:r>
                  <a:rPr lang="en-US" dirty="0"/>
                  <a:t> </a:t>
                </a:r>
                <a:r>
                  <a:rPr lang="en-US" dirty="0" err="1"/>
                  <a:t>stranu</a:t>
                </a:r>
                <a:r>
                  <a:rPr lang="en-US" dirty="0"/>
                  <a:t>, </a:t>
                </a:r>
                <a:r>
                  <a:rPr lang="en-US" dirty="0" err="1"/>
                  <a:t>dobija</a:t>
                </a:r>
                <a:r>
                  <a:rPr lang="en-US" dirty="0"/>
                  <a:t> se </a:t>
                </a:r>
                <a:r>
                  <a:rPr lang="en-US" dirty="0" err="1"/>
                  <a:t>izraz</a:t>
                </a:r>
                <a:r>
                  <a:rPr lang="en-US" dirty="0"/>
                  <a:t> </a:t>
                </a:r>
                <a:r>
                  <a:rPr lang="en-US" dirty="0" err="1"/>
                  <a:t>iz</a:t>
                </a:r>
                <a:r>
                  <a:rPr lang="en-US" dirty="0"/>
                  <a:t> </a:t>
                </a:r>
                <a:r>
                  <a:rPr lang="en-US" dirty="0" err="1"/>
                  <a:t>koga</a:t>
                </a:r>
                <a:r>
                  <a:rPr lang="en-US" dirty="0"/>
                  <a:t> se </a:t>
                </a:r>
                <a:r>
                  <a:rPr lang="en-US" dirty="0" err="1"/>
                  <a:t>može</a:t>
                </a:r>
                <a:r>
                  <a:rPr lang="en-US" dirty="0"/>
                  <a:t> </a:t>
                </a:r>
                <a:r>
                  <a:rPr lang="en-US" dirty="0" err="1"/>
                  <a:t>izračunati</a:t>
                </a:r>
                <a:r>
                  <a:rPr lang="en-US" dirty="0"/>
                  <a:t> </a:t>
                </a:r>
                <a:r>
                  <a:rPr lang="en-US" dirty="0" err="1"/>
                  <a:t>verovatnoću</a:t>
                </a:r>
                <a:r>
                  <a:rPr lang="en-US" dirty="0"/>
                  <a:t> </a:t>
                </a:r>
                <a:r>
                  <a:rPr lang="en-US" dirty="0" err="1"/>
                  <a:t>rezultata</a:t>
                </a:r>
                <a:r>
                  <a:rPr lang="en-US" dirty="0"/>
                  <a:t> </a:t>
                </a:r>
                <a:r>
                  <a:rPr lang="en-US" dirty="0" err="1"/>
                  <a:t>merenja</a:t>
                </a:r>
                <a:r>
                  <a:rPr lang="en-US" dirty="0"/>
                  <a:t> kubita. </a:t>
                </a:r>
              </a:p>
              <a:p>
                <a:endParaRPr lang="en-US" dirty="0"/>
              </a:p>
              <a:p>
                <a:pPr marL="171450" indent="-171450">
                  <a:buFont typeface="Arial" panose="020B0604020202020204" pitchFamily="34" charset="0"/>
                  <a:buChar char="•"/>
                </a:pPr>
                <a:r>
                  <a:rPr lang="en-US" dirty="0" err="1"/>
                  <a:t>Za</a:t>
                </a:r>
                <a:r>
                  <a:rPr lang="en-US" dirty="0"/>
                  <a:t> </a:t>
                </a:r>
                <a:r>
                  <a:rPr lang="en-US" dirty="0" err="1"/>
                  <a:t>konstantnu</a:t>
                </a:r>
                <a:r>
                  <a:rPr lang="en-US" dirty="0"/>
                  <a:t> </a:t>
                </a:r>
                <a:r>
                  <a:rPr lang="en-US" dirty="0" err="1"/>
                  <a:t>funkciju</a:t>
                </a:r>
                <a:r>
                  <a:rPr lang="en-US" dirty="0"/>
                  <a:t>  </a:t>
                </a:r>
                <a:r>
                  <a:rPr lang="en-US" dirty="0" err="1"/>
                  <a:t>faktor</a:t>
                </a:r>
                <a:r>
                  <a:rPr lang="en-US" dirty="0"/>
                  <a:t> </a:t>
                </a:r>
                <a:r>
                  <a:rPr lang="en-US" sz="1200" i="0">
                    <a:latin typeface="Cambria Math" panose="02040503050406030204" pitchFamily="18" charset="0"/>
                  </a:rPr>
                  <a:t>(−1)^├ 𝑓(𝑥) </a:t>
                </a:r>
                <a:r>
                  <a:rPr lang="en-US" dirty="0"/>
                  <a:t> se </a:t>
                </a:r>
                <a:r>
                  <a:rPr lang="en-US" dirty="0" err="1"/>
                  <a:t>može</a:t>
                </a:r>
                <a:r>
                  <a:rPr lang="en-US" dirty="0"/>
                  <a:t> </a:t>
                </a:r>
                <a:r>
                  <a:rPr lang="en-US" dirty="0" err="1"/>
                  <a:t>izvući</a:t>
                </a:r>
                <a:r>
                  <a:rPr lang="en-US" dirty="0"/>
                  <a:t> van </a:t>
                </a:r>
                <a:r>
                  <a:rPr lang="en-US" dirty="0" err="1"/>
                  <a:t>sume</a:t>
                </a:r>
                <a:r>
                  <a:rPr lang="en-US" dirty="0"/>
                  <a:t> </a:t>
                </a:r>
                <a:r>
                  <a:rPr lang="en-US" dirty="0" err="1"/>
                  <a:t>pošto</a:t>
                </a:r>
                <a:r>
                  <a:rPr lang="en-US" dirty="0"/>
                  <a:t> </a:t>
                </a:r>
                <a:r>
                  <a:rPr lang="en-US" sz="1200" i="0">
                    <a:latin typeface="Cambria Math" panose="02040503050406030204" pitchFamily="18" charset="0"/>
                  </a:rPr>
                  <a:t>𝑥</a:t>
                </a:r>
                <a:r>
                  <a:rPr lang="en-US" dirty="0"/>
                  <a:t> ne </a:t>
                </a:r>
                <a:r>
                  <a:rPr lang="en-US" dirty="0" err="1"/>
                  <a:t>utiče</a:t>
                </a:r>
                <a:r>
                  <a:rPr lang="en-US" dirty="0"/>
                  <a:t> </a:t>
                </a:r>
                <a:r>
                  <a:rPr lang="en-US" dirty="0" err="1"/>
                  <a:t>na</a:t>
                </a:r>
                <a:r>
                  <a:rPr lang="en-US" dirty="0"/>
                  <a:t> </a:t>
                </a:r>
                <a:r>
                  <a:rPr lang="en-US" dirty="0" err="1"/>
                  <a:t>izlaz</a:t>
                </a:r>
                <a:r>
                  <a:rPr lang="en-US" dirty="0"/>
                  <a:t>.  </a:t>
                </a:r>
                <a:r>
                  <a:rPr lang="en-US" dirty="0" err="1"/>
                  <a:t>Ovaj</a:t>
                </a:r>
                <a:r>
                  <a:rPr lang="en-US" dirty="0"/>
                  <a:t> </a:t>
                </a:r>
                <a:r>
                  <a:rPr lang="en-US" dirty="0" err="1"/>
                  <a:t>faktor</a:t>
                </a:r>
                <a:r>
                  <a:rPr lang="en-US" dirty="0"/>
                  <a:t> se </a:t>
                </a:r>
                <a:r>
                  <a:rPr lang="en-US" dirty="0" err="1"/>
                  <a:t>može</a:t>
                </a:r>
                <a:r>
                  <a:rPr lang="en-US" dirty="0"/>
                  <a:t> </a:t>
                </a:r>
                <a:r>
                  <a:rPr lang="en-US" dirty="0" err="1"/>
                  <a:t>smatrati</a:t>
                </a:r>
                <a:r>
                  <a:rPr lang="en-US" dirty="0"/>
                  <a:t> </a:t>
                </a:r>
                <a:r>
                  <a:rPr lang="en-US" dirty="0" err="1"/>
                  <a:t>globalnom</a:t>
                </a:r>
                <a:r>
                  <a:rPr lang="en-US" dirty="0"/>
                  <a:t> </a:t>
                </a:r>
                <a:r>
                  <a:rPr lang="en-US" dirty="0" err="1"/>
                  <a:t>fazom</a:t>
                </a:r>
                <a:r>
                  <a:rPr lang="en-US" dirty="0"/>
                  <a:t>  </a:t>
                </a:r>
                <a:r>
                  <a:rPr lang="en-US" dirty="0" err="1"/>
                  <a:t>koja</a:t>
                </a:r>
                <a:r>
                  <a:rPr lang="en-US" dirty="0"/>
                  <a:t> </a:t>
                </a:r>
                <a:r>
                  <a:rPr lang="en-US" dirty="0" err="1"/>
                  <a:t>može</a:t>
                </a:r>
                <a:r>
                  <a:rPr lang="en-US" dirty="0"/>
                  <a:t> </a:t>
                </a:r>
                <a:r>
                  <a:rPr lang="en-US" dirty="0" err="1"/>
                  <a:t>biti</a:t>
                </a:r>
                <a:r>
                  <a:rPr lang="en-US" dirty="0"/>
                  <a:t> ±1. </a:t>
                </a:r>
                <a:r>
                  <a:rPr lang="en-US" dirty="0" err="1"/>
                  <a:t>Pošto</a:t>
                </a:r>
                <a:r>
                  <a:rPr lang="en-US" dirty="0"/>
                  <a:t> se u </a:t>
                </a:r>
                <a:r>
                  <a:rPr lang="en-US" dirty="0" err="1"/>
                  <a:t>trenutku</a:t>
                </a:r>
                <a:r>
                  <a:rPr lang="en-US" dirty="0"/>
                  <a:t> </a:t>
                </a:r>
                <a:r>
                  <a:rPr lang="en-US" dirty="0" err="1"/>
                  <a:t>merenja</a:t>
                </a:r>
                <a:r>
                  <a:rPr lang="en-US" dirty="0"/>
                  <a:t> </a:t>
                </a:r>
                <a:r>
                  <a:rPr lang="sr-Latn-RS" sz="1200" b="0" i="0">
                    <a:solidFill>
                      <a:schemeClr val="tx1"/>
                    </a:solidFill>
                    <a:latin typeface="Cambria Math" panose="02040503050406030204" pitchFamily="18" charset="0"/>
                  </a:rPr>
                  <a:t>𝑧</a:t>
                </a:r>
                <a:r>
                  <a:rPr lang="en-US" dirty="0"/>
                  <a:t> </a:t>
                </a:r>
                <a:r>
                  <a:rPr lang="en-US" dirty="0" err="1"/>
                  <a:t>svodi</a:t>
                </a:r>
                <a:r>
                  <a:rPr lang="en-US" dirty="0"/>
                  <a:t> </a:t>
                </a:r>
                <a:r>
                  <a:rPr lang="en-US" dirty="0" err="1"/>
                  <a:t>na</a:t>
                </a:r>
                <a:r>
                  <a:rPr lang="en-US" dirty="0"/>
                  <a:t> </a:t>
                </a:r>
                <a:r>
                  <a:rPr lang="en-US" dirty="0" err="1"/>
                  <a:t>jednu</a:t>
                </a:r>
                <a:r>
                  <a:rPr lang="en-US" dirty="0"/>
                  <a:t> </a:t>
                </a:r>
                <a:r>
                  <a:rPr lang="en-US" dirty="0" err="1"/>
                  <a:t>vrednost</a:t>
                </a:r>
                <a:r>
                  <a:rPr lang="en-US" dirty="0"/>
                  <a:t>, </a:t>
                </a:r>
                <a:r>
                  <a:rPr lang="en-US" dirty="0" err="1"/>
                  <a:t>unutrašnja</a:t>
                </a:r>
                <a:r>
                  <a:rPr lang="en-US" dirty="0"/>
                  <a:t> </a:t>
                </a:r>
                <a:r>
                  <a:rPr lang="en-US" dirty="0" err="1"/>
                  <a:t>suma</a:t>
                </a:r>
                <a:r>
                  <a:rPr lang="en-US" dirty="0"/>
                  <a:t> </a:t>
                </a:r>
                <a:r>
                  <a:rPr lang="en-US" dirty="0" err="1"/>
                  <a:t>predstavlja</a:t>
                </a:r>
                <a:r>
                  <a:rPr lang="en-US" dirty="0"/>
                  <a:t> </a:t>
                </a:r>
                <a:r>
                  <a:rPr lang="en-US" dirty="0" err="1"/>
                  <a:t>amplitudu</a:t>
                </a:r>
                <a:r>
                  <a:rPr lang="en-US" dirty="0"/>
                  <a:t> </a:t>
                </a:r>
                <a:r>
                  <a:rPr lang="en-US" dirty="0" err="1"/>
                  <a:t>verovatnoće</a:t>
                </a:r>
                <a:r>
                  <a:rPr lang="en-US" dirty="0"/>
                  <a:t> </a:t>
                </a:r>
                <a:r>
                  <a:rPr lang="en-US" dirty="0" err="1"/>
                  <a:t>čiji</a:t>
                </a:r>
                <a:r>
                  <a:rPr lang="en-US" dirty="0"/>
                  <a:t> </a:t>
                </a:r>
                <a:r>
                  <a:rPr lang="en-US" dirty="0" err="1"/>
                  <a:t>kvadrat</a:t>
                </a:r>
                <a:r>
                  <a:rPr lang="en-US" dirty="0"/>
                  <a:t> </a:t>
                </a:r>
                <a:r>
                  <a:rPr lang="en-US" dirty="0" err="1"/>
                  <a:t>daje</a:t>
                </a:r>
                <a:r>
                  <a:rPr lang="en-US" baseline="0" dirty="0"/>
                  <a:t> </a:t>
                </a:r>
                <a:r>
                  <a:rPr lang="en-US" dirty="0" err="1"/>
                  <a:t>verovatnoću</a:t>
                </a:r>
                <a:r>
                  <a:rPr lang="en-US" dirty="0"/>
                  <a:t> </a:t>
                </a:r>
                <a:r>
                  <a:rPr lang="en-US" dirty="0" err="1"/>
                  <a:t>merenja</a:t>
                </a:r>
                <a:r>
                  <a:rPr lang="en-US" dirty="0"/>
                  <a:t>. </a:t>
                </a:r>
                <a:r>
                  <a:rPr lang="en-US" dirty="0" err="1"/>
                  <a:t>Stavljajući</a:t>
                </a:r>
                <a:r>
                  <a:rPr lang="en-US" dirty="0"/>
                  <a:t> da </a:t>
                </a:r>
                <a:r>
                  <a:rPr lang="en-US" dirty="0" err="1"/>
                  <a:t>je</a:t>
                </a:r>
                <a:r>
                  <a:rPr lang="en-US" dirty="0"/>
                  <a:t> </a:t>
                </a:r>
                <a:r>
                  <a:rPr lang="sr-Latn-RS" sz="1200" b="0" i="0">
                    <a:solidFill>
                      <a:schemeClr val="tx1"/>
                    </a:solidFill>
                    <a:latin typeface="Cambria Math" panose="02040503050406030204" pitchFamily="18" charset="0"/>
                  </a:rPr>
                  <a:t>𝑧</a:t>
                </a:r>
                <a:r>
                  <a:rPr lang="en-US" dirty="0"/>
                  <a:t>=00... </a:t>
                </a:r>
                <a:r>
                  <a:rPr lang="en-US" dirty="0" err="1"/>
                  <a:t>dobija</a:t>
                </a:r>
                <a:r>
                  <a:rPr lang="en-US" dirty="0"/>
                  <a:t> se da </a:t>
                </a:r>
                <a:r>
                  <a:rPr lang="en-US" dirty="0" err="1"/>
                  <a:t>je</a:t>
                </a:r>
                <a:r>
                  <a:rPr lang="en-US" dirty="0"/>
                  <a:t> </a:t>
                </a:r>
                <a:r>
                  <a:rPr lang="en-US" dirty="0" err="1"/>
                  <a:t>verovatnoća</a:t>
                </a:r>
                <a:r>
                  <a:rPr lang="en-US" dirty="0"/>
                  <a:t> </a:t>
                </a:r>
                <a:r>
                  <a:rPr lang="en-US" dirty="0" err="1"/>
                  <a:t>merenja</a:t>
                </a:r>
                <a:r>
                  <a:rPr lang="en-US" dirty="0"/>
                  <a:t> </a:t>
                </a:r>
                <a:r>
                  <a:rPr lang="en-US" dirty="0" err="1"/>
                  <a:t>nule</a:t>
                </a:r>
                <a:r>
                  <a:rPr lang="en-US" dirty="0"/>
                  <a:t> </a:t>
                </a:r>
                <a:r>
                  <a:rPr lang="en-US" dirty="0" err="1"/>
                  <a:t>jednaka</a:t>
                </a:r>
                <a:r>
                  <a:rPr lang="en-US" dirty="0"/>
                  <a:t> 1. </a:t>
                </a:r>
                <a:r>
                  <a:rPr lang="en-US" dirty="0" err="1"/>
                  <a:t>Drugim</a:t>
                </a:r>
                <a:r>
                  <a:rPr lang="en-US" dirty="0"/>
                  <a:t> </a:t>
                </a:r>
                <a:r>
                  <a:rPr lang="en-US" dirty="0" err="1"/>
                  <a:t>rečima</a:t>
                </a:r>
                <a:r>
                  <a:rPr lang="en-US" dirty="0"/>
                  <a:t>, </a:t>
                </a:r>
                <a:r>
                  <a:rPr lang="en-US" dirty="0" err="1"/>
                  <a:t>ako</a:t>
                </a:r>
                <a:r>
                  <a:rPr lang="en-US" dirty="0"/>
                  <a:t> se </a:t>
                </a:r>
                <a:r>
                  <a:rPr lang="en-US" dirty="0" err="1"/>
                  <a:t>gornji</a:t>
                </a:r>
                <a:r>
                  <a:rPr lang="en-US" dirty="0"/>
                  <a:t>, </a:t>
                </a:r>
                <a:r>
                  <a:rPr lang="en-US" sz="1200" i="0">
                    <a:latin typeface="Cambria Math" panose="02040503050406030204" pitchFamily="18" charset="0"/>
                  </a:rPr>
                  <a:t>𝑥</a:t>
                </a:r>
                <a:r>
                  <a:rPr lang="en-US" dirty="0"/>
                  <a:t> </a:t>
                </a:r>
                <a:r>
                  <a:rPr lang="en-US" dirty="0" err="1"/>
                  <a:t>registar</a:t>
                </a:r>
                <a:r>
                  <a:rPr lang="en-US" dirty="0"/>
                  <a:t> </a:t>
                </a:r>
                <a:r>
                  <a:rPr lang="en-US" dirty="0" err="1"/>
                  <a:t>izmeri</a:t>
                </a:r>
                <a:r>
                  <a:rPr lang="en-US" dirty="0"/>
                  <a:t> </a:t>
                </a:r>
                <a:r>
                  <a:rPr lang="en-US" dirty="0" err="1"/>
                  <a:t>kao</a:t>
                </a:r>
                <a:r>
                  <a:rPr lang="en-US" dirty="0"/>
                  <a:t> </a:t>
                </a:r>
                <a:r>
                  <a:rPr lang="en-US" dirty="0" err="1"/>
                  <a:t>niz</a:t>
                </a:r>
                <a:r>
                  <a:rPr lang="en-US" dirty="0"/>
                  <a:t> </a:t>
                </a:r>
                <a:r>
                  <a:rPr lang="en-US" dirty="0" err="1"/>
                  <a:t>nula</a:t>
                </a:r>
                <a:r>
                  <a:rPr lang="en-US" dirty="0"/>
                  <a:t>, </a:t>
                </a:r>
                <a:r>
                  <a:rPr lang="en-US" dirty="0" err="1"/>
                  <a:t>funkcija</a:t>
                </a:r>
                <a:r>
                  <a:rPr lang="en-US" dirty="0"/>
                  <a:t> </a:t>
                </a:r>
                <a:r>
                  <a:rPr lang="en-US" dirty="0" err="1"/>
                  <a:t>je</a:t>
                </a:r>
                <a:r>
                  <a:rPr lang="en-US" dirty="0"/>
                  <a:t> </a:t>
                </a:r>
                <a:r>
                  <a:rPr lang="en-US" dirty="0" err="1"/>
                  <a:t>konstantna</a:t>
                </a:r>
                <a:r>
                  <a:rPr lang="en-US" dirty="0"/>
                  <a:t>, </a:t>
                </a:r>
                <a:r>
                  <a:rPr lang="en-US" dirty="0" err="1"/>
                  <a:t>što</a:t>
                </a:r>
                <a:r>
                  <a:rPr lang="en-US" dirty="0"/>
                  <a:t> </a:t>
                </a:r>
                <a:r>
                  <a:rPr lang="en-US" dirty="0" err="1"/>
                  <a:t>je</a:t>
                </a:r>
                <a:r>
                  <a:rPr lang="en-US" dirty="0"/>
                  <a:t> </a:t>
                </a:r>
                <a:r>
                  <a:rPr lang="en-US" dirty="0" err="1"/>
                  <a:t>algoritam</a:t>
                </a:r>
                <a:r>
                  <a:rPr lang="en-US" dirty="0"/>
                  <a:t> </a:t>
                </a:r>
                <a:r>
                  <a:rPr lang="en-US" dirty="0" err="1"/>
                  <a:t>i</a:t>
                </a:r>
                <a:r>
                  <a:rPr lang="en-US" dirty="0"/>
                  <a:t> </a:t>
                </a:r>
                <a:r>
                  <a:rPr lang="en-US" dirty="0" err="1"/>
                  <a:t>tvrdio</a:t>
                </a:r>
                <a:r>
                  <a:rPr lang="en-US" dirty="0"/>
                  <a: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err="1"/>
                  <a:t>Za</a:t>
                </a:r>
                <a:r>
                  <a:rPr lang="en-US" dirty="0"/>
                  <a:t> </a:t>
                </a:r>
                <a:r>
                  <a:rPr lang="en-US" dirty="0" err="1"/>
                  <a:t>proveru</a:t>
                </a:r>
                <a:r>
                  <a:rPr lang="en-US" dirty="0"/>
                  <a:t> da li </a:t>
                </a:r>
                <a:r>
                  <a:rPr lang="en-US" dirty="0" err="1"/>
                  <a:t>je</a:t>
                </a:r>
                <a:r>
                  <a:rPr lang="en-US" dirty="0"/>
                  <a:t> </a:t>
                </a:r>
                <a:r>
                  <a:rPr lang="en-US" dirty="0" err="1"/>
                  <a:t>funkcija</a:t>
                </a:r>
                <a:r>
                  <a:rPr lang="en-US" dirty="0"/>
                  <a:t> </a:t>
                </a:r>
                <a:r>
                  <a:rPr lang="en-US" dirty="0" err="1"/>
                  <a:t>balansirana</a:t>
                </a:r>
                <a:r>
                  <a:rPr lang="en-US" dirty="0"/>
                  <a:t>, </a:t>
                </a:r>
                <a:r>
                  <a:rPr lang="en-US" dirty="0" err="1"/>
                  <a:t>opet</a:t>
                </a:r>
                <a:r>
                  <a:rPr lang="en-US" dirty="0"/>
                  <a:t> se </a:t>
                </a:r>
                <a:r>
                  <a:rPr lang="en-US" dirty="0" err="1"/>
                  <a:t>proverava</a:t>
                </a:r>
                <a:r>
                  <a:rPr lang="en-US" dirty="0"/>
                  <a:t> </a:t>
                </a:r>
                <a:r>
                  <a:rPr lang="en-US" dirty="0" err="1"/>
                  <a:t>verovatnoću</a:t>
                </a:r>
                <a:r>
                  <a:rPr lang="en-US" dirty="0"/>
                  <a:t> </a:t>
                </a:r>
                <a:r>
                  <a:rPr lang="en-US" dirty="0" err="1"/>
                  <a:t>dobijanja</a:t>
                </a:r>
                <a:r>
                  <a:rPr lang="en-US" dirty="0"/>
                  <a:t> </a:t>
                </a:r>
                <a:r>
                  <a:rPr lang="en-US" dirty="0" err="1"/>
                  <a:t>nule</a:t>
                </a:r>
                <a:r>
                  <a:rPr lang="en-US" dirty="0"/>
                  <a:t>, </a:t>
                </a:r>
                <a:r>
                  <a:rPr lang="en-US" dirty="0" err="1"/>
                  <a:t>koja</a:t>
                </a:r>
                <a:r>
                  <a:rPr lang="en-US" dirty="0"/>
                  <a:t> u </a:t>
                </a:r>
                <a:r>
                  <a:rPr lang="en-US" dirty="0" err="1"/>
                  <a:t>ovom</a:t>
                </a:r>
                <a:r>
                  <a:rPr lang="en-US" dirty="0"/>
                  <a:t> </a:t>
                </a:r>
                <a:r>
                  <a:rPr lang="en-US" dirty="0" err="1"/>
                  <a:t>slučaju</a:t>
                </a:r>
                <a:r>
                  <a:rPr lang="en-US" dirty="0"/>
                  <a:t> mora </a:t>
                </a:r>
                <a:r>
                  <a:rPr lang="en-US" dirty="0" err="1"/>
                  <a:t>biti</a:t>
                </a:r>
                <a:r>
                  <a:rPr lang="en-US" dirty="0"/>
                  <a:t> 0. </a:t>
                </a:r>
                <a:r>
                  <a:rPr lang="en-US" dirty="0" err="1"/>
                  <a:t>Kako</a:t>
                </a:r>
                <a:r>
                  <a:rPr lang="en-US" dirty="0"/>
                  <a:t> u </a:t>
                </a:r>
                <a:r>
                  <a:rPr lang="en-US" dirty="0" err="1"/>
                  <a:t>slučaju</a:t>
                </a:r>
                <a:r>
                  <a:rPr lang="en-US" dirty="0"/>
                  <a:t> </a:t>
                </a:r>
                <a:r>
                  <a:rPr lang="en-US" dirty="0" err="1"/>
                  <a:t>balansirane</a:t>
                </a:r>
                <a:r>
                  <a:rPr lang="en-US" dirty="0"/>
                  <a:t> </a:t>
                </a:r>
                <a:r>
                  <a:rPr lang="en-US" dirty="0" err="1"/>
                  <a:t>funkcije</a:t>
                </a:r>
                <a:r>
                  <a:rPr lang="en-US" dirty="0"/>
                  <a:t> </a:t>
                </a:r>
                <a:r>
                  <a:rPr lang="en-US" sz="1200" i="0">
                    <a:latin typeface="Cambria Math" panose="02040503050406030204" pitchFamily="18" charset="0"/>
                  </a:rPr>
                  <a:t>𝑓(𝑥</a:t>
                </a:r>
                <a:r>
                  <a:rPr lang="sr-Latn-RS" sz="1200" b="0" i="0">
                    <a:latin typeface="Cambria Math" panose="02040503050406030204" pitchFamily="18" charset="0"/>
                  </a:rPr>
                  <a:t>)</a:t>
                </a:r>
                <a:r>
                  <a:rPr lang="en-US" dirty="0"/>
                  <a:t> </a:t>
                </a:r>
                <a:r>
                  <a:rPr lang="en-US" dirty="0" err="1"/>
                  <a:t>unutar</a:t>
                </a:r>
                <a:r>
                  <a:rPr lang="en-US" dirty="0"/>
                  <a:t> </a:t>
                </a:r>
                <a:r>
                  <a:rPr lang="en-US" dirty="0" err="1"/>
                  <a:t>sume</a:t>
                </a:r>
                <a:r>
                  <a:rPr lang="en-US" dirty="0"/>
                  <a:t> u </a:t>
                </a:r>
                <a:r>
                  <a:rPr lang="en-US" dirty="0" err="1"/>
                  <a:t>jednoj</a:t>
                </a:r>
                <a:r>
                  <a:rPr lang="en-US" dirty="0"/>
                  <a:t> </a:t>
                </a:r>
                <a:r>
                  <a:rPr lang="en-US" dirty="0" err="1"/>
                  <a:t>polovini</a:t>
                </a:r>
                <a:r>
                  <a:rPr lang="en-US" dirty="0"/>
                  <a:t> </a:t>
                </a:r>
                <a:r>
                  <a:rPr lang="en-US" dirty="0" err="1"/>
                  <a:t>slučajeva</a:t>
                </a:r>
                <a:r>
                  <a:rPr lang="en-US" dirty="0"/>
                  <a:t> </a:t>
                </a:r>
                <a:r>
                  <a:rPr lang="en-US" dirty="0" err="1"/>
                  <a:t>daje</a:t>
                </a:r>
                <a:r>
                  <a:rPr lang="en-US" dirty="0"/>
                  <a:t> 0 a u </a:t>
                </a:r>
                <a:r>
                  <a:rPr lang="en-US" dirty="0" err="1"/>
                  <a:t>drugoj</a:t>
                </a:r>
                <a:r>
                  <a:rPr lang="en-US" dirty="0"/>
                  <a:t> </a:t>
                </a:r>
                <a:r>
                  <a:rPr lang="en-US" dirty="0" err="1"/>
                  <a:t>polovini</a:t>
                </a:r>
                <a:r>
                  <a:rPr lang="en-US" dirty="0"/>
                  <a:t> 1,</a:t>
                </a:r>
                <a:r>
                  <a:rPr lang="en-US" baseline="0" dirty="0"/>
                  <a:t> </a:t>
                </a:r>
                <a:r>
                  <a:rPr lang="en-US" baseline="0" dirty="0" err="1"/>
                  <a:t>članovi</a:t>
                </a:r>
                <a:r>
                  <a:rPr lang="en-US" baseline="0" dirty="0"/>
                  <a:t> </a:t>
                </a:r>
                <a:r>
                  <a:rPr lang="en-US" baseline="0" dirty="0" err="1"/>
                  <a:t>sume</a:t>
                </a:r>
                <a:r>
                  <a:rPr lang="en-US" baseline="0" dirty="0"/>
                  <a:t> se </a:t>
                </a:r>
                <a:r>
                  <a:rPr lang="en-US" baseline="0" dirty="0" err="1"/>
                  <a:t>poništavaju</a:t>
                </a:r>
                <a:r>
                  <a:rPr lang="en-US" baseline="0" dirty="0"/>
                  <a:t> </a:t>
                </a:r>
                <a:r>
                  <a:rPr lang="en-US" dirty="0" err="1"/>
                  <a:t>dajući</a:t>
                </a:r>
                <a:r>
                  <a:rPr lang="en-US" baseline="0" dirty="0"/>
                  <a:t> </a:t>
                </a:r>
                <a:r>
                  <a:rPr lang="en-US" baseline="0" dirty="0" err="1"/>
                  <a:t>verovatnoću</a:t>
                </a:r>
                <a:r>
                  <a:rPr lang="en-US" baseline="0" dirty="0"/>
                  <a:t> </a:t>
                </a:r>
                <a:r>
                  <a:rPr lang="en-US" baseline="0" dirty="0" err="1"/>
                  <a:t>merenja</a:t>
                </a:r>
                <a:r>
                  <a:rPr lang="en-US" baseline="0" dirty="0"/>
                  <a:t> 0</a:t>
                </a:r>
                <a:r>
                  <a:rPr lang="en-US" dirty="0"/>
                  <a:t>. </a:t>
                </a:r>
                <a:r>
                  <a:rPr lang="en-US" dirty="0" err="1"/>
                  <a:t>Drugim</a:t>
                </a:r>
                <a:r>
                  <a:rPr lang="en-US" dirty="0"/>
                  <a:t> </a:t>
                </a:r>
                <a:r>
                  <a:rPr lang="en-US" dirty="0" err="1"/>
                  <a:t>rečima</a:t>
                </a:r>
                <a:r>
                  <a:rPr lang="en-US" dirty="0"/>
                  <a:t>, </a:t>
                </a:r>
                <a:r>
                  <a:rPr lang="en-US" dirty="0" err="1"/>
                  <a:t>ako</a:t>
                </a:r>
                <a:r>
                  <a:rPr lang="en-US" dirty="0"/>
                  <a:t> </a:t>
                </a:r>
                <a:r>
                  <a:rPr lang="en-US" dirty="0" err="1"/>
                  <a:t>je</a:t>
                </a:r>
                <a:r>
                  <a:rPr lang="en-US" dirty="0"/>
                  <a:t> </a:t>
                </a:r>
                <a:r>
                  <a:rPr lang="en-US" dirty="0" err="1"/>
                  <a:t>funkcija</a:t>
                </a:r>
                <a:r>
                  <a:rPr lang="en-US" dirty="0"/>
                  <a:t> </a:t>
                </a:r>
                <a:r>
                  <a:rPr lang="en-US" dirty="0" err="1"/>
                  <a:t>balansirana</a:t>
                </a:r>
                <a:r>
                  <a:rPr lang="en-US" dirty="0"/>
                  <a:t>, </a:t>
                </a:r>
                <a:r>
                  <a:rPr lang="en-US" dirty="0" err="1"/>
                  <a:t>merenje</a:t>
                </a:r>
                <a:r>
                  <a:rPr lang="en-US" dirty="0"/>
                  <a:t> </a:t>
                </a:r>
                <a:r>
                  <a:rPr lang="en-US" dirty="0" err="1"/>
                  <a:t>će</a:t>
                </a:r>
                <a:r>
                  <a:rPr lang="en-US" dirty="0"/>
                  <a:t> </a:t>
                </a:r>
                <a:r>
                  <a:rPr lang="en-US" dirty="0" err="1"/>
                  <a:t>dati</a:t>
                </a:r>
                <a:r>
                  <a:rPr lang="en-US" dirty="0"/>
                  <a:t> </a:t>
                </a:r>
                <a:r>
                  <a:rPr lang="en-US" dirty="0" err="1"/>
                  <a:t>neki</a:t>
                </a:r>
                <a:r>
                  <a:rPr lang="en-US" dirty="0"/>
                  <a:t> </a:t>
                </a:r>
                <a:r>
                  <a:rPr lang="en-US" dirty="0" err="1"/>
                  <a:t>binarni</a:t>
                </a:r>
                <a:r>
                  <a:rPr lang="en-US" dirty="0"/>
                  <a:t> </a:t>
                </a:r>
                <a:r>
                  <a:rPr lang="en-US" dirty="0" err="1"/>
                  <a:t>niz</a:t>
                </a:r>
                <a:r>
                  <a:rPr lang="en-US" dirty="0"/>
                  <a:t> </a:t>
                </a:r>
                <a:r>
                  <a:rPr lang="en-US" dirty="0" err="1"/>
                  <a:t>različit</a:t>
                </a:r>
                <a:r>
                  <a:rPr lang="en-US" dirty="0"/>
                  <a:t> od </a:t>
                </a:r>
                <a:r>
                  <a:rPr lang="en-US" dirty="0" err="1"/>
                  <a:t>nule</a:t>
                </a:r>
                <a:r>
                  <a:rPr lang="en-US" dirty="0"/>
                  <a:t>, </a:t>
                </a:r>
                <a:r>
                  <a:rPr lang="en-US" dirty="0" err="1"/>
                  <a:t>što</a:t>
                </a:r>
                <a:r>
                  <a:rPr lang="en-US" dirty="0"/>
                  <a:t> </a:t>
                </a:r>
                <a:r>
                  <a:rPr lang="en-US" dirty="0" err="1"/>
                  <a:t>je</a:t>
                </a:r>
                <a:r>
                  <a:rPr lang="en-US" dirty="0"/>
                  <a:t> </a:t>
                </a:r>
                <a:r>
                  <a:rPr lang="en-US" dirty="0" err="1"/>
                  <a:t>algoritam</a:t>
                </a:r>
                <a:r>
                  <a:rPr lang="en-US" dirty="0"/>
                  <a:t> </a:t>
                </a:r>
                <a:r>
                  <a:rPr lang="en-US" dirty="0" err="1"/>
                  <a:t>i</a:t>
                </a:r>
                <a:r>
                  <a:rPr lang="en-US" dirty="0"/>
                  <a:t> </a:t>
                </a:r>
                <a:r>
                  <a:rPr lang="en-US" dirty="0" err="1"/>
                  <a:t>tvrdio</a:t>
                </a:r>
                <a:r>
                  <a:rPr lang="en-US" dirty="0"/>
                  <a:t>.</a:t>
                </a:r>
              </a:p>
              <a:p>
                <a:pPr marL="171450" indent="-171450">
                  <a:buFont typeface="Arial" panose="020B0604020202020204" pitchFamily="34" charset="0"/>
                  <a:buChar cha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10183217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The figure shows an experimental circuit used to test whether the Deutsch–</a:t>
                </a:r>
                <a:r>
                  <a:rPr lang="en-ZA" b="0" dirty="0" err="1"/>
                  <a:t>Jozsa</a:t>
                </a:r>
                <a:r>
                  <a:rPr lang="en-ZA" b="0" dirty="0"/>
                  <a:t> algorithm can recognize a balanced function for bit strings of length 3. The oracle, built using three CNOT gates, implements a balanced function: half of the inputs produce the output 0, while the other half produce the output 1, as shown in the truth table.</a:t>
                </a:r>
              </a:p>
              <a:p>
                <a:endParaRPr lang="en-ZA" b="0" dirty="0"/>
              </a:p>
              <a:p>
                <a:r>
                  <a:rPr lang="en-ZA" b="0" dirty="0"/>
                  <a:t>This oracle is then placed inside the Deutsch–</a:t>
                </a:r>
                <a:r>
                  <a:rPr lang="en-ZA" b="0" dirty="0" err="1"/>
                  <a:t>Jozsa</a:t>
                </a:r>
                <a:r>
                  <a:rPr lang="en-ZA" b="0" dirty="0"/>
                  <a:t> circuit, and the upper register is prepared in a superposition of all possible inputs. After running the circuit, the measurement result is 111. Since this result is different from 000, the algorithm correctly identifies the function as balanced.</a:t>
                </a:r>
              </a:p>
            </p:txBody>
          </p:sp>
        </mc:Choice>
        <mc:Fallback xmlns="">
          <p:sp>
            <p:nvSpPr>
              <p:cNvPr id="3" name="Notes Placeholder 2"/>
              <p:cNvSpPr>
                <a:spLocks noGrp="1"/>
              </p:cNvSpPr>
              <p:nvPr>
                <p:ph type="body" idx="1"/>
              </p:nvPr>
            </p:nvSpPr>
            <p:spPr/>
            <p:txBody>
              <a:bodyPr/>
              <a:lstStyle/>
              <a:p>
                <a:r>
                  <a:rPr lang="en-US" dirty="0"/>
                  <a:t>Slika </a:t>
                </a:r>
                <a:r>
                  <a:rPr lang="en-US" dirty="0" err="1"/>
                  <a:t>prikazuje</a:t>
                </a:r>
                <a:r>
                  <a:rPr lang="en-US" dirty="0"/>
                  <a:t> </a:t>
                </a:r>
                <a:r>
                  <a:rPr lang="en-US" dirty="0" err="1"/>
                  <a:t>eksperimntalno</a:t>
                </a:r>
                <a:r>
                  <a:rPr lang="en-US" dirty="0"/>
                  <a:t> </a:t>
                </a:r>
                <a:r>
                  <a:rPr lang="en-US" dirty="0" err="1"/>
                  <a:t>kolo</a:t>
                </a:r>
                <a:r>
                  <a:rPr lang="en-US" dirty="0"/>
                  <a:t> </a:t>
                </a:r>
                <a:r>
                  <a:rPr lang="en-US" dirty="0" err="1"/>
                  <a:t>za</a:t>
                </a:r>
                <a:r>
                  <a:rPr lang="en-US" dirty="0"/>
                  <a:t> </a:t>
                </a:r>
                <a:r>
                  <a:rPr lang="en-US" dirty="0" err="1"/>
                  <a:t>proveru</a:t>
                </a:r>
                <a:r>
                  <a:rPr lang="en-US" dirty="0"/>
                  <a:t> </a:t>
                </a:r>
                <a:r>
                  <a:rPr lang="en-US" dirty="0" err="1"/>
                  <a:t>Dojč-Džosa</a:t>
                </a:r>
                <a:r>
                  <a:rPr lang="en-US" dirty="0"/>
                  <a:t> </a:t>
                </a:r>
                <a:r>
                  <a:rPr lang="en-US" dirty="0" err="1"/>
                  <a:t>algoritma</a:t>
                </a:r>
                <a:r>
                  <a:rPr lang="en-US" dirty="0"/>
                  <a:t> </a:t>
                </a:r>
                <a:r>
                  <a:rPr lang="en-US" dirty="0" err="1"/>
                  <a:t>za</a:t>
                </a:r>
                <a:r>
                  <a:rPr lang="en-US" dirty="0"/>
                  <a:t> </a:t>
                </a:r>
                <a:r>
                  <a:rPr lang="sr-Latn-RS" sz="1200" b="0" i="0">
                    <a:latin typeface="Cambria Math" panose="02040503050406030204" pitchFamily="18" charset="0"/>
                  </a:rPr>
                  <a:t>𝑛=3</a:t>
                </a:r>
                <a:r>
                  <a:rPr lang="en-US" dirty="0"/>
                  <a:t>. </a:t>
                </a:r>
                <a:r>
                  <a:rPr lang="en-US" dirty="0" err="1"/>
                  <a:t>Orakl</a:t>
                </a:r>
                <a:r>
                  <a:rPr lang="en-US" dirty="0"/>
                  <a:t> u </a:t>
                </a:r>
                <a:r>
                  <a:rPr lang="en-US" dirty="0" err="1"/>
                  <a:t>sredini</a:t>
                </a:r>
                <a:r>
                  <a:rPr lang="en-US" dirty="0"/>
                  <a:t> kola, </a:t>
                </a:r>
                <a:r>
                  <a:rPr lang="en-US" dirty="0" err="1"/>
                  <a:t>ima</a:t>
                </a:r>
                <a:r>
                  <a:rPr lang="en-US" dirty="0"/>
                  <a:t> 3 </a:t>
                </a:r>
                <a:r>
                  <a:rPr lang="en-US" dirty="0" err="1"/>
                  <a:t>ulaza</a:t>
                </a:r>
                <a:r>
                  <a:rPr lang="en-US" dirty="0"/>
                  <a:t> </a:t>
                </a:r>
                <a:r>
                  <a:rPr lang="en-US" dirty="0" err="1"/>
                  <a:t>i</a:t>
                </a:r>
                <a:r>
                  <a:rPr lang="en-US" dirty="0"/>
                  <a:t> </a:t>
                </a:r>
                <a:r>
                  <a:rPr lang="en-US" dirty="0" err="1"/>
                  <a:t>jedan</a:t>
                </a:r>
                <a:r>
                  <a:rPr lang="en-US" dirty="0"/>
                  <a:t> </a:t>
                </a:r>
                <a:r>
                  <a:rPr lang="en-US" dirty="0" err="1"/>
                  <a:t>izlaz</a:t>
                </a:r>
                <a:r>
                  <a:rPr lang="en-US" dirty="0"/>
                  <a:t> (</a:t>
                </a:r>
                <a:r>
                  <a:rPr lang="en-US" dirty="0" err="1"/>
                  <a:t>donji</a:t>
                </a:r>
                <a:r>
                  <a:rPr lang="en-US" dirty="0"/>
                  <a:t> kubit). </a:t>
                </a:r>
              </a:p>
              <a:p>
                <a:endParaRPr lang="en-US" dirty="0"/>
              </a:p>
              <a:p>
                <a:r>
                  <a:rPr lang="en-US" dirty="0"/>
                  <a:t>Leva </a:t>
                </a:r>
                <a:r>
                  <a:rPr lang="en-US" dirty="0" err="1"/>
                  <a:t>kolona</a:t>
                </a:r>
                <a:r>
                  <a:rPr lang="en-US" dirty="0"/>
                  <a:t> </a:t>
                </a:r>
                <a:r>
                  <a:rPr lang="en-US" dirty="0" err="1"/>
                  <a:t>tabele</a:t>
                </a:r>
                <a:r>
                  <a:rPr lang="en-US" dirty="0"/>
                  <a:t> </a:t>
                </a:r>
                <a:r>
                  <a:rPr lang="en-US" dirty="0" err="1"/>
                  <a:t>prikazuje</a:t>
                </a:r>
                <a:r>
                  <a:rPr lang="en-US" dirty="0"/>
                  <a:t> </a:t>
                </a:r>
                <a:r>
                  <a:rPr lang="en-US" dirty="0" err="1"/>
                  <a:t>kombinacije</a:t>
                </a:r>
                <a:r>
                  <a:rPr lang="en-US" dirty="0"/>
                  <a:t> </a:t>
                </a:r>
                <a:r>
                  <a:rPr lang="en-US" dirty="0" err="1"/>
                  <a:t>ulaza</a:t>
                </a:r>
                <a:r>
                  <a:rPr lang="en-US" dirty="0"/>
                  <a:t> </a:t>
                </a:r>
                <a:r>
                  <a:rPr lang="en-US" dirty="0" err="1"/>
                  <a:t>za</a:t>
                </a:r>
                <a:r>
                  <a:rPr lang="en-US" dirty="0"/>
                  <a:t> </a:t>
                </a:r>
                <a:r>
                  <a:rPr lang="en-US" dirty="0" err="1"/>
                  <a:t>koje</a:t>
                </a:r>
                <a:r>
                  <a:rPr lang="en-US" dirty="0"/>
                  <a:t> </a:t>
                </a:r>
                <a:r>
                  <a:rPr lang="en-US" dirty="0" err="1"/>
                  <a:t>je</a:t>
                </a:r>
                <a:r>
                  <a:rPr lang="en-US" dirty="0"/>
                  <a:t> </a:t>
                </a:r>
                <a:r>
                  <a:rPr lang="en-US" dirty="0" err="1"/>
                  <a:t>izlaz</a:t>
                </a:r>
                <a:r>
                  <a:rPr lang="en-US" dirty="0"/>
                  <a:t> </a:t>
                </a:r>
                <a:r>
                  <a:rPr lang="en-US" dirty="0" err="1"/>
                  <a:t>iz</a:t>
                </a:r>
                <a:r>
                  <a:rPr lang="en-US" dirty="0"/>
                  <a:t> </a:t>
                </a:r>
                <a:r>
                  <a:rPr lang="en-US" dirty="0" err="1"/>
                  <a:t>orakla</a:t>
                </a:r>
                <a:r>
                  <a:rPr lang="en-US" dirty="0"/>
                  <a:t> </a:t>
                </a:r>
                <a:r>
                  <a:rPr lang="en-US" dirty="0" err="1"/>
                  <a:t>jednak</a:t>
                </a:r>
                <a:r>
                  <a:rPr lang="en-US" dirty="0"/>
                  <a:t> </a:t>
                </a:r>
                <a:r>
                  <a:rPr lang="en-US" dirty="0" err="1"/>
                  <a:t>nuli</a:t>
                </a:r>
                <a:r>
                  <a:rPr lang="en-US" dirty="0"/>
                  <a:t>, </a:t>
                </a:r>
                <a:r>
                  <a:rPr lang="en-US" dirty="0" err="1"/>
                  <a:t>dok</a:t>
                </a:r>
                <a:r>
                  <a:rPr lang="en-US" dirty="0"/>
                  <a:t> </a:t>
                </a:r>
                <a:r>
                  <a:rPr lang="en-US" dirty="0" err="1"/>
                  <a:t>desna</a:t>
                </a:r>
                <a:r>
                  <a:rPr lang="en-US" dirty="0"/>
                  <a:t> </a:t>
                </a:r>
                <a:r>
                  <a:rPr lang="en-US" dirty="0" err="1"/>
                  <a:t>kolona</a:t>
                </a:r>
                <a:r>
                  <a:rPr lang="en-US" dirty="0"/>
                  <a:t>  </a:t>
                </a:r>
                <a:r>
                  <a:rPr lang="en-US" dirty="0" err="1"/>
                  <a:t>prikazuje</a:t>
                </a:r>
                <a:r>
                  <a:rPr lang="en-US" dirty="0"/>
                  <a:t> </a:t>
                </a:r>
                <a:r>
                  <a:rPr lang="en-US" dirty="0" err="1"/>
                  <a:t>kombinacije</a:t>
                </a:r>
                <a:r>
                  <a:rPr lang="en-US" dirty="0"/>
                  <a:t> </a:t>
                </a:r>
                <a:r>
                  <a:rPr lang="en-US" dirty="0" err="1"/>
                  <a:t>ulaza</a:t>
                </a:r>
                <a:r>
                  <a:rPr lang="en-US" dirty="0"/>
                  <a:t> </a:t>
                </a:r>
                <a:r>
                  <a:rPr lang="en-US" dirty="0" err="1"/>
                  <a:t>za</a:t>
                </a:r>
                <a:r>
                  <a:rPr lang="en-US" dirty="0"/>
                  <a:t> </a:t>
                </a:r>
                <a:r>
                  <a:rPr lang="en-US" dirty="0" err="1"/>
                  <a:t>koje</a:t>
                </a:r>
                <a:r>
                  <a:rPr lang="en-US" dirty="0"/>
                  <a:t> </a:t>
                </a:r>
                <a:r>
                  <a:rPr lang="en-US" dirty="0" err="1"/>
                  <a:t>je</a:t>
                </a:r>
                <a:r>
                  <a:rPr lang="en-US" dirty="0"/>
                  <a:t> </a:t>
                </a:r>
                <a:r>
                  <a:rPr lang="en-US" dirty="0" err="1"/>
                  <a:t>izlaz</a:t>
                </a:r>
                <a:r>
                  <a:rPr lang="en-US" dirty="0"/>
                  <a:t> </a:t>
                </a:r>
                <a:r>
                  <a:rPr lang="en-US" dirty="0" err="1"/>
                  <a:t>jednak</a:t>
                </a:r>
                <a:r>
                  <a:rPr lang="en-US" dirty="0"/>
                  <a:t> </a:t>
                </a:r>
                <a:r>
                  <a:rPr lang="en-US" dirty="0" err="1"/>
                  <a:t>jedinici</a:t>
                </a:r>
                <a:r>
                  <a:rPr lang="en-US" dirty="0"/>
                  <a:t>. </a:t>
                </a:r>
                <a:r>
                  <a:rPr lang="en-US" dirty="0" err="1"/>
                  <a:t>Vidi</a:t>
                </a:r>
                <a:r>
                  <a:rPr lang="en-US" dirty="0"/>
                  <a:t> se da </a:t>
                </a:r>
                <a:r>
                  <a:rPr lang="en-US" dirty="0" err="1"/>
                  <a:t>je</a:t>
                </a:r>
                <a:r>
                  <a:rPr lang="en-US" dirty="0"/>
                  <a:t> to </a:t>
                </a:r>
                <a:r>
                  <a:rPr lang="en-US" dirty="0" err="1"/>
                  <a:t>podjedank</a:t>
                </a:r>
                <a:r>
                  <a:rPr lang="en-US" dirty="0"/>
                  <a:t> </a:t>
                </a:r>
                <a:r>
                  <a:rPr lang="en-US" dirty="0" err="1"/>
                  <a:t>broj</a:t>
                </a:r>
                <a:r>
                  <a:rPr lang="en-US" dirty="0"/>
                  <a:t>, </a:t>
                </a:r>
                <a:r>
                  <a:rPr lang="en-US" dirty="0" err="1"/>
                  <a:t>odnosno</a:t>
                </a:r>
                <a:r>
                  <a:rPr lang="en-US" dirty="0"/>
                  <a:t> </a:t>
                </a:r>
                <a:r>
                  <a:rPr lang="en-US" dirty="0" err="1"/>
                  <a:t>orakl</a:t>
                </a:r>
                <a:r>
                  <a:rPr lang="en-US" dirty="0"/>
                  <a:t> </a:t>
                </a:r>
                <a:r>
                  <a:rPr lang="en-US" dirty="0" err="1"/>
                  <a:t>simulira</a:t>
                </a:r>
                <a:r>
                  <a:rPr lang="en-US" dirty="0"/>
                  <a:t> </a:t>
                </a:r>
                <a:r>
                  <a:rPr lang="en-US" dirty="0" err="1"/>
                  <a:t>balansiranu</a:t>
                </a:r>
                <a:r>
                  <a:rPr lang="en-US" dirty="0"/>
                  <a:t> </a:t>
                </a:r>
                <a:r>
                  <a:rPr lang="en-US" dirty="0" err="1"/>
                  <a:t>funkciju</a:t>
                </a:r>
                <a:r>
                  <a:rPr lang="en-US" dirty="0"/>
                  <a:t>.</a:t>
                </a:r>
              </a:p>
              <a:p>
                <a:endParaRPr lang="en-US" dirty="0"/>
              </a:p>
              <a:p>
                <a:r>
                  <a:rPr lang="en-US" dirty="0" err="1"/>
                  <a:t>Posle</a:t>
                </a:r>
                <a:r>
                  <a:rPr lang="en-US" dirty="0"/>
                  <a:t> </a:t>
                </a:r>
                <a:r>
                  <a:rPr lang="en-US" dirty="0" err="1"/>
                  <a:t>izvršavanja</a:t>
                </a:r>
                <a:r>
                  <a:rPr lang="en-US" dirty="0"/>
                  <a:t>, </a:t>
                </a:r>
                <a:r>
                  <a:rPr lang="en-US" dirty="0" err="1"/>
                  <a:t>kvantno</a:t>
                </a:r>
                <a:r>
                  <a:rPr lang="en-US" dirty="0"/>
                  <a:t> </a:t>
                </a:r>
                <a:r>
                  <a:rPr lang="en-US" dirty="0" err="1"/>
                  <a:t>kolo</a:t>
                </a:r>
                <a:r>
                  <a:rPr lang="en-US" dirty="0"/>
                  <a:t>, </a:t>
                </a:r>
                <a:r>
                  <a:rPr lang="en-US" dirty="0" err="1"/>
                  <a:t>na</a:t>
                </a:r>
                <a:r>
                  <a:rPr lang="en-US" dirty="0"/>
                  <a:t> </a:t>
                </a:r>
                <a:r>
                  <a:rPr lang="en-US" dirty="0" err="1"/>
                  <a:t>izlazu</a:t>
                </a:r>
                <a:r>
                  <a:rPr lang="en-US" dirty="0"/>
                  <a:t> </a:t>
                </a:r>
                <a:r>
                  <a:rPr lang="en-US" dirty="0" err="1"/>
                  <a:t>daje</a:t>
                </a:r>
                <a:r>
                  <a:rPr lang="en-US" dirty="0"/>
                  <a:t> </a:t>
                </a:r>
                <a:r>
                  <a:rPr lang="en-US" dirty="0" err="1"/>
                  <a:t>rezultat</a:t>
                </a:r>
                <a:r>
                  <a:rPr lang="en-US" dirty="0"/>
                  <a:t> 111, </a:t>
                </a:r>
                <a:r>
                  <a:rPr lang="en-US" dirty="0" err="1"/>
                  <a:t>što</a:t>
                </a:r>
                <a:r>
                  <a:rPr lang="en-US" dirty="0"/>
                  <a:t> </a:t>
                </a:r>
                <a:r>
                  <a:rPr lang="en-US" dirty="0" err="1"/>
                  <a:t>znači</a:t>
                </a:r>
                <a:r>
                  <a:rPr lang="en-US" dirty="0"/>
                  <a:t> da </a:t>
                </a:r>
                <a:r>
                  <a:rPr lang="en-US" dirty="0" err="1"/>
                  <a:t>je</a:t>
                </a:r>
                <a:r>
                  <a:rPr lang="en-US" dirty="0"/>
                  <a:t> </a:t>
                </a:r>
                <a:r>
                  <a:rPr lang="en-US" dirty="0" err="1"/>
                  <a:t>zaista</a:t>
                </a:r>
                <a:r>
                  <a:rPr lang="en-US" dirty="0"/>
                  <a:t> </a:t>
                </a:r>
                <a:r>
                  <a:rPr lang="en-US" dirty="0" err="1"/>
                  <a:t>detektovana</a:t>
                </a:r>
                <a:r>
                  <a:rPr lang="en-US" dirty="0"/>
                  <a:t> </a:t>
                </a:r>
                <a:r>
                  <a:rPr lang="en-US" dirty="0" err="1"/>
                  <a:t>balansirana</a:t>
                </a:r>
                <a:r>
                  <a:rPr lang="en-US" dirty="0"/>
                  <a:t> </a:t>
                </a:r>
                <a:r>
                  <a:rPr lang="en-US" dirty="0" err="1"/>
                  <a:t>funkcija</a:t>
                </a:r>
                <a:r>
                  <a:rPr lang="en-US"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22</a:t>
            </a:fld>
            <a:endParaRPr lang="en-US"/>
          </a:p>
        </p:txBody>
      </p:sp>
    </p:spTree>
    <p:extLst>
      <p:ext uri="{BB962C8B-B14F-4D97-AF65-F5344CB8AC3E}">
        <p14:creationId xmlns:p14="http://schemas.microsoft.com/office/powerpoint/2010/main" val="904726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1993, Professor Umesh </a:t>
            </a:r>
            <a:r>
              <a:rPr lang="en-ZA" b="0" dirty="0" err="1"/>
              <a:t>Vazirani</a:t>
            </a:r>
            <a:r>
              <a:rPr lang="en-ZA" b="0" dirty="0"/>
              <a:t> and his student Ethan Bernstein published a paper on the complexity theory of quantum algorithms. In this work, they introduced an algorithm that can determine an unknown binary string.</a:t>
            </a:r>
          </a:p>
          <a:p>
            <a:pPr algn="just"/>
            <a:endParaRPr lang="en-ZA" b="0" dirty="0"/>
          </a:p>
          <a:p>
            <a:pPr algn="just"/>
            <a:r>
              <a:rPr lang="en-ZA" b="0" dirty="0"/>
              <a:t>Although originally introduced as a theoretical example, the Bernstein–</a:t>
            </a:r>
            <a:r>
              <a:rPr lang="en-ZA" b="0" dirty="0" err="1"/>
              <a:t>Vazirani</a:t>
            </a:r>
            <a:r>
              <a:rPr lang="en-ZA" b="0" dirty="0"/>
              <a:t> algorithm became an important demonstration of how quantum computation can extract hidden information more efficiently than a classical approach.</a:t>
            </a:r>
          </a:p>
        </p:txBody>
      </p:sp>
      <p:sp>
        <p:nvSpPr>
          <p:cNvPr id="4" name="Slide Number Placeholder 3"/>
          <p:cNvSpPr>
            <a:spLocks noGrp="1"/>
          </p:cNvSpPr>
          <p:nvPr>
            <p:ph type="sldNum" sz="quarter" idx="5"/>
          </p:nvPr>
        </p:nvSpPr>
        <p:spPr/>
        <p:txBody>
          <a:bodyPr/>
          <a:lstStyle/>
          <a:p>
            <a:fld id="{1B2CE5E3-B8BD-D040-AC87-D640191DD8F1}" type="slidenum">
              <a:rPr lang="en-US" smtClean="0"/>
              <a:t>23</a:t>
            </a:fld>
            <a:endParaRPr lang="en-US"/>
          </a:p>
        </p:txBody>
      </p:sp>
    </p:spTree>
    <p:extLst>
      <p:ext uri="{BB962C8B-B14F-4D97-AF65-F5344CB8AC3E}">
        <p14:creationId xmlns:p14="http://schemas.microsoft.com/office/powerpoint/2010/main" val="21566005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The problem solved by the Bernstein–</a:t>
                </a:r>
                <a:r>
                  <a:rPr lang="en-ZA" b="0" dirty="0" err="1"/>
                  <a:t>Vazirani</a:t>
                </a:r>
                <a:r>
                  <a:rPr lang="en-ZA" b="0" dirty="0"/>
                  <a:t> algorithm can be informally described as follows.</a:t>
                </a:r>
              </a:p>
              <a:p>
                <a:endParaRPr lang="en-ZA" dirty="0"/>
              </a:p>
              <a:p>
                <a:r>
                  <a:rPr lang="en-ZA" dirty="0"/>
                  <a:t>Alice sets her phone password to a single digit between 0 and 7, but then forgets it. If she guesses one number at a time, it could take up to 8 tries, or about 4–5 tries on average. With a 4-digit password (0000–9999), it could take up to 10,000 tries. But there is a smarter way: instead of guessing the whole number, Alice can represent the password in binary and determine it one bit at a time.</a:t>
                </a:r>
              </a:p>
              <a:p>
                <a:endParaRPr lang="en-ZA" dirty="0"/>
              </a:p>
              <a:p>
                <a:pPr marL="228600" indent="-228600">
                  <a:buFont typeface="+mj-lt"/>
                  <a:buAutoNum type="arabicPeriod"/>
                </a:pPr>
                <a:r>
                  <a:rPr lang="en-ZA" dirty="0"/>
                  <a:t>Suppose the phone has a secure chip that acts as an oracle. It knows the password, but for security reasons it cannot reveal it directly. Instead, the oracle accepts a 3-bit input and returns 1 or 0 depending on whether the selected position contains a 1 in the password. Alice sends input bit strings containing exactly one 1, such as 100, 010, and 001, probing each position separately.</a:t>
                </a:r>
              </a:p>
              <a:p>
                <a:pPr marL="228600" indent="-228600">
                  <a:buFont typeface="+mj-lt"/>
                  <a:buAutoNum type="arabicPeriod"/>
                </a:pPr>
                <a:endParaRPr lang="en-ZA" dirty="0"/>
              </a:p>
              <a:p>
                <a:pPr marL="228600" indent="-228600">
                  <a:buFont typeface="+mj-lt"/>
                  <a:buAutoNum type="arabicPeriod"/>
                </a:pPr>
                <a:r>
                  <a:rPr lang="en-ZA" dirty="0"/>
                  <a:t>Suppose the forgotten password is the number 5, represented by the 3-bit string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𝑠</m:t>
                        </m:r>
                      </m:e>
                      <m:sub>
                        <m:r>
                          <a:rPr lang="en-US" sz="1200">
                            <a:latin typeface="Cambria Math" panose="02040503050406030204" pitchFamily="18" charset="0"/>
                          </a:rPr>
                          <m:t>0</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𝑠</m:t>
                        </m:r>
                      </m:e>
                      <m:sub>
                        <m:r>
                          <a:rPr lang="sr-Latn-RS" sz="1200" b="0" i="1" smtClean="0">
                            <a:latin typeface="Cambria Math" panose="02040503050406030204" pitchFamily="18" charset="0"/>
                          </a:rPr>
                          <m:t>1</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𝑠</m:t>
                        </m:r>
                      </m:e>
                      <m:sub>
                        <m:r>
                          <a:rPr lang="sr-Latn-RS" sz="1200" b="0" i="1" smtClean="0">
                            <a:latin typeface="Cambria Math" panose="02040503050406030204" pitchFamily="18" charset="0"/>
                          </a:rPr>
                          <m:t>2</m:t>
                        </m:r>
                      </m:sub>
                    </m:sSub>
                    <m:r>
                      <a:rPr lang="sr-Latn-RS" sz="1200" b="0" i="1" smtClean="0">
                        <a:latin typeface="Cambria Math" panose="02040503050406030204" pitchFamily="18" charset="0"/>
                      </a:rPr>
                      <m:t>=101</m:t>
                    </m:r>
                  </m:oMath>
                </a14:m>
                <a:r>
                  <a:rPr lang="en-ZA" dirty="0"/>
                  <a:t>. To retrieve the password, Alice sends three queries: 100,010,001. The oracle returns </a:t>
                </a:r>
                <a:r>
                  <a:rPr lang="en-ZA" b="0" dirty="0"/>
                  <a:t>1, 0, and 1, </a:t>
                </a:r>
                <a:r>
                  <a:rPr lang="en-ZA" dirty="0"/>
                  <a:t>respectively. Putting these results together gives </a:t>
                </a:r>
                <a:r>
                  <a:rPr lang="en-ZA" b="1" dirty="0"/>
                  <a:t>101</a:t>
                </a:r>
                <a:r>
                  <a:rPr lang="en-ZA" dirty="0"/>
                  <a:t>, revealing that the first and third bits of the password are 1. With only three queries, Alice has retrieved the password. In general, finding an unknown n-bit string in this way requires n classical queries, giving a query complexity of </a:t>
                </a:r>
                <a14:m>
                  <m:oMath xmlns:m="http://schemas.openxmlformats.org/officeDocument/2006/math">
                    <m:r>
                      <a:rPr lang="en-US" sz="1200" b="0" i="1" smtClean="0">
                        <a:latin typeface="Cambria Math" panose="02040503050406030204" pitchFamily="18" charset="0"/>
                      </a:rPr>
                      <m:t>𝑂</m:t>
                    </m:r>
                    <m:r>
                      <a:rPr lang="en-US" sz="1200" b="0" i="1" smtClean="0">
                        <a:latin typeface="Cambria Math" panose="02040503050406030204" pitchFamily="18" charset="0"/>
                      </a:rPr>
                      <m:t>(</m:t>
                    </m:r>
                    <m:r>
                      <a:rPr lang="en-US" sz="1200" b="0" i="1" smtClean="0">
                        <a:latin typeface="Cambria Math" panose="02040503050406030204" pitchFamily="18" charset="0"/>
                      </a:rPr>
                      <m:t>𝑛</m:t>
                    </m:r>
                    <m:r>
                      <a:rPr lang="en-US" sz="1200" b="0" i="1" smtClean="0">
                        <a:latin typeface="Cambria Math" panose="02040503050406030204" pitchFamily="18" charset="0"/>
                      </a:rPr>
                      <m:t>)</m:t>
                    </m:r>
                  </m:oMath>
                </a14:m>
                <a:r>
                  <a:rPr lang="en-US" dirty="0">
                    <a:latin typeface="+mn-lt"/>
                  </a:rPr>
                  <a:t>.</a:t>
                </a:r>
                <a:endParaRPr lang="en-ZA" b="1" dirty="0"/>
              </a:p>
              <a:p>
                <a:pPr marL="228600" indent="-228600">
                  <a:buFont typeface="+mj-lt"/>
                  <a:buAutoNum type="arabicPeriod"/>
                </a:pPr>
                <a:endParaRPr lang="en-ZA" b="1" dirty="0"/>
              </a:p>
              <a:p>
                <a:pPr marL="228600" indent="-228600">
                  <a:buFont typeface="+mj-lt"/>
                  <a:buAutoNum type="arabicPeriod"/>
                </a:pPr>
                <a:r>
                  <a:rPr lang="en-ZA" dirty="0"/>
                  <a:t>More generally, the function computed by the oracle can be written as the bitwise inner product modulo 2 of the input string </a:t>
                </a:r>
                <a14:m>
                  <m:oMath xmlns:m="http://schemas.openxmlformats.org/officeDocument/2006/math">
                    <m:r>
                      <a:rPr lang="en-US" sz="1200" b="0" i="1" smtClean="0">
                        <a:latin typeface="Cambria Math" panose="02040503050406030204" pitchFamily="18" charset="0"/>
                      </a:rPr>
                      <m:t>𝑥</m:t>
                    </m:r>
                  </m:oMath>
                </a14:m>
                <a:r>
                  <a:rPr lang="en-ZA" dirty="0"/>
                  <a:t> and the hidden string </a:t>
                </a:r>
                <a14:m>
                  <m:oMath xmlns:m="http://schemas.openxmlformats.org/officeDocument/2006/math">
                    <m:r>
                      <a:rPr lang="en-US" sz="1200" b="0" i="1" smtClean="0">
                        <a:latin typeface="Cambria Math" panose="02040503050406030204" pitchFamily="18" charset="0"/>
                      </a:rPr>
                      <m:t>𝑠</m:t>
                    </m:r>
                  </m:oMath>
                </a14:m>
                <a:r>
                  <a:rPr lang="en-ZA" dirty="0"/>
                  <a:t>:</a:t>
                </a:r>
              </a:p>
              <a:p>
                <a:pPr marL="0" indent="0">
                  <a:buFont typeface="+mj-lt"/>
                  <a:buNone/>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𝑓</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b="0" i="1" smtClean="0">
                          <a:latin typeface="Cambria Math" panose="02040503050406030204" pitchFamily="18" charset="0"/>
                        </a:rPr>
                        <m:t>𝑥</m:t>
                      </m:r>
                      <m:r>
                        <a:rPr lang="en-US" sz="120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d>
                        <m:dPr>
                          <m:ctrlPr>
                            <a:rPr lang="en-US" sz="1200" i="1" smtClean="0">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 </m:t>
                              </m:r>
                              <m:r>
                                <a:rPr lang="en-US" sz="1200" i="1">
                                  <a:latin typeface="Cambria Math" panose="02040503050406030204" pitchFamily="18" charset="0"/>
                                </a:rPr>
                                <m:t>𝑥</m:t>
                              </m:r>
                            </m:e>
                            <m:sub>
                              <m:r>
                                <a:rPr lang="en-US" sz="1200" i="1">
                                  <a:latin typeface="Cambria Math" panose="02040503050406030204" pitchFamily="18" charset="0"/>
                                </a:rPr>
                                <m:t>0</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𝑠</m:t>
                              </m:r>
                            </m:e>
                            <m:sub>
                              <m:r>
                                <a:rPr lang="en-US" sz="1200" i="1">
                                  <a:latin typeface="Cambria Math" panose="02040503050406030204" pitchFamily="18" charset="0"/>
                                </a:rPr>
                                <m:t>0</m:t>
                              </m:r>
                            </m:sub>
                          </m:sSub>
                        </m:e>
                      </m:d>
                      <m:r>
                        <a:rPr lang="en-US" sz="1200" i="1" smtClean="0">
                          <a:latin typeface="Cambria Math" panose="02040503050406030204" pitchFamily="18" charset="0"/>
                        </a:rPr>
                        <m:t> </m:t>
                      </m:r>
                      <m:r>
                        <a:rPr lang="en-US" sz="1200" i="1" smtClean="0">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 </m:t>
                              </m:r>
                              <m:r>
                                <a:rPr lang="en-US" sz="1200" i="1">
                                  <a:latin typeface="Cambria Math" panose="02040503050406030204" pitchFamily="18" charset="0"/>
                                </a:rPr>
                                <m:t>𝑥</m:t>
                              </m:r>
                            </m:e>
                            <m:sub>
                              <m:r>
                                <a:rPr lang="en-US" sz="1200" i="1">
                                  <a:latin typeface="Cambria Math" panose="02040503050406030204" pitchFamily="18" charset="0"/>
                                </a:rPr>
                                <m:t>1</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𝑠</m:t>
                              </m:r>
                            </m:e>
                            <m:sub>
                              <m:r>
                                <a:rPr lang="en-US" sz="1200" i="1">
                                  <a:latin typeface="Cambria Math" panose="02040503050406030204" pitchFamily="18" charset="0"/>
                                </a:rPr>
                                <m:t>1</m:t>
                              </m:r>
                            </m:sub>
                          </m:sSub>
                        </m:e>
                      </m:d>
                      <m:r>
                        <a:rPr lang="en-US" sz="1200" i="1">
                          <a:latin typeface="Cambria Math" panose="02040503050406030204" pitchFamily="18" charset="0"/>
                          <a:ea typeface="Cambria Math" panose="02040503050406030204" pitchFamily="18" charset="0"/>
                        </a:rPr>
                        <m:t>⨁</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 </m:t>
                              </m:r>
                              <m:r>
                                <a:rPr lang="en-US" sz="1200" i="1">
                                  <a:latin typeface="Cambria Math" panose="02040503050406030204" pitchFamily="18" charset="0"/>
                                </a:rPr>
                                <m:t>𝑥</m:t>
                              </m:r>
                            </m:e>
                            <m:sub>
                              <m:r>
                                <a:rPr lang="en-US" sz="1200" i="1">
                                  <a:latin typeface="Cambria Math" panose="02040503050406030204" pitchFamily="18" charset="0"/>
                                </a:rPr>
                                <m:t>2</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𝑠</m:t>
                              </m:r>
                            </m:e>
                            <m:sub>
                              <m:r>
                                <a:rPr lang="en-US" sz="1200" i="1">
                                  <a:latin typeface="Cambria Math" panose="02040503050406030204" pitchFamily="18" charset="0"/>
                                </a:rPr>
                                <m:t>2</m:t>
                              </m:r>
                            </m:sub>
                          </m:sSub>
                        </m:e>
                      </m:d>
                    </m:oMath>
                  </m:oMathPara>
                </a14:m>
                <a:endParaRPr lang="en-ZA" dirty="0"/>
              </a:p>
              <a:p>
                <a:pPr marL="228600" indent="-228600">
                  <a:buFont typeface="+mj-lt"/>
                  <a:buAutoNum type="arabicPeriod"/>
                </a:pPr>
                <a:endParaRPr lang="en-ZA" dirty="0"/>
              </a:p>
              <a:p>
                <a:r>
                  <a:rPr lang="en-ZA" b="0" dirty="0"/>
                  <a:t>The Bernstein–</a:t>
                </a:r>
                <a:r>
                  <a:rPr lang="en-ZA" b="0" dirty="0" err="1"/>
                  <a:t>Vazirani</a:t>
                </a:r>
                <a:r>
                  <a:rPr lang="en-ZA" b="0" dirty="0"/>
                  <a:t> algorithm uses quantum superposition and interference to determine the entire hidden string </a:t>
                </a:r>
                <a14:m>
                  <m:oMath xmlns:m="http://schemas.openxmlformats.org/officeDocument/2006/math">
                    <m:r>
                      <a:rPr lang="en-US" sz="1200" b="0" i="1" smtClean="0">
                        <a:latin typeface="Cambria Math" panose="02040503050406030204" pitchFamily="18" charset="0"/>
                      </a:rPr>
                      <m:t>𝑠</m:t>
                    </m:r>
                  </m:oMath>
                </a14:m>
                <a:r>
                  <a:rPr lang="en-ZA" b="0" dirty="0"/>
                  <a:t> with just one oracle query.</a:t>
                </a:r>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The problem solved by the Bernstein–</a:t>
                </a:r>
                <a:r>
                  <a:rPr lang="en-US" dirty="0" err="1">
                    <a:latin typeface="+mn-lt"/>
                  </a:rPr>
                  <a:t>Vazirani</a:t>
                </a:r>
                <a:r>
                  <a:rPr lang="en-US" dirty="0">
                    <a:latin typeface="+mn-lt"/>
                  </a:rPr>
                  <a:t> algorithm can be informally described as follows.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Alice has changed the password on her mobile phone to a single-digit number between 0 and 7. However, preoccupied with daily activities, she has forgotten it.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The question is: What is the minimum number of attempts Alice needs to guess the password? If she guesses the number one by one, in the worst case, it would take her 8 attempts; in the best case, she could guess it on the first try. On average, it would take about 4 attempts. If Alice had chosen a 4-digit password—for example, any number between 0000 and 9999—it would take her roughly 5000 tries on average to guess it.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However, there is a more efficient solution. Instead of guessing the decimal number directly, Alice decides to work in the binary system and tries to discover the password bit by bit.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Suppose the phone has a secure chip that acts as an oracle: it knows the password, but for security reasons, it cannot reveal it directly. Instead, the oracle accepts a 3-bit input and returns a 1 if the position of the 1 in the input matches a 1 in the password, and returns 0 otherwise.</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This means Alice sends input </a:t>
                </a:r>
                <a:r>
                  <a:rPr lang="en-US" dirty="0" err="1">
                    <a:latin typeface="+mn-lt"/>
                  </a:rPr>
                  <a:t>bitstrings</a:t>
                </a:r>
                <a:r>
                  <a:rPr lang="en-US" dirty="0">
                    <a:latin typeface="+mn-lt"/>
                  </a:rPr>
                  <a:t> that contain exactly one 1 and two 0s (i.e. basis vectors like 100, 010, and 001), probing each position separately.</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Let the password be represented as a 3-bit string </a:t>
                </a:r>
                <a:r>
                  <a:rPr lang="en-US" sz="1200" i="0">
                    <a:latin typeface="Cambria Math" panose="02040503050406030204" pitchFamily="18" charset="0"/>
                  </a:rPr>
                  <a:t>𝑠_0 𝑠_</a:t>
                </a:r>
                <a:r>
                  <a:rPr lang="sr-Latn-RS" sz="1200" b="0" i="0">
                    <a:latin typeface="Cambria Math" panose="02040503050406030204" pitchFamily="18" charset="0"/>
                  </a:rPr>
                  <a:t>1</a:t>
                </a:r>
                <a:r>
                  <a:rPr lang="en-US" sz="1200" b="0" i="0">
                    <a:latin typeface="Cambria Math" panose="02040503050406030204" pitchFamily="18" charset="0"/>
                  </a:rPr>
                  <a:t> </a:t>
                </a:r>
                <a:r>
                  <a:rPr lang="en-US" sz="1200" i="0">
                    <a:latin typeface="Cambria Math" panose="02040503050406030204" pitchFamily="18" charset="0"/>
                  </a:rPr>
                  <a:t>𝑠_</a:t>
                </a:r>
                <a:r>
                  <a:rPr lang="sr-Latn-RS" sz="1200" b="0" i="0">
                    <a:latin typeface="Cambria Math" panose="02040503050406030204" pitchFamily="18" charset="0"/>
                  </a:rPr>
                  <a:t>2</a:t>
                </a:r>
                <a:r>
                  <a:rPr lang="en-US" dirty="0">
                    <a:latin typeface="+mn-lt"/>
                  </a:rPr>
                  <a: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Assume the forgotten password is the number 5, i.e. </a:t>
                </a:r>
                <a:r>
                  <a:rPr lang="en-US" sz="1200" i="0">
                    <a:latin typeface="Cambria Math" panose="02040503050406030204" pitchFamily="18" charset="0"/>
                  </a:rPr>
                  <a:t>𝑠_0 𝑠_</a:t>
                </a:r>
                <a:r>
                  <a:rPr lang="sr-Latn-RS" sz="1200" b="0" i="0">
                    <a:latin typeface="Cambria Math" panose="02040503050406030204" pitchFamily="18" charset="0"/>
                  </a:rPr>
                  <a:t>1</a:t>
                </a:r>
                <a:r>
                  <a:rPr lang="en-US" sz="1200" b="0" i="0">
                    <a:latin typeface="Cambria Math" panose="02040503050406030204" pitchFamily="18" charset="0"/>
                  </a:rPr>
                  <a:t> </a:t>
                </a:r>
                <a:r>
                  <a:rPr lang="en-US" sz="1200" i="0">
                    <a:latin typeface="Cambria Math" panose="02040503050406030204" pitchFamily="18" charset="0"/>
                  </a:rPr>
                  <a:t>𝑠_</a:t>
                </a:r>
                <a:r>
                  <a:rPr lang="sr-Latn-RS" sz="1200" b="0" i="0">
                    <a:latin typeface="Cambria Math" panose="02040503050406030204" pitchFamily="18" charset="0"/>
                  </a:rPr>
                  <a:t>2=101</a:t>
                </a:r>
                <a:r>
                  <a:rPr lang="en-US" dirty="0">
                    <a:latin typeface="+mn-lt"/>
                  </a:rPr>
                  <a:t> in binary.</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Alice sends the following inputs to the oracle:</a:t>
                </a:r>
              </a:p>
              <a:p>
                <a:pPr marL="457200" marR="0" lvl="1" indent="0" algn="just" defTabSz="914400" rtl="0" eaLnBrk="1" fontAlgn="auto" latinLnBrk="0" hangingPunct="1">
                  <a:lnSpc>
                    <a:spcPct val="100000"/>
                  </a:lnSpc>
                  <a:spcBef>
                    <a:spcPts val="0"/>
                  </a:spcBef>
                  <a:spcAft>
                    <a:spcPts val="0"/>
                  </a:spcAft>
                  <a:buClrTx/>
                  <a:buSzTx/>
                  <a:buFontTx/>
                  <a:buNone/>
                  <a:tabLst/>
                  <a:defRPr/>
                </a:pPr>
                <a:r>
                  <a:rPr lang="sr-Latn-RS" sz="1200" b="0" i="0">
                    <a:latin typeface="Cambria Math" panose="02040503050406030204" pitchFamily="18" charset="0"/>
                  </a:rPr>
                  <a:t>𝑥</a:t>
                </a:r>
                <a:r>
                  <a:rPr lang="en-US" sz="1200" b="0" i="0">
                    <a:latin typeface="Cambria Math" panose="02040503050406030204" pitchFamily="18" charset="0"/>
                  </a:rPr>
                  <a:t>_</a:t>
                </a:r>
                <a:r>
                  <a:rPr lang="en-US" sz="1200" i="0">
                    <a:latin typeface="Cambria Math" panose="02040503050406030204" pitchFamily="18" charset="0"/>
                  </a:rPr>
                  <a:t>0 </a:t>
                </a:r>
                <a:r>
                  <a:rPr lang="sr-Latn-RS" sz="1200" b="0" i="0">
                    <a:latin typeface="Cambria Math" panose="02040503050406030204" pitchFamily="18" charset="0"/>
                  </a:rPr>
                  <a:t>𝑥</a:t>
                </a:r>
                <a:r>
                  <a:rPr lang="en-US" sz="1200" b="0" i="0">
                    <a:latin typeface="Cambria Math" panose="02040503050406030204" pitchFamily="18" charset="0"/>
                  </a:rPr>
                  <a:t>_</a:t>
                </a:r>
                <a:r>
                  <a:rPr lang="sr-Latn-RS" sz="1200" i="0">
                    <a:latin typeface="Cambria Math" panose="02040503050406030204" pitchFamily="18" charset="0"/>
                  </a:rPr>
                  <a:t>1</a:t>
                </a:r>
                <a:r>
                  <a:rPr lang="en-US" sz="1200" i="0">
                    <a:latin typeface="Cambria Math" panose="02040503050406030204" pitchFamily="18" charset="0"/>
                  </a:rPr>
                  <a:t> </a:t>
                </a:r>
                <a:r>
                  <a:rPr lang="sr-Latn-RS" sz="1200" b="0" i="0">
                    <a:latin typeface="Cambria Math" panose="02040503050406030204" pitchFamily="18" charset="0"/>
                  </a:rPr>
                  <a:t>𝑥</a:t>
                </a:r>
                <a:r>
                  <a:rPr lang="en-US" sz="1200" b="0" i="0">
                    <a:latin typeface="Cambria Math" panose="02040503050406030204" pitchFamily="18" charset="0"/>
                  </a:rPr>
                  <a:t>_</a:t>
                </a:r>
                <a:r>
                  <a:rPr lang="sr-Latn-RS" sz="1200" i="0">
                    <a:latin typeface="Cambria Math" panose="02040503050406030204" pitchFamily="18" charset="0"/>
                  </a:rPr>
                  <a:t>2</a:t>
                </a:r>
                <a:r>
                  <a:rPr lang="en-US" sz="1200" i="0">
                    <a:latin typeface="Cambria Math" panose="02040503050406030204" pitchFamily="18" charset="0"/>
                  </a:rPr>
                  <a:t>=100</a:t>
                </a:r>
                <a:r>
                  <a:rPr lang="en-US" dirty="0">
                    <a:latin typeface="+mn-lt"/>
                  </a:rPr>
                  <a:t> (bit 1 at position 0),</a:t>
                </a:r>
              </a:p>
              <a:p>
                <a:pPr marL="457200" marR="0" lvl="1" indent="0" algn="just" defTabSz="914400" rtl="0" eaLnBrk="1" fontAlgn="auto" latinLnBrk="0" hangingPunct="1">
                  <a:lnSpc>
                    <a:spcPct val="100000"/>
                  </a:lnSpc>
                  <a:spcBef>
                    <a:spcPts val="0"/>
                  </a:spcBef>
                  <a:spcAft>
                    <a:spcPts val="0"/>
                  </a:spcAft>
                  <a:buClrTx/>
                  <a:buSzTx/>
                  <a:buFontTx/>
                  <a:buNone/>
                  <a:tabLst/>
                  <a:defRPr/>
                </a:pPr>
                <a:r>
                  <a:rPr lang="sr-Latn-RS" sz="1200" i="0">
                    <a:latin typeface="Cambria Math" panose="02040503050406030204" pitchFamily="18" charset="0"/>
                  </a:rPr>
                  <a:t>𝑥</a:t>
                </a:r>
                <a:r>
                  <a:rPr lang="en-US" sz="1200" i="0">
                    <a:latin typeface="Cambria Math" panose="02040503050406030204" pitchFamily="18" charset="0"/>
                  </a:rPr>
                  <a:t>_0 </a:t>
                </a:r>
                <a:r>
                  <a:rPr lang="sr-Latn-RS" sz="1200" i="0">
                    <a:latin typeface="Cambria Math" panose="02040503050406030204" pitchFamily="18" charset="0"/>
                  </a:rPr>
                  <a:t>𝑥</a:t>
                </a:r>
                <a:r>
                  <a:rPr lang="en-US" sz="1200" i="0">
                    <a:latin typeface="Cambria Math" panose="02040503050406030204" pitchFamily="18" charset="0"/>
                  </a:rPr>
                  <a:t>_</a:t>
                </a:r>
                <a:r>
                  <a:rPr lang="sr-Latn-RS" sz="1200" i="0">
                    <a:latin typeface="Cambria Math" panose="02040503050406030204" pitchFamily="18" charset="0"/>
                  </a:rPr>
                  <a:t>1</a:t>
                </a:r>
                <a:r>
                  <a:rPr lang="en-US" sz="1200" i="0">
                    <a:latin typeface="Cambria Math" panose="02040503050406030204" pitchFamily="18" charset="0"/>
                  </a:rPr>
                  <a:t> </a:t>
                </a:r>
                <a:r>
                  <a:rPr lang="sr-Latn-RS" sz="1200" i="0">
                    <a:latin typeface="Cambria Math" panose="02040503050406030204" pitchFamily="18" charset="0"/>
                  </a:rPr>
                  <a:t>𝑥</a:t>
                </a:r>
                <a:r>
                  <a:rPr lang="en-US" sz="1200" i="0">
                    <a:latin typeface="Cambria Math" panose="02040503050406030204" pitchFamily="18" charset="0"/>
                  </a:rPr>
                  <a:t>_</a:t>
                </a:r>
                <a:r>
                  <a:rPr lang="sr-Latn-RS" sz="1200" i="0">
                    <a:latin typeface="Cambria Math" panose="02040503050406030204" pitchFamily="18" charset="0"/>
                  </a:rPr>
                  <a:t>2</a:t>
                </a:r>
                <a:r>
                  <a:rPr lang="en-US" sz="1200" i="0">
                    <a:latin typeface="Cambria Math" panose="02040503050406030204" pitchFamily="18" charset="0"/>
                  </a:rPr>
                  <a:t>=010</a:t>
                </a:r>
                <a:r>
                  <a:rPr lang="en-US" dirty="0">
                    <a:latin typeface="+mn-lt"/>
                  </a:rPr>
                  <a:t> (bit 1 at position 1),</a:t>
                </a:r>
              </a:p>
              <a:p>
                <a:pPr marL="457200" marR="0" lvl="1" indent="0" algn="just" defTabSz="914400" rtl="0" eaLnBrk="1" fontAlgn="auto" latinLnBrk="0" hangingPunct="1">
                  <a:lnSpc>
                    <a:spcPct val="100000"/>
                  </a:lnSpc>
                  <a:spcBef>
                    <a:spcPts val="0"/>
                  </a:spcBef>
                  <a:spcAft>
                    <a:spcPts val="0"/>
                  </a:spcAft>
                  <a:buClrTx/>
                  <a:buSzTx/>
                  <a:buFontTx/>
                  <a:buNone/>
                  <a:tabLst/>
                  <a:defRPr/>
                </a:pPr>
                <a:r>
                  <a:rPr lang="sr-Latn-RS" sz="1200" i="0">
                    <a:latin typeface="Cambria Math" panose="02040503050406030204" pitchFamily="18" charset="0"/>
                  </a:rPr>
                  <a:t>𝑥</a:t>
                </a:r>
                <a:r>
                  <a:rPr lang="en-US" sz="1200" i="0">
                    <a:latin typeface="Cambria Math" panose="02040503050406030204" pitchFamily="18" charset="0"/>
                  </a:rPr>
                  <a:t>_0 </a:t>
                </a:r>
                <a:r>
                  <a:rPr lang="sr-Latn-RS" sz="1200" i="0">
                    <a:latin typeface="Cambria Math" panose="02040503050406030204" pitchFamily="18" charset="0"/>
                  </a:rPr>
                  <a:t>𝑥</a:t>
                </a:r>
                <a:r>
                  <a:rPr lang="en-US" sz="1200" i="0">
                    <a:latin typeface="Cambria Math" panose="02040503050406030204" pitchFamily="18" charset="0"/>
                  </a:rPr>
                  <a:t>_</a:t>
                </a:r>
                <a:r>
                  <a:rPr lang="sr-Latn-RS" sz="1200" i="0">
                    <a:latin typeface="Cambria Math" panose="02040503050406030204" pitchFamily="18" charset="0"/>
                  </a:rPr>
                  <a:t>1</a:t>
                </a:r>
                <a:r>
                  <a:rPr lang="en-US" sz="1200" i="0">
                    <a:latin typeface="Cambria Math" panose="02040503050406030204" pitchFamily="18" charset="0"/>
                  </a:rPr>
                  <a:t> </a:t>
                </a:r>
                <a:r>
                  <a:rPr lang="sr-Latn-RS" sz="1200" i="0">
                    <a:latin typeface="Cambria Math" panose="02040503050406030204" pitchFamily="18" charset="0"/>
                  </a:rPr>
                  <a:t>𝑥</a:t>
                </a:r>
                <a:r>
                  <a:rPr lang="en-US" sz="1200" i="0">
                    <a:latin typeface="Cambria Math" panose="02040503050406030204" pitchFamily="18" charset="0"/>
                  </a:rPr>
                  <a:t>_</a:t>
                </a:r>
                <a:r>
                  <a:rPr lang="sr-Latn-RS" sz="1200" i="0">
                    <a:latin typeface="Cambria Math" panose="02040503050406030204" pitchFamily="18" charset="0"/>
                  </a:rPr>
                  <a:t>2</a:t>
                </a:r>
                <a:r>
                  <a:rPr lang="en-US" sz="1200" i="0">
                    <a:latin typeface="Cambria Math" panose="02040503050406030204" pitchFamily="18" charset="0"/>
                  </a:rPr>
                  <a:t>=001</a:t>
                </a:r>
                <a:r>
                  <a:rPr lang="en-US" dirty="0">
                    <a:latin typeface="+mn-lt"/>
                  </a:rPr>
                  <a:t> (bit 1 at position 2).</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The oracle responds with:</a:t>
                </a:r>
              </a:p>
              <a:p>
                <a:pPr marL="457200" marR="0" lvl="1" indent="0" algn="just" defTabSz="914400" rtl="0" eaLnBrk="1" fontAlgn="auto" latinLnBrk="0" hangingPunct="1">
                  <a:lnSpc>
                    <a:spcPct val="100000"/>
                  </a:lnSpc>
                  <a:spcBef>
                    <a:spcPts val="0"/>
                  </a:spcBef>
                  <a:spcAft>
                    <a:spcPts val="0"/>
                  </a:spcAft>
                  <a:buClrTx/>
                  <a:buSzTx/>
                  <a:buFontTx/>
                  <a:buNone/>
                  <a:tabLst/>
                  <a:defRPr/>
                </a:pPr>
                <a:r>
                  <a:rPr lang="en-US" sz="1200" b="0" i="0">
                    <a:latin typeface="Cambria Math" panose="02040503050406030204" pitchFamily="18" charset="0"/>
                  </a:rPr>
                  <a:t>𝑓(100)=1</a:t>
                </a:r>
                <a:r>
                  <a:rPr lang="en-US" dirty="0">
                    <a:latin typeface="+mn-lt"/>
                  </a:rPr>
                  <a:t> (since </a:t>
                </a:r>
                <a:r>
                  <a:rPr lang="en-US" sz="1200" i="0">
                    <a:latin typeface="Cambria Math" panose="02040503050406030204" pitchFamily="18" charset="0"/>
                  </a:rPr>
                  <a:t>𝑠_0</a:t>
                </a:r>
                <a:r>
                  <a:rPr lang="en-US" sz="1200" b="0" i="0">
                    <a:latin typeface="Cambria Math" panose="02040503050406030204" pitchFamily="18" charset="0"/>
                  </a:rPr>
                  <a:t>=1</a:t>
                </a:r>
                <a:r>
                  <a:rPr lang="en-US" dirty="0">
                    <a:latin typeface="+mn-lt"/>
                  </a:rPr>
                  <a:t>),</a:t>
                </a:r>
              </a:p>
              <a:p>
                <a:pPr marL="457200" marR="0" lvl="1" indent="0" algn="just" defTabSz="914400" rtl="0" eaLnBrk="1" fontAlgn="auto" latinLnBrk="0" hangingPunct="1">
                  <a:lnSpc>
                    <a:spcPct val="100000"/>
                  </a:lnSpc>
                  <a:spcBef>
                    <a:spcPts val="0"/>
                  </a:spcBef>
                  <a:spcAft>
                    <a:spcPts val="0"/>
                  </a:spcAft>
                  <a:buClrTx/>
                  <a:buSzTx/>
                  <a:buFontTx/>
                  <a:buNone/>
                  <a:tabLst/>
                  <a:defRPr/>
                </a:pPr>
                <a:r>
                  <a:rPr lang="en-US" sz="1200" b="0" i="0">
                    <a:latin typeface="Cambria Math" panose="02040503050406030204" pitchFamily="18" charset="0"/>
                  </a:rPr>
                  <a:t>𝑓(010)=1</a:t>
                </a:r>
                <a:r>
                  <a:rPr lang="en-US" dirty="0">
                    <a:latin typeface="+mn-lt"/>
                  </a:rPr>
                  <a:t> (since </a:t>
                </a:r>
                <a:r>
                  <a:rPr lang="en-US" sz="1200" i="0">
                    <a:latin typeface="Cambria Math" panose="02040503050406030204" pitchFamily="18" charset="0"/>
                  </a:rPr>
                  <a:t>𝑠_</a:t>
                </a:r>
                <a:r>
                  <a:rPr lang="en-US" sz="1200" b="0" i="0">
                    <a:latin typeface="Cambria Math" panose="02040503050406030204" pitchFamily="18" charset="0"/>
                  </a:rPr>
                  <a:t>1=0</a:t>
                </a:r>
                <a:r>
                  <a:rPr lang="en-US" dirty="0">
                    <a:latin typeface="+mn-lt"/>
                  </a:rPr>
                  <a:t>),</a:t>
                </a:r>
              </a:p>
              <a:p>
                <a:pPr marL="457200" marR="0" lvl="1" indent="0" algn="just" defTabSz="914400" rtl="0" eaLnBrk="1" fontAlgn="auto" latinLnBrk="0" hangingPunct="1">
                  <a:lnSpc>
                    <a:spcPct val="100000"/>
                  </a:lnSpc>
                  <a:spcBef>
                    <a:spcPts val="0"/>
                  </a:spcBef>
                  <a:spcAft>
                    <a:spcPts val="0"/>
                  </a:spcAft>
                  <a:buClrTx/>
                  <a:buSzTx/>
                  <a:buFontTx/>
                  <a:buNone/>
                  <a:tabLst/>
                  <a:defRPr/>
                </a:pPr>
                <a:r>
                  <a:rPr lang="en-US" sz="1200" b="0" i="0">
                    <a:latin typeface="Cambria Math" panose="02040503050406030204" pitchFamily="18" charset="0"/>
                  </a:rPr>
                  <a:t>𝑓(001)=1</a:t>
                </a:r>
                <a:r>
                  <a:rPr lang="en-US" dirty="0">
                    <a:latin typeface="+mn-lt"/>
                  </a:rPr>
                  <a:t> (since </a:t>
                </a:r>
                <a:r>
                  <a:rPr lang="en-US" sz="1200" i="0">
                    <a:latin typeface="Cambria Math" panose="02040503050406030204" pitchFamily="18" charset="0"/>
                  </a:rPr>
                  <a:t>𝑠_</a:t>
                </a:r>
                <a:r>
                  <a:rPr lang="en-US" sz="1200" b="0" i="0">
                    <a:latin typeface="Cambria Math" panose="02040503050406030204" pitchFamily="18" charset="0"/>
                  </a:rPr>
                  <a:t>2=1</a:t>
                </a:r>
                <a:r>
                  <a:rPr lang="en-US" dirty="0">
                    <a:latin typeface="+mn-lt"/>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By reading this sequence of outputs: 1, 0, 1, Alice reconstructs the binary password.</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Now, suppose Alice had chosen a 14-bit password. Using this method, instead of trying around 8000 guesses, it would be sufficient to make just 14 queries, one per bit. In other words, finding an unknown </a:t>
                </a:r>
                <a:r>
                  <a:rPr lang="en-US" dirty="0" err="1">
                    <a:latin typeface="+mn-lt"/>
                  </a:rPr>
                  <a:t>bitstring</a:t>
                </a:r>
                <a:r>
                  <a:rPr lang="en-US" dirty="0">
                    <a:latin typeface="+mn-lt"/>
                  </a:rPr>
                  <a:t> of length </a:t>
                </a:r>
                <a:r>
                  <a:rPr lang="en-US" dirty="0" err="1">
                    <a:latin typeface="+mn-lt"/>
                  </a:rPr>
                  <a:t>nn</a:t>
                </a:r>
                <a:r>
                  <a:rPr lang="en-US" dirty="0">
                    <a:latin typeface="+mn-lt"/>
                  </a:rPr>
                  <a:t> requires exactly </a:t>
                </a:r>
                <a:r>
                  <a:rPr lang="en-US" sz="1200" b="0" i="0">
                    <a:latin typeface="Cambria Math" panose="02040503050406030204" pitchFamily="18" charset="0"/>
                  </a:rPr>
                  <a:t>𝑛</a:t>
                </a:r>
                <a:r>
                  <a:rPr lang="en-US" dirty="0">
                    <a:latin typeface="+mn-lt"/>
                  </a:rPr>
                  <a:t> queries.</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The complexity of the classical algorithm is therefore linear, i.e. </a:t>
                </a:r>
                <a:r>
                  <a:rPr lang="en-US" sz="1200" b="0" i="0">
                    <a:latin typeface="Cambria Math" panose="02040503050406030204" pitchFamily="18" charset="0"/>
                  </a:rPr>
                  <a:t>𝑂(𝑛)</a:t>
                </a:r>
                <a:r>
                  <a:rPr lang="en-US" dirty="0">
                    <a:latin typeface="+mn-lt"/>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dirty="0">
                  <a:latin typeface="+mn-lt"/>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latin typeface="+mn-lt"/>
                  </a:rPr>
                  <a:t>The function computed by the oracle can be described as the bitwise inner product modulo 2 of the input </a:t>
                </a:r>
                <a:r>
                  <a:rPr lang="en-US" dirty="0" err="1">
                    <a:latin typeface="+mn-lt"/>
                  </a:rPr>
                  <a:t>bitstring</a:t>
                </a:r>
                <a:r>
                  <a:rPr lang="en-US" dirty="0">
                    <a:latin typeface="+mn-lt"/>
                  </a:rPr>
                  <a:t> </a:t>
                </a:r>
                <a:r>
                  <a:rPr lang="en-US" sz="1200" b="0" i="0">
                    <a:latin typeface="Cambria Math" panose="02040503050406030204" pitchFamily="18" charset="0"/>
                  </a:rPr>
                  <a:t>𝑥</a:t>
                </a:r>
                <a:r>
                  <a:rPr lang="en-US" dirty="0">
                    <a:latin typeface="+mn-lt"/>
                  </a:rPr>
                  <a:t> and the hidden </a:t>
                </a:r>
                <a:r>
                  <a:rPr lang="en-US" dirty="0" err="1">
                    <a:latin typeface="+mn-lt"/>
                  </a:rPr>
                  <a:t>bitstring</a:t>
                </a:r>
                <a:r>
                  <a:rPr lang="en-US" dirty="0">
                    <a:latin typeface="+mn-lt"/>
                  </a:rPr>
                  <a:t> </a:t>
                </a:r>
                <a:r>
                  <a:rPr lang="en-US" sz="1200" b="0" i="0">
                    <a:latin typeface="Cambria Math" panose="02040503050406030204" pitchFamily="18" charset="0"/>
                  </a:rPr>
                  <a:t>𝑠</a:t>
                </a:r>
                <a:r>
                  <a:rPr lang="en-US" dirty="0">
                    <a:latin typeface="+mn-lt"/>
                  </a:rPr>
                  <a:t>: </a:t>
                </a:r>
                <a:r>
                  <a:rPr lang="en-US" sz="1200" b="0" i="0">
                    <a:latin typeface="Cambria Math" panose="02040503050406030204" pitchFamily="18" charset="0"/>
                  </a:rPr>
                  <a:t>𝑓(𝑥)=𝑥</a:t>
                </a:r>
                <a:r>
                  <a:rPr lang="en-US" sz="1200" i="0">
                    <a:latin typeface="Cambria Math" panose="02040503050406030204" pitchFamily="18" charset="0"/>
                  </a:rPr>
                  <a:t>∙</a:t>
                </a:r>
                <a:r>
                  <a:rPr lang="en-US" sz="1200" b="0" i="0">
                    <a:latin typeface="Cambria Math" panose="02040503050406030204" pitchFamily="18" charset="0"/>
                  </a:rPr>
                  <a:t>𝑠=</a:t>
                </a:r>
                <a:r>
                  <a:rPr lang="en-US" sz="1200" i="0">
                    <a:latin typeface="Cambria Math" panose="02040503050406030204" pitchFamily="18" charset="0"/>
                  </a:rPr>
                  <a:t>(〖 𝑥〗_0∙𝑠_0 )  </a:t>
                </a:r>
                <a:r>
                  <a:rPr lang="en-US" sz="120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 𝑥〗_1∙𝑠_1 )</a:t>
                </a:r>
                <a:r>
                  <a:rPr lang="en-US" sz="1200" i="0">
                    <a:latin typeface="Cambria Math" panose="02040503050406030204" pitchFamily="18" charset="0"/>
                    <a:ea typeface="Cambria Math" panose="02040503050406030204" pitchFamily="18" charset="0"/>
                  </a:rPr>
                  <a:t>⨁</a:t>
                </a:r>
                <a:r>
                  <a:rPr lang="en-US" sz="1200" i="0">
                    <a:latin typeface="Cambria Math" panose="02040503050406030204" pitchFamily="18" charset="0"/>
                  </a:rPr>
                  <a:t>(〖 𝑥〗_2∙𝑠_2 )</a:t>
                </a:r>
                <a:endParaRPr lang="en-US" i="1" dirty="0">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18366309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problem solved by the Bernstein–</a:t>
                </a:r>
                <a:r>
                  <a:rPr lang="en-ZA" dirty="0" err="1"/>
                  <a:t>Vazirani</a:t>
                </a:r>
                <a:r>
                  <a:rPr lang="en-ZA" dirty="0"/>
                  <a:t> algorithm can be formally stated as follows:</a:t>
                </a:r>
              </a:p>
              <a:p>
                <a:pPr algn="just"/>
                <a:endParaRPr lang="en-ZA" b="0" dirty="0"/>
              </a:p>
              <a:p>
                <a:pPr algn="just">
                  <a:spcAft>
                    <a:spcPts val="1200"/>
                  </a:spcAft>
                </a:pPr>
                <a:r>
                  <a:rPr lang="sr-Latn-RS" sz="1200" dirty="0">
                    <a:latin typeface="Cambria" panose="02040503050406030204" pitchFamily="18" charset="0"/>
                    <a:ea typeface="Times New Roman" panose="02020603050405020304" pitchFamily="18" charset="0"/>
                    <a:cs typeface="Times New Roman" panose="02020603050405020304" pitchFamily="18" charset="0"/>
                  </a:rPr>
                  <a:t>Let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pPr>
                      <m:e>
                        <m:d>
                          <m:dPr>
                            <m:begChr m:val="{"/>
                            <m:endChr m:val="}"/>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1200" i="1">
                            <a:latin typeface="Cambria Math" panose="02040503050406030204" pitchFamily="18" charset="0"/>
                            <a:ea typeface="Times New Roman" panose="02020603050405020304" pitchFamily="18" charset="0"/>
                            <a:cs typeface="Times New Roman" panose="02020603050405020304" pitchFamily="18" charset="0"/>
                          </a:rPr>
                          <m:t>𝑛</m:t>
                        </m:r>
                      </m:sup>
                    </m:sSup>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0,1</m:t>
                        </m:r>
                      </m:e>
                    </m:d>
                  </m:oMath>
                </a14:m>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en-ZA" sz="1200" dirty="0"/>
                  <a:t>be a function that maps an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𝑛</m:t>
                    </m:r>
                    <m:r>
                      <a:rPr lang="sr-Latn-RS" sz="12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ZA" sz="1200" dirty="0"/>
                  <a:t>-bit input string</a:t>
                </a:r>
                <a:r>
                  <a:rPr lang="sr-Latn-RS" sz="1200" dirty="0">
                    <a:latin typeface="Cambria" panose="02040503050406030204" pitchFamily="18" charset="0"/>
                    <a:cs typeface="Times New Roman" panose="02020603050405020304" pitchFamily="18" charset="0"/>
                  </a:rPr>
                  <a:t>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0</m:t>
                        </m:r>
                      </m:sub>
                    </m:sSub>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200" b="0" i="1" smtClean="0">
                            <a:latin typeface="Cambria Math" panose="02040503050406030204" pitchFamily="18" charset="0"/>
                            <a:ea typeface="Times New Roman" panose="02020603050405020304" pitchFamily="18" charset="0"/>
                            <a:cs typeface="Times New Roman" panose="02020603050405020304" pitchFamily="18" charset="0"/>
                          </a:rPr>
                          <m:t>𝑛</m:t>
                        </m:r>
                        <m:r>
                          <a:rPr lang="en-US" sz="1200" b="0" i="1" smtClean="0">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sr-Latn-RS" sz="1200" dirty="0">
                    <a:latin typeface="Cambria" panose="02040503050406030204" pitchFamily="18" charset="0"/>
                    <a:cs typeface="Times New Roman" panose="02020603050405020304" pitchFamily="18" charset="0"/>
                  </a:rPr>
                  <a:t> </a:t>
                </a:r>
                <a:r>
                  <a:rPr lang="en-ZA" sz="1200" dirty="0"/>
                  <a:t>to a single-bit output, defined as the bitwise inner product modulo 2</a:t>
                </a:r>
              </a:p>
              <a:p>
                <a:pPr algn="just">
                  <a:spcAft>
                    <a:spcPts val="1200"/>
                  </a:spcAft>
                </a:pP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algn="just">
                  <a:spcAft>
                    <a:spcPts val="1200"/>
                  </a:spcAft>
                </a:pPr>
                <a14:m>
                  <m:oMathPara xmlns:m="http://schemas.openxmlformats.org/officeDocument/2006/math">
                    <m:oMathParaPr>
                      <m:jc m:val="centerGroup"/>
                    </m:oMathParaPr>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𝑓</m:t>
                      </m:r>
                      <m:d>
                        <m:d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𝑥</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r>
                        <a:rPr lang="sr-Latn-RS" sz="12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r>
                        <a:rPr lang="sr-Latn-RS" sz="1200" i="1">
                          <a:latin typeface="Cambria Math" panose="02040503050406030204" pitchFamily="18" charset="0"/>
                          <a:ea typeface="Times New Roman" panose="02020603050405020304" pitchFamily="18" charset="0"/>
                          <a:cs typeface="Times New Roman" panose="02020603050405020304" pitchFamily="18" charset="0"/>
                        </a:rPr>
                        <m:t>𝑠</m:t>
                      </m:r>
                      <m:r>
                        <a:rPr lang="sr-Latn-RS" sz="1200" i="1">
                          <a:latin typeface="Cambria Math" panose="02040503050406030204" pitchFamily="18" charset="0"/>
                          <a:ea typeface="Times New Roman" panose="02020603050405020304" pitchFamily="18" charset="0"/>
                          <a:cs typeface="Times New Roman" panose="02020603050405020304" pitchFamily="18" charset="0"/>
                        </a:rPr>
                        <m:t> (</m:t>
                      </m:r>
                      <m:r>
                        <a:rPr lang="sr-Latn-RS" sz="1200" i="1">
                          <a:latin typeface="Cambria Math" panose="02040503050406030204" pitchFamily="18" charset="0"/>
                          <a:ea typeface="Times New Roman" panose="02020603050405020304" pitchFamily="18" charset="0"/>
                          <a:cs typeface="Times New Roman" panose="02020603050405020304" pitchFamily="18" charset="0"/>
                        </a:rPr>
                        <m:t>𝑚𝑜𝑑</m:t>
                      </m:r>
                      <m:r>
                        <a:rPr lang="sr-Latn-RS" sz="1200" i="1">
                          <a:latin typeface="Cambria Math" panose="02040503050406030204" pitchFamily="18" charset="0"/>
                          <a:ea typeface="Times New Roman" panose="02020603050405020304" pitchFamily="18" charset="0"/>
                          <a:cs typeface="Times New Roman" panose="02020603050405020304" pitchFamily="18" charset="0"/>
                        </a:rPr>
                        <m:t> 2)=</m:t>
                      </m:r>
                      <m:d>
                        <m:d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 </m:t>
                              </m:r>
                              <m:r>
                                <a:rPr lang="sr-Latn-RS" sz="12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0</m:t>
                              </m:r>
                            </m:sub>
                          </m:sSub>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0</m:t>
                              </m:r>
                            </m:sub>
                          </m:sSub>
                        </m:e>
                      </m:d>
                      <m:r>
                        <a:rPr lang="sr-Latn-RS" sz="1200" i="1">
                          <a:latin typeface="Cambria Math" panose="02040503050406030204" pitchFamily="18" charset="0"/>
                          <a:ea typeface="Times New Roman" panose="02020603050405020304" pitchFamily="18" charset="0"/>
                          <a:cs typeface="Times New Roman" panose="02020603050405020304" pitchFamily="18" charset="0"/>
                        </a:rPr>
                        <m:t> ⨁ </m:t>
                      </m:r>
                      <m:d>
                        <m:d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 </m:t>
                              </m:r>
                              <m:r>
                                <a:rPr lang="sr-Latn-RS" sz="12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e>
                      </m:d>
                      <m:r>
                        <a:rPr lang="sr-Latn-RS" sz="1200" i="1">
                          <a:latin typeface="Cambria Math" panose="02040503050406030204" pitchFamily="18" charset="0"/>
                          <a:ea typeface="Times New Roman" panose="02020603050405020304" pitchFamily="18" charset="0"/>
                          <a:cs typeface="Times New Roman" panose="02020603050405020304" pitchFamily="18" charset="0"/>
                        </a:rPr>
                        <m:t> ⨁ ⋯ ⨁ </m:t>
                      </m:r>
                      <m:d>
                        <m:d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 </m:t>
                              </m:r>
                              <m:r>
                                <a:rPr lang="sr-Latn-RS" sz="12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𝑛</m:t>
                              </m:r>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𝑛</m:t>
                              </m:r>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e>
                      </m:d>
                    </m:oMath>
                  </m:oMathPara>
                </a14:m>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algn="just">
                  <a:spcAft>
                    <a:spcPts val="1200"/>
                  </a:spcAft>
                </a:pPr>
                <a:endParaRPr lang="en-ZA" sz="1200" dirty="0">
                  <a:latin typeface="Cambria" panose="02040503050406030204" pitchFamily="18" charset="0"/>
                  <a:cs typeface="Times New Roman" panose="02020603050405020304" pitchFamily="18" charset="0"/>
                </a:endParaRPr>
              </a:p>
              <a:p>
                <a:pPr algn="just">
                  <a:spcAft>
                    <a:spcPts val="1200"/>
                  </a:spcAft>
                </a:pPr>
                <a:r>
                  <a:rPr lang="en-ZA" sz="1200"/>
                  <a:t>The </a:t>
                </a:r>
                <a:r>
                  <a:rPr lang="en-ZA" sz="1200" dirty="0"/>
                  <a:t>task is to determine the unknown bit string</a:t>
                </a:r>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𝑠</m:t>
                    </m:r>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pPr>
                      <m:e>
                        <m:d>
                          <m:dPr>
                            <m:begChr m:val="{"/>
                            <m:endChr m:val="}"/>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1200" i="1">
                            <a:latin typeface="Cambria Math" panose="02040503050406030204" pitchFamily="18" charset="0"/>
                            <a:ea typeface="Times New Roman" panose="02020603050405020304" pitchFamily="18" charset="0"/>
                            <a:cs typeface="Times New Roman" panose="02020603050405020304" pitchFamily="18" charset="0"/>
                          </a:rPr>
                          <m:t>𝑛</m:t>
                        </m:r>
                      </m:sup>
                    </m:sSup>
                  </m:oMath>
                </a14:m>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en-ZA" dirty="0"/>
                  <a:t>using as few queries to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𝑓</m:t>
                    </m:r>
                  </m:oMath>
                </a14:m>
                <a:r>
                  <a:rPr lang="en-US" dirty="0"/>
                  <a:t> </a:t>
                </a:r>
                <a:r>
                  <a:rPr lang="en-ZA" dirty="0"/>
                  <a:t>as possible.</a:t>
                </a:r>
                <a:endParaRPr lang="en-US" dirty="0"/>
              </a:p>
            </p:txBody>
          </p:sp>
        </mc:Choice>
        <mc:Fallback xmlns="">
          <p:sp>
            <p:nvSpPr>
              <p:cNvPr id="3" name="Notes Placeholder 2"/>
              <p:cNvSpPr>
                <a:spLocks noGrp="1"/>
              </p:cNvSpPr>
              <p:nvPr>
                <p:ph type="body" idx="1"/>
              </p:nvPr>
            </p:nvSpPr>
            <p:spPr/>
            <p:txBody>
              <a:bodyPr/>
              <a:lstStyle/>
              <a:p>
                <a:r>
                  <a:rPr lang="en-US" dirty="0"/>
                  <a:t>Problem </a:t>
                </a:r>
                <a:r>
                  <a:rPr lang="en-US" dirty="0" err="1"/>
                  <a:t>koji</a:t>
                </a:r>
                <a:r>
                  <a:rPr lang="en-US" dirty="0"/>
                  <a:t> </a:t>
                </a:r>
                <a:r>
                  <a:rPr lang="en-US" dirty="0" err="1"/>
                  <a:t>rešava</a:t>
                </a:r>
                <a:r>
                  <a:rPr lang="en-US" dirty="0"/>
                  <a:t> </a:t>
                </a:r>
                <a:r>
                  <a:rPr lang="sr-Latn-RS" dirty="0" err="1"/>
                  <a:t>Bernstin</a:t>
                </a:r>
                <a:r>
                  <a:rPr lang="sr-Latn-RS" dirty="0"/>
                  <a:t>–</a:t>
                </a:r>
                <a:r>
                  <a:rPr lang="sr-Latn-RS" dirty="0" err="1"/>
                  <a:t>Vazirani</a:t>
                </a:r>
                <a:r>
                  <a:rPr lang="sr-Latn-RS" dirty="0"/>
                  <a:t> algoritam se može postaviti na sledeći način.</a:t>
                </a:r>
              </a:p>
              <a:p>
                <a:endParaRPr lang="sr-Latn-RS" dirty="0"/>
              </a:p>
              <a:p>
                <a:pPr algn="l">
                  <a:spcAft>
                    <a:spcPts val="1200"/>
                  </a:spcAft>
                </a:pPr>
                <a:r>
                  <a:rPr lang="sr-Latn-RS" sz="1200" dirty="0">
                    <a:latin typeface="Cambria" panose="02040503050406030204" pitchFamily="18" charset="0"/>
                    <a:ea typeface="Times New Roman" panose="02020603050405020304" pitchFamily="18" charset="0"/>
                    <a:cs typeface="Times New Roman" panose="02020603050405020304" pitchFamily="18" charset="0"/>
                  </a:rPr>
                  <a:t>Neka je data funkcija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𝑓</a:t>
                </a:r>
                <a:r>
                  <a:rPr lang="sr-Latn-RS" sz="1200" b="0" i="0">
                    <a:latin typeface="Cambria Math" panose="02040503050406030204" pitchFamily="18" charset="0"/>
                    <a:ea typeface="Times New Roman" panose="02020603050405020304" pitchFamily="18" charset="0"/>
                    <a:cs typeface="Times New Roman" panose="02020603050405020304" pitchFamily="18" charset="0"/>
                  </a:rPr>
                  <a:t>(𝑥) </a:t>
                </a:r>
                <a:r>
                  <a:rPr lang="sr-Latn-RS" sz="1200" dirty="0">
                    <a:latin typeface="Cambria" panose="02040503050406030204" pitchFamily="18" charset="0"/>
                    <a:ea typeface="Times New Roman" panose="02020603050405020304" pitchFamily="18" charset="0"/>
                    <a:cs typeface="Times New Roman" panose="02020603050405020304" pitchFamily="18" charset="0"/>
                  </a:rPr>
                  <a:t>koja preslikava niz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𝑥</a:t>
                </a:r>
                <a:r>
                  <a:rPr lang="sr-Latn-RS" sz="1200" dirty="0">
                    <a:latin typeface="Cambria" panose="02040503050406030204" pitchFamily="18" charset="0"/>
                    <a:ea typeface="Times New Roman" panose="02020603050405020304" pitchFamily="18" charset="0"/>
                    <a:cs typeface="Times New Roman" panose="02020603050405020304" pitchFamily="18" charset="0"/>
                  </a:rPr>
                  <a:t> od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𝑛</a:t>
                </a:r>
                <a:r>
                  <a:rPr lang="sr-Latn-RS" sz="1200" dirty="0">
                    <a:latin typeface="Cambria" panose="02040503050406030204" pitchFamily="18" charset="0"/>
                    <a:ea typeface="Times New Roman" panose="02020603050405020304" pitchFamily="18" charset="0"/>
                    <a:cs typeface="Times New Roman" panose="02020603050405020304" pitchFamily="18" charset="0"/>
                  </a:rPr>
                  <a:t>-bitova ulaza  jedan bit izlaza. Pri tome je funkcija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𝑓</a:t>
                </a:r>
                <a:r>
                  <a:rPr lang="en-ZA" sz="1200"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𝑥)</a:t>
                </a:r>
                <a:r>
                  <a:rPr lang="sr-Latn-RS" sz="1200" dirty="0">
                    <a:latin typeface="Cambria" panose="02040503050406030204" pitchFamily="18" charset="0"/>
                    <a:ea typeface="Times New Roman" panose="02020603050405020304" pitchFamily="18" charset="0"/>
                    <a:cs typeface="Times New Roman" panose="02020603050405020304" pitchFamily="18" charset="0"/>
                  </a:rPr>
                  <a:t> definisana kao suma unutrašnjih proizvoda bitova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𝑥</a:t>
                </a:r>
                <a:r>
                  <a:rPr lang="sr-Latn-RS" sz="1200" dirty="0">
                    <a:latin typeface="Cambria" panose="02040503050406030204" pitchFamily="18" charset="0"/>
                    <a:ea typeface="Times New Roman" panose="02020603050405020304" pitchFamily="18" charset="0"/>
                    <a:cs typeface="Times New Roman" panose="02020603050405020304" pitchFamily="18" charset="0"/>
                  </a:rPr>
                  <a:t> i</a:t>
                </a:r>
                <a:r>
                  <a:rPr lang="sr-Latn-RS" sz="1200" b="0" i="0">
                    <a:latin typeface="Cambria Math" panose="02040503050406030204" pitchFamily="18" charset="0"/>
                    <a:ea typeface="Times New Roman" panose="02020603050405020304" pitchFamily="18" charset="0"/>
                    <a:cs typeface="Times New Roman" panose="02020603050405020304" pitchFamily="18" charset="0"/>
                  </a:rPr>
                  <a:t> 𝑠 </a:t>
                </a:r>
                <a:endParaRPr lang="sr-Latn-RS" sz="1200" dirty="0">
                  <a:latin typeface="Cambria" panose="02040503050406030204" pitchFamily="18" charset="0"/>
                  <a:ea typeface="Times New Roman" panose="02020603050405020304" pitchFamily="18" charset="0"/>
                  <a:cs typeface="Times New Roman" panose="02020603050405020304" pitchFamily="18" charset="0"/>
                </a:endParaRPr>
              </a:p>
              <a:p>
                <a:pPr algn="l">
                  <a:spcAft>
                    <a:spcPts val="1200"/>
                  </a:spcAft>
                </a:pPr>
                <a:r>
                  <a:rPr lang="sr-Latn-RS" sz="1200" i="0">
                    <a:latin typeface="Cambria Math" panose="02040503050406030204" pitchFamily="18" charset="0"/>
                    <a:ea typeface="Times New Roman" panose="02020603050405020304" pitchFamily="18" charset="0"/>
                    <a:cs typeface="Times New Roman" panose="02020603050405020304" pitchFamily="18" charset="0"/>
                  </a:rPr>
                  <a:t>𝑓</a:t>
                </a:r>
                <a:r>
                  <a:rPr lang="en-ZA" sz="1200"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𝑥)=𝑥∙𝑠 (𝑚𝑜𝑑 2)</a:t>
                </a:r>
                <a:endParaRPr lang="sr-Latn-RS" sz="1200" dirty="0">
                  <a:latin typeface="Cambria" panose="02040503050406030204" pitchFamily="18" charset="0"/>
                  <a:ea typeface="Times New Roman" panose="02020603050405020304" pitchFamily="18" charset="0"/>
                  <a:cs typeface="Times New Roman" panose="02020603050405020304" pitchFamily="18" charset="0"/>
                </a:endParaRPr>
              </a:p>
              <a:p>
                <a:pPr algn="l">
                  <a:spcAft>
                    <a:spcPts val="1200"/>
                  </a:spcAft>
                </a:pPr>
                <a:r>
                  <a:rPr lang="sr-Latn-RS" sz="1200" dirty="0">
                    <a:latin typeface="Cambria" panose="02040503050406030204" pitchFamily="18" charset="0"/>
                    <a:ea typeface="Times New Roman" panose="02020603050405020304" pitchFamily="18" charset="0"/>
                    <a:cs typeface="Times New Roman" panose="02020603050405020304" pitchFamily="18" charset="0"/>
                  </a:rPr>
                  <a:t>Zadatak je pronaći niz bitova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𝑠∈</a:t>
                </a:r>
                <a:r>
                  <a:rPr lang="en-ZA" sz="1200"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0,1}</a:t>
                </a:r>
                <a:r>
                  <a:rPr lang="en-ZA"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𝑛</a:t>
                </a:r>
                <a:r>
                  <a:rPr lang="sr-Latn-RS" sz="1200" dirty="0">
                    <a:latin typeface="Cambria" panose="02040503050406030204" pitchFamily="18" charset="0"/>
                    <a:ea typeface="Times New Roman" panose="02020603050405020304" pitchFamily="18" charset="0"/>
                    <a:cs typeface="Times New Roman" panose="02020603050405020304" pitchFamily="18" charset="0"/>
                  </a:rPr>
                  <a:t>.</a:t>
                </a: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33008699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Bernstein and </a:t>
                </a:r>
                <a:r>
                  <a:rPr lang="en-ZA" b="0" dirty="0" err="1"/>
                  <a:t>Vazirani</a:t>
                </a:r>
                <a:r>
                  <a:rPr lang="en-ZA" b="0" dirty="0"/>
                  <a:t> showed that, on a quantum computer, an unknown binary string can be determined with a single query, provided that the oracle computes the bitwise inner product.</a:t>
                </a:r>
              </a:p>
              <a:p>
                <a:pPr algn="just"/>
                <a:endParaRPr lang="en-ZA" b="0" dirty="0"/>
              </a:p>
              <a:p>
                <a:pPr algn="just"/>
                <a:r>
                  <a:rPr lang="en-ZA" b="0" dirty="0"/>
                  <a:t>The figure illustrates the quantum circuit for this algorithm. The oracle, which computes the inner product function, is implemented using two controlled-X (CNOT) gates. The control qubits correspond to the positions of the 1s in the secret string, in this case, 101.</a:t>
                </a:r>
              </a:p>
              <a:p>
                <a:pPr algn="just"/>
                <a:endParaRPr lang="en-ZA" b="0" dirty="0"/>
              </a:p>
              <a:p>
                <a:pPr algn="just"/>
                <a:r>
                  <a:rPr lang="en-ZA" b="0" dirty="0"/>
                  <a:t>The input qubits are initialized in an equal superposition of all possible inputs, so the oracle acts on all of these inputs in superposition. The target qubit y is initialized in the ∣−⟩ state. This causes phase kickback, introducing a phase factor </a:t>
                </a:r>
                <a14:m>
                  <m:oMath xmlns:m="http://schemas.openxmlformats.org/officeDocument/2006/math">
                    <m:sSup>
                      <m:sSupPr>
                        <m:ctrlPr>
                          <a:rPr lang="en-US" sz="1200" i="1" smtClean="0">
                            <a:latin typeface="Cambria Math" panose="02040503050406030204" pitchFamily="18" charset="0"/>
                          </a:rPr>
                        </m:ctrlPr>
                      </m:sSupPr>
                      <m:e>
                        <m:d>
                          <m:dPr>
                            <m:ctrlPr>
                              <a:rPr lang="en-US" sz="1200" i="1">
                                <a:latin typeface="Cambria Math" panose="02040503050406030204" pitchFamily="18" charset="0"/>
                              </a:rPr>
                            </m:ctrlPr>
                          </m:dPr>
                          <m:e>
                            <m:r>
                              <a:rPr lang="en-US" sz="1200">
                                <a:latin typeface="Cambria Math" panose="02040503050406030204" pitchFamily="18" charset="0"/>
                              </a:rPr>
                              <m:t>−1</m:t>
                            </m:r>
                          </m:e>
                        </m:d>
                      </m:e>
                      <m:sup>
                        <m:r>
                          <a:rPr lang="sr-Latn-RS" sz="1200" i="1">
                            <a:latin typeface="Cambria Math" panose="02040503050406030204" pitchFamily="18" charset="0"/>
                          </a:rPr>
                          <m:t>𝑥</m:t>
                        </m:r>
                      </m:sup>
                    </m:sSup>
                  </m:oMath>
                </a14:m>
                <a:r>
                  <a:rPr lang="en-ZA" b="0" dirty="0"/>
                  <a:t> for each input state. These phase changes encode the hidden string into the input register, allowing it to be retrieved after the final Hadamard gates.</a:t>
                </a:r>
              </a:p>
            </p:txBody>
          </p:sp>
        </mc:Choice>
        <mc:Fallback xmlns="">
          <p:sp>
            <p:nvSpPr>
              <p:cNvPr id="3" name="Notes Placeholder 2"/>
              <p:cNvSpPr>
                <a:spLocks noGrp="1"/>
              </p:cNvSpPr>
              <p:nvPr>
                <p:ph type="body" idx="1"/>
              </p:nvPr>
            </p:nvSpPr>
            <p:spPr/>
            <p:txBody>
              <a:bodyPr/>
              <a:lstStyle/>
              <a:p>
                <a:pPr algn="just"/>
                <a:r>
                  <a:rPr lang="en-ZA" b="0" dirty="0"/>
                  <a:t>Bernstein and </a:t>
                </a:r>
                <a:r>
                  <a:rPr lang="en-ZA" b="0" dirty="0" err="1"/>
                  <a:t>Vazirani</a:t>
                </a:r>
                <a:r>
                  <a:rPr lang="en-ZA" b="0" dirty="0"/>
                  <a:t> demonstrate that, using a quantum computer, an unknown string of binary digits can be found with only a single query—provided that the oracle returns the bitwise inner product as output.</a:t>
                </a:r>
              </a:p>
              <a:p>
                <a:pPr algn="just"/>
                <a:endParaRPr lang="en-ZA" b="0" dirty="0"/>
              </a:p>
              <a:p>
                <a:pPr algn="just"/>
                <a:r>
                  <a:rPr lang="en-ZA" b="0" dirty="0"/>
                  <a:t>The figure shows the quantum circuit for the algorithm. The oracle that computes this function is implemented using two controlled-X (CNOT) gates. The control qubits are placed at the positions corresponding to the 1s in the secret string, in this case, 101.</a:t>
                </a:r>
              </a:p>
              <a:p>
                <a:pPr algn="just"/>
                <a:endParaRPr lang="en-ZA" b="0" dirty="0"/>
              </a:p>
              <a:p>
                <a:pPr algn="just"/>
                <a:r>
                  <a:rPr lang="en-ZA" b="0" dirty="0"/>
                  <a:t>The input qubits to the oracle are initialized in the </a:t>
                </a:r>
                <a:r>
                  <a:rPr lang="en-US" sz="1200" i="0">
                    <a:solidFill>
                      <a:schemeClr val="tx1"/>
                    </a:solidFill>
                    <a:latin typeface="Cambria Math" panose="02040503050406030204" pitchFamily="18" charset="0"/>
                  </a:rPr>
                  <a:t>├ |</a:t>
                </a:r>
                <a:r>
                  <a:rPr lang="en-US" sz="1200" b="0" i="0">
                    <a:solidFill>
                      <a:schemeClr val="tx1"/>
                    </a:solidFill>
                    <a:latin typeface="Cambria Math" panose="02040503050406030204" pitchFamily="18" charset="0"/>
                  </a:rPr>
                  <a:t>+</a:t>
                </a:r>
                <a:r>
                  <a:rPr lang="sr-Latn-RS" sz="1200" b="0" i="0">
                    <a:solidFill>
                      <a:schemeClr val="tx1"/>
                    </a:solidFill>
                    <a:latin typeface="Cambria Math" panose="02040503050406030204" pitchFamily="18" charset="0"/>
                  </a:rPr>
                  <a:t>⟩</a:t>
                </a:r>
                <a:r>
                  <a:rPr lang="en-ZA" b="0" dirty="0"/>
                  <a:t> state (i.e. in superposition), while the target qubit </a:t>
                </a:r>
                <a:r>
                  <a:rPr lang="en-US" sz="1200" i="0">
                    <a:solidFill>
                      <a:schemeClr val="tx1"/>
                    </a:solidFill>
                    <a:latin typeface="Cambria Math" panose="02040503050406030204" pitchFamily="18" charset="0"/>
                  </a:rPr>
                  <a:t>𝑦</a:t>
                </a:r>
                <a:r>
                  <a:rPr lang="en-ZA" b="0" dirty="0"/>
                  <a:t> is initialized in the </a:t>
                </a:r>
                <a:r>
                  <a:rPr lang="en-US" sz="1200" i="0">
                    <a:solidFill>
                      <a:schemeClr val="tx1"/>
                    </a:solidFill>
                    <a:latin typeface="Cambria Math" panose="02040503050406030204" pitchFamily="18" charset="0"/>
                  </a:rPr>
                  <a:t>├ |</a:t>
                </a:r>
                <a:r>
                  <a:rPr lang="en-US" sz="1200" b="0" i="0">
                    <a:solidFill>
                      <a:schemeClr val="tx1"/>
                    </a:solidFill>
                    <a:latin typeface="Cambria Math" panose="02040503050406030204" pitchFamily="18" charset="0"/>
                  </a:rPr>
                  <a:t>−</a:t>
                </a:r>
                <a:r>
                  <a:rPr lang="sr-Latn-RS" sz="1200" b="0" i="0">
                    <a:solidFill>
                      <a:schemeClr val="tx1"/>
                    </a:solidFill>
                    <a:latin typeface="Cambria Math" panose="02040503050406030204" pitchFamily="18" charset="0"/>
                  </a:rPr>
                  <a:t>⟩</a:t>
                </a:r>
                <a:r>
                  <a:rPr lang="en-ZA" b="0" dirty="0"/>
                  <a:t> state.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2217756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As an example, the combined state of qubits </a:t>
                </a:r>
                <a14:m>
                  <m:oMath xmlns:m="http://schemas.openxmlformats.org/officeDocument/2006/math">
                    <m:sSub>
                      <m:sSubPr>
                        <m:ctrlPr>
                          <a:rPr lang="sr-Latn-RS" sz="1200" i="1" smtClean="0">
                            <a:latin typeface="Cambria Math" panose="02040503050406030204" pitchFamily="18" charset="0"/>
                          </a:rPr>
                        </m:ctrlPr>
                      </m:sSubPr>
                      <m:e>
                        <m:r>
                          <a:rPr lang="sr-Latn-RS" sz="1200" b="0" i="1" smtClean="0">
                            <a:latin typeface="Cambria Math" panose="02040503050406030204" pitchFamily="18" charset="0"/>
                          </a:rPr>
                          <m:t>𝑥</m:t>
                        </m:r>
                      </m:e>
                      <m:sub>
                        <m:r>
                          <a:rPr lang="sr-Latn-RS" sz="1200" b="0" i="1" smtClean="0">
                            <a:latin typeface="Cambria Math" panose="02040503050406030204" pitchFamily="18" charset="0"/>
                          </a:rPr>
                          <m:t>0</m:t>
                        </m:r>
                      </m:sub>
                    </m:sSub>
                  </m:oMath>
                </a14:m>
                <a:r>
                  <a:rPr lang="en-ZA" b="0" dirty="0"/>
                  <a:t>​ and </a:t>
                </a:r>
                <a14:m>
                  <m:oMath xmlns:m="http://schemas.openxmlformats.org/officeDocument/2006/math">
                    <m:r>
                      <a:rPr lang="en-US" sz="1200" i="1" smtClean="0">
                        <a:latin typeface="Cambria Math" panose="02040503050406030204" pitchFamily="18" charset="0"/>
                      </a:rPr>
                      <m:t>𝑦</m:t>
                    </m:r>
                  </m:oMath>
                </a14:m>
                <a:r>
                  <a:rPr lang="en-ZA" b="0" dirty="0"/>
                  <a:t> can be followed through the circuit.</a:t>
                </a:r>
              </a:p>
              <a:p>
                <a:endParaRPr lang="en-ZA" b="0" dirty="0"/>
              </a:p>
              <a:p>
                <a:pPr marL="171450" indent="-171450">
                  <a:buFont typeface="Arial" panose="020B0604020202020204" pitchFamily="34" charset="0"/>
                  <a:buChar char="•"/>
                </a:pPr>
                <a:r>
                  <a:rPr lang="en-ZA" b="0" dirty="0"/>
                  <a:t>After applying the Hadamard gates, the qubits </a:t>
                </a:r>
                <a14:m>
                  <m:oMath xmlns:m="http://schemas.openxmlformats.org/officeDocument/2006/math">
                    <m:sSub>
                      <m:sSubPr>
                        <m:ctrlPr>
                          <a:rPr lang="sr-Latn-RS" sz="1200" i="1" smtClean="0">
                            <a:latin typeface="Cambria Math" panose="02040503050406030204" pitchFamily="18" charset="0"/>
                          </a:rPr>
                        </m:ctrlPr>
                      </m:sSubPr>
                      <m:e>
                        <m:r>
                          <a:rPr lang="sr-Latn-RS" sz="1200" b="0" i="1" smtClean="0">
                            <a:latin typeface="Cambria Math" panose="02040503050406030204" pitchFamily="18" charset="0"/>
                          </a:rPr>
                          <m:t>𝑥</m:t>
                        </m:r>
                      </m:e>
                      <m:sub>
                        <m:r>
                          <a:rPr lang="sr-Latn-RS" sz="1200" b="0" i="1" smtClean="0">
                            <a:latin typeface="Cambria Math" panose="02040503050406030204" pitchFamily="18" charset="0"/>
                          </a:rPr>
                          <m:t>0</m:t>
                        </m:r>
                      </m:sub>
                    </m:sSub>
                  </m:oMath>
                </a14:m>
                <a:r>
                  <a:rPr lang="en-ZA" b="0" dirty="0"/>
                  <a:t>​ and </a:t>
                </a:r>
                <a14:m>
                  <m:oMath xmlns:m="http://schemas.openxmlformats.org/officeDocument/2006/math">
                    <m:r>
                      <a:rPr lang="en-US" sz="1200" i="1" smtClean="0">
                        <a:latin typeface="Cambria Math" panose="02040503050406030204" pitchFamily="18" charset="0"/>
                      </a:rPr>
                      <m:t>𝑦</m:t>
                    </m:r>
                  </m:oMath>
                </a14:m>
                <a:r>
                  <a:rPr lang="en-ZA" b="0" dirty="0"/>
                  <a:t> enter the oracle in the state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i="0">
                            <a:latin typeface="Cambria Math" panose="02040503050406030204" pitchFamily="18" charset="0"/>
                          </a:rPr>
                          <m:t>+</m:t>
                        </m:r>
                      </m:e>
                    </m:d>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0" smtClean="0">
                            <a:latin typeface="Cambria Math" panose="02040503050406030204" pitchFamily="18" charset="0"/>
                          </a:rPr>
                          <m:t>−</m:t>
                        </m:r>
                      </m:e>
                    </m:d>
                  </m:oMath>
                </a14:m>
                <a:r>
                  <a:rPr lang="en-ZA" b="0" dirty="0"/>
                  <a:t>. </a:t>
                </a:r>
              </a:p>
              <a:p>
                <a:pPr marL="171450" indent="-171450">
                  <a:buFont typeface="Arial" panose="020B0604020202020204" pitchFamily="34" charset="0"/>
                  <a:buChar char="•"/>
                </a:pPr>
                <a:r>
                  <a:rPr lang="en-ZA" b="0" dirty="0"/>
                  <a:t>By expanding these two superpositions and applying the CNOT gate, with </a:t>
                </a:r>
                <a14:m>
                  <m:oMath xmlns:m="http://schemas.openxmlformats.org/officeDocument/2006/math">
                    <m:sSub>
                      <m:sSubPr>
                        <m:ctrlPr>
                          <a:rPr lang="sr-Latn-RS" sz="1200" i="1" smtClean="0">
                            <a:latin typeface="Cambria Math" panose="02040503050406030204" pitchFamily="18" charset="0"/>
                          </a:rPr>
                        </m:ctrlPr>
                      </m:sSubPr>
                      <m:e>
                        <m:r>
                          <a:rPr lang="sr-Latn-RS" sz="1200" b="0" i="1" smtClean="0">
                            <a:latin typeface="Cambria Math" panose="02040503050406030204" pitchFamily="18" charset="0"/>
                          </a:rPr>
                          <m:t>𝑥</m:t>
                        </m:r>
                      </m:e>
                      <m:sub>
                        <m:r>
                          <a:rPr lang="sr-Latn-RS" sz="1200" b="0" i="1" smtClean="0">
                            <a:latin typeface="Cambria Math" panose="02040503050406030204" pitchFamily="18" charset="0"/>
                          </a:rPr>
                          <m:t>0</m:t>
                        </m:r>
                      </m:sub>
                    </m:sSub>
                  </m:oMath>
                </a14:m>
                <a:r>
                  <a:rPr lang="en-ZA" b="0" dirty="0"/>
                  <a:t>​ as the control and </a:t>
                </a:r>
                <a14:m>
                  <m:oMath xmlns:m="http://schemas.openxmlformats.org/officeDocument/2006/math">
                    <m:r>
                      <a:rPr lang="en-US" sz="1200" i="1" smtClean="0">
                        <a:latin typeface="Cambria Math" panose="02040503050406030204" pitchFamily="18" charset="0"/>
                      </a:rPr>
                      <m:t>𝑦</m:t>
                    </m:r>
                  </m:oMath>
                </a14:m>
                <a:r>
                  <a:rPr lang="en-ZA" b="0" dirty="0"/>
                  <a:t> as the target, the output state becomes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0" smtClean="0">
                            <a:latin typeface="Cambria Math" panose="02040503050406030204" pitchFamily="18" charset="0"/>
                          </a:rPr>
                          <m:t>−</m:t>
                        </m:r>
                      </m:e>
                    </m:d>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0" smtClean="0">
                            <a:latin typeface="Cambria Math" panose="02040503050406030204" pitchFamily="18" charset="0"/>
                          </a:rPr>
                          <m:t>−</m:t>
                        </m:r>
                      </m:e>
                    </m:d>
                  </m:oMath>
                </a14:m>
                <a:r>
                  <a:rPr lang="en-ZA" b="0" dirty="0"/>
                  <a:t>. </a:t>
                </a:r>
              </a:p>
              <a:p>
                <a:pPr marL="171450" indent="-171450">
                  <a:buFont typeface="Arial" panose="020B0604020202020204" pitchFamily="34" charset="0"/>
                  <a:buChar char="•"/>
                </a:pPr>
                <a:r>
                  <a:rPr lang="en-ZA" b="0" dirty="0"/>
                  <a:t>This shows that phase kickback has occurred, changing the state of qubit </a:t>
                </a:r>
                <a14:m>
                  <m:oMath xmlns:m="http://schemas.openxmlformats.org/officeDocument/2006/math">
                    <m:sSub>
                      <m:sSubPr>
                        <m:ctrlPr>
                          <a:rPr lang="sr-Latn-RS" sz="1200" i="1" smtClean="0">
                            <a:latin typeface="Cambria Math" panose="02040503050406030204" pitchFamily="18" charset="0"/>
                          </a:rPr>
                        </m:ctrlPr>
                      </m:sSubPr>
                      <m:e>
                        <m:r>
                          <a:rPr lang="sr-Latn-RS" sz="1200" b="0" i="1" smtClean="0">
                            <a:latin typeface="Cambria Math" panose="02040503050406030204" pitchFamily="18" charset="0"/>
                          </a:rPr>
                          <m:t>𝑥</m:t>
                        </m:r>
                      </m:e>
                      <m:sub>
                        <m:r>
                          <a:rPr lang="sr-Latn-RS" sz="1200" b="0" i="1" smtClean="0">
                            <a:latin typeface="Cambria Math" panose="02040503050406030204" pitchFamily="18" charset="0"/>
                          </a:rPr>
                          <m:t>0</m:t>
                        </m:r>
                      </m:sub>
                    </m:sSub>
                  </m:oMath>
                </a14:m>
                <a:r>
                  <a:rPr lang="en-ZA" b="0" dirty="0"/>
                  <a:t>​ from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i="0">
                            <a:latin typeface="Cambria Math" panose="02040503050406030204" pitchFamily="18" charset="0"/>
                          </a:rPr>
                          <m:t>+</m:t>
                        </m:r>
                      </m:e>
                    </m:d>
                  </m:oMath>
                </a14:m>
                <a:r>
                  <a:rPr lang="en-ZA" b="0" dirty="0"/>
                  <a:t> to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0" smtClean="0">
                            <a:latin typeface="Cambria Math" panose="02040503050406030204" pitchFamily="18" charset="0"/>
                          </a:rPr>
                          <m:t>−</m:t>
                        </m:r>
                      </m:e>
                    </m:d>
                  </m:oMath>
                </a14:m>
                <a:r>
                  <a:rPr lang="en-ZA" b="0" dirty="0"/>
                  <a:t>. </a:t>
                </a:r>
              </a:p>
              <a:p>
                <a:pPr marL="171450" indent="-171450">
                  <a:buFont typeface="Arial" panose="020B0604020202020204" pitchFamily="34" charset="0"/>
                  <a:buChar char="•"/>
                </a:pPr>
                <a:r>
                  <a:rPr lang="en-ZA" b="0" dirty="0"/>
                  <a:t>Applying a Hadamard gate to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0" smtClean="0">
                            <a:latin typeface="Cambria Math" panose="02040503050406030204" pitchFamily="18" charset="0"/>
                          </a:rPr>
                          <m:t>−</m:t>
                        </m:r>
                      </m:e>
                    </m:d>
                  </m:oMath>
                </a14:m>
                <a:r>
                  <a:rPr lang="en-ZA" b="0" dirty="0"/>
                  <a:t> gives ∣1⟩, revealing a 1 at the position corresponding to </a:t>
                </a:r>
                <a14:m>
                  <m:oMath xmlns:m="http://schemas.openxmlformats.org/officeDocument/2006/math">
                    <m:sSub>
                      <m:sSubPr>
                        <m:ctrlPr>
                          <a:rPr lang="sr-Latn-RS" sz="1200" i="1" smtClean="0">
                            <a:latin typeface="Cambria Math" panose="02040503050406030204" pitchFamily="18" charset="0"/>
                          </a:rPr>
                        </m:ctrlPr>
                      </m:sSubPr>
                      <m:e>
                        <m:r>
                          <a:rPr lang="sr-Latn-RS" sz="1200" b="0" i="1" smtClean="0">
                            <a:latin typeface="Cambria Math" panose="02040503050406030204" pitchFamily="18" charset="0"/>
                          </a:rPr>
                          <m:t>𝑥</m:t>
                        </m:r>
                      </m:e>
                      <m:sub>
                        <m:r>
                          <a:rPr lang="sr-Latn-RS" sz="1200" b="0" i="1" smtClean="0">
                            <a:latin typeface="Cambria Math" panose="02040503050406030204" pitchFamily="18" charset="0"/>
                          </a:rPr>
                          <m:t>0</m:t>
                        </m:r>
                      </m:sub>
                    </m:sSub>
                  </m:oMath>
                </a14:m>
                <a:r>
                  <a:rPr lang="en-ZA" b="0" dirty="0"/>
                  <a:t>​. </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For qubit </a:t>
                </a:r>
                <a14:m>
                  <m:oMath xmlns:m="http://schemas.openxmlformats.org/officeDocument/2006/math">
                    <m:sSub>
                      <m:sSubPr>
                        <m:ctrlPr>
                          <a:rPr lang="sr-Latn-RS" sz="1200" i="1" smtClean="0">
                            <a:latin typeface="Cambria Math" panose="02040503050406030204" pitchFamily="18" charset="0"/>
                          </a:rPr>
                        </m:ctrlPr>
                      </m:sSubPr>
                      <m:e>
                        <m:r>
                          <a:rPr lang="sr-Latn-RS" sz="1200" b="0" i="1" smtClean="0">
                            <a:latin typeface="Cambria Math" panose="02040503050406030204" pitchFamily="18" charset="0"/>
                          </a:rPr>
                          <m:t>𝑥</m:t>
                        </m:r>
                      </m:e>
                      <m:sub>
                        <m:r>
                          <a:rPr lang="en-US" sz="1200" b="0" i="1" smtClean="0">
                            <a:latin typeface="Cambria Math" panose="02040503050406030204" pitchFamily="18" charset="0"/>
                          </a:rPr>
                          <m:t>1</m:t>
                        </m:r>
                      </m:sub>
                    </m:sSub>
                  </m:oMath>
                </a14:m>
                <a:r>
                  <a:rPr lang="en-ZA" b="0" dirty="0"/>
                  <a:t>​, which does not control a CNOT gate in the oracle, the state remains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i="0">
                            <a:latin typeface="Cambria Math" panose="02040503050406030204" pitchFamily="18" charset="0"/>
                          </a:rPr>
                          <m:t>+</m:t>
                        </m:r>
                      </m:e>
                    </m:d>
                  </m:oMath>
                </a14:m>
                <a:r>
                  <a:rPr lang="en-ZA" b="0" dirty="0"/>
                  <a:t>. </a:t>
                </a:r>
              </a:p>
              <a:p>
                <a:pPr marL="171450" indent="-171450">
                  <a:buFont typeface="Arial" panose="020B0604020202020204" pitchFamily="34" charset="0"/>
                  <a:buChar char="•"/>
                </a:pPr>
                <a:r>
                  <a:rPr lang="en-ZA" b="0" dirty="0"/>
                  <a:t>After the final Hadamard gate,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i="0">
                            <a:latin typeface="Cambria Math" panose="02040503050406030204" pitchFamily="18" charset="0"/>
                          </a:rPr>
                          <m:t>+</m:t>
                        </m:r>
                      </m:e>
                    </m:d>
                  </m:oMath>
                </a14:m>
                <a:r>
                  <a:rPr lang="en-ZA" b="0" dirty="0"/>
                  <a:t> becomes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0" smtClean="0">
                            <a:latin typeface="Cambria Math" panose="02040503050406030204" pitchFamily="18" charset="0"/>
                          </a:rPr>
                          <m:t>0</m:t>
                        </m:r>
                      </m:e>
                    </m:d>
                  </m:oMath>
                </a14:m>
                <a:r>
                  <a:rPr lang="en-ZA" b="0" dirty="0"/>
                  <a:t>, revealing a 0 at this position. </a:t>
                </a:r>
              </a:p>
              <a:p>
                <a:pPr marL="171450" indent="-171450">
                  <a:buFont typeface="Arial" panose="020B0604020202020204" pitchFamily="34" charset="0"/>
                  <a:buChar char="•"/>
                </a:pPr>
                <a:r>
                  <a:rPr lang="en-ZA" b="0" dirty="0"/>
                  <a:t>Finally, measuring the input register reveals the complete secret string.</a:t>
                </a:r>
              </a:p>
              <a:p>
                <a:pPr algn="just"/>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kern="1200" dirty="0">
                    <a:solidFill>
                      <a:schemeClr val="tx1"/>
                    </a:solidFill>
                    <a:effectLst/>
                    <a:latin typeface="+mn-lt"/>
                    <a:ea typeface="+mn-ea"/>
                    <a:cs typeface="+mn-cs"/>
                  </a:rPr>
                  <a:t>Kao primer, pratimo kombinovano stanje kubita </a:t>
                </a:r>
                <a:r>
                  <a:rPr lang="sr-Latn-RS" sz="1200" b="0" i="0">
                    <a:latin typeface="Cambria Math" panose="02040503050406030204" pitchFamily="18" charset="0"/>
                  </a:rPr>
                  <a:t>𝑥_0</a:t>
                </a:r>
                <a:r>
                  <a:rPr lang="sr-Latn-RS" sz="1200" kern="1200" dirty="0">
                    <a:solidFill>
                      <a:schemeClr val="tx1"/>
                    </a:solidFill>
                    <a:effectLst/>
                    <a:latin typeface="+mn-lt"/>
                    <a:ea typeface="+mn-ea"/>
                    <a:cs typeface="+mn-cs"/>
                  </a:rPr>
                  <a:t> i </a:t>
                </a:r>
                <a:r>
                  <a:rPr lang="sr-Latn-RS" sz="1200" b="0" i="0">
                    <a:latin typeface="Cambria Math" panose="02040503050406030204" pitchFamily="18" charset="0"/>
                  </a:rPr>
                  <a:t>𝑦</a:t>
                </a:r>
                <a:r>
                  <a:rPr lang="sr-Latn-RS" sz="1200" kern="1200" dirty="0">
                    <a:solidFill>
                      <a:schemeClr val="tx1"/>
                    </a:solidFill>
                    <a:effectLst/>
                    <a:latin typeface="+mn-lt"/>
                    <a:ea typeface="+mn-ea"/>
                    <a:cs typeface="+mn-cs"/>
                  </a:rPr>
                  <a:t> kroz kolo.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sr-Latn-R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r-Latn-RS" sz="1200" kern="1200" dirty="0">
                    <a:solidFill>
                      <a:schemeClr val="tx1"/>
                    </a:solidFill>
                    <a:effectLst/>
                    <a:latin typeface="+mn-lt"/>
                    <a:ea typeface="+mn-ea"/>
                    <a:cs typeface="+mn-cs"/>
                  </a:rPr>
                  <a:t>Posle primene </a:t>
                </a:r>
                <a:r>
                  <a:rPr lang="sr-Latn-RS" sz="1200" kern="1200" dirty="0" err="1">
                    <a:solidFill>
                      <a:schemeClr val="tx1"/>
                    </a:solidFill>
                    <a:effectLst/>
                    <a:latin typeface="+mn-lt"/>
                    <a:ea typeface="+mn-ea"/>
                    <a:cs typeface="+mn-cs"/>
                  </a:rPr>
                  <a:t>Adamarovih</a:t>
                </a:r>
                <a:r>
                  <a:rPr lang="sr-Latn-RS" sz="1200" kern="1200" dirty="0">
                    <a:solidFill>
                      <a:schemeClr val="tx1"/>
                    </a:solidFill>
                    <a:effectLst/>
                    <a:latin typeface="+mn-lt"/>
                    <a:ea typeface="+mn-ea"/>
                    <a:cs typeface="+mn-cs"/>
                  </a:rPr>
                  <a:t> kola, na ulaze </a:t>
                </a:r>
                <a:r>
                  <a:rPr lang="sr-Latn-RS" sz="1200" b="0" i="0">
                    <a:latin typeface="Cambria Math" panose="02040503050406030204" pitchFamily="18" charset="0"/>
                  </a:rPr>
                  <a:t>𝑥_0 𝑦</a:t>
                </a:r>
                <a:r>
                  <a:rPr lang="sr-Latn-RS" sz="1200" kern="1200" dirty="0">
                    <a:solidFill>
                      <a:schemeClr val="tx1"/>
                    </a:solidFill>
                    <a:effectLst/>
                    <a:latin typeface="+mn-lt"/>
                    <a:ea typeface="+mn-ea"/>
                    <a:cs typeface="+mn-cs"/>
                  </a:rPr>
                  <a:t> u </a:t>
                </a:r>
                <a:r>
                  <a:rPr lang="sr-Latn-RS" sz="1200" kern="1200" dirty="0" err="1">
                    <a:solidFill>
                      <a:schemeClr val="tx1"/>
                    </a:solidFill>
                    <a:effectLst/>
                    <a:latin typeface="+mn-lt"/>
                    <a:ea typeface="+mn-ea"/>
                    <a:cs typeface="+mn-cs"/>
                  </a:rPr>
                  <a:t>orakl</a:t>
                </a:r>
                <a:r>
                  <a:rPr lang="sr-Latn-RS" sz="1200" kern="1200" dirty="0">
                    <a:solidFill>
                      <a:schemeClr val="tx1"/>
                    </a:solidFill>
                    <a:effectLst/>
                    <a:latin typeface="+mn-lt"/>
                    <a:ea typeface="+mn-ea"/>
                    <a:cs typeface="+mn-cs"/>
                  </a:rPr>
                  <a:t> se dovode kubiti u stanju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sr-Latn-R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r-Latn-RS" sz="1200" kern="1200" dirty="0">
                    <a:solidFill>
                      <a:schemeClr val="tx1"/>
                    </a:solidFill>
                    <a:effectLst/>
                    <a:latin typeface="+mn-lt"/>
                    <a:ea typeface="+mn-ea"/>
                    <a:cs typeface="+mn-cs"/>
                  </a:rPr>
                  <a:t>Množenjem ove dve superpozicije i primenom </a:t>
                </a:r>
                <a:r>
                  <a:rPr lang="sr-Latn-RS" sz="1200" kern="1200" dirty="0" err="1">
                    <a:solidFill>
                      <a:schemeClr val="tx1"/>
                    </a:solidFill>
                    <a:effectLst/>
                    <a:latin typeface="+mn-lt"/>
                    <a:ea typeface="+mn-ea"/>
                    <a:cs typeface="+mn-cs"/>
                  </a:rPr>
                  <a:t>cX</a:t>
                </a:r>
                <a:r>
                  <a:rPr lang="sr-Latn-RS" sz="1200" kern="1200" dirty="0">
                    <a:solidFill>
                      <a:schemeClr val="tx1"/>
                    </a:solidFill>
                    <a:effectLst/>
                    <a:latin typeface="+mn-lt"/>
                    <a:ea typeface="+mn-ea"/>
                    <a:cs typeface="+mn-cs"/>
                  </a:rPr>
                  <a:t> elementarnog kola, na izlazu se dobija stanje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sr-Latn-R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r-Latn-RS" sz="1200" kern="1200" dirty="0">
                    <a:solidFill>
                      <a:schemeClr val="tx1"/>
                    </a:solidFill>
                    <a:effectLst/>
                    <a:latin typeface="+mn-lt"/>
                    <a:ea typeface="+mn-ea"/>
                    <a:cs typeface="+mn-cs"/>
                  </a:rPr>
                  <a:t>Rezultat pokazuje da je došlo do prenosa faze </a:t>
                </a:r>
                <a:r>
                  <a:rPr lang="sr-Latn-RS" sz="1200" kern="1200" dirty="0" err="1">
                    <a:solidFill>
                      <a:schemeClr val="tx1"/>
                    </a:solidFill>
                    <a:effectLst/>
                    <a:latin typeface="+mn-lt"/>
                    <a:ea typeface="+mn-ea"/>
                    <a:cs typeface="+mn-cs"/>
                  </a:rPr>
                  <a:t>uzrokujući</a:t>
                </a:r>
                <a:r>
                  <a:rPr lang="sr-Latn-RS" sz="1200" kern="1200" dirty="0">
                    <a:solidFill>
                      <a:schemeClr val="tx1"/>
                    </a:solidFill>
                    <a:effectLst/>
                    <a:latin typeface="+mn-lt"/>
                    <a:ea typeface="+mn-ea"/>
                    <a:cs typeface="+mn-cs"/>
                  </a:rPr>
                  <a:t> promenu stanja kubita </a:t>
                </a:r>
                <a:r>
                  <a:rPr lang="sr-Latn-RS" sz="1200" b="0" i="0">
                    <a:latin typeface="Cambria Math" panose="02040503050406030204" pitchFamily="18" charset="0"/>
                  </a:rPr>
                  <a:t>𝑥_0</a:t>
                </a:r>
                <a:r>
                  <a:rPr lang="sr-Latn-RS" sz="1200" kern="1200" dirty="0">
                    <a:solidFill>
                      <a:schemeClr val="tx1"/>
                    </a:solidFill>
                    <a:effectLst/>
                    <a:latin typeface="+mn-lt"/>
                    <a:ea typeface="+mn-ea"/>
                    <a:cs typeface="+mn-cs"/>
                  </a:rPr>
                  <a:t> iz |+⟩ u |-⟩. Primenom </a:t>
                </a:r>
                <a:r>
                  <a:rPr lang="sr-Latn-RS" sz="1200" kern="1200" dirty="0" err="1">
                    <a:solidFill>
                      <a:schemeClr val="tx1"/>
                    </a:solidFill>
                    <a:effectLst/>
                    <a:latin typeface="+mn-lt"/>
                    <a:ea typeface="+mn-ea"/>
                    <a:cs typeface="+mn-cs"/>
                  </a:rPr>
                  <a:t>Adamarovog</a:t>
                </a:r>
                <a:r>
                  <a:rPr lang="sr-Latn-RS" sz="1200" kern="1200" dirty="0">
                    <a:solidFill>
                      <a:schemeClr val="tx1"/>
                    </a:solidFill>
                    <a:effectLst/>
                    <a:latin typeface="+mn-lt"/>
                    <a:ea typeface="+mn-ea"/>
                    <a:cs typeface="+mn-cs"/>
                  </a:rPr>
                  <a:t> kola na stanje |-⟩ dobija se |1⟩. Ovim je </a:t>
                </a:r>
                <a:r>
                  <a:rPr lang="sr-Latn-RS" sz="1200" kern="1200" dirty="0" err="1">
                    <a:solidFill>
                      <a:schemeClr val="tx1"/>
                    </a:solidFill>
                    <a:effectLst/>
                    <a:latin typeface="+mn-lt"/>
                    <a:ea typeface="+mn-ea"/>
                    <a:cs typeface="+mn-cs"/>
                  </a:rPr>
                  <a:t>orakl</a:t>
                </a:r>
                <a:r>
                  <a:rPr lang="sr-Latn-RS" sz="1200" kern="1200" dirty="0">
                    <a:solidFill>
                      <a:schemeClr val="tx1"/>
                    </a:solidFill>
                    <a:effectLst/>
                    <a:latin typeface="+mn-lt"/>
                    <a:ea typeface="+mn-ea"/>
                    <a:cs typeface="+mn-cs"/>
                  </a:rPr>
                  <a:t> potvrdio bit 1 na poziciji  kubita </a:t>
                </a:r>
                <a:r>
                  <a:rPr lang="sr-Latn-RS" sz="1200" b="0" i="0">
                    <a:latin typeface="Cambria Math" panose="02040503050406030204" pitchFamily="18" charset="0"/>
                  </a:rPr>
                  <a:t>𝑥_0</a:t>
                </a:r>
                <a:r>
                  <a:rPr lang="sr-Latn-RS" sz="1200" kern="1200" dirty="0">
                    <a:solidFill>
                      <a:schemeClr val="tx1"/>
                    </a:solidFill>
                    <a:effectLst/>
                    <a:latin typeface="+mn-lt"/>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sr-Latn-R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sr-Latn-RS" sz="1200" kern="1200" dirty="0">
                    <a:solidFill>
                      <a:schemeClr val="tx1"/>
                    </a:solidFill>
                    <a:effectLst/>
                    <a:latin typeface="+mn-lt"/>
                    <a:ea typeface="+mn-ea"/>
                    <a:cs typeface="+mn-cs"/>
                  </a:rPr>
                  <a:t>Za kubit </a:t>
                </a:r>
                <a:r>
                  <a:rPr lang="sr-Latn-RS" sz="1200" b="0" i="0">
                    <a:latin typeface="Cambria Math" panose="02040503050406030204" pitchFamily="18" charset="0"/>
                  </a:rPr>
                  <a:t>𝑥_1</a:t>
                </a:r>
                <a:r>
                  <a:rPr lang="sr-Latn-RS" sz="1200" kern="1200" dirty="0">
                    <a:solidFill>
                      <a:schemeClr val="tx1"/>
                    </a:solidFill>
                    <a:effectLst/>
                    <a:latin typeface="+mn-lt"/>
                    <a:ea typeface="+mn-ea"/>
                    <a:cs typeface="+mn-cs"/>
                  </a:rPr>
                  <a:t> koji nije kontrolni kubit, ni jedno X kolo nije aktivno i kubit zadržava stanje |+⟩. Primenom </a:t>
                </a:r>
                <a:r>
                  <a:rPr lang="sr-Latn-RS" sz="1200" kern="1200" dirty="0" err="1">
                    <a:solidFill>
                      <a:schemeClr val="tx1"/>
                    </a:solidFill>
                    <a:effectLst/>
                    <a:latin typeface="+mn-lt"/>
                    <a:ea typeface="+mn-ea"/>
                    <a:cs typeface="+mn-cs"/>
                  </a:rPr>
                  <a:t>Adamarovog</a:t>
                </a:r>
                <a:r>
                  <a:rPr lang="sr-Latn-RS" sz="1200" kern="1200" dirty="0">
                    <a:solidFill>
                      <a:schemeClr val="tx1"/>
                    </a:solidFill>
                    <a:effectLst/>
                    <a:latin typeface="+mn-lt"/>
                    <a:ea typeface="+mn-ea"/>
                    <a:cs typeface="+mn-cs"/>
                  </a:rPr>
                  <a:t> kola koje sledi, superpozicija se zatvara dajući stanje |0⟩, što znači da je </a:t>
                </a:r>
                <a:r>
                  <a:rPr lang="sr-Latn-RS" sz="1200" kern="1200" dirty="0" err="1">
                    <a:solidFill>
                      <a:schemeClr val="tx1"/>
                    </a:solidFill>
                    <a:effectLst/>
                    <a:latin typeface="+mn-lt"/>
                    <a:ea typeface="+mn-ea"/>
                    <a:cs typeface="+mn-cs"/>
                  </a:rPr>
                  <a:t>orakl</a:t>
                </a:r>
                <a:r>
                  <a:rPr lang="sr-Latn-RS" sz="1200" kern="1200" dirty="0">
                    <a:solidFill>
                      <a:schemeClr val="tx1"/>
                    </a:solidFill>
                    <a:effectLst/>
                    <a:latin typeface="+mn-lt"/>
                    <a:ea typeface="+mn-ea"/>
                    <a:cs typeface="+mn-cs"/>
                  </a:rPr>
                  <a:t> potvrdio bit 0 na ovom mestu. </a:t>
                </a:r>
              </a:p>
              <a:p>
                <a:pPr marL="0" marR="0" lvl="0" indent="0" algn="l" defTabSz="914400" rtl="0" eaLnBrk="1" fontAlgn="auto" latinLnBrk="0" hangingPunct="1">
                  <a:lnSpc>
                    <a:spcPct val="100000"/>
                  </a:lnSpc>
                  <a:spcBef>
                    <a:spcPts val="0"/>
                  </a:spcBef>
                  <a:spcAft>
                    <a:spcPts val="0"/>
                  </a:spcAft>
                  <a:buClrTx/>
                  <a:buSzTx/>
                  <a:buFontTx/>
                  <a:buNone/>
                  <a:tabLst/>
                  <a:defRPr/>
                </a:pPr>
                <a:endParaRPr lang="sr-Latn-R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kern="1200" dirty="0">
                    <a:solidFill>
                      <a:schemeClr val="tx1"/>
                    </a:solidFill>
                    <a:effectLst/>
                    <a:latin typeface="+mn-lt"/>
                    <a:ea typeface="+mn-ea"/>
                    <a:cs typeface="+mn-cs"/>
                  </a:rPr>
                  <a:t>Konačno, merenjem kontrolnih kubita na izlazu kola dobijaju se bitovi lozinke.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34049971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solidFill>
                      <a:schemeClr val="tx1"/>
                    </a:solidFill>
                  </a:rPr>
                  <a:t>The quantum circuit shown is a general implementation of the Bernstein–</a:t>
                </a:r>
                <a:r>
                  <a:rPr lang="en-ZA" dirty="0" err="1">
                    <a:solidFill>
                      <a:schemeClr val="tx1"/>
                    </a:solidFill>
                  </a:rPr>
                  <a:t>Vazirani</a:t>
                </a:r>
                <a:r>
                  <a:rPr lang="en-ZA" dirty="0">
                    <a:solidFill>
                      <a:schemeClr val="tx1"/>
                    </a:solidFill>
                  </a:rPr>
                  <a:t> algorithm. Its overall structure is identical to the circuit used in the Deutsch–</a:t>
                </a:r>
                <a:r>
                  <a:rPr lang="en-ZA" dirty="0" err="1">
                    <a:solidFill>
                      <a:schemeClr val="tx1"/>
                    </a:solidFill>
                  </a:rPr>
                  <a:t>Jozsa</a:t>
                </a:r>
                <a:r>
                  <a:rPr lang="en-ZA" dirty="0">
                    <a:solidFill>
                      <a:schemeClr val="tx1"/>
                    </a:solidFill>
                  </a:rPr>
                  <a:t> algorithm. However, because the oracle function, the problem being solved, and the expected outcomes are different, the results are fundamentally different.</a:t>
                </a:r>
              </a:p>
              <a:p>
                <a:pPr algn="just"/>
                <a:endParaRPr lang="en-ZA" b="0" dirty="0">
                  <a:solidFill>
                    <a:schemeClr val="tx1"/>
                  </a:solidFill>
                </a:endParaRPr>
              </a:p>
              <a:p>
                <a:pPr marL="228600" indent="-228600">
                  <a:buFont typeface="+mj-lt"/>
                  <a:buAutoNum type="arabicPeriod"/>
                </a:pPr>
                <a:r>
                  <a:rPr lang="en-ZA" dirty="0">
                    <a:solidFill>
                      <a:schemeClr val="tx1"/>
                    </a:solidFill>
                  </a:rPr>
                  <a:t>The circuit has two registers: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solidFill>
                      <a:schemeClr val="tx1"/>
                    </a:solidFill>
                  </a:rPr>
                  <a:t>The upper register contains </a:t>
                </a:r>
                <a14:m>
                  <m:oMath xmlns:m="http://schemas.openxmlformats.org/officeDocument/2006/math">
                    <m:r>
                      <a:rPr lang="en-US" sz="1200" b="0" i="1" smtClean="0">
                        <a:solidFill>
                          <a:schemeClr val="tx1"/>
                        </a:solidFill>
                        <a:latin typeface="Cambria Math" panose="02040503050406030204" pitchFamily="18" charset="0"/>
                      </a:rPr>
                      <m:t>𝑛</m:t>
                    </m:r>
                  </m:oMath>
                </a14:m>
                <a:r>
                  <a:rPr lang="en-ZA" dirty="0">
                    <a:solidFill>
                      <a:schemeClr val="tx1"/>
                    </a:solidFill>
                  </a:rPr>
                  <a:t> qubits, initialized to </a:t>
                </a:r>
                <a14:m>
                  <m:oMath xmlns:m="http://schemas.openxmlformats.org/officeDocument/2006/math">
                    <m:sSup>
                      <m:sSupPr>
                        <m:ctrlPr>
                          <a:rPr lang="en-US" sz="1200" i="1" smtClean="0">
                            <a:solidFill>
                              <a:schemeClr val="tx1"/>
                            </a:solidFill>
                            <a:latin typeface="Cambria Math" panose="02040503050406030204" pitchFamily="18" charset="0"/>
                          </a:rPr>
                        </m:ctrlPr>
                      </m:sSupPr>
                      <m:e>
                        <m:d>
                          <m:dPr>
                            <m:begChr m:val=""/>
                            <m:endChr m:val="⟩"/>
                            <m:ctrlPr>
                              <a:rPr lang="en-US" sz="1200" i="1" smtClean="0">
                                <a:solidFill>
                                  <a:schemeClr val="tx1"/>
                                </a:solidFill>
                                <a:latin typeface="Cambria Math" panose="02040503050406030204" pitchFamily="18" charset="0"/>
                              </a:rPr>
                            </m:ctrlPr>
                          </m:dPr>
                          <m:e>
                            <m:r>
                              <a:rPr lang="en-US" sz="1200" i="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0</m:t>
                            </m:r>
                          </m:e>
                        </m:d>
                      </m:e>
                      <m:sup>
                        <m:r>
                          <a:rPr lang="en-US" sz="120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rPr>
                          <m:t>𝑛</m:t>
                        </m:r>
                      </m:sup>
                    </m:sSup>
                  </m:oMath>
                </a14:m>
                <a:r>
                  <a:rPr lang="en-ZA" dirty="0">
                    <a:solidFill>
                      <a:schemeClr val="tx1"/>
                    </a:solidFill>
                  </a:rPr>
                  <a:t>.</a:t>
                </a:r>
              </a:p>
              <a:p>
                <a:pPr marL="628650" lvl="1" indent="-171450">
                  <a:buFont typeface="Arial" panose="020B0604020202020204" pitchFamily="34" charset="0"/>
                  <a:buChar char="•"/>
                </a:pPr>
                <a:r>
                  <a:rPr lang="en-ZA" dirty="0"/>
                  <a:t>The lower register contains a single qubit, initialized to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i="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0</m:t>
                        </m:r>
                      </m:e>
                    </m:d>
                  </m:oMath>
                </a14:m>
                <a:r>
                  <a:rPr lang="en-ZA" dirty="0">
                    <a:solidFill>
                      <a:schemeClr val="tx1"/>
                    </a:solidFill>
                  </a:rPr>
                  <a:t>.</a:t>
                </a:r>
              </a:p>
              <a:p>
                <a:pPr marL="628650" lvl="1" indent="-171450">
                  <a:buFont typeface="Arial" panose="020B0604020202020204" pitchFamily="34" charset="0"/>
                  <a:buChar char="•"/>
                </a:pPr>
                <a:r>
                  <a:rPr lang="en-ZA" dirty="0"/>
                  <a:t>After applying Hadamard gates, the upper register is placed in an equal superposition of all possible inputs.</a:t>
                </a:r>
                <a:endParaRPr lang="en-ZA" dirty="0">
                  <a:solidFill>
                    <a:schemeClr val="tx1"/>
                  </a:solidFill>
                </a:endParaRPr>
              </a:p>
              <a:p>
                <a:pPr marL="628650" lvl="1" indent="-171450">
                  <a:buFont typeface="Arial" panose="020B0604020202020204" pitchFamily="34" charset="0"/>
                  <a:buChar char="•"/>
                </a:pPr>
                <a:r>
                  <a:rPr lang="en-ZA" dirty="0"/>
                  <a:t>A combination of X and Hadamard gates prepares the lower qubit in the ∣−⟩ state, enabling phase kickback.</a:t>
                </a:r>
                <a:r>
                  <a:rPr lang="en-ZA" dirty="0">
                    <a:solidFill>
                      <a:schemeClr val="tx1"/>
                    </a:solidFill>
                  </a:rPr>
                  <a:t>.</a:t>
                </a:r>
                <a:endParaRPr lang="en-ZA" b="0" dirty="0">
                  <a:solidFill>
                    <a:schemeClr val="tx1"/>
                  </a:solidFill>
                </a:endParaRPr>
              </a:p>
              <a:p>
                <a:pPr marL="228600" indent="-228600">
                  <a:buFont typeface="+mj-lt"/>
                  <a:buAutoNum type="arabicPeriod"/>
                </a:pPr>
                <a:endParaRPr lang="en-ZA" dirty="0"/>
              </a:p>
              <a:p>
                <a:pPr marL="228600" indent="-228600">
                  <a:buFont typeface="+mj-lt"/>
                  <a:buAutoNum type="arabicPeriod"/>
                </a:pPr>
                <a:r>
                  <a:rPr lang="en-ZA" dirty="0"/>
                  <a:t>As the oracle applies phase kickback, each basis state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i="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𝑥</m:t>
                        </m:r>
                      </m:e>
                    </m:d>
                  </m:oMath>
                </a14:m>
                <a:r>
                  <a:rPr lang="en-ZA" dirty="0"/>
                  <a:t> in the upper register acquires a phase factor</a:t>
                </a:r>
                <a:r>
                  <a:rPr lang="en-ZA" b="0" dirty="0">
                    <a:solidFill>
                      <a:schemeClr val="tx1"/>
                    </a:solidFill>
                  </a:rPr>
                  <a:t> </a:t>
                </a:r>
                <a14:m>
                  <m:oMath xmlns:m="http://schemas.openxmlformats.org/officeDocument/2006/math">
                    <m:sSup>
                      <m:sSupPr>
                        <m:ctrlPr>
                          <a:rPr lang="en-US" sz="1200" i="1" smtClean="0">
                            <a:solidFill>
                              <a:schemeClr val="tx1"/>
                            </a:solidFill>
                            <a:latin typeface="Cambria Math" panose="02040503050406030204" pitchFamily="18" charset="0"/>
                          </a:rPr>
                        </m:ctrlPr>
                      </m:sSupPr>
                      <m:e>
                        <m:d>
                          <m:dPr>
                            <m:ctrlPr>
                              <a:rPr lang="en-US" sz="1200" i="1">
                                <a:solidFill>
                                  <a:schemeClr val="tx1"/>
                                </a:solidFill>
                                <a:latin typeface="Cambria Math" panose="02040503050406030204" pitchFamily="18" charset="0"/>
                              </a:rPr>
                            </m:ctrlPr>
                          </m:dPr>
                          <m:e>
                            <m:r>
                              <a:rPr lang="en-US" sz="1200" i="0">
                                <a:solidFill>
                                  <a:schemeClr val="tx1"/>
                                </a:solidFill>
                                <a:latin typeface="Cambria Math" panose="02040503050406030204" pitchFamily="18" charset="0"/>
                              </a:rPr>
                              <m:t>−1</m:t>
                            </m:r>
                          </m:e>
                        </m:d>
                      </m:e>
                      <m:sup>
                        <m:d>
                          <m:dPr>
                            <m:begChr m:val=""/>
                            <m:ctrlPr>
                              <a:rPr lang="en-US" sz="1200" i="1">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𝑓</m:t>
                            </m:r>
                            <m:r>
                              <a:rPr lang="en-US" sz="1200" i="0">
                                <a:solidFill>
                                  <a:schemeClr val="tx1"/>
                                </a:solidFill>
                                <a:latin typeface="Cambria Math" panose="02040503050406030204" pitchFamily="18" charset="0"/>
                              </a:rPr>
                              <m:t>(</m:t>
                            </m:r>
                            <m:r>
                              <a:rPr lang="en-US" sz="1200" i="1">
                                <a:solidFill>
                                  <a:schemeClr val="tx1"/>
                                </a:solidFill>
                                <a:latin typeface="Cambria Math" panose="02040503050406030204" pitchFamily="18" charset="0"/>
                              </a:rPr>
                              <m:t>𝑥</m:t>
                            </m:r>
                          </m:e>
                        </m:d>
                      </m:sup>
                    </m:sSup>
                  </m:oMath>
                </a14:m>
                <a:r>
                  <a:rPr lang="en-ZA" b="0" dirty="0">
                    <a:solidFill>
                      <a:schemeClr val="tx1"/>
                    </a:solidFill>
                  </a:rPr>
                  <a:t> </a:t>
                </a:r>
                <a:r>
                  <a:rPr lang="en-ZA" dirty="0">
                    <a:solidFill>
                      <a:schemeClr val="tx1"/>
                    </a:solidFill>
                  </a:rPr>
                  <a:t>where </a:t>
                </a:r>
                <a14:m>
                  <m:oMath xmlns:m="http://schemas.openxmlformats.org/officeDocument/2006/math">
                    <m:d>
                      <m:dPr>
                        <m:begChr m:val=""/>
                        <m:ctrlPr>
                          <a:rPr lang="en-US" sz="1200" i="1" smtClean="0">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𝑓</m:t>
                        </m:r>
                        <m:r>
                          <a:rPr lang="en-US" sz="1200" i="0">
                            <a:solidFill>
                              <a:schemeClr val="tx1"/>
                            </a:solidFill>
                            <a:latin typeface="Cambria Math" panose="02040503050406030204" pitchFamily="18" charset="0"/>
                          </a:rPr>
                          <m:t>(</m:t>
                        </m:r>
                        <m:r>
                          <a:rPr lang="en-US" sz="1200" i="1">
                            <a:solidFill>
                              <a:schemeClr val="tx1"/>
                            </a:solidFill>
                            <a:latin typeface="Cambria Math" panose="02040503050406030204" pitchFamily="18" charset="0"/>
                          </a:rPr>
                          <m:t>𝑥</m:t>
                        </m:r>
                      </m:e>
                    </m:d>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𝑥</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rPr>
                      <m:t>𝑠</m:t>
                    </m:r>
                  </m:oMath>
                </a14:m>
                <a:r>
                  <a:rPr lang="en-ZA" dirty="0">
                    <a:solidFill>
                      <a:schemeClr val="tx1"/>
                    </a:solidFill>
                  </a:rPr>
                  <a:t> </a:t>
                </a:r>
                <a:r>
                  <a:rPr lang="en-ZA" dirty="0"/>
                  <a:t>is the bitwise inner product modulo 2 between the input</a:t>
                </a:r>
                <a:r>
                  <a:rPr lang="en-ZA" dirty="0">
                    <a:solidFill>
                      <a:schemeClr val="tx1"/>
                    </a:solidFill>
                  </a:rPr>
                  <a:t> </a:t>
                </a:r>
                <a14:m>
                  <m:oMath xmlns:m="http://schemas.openxmlformats.org/officeDocument/2006/math">
                    <m:r>
                      <a:rPr lang="en-US" sz="1200" b="0" i="1" smtClean="0">
                        <a:solidFill>
                          <a:schemeClr val="tx1"/>
                        </a:solidFill>
                        <a:latin typeface="Cambria Math" panose="02040503050406030204" pitchFamily="18" charset="0"/>
                      </a:rPr>
                      <m:t>𝑥</m:t>
                    </m:r>
                  </m:oMath>
                </a14:m>
                <a:r>
                  <a:rPr lang="en-ZA" dirty="0">
                    <a:solidFill>
                      <a:schemeClr val="tx1"/>
                    </a:solidFill>
                  </a:rPr>
                  <a:t> and the hidden string </a:t>
                </a:r>
                <a:r>
                  <a:rPr lang="en-ZA" b="0" dirty="0">
                    <a:solidFill>
                      <a:schemeClr val="tx1"/>
                    </a:solidFill>
                  </a:rPr>
                  <a:t> </a:t>
                </a:r>
                <a14:m>
                  <m:oMath xmlns:m="http://schemas.openxmlformats.org/officeDocument/2006/math">
                    <m: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𝑠</m:t>
                    </m:r>
                  </m:oMath>
                </a14:m>
                <a:r>
                  <a:rPr lang="en-ZA" b="0" dirty="0">
                    <a:solidFill>
                      <a:schemeClr val="tx1"/>
                    </a:solidFill>
                  </a:rPr>
                  <a:t>.</a:t>
                </a:r>
              </a:p>
              <a:p>
                <a:pPr marL="228600" indent="-228600">
                  <a:buFont typeface="+mj-lt"/>
                  <a:buAutoNum type="arabicPeriod"/>
                </a:pPr>
                <a:endParaRPr lang="en-ZA" b="0" dirty="0">
                  <a:solidFill>
                    <a:schemeClr val="tx1"/>
                  </a:solidFill>
                </a:endParaRPr>
              </a:p>
              <a:p>
                <a:pPr marL="228600" indent="-228600">
                  <a:buFont typeface="+mj-lt"/>
                  <a:buAutoNum type="arabicPeriod"/>
                </a:pPr>
                <a:r>
                  <a:rPr lang="en-ZA" dirty="0"/>
                  <a:t>Next, Hadamard gates are applied again to the upper register. The resulting state can be expressed as a double sum: one over all </a:t>
                </a:r>
                <a14:m>
                  <m:oMath xmlns:m="http://schemas.openxmlformats.org/officeDocument/2006/math">
                    <m:r>
                      <a:rPr lang="en-US" sz="1200" b="0" i="1" smtClean="0">
                        <a:solidFill>
                          <a:schemeClr val="tx1"/>
                        </a:solidFill>
                        <a:latin typeface="Cambria Math" panose="02040503050406030204" pitchFamily="18" charset="0"/>
                      </a:rPr>
                      <m:t>𝑥</m:t>
                    </m:r>
                  </m:oMath>
                </a14:m>
                <a:r>
                  <a:rPr lang="en-ZA" dirty="0"/>
                  <a:t>, arising from the initial superposition, and another over all </a:t>
                </a:r>
                <a14:m>
                  <m:oMath xmlns:m="http://schemas.openxmlformats.org/officeDocument/2006/math">
                    <m:r>
                      <a:rPr lang="en-US" sz="1200" b="0" i="1" smtClean="0">
                        <a:solidFill>
                          <a:schemeClr val="tx1"/>
                        </a:solidFill>
                        <a:latin typeface="Cambria Math" panose="02040503050406030204" pitchFamily="18" charset="0"/>
                      </a:rPr>
                      <m:t>𝑘</m:t>
                    </m:r>
                  </m:oMath>
                </a14:m>
                <a:r>
                  <a:rPr lang="en-ZA" dirty="0"/>
                  <a:t>, arising from the final Hadamard transformation. The inner sum determines the amplitude associated with each possible output state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i="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𝑘</m:t>
                        </m:r>
                      </m:e>
                    </m:d>
                  </m:oMath>
                </a14:m>
                <a:r>
                  <a:rPr lang="en-ZA" dirty="0"/>
                  <a:t>.</a:t>
                </a:r>
                <a:endParaRPr lang="en-ZA" b="0" dirty="0">
                  <a:solidFill>
                    <a:schemeClr val="tx1"/>
                  </a:solidFill>
                </a:endParaRPr>
              </a:p>
              <a:p>
                <a:pPr algn="just"/>
                <a:endParaRPr lang="en-ZA" b="0" dirty="0">
                  <a:solidFill>
                    <a:schemeClr val="tx1"/>
                  </a:solidFill>
                </a:endParaRPr>
              </a:p>
              <a:p>
                <a:pPr marL="628650" lvl="1" indent="-171450" algn="just">
                  <a:buFont typeface="Arial" panose="020B0604020202020204" pitchFamily="34" charset="0"/>
                  <a:buChar char="•"/>
                </a:pPr>
                <a:r>
                  <a:rPr lang="en-ZA" dirty="0">
                    <a:solidFill>
                      <a:schemeClr val="tx1"/>
                    </a:solidFill>
                  </a:rPr>
                  <a:t>For </a:t>
                </a:r>
                <a14:m>
                  <m:oMath xmlns:m="http://schemas.openxmlformats.org/officeDocument/2006/math">
                    <m:r>
                      <a:rPr lang="en-US" sz="1200" i="1" smtClean="0">
                        <a:solidFill>
                          <a:schemeClr val="tx1"/>
                        </a:solidFill>
                        <a:latin typeface="Cambria Math" panose="02040503050406030204" pitchFamily="18" charset="0"/>
                      </a:rPr>
                      <m:t>𝑘</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𝑠</m:t>
                    </m:r>
                  </m:oMath>
                </a14:m>
                <a:r>
                  <a:rPr lang="en-ZA" dirty="0">
                    <a:solidFill>
                      <a:schemeClr val="tx1"/>
                    </a:solidFill>
                  </a:rPr>
                  <a:t>, </a:t>
                </a:r>
                <a:r>
                  <a:rPr lang="en-ZA" dirty="0"/>
                  <a:t>the term</a:t>
                </a:r>
                <a:r>
                  <a:rPr lang="en-ZA" baseline="0" dirty="0">
                    <a:solidFill>
                      <a:schemeClr val="tx1"/>
                    </a:solidFill>
                  </a:rPr>
                  <a:t> </a:t>
                </a:r>
                <a14:m>
                  <m:oMath xmlns:m="http://schemas.openxmlformats.org/officeDocument/2006/math">
                    <m:r>
                      <a:rPr lang="en-US" sz="1200" i="1" smtClean="0">
                        <a:latin typeface="Cambria Math" panose="02040503050406030204" pitchFamily="18" charset="0"/>
                      </a:rPr>
                      <m:t>𝑠</m:t>
                    </m:r>
                    <m:nary>
                      <m:naryPr>
                        <m:chr m:val="⨁"/>
                        <m:subHide m:val="on"/>
                        <m:supHide m:val="on"/>
                        <m:ctrlPr>
                          <a:rPr lang="en-US" sz="1200" i="1">
                            <a:latin typeface="Cambria Math" panose="02040503050406030204" pitchFamily="18" charset="0"/>
                          </a:rPr>
                        </m:ctrlPr>
                      </m:naryPr>
                      <m:sub/>
                      <m:sup/>
                      <m:e>
                        <m:r>
                          <a:rPr lang="en-US" sz="1200" b="0" i="1" smtClean="0">
                            <a:latin typeface="Cambria Math" panose="02040503050406030204" pitchFamily="18" charset="0"/>
                          </a:rPr>
                          <m:t>𝑘</m:t>
                        </m:r>
                      </m:e>
                    </m:nary>
                  </m:oMath>
                </a14:m>
                <a:r>
                  <a:rPr lang="en-ZA" dirty="0">
                    <a:solidFill>
                      <a:schemeClr val="tx1"/>
                    </a:solidFill>
                  </a:rPr>
                  <a:t> </a:t>
                </a:r>
                <a:r>
                  <a:rPr lang="en-ZA" dirty="0"/>
                  <a:t>becomes the all-zero string, so </a:t>
                </a:r>
                <a14:m>
                  <m:oMath xmlns:m="http://schemas.openxmlformats.org/officeDocument/2006/math">
                    <m:d>
                      <m:dPr>
                        <m:ctrlPr>
                          <a:rPr lang="en-US" sz="1200" i="1" smtClean="0">
                            <a:latin typeface="Cambria Math" panose="02040503050406030204" pitchFamily="18" charset="0"/>
                          </a:rPr>
                        </m:ctrlPr>
                      </m:dPr>
                      <m:e>
                        <m:r>
                          <a:rPr lang="en-US" sz="1200" i="1">
                            <a:latin typeface="Cambria Math" panose="02040503050406030204" pitchFamily="18" charset="0"/>
                          </a:rPr>
                          <m:t>𝑠</m:t>
                        </m:r>
                        <m:nary>
                          <m:naryPr>
                            <m:chr m:val="⨁"/>
                            <m:subHide m:val="on"/>
                            <m:supHide m:val="on"/>
                            <m:ctrlPr>
                              <a:rPr lang="en-US" sz="1200" i="1">
                                <a:latin typeface="Cambria Math" panose="02040503050406030204" pitchFamily="18" charset="0"/>
                              </a:rPr>
                            </m:ctrlPr>
                          </m:naryPr>
                          <m:sub/>
                          <m:sup/>
                          <m:e>
                            <m:r>
                              <a:rPr lang="en-US" sz="1200" b="0" i="1" smtClean="0">
                                <a:latin typeface="Cambria Math" panose="02040503050406030204" pitchFamily="18" charset="0"/>
                              </a:rPr>
                              <m:t>𝑘</m:t>
                            </m:r>
                          </m:e>
                        </m:nary>
                      </m:e>
                    </m:d>
                    <m:r>
                      <a:rPr lang="en-US" sz="1200">
                        <a:latin typeface="Cambria Math" panose="02040503050406030204" pitchFamily="18" charset="0"/>
                      </a:rPr>
                      <m:t>∙</m:t>
                    </m:r>
                    <m:r>
                      <a:rPr lang="en-US" sz="1200" i="1">
                        <a:latin typeface="Cambria Math" panose="02040503050406030204" pitchFamily="18" charset="0"/>
                      </a:rPr>
                      <m:t>𝑥</m:t>
                    </m:r>
                    <m:r>
                      <a:rPr lang="en-US" sz="1200" b="0" i="1" smtClean="0">
                        <a:latin typeface="Cambria Math" panose="02040503050406030204" pitchFamily="18" charset="0"/>
                      </a:rPr>
                      <m:t>=0</m:t>
                    </m:r>
                  </m:oMath>
                </a14:m>
                <a:r>
                  <a:rPr lang="en-ZA" dirty="0">
                    <a:solidFill>
                      <a:schemeClr val="tx1"/>
                    </a:solidFill>
                  </a:rPr>
                  <a:t> for every </a:t>
                </a:r>
                <a14:m>
                  <m:oMath xmlns:m="http://schemas.openxmlformats.org/officeDocument/2006/math">
                    <m:r>
                      <a:rPr lang="en-US" sz="1200" i="1" smtClean="0">
                        <a:latin typeface="Cambria Math" panose="02040503050406030204" pitchFamily="18" charset="0"/>
                      </a:rPr>
                      <m:t>𝑥</m:t>
                    </m:r>
                  </m:oMath>
                </a14:m>
                <a:r>
                  <a:rPr lang="en-ZA" dirty="0">
                    <a:solidFill>
                      <a:schemeClr val="tx1"/>
                    </a:solidFill>
                  </a:rPr>
                  <a:t> </a:t>
                </a:r>
                <a:r>
                  <a:rPr lang="en-ZA" dirty="0"/>
                  <a:t>and the inner sum evaluates to </a:t>
                </a:r>
                <a14:m>
                  <m:oMath xmlns:m="http://schemas.openxmlformats.org/officeDocument/2006/math">
                    <m:sSup>
                      <m:sSupPr>
                        <m:ctrlPr>
                          <a:rPr lang="en-US" sz="120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2</m:t>
                        </m:r>
                      </m:e>
                      <m:sup>
                        <m:r>
                          <a:rPr lang="en-US" sz="1200" b="0" i="1" smtClean="0">
                            <a:solidFill>
                              <a:schemeClr val="tx1"/>
                            </a:solidFill>
                            <a:latin typeface="Cambria Math" panose="02040503050406030204" pitchFamily="18" charset="0"/>
                          </a:rPr>
                          <m:t>𝑛</m:t>
                        </m:r>
                      </m:sup>
                    </m:sSup>
                  </m:oMath>
                </a14:m>
                <a:r>
                  <a:rPr lang="en-ZA" dirty="0">
                    <a:solidFill>
                      <a:schemeClr val="tx1"/>
                    </a:solidFill>
                  </a:rPr>
                  <a:t>. </a:t>
                </a:r>
                <a:r>
                  <a:rPr lang="en-ZA" dirty="0"/>
                  <a:t>After accounting for the normalization factor </a:t>
                </a:r>
                <a14:m>
                  <m:oMath xmlns:m="http://schemas.openxmlformats.org/officeDocument/2006/math">
                    <m:sSup>
                      <m:sSupPr>
                        <m:ctrlPr>
                          <a:rPr lang="en-US" sz="120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1/2</m:t>
                        </m:r>
                      </m:e>
                      <m:sup>
                        <m:r>
                          <a:rPr lang="en-US" sz="1200" b="0" i="1" smtClean="0">
                            <a:solidFill>
                              <a:schemeClr val="tx1"/>
                            </a:solidFill>
                            <a:latin typeface="Cambria Math" panose="02040503050406030204" pitchFamily="18" charset="0"/>
                          </a:rPr>
                          <m:t>𝑛</m:t>
                        </m:r>
                      </m:sup>
                    </m:sSup>
                  </m:oMath>
                </a14:m>
                <a:r>
                  <a:rPr lang="en-ZA" dirty="0"/>
                  <a:t>, the state amplitude is 1. The hidden string </a:t>
                </a:r>
                <a14:m>
                  <m:oMath xmlns:m="http://schemas.openxmlformats.org/officeDocument/2006/math">
                    <m:r>
                      <a:rPr lang="en-US" sz="1200" i="1" smtClean="0">
                        <a:latin typeface="Cambria Math" panose="02040503050406030204" pitchFamily="18" charset="0"/>
                      </a:rPr>
                      <m:t>𝑠</m:t>
                    </m:r>
                  </m:oMath>
                </a14:m>
                <a:r>
                  <a:rPr lang="en-ZA" dirty="0"/>
                  <a:t> is therefore obtained with probability 1.</a:t>
                </a:r>
                <a:endParaRPr lang="en-ZA" dirty="0">
                  <a:solidFill>
                    <a:schemeClr val="tx1"/>
                  </a:solidFill>
                </a:endParaRPr>
              </a:p>
              <a:p>
                <a:pPr marL="171450" indent="-171450" algn="just">
                  <a:buFont typeface="Arial" panose="020B0604020202020204" pitchFamily="34" charset="0"/>
                  <a:buChar char="•"/>
                </a:pPr>
                <a:endParaRPr lang="en-ZA" b="0" dirty="0">
                  <a:solidFill>
                    <a:schemeClr val="tx1"/>
                  </a:solidFill>
                </a:endParaRPr>
              </a:p>
              <a:p>
                <a:pPr marL="628650" lvl="1" indent="-171450" algn="just">
                  <a:buFont typeface="Arial" panose="020B0604020202020204" pitchFamily="34" charset="0"/>
                  <a:buChar char="•"/>
                </a:pPr>
                <a:r>
                  <a:rPr lang="en-ZA" dirty="0">
                    <a:solidFill>
                      <a:schemeClr val="tx1"/>
                    </a:solidFill>
                  </a:rPr>
                  <a:t>For </a:t>
                </a:r>
                <a14:m>
                  <m:oMath xmlns:m="http://schemas.openxmlformats.org/officeDocument/2006/math">
                    <m:r>
                      <a:rPr lang="en-US" sz="1200" i="1" smtClean="0">
                        <a:solidFill>
                          <a:schemeClr val="tx1"/>
                        </a:solidFill>
                        <a:latin typeface="Cambria Math" panose="02040503050406030204" pitchFamily="18" charset="0"/>
                      </a:rPr>
                      <m:t>𝑘</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rPr>
                      <m:t>𝑠</m:t>
                    </m:r>
                  </m:oMath>
                </a14:m>
                <a:r>
                  <a:rPr lang="en-ZA" dirty="0">
                    <a:solidFill>
                      <a:schemeClr val="tx1"/>
                    </a:solidFill>
                  </a:rPr>
                  <a:t>, </a:t>
                </a:r>
                <a:r>
                  <a:rPr lang="en-ZA" dirty="0"/>
                  <a:t>, the function </a:t>
                </a:r>
                <a14:m>
                  <m:oMath xmlns:m="http://schemas.openxmlformats.org/officeDocument/2006/math">
                    <m:d>
                      <m:dPr>
                        <m:ctrlPr>
                          <a:rPr lang="en-US" sz="1200" i="1" smtClean="0">
                            <a:latin typeface="Cambria Math" panose="02040503050406030204" pitchFamily="18" charset="0"/>
                          </a:rPr>
                        </m:ctrlPr>
                      </m:dPr>
                      <m:e>
                        <m:r>
                          <a:rPr lang="en-US" sz="1200" i="1">
                            <a:latin typeface="Cambria Math" panose="02040503050406030204" pitchFamily="18" charset="0"/>
                          </a:rPr>
                          <m:t>𝑠</m:t>
                        </m:r>
                        <m:nary>
                          <m:naryPr>
                            <m:chr m:val="⨁"/>
                            <m:subHide m:val="on"/>
                            <m:supHide m:val="on"/>
                            <m:ctrlPr>
                              <a:rPr lang="en-US" sz="1200" i="1">
                                <a:latin typeface="Cambria Math" panose="02040503050406030204" pitchFamily="18" charset="0"/>
                              </a:rPr>
                            </m:ctrlPr>
                          </m:naryPr>
                          <m:sub/>
                          <m:sup/>
                          <m:e>
                            <m:r>
                              <a:rPr lang="en-US" sz="1200" b="0" i="1" smtClean="0">
                                <a:latin typeface="Cambria Math" panose="02040503050406030204" pitchFamily="18" charset="0"/>
                              </a:rPr>
                              <m:t>𝑘</m:t>
                            </m:r>
                          </m:e>
                        </m:nary>
                      </m:e>
                    </m:d>
                    <m:r>
                      <a:rPr lang="en-US" sz="1200">
                        <a:latin typeface="Cambria Math" panose="02040503050406030204" pitchFamily="18" charset="0"/>
                      </a:rPr>
                      <m:t>∙</m:t>
                    </m:r>
                    <m:r>
                      <a:rPr lang="en-US" sz="1200" i="1">
                        <a:latin typeface="Cambria Math" panose="02040503050406030204" pitchFamily="18" charset="0"/>
                      </a:rPr>
                      <m:t>𝑥</m:t>
                    </m:r>
                  </m:oMath>
                </a14:m>
                <a:r>
                  <a:rPr lang="en-ZA" dirty="0">
                    <a:solidFill>
                      <a:schemeClr val="tx1"/>
                    </a:solidFill>
                  </a:rPr>
                  <a:t> </a:t>
                </a:r>
                <a:r>
                  <a:rPr lang="en-ZA" dirty="0"/>
                  <a:t>is balanced as </a:t>
                </a:r>
                <a14:m>
                  <m:oMath xmlns:m="http://schemas.openxmlformats.org/officeDocument/2006/math">
                    <m:r>
                      <a:rPr lang="en-US" sz="1200" b="0" i="1" smtClean="0">
                        <a:latin typeface="Cambria Math" panose="02040503050406030204" pitchFamily="18" charset="0"/>
                      </a:rPr>
                      <m:t>𝑥</m:t>
                    </m:r>
                  </m:oMath>
                </a14:m>
                <a:r>
                  <a:rPr lang="en-ZA" dirty="0"/>
                  <a:t> ranges over all possible </a:t>
                </a:r>
                <a14:m>
                  <m:oMath xmlns:m="http://schemas.openxmlformats.org/officeDocument/2006/math">
                    <m:r>
                      <a:rPr lang="en-US" sz="1200" b="0" i="1" smtClean="0">
                        <a:latin typeface="Cambria Math" panose="02040503050406030204" pitchFamily="18" charset="0"/>
                      </a:rPr>
                      <m:t>𝑛</m:t>
                    </m:r>
                  </m:oMath>
                </a14:m>
                <a:r>
                  <a:rPr lang="en-ZA" dirty="0"/>
                  <a:t>-bit strings. The sum therefore contains equal numbers of +1 and −1 contributions, which cancel through destructive interference. As a result, the amplitude of every state </a:t>
                </a:r>
                <a14:m>
                  <m:oMath xmlns:m="http://schemas.openxmlformats.org/officeDocument/2006/math">
                    <m:d>
                      <m:dPr>
                        <m:begChr m:val=""/>
                        <m:endChr m:val="⟩"/>
                        <m:ctrlPr>
                          <a:rPr lang="en-US" sz="1200" i="1" smtClean="0">
                            <a:latin typeface="Cambria Math" panose="02040503050406030204" pitchFamily="18" charset="0"/>
                          </a:rPr>
                        </m:ctrlPr>
                      </m:dPr>
                      <m:e>
                        <m:r>
                          <a:rPr lang="en-US" sz="1200">
                            <a:latin typeface="Cambria Math" panose="02040503050406030204" pitchFamily="18" charset="0"/>
                          </a:rPr>
                          <m:t>|</m:t>
                        </m:r>
                        <m:r>
                          <a:rPr lang="en-US" sz="1200" b="0" i="1" smtClean="0">
                            <a:latin typeface="Cambria Math" panose="02040503050406030204" pitchFamily="18" charset="0"/>
                          </a:rPr>
                          <m:t>𝑘</m:t>
                        </m:r>
                      </m:e>
                    </m:d>
                    <m:d>
                      <m:dPr>
                        <m:begChr m:val=""/>
                        <m:endChr m:val="⟩"/>
                        <m:ctrlPr>
                          <a:rPr lang="en-US" sz="1200" i="1" smtClean="0">
                            <a:latin typeface="Cambria Math" panose="02040503050406030204" pitchFamily="18" charset="0"/>
                          </a:rPr>
                        </m:ctrlPr>
                      </m:dPr>
                      <m:e>
                        <m:r>
                          <a:rPr lang="en-US" sz="1200" i="1" smtClean="0">
                            <a:latin typeface="Cambria Math" panose="02040503050406030204" pitchFamily="18" charset="0"/>
                            <a:ea typeface="Cambria Math" panose="02040503050406030204" pitchFamily="18" charset="0"/>
                          </a:rPr>
                          <m:t>≠</m:t>
                        </m:r>
                        <m:r>
                          <a:rPr lang="en-US" sz="1200">
                            <a:latin typeface="Cambria Math" panose="02040503050406030204" pitchFamily="18" charset="0"/>
                          </a:rPr>
                          <m:t>|</m:t>
                        </m:r>
                        <m:r>
                          <a:rPr lang="en-US" sz="1200" b="0" i="1" smtClean="0">
                            <a:latin typeface="Cambria Math" panose="02040503050406030204" pitchFamily="18" charset="0"/>
                          </a:rPr>
                          <m:t>𝑘</m:t>
                        </m:r>
                      </m:e>
                    </m:d>
                  </m:oMath>
                </a14:m>
                <a:r>
                  <a:rPr lang="en-ZA" dirty="0"/>
                  <a:t>is zero.</a:t>
                </a:r>
              </a:p>
              <a:p>
                <a:pPr marL="0" lvl="0" indent="0" algn="just">
                  <a:buFont typeface="Arial" panose="020B0604020202020204" pitchFamily="34" charset="0"/>
                  <a:buNone/>
                </a:pPr>
                <a:endParaRPr lang="en-ZA" b="0" dirty="0">
                  <a:solidFill>
                    <a:schemeClr val="tx1"/>
                  </a:solidFill>
                </a:endParaRPr>
              </a:p>
              <a:p>
                <a:pPr marL="0" indent="0" algn="just">
                  <a:buFont typeface="Arial" panose="020B0604020202020204" pitchFamily="34" charset="0"/>
                  <a:buNone/>
                </a:pPr>
                <a:r>
                  <a:rPr lang="en-ZA" dirty="0"/>
                  <a:t>In conclusion, the Bernstein–</a:t>
                </a:r>
                <a:r>
                  <a:rPr lang="en-ZA" dirty="0" err="1"/>
                  <a:t>Vazirani</a:t>
                </a:r>
                <a:r>
                  <a:rPr lang="en-ZA" dirty="0"/>
                  <a:t> algorithm returns the hidden string s with certainty using a single oracle query.</a:t>
                </a:r>
                <a:endParaRPr lang="en-US" b="0" dirty="0">
                  <a:solidFill>
                    <a:schemeClr val="tx1"/>
                  </a:solidFill>
                </a:endParaRPr>
              </a:p>
              <a:p>
                <a:pPr algn="just"/>
                <a:endParaRPr lang="en-US" b="0" dirty="0">
                  <a:solidFill>
                    <a:schemeClr val="tx1"/>
                  </a:solidFill>
                </a:endParaRPr>
              </a:p>
              <a:p>
                <a:pPr marL="171450" indent="-171450" algn="just">
                  <a:buFont typeface="Arial" panose="020B0604020202020204" pitchFamily="34" charset="0"/>
                  <a:buChar char="•"/>
                </a:pPr>
                <a:endParaRPr lang="en-US" b="0" dirty="0">
                  <a:solidFill>
                    <a:schemeClr val="tx1"/>
                  </a:solidFill>
                </a:endParaRPr>
              </a:p>
            </p:txBody>
          </p:sp>
        </mc:Choice>
        <mc:Fallback xmlns="">
          <p:sp>
            <p:nvSpPr>
              <p:cNvPr id="3" name="Notes Placeholder 2"/>
              <p:cNvSpPr>
                <a:spLocks noGrp="1"/>
              </p:cNvSpPr>
              <p:nvPr>
                <p:ph type="body" idx="1"/>
              </p:nvPr>
            </p:nvSpPr>
            <p:spPr/>
            <p:txBody>
              <a:bodyPr/>
              <a:lstStyle/>
              <a:p>
                <a:r>
                  <a:rPr lang="en-US" dirty="0"/>
                  <a:t>Prikazano </a:t>
                </a:r>
                <a:r>
                  <a:rPr lang="en-US" dirty="0" err="1"/>
                  <a:t>kvantno</a:t>
                </a:r>
                <a:r>
                  <a:rPr lang="en-US" dirty="0"/>
                  <a:t> </a:t>
                </a:r>
                <a:r>
                  <a:rPr lang="en-US" dirty="0" err="1"/>
                  <a:t>kolo</a:t>
                </a:r>
                <a:r>
                  <a:rPr lang="en-US" dirty="0"/>
                  <a:t> </a:t>
                </a:r>
                <a:r>
                  <a:rPr lang="en-US" dirty="0" err="1"/>
                  <a:t>je</a:t>
                </a:r>
                <a:r>
                  <a:rPr lang="en-US" dirty="0"/>
                  <a:t> </a:t>
                </a:r>
                <a:r>
                  <a:rPr lang="en-US" dirty="0" err="1"/>
                  <a:t>generalna</a:t>
                </a:r>
                <a:r>
                  <a:rPr lang="en-US" dirty="0"/>
                  <a:t> </a:t>
                </a:r>
                <a:r>
                  <a:rPr lang="en-US" dirty="0" err="1"/>
                  <a:t>implementacija</a:t>
                </a:r>
                <a:r>
                  <a:rPr lang="en-US" dirty="0"/>
                  <a:t> </a:t>
                </a:r>
                <a:r>
                  <a:rPr lang="en-US" dirty="0" err="1"/>
                  <a:t>Bernstin</a:t>
                </a:r>
                <a:r>
                  <a:rPr lang="en-US" dirty="0"/>
                  <a:t>–</a:t>
                </a:r>
                <a:r>
                  <a:rPr lang="en-US" dirty="0" err="1"/>
                  <a:t>Vazirani</a:t>
                </a:r>
                <a:r>
                  <a:rPr lang="en-US" dirty="0"/>
                  <a:t> </a:t>
                </a:r>
                <a:r>
                  <a:rPr lang="en-US" dirty="0" err="1"/>
                  <a:t>algoritma</a:t>
                </a:r>
                <a:r>
                  <a:rPr lang="en-US" dirty="0"/>
                  <a:t>. </a:t>
                </a:r>
                <a:r>
                  <a:rPr lang="en-US" dirty="0" err="1"/>
                  <a:t>Primećuje</a:t>
                </a:r>
                <a:r>
                  <a:rPr lang="en-US" dirty="0"/>
                  <a:t> se da </a:t>
                </a:r>
                <a:r>
                  <a:rPr lang="en-US" dirty="0" err="1"/>
                  <a:t>je</a:t>
                </a:r>
                <a:r>
                  <a:rPr lang="en-US" dirty="0"/>
                  <a:t> </a:t>
                </a:r>
                <a:r>
                  <a:rPr lang="en-US" dirty="0" err="1"/>
                  <a:t>kvantno</a:t>
                </a:r>
                <a:r>
                  <a:rPr lang="en-US" dirty="0"/>
                  <a:t> </a:t>
                </a:r>
                <a:r>
                  <a:rPr lang="en-US" dirty="0" err="1"/>
                  <a:t>kolo</a:t>
                </a:r>
                <a:r>
                  <a:rPr lang="en-US" dirty="0"/>
                  <a:t> </a:t>
                </a:r>
                <a:r>
                  <a:rPr lang="en-US" dirty="0" err="1"/>
                  <a:t>topološki</a:t>
                </a:r>
                <a:r>
                  <a:rPr lang="en-US" dirty="0"/>
                  <a:t> </a:t>
                </a:r>
                <a:r>
                  <a:rPr lang="en-US" dirty="0" err="1"/>
                  <a:t>isto</a:t>
                </a:r>
                <a:r>
                  <a:rPr lang="en-US" dirty="0"/>
                  <a:t> </a:t>
                </a:r>
                <a:r>
                  <a:rPr lang="en-US" dirty="0" err="1"/>
                  <a:t>kao</a:t>
                </a:r>
                <a:r>
                  <a:rPr lang="en-US" dirty="0"/>
                  <a:t> </a:t>
                </a:r>
                <a:r>
                  <a:rPr lang="en-US" dirty="0" err="1"/>
                  <a:t>i</a:t>
                </a:r>
                <a:r>
                  <a:rPr lang="en-US" dirty="0"/>
                  <a:t> </a:t>
                </a:r>
                <a:r>
                  <a:rPr lang="en-US" dirty="0" err="1"/>
                  <a:t>kolo</a:t>
                </a:r>
                <a:r>
                  <a:rPr lang="en-US" dirty="0"/>
                  <a:t> </a:t>
                </a:r>
                <a:r>
                  <a:rPr lang="en-US" dirty="0" err="1"/>
                  <a:t>Djojč-Džosa</a:t>
                </a:r>
                <a:r>
                  <a:rPr lang="en-US" dirty="0"/>
                  <a:t> </a:t>
                </a:r>
                <a:r>
                  <a:rPr lang="en-US" dirty="0" err="1"/>
                  <a:t>algoritma</a:t>
                </a:r>
                <a:r>
                  <a:rPr lang="en-US" dirty="0"/>
                  <a:t>. </a:t>
                </a:r>
                <a:r>
                  <a:rPr lang="en-US" dirty="0" err="1"/>
                  <a:t>Ipak</a:t>
                </a:r>
                <a:r>
                  <a:rPr lang="en-US" dirty="0"/>
                  <a:t>, </a:t>
                </a:r>
                <a:r>
                  <a:rPr lang="en-US" dirty="0" err="1"/>
                  <a:t>zbog</a:t>
                </a:r>
                <a:r>
                  <a:rPr lang="en-US" dirty="0"/>
                  <a:t> </a:t>
                </a:r>
                <a:r>
                  <a:rPr lang="en-US" dirty="0" err="1"/>
                  <a:t>razlika</a:t>
                </a:r>
                <a:r>
                  <a:rPr lang="en-US" dirty="0"/>
                  <a:t> u </a:t>
                </a:r>
                <a:r>
                  <a:rPr lang="en-US" dirty="0" err="1"/>
                  <a:t>funkciji</a:t>
                </a:r>
                <a:r>
                  <a:rPr lang="en-US" dirty="0"/>
                  <a:t> </a:t>
                </a:r>
                <a:r>
                  <a:rPr lang="en-US" dirty="0" err="1"/>
                  <a:t>koju</a:t>
                </a:r>
                <a:r>
                  <a:rPr lang="en-US" dirty="0"/>
                  <a:t> </a:t>
                </a:r>
                <a:r>
                  <a:rPr lang="en-US" dirty="0" err="1"/>
                  <a:t>obavlja</a:t>
                </a:r>
                <a:r>
                  <a:rPr lang="en-US" dirty="0"/>
                  <a:t> </a:t>
                </a:r>
                <a:r>
                  <a:rPr lang="en-US" dirty="0" err="1"/>
                  <a:t>orakl</a:t>
                </a:r>
                <a:r>
                  <a:rPr lang="en-US" dirty="0"/>
                  <a:t>, </a:t>
                </a:r>
                <a:r>
                  <a:rPr lang="en-US" dirty="0" err="1"/>
                  <a:t>postavka</a:t>
                </a:r>
                <a:r>
                  <a:rPr lang="en-US" dirty="0"/>
                  <a:t> </a:t>
                </a:r>
                <a:r>
                  <a:rPr lang="en-US" dirty="0" err="1"/>
                  <a:t>problema</a:t>
                </a:r>
                <a:r>
                  <a:rPr lang="en-US" dirty="0"/>
                  <a:t> </a:t>
                </a:r>
                <a:r>
                  <a:rPr lang="en-US" dirty="0" err="1"/>
                  <a:t>i</a:t>
                </a:r>
                <a:r>
                  <a:rPr lang="en-US" dirty="0"/>
                  <a:t> </a:t>
                </a:r>
                <a:r>
                  <a:rPr lang="en-US" dirty="0" err="1"/>
                  <a:t>rezultati</a:t>
                </a:r>
                <a:r>
                  <a:rPr lang="en-US" dirty="0"/>
                  <a:t> </a:t>
                </a:r>
                <a:r>
                  <a:rPr lang="en-US" dirty="0" err="1"/>
                  <a:t>su</a:t>
                </a:r>
                <a:r>
                  <a:rPr lang="en-US" dirty="0"/>
                  <a:t> </a:t>
                </a:r>
                <a:r>
                  <a:rPr lang="en-US" dirty="0" err="1"/>
                  <a:t>drugačiji</a:t>
                </a:r>
                <a:r>
                  <a:rPr lang="en-US" dirty="0"/>
                  <a:t>. </a:t>
                </a:r>
              </a:p>
              <a:p>
                <a:endParaRPr lang="en-US" dirty="0"/>
              </a:p>
              <a:p>
                <a:pPr marL="171450" indent="-171450">
                  <a:buFont typeface="Arial" panose="020B0604020202020204" pitchFamily="34" charset="0"/>
                  <a:buChar char="•"/>
                </a:pPr>
                <a:r>
                  <a:rPr lang="en-US" dirty="0" err="1"/>
                  <a:t>Kvantno</a:t>
                </a:r>
                <a:r>
                  <a:rPr lang="en-US" dirty="0"/>
                  <a:t> </a:t>
                </a:r>
                <a:r>
                  <a:rPr lang="en-US" dirty="0" err="1"/>
                  <a:t>kolo</a:t>
                </a:r>
                <a:r>
                  <a:rPr lang="en-US" dirty="0"/>
                  <a:t> </a:t>
                </a:r>
                <a:r>
                  <a:rPr lang="en-US" dirty="0" err="1"/>
                  <a:t>sadrži</a:t>
                </a:r>
                <a:r>
                  <a:rPr lang="en-US" dirty="0"/>
                  <a:t> </a:t>
                </a:r>
                <a:r>
                  <a:rPr lang="en-US" dirty="0" err="1"/>
                  <a:t>dva</a:t>
                </a:r>
                <a:r>
                  <a:rPr lang="en-US" dirty="0"/>
                  <a:t> </a:t>
                </a:r>
                <a:r>
                  <a:rPr lang="en-US" dirty="0" err="1"/>
                  <a:t>registra</a:t>
                </a:r>
                <a:r>
                  <a:rPr lang="en-US" dirty="0"/>
                  <a:t>. </a:t>
                </a:r>
                <a:r>
                  <a:rPr lang="en-US" dirty="0" err="1"/>
                  <a:t>Gornji</a:t>
                </a:r>
                <a:r>
                  <a:rPr lang="en-US" dirty="0"/>
                  <a:t> </a:t>
                </a:r>
                <a:r>
                  <a:rPr lang="sr-Latn-RS" sz="1200" b="0" i="0">
                    <a:latin typeface="Cambria Math" panose="02040503050406030204" pitchFamily="18" charset="0"/>
                  </a:rPr>
                  <a:t>𝑥</a:t>
                </a:r>
                <a:r>
                  <a:rPr lang="en-US" dirty="0"/>
                  <a:t> </a:t>
                </a:r>
                <a:r>
                  <a:rPr lang="en-US" dirty="0" err="1"/>
                  <a:t>registar</a:t>
                </a:r>
                <a:r>
                  <a:rPr lang="en-US" dirty="0"/>
                  <a:t> od </a:t>
                </a:r>
                <a:r>
                  <a:rPr lang="sr-Latn-RS" sz="1200" b="0" i="0">
                    <a:latin typeface="Cambria Math" panose="02040503050406030204" pitchFamily="18" charset="0"/>
                  </a:rPr>
                  <a:t>𝑛</a:t>
                </a:r>
                <a:r>
                  <a:rPr lang="en-US" dirty="0"/>
                  <a:t> kubita se inicijalizuju </a:t>
                </a:r>
                <a:r>
                  <a:rPr lang="en-US" dirty="0" err="1"/>
                  <a:t>na</a:t>
                </a:r>
                <a:r>
                  <a:rPr lang="en-US" dirty="0"/>
                  <a:t> |0⟩ </a:t>
                </a:r>
                <a:r>
                  <a:rPr lang="en-US" dirty="0" err="1"/>
                  <a:t>dok</a:t>
                </a:r>
                <a:r>
                  <a:rPr lang="en-US" dirty="0"/>
                  <a:t> se </a:t>
                </a:r>
                <a:r>
                  <a:rPr lang="en-US" dirty="0" err="1"/>
                  <a:t>donji</a:t>
                </a:r>
                <a:r>
                  <a:rPr lang="en-US" dirty="0"/>
                  <a:t>, </a:t>
                </a:r>
                <a:r>
                  <a:rPr lang="en-US" dirty="0" err="1"/>
                  <a:t>jednokubitni</a:t>
                </a:r>
                <a:r>
                  <a:rPr lang="en-US" dirty="0"/>
                  <a:t> </a:t>
                </a:r>
                <a:r>
                  <a:rPr lang="en-US" dirty="0" err="1"/>
                  <a:t>registar</a:t>
                </a:r>
                <a:r>
                  <a:rPr lang="en-US" dirty="0"/>
                  <a:t> </a:t>
                </a:r>
                <a:r>
                  <a:rPr lang="en-US" dirty="0" err="1"/>
                  <a:t>stavlja</a:t>
                </a:r>
                <a:r>
                  <a:rPr lang="en-US" dirty="0"/>
                  <a:t> u </a:t>
                </a:r>
                <a:r>
                  <a:rPr lang="en-US" dirty="0" err="1"/>
                  <a:t>stanje</a:t>
                </a:r>
                <a:r>
                  <a:rPr lang="en-US" dirty="0"/>
                  <a:t>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err="1"/>
                  <a:t>Primenom</a:t>
                </a:r>
                <a:r>
                  <a:rPr lang="en-US" dirty="0"/>
                  <a:t> </a:t>
                </a:r>
                <a:r>
                  <a:rPr lang="en-US" dirty="0" err="1"/>
                  <a:t>Adamarovih</a:t>
                </a:r>
                <a:r>
                  <a:rPr lang="en-US" dirty="0"/>
                  <a:t> kola, kubiti </a:t>
                </a:r>
                <a:r>
                  <a:rPr lang="en-US" dirty="0" err="1"/>
                  <a:t>gornjeg</a:t>
                </a:r>
                <a:r>
                  <a:rPr lang="en-US" dirty="0"/>
                  <a:t> </a:t>
                </a:r>
                <a:r>
                  <a:rPr lang="en-US" dirty="0" err="1"/>
                  <a:t>registra</a:t>
                </a:r>
                <a:r>
                  <a:rPr lang="en-US" dirty="0"/>
                  <a:t> se </a:t>
                </a:r>
                <a:r>
                  <a:rPr lang="en-US" dirty="0" err="1"/>
                  <a:t>stavljaju</a:t>
                </a:r>
                <a:r>
                  <a:rPr lang="en-US" dirty="0"/>
                  <a:t> u </a:t>
                </a:r>
                <a:r>
                  <a:rPr lang="en-US" dirty="0" err="1"/>
                  <a:t>superpozicije</a:t>
                </a:r>
                <a:r>
                  <a:rPr lang="en-US" dirty="0"/>
                  <a:t> |+⟩, </a:t>
                </a:r>
                <a:r>
                  <a:rPr lang="en-US" dirty="0" err="1"/>
                  <a:t>dok</a:t>
                </a:r>
                <a:r>
                  <a:rPr lang="en-US" dirty="0"/>
                  <a:t> se </a:t>
                </a:r>
                <a:r>
                  <a:rPr lang="en-US" dirty="0" err="1"/>
                  <a:t>donji</a:t>
                </a:r>
                <a:r>
                  <a:rPr lang="en-US" dirty="0"/>
                  <a:t> </a:t>
                </a:r>
                <a:r>
                  <a:rPr lang="en-US" dirty="0" err="1"/>
                  <a:t>registar</a:t>
                </a:r>
                <a:r>
                  <a:rPr lang="en-US" dirty="0"/>
                  <a:t> </a:t>
                </a:r>
                <a:r>
                  <a:rPr lang="en-US" dirty="0" err="1"/>
                  <a:t>stavlja</a:t>
                </a:r>
                <a:r>
                  <a:rPr lang="en-US" dirty="0"/>
                  <a:t> u </a:t>
                </a:r>
                <a:r>
                  <a:rPr lang="en-US" dirty="0" err="1"/>
                  <a:t>stanje</a:t>
                </a:r>
                <a:r>
                  <a:rPr lang="en-US" dirty="0"/>
                  <a:t> |–⟩.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Na </a:t>
                </a:r>
                <a:r>
                  <a:rPr lang="en-US" dirty="0" err="1"/>
                  <a:t>izlazu</a:t>
                </a:r>
                <a:r>
                  <a:rPr lang="en-US" dirty="0"/>
                  <a:t> </a:t>
                </a:r>
                <a:r>
                  <a:rPr lang="en-US" dirty="0" err="1"/>
                  <a:t>iz</a:t>
                </a:r>
                <a:r>
                  <a:rPr lang="en-US" dirty="0"/>
                  <a:t> </a:t>
                </a:r>
                <a:r>
                  <a:rPr lang="en-US" dirty="0" err="1"/>
                  <a:t>orakla</a:t>
                </a:r>
                <a:r>
                  <a:rPr lang="en-US" dirty="0"/>
                  <a:t> </a:t>
                </a:r>
                <a:r>
                  <a:rPr lang="en-US" dirty="0" err="1"/>
                  <a:t>koji</a:t>
                </a:r>
                <a:r>
                  <a:rPr lang="en-US" dirty="0"/>
                  <a:t> </a:t>
                </a:r>
                <a:r>
                  <a:rPr lang="en-US" dirty="0" err="1"/>
                  <a:t>vrši</a:t>
                </a:r>
                <a:r>
                  <a:rPr lang="en-US" dirty="0"/>
                  <a:t> </a:t>
                </a:r>
                <a:r>
                  <a:rPr lang="en-US" dirty="0" err="1"/>
                  <a:t>prenos</a:t>
                </a:r>
                <a:r>
                  <a:rPr lang="en-US" dirty="0"/>
                  <a:t> faze, kubitima </a:t>
                </a:r>
                <a:r>
                  <a:rPr lang="en-US" dirty="0" err="1"/>
                  <a:t>gorenjeg</a:t>
                </a:r>
                <a:r>
                  <a:rPr lang="en-US" dirty="0"/>
                  <a:t> </a:t>
                </a:r>
                <a:r>
                  <a:rPr lang="en-US" dirty="0" err="1"/>
                  <a:t>registra</a:t>
                </a:r>
                <a:r>
                  <a:rPr lang="en-US" dirty="0"/>
                  <a:t> se </a:t>
                </a:r>
                <a:r>
                  <a:rPr lang="en-US" dirty="0" err="1"/>
                  <a:t>dodaju</a:t>
                </a:r>
                <a:r>
                  <a:rPr lang="en-US" dirty="0"/>
                  <a:t> </a:t>
                </a:r>
                <a:r>
                  <a:rPr lang="en-US" dirty="0" err="1"/>
                  <a:t>fazni</a:t>
                </a:r>
                <a:r>
                  <a:rPr lang="en-US" dirty="0"/>
                  <a:t> </a:t>
                </a:r>
                <a:r>
                  <a:rPr lang="en-US" dirty="0" err="1"/>
                  <a:t>faktori</a:t>
                </a:r>
                <a:r>
                  <a:rPr lang="en-US" dirty="0"/>
                  <a:t> </a:t>
                </a:r>
                <a:r>
                  <a:rPr lang="en-US" sz="1200" i="0">
                    <a:latin typeface="Cambria Math" panose="02040503050406030204" pitchFamily="18" charset="0"/>
                  </a:rPr>
                  <a:t>(−1)^├ 𝑓(𝑥) </a:t>
                </a:r>
                <a:r>
                  <a:rPr lang="en-US" dirty="0"/>
                  <a:t>. </a:t>
                </a:r>
                <a:r>
                  <a:rPr lang="en-US" dirty="0" err="1"/>
                  <a:t>Pri</a:t>
                </a:r>
                <a:r>
                  <a:rPr lang="en-US" dirty="0"/>
                  <a:t> tome </a:t>
                </a:r>
                <a:r>
                  <a:rPr lang="en-US" dirty="0" err="1"/>
                  <a:t>treba</a:t>
                </a:r>
                <a:r>
                  <a:rPr lang="en-US" dirty="0"/>
                  <a:t> </a:t>
                </a:r>
                <a:r>
                  <a:rPr lang="en-US" dirty="0" err="1"/>
                  <a:t>imati</a:t>
                </a:r>
                <a:r>
                  <a:rPr lang="en-US" dirty="0"/>
                  <a:t> u </a:t>
                </a:r>
                <a:r>
                  <a:rPr lang="en-US" dirty="0" err="1"/>
                  <a:t>vidu</a:t>
                </a:r>
                <a:r>
                  <a:rPr lang="en-US" dirty="0"/>
                  <a:t> da </a:t>
                </a:r>
                <a:r>
                  <a:rPr lang="en-US" dirty="0" err="1"/>
                  <a:t>funkcija</a:t>
                </a:r>
                <a:r>
                  <a:rPr lang="en-US" dirty="0"/>
                  <a:t> </a:t>
                </a:r>
                <a:r>
                  <a:rPr lang="en-US" sz="1200" i="0">
                    <a:latin typeface="Cambria Math" panose="02040503050406030204" pitchFamily="18" charset="0"/>
                  </a:rPr>
                  <a:t>├ 𝑓(𝑥)</a:t>
                </a:r>
                <a:r>
                  <a:rPr lang="sr-Latn-RS" sz="1200" b="0" i="0">
                    <a:latin typeface="Cambria Math" panose="02040503050406030204" pitchFamily="18" charset="0"/>
                  </a:rPr>
                  <a:t>=</a:t>
                </a:r>
                <a:r>
                  <a:rPr lang="en-US" sz="1200" i="0">
                    <a:latin typeface="Cambria Math" panose="02040503050406030204" pitchFamily="18" charset="0"/>
                  </a:rPr>
                  <a:t>𝑥∙𝑠</a:t>
                </a:r>
                <a:r>
                  <a:rPr lang="en-US" dirty="0"/>
                  <a:t> </a:t>
                </a:r>
                <a:r>
                  <a:rPr lang="en-US" dirty="0" err="1"/>
                  <a:t>daje</a:t>
                </a:r>
                <a:r>
                  <a:rPr lang="en-US" dirty="0"/>
                  <a:t> </a:t>
                </a:r>
                <a:r>
                  <a:rPr lang="en-US" dirty="0" err="1"/>
                  <a:t>unutrašnji</a:t>
                </a:r>
                <a:r>
                  <a:rPr lang="en-US" dirty="0"/>
                  <a:t> </a:t>
                </a:r>
                <a:r>
                  <a:rPr lang="en-US" dirty="0" err="1"/>
                  <a:t>proizvod</a:t>
                </a:r>
                <a:r>
                  <a:rPr lang="en-US" dirty="0"/>
                  <a:t> </a:t>
                </a:r>
                <a:r>
                  <a:rPr lang="en-US" dirty="0" err="1"/>
                  <a:t>bitova</a:t>
                </a:r>
                <a:r>
                  <a:rPr lang="en-US" dirty="0"/>
                  <a:t> </a:t>
                </a:r>
                <a:r>
                  <a:rPr lang="en-US" dirty="0" err="1"/>
                  <a:t>registra</a:t>
                </a:r>
                <a:r>
                  <a:rPr lang="en-US" dirty="0"/>
                  <a:t> </a:t>
                </a:r>
                <a:r>
                  <a:rPr lang="en-US" sz="1200" i="0">
                    <a:latin typeface="Cambria Math" panose="02040503050406030204" pitchFamily="18" charset="0"/>
                  </a:rPr>
                  <a:t>𝑥</a:t>
                </a:r>
                <a:r>
                  <a:rPr lang="en-US" dirty="0"/>
                  <a:t> </a:t>
                </a:r>
                <a:r>
                  <a:rPr lang="en-US" dirty="0" err="1"/>
                  <a:t>i</a:t>
                </a:r>
                <a:r>
                  <a:rPr lang="en-US" dirty="0"/>
                  <a:t> </a:t>
                </a:r>
                <a:r>
                  <a:rPr lang="en-US" dirty="0" err="1"/>
                  <a:t>traženog</a:t>
                </a:r>
                <a:r>
                  <a:rPr lang="en-US" dirty="0"/>
                  <a:t> </a:t>
                </a:r>
                <a:r>
                  <a:rPr lang="en-US" dirty="0" err="1"/>
                  <a:t>niza</a:t>
                </a:r>
                <a:r>
                  <a:rPr lang="en-US" dirty="0"/>
                  <a:t> </a:t>
                </a:r>
                <a:r>
                  <a:rPr lang="sr-Latn-RS" sz="1200" b="0" i="0">
                    <a:latin typeface="Cambria Math" panose="02040503050406030204" pitchFamily="18" charset="0"/>
                  </a:rPr>
                  <a:t>𝑠</a:t>
                </a:r>
                <a:r>
                  <a:rPr lang="en-US" dirty="0"/>
                  <a:t> </a:t>
                </a:r>
                <a:r>
                  <a:rPr lang="en-US" dirty="0" err="1"/>
                  <a:t>sakrivenog</a:t>
                </a:r>
                <a:r>
                  <a:rPr lang="en-US" dirty="0"/>
                  <a:t> u </a:t>
                </a:r>
                <a:r>
                  <a:rPr lang="en-US" dirty="0" err="1"/>
                  <a:t>oraklu</a:t>
                </a:r>
                <a:r>
                  <a:rPr lang="en-US" dirty="0"/>
                  <a: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Na </a:t>
                </a:r>
                <a:r>
                  <a:rPr lang="en-US" dirty="0" err="1"/>
                  <a:t>registar</a:t>
                </a:r>
                <a:r>
                  <a:rPr lang="en-US" dirty="0"/>
                  <a:t> </a:t>
                </a:r>
                <a:r>
                  <a:rPr lang="en-US" sz="1200" i="0">
                    <a:latin typeface="Cambria Math" panose="02040503050406030204" pitchFamily="18" charset="0"/>
                  </a:rPr>
                  <a:t>𝑥</a:t>
                </a:r>
                <a:r>
                  <a:rPr lang="en-US" dirty="0"/>
                  <a:t> se </a:t>
                </a:r>
                <a:r>
                  <a:rPr lang="en-US" dirty="0" err="1"/>
                  <a:t>zatim</a:t>
                </a:r>
                <a:r>
                  <a:rPr lang="en-US" dirty="0"/>
                  <a:t> </a:t>
                </a:r>
                <a:r>
                  <a:rPr lang="en-US" dirty="0" err="1"/>
                  <a:t>primenjuje</a:t>
                </a:r>
                <a:r>
                  <a:rPr lang="en-US" dirty="0"/>
                  <a:t> </a:t>
                </a:r>
                <a:r>
                  <a:rPr lang="en-US" dirty="0" err="1"/>
                  <a:t>Adamarova</a:t>
                </a:r>
                <a:r>
                  <a:rPr lang="en-US" dirty="0"/>
                  <a:t> </a:t>
                </a:r>
                <a:r>
                  <a:rPr lang="en-US" dirty="0" err="1"/>
                  <a:t>transformacija</a:t>
                </a:r>
                <a:r>
                  <a:rPr lang="en-US" dirty="0"/>
                  <a:t>  </a:t>
                </a:r>
                <a:r>
                  <a:rPr lang="en-US" dirty="0" err="1"/>
                  <a:t>Rezultat</a:t>
                </a:r>
                <a:r>
                  <a:rPr lang="en-US" dirty="0"/>
                  <a:t> </a:t>
                </a:r>
                <a:r>
                  <a:rPr lang="en-US" dirty="0" err="1"/>
                  <a:t>je</a:t>
                </a:r>
                <a:r>
                  <a:rPr lang="en-US" dirty="0"/>
                  <a:t> </a:t>
                </a:r>
                <a:r>
                  <a:rPr lang="en-US" dirty="0" err="1"/>
                  <a:t>dvostruka</a:t>
                </a:r>
                <a:r>
                  <a:rPr lang="en-US" dirty="0"/>
                  <a:t> </a:t>
                </a:r>
                <a:r>
                  <a:rPr lang="en-US" dirty="0" err="1"/>
                  <a:t>suma</a:t>
                </a:r>
                <a:r>
                  <a:rPr lang="en-US" dirty="0"/>
                  <a:t>. Suma </a:t>
                </a:r>
                <a:r>
                  <a:rPr lang="en-US" dirty="0" err="1"/>
                  <a:t>po</a:t>
                </a:r>
                <a:r>
                  <a:rPr lang="en-US" dirty="0"/>
                  <a:t> </a:t>
                </a:r>
                <a:r>
                  <a:rPr lang="en-US" sz="1200" i="0">
                    <a:latin typeface="Cambria Math" panose="02040503050406030204" pitchFamily="18" charset="0"/>
                  </a:rPr>
                  <a:t>𝑥</a:t>
                </a:r>
                <a:r>
                  <a:rPr lang="en-US" dirty="0"/>
                  <a:t> </a:t>
                </a:r>
                <a:r>
                  <a:rPr lang="en-US" dirty="0" err="1"/>
                  <a:t>je</a:t>
                </a:r>
                <a:r>
                  <a:rPr lang="en-US" dirty="0"/>
                  <a:t> </a:t>
                </a:r>
                <a:r>
                  <a:rPr lang="en-US" dirty="0" err="1"/>
                  <a:t>suma</a:t>
                </a:r>
                <a:r>
                  <a:rPr lang="en-US" dirty="0"/>
                  <a:t> </a:t>
                </a:r>
                <a:r>
                  <a:rPr lang="en-US" dirty="0" err="1"/>
                  <a:t>prenesena</a:t>
                </a:r>
                <a:r>
                  <a:rPr lang="en-US" dirty="0"/>
                  <a:t> </a:t>
                </a:r>
                <a:r>
                  <a:rPr lang="en-US" dirty="0" err="1"/>
                  <a:t>iz</a:t>
                </a:r>
                <a:r>
                  <a:rPr lang="en-US" dirty="0"/>
                  <a:t> </a:t>
                </a:r>
                <a:r>
                  <a:rPr lang="en-US" dirty="0" err="1"/>
                  <a:t>prve</a:t>
                </a:r>
                <a:r>
                  <a:rPr lang="en-US" dirty="0"/>
                  <a:t> </a:t>
                </a:r>
                <a:r>
                  <a:rPr lang="en-US" dirty="0" err="1"/>
                  <a:t>grupe</a:t>
                </a:r>
                <a:r>
                  <a:rPr lang="en-US" dirty="0"/>
                  <a:t> </a:t>
                </a:r>
                <a:r>
                  <a:rPr lang="en-US" dirty="0" err="1"/>
                  <a:t>Adamarovih</a:t>
                </a:r>
                <a:r>
                  <a:rPr lang="en-US" dirty="0"/>
                  <a:t> </a:t>
                </a:r>
                <a:r>
                  <a:rPr lang="en-US" dirty="0" err="1"/>
                  <a:t>transformacija</a:t>
                </a:r>
                <a:r>
                  <a:rPr lang="en-US" dirty="0"/>
                  <a:t>, </a:t>
                </a:r>
                <a:r>
                  <a:rPr lang="en-US" dirty="0" err="1"/>
                  <a:t>dok</a:t>
                </a:r>
                <a:r>
                  <a:rPr lang="en-US" dirty="0"/>
                  <a:t> </a:t>
                </a:r>
                <a:r>
                  <a:rPr lang="en-US" dirty="0" err="1"/>
                  <a:t>suma</a:t>
                </a:r>
                <a:r>
                  <a:rPr lang="en-US" dirty="0"/>
                  <a:t> </a:t>
                </a:r>
                <a:r>
                  <a:rPr lang="en-US" dirty="0" err="1"/>
                  <a:t>po</a:t>
                </a:r>
                <a:r>
                  <a:rPr lang="en-US" dirty="0"/>
                  <a:t> </a:t>
                </a:r>
                <a:r>
                  <a:rPr lang="sr-Latn-RS" sz="1200" b="0" i="0">
                    <a:latin typeface="Cambria Math" panose="02040503050406030204" pitchFamily="18" charset="0"/>
                  </a:rPr>
                  <a:t>𝑧</a:t>
                </a:r>
                <a:r>
                  <a:rPr lang="en-US" dirty="0"/>
                  <a:t> </a:t>
                </a:r>
                <a:r>
                  <a:rPr lang="en-US" dirty="0" err="1"/>
                  <a:t>potiče</a:t>
                </a:r>
                <a:r>
                  <a:rPr lang="en-US" dirty="0"/>
                  <a:t> od </a:t>
                </a:r>
                <a:r>
                  <a:rPr lang="en-US" dirty="0" err="1"/>
                  <a:t>druge</a:t>
                </a:r>
                <a:r>
                  <a:rPr lang="en-US" dirty="0"/>
                  <a:t> </a:t>
                </a:r>
                <a:r>
                  <a:rPr lang="en-US" dirty="0" err="1"/>
                  <a:t>grupe</a:t>
                </a:r>
                <a:r>
                  <a:rPr lang="en-US" dirty="0"/>
                  <a:t> </a:t>
                </a:r>
                <a:r>
                  <a:rPr lang="en-US" dirty="0" err="1"/>
                  <a:t>Adamarovih</a:t>
                </a:r>
                <a:r>
                  <a:rPr lang="en-US" dirty="0"/>
                  <a:t> </a:t>
                </a:r>
                <a:r>
                  <a:rPr lang="en-US" dirty="0" err="1"/>
                  <a:t>transfromacija</a:t>
                </a:r>
                <a:r>
                  <a:rPr lang="en-US" dirty="0"/>
                  <a:t>. </a:t>
                </a:r>
                <a:r>
                  <a:rPr lang="en-US" dirty="0" err="1"/>
                  <a:t>Kada</a:t>
                </a:r>
                <a:r>
                  <a:rPr lang="en-US" dirty="0"/>
                  <a:t> se </a:t>
                </a:r>
                <a:r>
                  <a:rPr lang="en-US" dirty="0" err="1"/>
                  <a:t>registar</a:t>
                </a:r>
                <a:r>
                  <a:rPr lang="en-US" dirty="0"/>
                  <a:t> </a:t>
                </a:r>
                <a:r>
                  <a:rPr lang="en-US" dirty="0" err="1"/>
                  <a:t>izmeri</a:t>
                </a:r>
                <a:r>
                  <a:rPr lang="en-US" dirty="0"/>
                  <a:t>, </a:t>
                </a:r>
                <a:r>
                  <a:rPr lang="en-US" dirty="0" err="1"/>
                  <a:t>doći</a:t>
                </a:r>
                <a:r>
                  <a:rPr lang="en-US" dirty="0"/>
                  <a:t> </a:t>
                </a:r>
                <a:r>
                  <a:rPr lang="en-US" dirty="0" err="1"/>
                  <a:t>će</a:t>
                </a:r>
                <a:r>
                  <a:rPr lang="en-US" dirty="0"/>
                  <a:t> do </a:t>
                </a:r>
                <a:r>
                  <a:rPr lang="en-US" dirty="0" err="1"/>
                  <a:t>redukcije</a:t>
                </a:r>
                <a:r>
                  <a:rPr lang="en-US" dirty="0"/>
                  <a:t> kubita u </a:t>
                </a:r>
                <a:r>
                  <a:rPr lang="en-US" dirty="0" err="1"/>
                  <a:t>jedno</a:t>
                </a:r>
                <a:r>
                  <a:rPr lang="en-US" dirty="0"/>
                  <a:t> od </a:t>
                </a:r>
                <a:r>
                  <a:rPr lang="en-US" dirty="0" err="1"/>
                  <a:t>konkretnih</a:t>
                </a:r>
                <a:r>
                  <a:rPr lang="en-US" dirty="0"/>
                  <a:t> </a:t>
                </a:r>
                <a:r>
                  <a:rPr lang="en-US" dirty="0" err="1"/>
                  <a:t>vrednosti</a:t>
                </a:r>
                <a:r>
                  <a:rPr lang="en-US" dirty="0"/>
                  <a:t> </a:t>
                </a:r>
                <a:r>
                  <a:rPr lang="sr-Latn-RS" sz="1200" b="0" i="0">
                    <a:latin typeface="Cambria Math" panose="02040503050406030204" pitchFamily="18" charset="0"/>
                  </a:rPr>
                  <a:t>𝑧</a:t>
                </a:r>
                <a:r>
                  <a:rPr lang="en-US" dirty="0"/>
                  <a:t>, pa </a:t>
                </a:r>
                <a:r>
                  <a:rPr lang="en-US" dirty="0" err="1"/>
                  <a:t>drugu</a:t>
                </a:r>
                <a:r>
                  <a:rPr lang="en-US" dirty="0"/>
                  <a:t> </a:t>
                </a:r>
                <a:r>
                  <a:rPr lang="en-US" dirty="0" err="1"/>
                  <a:t>sumu</a:t>
                </a:r>
                <a:r>
                  <a:rPr lang="en-US" dirty="0"/>
                  <a:t> </a:t>
                </a:r>
                <a:r>
                  <a:rPr lang="en-US" dirty="0" err="1"/>
                  <a:t>možemo</a:t>
                </a:r>
                <a:r>
                  <a:rPr lang="en-US" dirty="0"/>
                  <a:t> </a:t>
                </a:r>
                <a:r>
                  <a:rPr lang="en-US" dirty="0" err="1"/>
                  <a:t>posmatrati</a:t>
                </a:r>
                <a:r>
                  <a:rPr lang="en-US" dirty="0"/>
                  <a:t> </a:t>
                </a:r>
                <a:r>
                  <a:rPr lang="en-US" dirty="0" err="1"/>
                  <a:t>kao</a:t>
                </a:r>
                <a:r>
                  <a:rPr lang="en-US" dirty="0"/>
                  <a:t> </a:t>
                </a:r>
                <a:r>
                  <a:rPr lang="en-US" dirty="0" err="1"/>
                  <a:t>amplitudu</a:t>
                </a:r>
                <a:r>
                  <a:rPr lang="en-US" dirty="0"/>
                  <a:t> </a:t>
                </a:r>
                <a:r>
                  <a:rPr lang="en-US" dirty="0" err="1"/>
                  <a:t>verovatnoće</a:t>
                </a:r>
                <a:r>
                  <a:rPr lang="en-US" dirty="0"/>
                  <a:t> </a:t>
                </a:r>
                <a:r>
                  <a:rPr lang="en-US" dirty="0" err="1"/>
                  <a:t>pridruženu</a:t>
                </a:r>
                <a:r>
                  <a:rPr lang="en-US" dirty="0"/>
                  <a:t> tom </a:t>
                </a:r>
                <a:r>
                  <a:rPr lang="en-US" dirty="0" err="1"/>
                  <a:t>stanju</a:t>
                </a:r>
                <a:r>
                  <a:rPr lang="en-US" dirty="0"/>
                  <a:t>.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err="1"/>
                  <a:t>Za</a:t>
                </a:r>
                <a:r>
                  <a:rPr lang="en-US" dirty="0"/>
                  <a:t> </a:t>
                </a:r>
                <a:r>
                  <a:rPr lang="sr-Latn-RS" sz="1200" b="0" i="0">
                    <a:latin typeface="Cambria Math" panose="02040503050406030204" pitchFamily="18" charset="0"/>
                  </a:rPr>
                  <a:t>𝑧=𝑠</a:t>
                </a:r>
                <a:r>
                  <a:rPr lang="en-US" dirty="0"/>
                  <a:t>, </a:t>
                </a:r>
                <a:r>
                  <a:rPr lang="en-US" dirty="0" err="1"/>
                  <a:t>kada</a:t>
                </a:r>
                <a:r>
                  <a:rPr lang="en-US" dirty="0"/>
                  <a:t> </a:t>
                </a:r>
                <a:r>
                  <a:rPr lang="en-US" dirty="0" err="1"/>
                  <a:t>je</a:t>
                </a:r>
                <a:r>
                  <a:rPr lang="en-US" dirty="0"/>
                  <a:t> </a:t>
                </a:r>
                <a:r>
                  <a:rPr lang="sr-Latn-RS" sz="1200" b="0" i="0">
                    <a:latin typeface="Cambria Math" panose="02040503050406030204" pitchFamily="18" charset="0"/>
                  </a:rPr>
                  <a:t>𝑧</a:t>
                </a:r>
                <a:r>
                  <a:rPr lang="en-US" dirty="0"/>
                  <a:t> </a:t>
                </a:r>
                <a:r>
                  <a:rPr lang="en-US" dirty="0" err="1"/>
                  <a:t>jednako</a:t>
                </a:r>
                <a:r>
                  <a:rPr lang="en-US" dirty="0"/>
                  <a:t> </a:t>
                </a:r>
                <a:r>
                  <a:rPr lang="en-US" dirty="0" err="1"/>
                  <a:t>traženom</a:t>
                </a:r>
                <a:r>
                  <a:rPr lang="en-US" dirty="0"/>
                  <a:t> </a:t>
                </a:r>
                <a:r>
                  <a:rPr lang="en-US" dirty="0" err="1"/>
                  <a:t>binarnom</a:t>
                </a:r>
                <a:r>
                  <a:rPr lang="en-US" dirty="0"/>
                  <a:t> </a:t>
                </a:r>
                <a:r>
                  <a:rPr lang="en-US" dirty="0" err="1"/>
                  <a:t>nizu</a:t>
                </a:r>
                <a:r>
                  <a:rPr lang="en-US" dirty="0"/>
                  <a:t> </a:t>
                </a:r>
                <a:r>
                  <a:rPr lang="sr-Latn-RS" sz="1200" b="0" i="0">
                    <a:latin typeface="Cambria Math" panose="02040503050406030204" pitchFamily="18" charset="0"/>
                  </a:rPr>
                  <a:t>𝑠</a:t>
                </a:r>
                <a:r>
                  <a:rPr lang="en-US" dirty="0"/>
                  <a:t>, </a:t>
                </a:r>
                <a:r>
                  <a:rPr lang="en-US" dirty="0" err="1"/>
                  <a:t>izraz</a:t>
                </a:r>
                <a:r>
                  <a:rPr lang="en-US" dirty="0"/>
                  <a:t> u </a:t>
                </a:r>
                <a:r>
                  <a:rPr lang="en-US" dirty="0" err="1"/>
                  <a:t>zagradi</a:t>
                </a:r>
                <a:r>
                  <a:rPr lang="en-US" dirty="0"/>
                  <a:t> </a:t>
                </a:r>
                <a:r>
                  <a:rPr lang="en-US" dirty="0" err="1"/>
                  <a:t>eksponenta</a:t>
                </a:r>
                <a:r>
                  <a:rPr lang="en-US" dirty="0"/>
                  <a:t> (</a:t>
                </a:r>
                <a:r>
                  <a:rPr lang="en-US" dirty="0" err="1"/>
                  <a:t>s⨁s</a:t>
                </a:r>
                <a:r>
                  <a:rPr lang="en-US" dirty="0"/>
                  <a:t>) </a:t>
                </a:r>
                <a:r>
                  <a:rPr lang="en-US" dirty="0" err="1"/>
                  <a:t>postaje</a:t>
                </a:r>
                <a:r>
                  <a:rPr lang="en-US" dirty="0"/>
                  <a:t> </a:t>
                </a:r>
                <a:r>
                  <a:rPr lang="en-US" dirty="0" err="1"/>
                  <a:t>nula</a:t>
                </a:r>
                <a:r>
                  <a:rPr lang="en-US" dirty="0"/>
                  <a:t> a </a:t>
                </a:r>
                <a:r>
                  <a:rPr lang="en-US" dirty="0" err="1"/>
                  <a:t>unutrašnja</a:t>
                </a:r>
                <a:r>
                  <a:rPr lang="en-US" dirty="0"/>
                  <a:t> </a:t>
                </a:r>
                <a:r>
                  <a:rPr lang="en-US" dirty="0" err="1"/>
                  <a:t>suma</a:t>
                </a:r>
                <a:r>
                  <a:rPr lang="en-US" dirty="0"/>
                  <a:t> </a:t>
                </a:r>
                <a:r>
                  <a:rPr lang="en-US" dirty="0" err="1"/>
                  <a:t>postaje</a:t>
                </a:r>
                <a:r>
                  <a:rPr lang="en-US" dirty="0"/>
                  <a:t> 2</a:t>
                </a:r>
                <a:r>
                  <a:rPr lang="en-US" baseline="30000" dirty="0"/>
                  <a:t>n</a:t>
                </a:r>
                <a:r>
                  <a:rPr lang="en-US" dirty="0"/>
                  <a:t>. Kao </a:t>
                </a:r>
                <a:r>
                  <a:rPr lang="en-US" dirty="0" err="1"/>
                  <a:t>rezultat</a:t>
                </a:r>
                <a:r>
                  <a:rPr lang="en-US" dirty="0"/>
                  <a:t>, </a:t>
                </a:r>
                <a:r>
                  <a:rPr lang="en-US" dirty="0" err="1"/>
                  <a:t>ceo</a:t>
                </a:r>
                <a:r>
                  <a:rPr lang="en-US" dirty="0"/>
                  <a:t> </a:t>
                </a:r>
                <a:r>
                  <a:rPr lang="en-US" dirty="0" err="1"/>
                  <a:t>izraz</a:t>
                </a:r>
                <a:r>
                  <a:rPr lang="en-US" dirty="0"/>
                  <a:t> se </a:t>
                </a:r>
                <a:r>
                  <a:rPr lang="en-US" dirty="0" err="1"/>
                  <a:t>evaluira</a:t>
                </a:r>
                <a:r>
                  <a:rPr lang="en-US" dirty="0"/>
                  <a:t> u </a:t>
                </a:r>
                <a:r>
                  <a:rPr lang="en-US" sz="1200" i="0">
                    <a:latin typeface="Cambria Math" panose="02040503050406030204" pitchFamily="18" charset="0"/>
                  </a:rPr>
                  <a:t>├ |𝑧⟩</a:t>
                </a:r>
                <a:r>
                  <a:rPr lang="en-US" dirty="0"/>
                  <a:t>, </a:t>
                </a:r>
                <a:r>
                  <a:rPr lang="en-US" dirty="0" err="1"/>
                  <a:t>što</a:t>
                </a:r>
                <a:r>
                  <a:rPr lang="en-US" dirty="0"/>
                  <a:t> </a:t>
                </a:r>
                <a:r>
                  <a:rPr lang="en-US" dirty="0" err="1"/>
                  <a:t>znači</a:t>
                </a:r>
                <a:r>
                  <a:rPr lang="en-US" dirty="0"/>
                  <a:t> da </a:t>
                </a:r>
                <a:r>
                  <a:rPr lang="en-US" dirty="0" err="1"/>
                  <a:t>će</a:t>
                </a:r>
                <a:r>
                  <a:rPr lang="en-US" dirty="0"/>
                  <a:t> se </a:t>
                </a:r>
                <a:r>
                  <a:rPr lang="en-US" dirty="0" err="1"/>
                  <a:t>merenjem</a:t>
                </a:r>
                <a:r>
                  <a:rPr lang="en-US" dirty="0"/>
                  <a:t> </a:t>
                </a:r>
                <a:r>
                  <a:rPr lang="en-US" dirty="0" err="1"/>
                  <a:t>dobiti</a:t>
                </a:r>
                <a:r>
                  <a:rPr lang="en-US" dirty="0"/>
                  <a:t> </a:t>
                </a:r>
                <a:r>
                  <a:rPr lang="en-US" dirty="0" err="1"/>
                  <a:t>traženi</a:t>
                </a:r>
                <a:r>
                  <a:rPr lang="en-US" dirty="0"/>
                  <a:t> </a:t>
                </a:r>
                <a:r>
                  <a:rPr lang="en-US" dirty="0" err="1"/>
                  <a:t>niz</a:t>
                </a:r>
                <a:r>
                  <a:rPr lang="en-US" dirty="0"/>
                  <a:t> </a:t>
                </a:r>
                <a:r>
                  <a:rPr lang="sr-Latn-RS" sz="1200" b="0" i="0">
                    <a:latin typeface="Cambria Math" panose="02040503050406030204" pitchFamily="18" charset="0"/>
                  </a:rPr>
                  <a:t>𝑠</a:t>
                </a:r>
                <a:r>
                  <a:rPr lang="en-US" dirty="0"/>
                  <a: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err="1"/>
                  <a:t>Za</a:t>
                </a:r>
                <a:r>
                  <a:rPr lang="en-US" dirty="0"/>
                  <a:t> z ≠ s </a:t>
                </a:r>
                <a:r>
                  <a:rPr lang="en-US" dirty="0" err="1"/>
                  <a:t>dolazi</a:t>
                </a:r>
                <a:r>
                  <a:rPr lang="en-US" dirty="0"/>
                  <a:t> do </a:t>
                </a:r>
                <a:r>
                  <a:rPr lang="en-US" dirty="0" err="1"/>
                  <a:t>kvantne</a:t>
                </a:r>
                <a:r>
                  <a:rPr lang="en-US" dirty="0"/>
                  <a:t> </a:t>
                </a:r>
                <a:r>
                  <a:rPr lang="en-US" dirty="0" err="1"/>
                  <a:t>interferrencije</a:t>
                </a:r>
                <a:r>
                  <a:rPr lang="en-US" dirty="0"/>
                  <a:t> </a:t>
                </a:r>
                <a:r>
                  <a:rPr lang="en-US" dirty="0" err="1"/>
                  <a:t>ćlanova</a:t>
                </a:r>
                <a:r>
                  <a:rPr lang="en-US" dirty="0"/>
                  <a:t> −1 </a:t>
                </a:r>
                <a:r>
                  <a:rPr lang="en-US" dirty="0" err="1"/>
                  <a:t>i</a:t>
                </a:r>
                <a:r>
                  <a:rPr lang="en-US" dirty="0"/>
                  <a:t> +1 </a:t>
                </a:r>
                <a:r>
                  <a:rPr lang="en-US" dirty="0" err="1"/>
                  <a:t>i</a:t>
                </a:r>
                <a:r>
                  <a:rPr lang="en-US" dirty="0"/>
                  <a:t> </a:t>
                </a:r>
                <a:r>
                  <a:rPr lang="en-US" dirty="0" err="1"/>
                  <a:t>izraz</a:t>
                </a:r>
                <a:r>
                  <a:rPr lang="en-US" dirty="0"/>
                  <a:t> u </a:t>
                </a:r>
                <a:r>
                  <a:rPr lang="en-US" dirty="0" err="1"/>
                  <a:t>unutrašnoj</a:t>
                </a:r>
                <a:r>
                  <a:rPr lang="en-US" dirty="0"/>
                  <a:t> </a:t>
                </a:r>
                <a:r>
                  <a:rPr lang="en-US" dirty="0" err="1"/>
                  <a:t>sumi</a:t>
                </a:r>
                <a:r>
                  <a:rPr lang="en-US" dirty="0"/>
                  <a:t> </a:t>
                </a:r>
                <a:r>
                  <a:rPr lang="en-US" dirty="0" err="1"/>
                  <a:t>postaje</a:t>
                </a:r>
                <a:r>
                  <a:rPr lang="en-US" dirty="0"/>
                  <a:t> 0. </a:t>
                </a:r>
                <a:r>
                  <a:rPr lang="en-US" dirty="0" err="1"/>
                  <a:t>Drugim</a:t>
                </a:r>
                <a:r>
                  <a:rPr lang="en-US" dirty="0"/>
                  <a:t> </a:t>
                </a:r>
                <a:r>
                  <a:rPr lang="en-US" dirty="0" err="1"/>
                  <a:t>rečima</a:t>
                </a:r>
                <a:r>
                  <a:rPr lang="en-US" dirty="0"/>
                  <a:t>, </a:t>
                </a:r>
                <a:r>
                  <a:rPr lang="en-US" dirty="0" err="1"/>
                  <a:t>verovatnoća</a:t>
                </a:r>
                <a:r>
                  <a:rPr lang="en-US" dirty="0"/>
                  <a:t> da se </a:t>
                </a:r>
                <a:r>
                  <a:rPr lang="en-US" dirty="0" err="1"/>
                  <a:t>izmeri</a:t>
                </a:r>
                <a:r>
                  <a:rPr lang="en-US" dirty="0"/>
                  <a:t> </a:t>
                </a:r>
                <a:r>
                  <a:rPr lang="en-US" dirty="0" err="1"/>
                  <a:t>bilo</a:t>
                </a:r>
                <a:r>
                  <a:rPr lang="en-US" dirty="0"/>
                  <a:t> </a:t>
                </a:r>
                <a:r>
                  <a:rPr lang="en-US" dirty="0" err="1"/>
                  <a:t>koja</a:t>
                </a:r>
                <a:r>
                  <a:rPr lang="en-US" dirty="0"/>
                  <a:t> </a:t>
                </a:r>
                <a:r>
                  <a:rPr lang="en-US" dirty="0" err="1"/>
                  <a:t>druga</a:t>
                </a:r>
                <a:r>
                  <a:rPr lang="en-US" dirty="0"/>
                  <a:t> </a:t>
                </a:r>
                <a:r>
                  <a:rPr lang="en-US" dirty="0" err="1"/>
                  <a:t>vrednost</a:t>
                </a:r>
                <a:r>
                  <a:rPr lang="en-US" dirty="0"/>
                  <a:t> </a:t>
                </a:r>
                <a:r>
                  <a:rPr lang="en-US" dirty="0" err="1"/>
                  <a:t>osim</a:t>
                </a:r>
                <a:r>
                  <a:rPr lang="en-US" dirty="0"/>
                  <a:t> </a:t>
                </a:r>
                <a:r>
                  <a:rPr lang="sr-Latn-RS" sz="1200" b="0" i="0">
                    <a:latin typeface="Cambria Math" panose="02040503050406030204" pitchFamily="18" charset="0"/>
                  </a:rPr>
                  <a:t>𝑠</a:t>
                </a:r>
                <a:r>
                  <a:rPr lang="en-US" dirty="0"/>
                  <a:t> </a:t>
                </a:r>
                <a:r>
                  <a:rPr lang="en-US" dirty="0" err="1"/>
                  <a:t>je</a:t>
                </a:r>
                <a:r>
                  <a:rPr lang="en-US" dirty="0"/>
                  <a:t> 0.</a:t>
                </a:r>
              </a:p>
              <a:p>
                <a:pPr marL="171450" indent="-171450">
                  <a:buFont typeface="Arial" panose="020B0604020202020204" pitchFamily="34" charset="0"/>
                  <a:buChar cha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1169307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figure shows a practical implementation of the Bernstein–</a:t>
                </a:r>
                <a:r>
                  <a:rPr lang="en-ZA" b="0" dirty="0" err="1"/>
                  <a:t>Vazirani</a:t>
                </a:r>
                <a:r>
                  <a:rPr lang="en-ZA" b="0" dirty="0"/>
                  <a:t> algorithm for identifying the hidden bit string 110. This string is encoded in the oracle using two CNOT gates, with control qubits corresponding to the positions of the 1s in the hidden string s.</a:t>
                </a:r>
              </a:p>
              <a:p>
                <a:pPr algn="just"/>
                <a:endParaRPr lang="en-ZA" b="0" dirty="0"/>
              </a:p>
              <a:p>
                <a:pPr algn="just"/>
                <a:r>
                  <a:rPr lang="en-ZA" b="0" dirty="0"/>
                  <a:t>On the right-hand side, the measurement probability diagram shows that the Bernstein–</a:t>
                </a:r>
                <a:r>
                  <a:rPr lang="en-ZA" b="0" dirty="0" err="1"/>
                  <a:t>Vazirani</a:t>
                </a:r>
                <a:r>
                  <a:rPr lang="en-ZA" b="0" dirty="0"/>
                  <a:t> algorithm has correctly recovered the hidden string. Note that the histogram displays 011 instead of 110 because of the little-endian convention used to display the measurement results.</a:t>
                </a:r>
              </a:p>
            </p:txBody>
          </p:sp>
        </mc:Choice>
        <mc:Fallback xmlns="">
          <p:sp>
            <p:nvSpPr>
              <p:cNvPr id="3" name="Notes Placeholder 2"/>
              <p:cNvSpPr>
                <a:spLocks noGrp="1"/>
              </p:cNvSpPr>
              <p:nvPr>
                <p:ph type="body" idx="1"/>
              </p:nvPr>
            </p:nvSpPr>
            <p:spPr/>
            <p:txBody>
              <a:bodyPr/>
              <a:lstStyle/>
              <a:p>
                <a:pPr algn="just"/>
                <a:r>
                  <a:rPr lang="en-ZA" dirty="0"/>
                  <a:t>The image shows a practical implementation of an algorithm that identifies the bit string 011 or 110, depending on the big-endian convention. This string is encoded in the oracle using two CNOT gates with control qubits corresponding to the positions of 1 bits in the string s.</a:t>
                </a:r>
              </a:p>
              <a:p>
                <a:pPr algn="just"/>
                <a:endParaRPr lang="en-ZA" dirty="0"/>
              </a:p>
              <a:p>
                <a:pPr algn="just"/>
                <a:r>
                  <a:rPr lang="en-ZA" dirty="0"/>
                  <a:t>On the right-hand side, a measurement probability diagram illustrates the accuracy of the result.</a:t>
                </a:r>
              </a:p>
              <a:p>
                <a:pPr algn="just"/>
                <a:r>
                  <a:rPr lang="en-ZA" dirty="0"/>
                  <a:t>In general, if a function of the form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𝑓</a:t>
                </a:r>
                <a:r>
                  <a:rPr lang="en-ZA" sz="1200"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𝑥)=𝑥∙𝑠 (𝑚𝑜𝑑 2)</a:t>
                </a:r>
                <a:r>
                  <a:rPr lang="en-ZA" dirty="0"/>
                  <a:t> is given, where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𝑥</a:t>
                </a:r>
                <a:r>
                  <a:rPr lang="en-ZA" dirty="0"/>
                  <a:t> is a binary input and </a:t>
                </a:r>
                <a:r>
                  <a:rPr lang="en-US" sz="1200" b="0" i="0">
                    <a:latin typeface="Cambria Math" panose="02040503050406030204" pitchFamily="18" charset="0"/>
                    <a:ea typeface="Times New Roman" panose="02020603050405020304" pitchFamily="18" charset="0"/>
                    <a:cs typeface="Times New Roman" panose="02020603050405020304" pitchFamily="18" charset="0"/>
                  </a:rPr>
                  <a:t>𝑠</a:t>
                </a:r>
                <a:r>
                  <a:rPr lang="en-ZA" dirty="0"/>
                  <a:t> is a hidden binary string, the Bernstein–</a:t>
                </a:r>
                <a:r>
                  <a:rPr lang="en-ZA" dirty="0" err="1"/>
                  <a:t>Vazirani</a:t>
                </a:r>
                <a:r>
                  <a:rPr lang="en-ZA" dirty="0"/>
                  <a:t> algorithm finds the string </a:t>
                </a:r>
                <a:r>
                  <a:rPr lang="en-US" sz="1200" b="0" i="0">
                    <a:latin typeface="Cambria Math" panose="02040503050406030204" pitchFamily="18" charset="0"/>
                    <a:ea typeface="Times New Roman" panose="02020603050405020304" pitchFamily="18" charset="0"/>
                    <a:cs typeface="Times New Roman" panose="02020603050405020304" pitchFamily="18" charset="0"/>
                  </a:rPr>
                  <a:t>𝑠</a:t>
                </a:r>
                <a:r>
                  <a:rPr lang="en-ZA" dirty="0"/>
                  <a:t> in a single query.</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9238071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1993, Daniel Simon introduced another algorithm that demonstrated a significant advantage of quantum computation over classical computation. Like the previously discussed algorithms, Simon’s algorithm also deals with functions that map binary strings.</a:t>
            </a:r>
          </a:p>
          <a:p>
            <a:pPr algn="just"/>
            <a:endParaRPr lang="en-ZA" b="0" dirty="0"/>
          </a:p>
          <a:p>
            <a:pPr algn="just"/>
            <a:r>
              <a:rPr lang="en-ZA" b="0" dirty="0"/>
              <a:t>As often happens in science, Simon’s 1993 paper was initially rejected by a leading conference in the field. A year later, after resubmission and with the encouragement of a colleague, it was accepted at another conference. Today, Simon’s algorithm is recognized as a milestone in quantum computing because it demonstrated an exponential advantage over classical approaches for a specific problem and provided an important conceptual foundation for Shor’s algorithm.</a:t>
            </a:r>
          </a:p>
        </p:txBody>
      </p:sp>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35273902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problem solved by Simon’s algorithm can be informally described as follows.</a:t>
                </a:r>
              </a:p>
              <a:p>
                <a:pPr algn="just"/>
                <a:endParaRPr lang="en-ZA" b="0" dirty="0"/>
              </a:p>
              <a:p>
                <a:pPr algn="just"/>
                <a:r>
                  <a:rPr lang="en-ZA" b="0" dirty="0"/>
                  <a:t>Imagine a black-box machine (an oracle) that takes binary strings as inputs and produces binary strings as outputs. As different inputs are tested, an interesting pattern appears: pairs of different inputs produce the same output. The challenge is to discover the hidden relationship between these pairs.</a:t>
                </a:r>
              </a:p>
              <a:p>
                <a:pPr algn="just"/>
                <a:endParaRPr lang="en-ZA" b="0" dirty="0"/>
              </a:p>
              <a:p>
                <a:pPr algn="just"/>
                <a:r>
                  <a:rPr lang="en-ZA" b="0" dirty="0"/>
                  <a:t>The oracle computes a function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ZA" dirty="0"/>
                  <a:t> </a:t>
                </a:r>
                <a:r>
                  <a:rPr lang="en-ZA" b="0" dirty="0"/>
                  <a:t> that satisfies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 ⨁ </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𝑠</m:t>
                    </m:r>
                    <m:r>
                      <a:rPr lang="sr-Latn-RS" sz="1200" b="0" i="1">
                        <a:latin typeface="Cambria Math" panose="02040503050406030204" pitchFamily="18" charset="0"/>
                        <a:ea typeface="Times New Roman" panose="02020603050405020304" pitchFamily="18" charset="0"/>
                        <a:cs typeface="Times New Roman" panose="02020603050405020304" pitchFamily="18" charset="0"/>
                      </a:rPr>
                      <m:t>)</m:t>
                    </m:r>
                  </m:oMath>
                </a14:m>
                <a:r>
                  <a:rPr lang="en-ZA" b="0" dirty="0"/>
                  <a:t>, where s is an unknown binary string. This means that two inputs separated by the hidden XOR pattern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𝑠</m:t>
                    </m:r>
                  </m:oMath>
                </a14:m>
                <a:r>
                  <a:rPr lang="en-ZA" b="0" dirty="0"/>
                  <a:t> produce the same output. The goal of Simon’s algorithm is to determine this hidden string s.</a:t>
                </a:r>
              </a:p>
              <a:p>
                <a:pPr algn="just"/>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Problem </a:t>
                </a:r>
                <a:r>
                  <a:rPr lang="en-US" dirty="0" err="1">
                    <a:latin typeface="+mn-lt"/>
                  </a:rPr>
                  <a:t>koji</a:t>
                </a:r>
                <a:r>
                  <a:rPr lang="en-US" dirty="0">
                    <a:latin typeface="+mn-lt"/>
                  </a:rPr>
                  <a:t> se </a:t>
                </a:r>
                <a:r>
                  <a:rPr lang="en-US" dirty="0" err="1">
                    <a:latin typeface="+mn-lt"/>
                  </a:rPr>
                  <a:t>rešava</a:t>
                </a:r>
                <a:r>
                  <a:rPr lang="en-US" dirty="0">
                    <a:latin typeface="+mn-lt"/>
                  </a:rPr>
                  <a:t> </a:t>
                </a:r>
                <a:r>
                  <a:rPr lang="en-US" dirty="0"/>
                  <a:t>Simonov </a:t>
                </a:r>
                <a:r>
                  <a:rPr lang="en-US" dirty="0" err="1">
                    <a:latin typeface="+mn-lt"/>
                  </a:rPr>
                  <a:t>algoritmom</a:t>
                </a:r>
                <a:r>
                  <a:rPr lang="en-US" dirty="0">
                    <a:latin typeface="+mn-lt"/>
                  </a:rPr>
                  <a:t> se </a:t>
                </a:r>
                <a:r>
                  <a:rPr lang="en-US" dirty="0" err="1">
                    <a:latin typeface="+mn-lt"/>
                  </a:rPr>
                  <a:t>neformalno</a:t>
                </a:r>
                <a:r>
                  <a:rPr lang="en-US" dirty="0">
                    <a:latin typeface="+mn-lt"/>
                  </a:rPr>
                  <a:t> </a:t>
                </a:r>
                <a:r>
                  <a:rPr lang="en-US" dirty="0" err="1">
                    <a:latin typeface="+mn-lt"/>
                  </a:rPr>
                  <a:t>može</a:t>
                </a:r>
                <a:r>
                  <a:rPr lang="en-US" dirty="0">
                    <a:latin typeface="+mn-lt"/>
                  </a:rPr>
                  <a:t> </a:t>
                </a:r>
                <a:r>
                  <a:rPr lang="en-US" dirty="0" err="1">
                    <a:latin typeface="+mn-lt"/>
                  </a:rPr>
                  <a:t>predstaviti</a:t>
                </a:r>
                <a:r>
                  <a:rPr lang="en-US" dirty="0">
                    <a:latin typeface="+mn-lt"/>
                  </a:rPr>
                  <a:t> </a:t>
                </a:r>
                <a:r>
                  <a:rPr lang="en-US" dirty="0" err="1">
                    <a:latin typeface="+mn-lt"/>
                  </a:rPr>
                  <a:t>na</a:t>
                </a:r>
                <a:r>
                  <a:rPr lang="en-US" dirty="0">
                    <a:latin typeface="+mn-lt"/>
                  </a:rPr>
                  <a:t> </a:t>
                </a:r>
                <a:r>
                  <a:rPr lang="en-US" dirty="0" err="1">
                    <a:latin typeface="+mn-lt"/>
                  </a:rPr>
                  <a:t>sledeći</a:t>
                </a:r>
                <a:r>
                  <a:rPr lang="en-US" dirty="0">
                    <a:latin typeface="+mn-lt"/>
                  </a:rPr>
                  <a:t> </a:t>
                </a:r>
                <a:r>
                  <a:rPr lang="en-US" dirty="0" err="1">
                    <a:latin typeface="+mn-lt"/>
                  </a:rPr>
                  <a:t>način</a:t>
                </a:r>
                <a:r>
                  <a:rPr lang="en-US" dirty="0">
                    <a:latin typeface="+mn-lt"/>
                  </a:rPr>
                  <a:t>.</a:t>
                </a:r>
              </a:p>
              <a:p>
                <a:endParaRPr lang="en-US" dirty="0"/>
              </a:p>
              <a:p>
                <a:r>
                  <a:rPr lang="en-US" dirty="0" err="1">
                    <a:latin typeface="+mn-lt"/>
                  </a:rPr>
                  <a:t>Neka</a:t>
                </a:r>
                <a:r>
                  <a:rPr lang="en-US" dirty="0">
                    <a:latin typeface="+mn-lt"/>
                  </a:rPr>
                  <a:t> </a:t>
                </a:r>
                <a:r>
                  <a:rPr lang="en-US" dirty="0" err="1">
                    <a:latin typeface="+mn-lt"/>
                  </a:rPr>
                  <a:t>je</a:t>
                </a:r>
                <a:r>
                  <a:rPr lang="en-US" dirty="0">
                    <a:latin typeface="+mn-lt"/>
                  </a:rPr>
                  <a:t> </a:t>
                </a:r>
                <a:r>
                  <a:rPr lang="en-US" dirty="0" err="1">
                    <a:latin typeface="+mn-lt"/>
                  </a:rPr>
                  <a:t>dat</a:t>
                </a:r>
                <a:r>
                  <a:rPr lang="en-US" dirty="0">
                    <a:latin typeface="+mn-lt"/>
                  </a:rPr>
                  <a:t> </a:t>
                </a:r>
                <a:r>
                  <a:rPr lang="en-US" dirty="0" err="1">
                    <a:latin typeface="+mn-lt"/>
                  </a:rPr>
                  <a:t>orakl</a:t>
                </a:r>
                <a:r>
                  <a:rPr lang="en-US" dirty="0">
                    <a:latin typeface="+mn-lt"/>
                  </a:rPr>
                  <a:t> </a:t>
                </a:r>
                <a:r>
                  <a:rPr lang="en-US" dirty="0" err="1">
                    <a:latin typeface="+mn-lt"/>
                  </a:rPr>
                  <a:t>kao</a:t>
                </a:r>
                <a:r>
                  <a:rPr lang="en-US" dirty="0">
                    <a:latin typeface="+mn-lt"/>
                  </a:rPr>
                  <a:t> </a:t>
                </a:r>
                <a:r>
                  <a:rPr lang="en-US" dirty="0" err="1">
                    <a:latin typeface="+mn-lt"/>
                  </a:rPr>
                  <a:t>funkcija</a:t>
                </a:r>
                <a:r>
                  <a:rPr lang="en-US" dirty="0">
                    <a:latin typeface="+mn-lt"/>
                  </a:rPr>
                  <a:t> </a:t>
                </a:r>
                <a:r>
                  <a:rPr lang="sr-Latn-RS" sz="1200" i="0">
                    <a:latin typeface="+mn-lt"/>
                    <a:ea typeface="Times New Roman" panose="02020603050405020304" pitchFamily="18" charset="0"/>
                    <a:cs typeface="Times New Roman" panose="02020603050405020304" pitchFamily="18" charset="0"/>
                  </a:rPr>
                  <a:t>𝑓</a:t>
                </a:r>
                <a:r>
                  <a:rPr lang="en-ZA" sz="1200" i="0">
                    <a:latin typeface="+mn-lt"/>
                    <a:cs typeface="Times New Roman" panose="02020603050405020304" pitchFamily="18" charset="0"/>
                  </a:rPr>
                  <a:t>(</a:t>
                </a:r>
                <a:r>
                  <a:rPr lang="sr-Latn-RS" sz="1200" i="0">
                    <a:latin typeface="+mn-lt"/>
                    <a:ea typeface="Times New Roman" panose="02020603050405020304" pitchFamily="18" charset="0"/>
                    <a:cs typeface="Times New Roman" panose="02020603050405020304" pitchFamily="18" charset="0"/>
                  </a:rPr>
                  <a:t>𝑥)</a:t>
                </a:r>
                <a:r>
                  <a:rPr lang="en-US" dirty="0">
                    <a:latin typeface="+mn-lt"/>
                  </a:rPr>
                  <a:t>, </a:t>
                </a:r>
                <a:r>
                  <a:rPr lang="en-US" dirty="0" err="1">
                    <a:latin typeface="+mn-lt"/>
                  </a:rPr>
                  <a:t>takva</a:t>
                </a:r>
                <a:r>
                  <a:rPr lang="en-US" dirty="0">
                    <a:latin typeface="+mn-lt"/>
                  </a:rPr>
                  <a:t> da </a:t>
                </a:r>
                <a:r>
                  <a:rPr lang="en-US" dirty="0" err="1">
                    <a:latin typeface="+mn-lt"/>
                  </a:rPr>
                  <a:t>je</a:t>
                </a:r>
                <a:r>
                  <a:rPr lang="en-US" dirty="0">
                    <a:latin typeface="+mn-lt"/>
                  </a:rPr>
                  <a:t> </a:t>
                </a:r>
                <a:r>
                  <a:rPr lang="sr-Latn-RS" sz="1200" b="0" i="0">
                    <a:latin typeface="+mn-lt"/>
                    <a:ea typeface="Times New Roman" panose="02020603050405020304" pitchFamily="18" charset="0"/>
                    <a:cs typeface="Times New Roman" panose="02020603050405020304" pitchFamily="18" charset="0"/>
                  </a:rPr>
                  <a:t>𝑓(𝑥)=𝑓(𝑥 ⨁ 𝑠)</a:t>
                </a:r>
                <a:r>
                  <a:rPr lang="en-US" dirty="0"/>
                  <a:t>, </a:t>
                </a:r>
                <a:r>
                  <a:rPr lang="en-US" dirty="0" err="1"/>
                  <a:t>gde</a:t>
                </a:r>
                <a:r>
                  <a:rPr lang="en-US" dirty="0"/>
                  <a:t> </a:t>
                </a:r>
                <a:r>
                  <a:rPr lang="en-US" dirty="0" err="1"/>
                  <a:t>je</a:t>
                </a:r>
                <a:r>
                  <a:rPr lang="en-US" dirty="0"/>
                  <a:t> </a:t>
                </a:r>
                <a:r>
                  <a:rPr lang="sr-Latn-RS" sz="1200" b="0" i="0">
                    <a:latin typeface="Cambria Math" panose="02040503050406030204" pitchFamily="18" charset="0"/>
                    <a:ea typeface="Times New Roman" panose="02020603050405020304" pitchFamily="18" charset="0"/>
                    <a:cs typeface="Times New Roman" panose="02020603050405020304" pitchFamily="18" charset="0"/>
                  </a:rPr>
                  <a:t>𝑥</a:t>
                </a:r>
                <a:r>
                  <a:rPr lang="en-US" dirty="0"/>
                  <a:t> </a:t>
                </a:r>
                <a:r>
                  <a:rPr lang="en-US" dirty="0" err="1"/>
                  <a:t>niz</a:t>
                </a:r>
                <a:r>
                  <a:rPr lang="en-US" dirty="0"/>
                  <a:t> </a:t>
                </a:r>
                <a:r>
                  <a:rPr lang="en-US" dirty="0" err="1"/>
                  <a:t>ulaznih</a:t>
                </a:r>
                <a:r>
                  <a:rPr lang="en-US" dirty="0"/>
                  <a:t> </a:t>
                </a:r>
                <a:r>
                  <a:rPr lang="en-US" dirty="0" err="1"/>
                  <a:t>bitova</a:t>
                </a:r>
                <a:r>
                  <a:rPr lang="en-US" dirty="0"/>
                  <a:t>, a </a:t>
                </a:r>
                <a:r>
                  <a:rPr lang="sr-Latn-RS" sz="1200" b="0" i="0">
                    <a:latin typeface="Cambria Math" panose="02040503050406030204" pitchFamily="18" charset="0"/>
                    <a:ea typeface="Times New Roman" panose="02020603050405020304" pitchFamily="18" charset="0"/>
                    <a:cs typeface="Times New Roman" panose="02020603050405020304" pitchFamily="18" charset="0"/>
                  </a:rPr>
                  <a:t>𝑠</a:t>
                </a:r>
                <a:r>
                  <a:rPr lang="en-US" dirty="0"/>
                  <a:t>  </a:t>
                </a:r>
                <a:r>
                  <a:rPr lang="en-US" dirty="0" err="1"/>
                  <a:t>binarni</a:t>
                </a:r>
                <a:r>
                  <a:rPr lang="en-US" dirty="0"/>
                  <a:t> </a:t>
                </a:r>
                <a:r>
                  <a:rPr lang="en-US" dirty="0" err="1"/>
                  <a:t>niż</a:t>
                </a:r>
                <a:r>
                  <a:rPr lang="en-US" dirty="0"/>
                  <a:t> </a:t>
                </a:r>
                <a:r>
                  <a:rPr lang="en-US" dirty="0" err="1"/>
                  <a:t>poznat</a:t>
                </a:r>
                <a:r>
                  <a:rPr lang="en-US" dirty="0"/>
                  <a:t> </a:t>
                </a:r>
                <a:r>
                  <a:rPr lang="en-US" dirty="0" err="1"/>
                  <a:t>samo</a:t>
                </a:r>
                <a:r>
                  <a:rPr lang="en-US" dirty="0"/>
                  <a:t> </a:t>
                </a:r>
                <a:r>
                  <a:rPr lang="en-US" dirty="0" err="1"/>
                  <a:t>funkciji</a:t>
                </a:r>
                <a:r>
                  <a:rPr lang="en-US" dirty="0"/>
                  <a:t> </a:t>
                </a:r>
                <a:r>
                  <a:rPr lang="sr-Latn-RS" sz="1200" b="0" i="0">
                    <a:latin typeface="Cambria Math" panose="02040503050406030204" pitchFamily="18" charset="0"/>
                    <a:ea typeface="Times New Roman" panose="02020603050405020304" pitchFamily="18" charset="0"/>
                    <a:cs typeface="Times New Roman" panose="02020603050405020304" pitchFamily="18" charset="0"/>
                  </a:rPr>
                  <a:t>𝑓</a:t>
                </a:r>
                <a:r>
                  <a:rPr lang="en-US" dirty="0"/>
                  <a:t>. </a:t>
                </a:r>
                <a:r>
                  <a:rPr lang="en-US" dirty="0" err="1"/>
                  <a:t>Zadatak</a:t>
                </a:r>
                <a:r>
                  <a:rPr lang="en-US" dirty="0"/>
                  <a:t> </a:t>
                </a:r>
                <a:r>
                  <a:rPr lang="en-US" dirty="0" err="1"/>
                  <a:t>algoritma</a:t>
                </a:r>
                <a:r>
                  <a:rPr lang="en-US" dirty="0"/>
                  <a:t> </a:t>
                </a:r>
                <a:r>
                  <a:rPr lang="en-US" dirty="0" err="1"/>
                  <a:t>je</a:t>
                </a:r>
                <a:r>
                  <a:rPr lang="en-US" dirty="0"/>
                  <a:t> da se </a:t>
                </a:r>
                <a:r>
                  <a:rPr lang="en-US" dirty="0" err="1"/>
                  <a:t>pronađe</a:t>
                </a:r>
                <a:r>
                  <a:rPr lang="en-US" dirty="0"/>
                  <a:t> </a:t>
                </a:r>
                <a:r>
                  <a:rPr lang="en-US" dirty="0" err="1"/>
                  <a:t>broj</a:t>
                </a:r>
                <a:r>
                  <a:rPr lang="en-US" dirty="0"/>
                  <a:t> </a:t>
                </a:r>
                <a:r>
                  <a:rPr lang="sr-Latn-RS" sz="1200" b="0" i="0">
                    <a:latin typeface="Cambria Math" panose="02040503050406030204" pitchFamily="18" charset="0"/>
                    <a:ea typeface="Times New Roman" panose="02020603050405020304" pitchFamily="18" charset="0"/>
                    <a:cs typeface="Times New Roman" panose="02020603050405020304" pitchFamily="18" charset="0"/>
                  </a:rPr>
                  <a:t>𝑠</a:t>
                </a:r>
                <a:r>
                  <a:rPr lang="en-US" dirty="0"/>
                  <a:t>. </a:t>
                </a:r>
                <a:r>
                  <a:rPr lang="en-US" dirty="0" err="1"/>
                  <a:t>Iz</a:t>
                </a:r>
                <a:r>
                  <a:rPr lang="en-US" dirty="0"/>
                  <a:t> </a:t>
                </a:r>
                <a:r>
                  <a:rPr lang="en-US" dirty="0" err="1"/>
                  <a:t>definicije</a:t>
                </a:r>
                <a:r>
                  <a:rPr lang="en-US" dirty="0"/>
                  <a:t> se </a:t>
                </a:r>
                <a:r>
                  <a:rPr lang="en-US" dirty="0" err="1"/>
                  <a:t>takođe</a:t>
                </a:r>
                <a:r>
                  <a:rPr lang="en-US" baseline="0" dirty="0"/>
                  <a:t> </a:t>
                </a:r>
                <a:r>
                  <a:rPr lang="en-US" dirty="0" err="1"/>
                  <a:t>vidi</a:t>
                </a:r>
                <a:r>
                  <a:rPr lang="en-US" dirty="0"/>
                  <a:t> da </a:t>
                </a:r>
                <a:r>
                  <a:rPr lang="en-US" dirty="0" err="1"/>
                  <a:t>je</a:t>
                </a:r>
                <a:r>
                  <a:rPr lang="en-US" dirty="0"/>
                  <a:t> </a:t>
                </a:r>
                <a:r>
                  <a:rPr lang="en-US" dirty="0" err="1"/>
                  <a:t>funkcija</a:t>
                </a:r>
                <a:r>
                  <a:rPr lang="en-US" dirty="0"/>
                  <a:t> </a:t>
                </a:r>
                <a:r>
                  <a:rPr lang="en-US" dirty="0" err="1"/>
                  <a:t>periodična</a:t>
                </a:r>
                <a:r>
                  <a:rPr lang="en-US" dirty="0"/>
                  <a:t>, </a:t>
                </a:r>
                <a:r>
                  <a:rPr lang="en-US" dirty="0" err="1"/>
                  <a:t>tako</a:t>
                </a:r>
                <a:r>
                  <a:rPr lang="en-US" dirty="0"/>
                  <a:t> da </a:t>
                </a:r>
                <a:r>
                  <a:rPr lang="en-US" dirty="0" err="1"/>
                  <a:t>je</a:t>
                </a:r>
                <a:r>
                  <a:rPr lang="en-US" dirty="0"/>
                  <a:t> </a:t>
                </a:r>
                <a:r>
                  <a:rPr lang="en-US" dirty="0" err="1"/>
                  <a:t>zadatak</a:t>
                </a:r>
                <a:r>
                  <a:rPr lang="en-US" dirty="0"/>
                  <a:t> </a:t>
                </a:r>
                <a:r>
                  <a:rPr lang="en-US" dirty="0" err="1"/>
                  <a:t>algoritma</a:t>
                </a:r>
                <a:r>
                  <a:rPr lang="en-US" dirty="0"/>
                  <a:t> da </a:t>
                </a:r>
                <a:r>
                  <a:rPr lang="en-US" dirty="0" err="1"/>
                  <a:t>nađe</a:t>
                </a:r>
                <a:r>
                  <a:rPr lang="en-US" dirty="0"/>
                  <a:t> period </a:t>
                </a:r>
                <a:r>
                  <a:rPr lang="en-US" dirty="0" err="1"/>
                  <a:t>te</a:t>
                </a:r>
                <a:r>
                  <a:rPr lang="en-US" dirty="0"/>
                  <a:t> </a:t>
                </a:r>
                <a:r>
                  <a:rPr lang="en-US" dirty="0" err="1"/>
                  <a:t>funkcije</a:t>
                </a:r>
                <a:r>
                  <a:rPr lang="en-US" dirty="0"/>
                  <a:t>.</a:t>
                </a:r>
              </a:p>
              <a:p>
                <a:endParaRPr lang="en-US" dirty="0"/>
              </a:p>
              <a:p>
                <a:r>
                  <a:rPr lang="en-US" dirty="0" err="1"/>
                  <a:t>Ako</a:t>
                </a:r>
                <a:r>
                  <a:rPr lang="en-US" dirty="0"/>
                  <a:t> se </a:t>
                </a:r>
                <a:r>
                  <a:rPr lang="en-US" dirty="0" err="1"/>
                  <a:t>na</a:t>
                </a:r>
                <a:r>
                  <a:rPr lang="en-US" dirty="0"/>
                  <a:t> </a:t>
                </a:r>
                <a:r>
                  <a:rPr lang="en-US" dirty="0" err="1"/>
                  <a:t>ulaz</a:t>
                </a:r>
                <a:r>
                  <a:rPr lang="en-US" dirty="0"/>
                  <a:t> </a:t>
                </a:r>
                <a:r>
                  <a:rPr lang="en-US" dirty="0" err="1"/>
                  <a:t>funkcije</a:t>
                </a:r>
                <a:r>
                  <a:rPr lang="en-US" dirty="0"/>
                  <a:t>, </a:t>
                </a:r>
                <a:r>
                  <a:rPr lang="en-US" dirty="0" err="1"/>
                  <a:t>na</a:t>
                </a:r>
                <a:r>
                  <a:rPr lang="en-US" dirty="0"/>
                  <a:t> primer, </a:t>
                </a:r>
                <a:r>
                  <a:rPr lang="en-US" dirty="0" err="1"/>
                  <a:t>dovedu</a:t>
                </a:r>
                <a:r>
                  <a:rPr lang="en-US" dirty="0"/>
                  <a:t> </a:t>
                </a:r>
                <a:r>
                  <a:rPr lang="en-US" dirty="0" err="1"/>
                  <a:t>brojevi</a:t>
                </a:r>
                <a:r>
                  <a:rPr lang="en-US" dirty="0"/>
                  <a:t> od 0 do 7, </a:t>
                </a:r>
                <a:r>
                  <a:rPr lang="en-US" dirty="0" err="1"/>
                  <a:t>na</a:t>
                </a:r>
                <a:r>
                  <a:rPr lang="en-US" dirty="0"/>
                  <a:t> </a:t>
                </a:r>
                <a:r>
                  <a:rPr lang="en-US" dirty="0" err="1"/>
                  <a:t>izlazu</a:t>
                </a:r>
                <a:r>
                  <a:rPr lang="en-US" dirty="0"/>
                  <a:t> </a:t>
                </a:r>
                <a:r>
                  <a:rPr lang="en-US" dirty="0" err="1"/>
                  <a:t>će</a:t>
                </a:r>
                <a:r>
                  <a:rPr lang="en-US" dirty="0"/>
                  <a:t> se </a:t>
                </a:r>
                <a:r>
                  <a:rPr lang="en-US" dirty="0" err="1"/>
                  <a:t>dobiti</a:t>
                </a:r>
                <a:r>
                  <a:rPr lang="en-US" dirty="0"/>
                  <a:t> </a:t>
                </a:r>
                <a:r>
                  <a:rPr lang="en-US" dirty="0" err="1"/>
                  <a:t>neka</a:t>
                </a:r>
                <a:r>
                  <a:rPr lang="en-US" dirty="0"/>
                  <a:t> </a:t>
                </a:r>
                <a:r>
                  <a:rPr lang="en-US" dirty="0" err="1"/>
                  <a:t>sekvenca</a:t>
                </a:r>
                <a:r>
                  <a:rPr lang="en-US" dirty="0"/>
                  <a:t> </a:t>
                </a:r>
                <a:r>
                  <a:rPr lang="en-US" dirty="0" err="1"/>
                  <a:t>brojeva</a:t>
                </a:r>
                <a:r>
                  <a:rPr lang="en-US" dirty="0"/>
                  <a:t>. Na </a:t>
                </a:r>
                <a:r>
                  <a:rPr lang="en-US" dirty="0" err="1"/>
                  <a:t>osnovu</a:t>
                </a:r>
                <a:r>
                  <a:rPr lang="en-US" dirty="0"/>
                  <a:t> </a:t>
                </a:r>
                <a:r>
                  <a:rPr lang="en-US" dirty="0" err="1"/>
                  <a:t>posmatranja</a:t>
                </a:r>
                <a:r>
                  <a:rPr lang="en-US" dirty="0"/>
                  <a:t> </a:t>
                </a:r>
                <a:r>
                  <a:rPr lang="en-US" dirty="0" err="1"/>
                  <a:t>parova</a:t>
                </a:r>
                <a:r>
                  <a:rPr lang="en-US" dirty="0"/>
                  <a:t> </a:t>
                </a:r>
                <a:r>
                  <a:rPr lang="en-US" dirty="0" err="1"/>
                  <a:t>ulaza</a:t>
                </a:r>
                <a:r>
                  <a:rPr lang="en-US" dirty="0"/>
                  <a:t> </a:t>
                </a:r>
                <a:r>
                  <a:rPr lang="en-US" dirty="0" err="1"/>
                  <a:t>i</a:t>
                </a:r>
                <a:r>
                  <a:rPr lang="en-US" dirty="0"/>
                  <a:t> </a:t>
                </a:r>
                <a:r>
                  <a:rPr lang="en-US" dirty="0" err="1"/>
                  <a:t>izlaza</a:t>
                </a:r>
                <a:r>
                  <a:rPr lang="en-US" dirty="0"/>
                  <a:t> </a:t>
                </a:r>
                <a:r>
                  <a:rPr lang="en-US" dirty="0" err="1"/>
                  <a:t>treba</a:t>
                </a:r>
                <a:r>
                  <a:rPr lang="en-US" dirty="0"/>
                  <a:t> u </a:t>
                </a:r>
                <a:r>
                  <a:rPr lang="en-US" dirty="0" err="1"/>
                  <a:t>što</a:t>
                </a:r>
                <a:r>
                  <a:rPr lang="en-US" dirty="0"/>
                  <a:t> </a:t>
                </a:r>
                <a:r>
                  <a:rPr lang="en-US" dirty="0" err="1"/>
                  <a:t>manje</a:t>
                </a:r>
                <a:r>
                  <a:rPr lang="en-US" dirty="0"/>
                  <a:t> </a:t>
                </a:r>
                <a:r>
                  <a:rPr lang="en-US" dirty="0" err="1"/>
                  <a:t>pokušaja</a:t>
                </a:r>
                <a:r>
                  <a:rPr lang="en-US" dirty="0"/>
                  <a:t> </a:t>
                </a:r>
                <a:r>
                  <a:rPr lang="en-US" dirty="0" err="1"/>
                  <a:t>pronaći</a:t>
                </a:r>
                <a:r>
                  <a:rPr lang="en-US" dirty="0"/>
                  <a:t> period </a:t>
                </a:r>
                <a:r>
                  <a:rPr lang="sr-Latn-RS" sz="1200" b="0" i="0">
                    <a:latin typeface="Cambria Math" panose="02040503050406030204" pitchFamily="18" charset="0"/>
                    <a:ea typeface="Times New Roman" panose="02020603050405020304" pitchFamily="18" charset="0"/>
                    <a:cs typeface="Times New Roman" panose="02020603050405020304" pitchFamily="18" charset="0"/>
                  </a:rPr>
                  <a:t>𝑠</a:t>
                </a:r>
                <a:r>
                  <a:rPr lang="en-US" dirty="0"/>
                  <a:t>. </a:t>
                </a:r>
                <a:r>
                  <a:rPr lang="en-US" dirty="0" err="1"/>
                  <a:t>Pošto</a:t>
                </a:r>
                <a:r>
                  <a:rPr lang="en-US" dirty="0"/>
                  <a:t> se </a:t>
                </a:r>
                <a:r>
                  <a:rPr lang="en-US" dirty="0" err="1"/>
                  <a:t>radi</a:t>
                </a:r>
                <a:r>
                  <a:rPr lang="en-US" dirty="0"/>
                  <a:t> o </a:t>
                </a:r>
                <a:r>
                  <a:rPr lang="en-US" dirty="0" err="1"/>
                  <a:t>binarnim</a:t>
                </a:r>
                <a:r>
                  <a:rPr lang="en-US" dirty="0"/>
                  <a:t> </a:t>
                </a:r>
                <a:r>
                  <a:rPr lang="en-US" dirty="0" err="1"/>
                  <a:t>nizovima</a:t>
                </a:r>
                <a:r>
                  <a:rPr lang="en-US" dirty="0"/>
                  <a:t>, </a:t>
                </a:r>
                <a:r>
                  <a:rPr lang="en-US" dirty="0" err="1"/>
                  <a:t>ovo</a:t>
                </a:r>
                <a:r>
                  <a:rPr lang="en-US" dirty="0"/>
                  <a:t> </a:t>
                </a:r>
                <a:r>
                  <a:rPr lang="en-US" dirty="0" err="1"/>
                  <a:t>je</a:t>
                </a:r>
                <a:r>
                  <a:rPr lang="en-US" dirty="0"/>
                  <a:t> </a:t>
                </a:r>
                <a:r>
                  <a:rPr lang="en-US" dirty="0" err="1"/>
                  <a:t>očigledno</a:t>
                </a:r>
                <a:r>
                  <a:rPr lang="en-US" dirty="0"/>
                  <a:t> </a:t>
                </a:r>
                <a:r>
                  <a:rPr lang="en-US" dirty="0" err="1"/>
                  <a:t>nemoguće</a:t>
                </a:r>
                <a:r>
                  <a:rPr lang="en-US" dirty="0"/>
                  <a:t> </a:t>
                </a:r>
                <a:r>
                  <a:rPr lang="en-US" dirty="0" err="1"/>
                  <a:t>utvrditi</a:t>
                </a:r>
                <a:r>
                  <a:rPr lang="en-US" dirty="0"/>
                  <a:t> </a:t>
                </a:r>
                <a:r>
                  <a:rPr lang="en-US" dirty="0" err="1"/>
                  <a:t>iz</a:t>
                </a:r>
                <a:r>
                  <a:rPr lang="en-US" dirty="0"/>
                  <a:t> </a:t>
                </a:r>
                <a:r>
                  <a:rPr lang="en-US" dirty="0" err="1"/>
                  <a:t>decimalne</a:t>
                </a:r>
                <a:r>
                  <a:rPr lang="en-US" dirty="0"/>
                  <a:t> </a:t>
                </a:r>
                <a:r>
                  <a:rPr lang="en-US" dirty="0" err="1"/>
                  <a:t>reprezentacije</a:t>
                </a:r>
                <a:r>
                  <a:rPr lang="en-US" dirty="0"/>
                  <a:t> </a:t>
                </a:r>
                <a:r>
                  <a:rPr lang="en-US" dirty="0" err="1"/>
                  <a:t>brojeva</a:t>
                </a:r>
                <a:r>
                  <a:rPr lang="en-US" dirty="0"/>
                  <a:t>.</a:t>
                </a:r>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4222306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Formally, Simon’s problem is defined as follows.</a:t>
                </a:r>
              </a:p>
              <a:p>
                <a:pPr algn="just"/>
                <a:endParaRPr lang="en-ZA" b="0" dirty="0"/>
              </a:p>
              <a:p>
                <a:pPr algn="l"/>
                <a:r>
                  <a:rPr lang="en-ZA" b="0" dirty="0"/>
                  <a:t>Given a function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1200" b="0" i="1">
                            <a:effectLst/>
                            <a:latin typeface="Cambria Math" panose="02040503050406030204" pitchFamily="18" charset="0"/>
                          </a:rPr>
                        </m:ctrlPr>
                      </m:sSupPr>
                      <m:e>
                        <m:d>
                          <m:dPr>
                            <m:begChr m:val="{"/>
                            <m:endChr m:val="}"/>
                            <m:ctrlPr>
                              <a:rPr lang="en-ZA" sz="1200" b="0" i="1">
                                <a:effectLst/>
                                <a:latin typeface="Cambria Math" panose="02040503050406030204" pitchFamily="18" charset="0"/>
                              </a:rPr>
                            </m:ctrlPr>
                          </m:dPr>
                          <m:e>
                            <m:r>
                              <a:rPr lang="sr-Latn-RS" sz="1200" b="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1200" b="0" i="1">
                            <a:latin typeface="Cambria Math" panose="02040503050406030204" pitchFamily="18" charset="0"/>
                            <a:ea typeface="Times New Roman" panose="02020603050405020304" pitchFamily="18" charset="0"/>
                            <a:cs typeface="Times New Roman" panose="02020603050405020304" pitchFamily="18" charset="0"/>
                          </a:rPr>
                          <m:t>𝑛</m:t>
                        </m:r>
                      </m:sup>
                    </m:sSup>
                    <m:r>
                      <a:rPr lang="sr-Latn-RS" sz="1200" b="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1200" b="0" i="1">
                            <a:effectLst/>
                            <a:latin typeface="Cambria Math" panose="02040503050406030204" pitchFamily="18" charset="0"/>
                          </a:rPr>
                        </m:ctrlPr>
                      </m:sSupPr>
                      <m:e>
                        <m:d>
                          <m:dPr>
                            <m:begChr m:val="{"/>
                            <m:endChr m:val="}"/>
                            <m:ctrlPr>
                              <a:rPr lang="en-ZA" sz="1200" b="0" i="1">
                                <a:effectLst/>
                                <a:latin typeface="Cambria Math" panose="02040503050406030204" pitchFamily="18" charset="0"/>
                              </a:rPr>
                            </m:ctrlPr>
                          </m:dPr>
                          <m:e>
                            <m:r>
                              <a:rPr lang="sr-Latn-RS" sz="1200" b="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1200" b="0" i="1">
                            <a:latin typeface="Cambria Math" panose="02040503050406030204" pitchFamily="18" charset="0"/>
                            <a:ea typeface="Times New Roman" panose="02020603050405020304" pitchFamily="18" charset="0"/>
                            <a:cs typeface="Times New Roman" panose="02020603050405020304" pitchFamily="18" charset="0"/>
                          </a:rPr>
                          <m:t>𝑛</m:t>
                        </m:r>
                      </m:sup>
                    </m:sSup>
                  </m:oMath>
                </a14:m>
                <a:r>
                  <a:rPr lang="en-ZA" b="0" dirty="0"/>
                  <a:t>, the task is to find a binary string </a:t>
                </a:r>
                <a14:m>
                  <m:oMath xmlns:m="http://schemas.openxmlformats.org/officeDocument/2006/math">
                    <m:r>
                      <a:rPr lang="sr-Latn-RS" sz="1200" i="1" smtClean="0">
                        <a:latin typeface="Cambria Math" panose="02040503050406030204" pitchFamily="18" charset="0"/>
                        <a:ea typeface="Times New Roman" panose="02020603050405020304" pitchFamily="18" charset="0"/>
                        <a:cs typeface="Times New Roman" panose="02020603050405020304" pitchFamily="18" charset="0"/>
                      </a:rPr>
                      <m:t>𝑠</m:t>
                    </m:r>
                    <m:r>
                      <a:rPr lang="sr-Latn-RS" sz="1200" i="1" smtClean="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1200" i="1">
                            <a:effectLst/>
                            <a:latin typeface="Cambria Math" panose="02040503050406030204" pitchFamily="18" charset="0"/>
                          </a:rPr>
                        </m:ctrlPr>
                      </m:sSupPr>
                      <m:e>
                        <m:d>
                          <m:dPr>
                            <m:begChr m:val="{"/>
                            <m:endChr m:val="}"/>
                            <m:ctrlPr>
                              <a:rPr lang="en-ZA" sz="1200" i="1">
                                <a:effectLst/>
                                <a:latin typeface="Cambria Math" panose="020405030504060302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1200" i="1">
                            <a:latin typeface="Cambria Math" panose="02040503050406030204" pitchFamily="18" charset="0"/>
                            <a:ea typeface="Times New Roman" panose="02020603050405020304" pitchFamily="18" charset="0"/>
                            <a:cs typeface="Times New Roman" panose="02020603050405020304" pitchFamily="18" charset="0"/>
                          </a:rPr>
                          <m:t>𝑛</m:t>
                        </m:r>
                      </m:sup>
                    </m:sSup>
                  </m:oMath>
                </a14:m>
                <a:r>
                  <a:rPr lang="en-ZA" b="0" dirty="0"/>
                  <a:t> such that</a:t>
                </a:r>
                <a:br>
                  <a:rPr lang="en-ZA" b="0" dirty="0"/>
                </a:b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 ⨁ </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𝑠</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ZA" b="0" dirty="0"/>
                  <a:t> for all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i="1" smtClean="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1200" i="1">
                            <a:effectLst/>
                            <a:latin typeface="Cambria Math" panose="02040503050406030204" pitchFamily="18" charset="0"/>
                          </a:rPr>
                        </m:ctrlPr>
                      </m:sSupPr>
                      <m:e>
                        <m:d>
                          <m:dPr>
                            <m:begChr m:val="{"/>
                            <m:endChr m:val="}"/>
                            <m:ctrlPr>
                              <a:rPr lang="en-ZA" sz="1200" i="1">
                                <a:effectLst/>
                                <a:latin typeface="Cambria Math" panose="02040503050406030204" pitchFamily="18" charset="0"/>
                              </a:rPr>
                            </m:ctrlPr>
                          </m:dPr>
                          <m:e>
                            <m:r>
                              <a:rPr lang="sr-Latn-RS" sz="120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1200" i="1">
                            <a:latin typeface="Cambria Math" panose="02040503050406030204" pitchFamily="18" charset="0"/>
                            <a:ea typeface="Times New Roman" panose="02020603050405020304" pitchFamily="18" charset="0"/>
                            <a:cs typeface="Times New Roman" panose="02020603050405020304" pitchFamily="18" charset="0"/>
                          </a:rPr>
                          <m:t>𝑛</m:t>
                        </m:r>
                      </m:sup>
                    </m:sSup>
                  </m:oMath>
                </a14:m>
                <a:r>
                  <a:rPr lang="en-ZA" b="0" dirty="0"/>
                  <a:t>.</a:t>
                </a:r>
              </a:p>
              <a:p>
                <a:pPr algn="just"/>
                <a:endParaRPr lang="en-ZA" b="0" dirty="0"/>
              </a:p>
              <a:p>
                <a:pPr algn="just"/>
                <a:r>
                  <a:rPr lang="en-ZA" b="0" dirty="0"/>
                  <a:t>The function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oMath>
                </a14:m>
                <a:r>
                  <a:rPr lang="en-ZA" b="0" dirty="0"/>
                  <a:t> is promised to satisfy one of the following two conditions:</a:t>
                </a:r>
              </a:p>
              <a:p>
                <a:pPr algn="just"/>
                <a:endParaRPr lang="en-ZA" b="0" dirty="0"/>
              </a:p>
              <a:p>
                <a:pPr marL="171450" indent="-171450" algn="just">
                  <a:buFont typeface="Arial" panose="020B0604020202020204" pitchFamily="34" charset="0"/>
                  <a:buChar char="•"/>
                </a:pPr>
                <a:r>
                  <a:rPr lang="en-ZA" b="0" dirty="0"/>
                  <a:t>One-to-one: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ZA" b="0" dirty="0"/>
                  <a:t> maps each input </a:t>
                </a:r>
                <a14:m>
                  <m:oMath xmlns:m="http://schemas.openxmlformats.org/officeDocument/2006/math">
                    <m:r>
                      <a:rPr lang="en-US" sz="1200" b="0" i="1" smtClean="0">
                        <a:latin typeface="Cambria Math" panose="02040503050406030204" pitchFamily="18" charset="0"/>
                        <a:ea typeface="Times New Roman" panose="02020603050405020304" pitchFamily="18" charset="0"/>
                        <a:cs typeface="Times New Roman" panose="02020603050405020304" pitchFamily="18" charset="0"/>
                      </a:rPr>
                      <m:t>𝑥</m:t>
                    </m:r>
                  </m:oMath>
                </a14:m>
                <a:r>
                  <a:rPr lang="en-ZA" b="0" dirty="0"/>
                  <a:t> to a unique output, or</a:t>
                </a:r>
              </a:p>
              <a:p>
                <a:pPr marL="171450" indent="-171450" algn="just">
                  <a:buFont typeface="Arial" panose="020B0604020202020204" pitchFamily="34" charset="0"/>
                  <a:buChar char="•"/>
                </a:pPr>
                <a:r>
                  <a:rPr lang="en-ZA" b="0" dirty="0"/>
                  <a:t>Two-to-one with hidden period: </a:t>
                </a:r>
                <a:r>
                  <a:rPr lang="en-ZA" dirty="0"/>
                  <a:t>There exists a non-zero bit string </a:t>
                </a:r>
                <a14:m>
                  <m:oMath xmlns:m="http://schemas.openxmlformats.org/officeDocument/2006/math">
                    <m:r>
                      <a:rPr lang="en-US" sz="1200" b="0" i="1" smtClean="0">
                        <a:latin typeface="Cambria Math" panose="02040503050406030204" pitchFamily="18" charset="0"/>
                        <a:ea typeface="Times New Roman" panose="02020603050405020304" pitchFamily="18" charset="0"/>
                        <a:cs typeface="Times New Roman" panose="02020603050405020304" pitchFamily="18" charset="0"/>
                      </a:rPr>
                      <m:t>𝑠</m:t>
                    </m:r>
                    <m:r>
                      <a:rPr lang="en-US"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1200" b="0" i="1" smtClean="0">
                            <a:latin typeface="Cambria Math" panose="02040503050406030204" pitchFamily="18" charset="0"/>
                            <a:ea typeface="Cambria Math" panose="02040503050406030204" pitchFamily="18" charset="0"/>
                            <a:cs typeface="Times New Roman" panose="02020603050405020304" pitchFamily="18" charset="0"/>
                          </a:rPr>
                          <m:t>0</m:t>
                        </m:r>
                      </m:e>
                      <m:sup>
                        <m:r>
                          <a:rPr lang="en-US" sz="1200" b="0" i="1" smtClean="0">
                            <a:latin typeface="Cambria Math" panose="02040503050406030204" pitchFamily="18" charset="0"/>
                            <a:ea typeface="Cambria Math" panose="02040503050406030204" pitchFamily="18" charset="0"/>
                            <a:cs typeface="Times New Roman" panose="02020603050405020304" pitchFamily="18" charset="0"/>
                          </a:rPr>
                          <m:t>𝑛</m:t>
                        </m:r>
                      </m:sup>
                    </m:sSup>
                  </m:oMath>
                </a14:m>
                <a:r>
                  <a:rPr lang="en-ZA" b="0" dirty="0"/>
                  <a:t> </a:t>
                </a:r>
                <a:r>
                  <a:rPr lang="en-ZA" dirty="0"/>
                  <a:t>such that for every input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oMath>
                </a14:m>
                <a:r>
                  <a:rPr lang="en-ZA" dirty="0"/>
                  <a:t>, the function satisfies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𝑓</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 ⨁ </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𝑠</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ZA" b="0" dirty="0"/>
                  <a:t> </a:t>
                </a:r>
                <a:r>
                  <a:rPr lang="en-ZA" dirty="0"/>
                  <a:t>and the only two inputs that produce the same output are</a:t>
                </a:r>
                <a:r>
                  <a:rPr lang="en-ZA" b="0" baseline="0" dirty="0"/>
                  <a:t>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oMath>
                </a14:m>
                <a:r>
                  <a:rPr lang="en-ZA" b="0" dirty="0"/>
                  <a:t> and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 ⨁ </m:t>
                    </m:r>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𝑠</m:t>
                    </m:r>
                  </m:oMath>
                </a14:m>
                <a:r>
                  <a:rPr lang="en-ZA" b="0" dirty="0"/>
                  <a:t>.</a:t>
                </a:r>
              </a:p>
              <a:p>
                <a:pPr algn="just"/>
                <a:endParaRPr lang="en-ZA" b="0" dirty="0"/>
              </a:p>
              <a:p>
                <a:pPr algn="just"/>
                <a:r>
                  <a:rPr lang="en-ZA" dirty="0"/>
                  <a:t>In other words, the function is either one-to-one, corresponding to </a:t>
                </a:r>
                <a14:m>
                  <m:oMath xmlns:m="http://schemas.openxmlformats.org/officeDocument/2006/math">
                    <m:r>
                      <a:rPr lang="en-US" sz="1200" b="0" i="1" smtClean="0">
                        <a:latin typeface="Cambria Math" panose="02040503050406030204" pitchFamily="18" charset="0"/>
                        <a:ea typeface="Times New Roman" panose="02020603050405020304" pitchFamily="18" charset="0"/>
                        <a:cs typeface="Times New Roman" panose="02020603050405020304" pitchFamily="18" charset="0"/>
                      </a:rPr>
                      <m:t>𝑠</m:t>
                    </m:r>
                    <m:r>
                      <a:rPr lang="en-US" sz="1200" b="0" i="1" smtClean="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sz="1200" b="0" i="1" smtClean="0">
                            <a:latin typeface="Cambria Math" panose="02040503050406030204" pitchFamily="18" charset="0"/>
                            <a:ea typeface="Cambria Math" panose="02040503050406030204" pitchFamily="18" charset="0"/>
                            <a:cs typeface="Times New Roman" panose="02020603050405020304" pitchFamily="18" charset="0"/>
                          </a:rPr>
                          <m:t>0</m:t>
                        </m:r>
                      </m:e>
                      <m:sup>
                        <m:r>
                          <a:rPr lang="en-US" sz="1200" b="0" i="1" smtClean="0">
                            <a:latin typeface="Cambria Math" panose="02040503050406030204" pitchFamily="18" charset="0"/>
                            <a:ea typeface="Cambria Math" panose="02040503050406030204" pitchFamily="18" charset="0"/>
                            <a:cs typeface="Times New Roman" panose="02020603050405020304" pitchFamily="18" charset="0"/>
                          </a:rPr>
                          <m:t>𝑛</m:t>
                        </m:r>
                      </m:sup>
                    </m:sSup>
                  </m:oMath>
                </a14:m>
                <a:r>
                  <a:rPr lang="en-ZA" dirty="0"/>
                  <a:t>, or it has a non-zero hidden string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𝑠</m:t>
                    </m:r>
                  </m:oMath>
                </a14:m>
                <a:r>
                  <a:rPr lang="en-ZA" dirty="0"/>
                  <a:t>, in which case each output corresponds to exactly two inputs that differ by </a:t>
                </a:r>
                <a14:m>
                  <m:oMath xmlns:m="http://schemas.openxmlformats.org/officeDocument/2006/math">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𝑠</m:t>
                    </m:r>
                  </m:oMath>
                </a14:m>
                <a:r>
                  <a:rPr lang="en-ZA" b="0" dirty="0"/>
                  <a:t> .</a:t>
                </a:r>
              </a:p>
              <a:p>
                <a:pPr algn="just"/>
                <a:endParaRPr lang="en-ZA" b="0" dirty="0"/>
              </a:p>
            </p:txBody>
          </p:sp>
        </mc:Choice>
        <mc:Fallback xmlns="">
          <p:sp>
            <p:nvSpPr>
              <p:cNvPr id="3" name="Notes Placeholder 2"/>
              <p:cNvSpPr>
                <a:spLocks noGrp="1"/>
              </p:cNvSpPr>
              <p:nvPr>
                <p:ph type="body" idx="1"/>
              </p:nvPr>
            </p:nvSpPr>
            <p:spPr/>
            <p:txBody>
              <a:bodyPr/>
              <a:lstStyle/>
              <a:p>
                <a:r>
                  <a:rPr lang="en-US" dirty="0"/>
                  <a:t>Formalno, </a:t>
                </a:r>
                <a:r>
                  <a:rPr lang="en-US" dirty="0" err="1"/>
                  <a:t>definicija</a:t>
                </a:r>
                <a:r>
                  <a:rPr lang="en-US" dirty="0"/>
                  <a:t> </a:t>
                </a:r>
                <a:r>
                  <a:rPr lang="en-US" dirty="0" err="1"/>
                  <a:t>Simonovog</a:t>
                </a:r>
                <a:r>
                  <a:rPr lang="en-US" dirty="0"/>
                  <a:t> </a:t>
                </a:r>
                <a:r>
                  <a:rPr lang="en-US" dirty="0" err="1"/>
                  <a:t>problema</a:t>
                </a:r>
                <a:r>
                  <a:rPr lang="en-US" dirty="0"/>
                  <a:t> </a:t>
                </a:r>
                <a:r>
                  <a:rPr lang="en-US" dirty="0" err="1"/>
                  <a:t>kaže</a:t>
                </a:r>
                <a:r>
                  <a:rPr lang="en-US" dirty="0"/>
                  <a:t> da </a:t>
                </a:r>
                <a:r>
                  <a:rPr lang="en-US" dirty="0" err="1"/>
                  <a:t>za</a:t>
                </a:r>
                <a:r>
                  <a:rPr lang="en-US" dirty="0"/>
                  <a:t> </a:t>
                </a:r>
                <a:r>
                  <a:rPr lang="en-US" dirty="0" err="1"/>
                  <a:t>neku</a:t>
                </a:r>
                <a:r>
                  <a:rPr lang="en-US" dirty="0"/>
                  <a:t> </a:t>
                </a:r>
                <a:r>
                  <a:rPr lang="en-US" dirty="0" err="1"/>
                  <a:t>funkciju</a:t>
                </a:r>
                <a:r>
                  <a:rPr lang="en-US" dirty="0"/>
                  <a:t> </a:t>
                </a:r>
                <a:r>
                  <a:rPr lang="en-US" dirty="0" err="1"/>
                  <a:t>koja</a:t>
                </a:r>
                <a:r>
                  <a:rPr lang="en-US" dirty="0"/>
                  <a:t> </a:t>
                </a:r>
                <a:r>
                  <a:rPr lang="en-US" dirty="0" err="1"/>
                  <a:t>preslikava</a:t>
                </a:r>
                <a:r>
                  <a:rPr lang="en-US" dirty="0"/>
                  <a:t> n-</a:t>
                </a:r>
                <a:r>
                  <a:rPr lang="en-US" dirty="0" err="1"/>
                  <a:t>bitova</a:t>
                </a:r>
                <a:r>
                  <a:rPr lang="en-US" dirty="0"/>
                  <a:t> </a:t>
                </a:r>
                <a:r>
                  <a:rPr lang="en-US" dirty="0" err="1"/>
                  <a:t>ulaza</a:t>
                </a:r>
                <a:r>
                  <a:rPr lang="en-US" dirty="0"/>
                  <a:t> u n-</a:t>
                </a:r>
                <a:r>
                  <a:rPr lang="en-US" dirty="0" err="1"/>
                  <a:t>bitova</a:t>
                </a:r>
                <a:r>
                  <a:rPr lang="en-US" dirty="0"/>
                  <a:t> </a:t>
                </a:r>
                <a:r>
                  <a:rPr lang="en-US" dirty="0" err="1"/>
                  <a:t>izlaza</a:t>
                </a:r>
                <a:r>
                  <a:rPr lang="en-US" dirty="0"/>
                  <a:t> </a:t>
                </a:r>
                <a:r>
                  <a:rPr lang="en-US" dirty="0" err="1"/>
                  <a:t>treba</a:t>
                </a:r>
                <a:r>
                  <a:rPr lang="en-US" dirty="0"/>
                  <a:t> </a:t>
                </a:r>
                <a:r>
                  <a:rPr lang="en-US" dirty="0" err="1"/>
                  <a:t>pronaći</a:t>
                </a:r>
                <a:r>
                  <a:rPr lang="en-US" dirty="0"/>
                  <a:t> </a:t>
                </a:r>
                <a:r>
                  <a:rPr lang="en-US" dirty="0" err="1"/>
                  <a:t>binarni</a:t>
                </a:r>
                <a:r>
                  <a:rPr lang="en-US" dirty="0"/>
                  <a:t> </a:t>
                </a:r>
                <a:r>
                  <a:rPr lang="en-US" dirty="0" err="1"/>
                  <a:t>broj</a:t>
                </a:r>
                <a:r>
                  <a:rPr lang="en-US" dirty="0"/>
                  <a:t> </a:t>
                </a:r>
                <a:r>
                  <a:rPr lang="sr-Latn-RS" sz="1200" b="0" i="0">
                    <a:latin typeface="Cambria Math" panose="02040503050406030204" pitchFamily="18" charset="0"/>
                    <a:ea typeface="Times New Roman" panose="02020603050405020304" pitchFamily="18" charset="0"/>
                    <a:cs typeface="Times New Roman" panose="02020603050405020304" pitchFamily="18" charset="0"/>
                  </a:rPr>
                  <a:t>𝑠</a:t>
                </a:r>
                <a:r>
                  <a:rPr lang="en-US" dirty="0"/>
                  <a:t> </a:t>
                </a:r>
                <a:r>
                  <a:rPr lang="en-US" dirty="0" err="1"/>
                  <a:t>takav</a:t>
                </a:r>
                <a:r>
                  <a:rPr lang="en-US" dirty="0"/>
                  <a:t> da </a:t>
                </a:r>
                <a:r>
                  <a:rPr lang="en-US" dirty="0" err="1"/>
                  <a:t>važi</a:t>
                </a:r>
                <a:r>
                  <a:rPr lang="en-US" dirty="0"/>
                  <a:t> da </a:t>
                </a:r>
                <a:r>
                  <a:rPr lang="en-US" dirty="0" err="1"/>
                  <a:t>je</a:t>
                </a:r>
                <a:r>
                  <a:rPr lang="sr-Latn-RS" sz="1200" b="0" i="0">
                    <a:latin typeface="+mj-lt"/>
                    <a:ea typeface="Times New Roman" panose="02020603050405020304" pitchFamily="18" charset="0"/>
                    <a:cs typeface="Times New Roman" panose="02020603050405020304" pitchFamily="18" charset="0"/>
                  </a:rPr>
                  <a:t>𝑓(𝑥)=𝑓(𝑥 ⨁ 𝑠)</a:t>
                </a:r>
                <a:r>
                  <a:rPr lang="en-US" b="0" dirty="0">
                    <a:latin typeface="+mj-lt"/>
                  </a:rPr>
                  <a:t>. </a:t>
                </a:r>
              </a:p>
              <a:p>
                <a:endParaRPr lang="en-US" dirty="0"/>
              </a:p>
              <a:p>
                <a:r>
                  <a:rPr lang="en-US" dirty="0" err="1"/>
                  <a:t>Funkcija</a:t>
                </a:r>
                <a:r>
                  <a:rPr lang="en-US" dirty="0"/>
                  <a:t> </a:t>
                </a:r>
                <a:r>
                  <a:rPr lang="sr-Latn-RS" sz="1200" b="0" i="0">
                    <a:latin typeface="Cambria Math" panose="02040503050406030204" pitchFamily="18" charset="0"/>
                    <a:ea typeface="Times New Roman" panose="02020603050405020304" pitchFamily="18" charset="0"/>
                    <a:cs typeface="Times New Roman" panose="02020603050405020304" pitchFamily="18" charset="0"/>
                  </a:rPr>
                  <a:t>𝑓</a:t>
                </a:r>
                <a:r>
                  <a:rPr lang="en-US" dirty="0"/>
                  <a:t> </a:t>
                </a:r>
                <a:r>
                  <a:rPr lang="en-US" dirty="0" err="1"/>
                  <a:t>obećava</a:t>
                </a:r>
                <a:r>
                  <a:rPr lang="en-US" dirty="0"/>
                  <a:t> da </a:t>
                </a:r>
                <a:r>
                  <a:rPr lang="en-US" dirty="0" err="1"/>
                  <a:t>će</a:t>
                </a:r>
                <a:r>
                  <a:rPr lang="en-US" dirty="0"/>
                  <a:t> </a:t>
                </a:r>
                <a:r>
                  <a:rPr lang="en-US" dirty="0" err="1"/>
                  <a:t>ili</a:t>
                </a:r>
                <a:r>
                  <a:rPr lang="en-US" dirty="0"/>
                  <a:t> </a:t>
                </a:r>
                <a:r>
                  <a:rPr lang="en-US" dirty="0" err="1"/>
                  <a:t>preslikati</a:t>
                </a:r>
                <a:r>
                  <a:rPr lang="en-US" dirty="0"/>
                  <a:t> </a:t>
                </a:r>
                <a:r>
                  <a:rPr lang="en-US" dirty="0" err="1"/>
                  <a:t>svaki</a:t>
                </a:r>
                <a:r>
                  <a:rPr lang="en-US" dirty="0"/>
                  <a:t> </a:t>
                </a:r>
                <a:r>
                  <a:rPr lang="en-US" dirty="0" err="1"/>
                  <a:t>jedinstveni</a:t>
                </a:r>
                <a:r>
                  <a:rPr lang="en-US" dirty="0"/>
                  <a:t> </a:t>
                </a:r>
                <a:r>
                  <a:rPr lang="en-US" dirty="0" err="1"/>
                  <a:t>ulaz</a:t>
                </a:r>
                <a:r>
                  <a:rPr lang="en-US" dirty="0"/>
                  <a:t> u </a:t>
                </a:r>
                <a:r>
                  <a:rPr lang="en-US" dirty="0" err="1"/>
                  <a:t>jedinstveni</a:t>
                </a:r>
                <a:r>
                  <a:rPr lang="en-US" dirty="0"/>
                  <a:t> </a:t>
                </a:r>
                <a:r>
                  <a:rPr lang="en-US" dirty="0" err="1"/>
                  <a:t>izlaz</a:t>
                </a:r>
                <a:r>
                  <a:rPr lang="en-US" dirty="0"/>
                  <a:t> </a:t>
                </a:r>
                <a:r>
                  <a:rPr lang="en-US" dirty="0" err="1"/>
                  <a:t>ili</a:t>
                </a:r>
                <a:r>
                  <a:rPr lang="en-US" dirty="0"/>
                  <a:t> </a:t>
                </a:r>
                <a:r>
                  <a:rPr lang="en-US" dirty="0" err="1"/>
                  <a:t>preslikati</a:t>
                </a:r>
                <a:r>
                  <a:rPr lang="en-US" dirty="0"/>
                  <a:t> </a:t>
                </a:r>
                <a:r>
                  <a:rPr lang="en-US" dirty="0" err="1"/>
                  <a:t>dva</a:t>
                </a:r>
                <a:r>
                  <a:rPr lang="en-US" dirty="0"/>
                  <a:t> </a:t>
                </a:r>
                <a:r>
                  <a:rPr lang="en-US" dirty="0" err="1"/>
                  <a:t>različita</a:t>
                </a:r>
                <a:r>
                  <a:rPr lang="en-US" dirty="0"/>
                  <a:t> </a:t>
                </a:r>
                <a:r>
                  <a:rPr lang="en-US" dirty="0" err="1"/>
                  <a:t>ulaza</a:t>
                </a:r>
                <a:r>
                  <a:rPr lang="en-US" dirty="0"/>
                  <a:t> u </a:t>
                </a:r>
                <a:r>
                  <a:rPr lang="en-US" dirty="0" err="1"/>
                  <a:t>jedinstveni</a:t>
                </a:r>
                <a:r>
                  <a:rPr lang="en-US" dirty="0"/>
                  <a:t> </a:t>
                </a:r>
                <a:r>
                  <a:rPr lang="en-US" dirty="0" err="1"/>
                  <a:t>izlaz</a:t>
                </a:r>
                <a:r>
                  <a:rPr lang="en-US" dirty="0"/>
                  <a:t>, </a:t>
                </a:r>
                <a:r>
                  <a:rPr lang="en-US" dirty="0" err="1"/>
                  <a:t>ali</a:t>
                </a:r>
                <a:r>
                  <a:rPr lang="en-US" dirty="0"/>
                  <a:t> </a:t>
                </a:r>
                <a:r>
                  <a:rPr lang="en-US" dirty="0" err="1"/>
                  <a:t>nije</a:t>
                </a:r>
                <a:r>
                  <a:rPr lang="en-US" dirty="0"/>
                  <a:t> </a:t>
                </a:r>
                <a:r>
                  <a:rPr lang="en-US" dirty="0" err="1"/>
                  <a:t>poznato</a:t>
                </a:r>
                <a:r>
                  <a:rPr lang="en-US" dirty="0"/>
                  <a:t> </a:t>
                </a:r>
                <a:r>
                  <a:rPr lang="en-US" dirty="0" err="1"/>
                  <a:t>koje</a:t>
                </a:r>
                <a:r>
                  <a:rPr lang="en-US" dirty="0"/>
                  <a:t> </a:t>
                </a:r>
                <a:r>
                  <a:rPr lang="en-US" dirty="0" err="1"/>
                  <a:t>je</a:t>
                </a:r>
                <a:r>
                  <a:rPr lang="en-US" dirty="0"/>
                  <a:t> od ova </a:t>
                </a:r>
                <a:r>
                  <a:rPr lang="en-US" dirty="0" err="1"/>
                  <a:t>dva</a:t>
                </a:r>
                <a:r>
                  <a:rPr lang="en-US" dirty="0"/>
                  <a:t> </a:t>
                </a:r>
                <a:r>
                  <a:rPr lang="en-US" dirty="0" err="1"/>
                  <a:t>svojstva</a:t>
                </a:r>
                <a:r>
                  <a:rPr lang="en-US" dirty="0"/>
                  <a:t> </a:t>
                </a:r>
                <a:r>
                  <a:rPr lang="en-US" dirty="0" err="1"/>
                  <a:t>važeće</a:t>
                </a:r>
                <a:r>
                  <a:rPr lang="en-US" dirty="0"/>
                  <a:t>. </a:t>
                </a:r>
              </a:p>
              <a:p>
                <a:endParaRPr lang="en-US" dirty="0"/>
              </a:p>
              <a:p>
                <a:r>
                  <a:rPr lang="en-US" dirty="0" err="1"/>
                  <a:t>Drugim</a:t>
                </a:r>
                <a:r>
                  <a:rPr lang="en-US" dirty="0"/>
                  <a:t> </a:t>
                </a:r>
                <a:r>
                  <a:rPr lang="en-US" dirty="0" err="1"/>
                  <a:t>rečima</a:t>
                </a:r>
                <a:r>
                  <a:rPr lang="en-US" dirty="0"/>
                  <a:t>, period </a:t>
                </a:r>
                <a:r>
                  <a:rPr lang="en-US" dirty="0" err="1"/>
                  <a:t>funkcije</a:t>
                </a:r>
                <a:r>
                  <a:rPr lang="en-US" dirty="0"/>
                  <a:t> </a:t>
                </a:r>
                <a:r>
                  <a:rPr lang="en-US" dirty="0" err="1"/>
                  <a:t>može</a:t>
                </a:r>
                <a:r>
                  <a:rPr lang="en-US" dirty="0"/>
                  <a:t> </a:t>
                </a:r>
                <a:r>
                  <a:rPr lang="en-US" dirty="0" err="1"/>
                  <a:t>biti</a:t>
                </a:r>
                <a:r>
                  <a:rPr lang="en-US" dirty="0"/>
                  <a:t> s=0, </a:t>
                </a:r>
                <a:r>
                  <a:rPr lang="en-US" dirty="0" err="1"/>
                  <a:t>odnosno</a:t>
                </a:r>
                <a:r>
                  <a:rPr lang="en-US" dirty="0"/>
                  <a:t> </a:t>
                </a:r>
                <a:r>
                  <a:rPr lang="en-US" dirty="0" err="1"/>
                  <a:t>za</a:t>
                </a:r>
                <a:r>
                  <a:rPr lang="en-US" dirty="0"/>
                  <a:t> </a:t>
                </a:r>
                <a:r>
                  <a:rPr lang="en-US" dirty="0" err="1"/>
                  <a:t>različite</a:t>
                </a:r>
                <a:r>
                  <a:rPr lang="en-US" dirty="0"/>
                  <a:t> </a:t>
                </a:r>
                <a:r>
                  <a:rPr lang="en-US" dirty="0" err="1"/>
                  <a:t>ulaze</a:t>
                </a:r>
                <a:r>
                  <a:rPr lang="en-US" dirty="0"/>
                  <a:t> </a:t>
                </a:r>
                <a:r>
                  <a:rPr lang="en-US" dirty="0" err="1"/>
                  <a:t>dobijaju</a:t>
                </a:r>
                <a:r>
                  <a:rPr lang="en-US" dirty="0"/>
                  <a:t> se </a:t>
                </a:r>
                <a:r>
                  <a:rPr lang="en-US" dirty="0" err="1"/>
                  <a:t>različiti</a:t>
                </a:r>
                <a:r>
                  <a:rPr lang="en-US" dirty="0"/>
                  <a:t> </a:t>
                </a:r>
                <a:r>
                  <a:rPr lang="en-US" dirty="0" err="1"/>
                  <a:t>izlazi</a:t>
                </a:r>
                <a:r>
                  <a:rPr lang="en-US" dirty="0"/>
                  <a:t>, </a:t>
                </a:r>
                <a:r>
                  <a:rPr lang="en-US" dirty="0" err="1"/>
                  <a:t>ili</a:t>
                </a:r>
                <a:r>
                  <a:rPr lang="en-US" dirty="0"/>
                  <a:t> s ≠ 0, </a:t>
                </a:r>
                <a:r>
                  <a:rPr lang="en-US" dirty="0" err="1"/>
                  <a:t>kada</a:t>
                </a:r>
                <a:r>
                  <a:rPr lang="en-US" dirty="0"/>
                  <a:t> </a:t>
                </a:r>
                <a:r>
                  <a:rPr lang="en-US" dirty="0" err="1"/>
                  <a:t>funkcija</a:t>
                </a:r>
                <a:r>
                  <a:rPr lang="en-US" dirty="0"/>
                  <a:t> </a:t>
                </a:r>
                <a:r>
                  <a:rPr lang="en-US" dirty="0" err="1"/>
                  <a:t>za</a:t>
                </a:r>
                <a:r>
                  <a:rPr lang="en-US" dirty="0"/>
                  <a:t> </a:t>
                </a:r>
                <a:r>
                  <a:rPr lang="en-US" dirty="0" err="1"/>
                  <a:t>parove</a:t>
                </a:r>
                <a:r>
                  <a:rPr lang="en-US" dirty="0"/>
                  <a:t> </a:t>
                </a:r>
                <a:r>
                  <a:rPr lang="en-US" dirty="0" err="1"/>
                  <a:t>različitih</a:t>
                </a:r>
                <a:r>
                  <a:rPr lang="en-US" dirty="0"/>
                  <a:t> </a:t>
                </a:r>
                <a:r>
                  <a:rPr lang="en-US" dirty="0" err="1"/>
                  <a:t>ulaza</a:t>
                </a:r>
                <a:r>
                  <a:rPr lang="en-US" dirty="0"/>
                  <a:t> </a:t>
                </a:r>
                <a:r>
                  <a:rPr lang="en-US" dirty="0" err="1"/>
                  <a:t>razmaknutih</a:t>
                </a:r>
                <a:r>
                  <a:rPr lang="en-US" dirty="0"/>
                  <a:t> </a:t>
                </a:r>
                <a:r>
                  <a:rPr lang="en-US" dirty="0" err="1"/>
                  <a:t>za</a:t>
                </a:r>
                <a:r>
                  <a:rPr lang="en-US" dirty="0"/>
                  <a:t> s </a:t>
                </a:r>
                <a:r>
                  <a:rPr lang="en-US" dirty="0" err="1"/>
                  <a:t>daje</a:t>
                </a:r>
                <a:r>
                  <a:rPr lang="en-US" dirty="0"/>
                  <a:t> </a:t>
                </a:r>
                <a:r>
                  <a:rPr lang="en-US" dirty="0" err="1"/>
                  <a:t>iste</a:t>
                </a:r>
                <a:r>
                  <a:rPr lang="en-US" dirty="0"/>
                  <a:t> </a:t>
                </a:r>
                <a:r>
                  <a:rPr lang="en-US" dirty="0" err="1"/>
                  <a:t>izlaze</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32</a:t>
            </a:fld>
            <a:endParaRPr lang="en-US"/>
          </a:p>
        </p:txBody>
      </p:sp>
    </p:spTree>
    <p:extLst>
      <p:ext uri="{BB962C8B-B14F-4D97-AF65-F5344CB8AC3E}">
        <p14:creationId xmlns:p14="http://schemas.microsoft.com/office/powerpoint/2010/main" val="17829209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In the classical setting, solving Simon’s problem involves identifying two distinct inputs that produce the same output under the function </a:t>
                </a:r>
                <a14:m>
                  <m:oMath xmlns:m="http://schemas.openxmlformats.org/officeDocument/2006/math">
                    <m:r>
                      <a:rPr lang="en-US" sz="1200" i="1" smtClean="0">
                        <a:latin typeface="Cambria Math" panose="02040503050406030204" pitchFamily="18" charset="0"/>
                      </a:rPr>
                      <m:t>𝑓</m:t>
                    </m:r>
                  </m:oMath>
                </a14:m>
                <a:r>
                  <a:rPr lang="en-ZA" b="0" dirty="0"/>
                  <a:t>. The classical algorithm relies on comparing output values for different inputs until such a collision is found.</a:t>
                </a:r>
              </a:p>
              <a:p>
                <a:endParaRPr lang="en-ZA" b="0" dirty="0"/>
              </a:p>
              <a:p>
                <a:pPr algn="just"/>
                <a:r>
                  <a:rPr lang="en-ZA" b="0" dirty="0"/>
                  <a:t>To identify the hidden string, a simple table of inputs and outputs can be constructed. Looking at the table, some outputs appear twice. For example, the inputs 001 and 111 both produce the same output 010, and the same pattern occurs for other pairs of inputs.</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In a classical approach, the computer evaluates the function for different inputs until it finds two inputs that produce the same output.</a:t>
                </a:r>
                <a:r>
                  <a:rPr lang="en-ZA" b="0" baseline="0" dirty="0"/>
                  <a:t> </a:t>
                </a:r>
                <a:r>
                  <a:rPr lang="en-ZA" b="0" dirty="0"/>
                  <a:t>Suppose a collision is found for two inputs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oMath>
                </a14:m>
                <a:r>
                  <a:rPr lang="en-ZA" b="0" dirty="0"/>
                  <a:t>​ and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𝑥</m:t>
                        </m:r>
                      </m:e>
                      <m:sub>
                        <m:r>
                          <a:rPr lang="en-US" sz="1200" b="0" i="1" smtClean="0">
                            <a:latin typeface="Cambria Math" panose="02040503050406030204" pitchFamily="18" charset="0"/>
                          </a:rPr>
                          <m:t>𝑗</m:t>
                        </m:r>
                      </m:sub>
                    </m:sSub>
                  </m:oMath>
                </a14:m>
                <a:r>
                  <a:rPr lang="en-ZA" b="0" dirty="0"/>
                  <a:t>​, such that</a:t>
                </a:r>
                <a:r>
                  <a:rPr lang="en-ZA" b="0" baseline="0" dirty="0"/>
                  <a:t> </a:t>
                </a:r>
                <a14:m>
                  <m:oMath xmlns:m="http://schemas.openxmlformats.org/officeDocument/2006/math">
                    <m:r>
                      <a:rPr lang="en-US" sz="1200" i="1" smtClean="0">
                        <a:latin typeface="Cambria Math" panose="02040503050406030204" pitchFamily="18" charset="0"/>
                      </a:rPr>
                      <m:t>𝑓</m:t>
                    </m:r>
                    <m:r>
                      <a:rPr lang="en-US" sz="1200" i="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r>
                      <a:rPr lang="en-US" sz="1200" i="0">
                        <a:latin typeface="Cambria Math" panose="02040503050406030204" pitchFamily="18" charset="0"/>
                      </a:rPr>
                      <m:t>)=</m:t>
                    </m:r>
                    <m:r>
                      <a:rPr lang="en-US" sz="1200" i="1">
                        <a:latin typeface="Cambria Math" panose="02040503050406030204" pitchFamily="18" charset="0"/>
                      </a:rPr>
                      <m:t>𝑓</m:t>
                    </m:r>
                    <m:r>
                      <a:rPr lang="en-US" sz="1200" i="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𝑗</m:t>
                        </m:r>
                      </m:sub>
                    </m:sSub>
                    <m:r>
                      <a:rPr lang="en-US" sz="1200" i="0">
                        <a:latin typeface="Cambria Math" panose="02040503050406030204" pitchFamily="18" charset="0"/>
                      </a:rPr>
                      <m:t>)</m:t>
                    </m:r>
                  </m:oMath>
                </a14:m>
                <a:r>
                  <a:rPr lang="en-ZA" b="0" dirty="0"/>
                  <a:t>. Since Simon’s promise tells us that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𝑥</m:t>
                        </m:r>
                      </m:e>
                      <m:sub>
                        <m:r>
                          <a:rPr lang="sr-Latn-RS" sz="1200" i="1">
                            <a:latin typeface="Cambria Math" panose="02040503050406030204" pitchFamily="18" charset="0"/>
                          </a:rPr>
                          <m:t>𝑗</m:t>
                        </m:r>
                      </m:sub>
                    </m:sSub>
                    <m:r>
                      <a:rPr lang="sr-Latn-RS" sz="1200" i="1">
                        <a:latin typeface="Cambria Math" panose="02040503050406030204" pitchFamily="18" charset="0"/>
                      </a:rPr>
                      <m:t>=</m:t>
                    </m:r>
                    <m:sSub>
                      <m:sSubPr>
                        <m:ctrlPr>
                          <a:rPr lang="en-ZA" sz="1200" i="1">
                            <a:latin typeface="Cambria Math" panose="02040503050406030204" pitchFamily="18" charset="0"/>
                          </a:rPr>
                        </m:ctrlPr>
                      </m:sSubPr>
                      <m:e>
                        <m:r>
                          <a:rPr lang="sr-Latn-RS" sz="1200" i="1">
                            <a:latin typeface="Cambria Math" panose="02040503050406030204" pitchFamily="18" charset="0"/>
                          </a:rPr>
                          <m:t>𝑥</m:t>
                        </m:r>
                      </m:e>
                      <m:sub>
                        <m:r>
                          <a:rPr lang="sr-Latn-RS" sz="1200" i="1">
                            <a:latin typeface="Cambria Math" panose="02040503050406030204" pitchFamily="18" charset="0"/>
                          </a:rPr>
                          <m:t>𝑖</m:t>
                        </m:r>
                      </m:sub>
                    </m:sSub>
                    <m:r>
                      <a:rPr lang="sr-Latn-RS" sz="1200" i="1">
                        <a:latin typeface="Cambria Math" panose="02040503050406030204" pitchFamily="18" charset="0"/>
                      </a:rPr>
                      <m:t>⨁ </m:t>
                    </m:r>
                    <m:r>
                      <a:rPr lang="sr-Latn-RS" sz="1200" i="1">
                        <a:latin typeface="Cambria Math" panose="02040503050406030204" pitchFamily="18" charset="0"/>
                      </a:rPr>
                      <m:t>𝑠</m:t>
                    </m:r>
                  </m:oMath>
                </a14:m>
                <a:r>
                  <a:rPr lang="en-ZA" b="0" dirty="0"/>
                  <a:t>, XOR-</a:t>
                </a:r>
                <a:r>
                  <a:rPr lang="en-ZA" b="0" dirty="0" err="1"/>
                  <a:t>ing</a:t>
                </a:r>
                <a:r>
                  <a:rPr lang="en-ZA" b="0" dirty="0"/>
                  <a:t> both sides with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𝑥</m:t>
                        </m:r>
                      </m:e>
                      <m:sub>
                        <m:r>
                          <a:rPr lang="sr-Latn-RS" sz="1200" i="1">
                            <a:latin typeface="Cambria Math" panose="02040503050406030204" pitchFamily="18" charset="0"/>
                          </a:rPr>
                          <m:t>𝑖</m:t>
                        </m:r>
                      </m:sub>
                    </m:sSub>
                  </m:oMath>
                </a14:m>
                <a:r>
                  <a:rPr lang="en-ZA" b="0" dirty="0"/>
                  <a:t>​ gives </a:t>
                </a:r>
                <a14:m>
                  <m:oMath xmlns:m="http://schemas.openxmlformats.org/officeDocument/2006/math">
                    <m:r>
                      <a:rPr lang="en-US" sz="1200" i="1" smtClean="0">
                        <a:latin typeface="Cambria Math" panose="02040503050406030204" pitchFamily="18" charset="0"/>
                      </a:rPr>
                      <m:t>𝑠</m:t>
                    </m:r>
                    <m:r>
                      <a:rPr lang="en-US" sz="1200" i="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r>
                      <a:rPr lang="sr-Latn-R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𝑗</m:t>
                        </m:r>
                      </m:sub>
                    </m:sSub>
                  </m:oMath>
                </a14:m>
                <a:r>
                  <a:rPr lang="en-ZA" b="0" dirty="0"/>
                  <a:t>. In other words, the hidden string s can be found by XOR-</a:t>
                </a:r>
                <a:r>
                  <a:rPr lang="en-ZA" b="0" dirty="0" err="1"/>
                  <a:t>ing</a:t>
                </a:r>
                <a:r>
                  <a:rPr lang="en-ZA" b="0" dirty="0"/>
                  <a:t> two different inputs that produce the same output.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b="0" dirty="0"/>
                  <a:t>In the example from the table, </a:t>
                </a:r>
                <a14:m>
                  <m:oMath xmlns:m="http://schemas.openxmlformats.org/officeDocument/2006/math">
                    <m:r>
                      <a:rPr lang="en-US" sz="1200" i="1" smtClean="0">
                        <a:latin typeface="Cambria Math" panose="02040503050406030204" pitchFamily="18" charset="0"/>
                      </a:rPr>
                      <m:t>𝑠</m:t>
                    </m:r>
                    <m:r>
                      <a:rPr lang="en-US" sz="1200" i="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𝑖</m:t>
                        </m:r>
                      </m:sub>
                    </m:sSub>
                    <m:r>
                      <a:rPr lang="sr-Latn-R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𝑥</m:t>
                        </m:r>
                      </m:e>
                      <m:sub>
                        <m:r>
                          <a:rPr lang="en-US" sz="1200" i="1">
                            <a:latin typeface="Cambria Math" panose="02040503050406030204" pitchFamily="18" charset="0"/>
                          </a:rPr>
                          <m:t>𝑗</m:t>
                        </m:r>
                      </m:sub>
                    </m:sSub>
                    <m:r>
                      <a:rPr lang="sr-Latn-RS" sz="1200" b="0" i="1" smtClean="0">
                        <a:latin typeface="Cambria Math" panose="02040503050406030204" pitchFamily="18" charset="0"/>
                      </a:rPr>
                      <m:t>=</m:t>
                    </m:r>
                    <m:r>
                      <a:rPr lang="sr-Latn-RS" sz="1200" i="1">
                        <a:latin typeface="Cambria Math" panose="02040503050406030204" pitchFamily="18" charset="0"/>
                      </a:rPr>
                      <m:t>001 ⨁ 111=110</m:t>
                    </m:r>
                  </m:oMath>
                </a14:m>
                <a:endParaRPr lang="en-US" sz="120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 </a:t>
                </a:r>
                <a:r>
                  <a:rPr lang="en-US" dirty="0" err="1"/>
                  <a:t>svrhu</a:t>
                </a:r>
                <a:r>
                  <a:rPr lang="en-US" dirty="0"/>
                  <a:t> </a:t>
                </a:r>
                <a:r>
                  <a:rPr lang="en-US" dirty="0" err="1"/>
                  <a:t>nalaženja</a:t>
                </a:r>
                <a:r>
                  <a:rPr lang="en-US" dirty="0"/>
                  <a:t> </a:t>
                </a:r>
                <a:r>
                  <a:rPr lang="en-US" dirty="0" err="1"/>
                  <a:t>perioda</a:t>
                </a:r>
                <a:r>
                  <a:rPr lang="en-US" dirty="0"/>
                  <a:t> </a:t>
                </a:r>
                <a:r>
                  <a:rPr lang="en-US" dirty="0" err="1"/>
                  <a:t>funkcije</a:t>
                </a:r>
                <a:r>
                  <a:rPr lang="en-US" dirty="0"/>
                  <a:t>, </a:t>
                </a:r>
                <a:r>
                  <a:rPr lang="en-US" dirty="0" err="1"/>
                  <a:t>pravi</a:t>
                </a:r>
                <a:r>
                  <a:rPr lang="en-US" dirty="0"/>
                  <a:t> se </a:t>
                </a:r>
                <a:r>
                  <a:rPr lang="en-US" dirty="0" err="1"/>
                  <a:t>tabela</a:t>
                </a:r>
                <a:r>
                  <a:rPr lang="en-US" dirty="0"/>
                  <a:t> </a:t>
                </a:r>
                <a:r>
                  <a:rPr lang="en-US" dirty="0" err="1"/>
                  <a:t>ulaza</a:t>
                </a:r>
                <a:r>
                  <a:rPr lang="en-US" dirty="0"/>
                  <a:t> </a:t>
                </a:r>
                <a:r>
                  <a:rPr lang="en-US" dirty="0" err="1"/>
                  <a:t>i</a:t>
                </a:r>
                <a:r>
                  <a:rPr lang="en-US" dirty="0"/>
                  <a:t> </a:t>
                </a:r>
                <a:r>
                  <a:rPr lang="en-US" dirty="0" err="1"/>
                  <a:t>izlaza</a:t>
                </a:r>
                <a:r>
                  <a:rPr lang="en-US" dirty="0"/>
                  <a:t> </a:t>
                </a:r>
                <a:r>
                  <a:rPr lang="en-US" dirty="0" err="1"/>
                  <a:t>funkcije</a:t>
                </a:r>
                <a:r>
                  <a:rPr lang="en-US" dirty="0"/>
                  <a:t> </a:t>
                </a:r>
                <a:r>
                  <a:rPr lang="sr-Latn-RS" sz="1200" b="0" i="0">
                    <a:effectLst/>
                    <a:latin typeface="Cambria Math" panose="02040503050406030204" pitchFamily="18" charset="0"/>
                  </a:rPr>
                  <a:t>𝑓(𝑥)</a:t>
                </a:r>
                <a:r>
                  <a:rPr lang="en-US" dirty="0"/>
                  <a:t> </a:t>
                </a:r>
                <a:r>
                  <a:rPr lang="en-US" dirty="0" err="1"/>
                  <a:t>koja</a:t>
                </a:r>
                <a:r>
                  <a:rPr lang="en-US" dirty="0"/>
                  <a:t> </a:t>
                </a:r>
                <a:r>
                  <a:rPr lang="en-US" dirty="0" err="1"/>
                  <a:t>pokazuje</a:t>
                </a:r>
                <a:r>
                  <a:rPr lang="en-US" dirty="0"/>
                  <a:t> </a:t>
                </a:r>
                <a:r>
                  <a:rPr lang="en-US" dirty="0" err="1"/>
                  <a:t>svojstvo</a:t>
                </a:r>
                <a:r>
                  <a:rPr lang="en-US" dirty="0"/>
                  <a:t> </a:t>
                </a:r>
                <a:r>
                  <a:rPr lang="en-US" dirty="0" err="1"/>
                  <a:t>periodičnosti</a:t>
                </a:r>
                <a:r>
                  <a:rPr lang="en-US" dirty="0"/>
                  <a:t>. </a:t>
                </a:r>
                <a:r>
                  <a:rPr lang="en-US" dirty="0" err="1"/>
                  <a:t>Posmatranjem</a:t>
                </a:r>
                <a:r>
                  <a:rPr lang="en-US" dirty="0"/>
                  <a:t> se </a:t>
                </a:r>
                <a:r>
                  <a:rPr lang="en-US" dirty="0" err="1"/>
                  <a:t>utvrđuje</a:t>
                </a:r>
                <a:r>
                  <a:rPr lang="en-US" dirty="0"/>
                  <a:t> da se </a:t>
                </a:r>
                <a:r>
                  <a:rPr lang="en-US" dirty="0" err="1"/>
                  <a:t>izlazi</a:t>
                </a:r>
                <a:r>
                  <a:rPr lang="en-US" dirty="0"/>
                  <a:t> </a:t>
                </a:r>
                <a:r>
                  <a:rPr lang="en-US" dirty="0" err="1"/>
                  <a:t>ponavljaju</a:t>
                </a:r>
                <a:r>
                  <a:rPr lang="en-US" dirty="0"/>
                  <a:t> </a:t>
                </a:r>
                <a:r>
                  <a:rPr lang="en-US" dirty="0" err="1"/>
                  <a:t>sa</a:t>
                </a:r>
                <a:r>
                  <a:rPr lang="en-US" dirty="0"/>
                  <a:t> </a:t>
                </a:r>
                <a:r>
                  <a:rPr lang="en-US" dirty="0" err="1"/>
                  <a:t>periodom</a:t>
                </a:r>
                <a:r>
                  <a:rPr lang="en-US" dirty="0"/>
                  <a:t> 6. Na primer 001 </a:t>
                </a:r>
                <a:r>
                  <a:rPr lang="en-US" dirty="0" err="1"/>
                  <a:t>daje</a:t>
                </a:r>
                <a:r>
                  <a:rPr lang="en-US" dirty="0"/>
                  <a:t> </a:t>
                </a:r>
                <a:r>
                  <a:rPr lang="en-US" dirty="0" err="1"/>
                  <a:t>izlaz</a:t>
                </a:r>
                <a:r>
                  <a:rPr lang="en-US" dirty="0"/>
                  <a:t> 010. </a:t>
                </a:r>
                <a:r>
                  <a:rPr lang="en-US" dirty="0" err="1"/>
                  <a:t>Šest</a:t>
                </a:r>
                <a:r>
                  <a:rPr lang="en-US" dirty="0"/>
                  <a:t> </a:t>
                </a:r>
                <a:r>
                  <a:rPr lang="en-US" dirty="0" err="1"/>
                  <a:t>inkremenata</a:t>
                </a:r>
                <a:r>
                  <a:rPr lang="en-US" dirty="0"/>
                  <a:t> </a:t>
                </a:r>
                <a:r>
                  <a:rPr lang="en-US" dirty="0" err="1"/>
                  <a:t>kasnije</a:t>
                </a:r>
                <a:r>
                  <a:rPr lang="en-US" dirty="0"/>
                  <a:t>, </a:t>
                </a:r>
                <a:r>
                  <a:rPr lang="en-US" dirty="0" err="1"/>
                  <a:t>ulaz</a:t>
                </a:r>
                <a:r>
                  <a:rPr lang="en-US" dirty="0"/>
                  <a:t> 111 </a:t>
                </a:r>
                <a:r>
                  <a:rPr lang="en-US" dirty="0" err="1"/>
                  <a:t>daje</a:t>
                </a:r>
                <a:r>
                  <a:rPr lang="en-US" dirty="0"/>
                  <a:t> </a:t>
                </a:r>
                <a:r>
                  <a:rPr lang="en-US" dirty="0" err="1"/>
                  <a:t>isti</a:t>
                </a:r>
                <a:r>
                  <a:rPr lang="en-US" dirty="0"/>
                  <a:t> </a:t>
                </a:r>
                <a:r>
                  <a:rPr lang="en-US" dirty="0" err="1"/>
                  <a:t>izlaz</a:t>
                </a:r>
                <a:r>
                  <a:rPr lang="en-US" dirty="0"/>
                  <a:t> 010. </a:t>
                </a:r>
                <a:r>
                  <a:rPr lang="en-US" dirty="0" err="1"/>
                  <a:t>isto</a:t>
                </a:r>
                <a:r>
                  <a:rPr lang="en-US" dirty="0"/>
                  <a:t> </a:t>
                </a:r>
                <a:r>
                  <a:rPr lang="en-US" dirty="0" err="1"/>
                  <a:t>važi</a:t>
                </a:r>
                <a:r>
                  <a:rPr lang="en-US" dirty="0"/>
                  <a:t> </a:t>
                </a:r>
                <a:r>
                  <a:rPr lang="en-US" dirty="0" err="1"/>
                  <a:t>za</a:t>
                </a:r>
                <a:r>
                  <a:rPr lang="en-US" dirty="0"/>
                  <a:t> </a:t>
                </a:r>
                <a:r>
                  <a:rPr lang="en-US" dirty="0" err="1"/>
                  <a:t>bilo</a:t>
                </a:r>
                <a:r>
                  <a:rPr lang="en-US" dirty="0"/>
                  <a:t> </a:t>
                </a:r>
                <a:r>
                  <a:rPr lang="en-US" dirty="0" err="1"/>
                  <a:t>koji</a:t>
                </a:r>
                <a:r>
                  <a:rPr lang="en-US" dirty="0"/>
                  <a:t> par </a:t>
                </a:r>
                <a:r>
                  <a:rPr lang="en-US" dirty="0" err="1"/>
                  <a:t>ulaza</a:t>
                </a:r>
                <a:r>
                  <a:rPr lang="en-US" dirty="0"/>
                  <a:t>. </a:t>
                </a:r>
              </a:p>
              <a:p>
                <a:r>
                  <a:rPr lang="en-US" dirty="0"/>
                  <a:t> </a:t>
                </a:r>
              </a:p>
              <a:p>
                <a:r>
                  <a:rPr lang="en-US" dirty="0"/>
                  <a:t>U </a:t>
                </a:r>
                <a:r>
                  <a:rPr lang="en-US" dirty="0" err="1"/>
                  <a:t>klasičnom</a:t>
                </a:r>
                <a:r>
                  <a:rPr lang="en-US" dirty="0"/>
                  <a:t> </a:t>
                </a:r>
                <a:r>
                  <a:rPr lang="en-US" dirty="0" err="1"/>
                  <a:t>pristupu</a:t>
                </a:r>
                <a:r>
                  <a:rPr lang="en-US" dirty="0"/>
                  <a:t> </a:t>
                </a:r>
                <a:r>
                  <a:rPr lang="en-US" dirty="0" err="1"/>
                  <a:t>rešavanja</a:t>
                </a:r>
                <a:r>
                  <a:rPr lang="en-US" dirty="0"/>
                  <a:t> </a:t>
                </a:r>
                <a:r>
                  <a:rPr lang="en-US" dirty="0" err="1"/>
                  <a:t>problema</a:t>
                </a:r>
                <a:r>
                  <a:rPr lang="en-US" dirty="0"/>
                  <a:t>, program bi </a:t>
                </a:r>
                <a:r>
                  <a:rPr lang="en-US" dirty="0" err="1"/>
                  <a:t>trebalo</a:t>
                </a:r>
                <a:r>
                  <a:rPr lang="en-US" dirty="0"/>
                  <a:t> da </a:t>
                </a:r>
                <a:r>
                  <a:rPr lang="en-US" dirty="0" err="1"/>
                  <a:t>izračunava</a:t>
                </a:r>
                <a:r>
                  <a:rPr lang="en-US" dirty="0"/>
                  <a:t> </a:t>
                </a:r>
                <a:r>
                  <a:rPr lang="en-US" dirty="0" err="1"/>
                  <a:t>izlaz</a:t>
                </a:r>
                <a:r>
                  <a:rPr lang="en-US" dirty="0"/>
                  <a:t> </a:t>
                </a:r>
                <a:r>
                  <a:rPr lang="en-US" dirty="0" err="1"/>
                  <a:t>za</a:t>
                </a:r>
                <a:r>
                  <a:rPr lang="en-US" dirty="0"/>
                  <a:t> </a:t>
                </a:r>
                <a:r>
                  <a:rPr lang="en-US" dirty="0" err="1"/>
                  <a:t>inkrementalne</a:t>
                </a:r>
                <a:r>
                  <a:rPr lang="en-US" dirty="0"/>
                  <a:t> </a:t>
                </a:r>
                <a:r>
                  <a:rPr lang="en-US" dirty="0" err="1"/>
                  <a:t>vrednosti</a:t>
                </a:r>
                <a:r>
                  <a:rPr lang="en-US" dirty="0"/>
                  <a:t> </a:t>
                </a:r>
                <a:r>
                  <a:rPr lang="en-US" dirty="0" err="1"/>
                  <a:t>ulaza</a:t>
                </a:r>
                <a:r>
                  <a:rPr lang="en-US" dirty="0"/>
                  <a:t> </a:t>
                </a:r>
                <a:r>
                  <a:rPr lang="en-US" dirty="0" err="1"/>
                  <a:t>sve</a:t>
                </a:r>
                <a:r>
                  <a:rPr lang="en-US" dirty="0"/>
                  <a:t> </a:t>
                </a:r>
                <a:r>
                  <a:rPr lang="en-US" dirty="0" err="1"/>
                  <a:t>dok</a:t>
                </a:r>
                <a:r>
                  <a:rPr lang="en-US" dirty="0"/>
                  <a:t> ne </a:t>
                </a:r>
                <a:r>
                  <a:rPr lang="en-US" dirty="0" err="1"/>
                  <a:t>naiđe</a:t>
                </a:r>
                <a:r>
                  <a:rPr lang="en-US" dirty="0"/>
                  <a:t> </a:t>
                </a:r>
                <a:r>
                  <a:rPr lang="en-US" dirty="0" err="1"/>
                  <a:t>na</a:t>
                </a:r>
                <a:r>
                  <a:rPr lang="en-US" dirty="0"/>
                  <a:t> </a:t>
                </a:r>
                <a:r>
                  <a:rPr lang="en-US" dirty="0" err="1"/>
                  <a:t>ponavljanje</a:t>
                </a:r>
                <a:r>
                  <a:rPr lang="en-US" dirty="0"/>
                  <a:t>. </a:t>
                </a:r>
                <a:r>
                  <a:rPr lang="en-US" dirty="0" err="1"/>
                  <a:t>Neka</a:t>
                </a:r>
                <a:r>
                  <a:rPr lang="en-US" dirty="0"/>
                  <a:t> </a:t>
                </a:r>
                <a:r>
                  <a:rPr lang="en-US" dirty="0" err="1"/>
                  <a:t>je</a:t>
                </a:r>
                <a:r>
                  <a:rPr lang="en-US" dirty="0"/>
                  <a:t> </a:t>
                </a:r>
                <a:r>
                  <a:rPr lang="en-US" dirty="0" err="1"/>
                  <a:t>ponavljanje</a:t>
                </a:r>
                <a:r>
                  <a:rPr lang="en-US" dirty="0"/>
                  <a:t> </a:t>
                </a:r>
                <a:r>
                  <a:rPr lang="en-US" dirty="0" err="1"/>
                  <a:t>detektovano</a:t>
                </a:r>
                <a:r>
                  <a:rPr lang="en-US" dirty="0"/>
                  <a:t> </a:t>
                </a:r>
                <a:r>
                  <a:rPr lang="en-US" dirty="0" err="1"/>
                  <a:t>za</a:t>
                </a:r>
                <a:r>
                  <a:rPr lang="en-US" dirty="0"/>
                  <a:t> </a:t>
                </a:r>
                <a:r>
                  <a:rPr lang="en-US" dirty="0" err="1"/>
                  <a:t>vrednosti</a:t>
                </a:r>
                <a:r>
                  <a:rPr lang="en-US" dirty="0"/>
                  <a:t> </a:t>
                </a:r>
                <a:r>
                  <a:rPr lang="sr-Latn-RS" sz="1200" i="0">
                    <a:latin typeface="Cambria Math" panose="02040503050406030204" pitchFamily="18" charset="0"/>
                  </a:rPr>
                  <a:t>𝑥</a:t>
                </a:r>
                <a:r>
                  <a:rPr lang="en-ZA" sz="1200" i="0">
                    <a:latin typeface="Cambria Math" panose="02040503050406030204" pitchFamily="18" charset="0"/>
                  </a:rPr>
                  <a:t>_</a:t>
                </a:r>
                <a:r>
                  <a:rPr lang="sr-Latn-RS" sz="1200" i="0">
                    <a:latin typeface="Cambria Math" panose="02040503050406030204" pitchFamily="18" charset="0"/>
                  </a:rPr>
                  <a:t>𝑖</a:t>
                </a:r>
                <a:r>
                  <a:rPr lang="en-US" dirty="0"/>
                  <a:t> </a:t>
                </a:r>
                <a:r>
                  <a:rPr lang="en-US" dirty="0" err="1"/>
                  <a:t>i</a:t>
                </a:r>
                <a:r>
                  <a:rPr lang="en-US" dirty="0"/>
                  <a:t> </a:t>
                </a:r>
                <a:r>
                  <a:rPr lang="sr-Latn-RS" sz="1200" i="0">
                    <a:latin typeface="Cambria Math" panose="02040503050406030204" pitchFamily="18" charset="0"/>
                  </a:rPr>
                  <a:t>𝑥</a:t>
                </a:r>
                <a:r>
                  <a:rPr lang="en-ZA" sz="1200" i="0">
                    <a:latin typeface="Cambria Math" panose="02040503050406030204" pitchFamily="18" charset="0"/>
                  </a:rPr>
                  <a:t>_</a:t>
                </a:r>
                <a:r>
                  <a:rPr lang="sr-Latn-RS" sz="1200" b="0" i="0">
                    <a:latin typeface="Cambria Math" panose="02040503050406030204" pitchFamily="18" charset="0"/>
                  </a:rPr>
                  <a:t>𝑗</a:t>
                </a:r>
                <a:r>
                  <a:rPr lang="en-US" dirty="0"/>
                  <a:t>, </a:t>
                </a:r>
                <a:r>
                  <a:rPr lang="en-US" dirty="0" err="1"/>
                  <a:t>za</a:t>
                </a:r>
                <a:r>
                  <a:rPr lang="en-US" dirty="0"/>
                  <a:t> </a:t>
                </a:r>
                <a:r>
                  <a:rPr lang="en-US" dirty="0" err="1"/>
                  <a:t>koje</a:t>
                </a:r>
                <a:r>
                  <a:rPr lang="en-US" dirty="0"/>
                  <a:t> </a:t>
                </a:r>
                <a:r>
                  <a:rPr lang="en-US" dirty="0" err="1"/>
                  <a:t>važi</a:t>
                </a:r>
                <a:r>
                  <a:rPr lang="en-US" dirty="0"/>
                  <a:t> </a:t>
                </a:r>
                <a:r>
                  <a:rPr lang="en-US" sz="1200" i="0">
                    <a:latin typeface="Cambria Math" panose="02040503050406030204" pitchFamily="18" charset="0"/>
                  </a:rPr>
                  <a:t>├ 𝑓(𝑥_𝑖)=𝑓(𝑥_𝑗)=𝑓(𝑥_𝑖⨁𝑠)</a:t>
                </a:r>
                <a:r>
                  <a:rPr lang="en-US" dirty="0"/>
                  <a:t>.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Kako</a:t>
                </a:r>
                <a:r>
                  <a:rPr lang="en-US" dirty="0"/>
                  <a:t> </a:t>
                </a:r>
                <a:r>
                  <a:rPr lang="en-US" dirty="0" err="1"/>
                  <a:t>je</a:t>
                </a:r>
                <a:r>
                  <a:rPr lang="en-US" dirty="0"/>
                  <a:t> </a:t>
                </a:r>
                <a:r>
                  <a:rPr lang="sr-Latn-RS" sz="1200" i="0">
                    <a:latin typeface="Cambria Math" panose="02040503050406030204" pitchFamily="18" charset="0"/>
                  </a:rPr>
                  <a:t>𝑥</a:t>
                </a:r>
                <a:r>
                  <a:rPr lang="en-ZA" sz="1200" i="0">
                    <a:latin typeface="Cambria Math" panose="02040503050406030204" pitchFamily="18" charset="0"/>
                  </a:rPr>
                  <a:t>_</a:t>
                </a:r>
                <a:r>
                  <a:rPr lang="sr-Latn-RS" sz="1200" i="0">
                    <a:latin typeface="Cambria Math" panose="02040503050406030204" pitchFamily="18" charset="0"/>
                  </a:rPr>
                  <a:t>𝑗=𝑥</a:t>
                </a:r>
                <a:r>
                  <a:rPr lang="en-ZA" sz="1200" i="0">
                    <a:latin typeface="Cambria Math" panose="02040503050406030204" pitchFamily="18" charset="0"/>
                  </a:rPr>
                  <a:t>_</a:t>
                </a:r>
                <a:r>
                  <a:rPr lang="sr-Latn-RS" sz="1200" i="0">
                    <a:latin typeface="Cambria Math" panose="02040503050406030204" pitchFamily="18" charset="0"/>
                  </a:rPr>
                  <a:t>𝑖⨁ 𝑠</a:t>
                </a:r>
                <a:r>
                  <a:rPr lang="en-US" dirty="0"/>
                  <a:t>,  </a:t>
                </a:r>
                <a:r>
                  <a:rPr lang="en-US" dirty="0" err="1"/>
                  <a:t>dodajući</a:t>
                </a:r>
                <a:r>
                  <a:rPr lang="en-US" dirty="0"/>
                  <a:t> </a:t>
                </a:r>
                <a:r>
                  <a:rPr lang="en-US" dirty="0" err="1"/>
                  <a:t>na</a:t>
                </a:r>
                <a:r>
                  <a:rPr lang="en-US" dirty="0"/>
                  <a:t> </a:t>
                </a:r>
                <a:r>
                  <a:rPr lang="en-US" dirty="0" err="1"/>
                  <a:t>levu</a:t>
                </a:r>
                <a:r>
                  <a:rPr lang="en-US" dirty="0"/>
                  <a:t> </a:t>
                </a:r>
                <a:r>
                  <a:rPr lang="en-US" dirty="0" err="1"/>
                  <a:t>i</a:t>
                </a:r>
                <a:r>
                  <a:rPr lang="en-US" dirty="0"/>
                  <a:t> </a:t>
                </a:r>
                <a:r>
                  <a:rPr lang="en-US" dirty="0" err="1"/>
                  <a:t>desnu</a:t>
                </a:r>
                <a:r>
                  <a:rPr lang="en-US" dirty="0"/>
                  <a:t> </a:t>
                </a:r>
                <a:r>
                  <a:rPr lang="en-US" dirty="0" err="1"/>
                  <a:t>stranu</a:t>
                </a:r>
                <a:r>
                  <a:rPr lang="en-US" dirty="0"/>
                  <a:t> </a:t>
                </a:r>
                <a:r>
                  <a:rPr lang="sr-Latn-RS" sz="1200" i="0">
                    <a:latin typeface="Cambria Math" panose="02040503050406030204" pitchFamily="18" charset="0"/>
                  </a:rPr>
                  <a:t>𝑥</a:t>
                </a:r>
                <a:r>
                  <a:rPr lang="en-ZA" sz="1200" i="0">
                    <a:latin typeface="Cambria Math" panose="02040503050406030204" pitchFamily="18" charset="0"/>
                  </a:rPr>
                  <a:t>_</a:t>
                </a:r>
                <a:r>
                  <a:rPr lang="sr-Latn-RS" sz="1200" i="0">
                    <a:latin typeface="Cambria Math" panose="02040503050406030204" pitchFamily="18" charset="0"/>
                  </a:rPr>
                  <a:t>𝑖</a:t>
                </a:r>
                <a:r>
                  <a:rPr lang="en-US" dirty="0"/>
                  <a:t> </a:t>
                </a:r>
                <a:r>
                  <a:rPr lang="en-US" dirty="0" err="1"/>
                  <a:t>i</a:t>
                </a:r>
                <a:r>
                  <a:rPr lang="en-US" dirty="0"/>
                  <a:t> </a:t>
                </a:r>
                <a:r>
                  <a:rPr lang="en-US" dirty="0" err="1"/>
                  <a:t>uzimajući</a:t>
                </a:r>
                <a:r>
                  <a:rPr lang="en-US" dirty="0"/>
                  <a:t> u </a:t>
                </a:r>
                <a:r>
                  <a:rPr lang="en-US" dirty="0" err="1"/>
                  <a:t>obzir</a:t>
                </a:r>
                <a:r>
                  <a:rPr lang="en-US" dirty="0"/>
                  <a:t> da </a:t>
                </a:r>
                <a:r>
                  <a:rPr lang="en-US" dirty="0" err="1"/>
                  <a:t>je</a:t>
                </a:r>
                <a:r>
                  <a:rPr lang="en-US" dirty="0"/>
                  <a:t> </a:t>
                </a:r>
                <a:r>
                  <a:rPr lang="en-US" dirty="0" err="1"/>
                  <a:t>zbir</a:t>
                </a:r>
                <a:r>
                  <a:rPr lang="en-US" dirty="0"/>
                  <a:t> </a:t>
                </a:r>
                <a:r>
                  <a:rPr lang="en-US" dirty="0" err="1"/>
                  <a:t>dva</a:t>
                </a:r>
                <a:r>
                  <a:rPr lang="en-US" dirty="0"/>
                  <a:t> </a:t>
                </a:r>
                <a:r>
                  <a:rPr lang="en-US" dirty="0" err="1"/>
                  <a:t>ista</a:t>
                </a:r>
                <a:r>
                  <a:rPr lang="en-US" dirty="0"/>
                  <a:t> </a:t>
                </a:r>
                <a:r>
                  <a:rPr lang="en-US" dirty="0" err="1"/>
                  <a:t>binanrna</a:t>
                </a:r>
                <a:r>
                  <a:rPr lang="en-US" dirty="0"/>
                  <a:t> </a:t>
                </a:r>
                <a:r>
                  <a:rPr lang="en-US" dirty="0" err="1"/>
                  <a:t>broja</a:t>
                </a:r>
                <a:r>
                  <a:rPr lang="en-US" dirty="0"/>
                  <a:t> </a:t>
                </a:r>
                <a:r>
                  <a:rPr lang="en-US" dirty="0" err="1"/>
                  <a:t>po</a:t>
                </a:r>
                <a:r>
                  <a:rPr lang="en-US" dirty="0"/>
                  <a:t> </a:t>
                </a:r>
                <a:r>
                  <a:rPr lang="en-US" dirty="0" err="1"/>
                  <a:t>modulu</a:t>
                </a:r>
                <a:r>
                  <a:rPr lang="en-US" dirty="0"/>
                  <a:t> 2 </a:t>
                </a:r>
                <a:r>
                  <a:rPr lang="en-US" dirty="0" err="1"/>
                  <a:t>jednak</a:t>
                </a:r>
                <a:r>
                  <a:rPr lang="en-US" dirty="0"/>
                  <a:t> </a:t>
                </a:r>
                <a:r>
                  <a:rPr lang="en-US" dirty="0" err="1"/>
                  <a:t>nuli</a:t>
                </a:r>
                <a:r>
                  <a:rPr lang="en-US" dirty="0"/>
                  <a:t>, </a:t>
                </a:r>
                <a:r>
                  <a:rPr lang="en-US" dirty="0" err="1"/>
                  <a:t>dobijamo</a:t>
                </a:r>
                <a:r>
                  <a:rPr lang="en-US" dirty="0"/>
                  <a:t> da </a:t>
                </a:r>
                <a:r>
                  <a:rPr lang="en-US" dirty="0" err="1"/>
                  <a:t>je</a:t>
                </a:r>
                <a:r>
                  <a:rPr lang="en-US" dirty="0"/>
                  <a:t> </a:t>
                </a:r>
                <a:r>
                  <a:rPr lang="en-ZA" sz="1200" i="0">
                    <a:latin typeface="Cambria Math" panose="02040503050406030204" pitchFamily="18" charset="0"/>
                  </a:rPr>
                  <a:t>〖〖</a:t>
                </a:r>
                <a:r>
                  <a:rPr lang="sr-Latn-RS" sz="1200" b="0" i="0">
                    <a:latin typeface="Cambria Math" panose="02040503050406030204" pitchFamily="18" charset="0"/>
                  </a:rPr>
                  <a:t>𝑠=</a:t>
                </a:r>
                <a:r>
                  <a:rPr lang="sr-Latn-RS" sz="1200" i="0">
                    <a:latin typeface="Cambria Math" panose="02040503050406030204" pitchFamily="18" charset="0"/>
                  </a:rPr>
                  <a:t>𝑥</a:t>
                </a:r>
                <a:r>
                  <a:rPr lang="en-ZA" sz="1200" i="0">
                    <a:latin typeface="Cambria Math" panose="02040503050406030204" pitchFamily="18" charset="0"/>
                  </a:rPr>
                  <a:t>〗_</a:t>
                </a:r>
                <a:r>
                  <a:rPr lang="sr-Latn-RS" sz="1200" i="0">
                    <a:latin typeface="Cambria Math" panose="02040503050406030204" pitchFamily="18" charset="0"/>
                  </a:rPr>
                  <a:t>𝑖⨁𝑥</a:t>
                </a:r>
                <a:r>
                  <a:rPr lang="en-ZA" sz="1200" i="0">
                    <a:latin typeface="Cambria Math" panose="02040503050406030204" pitchFamily="18" charset="0"/>
                  </a:rPr>
                  <a:t>〗_</a:t>
                </a:r>
                <a:r>
                  <a:rPr lang="sr-Latn-RS" sz="1200" i="0">
                    <a:latin typeface="Cambria Math" panose="02040503050406030204" pitchFamily="18" charset="0"/>
                  </a:rPr>
                  <a:t>𝑗</a:t>
                </a:r>
                <a:r>
                  <a:rPr lang="en-US" dirty="0"/>
                  <a:t>. </a:t>
                </a:r>
                <a:r>
                  <a:rPr lang="en-US" dirty="0" err="1"/>
                  <a:t>Drugim</a:t>
                </a:r>
                <a:r>
                  <a:rPr lang="en-US" dirty="0"/>
                  <a:t> </a:t>
                </a:r>
                <a:r>
                  <a:rPr lang="en-US" dirty="0" err="1"/>
                  <a:t>rečima</a:t>
                </a:r>
                <a:r>
                  <a:rPr lang="en-US" dirty="0"/>
                  <a:t>, period se </a:t>
                </a:r>
                <a:r>
                  <a:rPr lang="en-US" dirty="0" err="1"/>
                  <a:t>dobija</a:t>
                </a:r>
                <a:r>
                  <a:rPr lang="en-US" dirty="0"/>
                  <a:t> </a:t>
                </a:r>
                <a:r>
                  <a:rPr lang="en-US" dirty="0" err="1"/>
                  <a:t>jednostavnim</a:t>
                </a:r>
                <a:r>
                  <a:rPr lang="en-US" dirty="0"/>
                  <a:t> </a:t>
                </a:r>
                <a:r>
                  <a:rPr lang="en-US" dirty="0" err="1"/>
                  <a:t>sabiranjem</a:t>
                </a:r>
                <a:r>
                  <a:rPr lang="en-US" dirty="0"/>
                  <a:t> </a:t>
                </a:r>
                <a:r>
                  <a:rPr lang="en-US" dirty="0" err="1"/>
                  <a:t>dve</a:t>
                </a:r>
                <a:r>
                  <a:rPr lang="en-US" dirty="0"/>
                  <a:t> </a:t>
                </a:r>
                <a:r>
                  <a:rPr lang="en-US" dirty="0" err="1"/>
                  <a:t>ulazne</a:t>
                </a:r>
                <a:r>
                  <a:rPr lang="en-US" dirty="0"/>
                  <a:t> </a:t>
                </a:r>
                <a:r>
                  <a:rPr lang="en-US" dirty="0" err="1"/>
                  <a:t>vrednosti</a:t>
                </a:r>
                <a:r>
                  <a:rPr lang="en-US" dirty="0"/>
                  <a:t> </a:t>
                </a:r>
                <a:r>
                  <a:rPr lang="en-US" dirty="0" err="1"/>
                  <a:t>funkcije</a:t>
                </a:r>
                <a:r>
                  <a:rPr lang="en-US" dirty="0"/>
                  <a:t> </a:t>
                </a:r>
                <a:r>
                  <a:rPr lang="en-US" dirty="0" err="1"/>
                  <a:t>koje</a:t>
                </a:r>
                <a:r>
                  <a:rPr lang="en-US" dirty="0"/>
                  <a:t> </a:t>
                </a:r>
                <a:r>
                  <a:rPr lang="en-US" dirty="0" err="1"/>
                  <a:t>daju</a:t>
                </a:r>
                <a:r>
                  <a:rPr lang="en-US" dirty="0"/>
                  <a:t> </a:t>
                </a:r>
                <a:r>
                  <a:rPr lang="en-US" dirty="0" err="1"/>
                  <a:t>isti</a:t>
                </a:r>
                <a:r>
                  <a:rPr lang="en-US" dirty="0"/>
                  <a:t> </a:t>
                </a:r>
                <a:r>
                  <a:rPr lang="en-US" dirty="0" err="1"/>
                  <a:t>izlaz</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U </a:t>
                </a:r>
                <a:r>
                  <a:rPr lang="en-US" dirty="0" err="1"/>
                  <a:t>primeru</a:t>
                </a:r>
                <a:r>
                  <a:rPr lang="en-US" dirty="0"/>
                  <a:t> </a:t>
                </a:r>
                <a:r>
                  <a:rPr lang="en-US" dirty="0" err="1"/>
                  <a:t>iz</a:t>
                </a:r>
                <a:r>
                  <a:rPr lang="en-US" dirty="0"/>
                  <a:t> </a:t>
                </a:r>
                <a:r>
                  <a:rPr lang="en-US" dirty="0" err="1"/>
                  <a:t>tabele</a:t>
                </a:r>
                <a:r>
                  <a:rPr lang="en-US" dirty="0"/>
                  <a:t>, to </a:t>
                </a:r>
                <a:r>
                  <a:rPr lang="en-US" dirty="0" err="1"/>
                  <a:t>su</a:t>
                </a:r>
                <a:r>
                  <a:rPr lang="en-US" dirty="0"/>
                  <a:t> </a:t>
                </a:r>
                <a:r>
                  <a:rPr lang="en-US" dirty="0" err="1"/>
                  <a:t>vrednosti</a:t>
                </a:r>
                <a:r>
                  <a:rPr lang="en-US" dirty="0"/>
                  <a:t> 001 </a:t>
                </a:r>
                <a:r>
                  <a:rPr lang="en-US" dirty="0" err="1"/>
                  <a:t>i</a:t>
                </a:r>
                <a:r>
                  <a:rPr lang="en-US" dirty="0"/>
                  <a:t> 111. </a:t>
                </a:r>
                <a:r>
                  <a:rPr lang="en-US" dirty="0" err="1"/>
                  <a:t>Sabiranjem</a:t>
                </a:r>
                <a:r>
                  <a:rPr lang="en-US" dirty="0"/>
                  <a:t> se </a:t>
                </a:r>
                <a:r>
                  <a:rPr lang="en-US" dirty="0" err="1"/>
                  <a:t>dobija</a:t>
                </a:r>
                <a:r>
                  <a:rPr lang="en-US" dirty="0"/>
                  <a:t> </a:t>
                </a:r>
                <a:r>
                  <a:rPr lang="en-US" dirty="0" err="1"/>
                  <a:t>vrednost</a:t>
                </a:r>
                <a:r>
                  <a:rPr lang="en-US" dirty="0"/>
                  <a:t> </a:t>
                </a:r>
                <a:r>
                  <a:rPr lang="en-US" dirty="0" err="1"/>
                  <a:t>perioda</a:t>
                </a:r>
                <a:r>
                  <a:rPr lang="en-US" dirty="0"/>
                  <a:t> </a:t>
                </a:r>
                <a:r>
                  <a:rPr lang="en-US" sz="1200" i="0">
                    <a:latin typeface="Cambria Math" panose="02040503050406030204" pitchFamily="18" charset="0"/>
                  </a:rPr>
                  <a:t>𝑠=</a:t>
                </a:r>
                <a:r>
                  <a:rPr lang="sr-Latn-RS" sz="1200" b="0" i="0">
                    <a:latin typeface="Cambria Math" panose="02040503050406030204" pitchFamily="18" charset="0"/>
                  </a:rPr>
                  <a:t>110</a:t>
                </a:r>
                <a:r>
                  <a:rPr lang="en-US" dirty="0"/>
                  <a:t>.</a:t>
                </a:r>
              </a:p>
              <a:p>
                <a:endParaRPr lang="en-US" baseline="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19958637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In a simple classical approach, input-output pairs are examined one by one until two different inputs producing the same output are found.</a:t>
                </a:r>
              </a:p>
              <a:p>
                <a:endParaRPr lang="en-ZA" b="0" dirty="0"/>
              </a:p>
              <a:p>
                <a:r>
                  <a:rPr lang="en-ZA" b="0" dirty="0"/>
                  <a:t>A more efficient classical approach is to randomly select </a:t>
                </a:r>
                <a14:m>
                  <m:oMath xmlns:m="http://schemas.openxmlformats.org/officeDocument/2006/math">
                    <m:r>
                      <a:rPr lang="sr-Latn-RS" sz="1200" i="1" smtClean="0">
                        <a:latin typeface="Cambria Math" panose="02040503050406030204" pitchFamily="18" charset="0"/>
                      </a:rPr>
                      <m:t>𝑚</m:t>
                    </m:r>
                  </m:oMath>
                </a14:m>
                <a:r>
                  <a:rPr lang="en-ZA" b="0" dirty="0"/>
                  <a:t> inputs. </a:t>
                </a:r>
                <a:r>
                  <a:rPr lang="en-ZA" dirty="0"/>
                  <a:t>Since each input is an </a:t>
                </a:r>
                <a14:m>
                  <m:oMath xmlns:m="http://schemas.openxmlformats.org/officeDocument/2006/math">
                    <m:r>
                      <a:rPr lang="en-US" sz="1200" b="0" i="1" smtClean="0">
                        <a:latin typeface="Cambria Math" panose="02040503050406030204" pitchFamily="18" charset="0"/>
                      </a:rPr>
                      <m:t>𝑛</m:t>
                    </m:r>
                  </m:oMath>
                </a14:m>
                <a:r>
                  <a:rPr lang="en-ZA" dirty="0"/>
                  <a:t>-bit string, there are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2</m:t>
                        </m:r>
                      </m:e>
                      <m:sup>
                        <m:r>
                          <a:rPr lang="sr-Latn-RS" sz="1200" i="1">
                            <a:latin typeface="Cambria Math" panose="02040503050406030204" pitchFamily="18" charset="0"/>
                          </a:rPr>
                          <m:t>𝑛</m:t>
                        </m:r>
                      </m:sup>
                    </m:sSup>
                  </m:oMath>
                </a14:m>
                <a:r>
                  <a:rPr lang="en-ZA" dirty="0"/>
                  <a:t> possible inputs.</a:t>
                </a:r>
                <a:r>
                  <a:rPr lang="en-ZA" b="0" dirty="0"/>
                  <a:t> </a:t>
                </a:r>
                <a:r>
                  <a:rPr lang="en-ZA" dirty="0"/>
                  <a:t>The </a:t>
                </a:r>
                <a14:m>
                  <m:oMath xmlns:m="http://schemas.openxmlformats.org/officeDocument/2006/math">
                    <m:r>
                      <a:rPr lang="sr-Latn-RS" sz="1200" i="1" smtClean="0">
                        <a:latin typeface="Cambria Math" panose="02040503050406030204" pitchFamily="18" charset="0"/>
                      </a:rPr>
                      <m:t>𝑚</m:t>
                    </m:r>
                  </m:oMath>
                </a14:m>
                <a:r>
                  <a:rPr lang="en-ZA" dirty="0"/>
                  <a:t> selected inputs form</a:t>
                </a:r>
                <a:endParaRPr lang="en-ZA" b="0" dirty="0"/>
              </a:p>
              <a:p>
                <a:pPr/>
                <a14:m>
                  <m:oMathPara xmlns:m="http://schemas.openxmlformats.org/officeDocument/2006/math">
                    <m:oMathParaPr>
                      <m:jc m:val="centerGroup"/>
                    </m:oMathParaPr>
                    <m:oMath xmlns:m="http://schemas.openxmlformats.org/officeDocument/2006/math">
                      <m:f>
                        <m:fPr>
                          <m:ctrlPr>
                            <a:rPr lang="sr-Latn-RS" sz="1200" i="1" smtClean="0">
                              <a:latin typeface="Cambria Math" panose="02040503050406030204" pitchFamily="18" charset="0"/>
                            </a:rPr>
                          </m:ctrlPr>
                        </m:fPr>
                        <m:num>
                          <m:r>
                            <a:rPr lang="sr-Latn-RS" sz="1200" i="1" smtClean="0">
                              <a:latin typeface="Cambria Math" panose="02040503050406030204" pitchFamily="18" charset="0"/>
                            </a:rPr>
                            <m:t>𝑚</m:t>
                          </m:r>
                          <m:d>
                            <m:dPr>
                              <m:ctrlPr>
                                <a:rPr lang="en-ZA" sz="1200" i="1">
                                  <a:latin typeface="Cambria Math" panose="02040503050406030204" pitchFamily="18" charset="0"/>
                                </a:rPr>
                              </m:ctrlPr>
                            </m:dPr>
                            <m:e>
                              <m:r>
                                <a:rPr lang="sr-Latn-RS" sz="1200" i="1">
                                  <a:latin typeface="Cambria Math" panose="02040503050406030204" pitchFamily="18" charset="0"/>
                                </a:rPr>
                                <m:t>𝑚</m:t>
                              </m:r>
                              <m:r>
                                <a:rPr lang="sr-Latn-RS" sz="1200" i="1">
                                  <a:latin typeface="Cambria Math" panose="02040503050406030204" pitchFamily="18" charset="0"/>
                                </a:rPr>
                                <m:t>−1</m:t>
                              </m:r>
                            </m:e>
                          </m:d>
                        </m:num>
                        <m:den>
                          <m:r>
                            <a:rPr lang="sr-Latn-RS" sz="1200" b="0" i="1" smtClean="0">
                              <a:latin typeface="Cambria Math" panose="02040503050406030204" pitchFamily="18" charset="0"/>
                            </a:rPr>
                            <m:t>2</m:t>
                          </m:r>
                        </m:den>
                      </m:f>
                    </m:oMath>
                  </m:oMathPara>
                </a14:m>
                <a:endParaRPr lang="en-ZA" b="0" dirty="0"/>
              </a:p>
              <a:p>
                <a:endParaRPr lang="en-ZA" b="0" dirty="0"/>
              </a:p>
              <a:p>
                <a:r>
                  <a:rPr lang="en-ZA" dirty="0"/>
                  <a:t>unique pairs, which grows approximately as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𝑚</m:t>
                        </m:r>
                      </m:e>
                      <m:sup>
                        <m:r>
                          <a:rPr lang="sr-Latn-RS" sz="1200" i="1">
                            <a:latin typeface="Cambria Math" panose="02040503050406030204" pitchFamily="18" charset="0"/>
                          </a:rPr>
                          <m:t>2</m:t>
                        </m:r>
                      </m:sup>
                    </m:sSup>
                  </m:oMath>
                </a14:m>
                <a:r>
                  <a:rPr lang="en-ZA" dirty="0"/>
                  <a:t>. A collision is expected when the number of these pairs becomes comparable to the number of possible n-bit inputs,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2</m:t>
                        </m:r>
                      </m:e>
                      <m:sup>
                        <m:r>
                          <a:rPr lang="sr-Latn-RS" sz="1200" i="1">
                            <a:latin typeface="Cambria Math" panose="02040503050406030204" pitchFamily="18" charset="0"/>
                          </a:rPr>
                          <m:t>𝑛</m:t>
                        </m:r>
                      </m:sup>
                    </m:sSup>
                  </m:oMath>
                </a14:m>
                <a:r>
                  <a:rPr lang="en-ZA" dirty="0"/>
                  <a:t>.</a:t>
                </a:r>
              </a:p>
              <a:p>
                <a:endParaRPr lang="en-ZA" b="0" baseline="0" dirty="0"/>
              </a:p>
              <a:p>
                <a:r>
                  <a:rPr lang="en-ZA" dirty="0"/>
                  <a:t>This gives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𝑚</m:t>
                        </m:r>
                      </m:e>
                      <m:sup>
                        <m:r>
                          <a:rPr lang="sr-Latn-RS" sz="1200" i="1">
                            <a:latin typeface="Cambria Math" panose="02040503050406030204" pitchFamily="18" charset="0"/>
                          </a:rPr>
                          <m:t>2</m:t>
                        </m:r>
                      </m:sup>
                    </m:sSup>
                    <m:r>
                      <a:rPr lang="sr-Latn-RS" sz="1200" i="1" smtClean="0">
                        <a:latin typeface="Cambria Math" panose="02040503050406030204" pitchFamily="18" charset="0"/>
                      </a:rPr>
                      <m:t>≈</m:t>
                    </m:r>
                    <m:sSup>
                      <m:sSupPr>
                        <m:ctrlPr>
                          <a:rPr lang="en-ZA" sz="1200" i="1" smtClean="0">
                            <a:latin typeface="Cambria Math" panose="02040503050406030204" pitchFamily="18" charset="0"/>
                          </a:rPr>
                        </m:ctrlPr>
                      </m:sSupPr>
                      <m:e>
                        <m:r>
                          <a:rPr lang="sr-Latn-RS" sz="1200" i="1">
                            <a:latin typeface="Cambria Math" panose="02040503050406030204" pitchFamily="18" charset="0"/>
                          </a:rPr>
                          <m:t>2</m:t>
                        </m:r>
                      </m:e>
                      <m:sup>
                        <m:r>
                          <a:rPr lang="sr-Latn-RS" sz="1200" i="1">
                            <a:latin typeface="Cambria Math" panose="02040503050406030204" pitchFamily="18" charset="0"/>
                          </a:rPr>
                          <m:t>𝑛</m:t>
                        </m:r>
                      </m:sup>
                    </m:sSup>
                  </m:oMath>
                </a14:m>
                <a:r>
                  <a:rPr lang="en-ZA" b="0" dirty="0"/>
                  <a:t> </a:t>
                </a:r>
                <a:r>
                  <a:rPr lang="en-ZA" dirty="0"/>
                  <a:t>and therefore </a:t>
                </a:r>
                <a14:m>
                  <m:oMath xmlns:m="http://schemas.openxmlformats.org/officeDocument/2006/math">
                    <m:r>
                      <a:rPr lang="sr-Latn-RS" sz="1200" i="1" smtClean="0">
                        <a:latin typeface="Cambria Math" panose="02040503050406030204" pitchFamily="18" charset="0"/>
                      </a:rPr>
                      <m:t>𝑚</m:t>
                    </m:r>
                    <m:r>
                      <a:rPr lang="sr-Latn-RS" sz="1200" i="1" smtClean="0">
                        <a:latin typeface="Cambria Math" panose="02040503050406030204" pitchFamily="18" charset="0"/>
                      </a:rPr>
                      <m:t>≈</m:t>
                    </m:r>
                    <m:rad>
                      <m:radPr>
                        <m:degHide m:val="on"/>
                        <m:ctrlPr>
                          <a:rPr lang="en-ZA" sz="1200" i="1" smtClean="0">
                            <a:latin typeface="Cambria Math" panose="02040503050406030204" pitchFamily="18" charset="0"/>
                          </a:rPr>
                        </m:ctrlPr>
                      </m:radPr>
                      <m:deg/>
                      <m:e>
                        <m:sSup>
                          <m:sSupPr>
                            <m:ctrlPr>
                              <a:rPr lang="en-ZA" sz="1200" i="1">
                                <a:latin typeface="Cambria Math" panose="02040503050406030204" pitchFamily="18" charset="0"/>
                              </a:rPr>
                            </m:ctrlPr>
                          </m:sSupPr>
                          <m:e>
                            <m:r>
                              <a:rPr lang="sr-Latn-RS" sz="1200" i="1">
                                <a:latin typeface="Cambria Math" panose="02040503050406030204" pitchFamily="18" charset="0"/>
                              </a:rPr>
                              <m:t>2</m:t>
                            </m:r>
                          </m:e>
                          <m:sup>
                            <m:r>
                              <a:rPr lang="sr-Latn-RS" sz="1200" i="1">
                                <a:latin typeface="Cambria Math" panose="02040503050406030204" pitchFamily="18" charset="0"/>
                              </a:rPr>
                              <m:t>𝑛</m:t>
                            </m:r>
                          </m:sup>
                        </m:sSup>
                      </m:e>
                    </m:rad>
                  </m:oMath>
                </a14:m>
                <a:r>
                  <a:rPr lang="en-ZA" b="0" dirty="0"/>
                  <a:t>. </a:t>
                </a:r>
                <a:r>
                  <a:rPr lang="en-ZA" dirty="0"/>
                  <a:t>The classical query complexity is therefore </a:t>
                </a:r>
                <a14:m>
                  <m:oMath xmlns:m="http://schemas.openxmlformats.org/officeDocument/2006/math">
                    <m:r>
                      <a:rPr lang="en-US" sz="1200" b="0" i="1" smtClean="0">
                        <a:latin typeface="Cambria Math" panose="02040503050406030204" pitchFamily="18" charset="0"/>
                      </a:rPr>
                      <m:t>𝑂</m:t>
                    </m:r>
                    <m:d>
                      <m:dPr>
                        <m:ctrlPr>
                          <a:rPr lang="en-US" sz="1200" b="0" i="1" smtClean="0">
                            <a:latin typeface="Cambria Math" panose="02040503050406030204" pitchFamily="18" charset="0"/>
                          </a:rPr>
                        </m:ctrlPr>
                      </m:dPr>
                      <m:e>
                        <m:rad>
                          <m:radPr>
                            <m:degHide m:val="on"/>
                            <m:ctrlPr>
                              <a:rPr lang="en-ZA" sz="1200" i="1" smtClean="0">
                                <a:latin typeface="Cambria Math" panose="02040503050406030204" pitchFamily="18" charset="0"/>
                              </a:rPr>
                            </m:ctrlPr>
                          </m:radPr>
                          <m:deg/>
                          <m:e>
                            <m:sSup>
                              <m:sSupPr>
                                <m:ctrlPr>
                                  <a:rPr lang="en-ZA" sz="1200" i="1">
                                    <a:latin typeface="Cambria Math" panose="02040503050406030204" pitchFamily="18" charset="0"/>
                                  </a:rPr>
                                </m:ctrlPr>
                              </m:sSupPr>
                              <m:e>
                                <m:r>
                                  <a:rPr lang="sr-Latn-RS" sz="1200" i="1">
                                    <a:latin typeface="Cambria Math" panose="02040503050406030204" pitchFamily="18" charset="0"/>
                                  </a:rPr>
                                  <m:t>2</m:t>
                                </m:r>
                              </m:e>
                              <m:sup>
                                <m:r>
                                  <a:rPr lang="sr-Latn-RS" sz="1200" i="1">
                                    <a:latin typeface="Cambria Math" panose="02040503050406030204" pitchFamily="18" charset="0"/>
                                  </a:rPr>
                                  <m:t>𝑛</m:t>
                                </m:r>
                              </m:sup>
                            </m:sSup>
                          </m:e>
                        </m:rad>
                      </m:e>
                    </m:d>
                    <m:r>
                      <a:rPr lang="en-US" sz="1200" b="0" i="1" smtClean="0">
                        <a:latin typeface="Cambria Math" panose="02040503050406030204" pitchFamily="18" charset="0"/>
                      </a:rPr>
                      <m:t>=</m:t>
                    </m:r>
                    <m:r>
                      <a:rPr lang="sr-Latn-RS" sz="1200" i="1" smtClean="0">
                        <a:latin typeface="Cambria Math" panose="02040503050406030204" pitchFamily="18" charset="0"/>
                      </a:rPr>
                      <m:t>𝑂</m:t>
                    </m:r>
                    <m:r>
                      <a:rPr lang="sr-Latn-RS" sz="1200" i="1" smtClean="0">
                        <a:latin typeface="Cambria Math" panose="02040503050406030204" pitchFamily="18" charset="0"/>
                      </a:rPr>
                      <m:t>(</m:t>
                    </m:r>
                    <m:sSup>
                      <m:sSupPr>
                        <m:ctrlPr>
                          <a:rPr lang="en-ZA" sz="1200" i="1">
                            <a:latin typeface="Cambria Math" panose="02040503050406030204" pitchFamily="18" charset="0"/>
                          </a:rPr>
                        </m:ctrlPr>
                      </m:sSupPr>
                      <m:e>
                        <m:r>
                          <a:rPr lang="sr-Latn-RS" sz="1200" i="1">
                            <a:latin typeface="Cambria Math" panose="02040503050406030204" pitchFamily="18" charset="0"/>
                          </a:rPr>
                          <m:t>2</m:t>
                        </m:r>
                      </m:e>
                      <m:sup>
                        <m:r>
                          <a:rPr lang="sr-Latn-RS" sz="1200" i="1">
                            <a:latin typeface="Cambria Math" panose="02040503050406030204" pitchFamily="18" charset="0"/>
                          </a:rPr>
                          <m:t>𝑛</m:t>
                        </m:r>
                        <m:r>
                          <a:rPr lang="en-US" sz="1200" b="0" i="1" smtClean="0">
                            <a:latin typeface="Cambria Math" panose="02040503050406030204" pitchFamily="18" charset="0"/>
                          </a:rPr>
                          <m:t>/2</m:t>
                        </m:r>
                      </m:sup>
                    </m:sSup>
                    <m:r>
                      <a:rPr lang="sr-Latn-RS" sz="1200" i="1">
                        <a:latin typeface="Cambria Math" panose="02040503050406030204" pitchFamily="18" charset="0"/>
                      </a:rPr>
                      <m:t>)</m:t>
                    </m:r>
                  </m:oMath>
                </a14:m>
                <a:r>
                  <a:rPr lang="en-ZA" b="0" dirty="0"/>
                  <a:t>. T</a:t>
                </a:r>
                <a:r>
                  <a:rPr lang="en-ZA" dirty="0"/>
                  <a:t>he classical query complexity is exponential in the number of input bits </a:t>
                </a:r>
                <a14:m>
                  <m:oMath xmlns:m="http://schemas.openxmlformats.org/officeDocument/2006/math">
                    <m:r>
                      <a:rPr lang="sr-Latn-RS" sz="1200" i="1" smtClean="0">
                        <a:latin typeface="Cambria Math" panose="02040503050406030204" pitchFamily="18" charset="0"/>
                      </a:rPr>
                      <m:t>𝑛</m:t>
                    </m:r>
                  </m:oMath>
                </a14:m>
                <a:r>
                  <a:rPr lang="en-ZA" dirty="0"/>
                  <a:t>. This means that the number of required queries grows very rapidly as </a:t>
                </a:r>
                <a14:m>
                  <m:oMath xmlns:m="http://schemas.openxmlformats.org/officeDocument/2006/math">
                    <m:r>
                      <a:rPr lang="sr-Latn-RS" sz="1200" i="1" smtClean="0">
                        <a:latin typeface="Cambria Math" panose="02040503050406030204" pitchFamily="18" charset="0"/>
                      </a:rPr>
                      <m:t>𝑛</m:t>
                    </m:r>
                  </m:oMath>
                </a14:m>
                <a:r>
                  <a:rPr lang="en-ZA" dirty="0"/>
                  <a:t> increases.</a:t>
                </a:r>
                <a:endParaRPr lang="en-ZA" b="0" dirty="0"/>
              </a:p>
              <a:p>
                <a:pPr algn="just"/>
                <a:endParaRPr lang="en-ZA"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kern="1200" dirty="0">
                    <a:solidFill>
                      <a:schemeClr val="tx1"/>
                    </a:solidFill>
                    <a:effectLst/>
                    <a:latin typeface="+mn-lt"/>
                    <a:ea typeface="+mn-ea"/>
                    <a:cs typeface="+mn-cs"/>
                  </a:rPr>
                  <a:t>U klasičnom pristupu rešavanja problema, parovi ulaza i izlaza se jedan po jedan ispituju sve dok se, u najgorem slučaju, ne ispita polovina mogućih ulaza. </a:t>
                </a:r>
              </a:p>
              <a:p>
                <a:pPr marL="0" marR="0" lvl="0" indent="0" algn="l" defTabSz="914400" rtl="0" eaLnBrk="1" fontAlgn="auto" latinLnBrk="0" hangingPunct="1">
                  <a:lnSpc>
                    <a:spcPct val="100000"/>
                  </a:lnSpc>
                  <a:spcBef>
                    <a:spcPts val="0"/>
                  </a:spcBef>
                  <a:spcAft>
                    <a:spcPts val="0"/>
                  </a:spcAft>
                  <a:buClrTx/>
                  <a:buSzTx/>
                  <a:buFontTx/>
                  <a:buNone/>
                  <a:tabLst/>
                  <a:defRPr/>
                </a:pPr>
                <a:endParaRPr lang="sr-Latn-R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sr-Latn-RS" sz="1200" kern="1200" dirty="0">
                    <a:solidFill>
                      <a:schemeClr val="tx1"/>
                    </a:solidFill>
                    <a:effectLst/>
                    <a:latin typeface="+mn-lt"/>
                    <a:ea typeface="+mn-ea"/>
                    <a:cs typeface="+mn-cs"/>
                  </a:rPr>
                  <a:t>Efikasniji metod je da se nasumice izabere </a:t>
                </a:r>
                <a:r>
                  <a:rPr lang="sr-Latn-RS" sz="1200" kern="1200" dirty="0" err="1">
                    <a:solidFill>
                      <a:schemeClr val="tx1"/>
                    </a:solidFill>
                    <a:effectLst/>
                    <a:latin typeface="+mn-lt"/>
                    <a:ea typeface="+mn-ea"/>
                    <a:cs typeface="+mn-cs"/>
                  </a:rPr>
                  <a:t>potskup</a:t>
                </a:r>
                <a:r>
                  <a:rPr lang="sr-Latn-RS" sz="1200" kern="1200" dirty="0">
                    <a:solidFill>
                      <a:schemeClr val="tx1"/>
                    </a:solidFill>
                    <a:effectLst/>
                    <a:latin typeface="+mn-lt"/>
                    <a:ea typeface="+mn-ea"/>
                    <a:cs typeface="+mn-cs"/>
                  </a:rPr>
                  <a:t> od </a:t>
                </a:r>
                <a:r>
                  <a:rPr lang="sr-Latn-RS" sz="1200" i="0">
                    <a:latin typeface="Cambria Math" panose="02040503050406030204" pitchFamily="18" charset="0"/>
                  </a:rPr>
                  <a:t>𝑚</a:t>
                </a:r>
                <a:r>
                  <a:rPr lang="sr-Latn-RS" sz="1200" kern="1200" dirty="0">
                    <a:solidFill>
                      <a:schemeClr val="tx1"/>
                    </a:solidFill>
                    <a:effectLst/>
                    <a:latin typeface="+mn-lt"/>
                    <a:ea typeface="+mn-ea"/>
                    <a:cs typeface="+mn-cs"/>
                  </a:rPr>
                  <a:t> ulaza od kojih se formira 𝑚(𝑚−1)/2 parova što se može </a:t>
                </a:r>
                <a:r>
                  <a:rPr lang="sr-Latn-RS" sz="1200" kern="1200" dirty="0" err="1">
                    <a:solidFill>
                      <a:schemeClr val="tx1"/>
                    </a:solidFill>
                    <a:effectLst/>
                    <a:latin typeface="+mn-lt"/>
                    <a:ea typeface="+mn-ea"/>
                    <a:cs typeface="+mn-cs"/>
                  </a:rPr>
                  <a:t>aproksimirati</a:t>
                </a:r>
                <a:r>
                  <a:rPr lang="sr-Latn-RS" sz="1200" kern="1200" dirty="0">
                    <a:solidFill>
                      <a:schemeClr val="tx1"/>
                    </a:solidFill>
                    <a:effectLst/>
                    <a:latin typeface="+mn-lt"/>
                    <a:ea typeface="+mn-ea"/>
                    <a:cs typeface="+mn-cs"/>
                  </a:rPr>
                  <a:t> sa 𝑚</a:t>
                </a:r>
                <a:r>
                  <a:rPr lang="sr-Latn-RS" sz="1200" kern="1200" baseline="30000" dirty="0">
                    <a:solidFill>
                      <a:schemeClr val="tx1"/>
                    </a:solidFill>
                    <a:effectLst/>
                    <a:latin typeface="+mn-lt"/>
                    <a:ea typeface="+mn-ea"/>
                    <a:cs typeface="+mn-cs"/>
                  </a:rPr>
                  <a:t>2</a:t>
                </a:r>
                <a:r>
                  <a:rPr lang="sr-Latn-RS" sz="1200" kern="1200" dirty="0">
                    <a:solidFill>
                      <a:schemeClr val="tx1"/>
                    </a:solidFill>
                    <a:effectLst/>
                    <a:latin typeface="+mn-lt"/>
                    <a:ea typeface="+mn-ea"/>
                    <a:cs typeface="+mn-cs"/>
                  </a:rPr>
                  <a:t> parova. Uzimajući u obzir da verovatnoća poklapanja dva binarna niza od 𝑛 bita iznosi 1/2</a:t>
                </a:r>
                <a:r>
                  <a:rPr lang="sr-Latn-RS" sz="1200" kern="1200" baseline="30000" dirty="0">
                    <a:solidFill>
                      <a:schemeClr val="tx1"/>
                    </a:solidFill>
                    <a:effectLst/>
                    <a:latin typeface="+mn-lt"/>
                    <a:ea typeface="+mn-ea"/>
                    <a:cs typeface="+mn-cs"/>
                  </a:rPr>
                  <a:t>𝑛</a:t>
                </a:r>
                <a:r>
                  <a:rPr lang="sr-Latn-RS" sz="1200" kern="1200" dirty="0">
                    <a:solidFill>
                      <a:schemeClr val="tx1"/>
                    </a:solidFill>
                    <a:effectLst/>
                    <a:latin typeface="+mn-lt"/>
                    <a:ea typeface="+mn-ea"/>
                    <a:cs typeface="+mn-cs"/>
                  </a:rPr>
                  <a:t>, potrebno je proveriti bar 2</a:t>
                </a:r>
                <a:r>
                  <a:rPr lang="sr-Latn-RS" sz="1200" kern="1200" baseline="30000" dirty="0">
                    <a:solidFill>
                      <a:schemeClr val="tx1"/>
                    </a:solidFill>
                    <a:effectLst/>
                    <a:latin typeface="+mn-lt"/>
                    <a:ea typeface="+mn-ea"/>
                    <a:cs typeface="+mn-cs"/>
                  </a:rPr>
                  <a:t>𝑛</a:t>
                </a:r>
                <a:r>
                  <a:rPr lang="sr-Latn-RS" sz="1200" kern="1200" dirty="0">
                    <a:solidFill>
                      <a:schemeClr val="tx1"/>
                    </a:solidFill>
                    <a:effectLst/>
                    <a:latin typeface="+mn-lt"/>
                    <a:ea typeface="+mn-ea"/>
                    <a:cs typeface="+mn-cs"/>
                  </a:rPr>
                  <a:t> ovakvih parova. Odavde se. opet približno, može smatrati da je 𝑚</a:t>
                </a:r>
                <a:r>
                  <a:rPr lang="sr-Latn-RS" sz="1200" kern="1200" baseline="30000" dirty="0">
                    <a:solidFill>
                      <a:schemeClr val="tx1"/>
                    </a:solidFill>
                    <a:effectLst/>
                    <a:latin typeface="+mn-lt"/>
                    <a:ea typeface="+mn-ea"/>
                    <a:cs typeface="+mn-cs"/>
                  </a:rPr>
                  <a:t>2</a:t>
                </a:r>
                <a:r>
                  <a:rPr lang="sr-Latn-RS" sz="1200" kern="1200" dirty="0">
                    <a:solidFill>
                      <a:schemeClr val="tx1"/>
                    </a:solidFill>
                    <a:effectLst/>
                    <a:latin typeface="+mn-lt"/>
                    <a:ea typeface="+mn-ea"/>
                    <a:cs typeface="+mn-cs"/>
                  </a:rPr>
                  <a:t>≈2</a:t>
                </a:r>
                <a:r>
                  <a:rPr lang="sr-Latn-RS" sz="1200" kern="1200" baseline="30000" dirty="0">
                    <a:solidFill>
                      <a:schemeClr val="tx1"/>
                    </a:solidFill>
                    <a:effectLst/>
                    <a:latin typeface="+mn-lt"/>
                    <a:ea typeface="+mn-ea"/>
                    <a:cs typeface="+mn-cs"/>
                  </a:rPr>
                  <a:t>𝑛</a:t>
                </a:r>
                <a:r>
                  <a:rPr lang="sr-Latn-RS" sz="1200" kern="1200" dirty="0">
                    <a:solidFill>
                      <a:schemeClr val="tx1"/>
                    </a:solidFill>
                    <a:effectLst/>
                    <a:latin typeface="+mn-lt"/>
                    <a:ea typeface="+mn-ea"/>
                    <a:cs typeface="+mn-cs"/>
                  </a:rPr>
                  <a:t>, odnosno broj upita potrebnih da bi se rešio problem iznosi </a:t>
                </a:r>
                <a:r>
                  <a:rPr lang="sr-Latn-RS" sz="1200" b="0" i="0">
                    <a:latin typeface="Cambria Math" panose="02040503050406030204" pitchFamily="18" charset="0"/>
                    <a:ea typeface="Cambria Math" panose="02040503050406030204" pitchFamily="18" charset="0"/>
                  </a:rPr>
                  <a:t>𝑚</a:t>
                </a:r>
                <a:r>
                  <a:rPr lang="sr-Latn-RS" sz="1200" i="0">
                    <a:latin typeface="Cambria Math" panose="02040503050406030204" pitchFamily="18" charset="0"/>
                    <a:ea typeface="Cambria Math" panose="02040503050406030204" pitchFamily="18" charset="0"/>
                  </a:rPr>
                  <a:t>≥</a:t>
                </a:r>
                <a:r>
                  <a:rPr lang="en-ZA" sz="1200" i="0">
                    <a:latin typeface="Cambria Math" panose="02040503050406030204" pitchFamily="18" charset="0"/>
                  </a:rPr>
                  <a:t>√(</a:t>
                </a:r>
                <a:r>
                  <a:rPr lang="sr-Latn-RS" sz="1200" i="0">
                    <a:latin typeface="Cambria Math" panose="02040503050406030204" pitchFamily="18" charset="0"/>
                  </a:rPr>
                  <a:t>2</a:t>
                </a:r>
                <a:r>
                  <a:rPr lang="en-ZA" sz="1200" i="0">
                    <a:latin typeface="Cambria Math" panose="02040503050406030204" pitchFamily="18" charset="0"/>
                  </a:rPr>
                  <a:t>^</a:t>
                </a:r>
                <a:r>
                  <a:rPr lang="sr-Latn-RS" sz="1200" i="0">
                    <a:latin typeface="Cambria Math" panose="02040503050406030204" pitchFamily="18" charset="0"/>
                  </a:rPr>
                  <a:t>𝑛 </a:t>
                </a:r>
                <a:r>
                  <a:rPr lang="en-ZA" sz="1200" i="0">
                    <a:latin typeface="Cambria Math" panose="02040503050406030204" pitchFamily="18" charset="0"/>
                  </a:rPr>
                  <a:t>)</a:t>
                </a:r>
                <a:r>
                  <a:rPr lang="sr-Latn-RS" sz="1200" kern="1200" dirty="0">
                    <a:solidFill>
                      <a:schemeClr val="tx1"/>
                    </a:solidFill>
                    <a:effectLst/>
                    <a:latin typeface="+mn-lt"/>
                    <a:ea typeface="+mn-ea"/>
                    <a:cs typeface="+mn-cs"/>
                  </a:rPr>
                  <a:t>, pa složenost klasičnog algoritma iznosi </a:t>
                </a:r>
                <a:r>
                  <a:rPr lang="sr-Latn-RS" sz="1200" i="0">
                    <a:latin typeface="Cambria Math" panose="02040503050406030204" pitchFamily="18" charset="0"/>
                  </a:rPr>
                  <a:t>𝑂(</a:t>
                </a:r>
                <a:r>
                  <a:rPr lang="en-ZA" sz="1200" i="0">
                    <a:latin typeface="Cambria Math" panose="02040503050406030204" pitchFamily="18" charset="0"/>
                  </a:rPr>
                  <a:t>√(</a:t>
                </a:r>
                <a:r>
                  <a:rPr lang="sr-Latn-RS" sz="1200" i="0">
                    <a:latin typeface="Cambria Math" panose="02040503050406030204" pitchFamily="18" charset="0"/>
                  </a:rPr>
                  <a:t>2</a:t>
                </a:r>
                <a:r>
                  <a:rPr lang="en-ZA" sz="1200" i="0">
                    <a:latin typeface="Cambria Math" panose="02040503050406030204" pitchFamily="18" charset="0"/>
                  </a:rPr>
                  <a:t>^</a:t>
                </a:r>
                <a:r>
                  <a:rPr lang="sr-Latn-RS" sz="1200" i="0">
                    <a:latin typeface="Cambria Math" panose="02040503050406030204" pitchFamily="18" charset="0"/>
                  </a:rPr>
                  <a:t>𝑛 </a:t>
                </a:r>
                <a:r>
                  <a:rPr lang="en-ZA" sz="1200" i="0">
                    <a:latin typeface="Cambria Math" panose="02040503050406030204" pitchFamily="18" charset="0"/>
                  </a:rPr>
                  <a:t>)</a:t>
                </a:r>
                <a:r>
                  <a:rPr lang="sr-Latn-RS" sz="1200" i="0">
                    <a:latin typeface="Cambria Math" panose="02040503050406030204" pitchFamily="18" charset="0"/>
                  </a:rPr>
                  <a:t>)</a:t>
                </a:r>
                <a:r>
                  <a:rPr lang="sr-Latn-RS"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34</a:t>
            </a:fld>
            <a:endParaRPr lang="en-US"/>
          </a:p>
        </p:txBody>
      </p:sp>
    </p:spTree>
    <p:extLst>
      <p:ext uri="{BB962C8B-B14F-4D97-AF65-F5344CB8AC3E}">
        <p14:creationId xmlns:p14="http://schemas.microsoft.com/office/powerpoint/2010/main" val="17947471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Simon’s algorithm offers a more efficient solution to the problem by combining quantum and classical steps. In the quantum part, the oracle is queried on a superposition of all possible inputs. Measuring the function output collapses the input register into a superposition of two states, </a:t>
                </a:r>
                <a14:m>
                  <m:oMath xmlns:m="http://schemas.openxmlformats.org/officeDocument/2006/math">
                    <m:d>
                      <m:dPr>
                        <m:begChr m:val=""/>
                        <m:endChr m:val="⟩"/>
                        <m:ctrlPr>
                          <a:rPr lang="en-ZA" sz="1200" i="1" smtClean="0">
                            <a:latin typeface="Cambria Math" panose="02040503050406030204" pitchFamily="18" charset="0"/>
                          </a:rPr>
                        </m:ctrlPr>
                      </m:dPr>
                      <m:e>
                        <m:r>
                          <a:rPr lang="sr-Latn-RS" sz="1200" i="1">
                            <a:latin typeface="Cambria Math" panose="02040503050406030204" pitchFamily="18" charset="0"/>
                          </a:rPr>
                          <m:t>|</m:t>
                        </m:r>
                        <m:sSub>
                          <m:sSubPr>
                            <m:ctrlPr>
                              <a:rPr lang="en-ZA" sz="1200" i="1">
                                <a:latin typeface="Cambria Math" panose="02040503050406030204" pitchFamily="18" charset="0"/>
                              </a:rPr>
                            </m:ctrlPr>
                          </m:sSubPr>
                          <m:e>
                            <m:r>
                              <a:rPr lang="sr-Latn-RS" sz="1200" i="1">
                                <a:latin typeface="Cambria Math" panose="02040503050406030204" pitchFamily="18" charset="0"/>
                              </a:rPr>
                              <m:t>𝑥</m:t>
                            </m:r>
                          </m:e>
                          <m:sub>
                            <m:r>
                              <a:rPr lang="sr-Latn-RS" sz="1200" i="1">
                                <a:latin typeface="Cambria Math" panose="02040503050406030204" pitchFamily="18" charset="0"/>
                              </a:rPr>
                              <m:t>0</m:t>
                            </m:r>
                          </m:sub>
                        </m:sSub>
                      </m:e>
                    </m:d>
                  </m:oMath>
                </a14:m>
                <a:r>
                  <a:rPr lang="en-ZA" dirty="0"/>
                  <a:t> and </a:t>
                </a:r>
                <a14:m>
                  <m:oMath xmlns:m="http://schemas.openxmlformats.org/officeDocument/2006/math">
                    <m:d>
                      <m:dPr>
                        <m:begChr m:val=""/>
                        <m:endChr m:val="⟩"/>
                        <m:ctrlPr>
                          <a:rPr lang="en-ZA" sz="1200" i="1" smtClean="0">
                            <a:latin typeface="Cambria Math" panose="02040503050406030204" pitchFamily="18" charset="0"/>
                          </a:rPr>
                        </m:ctrlPr>
                      </m:dPr>
                      <m:e>
                        <m:r>
                          <a:rPr lang="sr-Latn-RS" sz="1200" i="1">
                            <a:latin typeface="Cambria Math" panose="02040503050406030204" pitchFamily="18" charset="0"/>
                          </a:rPr>
                          <m:t>|</m:t>
                        </m:r>
                        <m:sSub>
                          <m:sSubPr>
                            <m:ctrlPr>
                              <a:rPr lang="en-ZA" sz="1200" i="1">
                                <a:latin typeface="Cambria Math" panose="02040503050406030204" pitchFamily="18" charset="0"/>
                              </a:rPr>
                            </m:ctrlPr>
                          </m:sSubPr>
                          <m:e>
                            <m:r>
                              <a:rPr lang="sr-Latn-RS" sz="1200" i="1">
                                <a:latin typeface="Cambria Math" panose="02040503050406030204" pitchFamily="18" charset="0"/>
                              </a:rPr>
                              <m:t>𝑥</m:t>
                            </m:r>
                          </m:e>
                          <m:sub>
                            <m:r>
                              <a:rPr lang="sr-Latn-RS" sz="1200" i="1">
                                <a:latin typeface="Cambria Math" panose="02040503050406030204" pitchFamily="18" charset="0"/>
                              </a:rPr>
                              <m:t>0</m:t>
                            </m:r>
                          </m:sub>
                        </m:sSub>
                        <m:r>
                          <a:rPr lang="sr-Latn-RS" sz="1200" i="1">
                            <a:latin typeface="Cambria Math" panose="02040503050406030204" pitchFamily="18" charset="0"/>
                          </a:rPr>
                          <m:t> ⨁ </m:t>
                        </m:r>
                        <m:r>
                          <a:rPr lang="sr-Latn-RS" sz="1200" i="1">
                            <a:latin typeface="Cambria Math" panose="02040503050406030204" pitchFamily="18" charset="0"/>
                          </a:rPr>
                          <m:t>𝑠</m:t>
                        </m:r>
                      </m:e>
                    </m:d>
                  </m:oMath>
                </a14:m>
                <a:r>
                  <a:rPr lang="en-ZA" dirty="0"/>
                  <a:t>, corresponding to inputs that produce the same output. Further quantum processing and measurement produce a bit string that provides an equation involving the hidden string </a:t>
                </a:r>
                <a14:m>
                  <m:oMath xmlns:m="http://schemas.openxmlformats.org/officeDocument/2006/math">
                    <m:r>
                      <a:rPr lang="sr-Latn-RS" sz="1200" i="1" smtClean="0">
                        <a:latin typeface="Cambria Math" panose="02040503050406030204" pitchFamily="18" charset="0"/>
                      </a:rPr>
                      <m:t>𝑠</m:t>
                    </m:r>
                  </m:oMath>
                </a14:m>
                <a:r>
                  <a:rPr lang="en-ZA" dirty="0"/>
                  <a:t>. Repeating this process several times provides enough equations for the classical part of the algorithm to recover </a:t>
                </a:r>
                <a14:m>
                  <m:oMath xmlns:m="http://schemas.openxmlformats.org/officeDocument/2006/math">
                    <m:r>
                      <a:rPr lang="sr-Latn-RS" sz="1200" i="1" smtClean="0">
                        <a:latin typeface="Cambria Math" panose="02040503050406030204" pitchFamily="18" charset="0"/>
                      </a:rPr>
                      <m:t>𝑠</m:t>
                    </m:r>
                  </m:oMath>
                </a14:m>
                <a:r>
                  <a:rPr lang="en-ZA" dirty="0"/>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t>The quantum circuit for Simon’s algorithm consists of two registers, each containing 𝑛 qubits.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The first register, 𝑥, is initialized in the state and serves as the input to the oracle that computes 𝑓(𝑥).</a:t>
                </a:r>
              </a:p>
              <a:p>
                <a:pPr marL="171450" indent="-171450">
                  <a:buFont typeface="Arial" panose="020B0604020202020204" pitchFamily="34" charset="0"/>
                  <a:buChar char="•"/>
                </a:pPr>
                <a:r>
                  <a:rPr lang="en-ZA" dirty="0"/>
                  <a:t>The second register, 𝑧, is also initialized in the state </a:t>
                </a:r>
                <a14:m>
                  <m:oMath xmlns:m="http://schemas.openxmlformats.org/officeDocument/2006/math">
                    <m:sSup>
                      <m:sSupPr>
                        <m:ctrlPr>
                          <a:rPr lang="en-ZA" sz="1200" i="1" smtClean="0">
                            <a:latin typeface="Cambria Math" panose="02040503050406030204" pitchFamily="18" charset="0"/>
                          </a:rPr>
                        </m:ctrlPr>
                      </m:sSupPr>
                      <m:e>
                        <m:d>
                          <m:dPr>
                            <m:begChr m:val=""/>
                            <m:endChr m:val="⟩"/>
                            <m:ctrlPr>
                              <a:rPr lang="en-ZA" sz="1200" i="1">
                                <a:latin typeface="Cambria Math" panose="02040503050406030204" pitchFamily="18" charset="0"/>
                              </a:rPr>
                            </m:ctrlPr>
                          </m:dPr>
                          <m:e>
                            <m:r>
                              <a:rPr lang="sr-Latn-RS" sz="1200" i="1">
                                <a:latin typeface="Cambria Math" panose="02040503050406030204" pitchFamily="18" charset="0"/>
                              </a:rPr>
                              <m:t>|0</m:t>
                            </m:r>
                          </m:e>
                        </m:d>
                      </m:e>
                      <m:sup>
                        <m:r>
                          <a:rPr lang="sr-Latn-RS" sz="1200" i="1">
                            <a:latin typeface="Cambria Math" panose="02040503050406030204" pitchFamily="18" charset="0"/>
                          </a:rPr>
                          <m:t>⊗</m:t>
                        </m:r>
                        <m:r>
                          <a:rPr lang="sr-Latn-RS" sz="1200" i="1">
                            <a:latin typeface="Cambria Math" panose="02040503050406030204" pitchFamily="18" charset="0"/>
                          </a:rPr>
                          <m:t>𝑛</m:t>
                        </m:r>
                      </m:sup>
                    </m:sSup>
                  </m:oMath>
                </a14:m>
                <a:r>
                  <a:rPr lang="en-ZA" dirty="0"/>
                  <a:t> .</a:t>
                </a:r>
              </a:p>
              <a:p>
                <a:endParaRPr lang="en-ZA" dirty="0"/>
              </a:p>
              <a:p>
                <a:pPr marL="228600" indent="-228600">
                  <a:buFont typeface="+mj-lt"/>
                  <a:buAutoNum type="arabicPeriod"/>
                </a:pPr>
                <a:r>
                  <a:rPr lang="en-ZA" dirty="0"/>
                  <a:t>In the first step, Hadamard gates are applied to all qubits in the 𝑥-register, creating an equal</a:t>
                </a:r>
                <a:r>
                  <a:rPr lang="en-ZA" baseline="0" dirty="0"/>
                  <a:t> </a:t>
                </a:r>
                <a:r>
                  <a:rPr lang="en-ZA" dirty="0"/>
                  <a:t>superposition of all possible 𝑛-bit inputs. The overall state is then the tensor product of this superposition and the initial </a:t>
                </a:r>
                <a14:m>
                  <m:oMath xmlns:m="http://schemas.openxmlformats.org/officeDocument/2006/math">
                    <m:sSup>
                      <m:sSupPr>
                        <m:ctrlPr>
                          <a:rPr lang="en-ZA" sz="1200" i="1" smtClean="0">
                            <a:latin typeface="Cambria Math" panose="02040503050406030204" pitchFamily="18" charset="0"/>
                          </a:rPr>
                        </m:ctrlPr>
                      </m:sSupPr>
                      <m:e>
                        <m:d>
                          <m:dPr>
                            <m:begChr m:val=""/>
                            <m:endChr m:val="⟩"/>
                            <m:ctrlPr>
                              <a:rPr lang="en-ZA" sz="1200" i="1">
                                <a:latin typeface="Cambria Math" panose="02040503050406030204" pitchFamily="18" charset="0"/>
                              </a:rPr>
                            </m:ctrlPr>
                          </m:dPr>
                          <m:e>
                            <m:r>
                              <a:rPr lang="sr-Latn-RS" sz="1200" i="1">
                                <a:latin typeface="Cambria Math" panose="02040503050406030204" pitchFamily="18" charset="0"/>
                              </a:rPr>
                              <m:t>|0</m:t>
                            </m:r>
                          </m:e>
                        </m:d>
                      </m:e>
                      <m:sup>
                        <m:r>
                          <a:rPr lang="sr-Latn-RS" sz="1200" i="1">
                            <a:latin typeface="Cambria Math" panose="02040503050406030204" pitchFamily="18" charset="0"/>
                          </a:rPr>
                          <m:t>⊗</m:t>
                        </m:r>
                        <m:r>
                          <a:rPr lang="sr-Latn-RS" sz="1200" i="1">
                            <a:latin typeface="Cambria Math" panose="02040503050406030204" pitchFamily="18" charset="0"/>
                          </a:rPr>
                          <m:t>𝑛</m:t>
                        </m:r>
                      </m:sup>
                    </m:sSup>
                  </m:oMath>
                </a14:m>
                <a:r>
                  <a:rPr lang="en-ZA" dirty="0"/>
                  <a:t>  state of the 𝑧-register.</a:t>
                </a:r>
              </a:p>
              <a:p>
                <a:pPr marL="228600" indent="-228600">
                  <a:buFont typeface="+mj-lt"/>
                  <a:buAutoNum type="arabicPeriod"/>
                </a:pPr>
                <a:endParaRPr lang="en-ZA" dirty="0"/>
              </a:p>
              <a:p>
                <a:pPr marL="228600" indent="-228600">
                  <a:buFont typeface="+mj-lt"/>
                  <a:buAutoNum type="arabicPeriod"/>
                </a:pPr>
                <a:r>
                  <a:rPr lang="en-ZA" dirty="0"/>
                  <a:t>After the oracle is applied, the two registers become entangled: the 𝑥-register contains all possible inputs in superposition, while the 𝑧-register contains their corresponding function values 𝑓(𝑥).</a:t>
                </a:r>
              </a:p>
              <a:p>
                <a:pPr marL="228600" indent="-228600">
                  <a:buFont typeface="+mj-lt"/>
                  <a:buAutoNum type="arabicPeriod"/>
                </a:pPr>
                <a:endParaRPr lang="en-ZA" dirty="0"/>
              </a:p>
              <a:p>
                <a:pPr marL="228600" indent="-228600">
                  <a:buFont typeface="+mj-lt"/>
                  <a:buAutoNum type="arabicPeriod"/>
                </a:pPr>
                <a:r>
                  <a:rPr lang="en-ZA" dirty="0"/>
                  <a:t>Next, the 𝑧-register is measured, producing a particular function value 𝑓(𝑥₀). As a result, the 𝑥-register collapses into a superposition of exactly two states </a:t>
                </a:r>
                <a14:m>
                  <m:oMath xmlns:m="http://schemas.openxmlformats.org/officeDocument/2006/math">
                    <m:d>
                      <m:dPr>
                        <m:begChr m:val=""/>
                        <m:endChr m:val="⟩"/>
                        <m:ctrlPr>
                          <a:rPr lang="en-ZA" sz="1200" i="1" smtClean="0">
                            <a:latin typeface="Cambria Math" panose="02040503050406030204" pitchFamily="18" charset="0"/>
                          </a:rPr>
                        </m:ctrlPr>
                      </m:dPr>
                      <m:e>
                        <m:r>
                          <a:rPr lang="sr-Latn-RS" sz="1200" i="1">
                            <a:latin typeface="Cambria Math" panose="02040503050406030204" pitchFamily="18" charset="0"/>
                          </a:rPr>
                          <m:t>|</m:t>
                        </m:r>
                        <m:sSub>
                          <m:sSubPr>
                            <m:ctrlPr>
                              <a:rPr lang="en-ZA" sz="1200" i="1">
                                <a:latin typeface="Cambria Math" panose="02040503050406030204" pitchFamily="18" charset="0"/>
                              </a:rPr>
                            </m:ctrlPr>
                          </m:sSubPr>
                          <m:e>
                            <m:r>
                              <a:rPr lang="sr-Latn-RS" sz="1200" i="1">
                                <a:latin typeface="Cambria Math" panose="02040503050406030204" pitchFamily="18" charset="0"/>
                              </a:rPr>
                              <m:t>𝑥</m:t>
                            </m:r>
                          </m:e>
                          <m:sub>
                            <m:r>
                              <a:rPr lang="sr-Latn-RS" sz="1200" i="1">
                                <a:latin typeface="Cambria Math" panose="02040503050406030204" pitchFamily="18" charset="0"/>
                              </a:rPr>
                              <m:t>0</m:t>
                            </m:r>
                          </m:sub>
                        </m:sSub>
                      </m:e>
                    </m:d>
                  </m:oMath>
                </a14:m>
                <a:r>
                  <a:rPr lang="en-ZA" dirty="0"/>
                  <a:t> and</a:t>
                </a:r>
                <a:r>
                  <a:rPr lang="en-ZA" baseline="0" dirty="0"/>
                  <a:t> </a:t>
                </a:r>
                <a14:m>
                  <m:oMath xmlns:m="http://schemas.openxmlformats.org/officeDocument/2006/math">
                    <m:d>
                      <m:dPr>
                        <m:begChr m:val=""/>
                        <m:endChr m:val="⟩"/>
                        <m:ctrlPr>
                          <a:rPr lang="en-ZA" sz="1200" i="1">
                            <a:latin typeface="Cambria Math" panose="02040503050406030204" pitchFamily="18" charset="0"/>
                          </a:rPr>
                        </m:ctrlPr>
                      </m:dPr>
                      <m:e>
                        <m:r>
                          <a:rPr lang="sr-Latn-RS" sz="1200" i="1">
                            <a:latin typeface="Cambria Math" panose="02040503050406030204" pitchFamily="18" charset="0"/>
                          </a:rPr>
                          <m:t>|</m:t>
                        </m:r>
                        <m:sSub>
                          <m:sSubPr>
                            <m:ctrlPr>
                              <a:rPr lang="en-ZA" sz="1200" i="1">
                                <a:latin typeface="Cambria Math" panose="02040503050406030204" pitchFamily="18" charset="0"/>
                              </a:rPr>
                            </m:ctrlPr>
                          </m:sSubPr>
                          <m:e>
                            <m:r>
                              <a:rPr lang="sr-Latn-RS" sz="1200" i="1">
                                <a:latin typeface="Cambria Math" panose="02040503050406030204" pitchFamily="18" charset="0"/>
                              </a:rPr>
                              <m:t>𝑥</m:t>
                            </m:r>
                          </m:e>
                          <m:sub>
                            <m:r>
                              <a:rPr lang="sr-Latn-RS" sz="1200" i="1">
                                <a:latin typeface="Cambria Math" panose="02040503050406030204" pitchFamily="18" charset="0"/>
                              </a:rPr>
                              <m:t>0</m:t>
                            </m:r>
                          </m:sub>
                        </m:sSub>
                        <m:r>
                          <a:rPr lang="sr-Latn-RS" sz="1200" i="1">
                            <a:latin typeface="Cambria Math" panose="02040503050406030204" pitchFamily="18" charset="0"/>
                          </a:rPr>
                          <m:t> ⨁ </m:t>
                        </m:r>
                        <m:r>
                          <a:rPr lang="sr-Latn-RS" sz="1200" i="1">
                            <a:latin typeface="Cambria Math" panose="02040503050406030204" pitchFamily="18" charset="0"/>
                          </a:rPr>
                          <m:t>𝑠</m:t>
                        </m:r>
                      </m:e>
                    </m:d>
                    <m:r>
                      <a:rPr lang="en-US" sz="1200" b="0" i="0" smtClean="0">
                        <a:latin typeface="Cambria Math" panose="02040503050406030204" pitchFamily="18" charset="0"/>
                      </a:rPr>
                      <m:t> </m:t>
                    </m:r>
                  </m:oMath>
                </a14:m>
                <a:r>
                  <a:rPr lang="en-ZA" dirty="0"/>
                  <a:t>corresponding to the two inputs that produce the same output 𝑓(𝑥₀).</a:t>
                </a:r>
              </a:p>
              <a:p>
                <a:pPr marL="0" marR="0" indent="0" algn="just" defTabSz="914400" rtl="0" eaLnBrk="1" fontAlgn="auto" latinLnBrk="0" hangingPunct="1">
                  <a:lnSpc>
                    <a:spcPct val="100000"/>
                  </a:lnSpc>
                  <a:spcBef>
                    <a:spcPts val="0"/>
                  </a:spcBef>
                  <a:spcAft>
                    <a:spcPts val="0"/>
                  </a:spcAft>
                  <a:buClrTx/>
                  <a:buSzTx/>
                  <a:buFontTx/>
                  <a:buNone/>
                  <a:tabLst/>
                  <a:defRPr/>
                </a:pPr>
                <a:endParaRPr lang="en-ZA" dirty="0"/>
              </a:p>
            </p:txBody>
          </p:sp>
        </mc:Choice>
        <mc:Fallback xmlns="">
          <p:sp>
            <p:nvSpPr>
              <p:cNvPr id="3" name="Notes Placeholder 2"/>
              <p:cNvSpPr>
                <a:spLocks noGrp="1"/>
              </p:cNvSpPr>
              <p:nvPr>
                <p:ph type="body" idx="1"/>
              </p:nvPr>
            </p:nvSpPr>
            <p:spPr/>
            <p:txBody>
              <a:bodyPr/>
              <a:lstStyle/>
              <a:p>
                <a:r>
                  <a:rPr lang="sr-Latn-RS" sz="1200" kern="1200" dirty="0">
                    <a:solidFill>
                      <a:schemeClr val="tx1"/>
                    </a:solidFill>
                    <a:effectLst/>
                    <a:latin typeface="+mn-lt"/>
                    <a:ea typeface="+mn-ea"/>
                    <a:cs typeface="+mn-cs"/>
                  </a:rPr>
                  <a:t>Simonov </a:t>
                </a:r>
                <a:r>
                  <a:rPr lang="sr-Latn-RS" sz="1200" kern="1200" dirty="0" err="1">
                    <a:solidFill>
                      <a:schemeClr val="tx1"/>
                    </a:solidFill>
                    <a:effectLst/>
                    <a:latin typeface="+mn-lt"/>
                    <a:ea typeface="+mn-ea"/>
                    <a:cs typeface="+mn-cs"/>
                  </a:rPr>
                  <a:t>algorithm</a:t>
                </a:r>
                <a:r>
                  <a:rPr lang="sr-Latn-RS" sz="1200" kern="1200" dirty="0">
                    <a:solidFill>
                      <a:schemeClr val="tx1"/>
                    </a:solidFill>
                    <a:effectLst/>
                    <a:latin typeface="+mn-lt"/>
                    <a:ea typeface="+mn-ea"/>
                    <a:cs typeface="+mn-cs"/>
                  </a:rPr>
                  <a:t>, nudi efikasnije rešenje. Algoritam se </a:t>
                </a:r>
                <a:r>
                  <a:rPr lang="sr-Latn-RS" sz="1200" kern="1200" dirty="0" err="1">
                    <a:solidFill>
                      <a:schemeClr val="tx1"/>
                    </a:solidFill>
                    <a:effectLst/>
                    <a:latin typeface="+mn-lt"/>
                    <a:ea typeface="+mn-ea"/>
                    <a:cs typeface="+mn-cs"/>
                  </a:rPr>
                  <a:t>satoji</a:t>
                </a:r>
                <a:r>
                  <a:rPr lang="sr-Latn-RS" sz="1200" kern="1200" dirty="0">
                    <a:solidFill>
                      <a:schemeClr val="tx1"/>
                    </a:solidFill>
                    <a:effectLst/>
                    <a:latin typeface="+mn-lt"/>
                    <a:ea typeface="+mn-ea"/>
                    <a:cs typeface="+mn-cs"/>
                  </a:rPr>
                  <a:t> iz klasičnog i kvantnog dela. Kvantni deo algoritma je varijanta </a:t>
                </a:r>
                <a:r>
                  <a:rPr lang="sr-Latn-RS" sz="1200" kern="1200" dirty="0" err="1">
                    <a:solidFill>
                      <a:schemeClr val="tx1"/>
                    </a:solidFill>
                    <a:effectLst/>
                    <a:latin typeface="+mn-lt"/>
                    <a:ea typeface="+mn-ea"/>
                    <a:cs typeface="+mn-cs"/>
                  </a:rPr>
                  <a:t>Dojčovog</a:t>
                </a:r>
                <a:r>
                  <a:rPr lang="sr-Latn-RS" sz="1200" kern="1200" dirty="0">
                    <a:solidFill>
                      <a:schemeClr val="tx1"/>
                    </a:solidFill>
                    <a:effectLst/>
                    <a:latin typeface="+mn-lt"/>
                    <a:ea typeface="+mn-ea"/>
                    <a:cs typeface="+mn-cs"/>
                  </a:rPr>
                  <a:t> kvantnog kola.</a:t>
                </a:r>
              </a:p>
              <a:p>
                <a:endParaRPr lang="sr-Latn-RS" sz="1200" kern="1200" dirty="0">
                  <a:solidFill>
                    <a:schemeClr val="tx1"/>
                  </a:solidFill>
                  <a:effectLst/>
                  <a:latin typeface="+mn-lt"/>
                  <a:ea typeface="+mn-ea"/>
                  <a:cs typeface="+mn-cs"/>
                </a:endParaRPr>
              </a:p>
              <a:p>
                <a:r>
                  <a:rPr lang="sr-Latn-RS" sz="1200" kern="1200" dirty="0">
                    <a:solidFill>
                      <a:schemeClr val="tx1"/>
                    </a:solidFill>
                    <a:effectLst/>
                    <a:latin typeface="+mn-lt"/>
                    <a:ea typeface="+mn-ea"/>
                    <a:cs typeface="+mn-cs"/>
                  </a:rPr>
                  <a:t>Kvantno kolo Simonovog algoritma čine dva registra sa po </a:t>
                </a:r>
                <a:r>
                  <a:rPr lang="sr-Latn-RS" sz="1200" kern="1200" dirty="0" err="1">
                    <a:solidFill>
                      <a:schemeClr val="tx1"/>
                    </a:solidFill>
                    <a:effectLst/>
                    <a:latin typeface="+mn-lt"/>
                    <a:ea typeface="+mn-ea"/>
                    <a:cs typeface="+mn-cs"/>
                  </a:rPr>
                  <a:t>n</a:t>
                </a:r>
                <a:r>
                  <a:rPr lang="sr-Latn-RS" sz="1200" kern="1200" dirty="0">
                    <a:solidFill>
                      <a:schemeClr val="tx1"/>
                    </a:solidFill>
                    <a:effectLst/>
                    <a:latin typeface="+mn-lt"/>
                    <a:ea typeface="+mn-ea"/>
                    <a:cs typeface="+mn-cs"/>
                  </a:rPr>
                  <a:t> kubita.</a:t>
                </a:r>
              </a:p>
              <a:p>
                <a:endParaRPr lang="sr-Latn-RS" sz="1200" kern="1200" dirty="0">
                  <a:solidFill>
                    <a:schemeClr val="tx1"/>
                  </a:solidFill>
                  <a:effectLst/>
                  <a:latin typeface="+mn-lt"/>
                  <a:ea typeface="+mn-ea"/>
                  <a:cs typeface="+mn-cs"/>
                </a:endParaRPr>
              </a:p>
              <a:p>
                <a:pPr marL="171450" indent="-171450">
                  <a:buFont typeface="Arial" panose="020B0604020202020204" pitchFamily="34" charset="0"/>
                  <a:buChar char="•"/>
                </a:pPr>
                <a:r>
                  <a:rPr lang="sr-Latn-RS" sz="1200" kern="1200" dirty="0">
                    <a:solidFill>
                      <a:schemeClr val="tx1"/>
                    </a:solidFill>
                    <a:effectLst/>
                    <a:latin typeface="+mn-lt"/>
                    <a:ea typeface="+mn-ea"/>
                    <a:cs typeface="+mn-cs"/>
                  </a:rPr>
                  <a:t>Registar </a:t>
                </a:r>
                <a:r>
                  <a:rPr lang="en-US" sz="1200" b="0" i="0">
                    <a:latin typeface="Cambria Math" panose="02040503050406030204" pitchFamily="18" charset="0"/>
                  </a:rPr>
                  <a:t>𝑥</a:t>
                </a:r>
                <a:r>
                  <a:rPr lang="sr-Latn-RS" sz="1200" kern="1200" dirty="0">
                    <a:solidFill>
                      <a:schemeClr val="tx1"/>
                    </a:solidFill>
                    <a:effectLst/>
                    <a:latin typeface="+mn-lt"/>
                    <a:ea typeface="+mn-ea"/>
                    <a:cs typeface="+mn-cs"/>
                  </a:rPr>
                  <a:t> je</a:t>
                </a:r>
                <a:r>
                  <a:rPr lang="sr-Latn-RS" sz="1200" kern="1200" baseline="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ulaz </a:t>
                </a:r>
                <a:r>
                  <a:rPr lang="sr-Latn-RS" sz="1200" kern="1200" dirty="0" err="1">
                    <a:solidFill>
                      <a:schemeClr val="tx1"/>
                    </a:solidFill>
                    <a:effectLst/>
                    <a:latin typeface="+mn-lt"/>
                    <a:ea typeface="+mn-ea"/>
                    <a:cs typeface="+mn-cs"/>
                  </a:rPr>
                  <a:t>orakl</a:t>
                </a:r>
                <a:r>
                  <a:rPr lang="sr-Latn-RS" sz="1200" kern="1200" dirty="0">
                    <a:solidFill>
                      <a:schemeClr val="tx1"/>
                    </a:solidFill>
                    <a:effectLst/>
                    <a:latin typeface="+mn-lt"/>
                    <a:ea typeface="+mn-ea"/>
                    <a:cs typeface="+mn-cs"/>
                  </a:rPr>
                  <a:t> koji računa funkciju 𝑓(𝑥). Inicijalno stanje registra je |0⟩. </a:t>
                </a:r>
              </a:p>
              <a:p>
                <a:pPr marL="171450" indent="-171450">
                  <a:buFont typeface="Arial" panose="020B0604020202020204" pitchFamily="34" charset="0"/>
                  <a:buChar char="•"/>
                </a:pPr>
                <a:r>
                  <a:rPr lang="sr-Latn-RS" sz="1200" kern="1200" dirty="0">
                    <a:solidFill>
                      <a:schemeClr val="tx1"/>
                    </a:solidFill>
                    <a:effectLst/>
                    <a:latin typeface="+mn-lt"/>
                    <a:ea typeface="+mn-ea"/>
                    <a:cs typeface="+mn-cs"/>
                  </a:rPr>
                  <a:t>Izlazni registar </a:t>
                </a:r>
                <a:r>
                  <a:rPr lang="sr-Latn-RS" sz="1200" b="0" i="0">
                    <a:latin typeface="Cambria Math" panose="02040503050406030204" pitchFamily="18" charset="0"/>
                  </a:rPr>
                  <a:t>𝑧 </a:t>
                </a:r>
                <a:r>
                  <a:rPr lang="sr-Latn-RS" sz="1200" kern="1200" dirty="0">
                    <a:solidFill>
                      <a:schemeClr val="tx1"/>
                    </a:solidFill>
                    <a:effectLst/>
                    <a:latin typeface="+mn-lt"/>
                    <a:ea typeface="+mn-ea"/>
                    <a:cs typeface="+mn-cs"/>
                  </a:rPr>
                  <a:t>se </a:t>
                </a:r>
                <a:r>
                  <a:rPr lang="sr-Latn-RS" sz="1200" kern="1200" dirty="0" err="1">
                    <a:solidFill>
                      <a:schemeClr val="tx1"/>
                    </a:solidFill>
                    <a:effectLst/>
                    <a:latin typeface="+mn-lt"/>
                    <a:ea typeface="+mn-ea"/>
                    <a:cs typeface="+mn-cs"/>
                  </a:rPr>
                  <a:t>inicijalizuje</a:t>
                </a:r>
                <a:r>
                  <a:rPr lang="sr-Latn-RS" sz="1200" kern="1200" dirty="0">
                    <a:solidFill>
                      <a:schemeClr val="tx1"/>
                    </a:solidFill>
                    <a:effectLst/>
                    <a:latin typeface="+mn-lt"/>
                    <a:ea typeface="+mn-ea"/>
                    <a:cs typeface="+mn-cs"/>
                  </a:rPr>
                  <a:t> na|0⟩. U toku izvršavanja programa dolazi do kvantne interferencije između </a:t>
                </a:r>
                <a:r>
                  <a:rPr lang="en-US" sz="1200" b="0" i="0">
                    <a:latin typeface="Cambria Math" panose="02040503050406030204" pitchFamily="18" charset="0"/>
                  </a:rPr>
                  <a:t>𝑥</a:t>
                </a:r>
                <a:r>
                  <a:rPr lang="sr-Latn-RS" sz="1200" kern="1200" dirty="0">
                    <a:solidFill>
                      <a:schemeClr val="tx1"/>
                    </a:solidFill>
                    <a:effectLst/>
                    <a:latin typeface="+mn-lt"/>
                    <a:ea typeface="+mn-ea"/>
                    <a:cs typeface="+mn-cs"/>
                  </a:rPr>
                  <a:t> i</a:t>
                </a:r>
                <a:r>
                  <a:rPr lang="sr-Latn-RS" sz="1200" b="0" i="0">
                    <a:latin typeface="Cambria Math" panose="02040503050406030204" pitchFamily="18" charset="0"/>
                  </a:rPr>
                  <a:t> 𝑧</a:t>
                </a:r>
                <a:r>
                  <a:rPr lang="sr-Latn-RS" sz="1200" kern="1200" dirty="0">
                    <a:solidFill>
                      <a:schemeClr val="tx1"/>
                    </a:solidFill>
                    <a:effectLst/>
                    <a:latin typeface="+mn-lt"/>
                    <a:ea typeface="+mn-ea"/>
                    <a:cs typeface="+mn-cs"/>
                  </a:rPr>
                  <a:t> registra čime se otkriva traženi period funkcije.</a:t>
                </a:r>
              </a:p>
              <a:p>
                <a:endParaRPr lang="sr-Latn-RS" sz="1200" kern="1200" dirty="0">
                  <a:solidFill>
                    <a:schemeClr val="tx1"/>
                  </a:solidFill>
                  <a:effectLst/>
                  <a:latin typeface="+mn-lt"/>
                  <a:ea typeface="+mn-ea"/>
                  <a:cs typeface="+mn-cs"/>
                </a:endParaRPr>
              </a:p>
              <a:p>
                <a:pPr marL="228600" indent="-228600">
                  <a:buFont typeface="+mj-lt"/>
                  <a:buAutoNum type="arabicPeriod"/>
                </a:pPr>
                <a:r>
                  <a:rPr lang="sr-Latn-RS" sz="1200" kern="1200" dirty="0">
                    <a:solidFill>
                      <a:schemeClr val="tx1"/>
                    </a:solidFill>
                    <a:effectLst/>
                    <a:latin typeface="+mn-lt"/>
                    <a:ea typeface="+mn-ea"/>
                    <a:cs typeface="+mn-cs"/>
                  </a:rPr>
                  <a:t>U prvom koraku posle </a:t>
                </a:r>
                <a:r>
                  <a:rPr lang="sr-Latn-RS" sz="1200" kern="1200" dirty="0" err="1">
                    <a:solidFill>
                      <a:schemeClr val="tx1"/>
                    </a:solidFill>
                    <a:effectLst/>
                    <a:latin typeface="+mn-lt"/>
                    <a:ea typeface="+mn-ea"/>
                    <a:cs typeface="+mn-cs"/>
                  </a:rPr>
                  <a:t>Adamarove</a:t>
                </a:r>
                <a:r>
                  <a:rPr lang="sr-Latn-RS" sz="1200" kern="1200" dirty="0">
                    <a:solidFill>
                      <a:schemeClr val="tx1"/>
                    </a:solidFill>
                    <a:effectLst/>
                    <a:latin typeface="+mn-lt"/>
                    <a:ea typeface="+mn-ea"/>
                    <a:cs typeface="+mn-cs"/>
                  </a:rPr>
                  <a:t> transformacije, kubiti gornjeg gornjeg registra prelaze u  jednaku superpoziciju. Stanje kola je dato proizvodom ove superpozicije sa inicijalnim stanjem donjeg, </a:t>
                </a:r>
                <a:r>
                  <a:rPr lang="sr-Latn-RS" sz="1200" b="0" i="0">
                    <a:latin typeface="Cambria Math" panose="02040503050406030204" pitchFamily="18" charset="0"/>
                  </a:rPr>
                  <a:t>𝑧</a:t>
                </a:r>
                <a:r>
                  <a:rPr lang="sr-Latn-RS" sz="1200" kern="1200" dirty="0">
                    <a:solidFill>
                      <a:schemeClr val="tx1"/>
                    </a:solidFill>
                    <a:effectLst/>
                    <a:latin typeface="+mn-lt"/>
                    <a:ea typeface="+mn-ea"/>
                    <a:cs typeface="+mn-cs"/>
                  </a:rPr>
                  <a:t> registra.</a:t>
                </a:r>
              </a:p>
              <a:p>
                <a:pPr marL="228600" indent="-228600">
                  <a:buFont typeface="+mj-lt"/>
                  <a:buAutoNum type="arabicPeriod"/>
                </a:pPr>
                <a:endParaRPr lang="sr-Latn-RS" sz="1200" kern="1200" dirty="0">
                  <a:solidFill>
                    <a:schemeClr val="tx1"/>
                  </a:solidFill>
                  <a:effectLst/>
                  <a:latin typeface="+mn-lt"/>
                  <a:ea typeface="+mn-ea"/>
                  <a:cs typeface="+mn-cs"/>
                </a:endParaRPr>
              </a:p>
              <a:p>
                <a:pPr marL="228600" indent="-228600">
                  <a:buFont typeface="+mj-lt"/>
                  <a:buAutoNum type="arabicPeriod"/>
                </a:pPr>
                <a:r>
                  <a:rPr lang="sr-Latn-RS" sz="1200" kern="1200" dirty="0">
                    <a:solidFill>
                      <a:schemeClr val="tx1"/>
                    </a:solidFill>
                    <a:effectLst/>
                    <a:latin typeface="+mn-lt"/>
                    <a:ea typeface="+mn-ea"/>
                    <a:cs typeface="+mn-cs"/>
                  </a:rPr>
                  <a:t>Na izlazu iz </a:t>
                </a:r>
                <a:r>
                  <a:rPr lang="sr-Latn-RS" sz="1200" kern="1200" dirty="0" err="1">
                    <a:solidFill>
                      <a:schemeClr val="tx1"/>
                    </a:solidFill>
                    <a:effectLst/>
                    <a:latin typeface="+mn-lt"/>
                    <a:ea typeface="+mn-ea"/>
                    <a:cs typeface="+mn-cs"/>
                  </a:rPr>
                  <a:t>orakla</a:t>
                </a:r>
                <a:r>
                  <a:rPr lang="sr-Latn-RS" sz="1200" kern="1200" dirty="0">
                    <a:solidFill>
                      <a:schemeClr val="tx1"/>
                    </a:solidFill>
                    <a:effectLst/>
                    <a:latin typeface="+mn-lt"/>
                    <a:ea typeface="+mn-ea"/>
                    <a:cs typeface="+mn-cs"/>
                  </a:rPr>
                  <a:t>, registar </a:t>
                </a:r>
                <a:r>
                  <a:rPr lang="sr-Latn-RS" sz="1200" b="0" i="0">
                    <a:latin typeface="Cambria Math" panose="02040503050406030204" pitchFamily="18" charset="0"/>
                  </a:rPr>
                  <a:t>𝑥</a:t>
                </a:r>
                <a:r>
                  <a:rPr lang="sr-Latn-RS" sz="1200" kern="1200" dirty="0">
                    <a:solidFill>
                      <a:schemeClr val="tx1"/>
                    </a:solidFill>
                    <a:effectLst/>
                    <a:latin typeface="+mn-lt"/>
                    <a:ea typeface="+mn-ea"/>
                    <a:cs typeface="+mn-cs"/>
                  </a:rPr>
                  <a:t> sadrži sve argumente</a:t>
                </a:r>
                <a:r>
                  <a:rPr lang="sr-Latn-RS" sz="1200" kern="1200" baseline="0" dirty="0">
                    <a:solidFill>
                      <a:schemeClr val="tx1"/>
                    </a:solidFill>
                    <a:effectLst/>
                    <a:latin typeface="+mn-lt"/>
                    <a:ea typeface="+mn-ea"/>
                    <a:cs typeface="+mn-cs"/>
                  </a:rPr>
                  <a:t> funkcije </a:t>
                </a:r>
                <a:r>
                  <a:rPr lang="sr-Latn-RS" sz="1200" kern="1200" dirty="0">
                    <a:solidFill>
                      <a:schemeClr val="tx1"/>
                    </a:solidFill>
                    <a:effectLst/>
                    <a:latin typeface="+mn-lt"/>
                    <a:ea typeface="+mn-ea"/>
                    <a:cs typeface="+mn-cs"/>
                  </a:rPr>
                  <a:t>𝑓(𝑥) </a:t>
                </a:r>
                <a:r>
                  <a:rPr lang="sr-Latn-RS" sz="1200" kern="1200" baseline="0" dirty="0">
                    <a:solidFill>
                      <a:schemeClr val="tx1"/>
                    </a:solidFill>
                    <a:effectLst/>
                    <a:latin typeface="+mn-lt"/>
                    <a:ea typeface="+mn-ea"/>
                    <a:cs typeface="+mn-cs"/>
                  </a:rPr>
                  <a:t> u superpoziciji</a:t>
                </a:r>
                <a:r>
                  <a:rPr lang="sr-Latn-RS" sz="1200" kern="1200" dirty="0">
                    <a:solidFill>
                      <a:schemeClr val="tx1"/>
                    </a:solidFill>
                    <a:effectLst/>
                    <a:latin typeface="+mn-lt"/>
                    <a:ea typeface="+mn-ea"/>
                    <a:cs typeface="+mn-cs"/>
                  </a:rPr>
                  <a:t>, dok  registar </a:t>
                </a:r>
                <a:r>
                  <a:rPr lang="sr-Latn-RS" sz="1200" b="0" i="0">
                    <a:latin typeface="Cambria Math" panose="02040503050406030204" pitchFamily="18" charset="0"/>
                  </a:rPr>
                  <a:t>𝑧</a:t>
                </a:r>
                <a:r>
                  <a:rPr lang="sr-Latn-RS" sz="1200" kern="1200" dirty="0">
                    <a:solidFill>
                      <a:schemeClr val="tx1"/>
                    </a:solidFill>
                    <a:effectLst/>
                    <a:latin typeface="+mn-lt"/>
                    <a:ea typeface="+mn-ea"/>
                    <a:cs typeface="+mn-cs"/>
                  </a:rPr>
                  <a:t> u </a:t>
                </a:r>
                <a:r>
                  <a:rPr lang="sr-Latn-RS" sz="1200" kern="1200" dirty="0" err="1">
                    <a:solidFill>
                      <a:schemeClr val="tx1"/>
                    </a:solidFill>
                    <a:effectLst/>
                    <a:latin typeface="+mn-lt"/>
                    <a:ea typeface="+mn-ea"/>
                    <a:cs typeface="+mn-cs"/>
                  </a:rPr>
                  <a:t>superpziciji</a:t>
                </a:r>
                <a:r>
                  <a:rPr lang="sr-Latn-RS" sz="1200" kern="1200" dirty="0">
                    <a:solidFill>
                      <a:schemeClr val="tx1"/>
                    </a:solidFill>
                    <a:effectLst/>
                    <a:latin typeface="+mn-lt"/>
                    <a:ea typeface="+mn-ea"/>
                    <a:cs typeface="+mn-cs"/>
                  </a:rPr>
                  <a:t> sadrži</a:t>
                </a:r>
                <a:r>
                  <a:rPr lang="sr-Latn-RS" sz="1200" kern="1200" baseline="0" dirty="0">
                    <a:solidFill>
                      <a:schemeClr val="tx1"/>
                    </a:solidFill>
                    <a:effectLst/>
                    <a:latin typeface="+mn-lt"/>
                    <a:ea typeface="+mn-ea"/>
                    <a:cs typeface="+mn-cs"/>
                  </a:rPr>
                  <a:t> odgovarajuće vrednosti funkcije</a:t>
                </a:r>
                <a:r>
                  <a:rPr lang="sr-Latn-RS" sz="1200" kern="1200" dirty="0">
                    <a:solidFill>
                      <a:schemeClr val="tx1"/>
                    </a:solidFill>
                    <a:effectLst/>
                    <a:latin typeface="+mn-lt"/>
                    <a:ea typeface="+mn-ea"/>
                    <a:cs typeface="+mn-cs"/>
                  </a:rPr>
                  <a:t> 𝑓(𝑥). </a:t>
                </a:r>
              </a:p>
              <a:p>
                <a:pPr marL="228600" indent="-228600">
                  <a:buFont typeface="+mj-lt"/>
                  <a:buAutoNum type="arabicPeriod"/>
                </a:pPr>
                <a:endParaRPr lang="sr-Latn-RS" sz="1200" kern="1200" dirty="0">
                  <a:solidFill>
                    <a:schemeClr val="tx1"/>
                  </a:solidFill>
                  <a:effectLst/>
                  <a:latin typeface="+mn-lt"/>
                  <a:ea typeface="+mn-ea"/>
                  <a:cs typeface="+mn-cs"/>
                </a:endParaRPr>
              </a:p>
              <a:p>
                <a:pPr marL="228600" indent="-228600">
                  <a:buFont typeface="+mj-lt"/>
                  <a:buAutoNum type="arabicPeriod"/>
                </a:pPr>
                <a:r>
                  <a:rPr lang="sr-Latn-RS" sz="1200" kern="1200" dirty="0">
                    <a:solidFill>
                      <a:schemeClr val="tx1"/>
                    </a:solidFill>
                    <a:effectLst/>
                    <a:latin typeface="+mn-lt"/>
                    <a:ea typeface="+mn-ea"/>
                    <a:cs typeface="+mn-cs"/>
                  </a:rPr>
                  <a:t>U sledećem koraku meri se registar </a:t>
                </a:r>
                <a:r>
                  <a:rPr lang="sr-Latn-RS" sz="1200" b="0" i="0">
                    <a:latin typeface="Cambria Math" panose="02040503050406030204" pitchFamily="18" charset="0"/>
                  </a:rPr>
                  <a:t>𝑧</a:t>
                </a:r>
                <a:r>
                  <a:rPr lang="sr-Latn-RS" sz="1200" kern="1200" dirty="0">
                    <a:solidFill>
                      <a:schemeClr val="tx1"/>
                    </a:solidFill>
                    <a:effectLst/>
                    <a:latin typeface="+mn-lt"/>
                    <a:ea typeface="+mn-ea"/>
                    <a:cs typeface="+mn-cs"/>
                  </a:rPr>
                  <a:t> u cilju da se superpozicija svih mogućih vrednosti funkcije 𝑓(𝑥) svede samo na jednu, obeležimo je sa 𝑓(</a:t>
                </a:r>
                <a:r>
                  <a:rPr lang="sr-Latn-RS" sz="1200" i="0">
                    <a:latin typeface="Cambria Math" panose="02040503050406030204" pitchFamily="18" charset="0"/>
                  </a:rPr>
                  <a:t>𝑥</a:t>
                </a:r>
                <a:r>
                  <a:rPr lang="en-ZA" sz="1200" i="0">
                    <a:latin typeface="Cambria Math" panose="02040503050406030204" pitchFamily="18" charset="0"/>
                  </a:rPr>
                  <a:t>_</a:t>
                </a:r>
                <a:r>
                  <a:rPr lang="sr-Latn-RS" sz="1200" i="0">
                    <a:latin typeface="Cambria Math" panose="02040503050406030204" pitchFamily="18" charset="0"/>
                  </a:rPr>
                  <a:t>0</a:t>
                </a:r>
                <a:r>
                  <a:rPr lang="sr-Latn-RS" sz="1200" kern="1200" dirty="0">
                    <a:solidFill>
                      <a:schemeClr val="tx1"/>
                    </a:solidFill>
                    <a:effectLst/>
                    <a:latin typeface="+mn-lt"/>
                    <a:ea typeface="+mn-ea"/>
                    <a:cs typeface="+mn-cs"/>
                  </a:rPr>
                  <a:t>).</a:t>
                </a:r>
                <a:r>
                  <a:rPr lang="sr-Latn-RS" sz="1200" kern="1200" baseline="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U isto vreme, registar </a:t>
                </a:r>
                <a:r>
                  <a:rPr lang="sr-Latn-RS" sz="1200" b="0" i="0">
                    <a:latin typeface="Cambria Math" panose="02040503050406030204" pitchFamily="18" charset="0"/>
                  </a:rPr>
                  <a:t>𝑥</a:t>
                </a:r>
                <a:r>
                  <a:rPr lang="sr-Latn-RS" sz="1200" kern="1200" dirty="0">
                    <a:solidFill>
                      <a:schemeClr val="tx1"/>
                    </a:solidFill>
                    <a:effectLst/>
                    <a:latin typeface="+mn-lt"/>
                    <a:ea typeface="+mn-ea"/>
                    <a:cs typeface="+mn-cs"/>
                  </a:rPr>
                  <a:t> je u </a:t>
                </a:r>
                <a:r>
                  <a:rPr lang="sr-Latn-RS" sz="1200" kern="1200" dirty="0" err="1">
                    <a:solidFill>
                      <a:schemeClr val="tx1"/>
                    </a:solidFill>
                    <a:effectLst/>
                    <a:latin typeface="+mn-lt"/>
                    <a:ea typeface="+mn-ea"/>
                    <a:cs typeface="+mn-cs"/>
                  </a:rPr>
                  <a:t>superpozicji</a:t>
                </a:r>
                <a:r>
                  <a:rPr lang="sr-Latn-RS" sz="1200" kern="1200" dirty="0">
                    <a:solidFill>
                      <a:schemeClr val="tx1"/>
                    </a:solidFill>
                    <a:effectLst/>
                    <a:latin typeface="+mn-lt"/>
                    <a:ea typeface="+mn-ea"/>
                    <a:cs typeface="+mn-cs"/>
                  </a:rPr>
                  <a:t> argumenata koji su proizveli ovu vrednost funkcije, odnosno u superpoziciji</a:t>
                </a:r>
                <a:r>
                  <a:rPr lang="sr-Latn-RS" sz="1200" b="0" i="0">
                    <a:latin typeface="Cambria Math" panose="02040503050406030204" pitchFamily="18" charset="0"/>
                  </a:rPr>
                  <a:t> </a:t>
                </a:r>
                <a:r>
                  <a:rPr lang="sr-Latn-RS" sz="1200" i="0">
                    <a:latin typeface="Cambria Math" panose="02040503050406030204" pitchFamily="18" charset="0"/>
                  </a:rPr>
                  <a:t>𝑥</a:t>
                </a:r>
                <a:r>
                  <a:rPr lang="en-ZA" sz="1200" i="0">
                    <a:latin typeface="Cambria Math" panose="02040503050406030204" pitchFamily="18" charset="0"/>
                  </a:rPr>
                  <a:t>_</a:t>
                </a:r>
                <a:r>
                  <a:rPr lang="sr-Latn-RS" sz="1200" i="0">
                    <a:latin typeface="Cambria Math" panose="02040503050406030204" pitchFamily="18" charset="0"/>
                  </a:rPr>
                  <a:t>0</a:t>
                </a:r>
                <a:r>
                  <a:rPr lang="sr-Latn-RS" sz="1200" kern="1200" dirty="0">
                    <a:solidFill>
                      <a:schemeClr val="tx1"/>
                    </a:solidFill>
                    <a:effectLst/>
                    <a:latin typeface="+mn-lt"/>
                    <a:ea typeface="+mn-ea"/>
                    <a:cs typeface="+mn-cs"/>
                  </a:rPr>
                  <a:t> i </a:t>
                </a:r>
                <a:r>
                  <a:rPr lang="sr-Latn-RS" sz="1200" i="0">
                    <a:latin typeface="Cambria Math" panose="02040503050406030204" pitchFamily="18" charset="0"/>
                  </a:rPr>
                  <a:t>𝑥</a:t>
                </a:r>
                <a:r>
                  <a:rPr lang="en-ZA" sz="1200" i="0">
                    <a:latin typeface="Cambria Math" panose="02040503050406030204" pitchFamily="18" charset="0"/>
                  </a:rPr>
                  <a:t>_</a:t>
                </a:r>
                <a:r>
                  <a:rPr lang="sr-Latn-RS" sz="1200" i="0">
                    <a:latin typeface="Cambria Math" panose="02040503050406030204" pitchFamily="18" charset="0"/>
                  </a:rPr>
                  <a:t>0</a:t>
                </a:r>
                <a:r>
                  <a:rPr lang="sr-Latn-RS" sz="1200" b="0" i="0">
                    <a:latin typeface="Cambria Math" panose="02040503050406030204" pitchFamily="18" charset="0"/>
                  </a:rPr>
                  <a:t>+𝑠</a:t>
                </a:r>
                <a:r>
                  <a:rPr lang="sr-Latn-RS" sz="1200" kern="1200" dirty="0">
                    <a:solidFill>
                      <a:schemeClr val="tx1"/>
                    </a:solidFill>
                    <a:effectLst/>
                    <a:latin typeface="+mn-lt"/>
                    <a:ea typeface="+mn-ea"/>
                    <a:cs typeface="+mn-cs"/>
                  </a:rPr>
                  <a:t>. </a:t>
                </a:r>
              </a:p>
              <a:p>
                <a:pPr marL="228600" indent="-228600">
                  <a:buFont typeface="+mj-lt"/>
                  <a:buAutoNum type="arabicPeriod"/>
                </a:pPr>
                <a:endParaRPr lang="sr-Latn-RS" sz="1200" kern="1200" dirty="0">
                  <a:solidFill>
                    <a:schemeClr val="tx1"/>
                  </a:solidFill>
                  <a:effectLst/>
                  <a:latin typeface="+mn-lt"/>
                  <a:ea typeface="+mn-ea"/>
                  <a:cs typeface="+mn-cs"/>
                </a:endParaRPr>
              </a:p>
              <a:p>
                <a:pPr marL="228600" indent="-228600">
                  <a:buFont typeface="+mj-lt"/>
                  <a:buAutoNum type="arabicPeriod"/>
                </a:pPr>
                <a:endParaRPr lang="sr-Latn-RS" sz="1200" kern="1200" dirty="0">
                  <a:solidFill>
                    <a:schemeClr val="tx1"/>
                  </a:solidFill>
                  <a:effectLst/>
                  <a:latin typeface="+mn-lt"/>
                  <a:ea typeface="+mn-ea"/>
                  <a:cs typeface="+mn-cs"/>
                </a:endParaRPr>
              </a:p>
              <a:p>
                <a:pPr marL="228600" indent="-228600">
                  <a:buFont typeface="+mj-lt"/>
                  <a:buAutoNum type="arabicPeriod"/>
                </a:pPr>
                <a:endParaRPr lang="en-ZA" sz="120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15166742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t>To find the hidden string 𝑠, the focus is now only on the 𝑥-register. After measuring the other register, the 𝑥-register is left in a superposition of two states: 𝑥₀ and 𝑥₀ ⨁ 𝑠.</a:t>
                </a:r>
              </a:p>
              <a:p>
                <a:endParaRPr lang="en-ZA" dirty="0"/>
              </a:p>
              <a:p>
                <a:pPr marL="228600" indent="-228600">
                  <a:buFont typeface="+mj-lt"/>
                  <a:buAutoNum type="arabicPeriod"/>
                </a:pPr>
                <a:r>
                  <a:rPr lang="en-ZA" dirty="0"/>
                  <a:t>When the Hadamard transform is applied to the 𝑥-register, , the probability amplitudes associated with these two states interfere. </a:t>
                </a:r>
              </a:p>
              <a:p>
                <a:pPr marL="228600" indent="-228600">
                  <a:buFont typeface="+mj-lt"/>
                  <a:buAutoNum type="arabicPeriod"/>
                </a:pPr>
                <a:endParaRPr lang="en-ZA" dirty="0"/>
              </a:p>
              <a:p>
                <a:pPr marL="228600" indent="-228600">
                  <a:buFont typeface="+mj-lt"/>
                  <a:buAutoNum type="arabicPeriod"/>
                </a:pPr>
                <a:r>
                  <a:rPr lang="en-ZA" dirty="0"/>
                  <a:t>From the resulting expression, two cases can be identified:</a:t>
                </a:r>
              </a:p>
              <a:p>
                <a:pPr marL="628650" lvl="1" indent="-171450">
                  <a:buFont typeface="Arial" panose="020B0604020202020204" pitchFamily="34" charset="0"/>
                  <a:buChar char="•"/>
                </a:pPr>
                <a:r>
                  <a:rPr lang="en-ZA" dirty="0"/>
                  <a:t>If 𝑠·𝑦 = 1, destructive interference occurs, and the probability of measuring that state is zero.</a:t>
                </a:r>
              </a:p>
              <a:p>
                <a:pPr marL="628650" lvl="1" indent="-171450">
                  <a:buFont typeface="Arial" panose="020B0604020202020204" pitchFamily="34" charset="0"/>
                  <a:buChar char="•"/>
                </a:pPr>
                <a:r>
                  <a:rPr lang="en-ZA" dirty="0"/>
                  <a:t>If 𝑠·𝑦 = 0, constructive interference occurs, and the probability of measuring that state is nonzero.</a:t>
                </a:r>
              </a:p>
              <a:p>
                <a:pPr lvl="1"/>
                <a:endParaRPr lang="en-ZA" dirty="0"/>
              </a:p>
              <a:p>
                <a:pPr lvl="0"/>
                <a:r>
                  <a:rPr lang="en-ZA" dirty="0"/>
                  <a:t>Therefore, the only measurement outcomes that can appear are the bit strings 𝑦 that satisfy</a:t>
                </a:r>
              </a:p>
              <a:p>
                <a:pPr lvl="0"/>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𝑠</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rPr>
                        <m:t>𝑦</m:t>
                      </m:r>
                      <m:r>
                        <a:rPr lang="en-US" sz="1200" b="0" i="1" smtClean="0">
                          <a:latin typeface="Cambria Math" panose="02040503050406030204" pitchFamily="18" charset="0"/>
                        </a:rPr>
                        <m:t>=0 (</m:t>
                      </m:r>
                      <m:r>
                        <m:rPr>
                          <m:sty m:val="p"/>
                        </m:rPr>
                        <a:rPr lang="en-US" sz="1200" b="0" i="0" smtClean="0">
                          <a:latin typeface="Cambria Math" panose="02040503050406030204" pitchFamily="18" charset="0"/>
                        </a:rPr>
                        <m:t>mod</m:t>
                      </m:r>
                      <m:r>
                        <a:rPr lang="en-US" sz="1200" b="0" i="1" smtClean="0">
                          <a:latin typeface="Cambria Math" panose="02040503050406030204" pitchFamily="18" charset="0"/>
                        </a:rPr>
                        <m:t> 2)</m:t>
                      </m:r>
                    </m:oMath>
                  </m:oMathPara>
                </a14:m>
                <a:endParaRPr lang="en-ZA" dirty="0"/>
              </a:p>
              <a:p>
                <a:pPr marL="171450" lvl="0" indent="-171450">
                  <a:buFont typeface="Arial" panose="020B0604020202020204" pitchFamily="34" charset="0"/>
                  <a:buChar char="•"/>
                </a:pPr>
                <a:endParaRPr lang="en-ZA" dirty="0"/>
              </a:p>
            </p:txBody>
          </p:sp>
        </mc:Choice>
        <mc:Fallback xmlns="">
          <p:sp>
            <p:nvSpPr>
              <p:cNvPr id="3" name="Notes Placeholder 2"/>
              <p:cNvSpPr>
                <a:spLocks noGrp="1"/>
              </p:cNvSpPr>
              <p:nvPr>
                <p:ph type="body" idx="1"/>
              </p:nvPr>
            </p:nvSpPr>
            <p:spPr/>
            <p:txBody>
              <a:bodyPr/>
              <a:lstStyle/>
              <a:p>
                <a:pPr marL="0" indent="0">
                  <a:buNone/>
                </a:pPr>
                <a:r>
                  <a:rPr lang="en-ZA" sz="1200" kern="1200" dirty="0">
                    <a:solidFill>
                      <a:schemeClr val="tx1"/>
                    </a:solidFill>
                    <a:effectLst/>
                    <a:latin typeface="+mn-lt"/>
                    <a:ea typeface="+mn-ea"/>
                    <a:cs typeface="+mn-cs"/>
                  </a:rPr>
                  <a:t>Da bi se </a:t>
                </a:r>
                <a:r>
                  <a:rPr lang="en-ZA" sz="1200" kern="1200" dirty="0" err="1">
                    <a:solidFill>
                      <a:schemeClr val="tx1"/>
                    </a:solidFill>
                    <a:effectLst/>
                    <a:latin typeface="+mn-lt"/>
                    <a:ea typeface="+mn-ea"/>
                    <a:cs typeface="+mn-cs"/>
                  </a:rPr>
                  <a:t>našao</a:t>
                </a:r>
                <a:r>
                  <a:rPr lang="en-ZA" sz="1200" kern="1200" dirty="0">
                    <a:solidFill>
                      <a:schemeClr val="tx1"/>
                    </a:solidFill>
                    <a:effectLst/>
                    <a:latin typeface="+mn-lt"/>
                    <a:ea typeface="+mn-ea"/>
                    <a:cs typeface="+mn-cs"/>
                  </a:rPr>
                  <a:t>  period </a:t>
                </a:r>
                <a:r>
                  <a:rPr lang="en-US" sz="1200" i="0">
                    <a:latin typeface="Cambria Math" panose="02040503050406030204" pitchFamily="18" charset="0"/>
                  </a:rPr>
                  <a:t>𝑠</a:t>
                </a:r>
                <a:r>
                  <a:rPr lang="en-ZA" sz="1200" kern="1200" dirty="0">
                    <a:solidFill>
                      <a:schemeClr val="tx1"/>
                    </a:solidFill>
                    <a:effectLst/>
                    <a:latin typeface="+mn-lt"/>
                    <a:ea typeface="+mn-ea"/>
                    <a:cs typeface="+mn-cs"/>
                  </a:rPr>
                  <a:t>, od </a:t>
                </a:r>
                <a:r>
                  <a:rPr lang="en-ZA" sz="1200" kern="1200" dirty="0" err="1">
                    <a:solidFill>
                      <a:schemeClr val="tx1"/>
                    </a:solidFill>
                    <a:effectLst/>
                    <a:latin typeface="+mn-lt"/>
                    <a:ea typeface="+mn-ea"/>
                    <a:cs typeface="+mn-cs"/>
                  </a:rPr>
                  <a:t>interesa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samo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stanje</a:t>
                </a:r>
                <a:r>
                  <a:rPr lang="en-ZA" sz="1200" kern="1200" dirty="0">
                    <a:solidFill>
                      <a:schemeClr val="tx1"/>
                    </a:solidFill>
                    <a:effectLst/>
                    <a:latin typeface="+mn-lt"/>
                    <a:ea typeface="+mn-ea"/>
                    <a:cs typeface="+mn-cs"/>
                  </a:rPr>
                  <a:t> </a:t>
                </a:r>
                <a:r>
                  <a:rPr lang="sr-Latn-RS" sz="1200" b="0" i="0">
                    <a:latin typeface="Cambria Math" panose="02040503050406030204" pitchFamily="18" charset="0"/>
                  </a:rPr>
                  <a:t>𝑥</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registra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koje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sadrži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dva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ulaza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koja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proizvela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isto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stanje</a:t>
                </a:r>
                <a:r>
                  <a:rPr lang="en-ZA" sz="1200" kern="1200" dirty="0">
                    <a:solidFill>
                      <a:schemeClr val="tx1"/>
                    </a:solidFill>
                    <a:effectLst/>
                    <a:latin typeface="+mn-lt"/>
                    <a:ea typeface="+mn-ea"/>
                    <a:cs typeface="+mn-cs"/>
                  </a:rPr>
                  <a:t> u </a:t>
                </a:r>
                <a:r>
                  <a:rPr lang="sr-Latn-RS" sz="1200" b="0" i="0">
                    <a:latin typeface="Cambria Math" panose="02040503050406030204" pitchFamily="18" charset="0"/>
                  </a:rPr>
                  <a:t>𝑧</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registru</a:t>
                </a:r>
                <a:r>
                  <a:rPr lang="en-ZA" sz="1200" kern="1200" dirty="0">
                    <a:solidFill>
                      <a:schemeClr val="tx1"/>
                    </a:solidFill>
                    <a:effectLst/>
                    <a:latin typeface="+mn-lt"/>
                    <a:ea typeface="+mn-ea"/>
                    <a:cs typeface="+mn-cs"/>
                  </a:rPr>
                  <a:t>.</a:t>
                </a:r>
              </a:p>
              <a:p>
                <a:pPr marL="0" indent="0">
                  <a:buNone/>
                </a:pPr>
                <a:endParaRPr lang="en-ZA" sz="1200" kern="1200" dirty="0">
                  <a:solidFill>
                    <a:schemeClr val="tx1"/>
                  </a:solidFill>
                  <a:effectLst/>
                  <a:latin typeface="+mn-lt"/>
                  <a:ea typeface="+mn-ea"/>
                  <a:cs typeface="+mn-cs"/>
                </a:endParaRPr>
              </a:p>
              <a:p>
                <a:pPr marL="228600" indent="-228600">
                  <a:buFont typeface="+mj-lt"/>
                  <a:buAutoNum type="arabicPeriod"/>
                </a:pPr>
                <a:r>
                  <a:rPr lang="en-ZA" sz="1200" kern="1200" dirty="0" err="1">
                    <a:solidFill>
                      <a:schemeClr val="tx1"/>
                    </a:solidFill>
                    <a:effectLst/>
                    <a:latin typeface="+mn-lt"/>
                    <a:ea typeface="+mn-ea"/>
                    <a:cs typeface="+mn-cs"/>
                  </a:rPr>
                  <a:t>Primenom</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Adamarove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transformacije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registar</a:t>
                </a:r>
                <a:r>
                  <a:rPr lang="en-ZA" sz="1200" kern="1200" dirty="0">
                    <a:solidFill>
                      <a:schemeClr val="tx1"/>
                    </a:solidFill>
                    <a:effectLst/>
                    <a:latin typeface="+mn-lt"/>
                    <a:ea typeface="+mn-ea"/>
                    <a:cs typeface="+mn-cs"/>
                  </a:rPr>
                  <a:t> </a:t>
                </a:r>
                <a:r>
                  <a:rPr lang="sr-Latn-RS" sz="1200" b="0" i="0">
                    <a:latin typeface="Cambria Math" panose="02040503050406030204" pitchFamily="18" charset="0"/>
                  </a:rPr>
                  <a:t>𝑥</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dobija</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suma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po</a:t>
                </a:r>
                <a:r>
                  <a:rPr lang="en-ZA" sz="1200" kern="1200" dirty="0">
                    <a:solidFill>
                      <a:schemeClr val="tx1"/>
                    </a:solidFill>
                    <a:effectLst/>
                    <a:latin typeface="+mn-lt"/>
                    <a:ea typeface="+mn-ea"/>
                    <a:cs typeface="+mn-cs"/>
                  </a:rPr>
                  <a:t> kubitima </a:t>
                </a:r>
                <a:r>
                  <a:rPr lang="en-ZA" sz="1200" kern="1200" dirty="0" err="1">
                    <a:solidFill>
                      <a:schemeClr val="tx1"/>
                    </a:solidFill>
                    <a:effectLst/>
                    <a:latin typeface="+mn-lt"/>
                    <a:ea typeface="+mn-ea"/>
                    <a:cs typeface="+mn-cs"/>
                  </a:rPr>
                  <a:t>ovog</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registra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koja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proizvodi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kvantnu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interferenciju</a:t>
                </a:r>
                <a:r>
                  <a:rPr lang="en-ZA" sz="1200" kern="1200" dirty="0">
                    <a:solidFill>
                      <a:schemeClr val="tx1"/>
                    </a:solidFill>
                    <a:effectLst/>
                    <a:latin typeface="+mn-lt"/>
                    <a:ea typeface="+mn-ea"/>
                    <a:cs typeface="+mn-cs"/>
                  </a:rPr>
                  <a:t>.</a:t>
                </a:r>
              </a:p>
              <a:p>
                <a:pPr marL="228600" indent="-228600">
                  <a:buFont typeface="+mj-lt"/>
                  <a:buAutoNum type="arabicPeriod"/>
                </a:pPr>
                <a:endParaRPr lang="en-ZA" sz="1200" kern="1200" dirty="0">
                  <a:solidFill>
                    <a:schemeClr val="tx1"/>
                  </a:solidFill>
                  <a:effectLst/>
                  <a:latin typeface="+mn-lt"/>
                  <a:ea typeface="+mn-ea"/>
                  <a:cs typeface="+mn-cs"/>
                </a:endParaRPr>
              </a:p>
              <a:p>
                <a:pPr marL="228600" indent="-228600">
                  <a:buFont typeface="+mj-lt"/>
                  <a:buAutoNum type="arabicPeriod"/>
                </a:pPr>
                <a:r>
                  <a:rPr lang="en-ZA" sz="1200" kern="1200" dirty="0" err="1">
                    <a:solidFill>
                      <a:schemeClr val="tx1"/>
                    </a:solidFill>
                    <a:effectLst/>
                    <a:latin typeface="+mn-lt"/>
                    <a:ea typeface="+mn-ea"/>
                    <a:cs typeface="+mn-cs"/>
                  </a:rPr>
                  <a:t>Iz</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preuređenog</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izraza</a:t>
                </a:r>
                <a:r>
                  <a:rPr lang="en-ZA" sz="1200" kern="1200" dirty="0">
                    <a:solidFill>
                      <a:schemeClr val="tx1"/>
                    </a:solidFill>
                    <a:effectLst/>
                    <a:latin typeface="+mn-lt"/>
                    <a:ea typeface="+mn-ea"/>
                    <a:cs typeface="+mn-cs"/>
                  </a:rPr>
                  <a:t> u </a:t>
                </a:r>
                <a:r>
                  <a:rPr lang="en-ZA" sz="1200" kern="1200" dirty="0" err="1">
                    <a:solidFill>
                      <a:schemeClr val="tx1"/>
                    </a:solidFill>
                    <a:effectLst/>
                    <a:latin typeface="+mn-lt"/>
                    <a:ea typeface="+mn-ea"/>
                    <a:cs typeface="+mn-cs"/>
                  </a:rPr>
                  <a:t>crvenoj</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boji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vidi</a:t>
                </a:r>
                <a:r>
                  <a:rPr lang="en-ZA" sz="1200" kern="1200" dirty="0">
                    <a:solidFill>
                      <a:schemeClr val="tx1"/>
                    </a:solidFill>
                    <a:effectLst/>
                    <a:latin typeface="+mn-lt"/>
                    <a:ea typeface="+mn-ea"/>
                    <a:cs typeface="+mn-cs"/>
                  </a:rPr>
                  <a:t> se da </a:t>
                </a:r>
                <a:r>
                  <a:rPr lang="en-ZA" sz="1200" kern="1200" dirty="0" err="1">
                    <a:solidFill>
                      <a:schemeClr val="tx1"/>
                    </a:solidFill>
                    <a:effectLst/>
                    <a:latin typeface="+mn-lt"/>
                    <a:ea typeface="+mn-ea"/>
                    <a:cs typeface="+mn-cs"/>
                  </a:rPr>
                  <a:t>ako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𝑠∙𝑦=1 </a:t>
                </a:r>
                <a:r>
                  <a:rPr lang="en-ZA" sz="1200" kern="1200" dirty="0" err="1">
                    <a:solidFill>
                      <a:schemeClr val="tx1"/>
                    </a:solidFill>
                    <a:effectLst/>
                    <a:latin typeface="+mn-lt"/>
                    <a:ea typeface="+mn-ea"/>
                    <a:cs typeface="+mn-cs"/>
                  </a:rPr>
                  <a:t>dolazi</a:t>
                </a:r>
                <a:r>
                  <a:rPr lang="en-ZA" sz="1200" kern="1200" dirty="0">
                    <a:solidFill>
                      <a:schemeClr val="tx1"/>
                    </a:solidFill>
                    <a:effectLst/>
                    <a:latin typeface="+mn-lt"/>
                    <a:ea typeface="+mn-ea"/>
                    <a:cs typeface="+mn-cs"/>
                  </a:rPr>
                  <a:t> do </a:t>
                </a:r>
                <a:r>
                  <a:rPr lang="en-ZA" sz="1200" kern="1200" dirty="0" err="1">
                    <a:solidFill>
                      <a:schemeClr val="tx1"/>
                    </a:solidFill>
                    <a:effectLst/>
                    <a:latin typeface="+mn-lt"/>
                    <a:ea typeface="+mn-ea"/>
                    <a:cs typeface="+mn-cs"/>
                  </a:rPr>
                  <a:t>negativne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interferencije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izraz</a:t>
                </a:r>
                <a:r>
                  <a:rPr lang="en-ZA" sz="1200" kern="1200" dirty="0">
                    <a:solidFill>
                      <a:schemeClr val="tx1"/>
                    </a:solidFill>
                    <a:effectLst/>
                    <a:latin typeface="+mn-lt"/>
                    <a:ea typeface="+mn-ea"/>
                    <a:cs typeface="+mn-cs"/>
                  </a:rPr>
                  <a:t> u </a:t>
                </a:r>
                <a:r>
                  <a:rPr lang="en-ZA" sz="1200" kern="1200" dirty="0" err="1">
                    <a:solidFill>
                      <a:schemeClr val="tx1"/>
                    </a:solidFill>
                    <a:effectLst/>
                    <a:latin typeface="+mn-lt"/>
                    <a:ea typeface="+mn-ea"/>
                    <a:cs typeface="+mn-cs"/>
                  </a:rPr>
                  <a:t>zagradi</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svodi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nulu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što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znači</a:t>
                </a:r>
                <a:r>
                  <a:rPr lang="en-ZA" sz="1200" kern="1200" dirty="0">
                    <a:solidFill>
                      <a:schemeClr val="tx1"/>
                    </a:solidFill>
                    <a:effectLst/>
                    <a:latin typeface="+mn-lt"/>
                    <a:ea typeface="+mn-ea"/>
                    <a:cs typeface="+mn-cs"/>
                  </a:rPr>
                  <a:t> da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verovatnoća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merenja</a:t>
                </a:r>
                <a:r>
                  <a:rPr lang="en-ZA" sz="1200" kern="1200" dirty="0">
                    <a:solidFill>
                      <a:schemeClr val="tx1"/>
                    </a:solidFill>
                    <a:effectLst/>
                    <a:latin typeface="+mn-lt"/>
                    <a:ea typeface="+mn-ea"/>
                    <a:cs typeface="+mn-cs"/>
                  </a:rPr>
                  <a:t> tog </a:t>
                </a:r>
                <a:r>
                  <a:rPr lang="en-ZA" sz="1200" kern="1200" dirty="0" err="1">
                    <a:solidFill>
                      <a:schemeClr val="tx1"/>
                    </a:solidFill>
                    <a:effectLst/>
                    <a:latin typeface="+mn-lt"/>
                    <a:ea typeface="+mn-ea"/>
                    <a:cs typeface="+mn-cs"/>
                  </a:rPr>
                  <a:t>stanja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takođe</a:t>
                </a:r>
                <a:r>
                  <a:rPr lang="en-ZA" sz="1200" kern="1200" dirty="0">
                    <a:solidFill>
                      <a:schemeClr val="tx1"/>
                    </a:solidFill>
                    <a:effectLst/>
                    <a:latin typeface="+mn-lt"/>
                    <a:ea typeface="+mn-ea"/>
                    <a:cs typeface="+mn-cs"/>
                  </a:rPr>
                  <a:t> 0.  </a:t>
                </a:r>
                <a:r>
                  <a:rPr lang="en-ZA" sz="1200" kern="1200" dirty="0" err="1">
                    <a:solidFill>
                      <a:schemeClr val="tx1"/>
                    </a:solidFill>
                    <a:effectLst/>
                    <a:latin typeface="+mn-lt"/>
                    <a:ea typeface="+mn-ea"/>
                    <a:cs typeface="+mn-cs"/>
                  </a:rPr>
                  <a:t>Ovo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znači</a:t>
                </a:r>
                <a:r>
                  <a:rPr lang="en-ZA" sz="1200" kern="1200" dirty="0">
                    <a:solidFill>
                      <a:schemeClr val="tx1"/>
                    </a:solidFill>
                    <a:effectLst/>
                    <a:latin typeface="+mn-lt"/>
                    <a:ea typeface="+mn-ea"/>
                    <a:cs typeface="+mn-cs"/>
                  </a:rPr>
                  <a:t> da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od </a:t>
                </a:r>
                <a:r>
                  <a:rPr lang="en-ZA" sz="1200" kern="1200" dirty="0" err="1">
                    <a:solidFill>
                      <a:schemeClr val="tx1"/>
                    </a:solidFill>
                    <a:effectLst/>
                    <a:latin typeface="+mn-lt"/>
                    <a:ea typeface="+mn-ea"/>
                    <a:cs typeface="+mn-cs"/>
                  </a:rPr>
                  <a:t>interesa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posmatrati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samo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slučaj</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za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koji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𝑠∙𝑦=0.</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36</a:t>
            </a:fld>
            <a:endParaRPr lang="en-US"/>
          </a:p>
        </p:txBody>
      </p:sp>
    </p:spTree>
    <p:extLst>
      <p:ext uri="{BB962C8B-B14F-4D97-AF65-F5344CB8AC3E}">
        <p14:creationId xmlns:p14="http://schemas.microsoft.com/office/powerpoint/2010/main" val="31593901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To determine the bits of the hidden string </a:t>
                </a:r>
                <a14:m>
                  <m:oMath xmlns:m="http://schemas.openxmlformats.org/officeDocument/2006/math">
                    <m:r>
                      <a:rPr lang="en-US" sz="1200" b="0" i="1" smtClean="0">
                        <a:latin typeface="Cambria Math" panose="02040503050406030204" pitchFamily="18" charset="0"/>
                      </a:rPr>
                      <m:t>𝑠</m:t>
                    </m:r>
                  </m:oMath>
                </a14:m>
                <a:r>
                  <a:rPr lang="en-ZA" dirty="0"/>
                  <a:t>, several measurement results </a:t>
                </a:r>
                <a14:m>
                  <m:oMath xmlns:m="http://schemas.openxmlformats.org/officeDocument/2006/math">
                    <m:r>
                      <a:rPr lang="en-US" sz="1200" b="0" i="1" smtClean="0">
                        <a:latin typeface="Cambria Math" panose="02040503050406030204" pitchFamily="18" charset="0"/>
                      </a:rPr>
                      <m:t>𝑦</m:t>
                    </m:r>
                  </m:oMath>
                </a14:m>
                <a:r>
                  <a:rPr lang="en-ZA" dirty="0"/>
                  <a:t> need to be collected. This is why Simon’s algorithm is run multiple times. For each measurement outcome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𝑦</m:t>
                        </m:r>
                      </m:e>
                      <m:sub>
                        <m:r>
                          <a:rPr lang="en-US" sz="1200" b="0" i="1" smtClean="0">
                            <a:latin typeface="Cambria Math" panose="02040503050406030204" pitchFamily="18" charset="0"/>
                          </a:rPr>
                          <m:t>𝑖</m:t>
                        </m:r>
                      </m:sub>
                    </m:sSub>
                  </m:oMath>
                </a14:m>
                <a:r>
                  <a:rPr lang="en-ZA" dirty="0" err="1"/>
                  <a:t>i</a:t>
                </a:r>
                <a:r>
                  <a:rPr lang="en-ZA" dirty="0"/>
                  <a:t>​, an equation of the form</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𝑦</m:t>
                          </m:r>
                        </m:e>
                        <m:sub>
                          <m:r>
                            <a:rPr lang="en-US" sz="1200" b="0" i="1" smtClean="0">
                              <a:latin typeface="Cambria Math" panose="02040503050406030204" pitchFamily="18" charset="0"/>
                            </a:rPr>
                            <m:t>𝑖</m:t>
                          </m:r>
                        </m:sub>
                      </m:sSub>
                      <m:r>
                        <a:rPr lang="en-US" sz="1200" b="0" i="1" smtClean="0">
                          <a:latin typeface="Cambria Math" panose="02040503050406030204" pitchFamily="18" charset="0"/>
                          <a:ea typeface="Cambria Math" panose="02040503050406030204" pitchFamily="18" charset="0"/>
                        </a:rPr>
                        <m:t>∙ </m:t>
                      </m:r>
                      <m:r>
                        <a:rPr lang="en-US" sz="1200" b="0" i="1" smtClean="0">
                          <a:latin typeface="Cambria Math" panose="02040503050406030204" pitchFamily="18" charset="0"/>
                        </a:rPr>
                        <m:t>𝑠</m:t>
                      </m:r>
                      <m:r>
                        <a:rPr lang="en-US" sz="1200" b="0" i="1" smtClean="0">
                          <a:latin typeface="Cambria Math" panose="02040503050406030204" pitchFamily="18" charset="0"/>
                        </a:rPr>
                        <m:t> =0 (</m:t>
                      </m:r>
                      <m:r>
                        <m:rPr>
                          <m:sty m:val="p"/>
                        </m:rPr>
                        <a:rPr lang="en-US" sz="1200" b="0" i="0" smtClean="0">
                          <a:latin typeface="Cambria Math" panose="02040503050406030204" pitchFamily="18" charset="0"/>
                        </a:rPr>
                        <m:t>mod</m:t>
                      </m:r>
                      <m:r>
                        <a:rPr lang="en-US" sz="1200" b="0" i="1" smtClean="0">
                          <a:latin typeface="Cambria Math" panose="02040503050406030204" pitchFamily="18" charset="0"/>
                        </a:rPr>
                        <m:t> 2)</m:t>
                      </m:r>
                    </m:oMath>
                  </m:oMathPara>
                </a14:m>
                <a:endParaRPr lang="en-ZA" dirty="0"/>
              </a:p>
              <a:p>
                <a:pPr algn="just"/>
                <a:r>
                  <a:rPr lang="en-ZA" dirty="0"/>
                  <a:t>is obtained, gradually building a system of linear equations. Each new result is checked to determine whether it provides new information or can be expressed as a linear combination of previous results. For example, if 𝑦₃ = 𝑦₁ ⨁ 𝑦₂, then 𝑦₃ is redundant</a:t>
                </a:r>
              </a:p>
              <a:p>
                <a:pPr algn="just"/>
                <a:endParaRPr lang="en-ZA" dirty="0"/>
              </a:p>
              <a:p>
                <a:pPr algn="just"/>
                <a:r>
                  <a:rPr lang="en-ZA" dirty="0"/>
                  <a:t>To determine a nonzero hidden string </a:t>
                </a:r>
                <a14:m>
                  <m:oMath xmlns:m="http://schemas.openxmlformats.org/officeDocument/2006/math">
                    <m:r>
                      <a:rPr lang="en-US" sz="1200" b="0" i="1" smtClean="0">
                        <a:latin typeface="Cambria Math" panose="02040503050406030204" pitchFamily="18" charset="0"/>
                      </a:rPr>
                      <m:t>𝑠</m:t>
                    </m:r>
                  </m:oMath>
                </a14:m>
                <a:r>
                  <a:rPr lang="en-ZA" dirty="0"/>
                  <a:t>, </a:t>
                </a:r>
                <a14:m>
                  <m:oMath xmlns:m="http://schemas.openxmlformats.org/officeDocument/2006/math">
                    <m:r>
                      <a:rPr lang="en-US" sz="1200" b="0" i="1" smtClean="0">
                        <a:latin typeface="Cambria Math" panose="02040503050406030204" pitchFamily="18" charset="0"/>
                      </a:rPr>
                      <m:t>𝑛</m:t>
                    </m:r>
                    <m:r>
                      <a:rPr lang="en-US" sz="1200" b="0" i="1" smtClean="0">
                        <a:latin typeface="Cambria Math" panose="02040503050406030204" pitchFamily="18" charset="0"/>
                      </a:rPr>
                      <m:t>−1</m:t>
                    </m:r>
                  </m:oMath>
                </a14:m>
                <a:r>
                  <a:rPr lang="en-ZA" dirty="0"/>
                  <a:t> linearly independent equations are required, where </a:t>
                </a:r>
                <a14:m>
                  <m:oMath xmlns:m="http://schemas.openxmlformats.org/officeDocument/2006/math">
                    <m:r>
                      <a:rPr lang="en-US" sz="1200" b="0" i="1" smtClean="0">
                        <a:latin typeface="Cambria Math" panose="02040503050406030204" pitchFamily="18" charset="0"/>
                      </a:rPr>
                      <m:t>𝑛</m:t>
                    </m:r>
                  </m:oMath>
                </a14:m>
                <a:r>
                  <a:rPr lang="en-ZA" dirty="0"/>
                  <a:t> is the number of bits in </a:t>
                </a:r>
                <a14:m>
                  <m:oMath xmlns:m="http://schemas.openxmlformats.org/officeDocument/2006/math">
                    <m:r>
                      <a:rPr lang="en-US" sz="1200" b="0" i="1" smtClean="0">
                        <a:latin typeface="Cambria Math" panose="02040503050406030204" pitchFamily="18" charset="0"/>
                      </a:rPr>
                      <m:t>𝑠</m:t>
                    </m:r>
                  </m:oMath>
                </a14:m>
                <a:r>
                  <a:rPr lang="en-ZA" dirty="0"/>
                  <a:t>. Once enough independent equations have been collected, the system is solved classically to recover </a:t>
                </a:r>
                <a14:m>
                  <m:oMath xmlns:m="http://schemas.openxmlformats.org/officeDocument/2006/math">
                    <m:r>
                      <a:rPr lang="en-US" sz="1200" b="0" i="1" smtClean="0">
                        <a:latin typeface="Cambria Math" panose="02040503050406030204" pitchFamily="18" charset="0"/>
                      </a:rPr>
                      <m:t>𝑠</m:t>
                    </m:r>
                  </m:oMath>
                </a14:m>
                <a:r>
                  <a:rPr lang="en-ZA" dirty="0"/>
                  <a:t>.</a:t>
                </a:r>
              </a:p>
              <a:p>
                <a:pPr algn="just"/>
                <a:endParaRPr lang="en-ZA" dirty="0"/>
              </a:p>
              <a:p>
                <a:pPr marL="228600" indent="-228600" algn="l">
                  <a:buFont typeface="+mj-lt"/>
                  <a:buAutoNum type="arabicPeriod"/>
                </a:pPr>
                <a:r>
                  <a:rPr lang="en-ZA" dirty="0"/>
                  <a:t>For example, suppose two measurements produce </a:t>
                </a:r>
                <a14:m>
                  <m:oMath xmlns:m="http://schemas.openxmlformats.org/officeDocument/2006/math">
                    <m:sSub>
                      <m:sSubPr>
                        <m:ctrlPr>
                          <a:rPr lang="en-US" sz="1200" i="1" smtClean="0">
                            <a:latin typeface="Cambria Math" panose="02040503050406030204" pitchFamily="18" charset="0"/>
                          </a:rPr>
                        </m:ctrlPr>
                      </m:sSubPr>
                      <m:e>
                        <m:r>
                          <a:rPr lang="en-US" sz="1200" b="0" i="1">
                            <a:latin typeface="Cambria Math" panose="02040503050406030204" pitchFamily="18" charset="0"/>
                          </a:rPr>
                          <m:t>𝑦</m:t>
                        </m:r>
                      </m:e>
                      <m:sub>
                        <m:r>
                          <a:rPr lang="en-US" sz="1200" b="0" i="1">
                            <a:latin typeface="Cambria Math" panose="02040503050406030204" pitchFamily="18" charset="0"/>
                          </a:rPr>
                          <m:t>1</m:t>
                        </m:r>
                      </m:sub>
                    </m:sSub>
                  </m:oMath>
                </a14:m>
                <a:r>
                  <a:rPr lang="en-US" sz="1200" dirty="0"/>
                  <a:t>=001</a:t>
                </a:r>
                <a:r>
                  <a:rPr lang="en-ZA" dirty="0"/>
                  <a:t> and </a:t>
                </a:r>
                <a14:m>
                  <m:oMath xmlns:m="http://schemas.openxmlformats.org/officeDocument/2006/math">
                    <m:sSub>
                      <m:sSubPr>
                        <m:ctrlPr>
                          <a:rPr lang="en-US" sz="1200" i="1" smtClean="0">
                            <a:latin typeface="Cambria Math" panose="02040503050406030204" pitchFamily="18" charset="0"/>
                          </a:rPr>
                        </m:ctrlPr>
                      </m:sSubPr>
                      <m:e>
                        <m:r>
                          <a:rPr lang="en-US" sz="1200" b="0" i="1">
                            <a:latin typeface="Cambria Math" panose="02040503050406030204" pitchFamily="18" charset="0"/>
                          </a:rPr>
                          <m:t>𝑦</m:t>
                        </m:r>
                      </m:e>
                      <m:sub>
                        <m:r>
                          <a:rPr lang="sr-Latn-RS" sz="1200" b="0" i="0" smtClean="0">
                            <a:latin typeface="Cambria Math" panose="02040503050406030204" pitchFamily="18" charset="0"/>
                          </a:rPr>
                          <m:t>2</m:t>
                        </m:r>
                      </m:sub>
                    </m:sSub>
                  </m:oMath>
                </a14:m>
                <a:r>
                  <a:rPr lang="en-US" sz="1200" dirty="0"/>
                  <a:t>=111. </a:t>
                </a:r>
                <a:r>
                  <a:rPr lang="en-ZA" dirty="0"/>
                  <a:t>These give two linear Boolean equations.</a:t>
                </a:r>
              </a:p>
              <a:p>
                <a:pPr marL="228600" indent="-228600" algn="l">
                  <a:buFont typeface="+mj-lt"/>
                  <a:buAutoNum type="arabicPeriod"/>
                </a:pPr>
                <a:endParaRPr lang="en-ZA" dirty="0"/>
              </a:p>
              <a:p>
                <a:pPr marL="228600" indent="-228600" algn="l">
                  <a:buFont typeface="+mj-lt"/>
                  <a:buAutoNum type="arabicPeriod"/>
                </a:pPr>
                <a:r>
                  <a:rPr lang="en-ZA" dirty="0"/>
                  <a:t>Each equation represents a bitwise inner product: corresponding bits of </a:t>
                </a:r>
                <a14:m>
                  <m:oMath xmlns:m="http://schemas.openxmlformats.org/officeDocument/2006/math">
                    <m:r>
                      <a:rPr lang="en-US" sz="1200" b="0" i="1" smtClean="0">
                        <a:latin typeface="Cambria Math" panose="02040503050406030204" pitchFamily="18" charset="0"/>
                      </a:rPr>
                      <m:t>𝑦</m:t>
                    </m:r>
                  </m:oMath>
                </a14:m>
                <a:r>
                  <a:rPr lang="en-ZA" dirty="0"/>
                  <a:t> and </a:t>
                </a:r>
                <a14:m>
                  <m:oMath xmlns:m="http://schemas.openxmlformats.org/officeDocument/2006/math">
                    <m:r>
                      <a:rPr lang="en-US" sz="1200" b="0" i="1" smtClean="0">
                        <a:latin typeface="Cambria Math" panose="02040503050406030204" pitchFamily="18" charset="0"/>
                      </a:rPr>
                      <m:t>𝑠</m:t>
                    </m:r>
                  </m:oMath>
                </a14:m>
                <a:r>
                  <a:rPr lang="en-ZA" dirty="0"/>
                  <a:t> are multiplied, and the results are summed modulo 2</a:t>
                </a:r>
              </a:p>
              <a:p>
                <a:pPr marL="228600" indent="-228600" algn="l">
                  <a:buFont typeface="+mj-lt"/>
                  <a:buAutoNum type="arabicPeriod"/>
                </a:pPr>
                <a:endParaRPr lang="en-ZA"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For </a:t>
                </a:r>
                <a14:m>
                  <m:oMath xmlns:m="http://schemas.openxmlformats.org/officeDocument/2006/math">
                    <m:r>
                      <a:rPr lang="en-US" sz="1200" b="0" i="1" smtClean="0">
                        <a:latin typeface="Cambria Math" panose="02040503050406030204" pitchFamily="18" charset="0"/>
                      </a:rPr>
                      <m:t>𝑠</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0</m:t>
                        </m:r>
                      </m:sub>
                    </m:sSub>
                  </m:oMath>
                </a14:m>
                <a:r>
                  <a:rPr lang="en-ZA" dirty="0"/>
                  <a:t>, the first equation gives </a:t>
                </a:r>
                <a14:m>
                  <m:oMath xmlns:m="http://schemas.openxmlformats.org/officeDocument/2006/math">
                    <m:r>
                      <m:rPr>
                        <m:nor/>
                      </m:rPr>
                      <a:rPr lang="en-US" sz="1200" dirty="0" smtClean="0"/>
                      <m:t>001</m:t>
                    </m:r>
                    <m:r>
                      <a:rPr lang="en-US" sz="1200" b="0">
                        <a:latin typeface="Cambria Math" panose="02040503050406030204" pitchFamily="18" charset="0"/>
                      </a:rPr>
                      <m:t>∙</m:t>
                    </m:r>
                    <m:r>
                      <a:rPr lang="sr-Latn-RS" sz="1200" b="0" i="1">
                        <a:latin typeface="Cambria Math" panose="02040503050406030204" pitchFamily="18" charset="0"/>
                      </a:rPr>
                      <m:t>𝑠</m:t>
                    </m:r>
                    <m:r>
                      <a:rPr lang="sr-Latn-R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0</m:t>
                        </m:r>
                      </m:sub>
                    </m:sSub>
                    <m:r>
                      <a:rPr lang="en-US" sz="1200" b="0" i="1" smtClean="0">
                        <a:latin typeface="Cambria Math" panose="02040503050406030204" pitchFamily="18" charset="0"/>
                      </a:rPr>
                      <m:t>=</m:t>
                    </m:r>
                    <m:r>
                      <a:rPr lang="sr-Latn-RS" sz="1200" b="0" i="1" smtClean="0">
                        <a:latin typeface="Cambria Math" panose="02040503050406030204" pitchFamily="18" charset="0"/>
                      </a:rPr>
                      <m:t>0</m:t>
                    </m:r>
                  </m:oMath>
                </a14:m>
                <a:r>
                  <a:rPr lang="sr-Latn-RS" sz="1200" dirty="0"/>
                  <a:t>. </a:t>
                </a:r>
                <a:r>
                  <a:rPr lang="en-ZA" dirty="0"/>
                  <a:t>The second equation gives  </a:t>
                </a:r>
                <a14:m>
                  <m:oMath xmlns:m="http://schemas.openxmlformats.org/officeDocument/2006/math">
                    <m:r>
                      <a:rPr lang="sr-Latn-RS" sz="1200" b="0" i="1" smtClean="0">
                        <a:latin typeface="Cambria Math" panose="02040503050406030204" pitchFamily="18" charset="0"/>
                      </a:rPr>
                      <m:t>111</m:t>
                    </m:r>
                    <m:r>
                      <a:rPr lang="en-US" sz="1200" b="0">
                        <a:latin typeface="Cambria Math" panose="02040503050406030204" pitchFamily="18" charset="0"/>
                      </a:rPr>
                      <m:t>∙</m:t>
                    </m:r>
                    <m:r>
                      <a:rPr lang="sr-Latn-RS" sz="1200" b="0" i="1">
                        <a:latin typeface="Cambria Math" panose="02040503050406030204" pitchFamily="18" charset="0"/>
                      </a:rPr>
                      <m:t>𝑠</m:t>
                    </m:r>
                    <m:r>
                      <a:rPr lang="sr-Latn-R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sr-Latn-R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sr-Latn-R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0</m:t>
                        </m:r>
                      </m:sub>
                    </m:sSub>
                  </m:oMath>
                </a14:m>
                <a:r>
                  <a:rPr lang="sr-Latn-RS" sz="1200" dirty="0"/>
                  <a:t>. </a:t>
                </a:r>
                <a:r>
                  <a:rPr lang="sr-Latn-RS" sz="1200" dirty="0" err="1"/>
                  <a:t>Since</a:t>
                </a:r>
                <a:r>
                  <a:rPr lang="sr-Latn-RS" sz="1200" dirty="0"/>
                  <a:t>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0</m:t>
                        </m:r>
                      </m:sub>
                    </m:sSub>
                    <m:r>
                      <a:rPr lang="en-US" sz="1200" b="0" i="1" smtClean="0">
                        <a:latin typeface="Cambria Math" panose="02040503050406030204" pitchFamily="18" charset="0"/>
                      </a:rPr>
                      <m:t>=0</m:t>
                    </m:r>
                  </m:oMath>
                </a14:m>
                <a:r>
                  <a:rPr lang="sr-Latn-RS" sz="1200" dirty="0"/>
                  <a:t>,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sr-Latn-R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=0</m:t>
                    </m:r>
                  </m:oMath>
                </a14:m>
                <a:r>
                  <a:rPr lang="sr-Latn-RS" sz="1200" dirty="0"/>
                  <a:t>, </a:t>
                </a:r>
                <a:r>
                  <a:rPr lang="en-ZA" dirty="0"/>
                  <a:t>giving two possible solutions:</a:t>
                </a:r>
                <a:br>
                  <a:rPr lang="en-ZA" dirty="0"/>
                </a:b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=0</m:t>
                    </m:r>
                  </m:oMath>
                </a14:m>
                <a:r>
                  <a:rPr lang="sr-Latn-RS" sz="1200" dirty="0"/>
                  <a:t> giving</a:t>
                </a:r>
                <a:r>
                  <a:rPr lang="sr-Latn-RS" sz="1200" baseline="0" dirty="0"/>
                  <a:t> </a:t>
                </a:r>
                <a14:m>
                  <m:oMath xmlns:m="http://schemas.openxmlformats.org/officeDocument/2006/math">
                    <m:r>
                      <a:rPr lang="sr-Latn-RS" sz="1200" b="0" i="1" smtClean="0">
                        <a:latin typeface="Cambria Math" panose="02040503050406030204" pitchFamily="18" charset="0"/>
                      </a:rPr>
                      <m:t>𝑠</m:t>
                    </m:r>
                    <m:r>
                      <a:rPr lang="sr-Latn-RS" sz="1200" b="0" i="1" smtClean="0">
                        <a:latin typeface="Cambria Math" panose="02040503050406030204" pitchFamily="18" charset="0"/>
                      </a:rPr>
                      <m:t>=000</m:t>
                    </m:r>
                  </m:oMath>
                </a14:m>
                <a:br>
                  <a:rPr lang="en-US" sz="1200" b="0" dirty="0"/>
                </a:b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𝑠</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r>
                      <m:rPr>
                        <m:nor/>
                      </m:rPr>
                      <a:rPr lang="en-US" sz="1200" b="0" i="0" smtClean="0">
                        <a:latin typeface="Cambria Math" panose="02040503050406030204" pitchFamily="18" charset="0"/>
                      </a:rPr>
                      <m:t>1</m:t>
                    </m:r>
                    <m:r>
                      <m:rPr>
                        <m:nor/>
                      </m:rPr>
                      <a:rPr lang="sr-Latn-RS" sz="1200" dirty="0"/>
                      <m:t> </m:t>
                    </m:r>
                    <m:r>
                      <m:rPr>
                        <m:nor/>
                      </m:rPr>
                      <a:rPr lang="sr-Latn-RS" sz="1200" dirty="0"/>
                      <m:t>giving</m:t>
                    </m:r>
                    <m:r>
                      <m:rPr>
                        <m:nor/>
                      </m:rPr>
                      <a:rPr lang="sr-Latn-RS" sz="1200" baseline="0" dirty="0"/>
                      <m:t> </m:t>
                    </m:r>
                    <m:r>
                      <a:rPr lang="sr-Latn-RS" sz="1200" b="0" i="1" smtClean="0">
                        <a:latin typeface="Cambria Math" panose="02040503050406030204" pitchFamily="18" charset="0"/>
                      </a:rPr>
                      <m:t>𝑠</m:t>
                    </m:r>
                    <m:r>
                      <a:rPr lang="sr-Latn-RS" sz="1200" b="0" i="1" smtClean="0">
                        <a:latin typeface="Cambria Math" panose="02040503050406030204" pitchFamily="18" charset="0"/>
                      </a:rPr>
                      <m:t>=110</m:t>
                    </m:r>
                  </m:oMath>
                </a14:m>
                <a:r>
                  <a:rPr lang="sr-Latn-RS" sz="1200" dirty="0"/>
                  <a:t> </a:t>
                </a:r>
              </a:p>
              <a:p>
                <a:pPr marL="228600" indent="-228600" algn="just">
                  <a:buFont typeface="+mj-lt"/>
                  <a:buAutoNum type="arabicPeriod"/>
                </a:pPr>
                <a:endParaRPr lang="en-ZA" dirty="0"/>
              </a:p>
              <a:p>
                <a:pPr algn="just"/>
                <a:r>
                  <a:rPr lang="en-ZA" dirty="0"/>
                  <a:t>Since the nonzero hidden string is being sought, the solution is </a:t>
                </a:r>
                <a14:m>
                  <m:oMath xmlns:m="http://schemas.openxmlformats.org/officeDocument/2006/math">
                    <m:r>
                      <a:rPr lang="sr-Latn-RS" sz="1200" b="0" i="1" smtClean="0">
                        <a:latin typeface="Cambria Math" panose="02040503050406030204" pitchFamily="18" charset="0"/>
                      </a:rPr>
                      <m:t>𝑠</m:t>
                    </m:r>
                    <m:r>
                      <a:rPr lang="sr-Latn-RS" sz="1200" b="0" i="1" smtClean="0">
                        <a:latin typeface="Cambria Math" panose="02040503050406030204" pitchFamily="18" charset="0"/>
                      </a:rPr>
                      <m:t>=110</m:t>
                    </m:r>
                  </m:oMath>
                </a14:m>
                <a:r>
                  <a:rPr lang="en-ZA" dirty="0"/>
                  <a:t>.</a:t>
                </a: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kern="1200" dirty="0">
                    <a:solidFill>
                      <a:schemeClr val="tx1"/>
                    </a:solidFill>
                    <a:effectLst/>
                    <a:latin typeface="+mn-lt"/>
                    <a:ea typeface="+mn-ea"/>
                    <a:cs typeface="+mn-cs"/>
                  </a:rPr>
                  <a:t>Gornji </a:t>
                </a:r>
                <a:r>
                  <a:rPr lang="en-ZA" sz="1200" kern="1200" dirty="0" err="1">
                    <a:solidFill>
                      <a:schemeClr val="tx1"/>
                    </a:solidFill>
                    <a:effectLst/>
                    <a:latin typeface="+mn-lt"/>
                    <a:ea typeface="+mn-ea"/>
                    <a:cs typeface="+mn-cs"/>
                  </a:rPr>
                  <a:t>izraz</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pokazuje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stanje</a:t>
                </a:r>
                <a:r>
                  <a:rPr lang="en-ZA" sz="1200" kern="1200" dirty="0">
                    <a:solidFill>
                      <a:schemeClr val="tx1"/>
                    </a:solidFill>
                    <a:effectLst/>
                    <a:latin typeface="+mn-lt"/>
                    <a:ea typeface="+mn-ea"/>
                    <a:cs typeface="+mn-cs"/>
                  </a:rPr>
                  <a:t> </a:t>
                </a:r>
                <a:r>
                  <a:rPr lang="sr-Latn-RS" sz="1200" b="0" i="0">
                    <a:latin typeface="Cambria Math" panose="02040503050406030204" pitchFamily="18" charset="0"/>
                  </a:rPr>
                  <a:t>𝑥</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registra</a:t>
                </a:r>
                <a:r>
                  <a:rPr lang="en-ZA" sz="1200" kern="1200" dirty="0">
                    <a:solidFill>
                      <a:schemeClr val="tx1"/>
                    </a:solidFill>
                    <a:effectLst/>
                    <a:latin typeface="+mn-lt"/>
                    <a:ea typeface="+mn-ea"/>
                    <a:cs typeface="+mn-cs"/>
                  </a:rPr>
                  <a:t> pre </a:t>
                </a:r>
                <a:r>
                  <a:rPr lang="en-ZA" sz="1200" kern="1200" dirty="0" err="1">
                    <a:solidFill>
                      <a:schemeClr val="tx1"/>
                    </a:solidFill>
                    <a:effectLst/>
                    <a:latin typeface="+mn-lt"/>
                    <a:ea typeface="+mn-ea"/>
                    <a:cs typeface="+mn-cs"/>
                  </a:rPr>
                  <a:t>merenja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kada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en-US" sz="1200" i="0">
                    <a:latin typeface="Cambria Math" panose="02040503050406030204" pitchFamily="18" charset="0"/>
                  </a:rPr>
                  <a:t>𝑠∙𝑦=0</a:t>
                </a:r>
                <a:r>
                  <a:rPr lang="en-ZA" sz="120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kern="1200" dirty="0">
                    <a:solidFill>
                      <a:schemeClr val="tx1"/>
                    </a:solidFill>
                    <a:effectLst/>
                    <a:latin typeface="+mn-lt"/>
                    <a:ea typeface="+mn-ea"/>
                    <a:cs typeface="+mn-cs"/>
                  </a:rPr>
                  <a:t>Program </a:t>
                </a:r>
                <a:r>
                  <a:rPr lang="en-ZA" sz="1200" kern="1200" dirty="0" err="1">
                    <a:solidFill>
                      <a:schemeClr val="tx1"/>
                    </a:solidFill>
                    <a:effectLst/>
                    <a:latin typeface="+mn-lt"/>
                    <a:ea typeface="+mn-ea"/>
                    <a:cs typeface="+mn-cs"/>
                  </a:rPr>
                  <a:t>Simonovog</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algoritma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izvršava</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više</a:t>
                </a:r>
                <a:r>
                  <a:rPr lang="en-ZA" sz="1200" kern="1200" dirty="0">
                    <a:solidFill>
                      <a:schemeClr val="tx1"/>
                    </a:solidFill>
                    <a:effectLst/>
                    <a:latin typeface="+mn-lt"/>
                    <a:ea typeface="+mn-ea"/>
                    <a:cs typeface="+mn-cs"/>
                  </a:rPr>
                  <a:t> puta da bi se </a:t>
                </a:r>
                <a:r>
                  <a:rPr lang="en-ZA" sz="1200" kern="1200" dirty="0" err="1">
                    <a:solidFill>
                      <a:schemeClr val="tx1"/>
                    </a:solidFill>
                    <a:effectLst/>
                    <a:latin typeface="+mn-lt"/>
                    <a:ea typeface="+mn-ea"/>
                    <a:cs typeface="+mn-cs"/>
                  </a:rPr>
                  <a:t>merenjem</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dobili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binarni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nizovi</a:t>
                </a:r>
                <a:r>
                  <a:rPr lang="en-ZA" sz="1200" kern="1200" dirty="0">
                    <a:solidFill>
                      <a:schemeClr val="tx1"/>
                    </a:solidFill>
                    <a:effectLst/>
                    <a:latin typeface="+mn-lt"/>
                    <a:ea typeface="+mn-ea"/>
                    <a:cs typeface="+mn-cs"/>
                  </a:rPr>
                  <a:t> </a:t>
                </a:r>
                <a:r>
                  <a:rPr lang="en-US" sz="1200" i="0">
                    <a:latin typeface="Cambria Math" panose="02040503050406030204" pitchFamily="18" charset="0"/>
                  </a:rPr>
                  <a:t>𝑦_</a:t>
                </a:r>
                <a:r>
                  <a:rPr lang="sr-Latn-RS" sz="1200" b="0" i="0">
                    <a:latin typeface="Cambria Math" panose="02040503050406030204" pitchFamily="18" charset="0"/>
                  </a:rPr>
                  <a:t>𝑘</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Ovi</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rezultati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prema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uslovu</a:t>
                </a:r>
                <a:r>
                  <a:rPr lang="en-ZA" sz="1200" kern="1200" dirty="0">
                    <a:solidFill>
                      <a:schemeClr val="tx1"/>
                    </a:solidFill>
                    <a:effectLst/>
                    <a:latin typeface="+mn-lt"/>
                    <a:ea typeface="+mn-ea"/>
                    <a:cs typeface="+mn-cs"/>
                  </a:rPr>
                  <a:t> da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𝑠∙𝑦=0 </a:t>
                </a:r>
                <a:r>
                  <a:rPr lang="en-ZA" sz="1200" kern="1200" dirty="0" err="1">
                    <a:solidFill>
                      <a:schemeClr val="tx1"/>
                    </a:solidFill>
                    <a:effectLst/>
                    <a:latin typeface="+mn-lt"/>
                    <a:ea typeface="+mn-ea"/>
                    <a:cs typeface="+mn-cs"/>
                  </a:rPr>
                  <a:t>pretvaraju</a:t>
                </a:r>
                <a:r>
                  <a:rPr lang="en-ZA" sz="1200" kern="1200" dirty="0">
                    <a:solidFill>
                      <a:schemeClr val="tx1"/>
                    </a:solidFill>
                    <a:effectLst/>
                    <a:latin typeface="+mn-lt"/>
                    <a:ea typeface="+mn-ea"/>
                    <a:cs typeface="+mn-cs"/>
                  </a:rPr>
                  <a:t> u system </a:t>
                </a:r>
                <a:r>
                  <a:rPr lang="en-ZA" sz="1200" kern="1200" dirty="0" err="1">
                    <a:solidFill>
                      <a:schemeClr val="tx1"/>
                    </a:solidFill>
                    <a:effectLst/>
                    <a:latin typeface="+mn-lt"/>
                    <a:ea typeface="+mn-ea"/>
                    <a:cs typeface="+mn-cs"/>
                  </a:rPr>
                  <a:t>jednačina</a:t>
                </a:r>
                <a:r>
                  <a:rPr lang="en-ZA" sz="1200" kern="1200" dirty="0">
                    <a:solidFill>
                      <a:schemeClr val="tx1"/>
                    </a:solidFill>
                    <a:effectLst/>
                    <a:latin typeface="+mn-lt"/>
                    <a:ea typeface="+mn-ea"/>
                    <a:cs typeface="+mn-cs"/>
                  </a:rPr>
                  <a:t>. Da bi </a:t>
                </a:r>
                <a:r>
                  <a:rPr lang="en-ZA" sz="1200" kern="1200" dirty="0" err="1">
                    <a:solidFill>
                      <a:schemeClr val="tx1"/>
                    </a:solidFill>
                    <a:effectLst/>
                    <a:latin typeface="+mn-lt"/>
                    <a:ea typeface="+mn-ea"/>
                    <a:cs typeface="+mn-cs"/>
                  </a:rPr>
                  <a:t>ovaj</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sistem</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jednačina</a:t>
                </a:r>
                <a:r>
                  <a:rPr lang="en-ZA" sz="1200" kern="1200" dirty="0">
                    <a:solidFill>
                      <a:schemeClr val="tx1"/>
                    </a:solidFill>
                    <a:effectLst/>
                    <a:latin typeface="+mn-lt"/>
                    <a:ea typeface="+mn-ea"/>
                    <a:cs typeface="+mn-cs"/>
                  </a:rPr>
                  <a:t> bio </a:t>
                </a:r>
                <a:r>
                  <a:rPr lang="en-ZA" sz="1200" kern="1200" dirty="0" err="1">
                    <a:solidFill>
                      <a:schemeClr val="tx1"/>
                    </a:solidFill>
                    <a:effectLst/>
                    <a:latin typeface="+mn-lt"/>
                    <a:ea typeface="+mn-ea"/>
                    <a:cs typeface="+mn-cs"/>
                  </a:rPr>
                  <a:t>rešiv</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potrebno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bar (n-1) </a:t>
                </a:r>
                <a:r>
                  <a:rPr lang="en-ZA" sz="1200" kern="1200" dirty="0" err="1">
                    <a:solidFill>
                      <a:schemeClr val="tx1"/>
                    </a:solidFill>
                    <a:effectLst/>
                    <a:latin typeface="+mn-lt"/>
                    <a:ea typeface="+mn-ea"/>
                    <a:cs typeface="+mn-cs"/>
                  </a:rPr>
                  <a:t>merenje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gde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n </a:t>
                </a:r>
                <a:r>
                  <a:rPr lang="en-ZA" sz="1200" kern="1200" dirty="0" err="1">
                    <a:solidFill>
                      <a:schemeClr val="tx1"/>
                    </a:solidFill>
                    <a:effectLst/>
                    <a:latin typeface="+mn-lt"/>
                    <a:ea typeface="+mn-ea"/>
                    <a:cs typeface="+mn-cs"/>
                  </a:rPr>
                  <a:t>broj</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bitova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koji</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traži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Ovo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takođe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znači</a:t>
                </a:r>
                <a:r>
                  <a:rPr lang="en-ZA" sz="1200" kern="1200" dirty="0">
                    <a:solidFill>
                      <a:schemeClr val="tx1"/>
                    </a:solidFill>
                    <a:effectLst/>
                    <a:latin typeface="+mn-lt"/>
                    <a:ea typeface="+mn-ea"/>
                    <a:cs typeface="+mn-cs"/>
                  </a:rPr>
                  <a:t> da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složenost</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kvantnog</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dela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algoritma</a:t>
                </a:r>
                <a:r>
                  <a:rPr lang="en-ZA" sz="1200" kern="1200" dirty="0">
                    <a:solidFill>
                      <a:schemeClr val="tx1"/>
                    </a:solidFill>
                    <a:effectLst/>
                    <a:latin typeface="+mn-lt"/>
                    <a:ea typeface="+mn-ea"/>
                    <a:cs typeface="+mn-cs"/>
                  </a:rPr>
                  <a:t> 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kern="1200" dirty="0" err="1">
                    <a:solidFill>
                      <a:schemeClr val="tx1"/>
                    </a:solidFill>
                    <a:effectLst/>
                    <a:latin typeface="+mn-lt"/>
                    <a:ea typeface="+mn-ea"/>
                    <a:cs typeface="+mn-cs"/>
                  </a:rPr>
                  <a:t>Za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svaki</a:t>
                </a:r>
                <a:r>
                  <a:rPr lang="en-ZA" sz="1200" kern="1200" dirty="0">
                    <a:solidFill>
                      <a:schemeClr val="tx1"/>
                    </a:solidFill>
                    <a:effectLst/>
                    <a:latin typeface="+mn-lt"/>
                    <a:ea typeface="+mn-ea"/>
                    <a:cs typeface="+mn-cs"/>
                  </a:rPr>
                  <a:t> od </a:t>
                </a:r>
                <a:r>
                  <a:rPr lang="en-ZA" sz="1200" kern="1200" dirty="0" err="1">
                    <a:solidFill>
                      <a:schemeClr val="tx1"/>
                    </a:solidFill>
                    <a:effectLst/>
                    <a:latin typeface="+mn-lt"/>
                    <a:ea typeface="+mn-ea"/>
                    <a:cs typeface="+mn-cs"/>
                  </a:rPr>
                  <a:t>rezultata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merenja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treba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utvrditi</a:t>
                </a:r>
                <a:r>
                  <a:rPr lang="en-ZA" sz="1200" kern="1200" dirty="0">
                    <a:solidFill>
                      <a:schemeClr val="tx1"/>
                    </a:solidFill>
                    <a:effectLst/>
                    <a:latin typeface="+mn-lt"/>
                    <a:ea typeface="+mn-ea"/>
                    <a:cs typeface="+mn-cs"/>
                  </a:rPr>
                  <a:t> da li </a:t>
                </a:r>
                <a:r>
                  <a:rPr lang="en-ZA" sz="1200" kern="1200" dirty="0" err="1">
                    <a:solidFill>
                      <a:schemeClr val="tx1"/>
                    </a:solidFill>
                    <a:effectLst/>
                    <a:latin typeface="+mn-lt"/>
                    <a:ea typeface="+mn-ea"/>
                    <a:cs typeface="+mn-cs"/>
                  </a:rPr>
                  <a:t>predstavlja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linearnu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kombinaciju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ranije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izmerenih</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vrednosti</a:t>
                </a:r>
                <a:r>
                  <a:rPr lang="en-ZA" sz="1200" kern="1200" dirty="0">
                    <a:solidFill>
                      <a:schemeClr val="tx1"/>
                    </a:solidFill>
                    <a:effectLst/>
                    <a:latin typeface="+mn-lt"/>
                    <a:ea typeface="+mn-ea"/>
                    <a:cs typeface="+mn-cs"/>
                  </a:rPr>
                  <a:t>. Na primer, </a:t>
                </a:r>
                <a:r>
                  <a:rPr lang="en-ZA" sz="1200" kern="1200" dirty="0" err="1">
                    <a:solidFill>
                      <a:schemeClr val="tx1"/>
                    </a:solidFill>
                    <a:effectLst/>
                    <a:latin typeface="+mn-lt"/>
                    <a:ea typeface="+mn-ea"/>
                    <a:cs typeface="+mn-cs"/>
                  </a:rPr>
                  <a:t>ako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en-US" sz="1200" i="0">
                    <a:latin typeface="Cambria Math" panose="02040503050406030204" pitchFamily="18" charset="0"/>
                  </a:rPr>
                  <a:t>𝑦_</a:t>
                </a:r>
                <a:r>
                  <a:rPr lang="sr-Latn-RS" sz="1200" b="0" i="0">
                    <a:latin typeface="Cambria Math" panose="02040503050406030204" pitchFamily="18" charset="0"/>
                  </a:rPr>
                  <a:t>3</a:t>
                </a:r>
                <a:r>
                  <a:rPr lang="en-ZA" sz="1200" kern="1200" dirty="0">
                    <a:solidFill>
                      <a:schemeClr val="tx1"/>
                    </a:solidFill>
                    <a:effectLst/>
                    <a:latin typeface="+mn-lt"/>
                    <a:ea typeface="+mn-ea"/>
                    <a:cs typeface="+mn-cs"/>
                  </a:rPr>
                  <a:t>=</a:t>
                </a:r>
                <a:r>
                  <a:rPr lang="en-US" sz="1200" i="0">
                    <a:latin typeface="Cambria Math" panose="02040503050406030204" pitchFamily="18" charset="0"/>
                  </a:rPr>
                  <a:t>𝑦_</a:t>
                </a:r>
                <a:r>
                  <a:rPr lang="sr-Latn-RS" sz="1200" b="0" i="0">
                    <a:latin typeface="Cambria Math" panose="02040503050406030204" pitchFamily="18" charset="0"/>
                  </a:rPr>
                  <a:t>1</a:t>
                </a:r>
                <a:r>
                  <a:rPr lang="en-ZA" sz="1200" kern="1200" dirty="0">
                    <a:solidFill>
                      <a:schemeClr val="tx1"/>
                    </a:solidFill>
                    <a:effectLst/>
                    <a:latin typeface="+mn-lt"/>
                    <a:ea typeface="+mn-ea"/>
                    <a:cs typeface="+mn-cs"/>
                  </a:rPr>
                  <a:t>+</a:t>
                </a:r>
                <a:r>
                  <a:rPr lang="en-US" sz="1200" i="0">
                    <a:latin typeface="Cambria Math" panose="02040503050406030204" pitchFamily="18" charset="0"/>
                  </a:rPr>
                  <a:t>𝑦_2</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onda</a:t>
                </a:r>
                <a:r>
                  <a:rPr lang="en-ZA" sz="1200" kern="1200" dirty="0">
                    <a:solidFill>
                      <a:schemeClr val="tx1"/>
                    </a:solidFill>
                    <a:effectLst/>
                    <a:latin typeface="+mn-lt"/>
                    <a:ea typeface="+mn-ea"/>
                    <a:cs typeface="+mn-cs"/>
                  </a:rPr>
                  <a:t> </a:t>
                </a:r>
                <a:r>
                  <a:rPr lang="en-US" sz="1200" i="0">
                    <a:latin typeface="Cambria Math" panose="02040503050406030204" pitchFamily="18" charset="0"/>
                  </a:rPr>
                  <a:t>𝑦_</a:t>
                </a:r>
                <a:r>
                  <a:rPr lang="sr-Latn-RS" sz="1200" b="0" i="0">
                    <a:latin typeface="Cambria Math" panose="02040503050406030204" pitchFamily="18" charset="0"/>
                  </a:rPr>
                  <a:t>3</a:t>
                </a:r>
                <a:r>
                  <a:rPr lang="en-ZA" sz="1200" kern="1200" dirty="0">
                    <a:solidFill>
                      <a:schemeClr val="tx1"/>
                    </a:solidFill>
                    <a:effectLst/>
                    <a:latin typeface="+mn-lt"/>
                    <a:ea typeface="+mn-ea"/>
                    <a:cs typeface="+mn-cs"/>
                  </a:rPr>
                  <a:t> ne </a:t>
                </a:r>
                <a:r>
                  <a:rPr lang="en-ZA" sz="1200" kern="1200" dirty="0" err="1">
                    <a:solidFill>
                      <a:schemeClr val="tx1"/>
                    </a:solidFill>
                    <a:effectLst/>
                    <a:latin typeface="+mn-lt"/>
                    <a:ea typeface="+mn-ea"/>
                    <a:cs typeface="+mn-cs"/>
                  </a:rPr>
                  <a:t>daje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novu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informaciju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sistemu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jednačina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Teorijski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pokazano</a:t>
                </a:r>
                <a:r>
                  <a:rPr lang="en-ZA" sz="1200" kern="1200" dirty="0">
                    <a:solidFill>
                      <a:schemeClr val="tx1"/>
                    </a:solidFill>
                    <a:effectLst/>
                    <a:latin typeface="+mn-lt"/>
                    <a:ea typeface="+mn-ea"/>
                    <a:cs typeface="+mn-cs"/>
                  </a:rPr>
                  <a:t> da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ova </a:t>
                </a:r>
                <a:r>
                  <a:rPr lang="en-ZA" sz="1200" kern="1200" dirty="0" err="1">
                    <a:solidFill>
                      <a:schemeClr val="tx1"/>
                    </a:solidFill>
                    <a:effectLst/>
                    <a:latin typeface="+mn-lt"/>
                    <a:ea typeface="+mn-ea"/>
                    <a:cs typeface="+mn-cs"/>
                  </a:rPr>
                  <a:t>verovatnoća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veća</a:t>
                </a:r>
                <a:r>
                  <a:rPr lang="en-ZA" sz="1200" kern="1200" dirty="0">
                    <a:solidFill>
                      <a:schemeClr val="tx1"/>
                    </a:solidFill>
                    <a:effectLst/>
                    <a:latin typeface="+mn-lt"/>
                    <a:ea typeface="+mn-ea"/>
                    <a:cs typeface="+mn-cs"/>
                  </a:rPr>
                  <a:t> od 0.25.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kern="1200" dirty="0" err="1">
                    <a:solidFill>
                      <a:schemeClr val="tx1"/>
                    </a:solidFill>
                    <a:effectLst/>
                    <a:latin typeface="+mn-lt"/>
                    <a:ea typeface="+mn-ea"/>
                    <a:cs typeface="+mn-cs"/>
                  </a:rPr>
                  <a:t>Kada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dobijen</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sistem</a:t>
                </a:r>
                <a:r>
                  <a:rPr lang="en-ZA" sz="1200" kern="1200" dirty="0">
                    <a:solidFill>
                      <a:schemeClr val="tx1"/>
                    </a:solidFill>
                    <a:effectLst/>
                    <a:latin typeface="+mn-lt"/>
                    <a:ea typeface="+mn-ea"/>
                    <a:cs typeface="+mn-cs"/>
                  </a:rPr>
                  <a:t> od </a:t>
                </a:r>
                <a:r>
                  <a:rPr lang="en-ZA" sz="1200" kern="1200" dirty="0" err="1">
                    <a:solidFill>
                      <a:schemeClr val="tx1"/>
                    </a:solidFill>
                    <a:effectLst/>
                    <a:latin typeface="+mn-lt"/>
                    <a:ea typeface="+mn-ea"/>
                    <a:cs typeface="+mn-cs"/>
                  </a:rPr>
                  <a:t>najmanje</a:t>
                </a:r>
                <a:r>
                  <a:rPr lang="en-ZA" sz="1200" kern="1200" dirty="0">
                    <a:solidFill>
                      <a:schemeClr val="tx1"/>
                    </a:solidFill>
                    <a:effectLst/>
                    <a:latin typeface="+mn-lt"/>
                    <a:ea typeface="+mn-ea"/>
                    <a:cs typeface="+mn-cs"/>
                  </a:rPr>
                  <a:t> n-1 </a:t>
                </a:r>
                <a:r>
                  <a:rPr lang="en-ZA" sz="1200" kern="1200" dirty="0" err="1">
                    <a:solidFill>
                      <a:schemeClr val="tx1"/>
                    </a:solidFill>
                    <a:effectLst/>
                    <a:latin typeface="+mn-lt"/>
                    <a:ea typeface="+mn-ea"/>
                    <a:cs typeface="+mn-cs"/>
                  </a:rPr>
                  <a:t>jedančina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pristupa</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njihovom</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rešavanju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klasičan</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način</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Rešenja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ovih</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jednačina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predstavljaju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traženi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binarni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niz</a:t>
                </a:r>
                <a:r>
                  <a:rPr lang="en-ZA" sz="1200" kern="1200" dirty="0">
                    <a:solidFill>
                      <a:schemeClr val="tx1"/>
                    </a:solidFill>
                    <a:effectLst/>
                    <a:latin typeface="+mn-lt"/>
                    <a:ea typeface="+mn-ea"/>
                    <a:cs typeface="+mn-cs"/>
                  </a:rPr>
                  <a:t> </a:t>
                </a:r>
                <a:r>
                  <a:rPr lang="sr-Latn-RS" sz="1200" b="0" i="0">
                    <a:latin typeface="Cambria Math" panose="02040503050406030204" pitchFamily="18" charset="0"/>
                  </a:rPr>
                  <a:t>𝑠</a:t>
                </a:r>
                <a:r>
                  <a:rPr lang="en-ZA"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kern="1200" dirty="0" err="1">
                    <a:solidFill>
                      <a:schemeClr val="tx1"/>
                    </a:solidFill>
                    <a:effectLst/>
                    <a:latin typeface="+mn-lt"/>
                    <a:ea typeface="+mn-ea"/>
                    <a:cs typeface="+mn-cs"/>
                  </a:rPr>
                  <a:t>Neka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na</a:t>
                </a:r>
                <a:r>
                  <a:rPr lang="en-ZA" sz="1200" kern="1200" dirty="0">
                    <a:solidFill>
                      <a:schemeClr val="tx1"/>
                    </a:solidFill>
                    <a:effectLst/>
                    <a:latin typeface="+mn-lt"/>
                    <a:ea typeface="+mn-ea"/>
                    <a:cs typeface="+mn-cs"/>
                  </a:rPr>
                  <a:t> primer u </a:t>
                </a:r>
                <a:r>
                  <a:rPr lang="en-ZA" sz="1200" kern="1200" dirty="0" err="1">
                    <a:solidFill>
                      <a:schemeClr val="tx1"/>
                    </a:solidFill>
                    <a:effectLst/>
                    <a:latin typeface="+mn-lt"/>
                    <a:ea typeface="+mn-ea"/>
                    <a:cs typeface="+mn-cs"/>
                  </a:rPr>
                  <a:t>dva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merenja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dobijene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vrednosti</a:t>
                </a:r>
                <a:r>
                  <a:rPr lang="en-ZA" sz="1200" kern="1200" dirty="0">
                    <a:solidFill>
                      <a:schemeClr val="tx1"/>
                    </a:solidFill>
                    <a:effectLst/>
                    <a:latin typeface="+mn-lt"/>
                    <a:ea typeface="+mn-ea"/>
                    <a:cs typeface="+mn-cs"/>
                  </a:rPr>
                  <a:t> </a:t>
                </a:r>
                <a:r>
                  <a:rPr lang="en-US" sz="1200" i="0">
                    <a:latin typeface="Cambria Math" panose="02040503050406030204" pitchFamily="18" charset="0"/>
                  </a:rPr>
                  <a:t>𝑦_</a:t>
                </a:r>
                <a:r>
                  <a:rPr lang="sr-Latn-RS" sz="1200" b="0" i="0">
                    <a:latin typeface="Cambria Math" panose="02040503050406030204" pitchFamily="18" charset="0"/>
                  </a:rPr>
                  <a:t>1=001</a:t>
                </a:r>
                <a:r>
                  <a:rPr lang="en-ZA" sz="1200" kern="1200" dirty="0">
                    <a:solidFill>
                      <a:schemeClr val="tx1"/>
                    </a:solidFill>
                    <a:effectLst/>
                    <a:latin typeface="+mn-lt"/>
                    <a:ea typeface="+mn-ea"/>
                    <a:cs typeface="+mn-cs"/>
                  </a:rPr>
                  <a:t> </a:t>
                </a:r>
                <a:r>
                  <a:rPr lang="en-US" sz="1200" i="0">
                    <a:latin typeface="Cambria Math" panose="02040503050406030204" pitchFamily="18" charset="0"/>
                  </a:rPr>
                  <a:t>𝑦_</a:t>
                </a:r>
                <a:r>
                  <a:rPr lang="sr-Latn-RS" sz="1200" b="0" i="0">
                    <a:latin typeface="Cambria Math" panose="02040503050406030204" pitchFamily="18" charset="0"/>
                  </a:rPr>
                  <a:t>2=111</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Odavde</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dobija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sistem</a:t>
                </a:r>
                <a:r>
                  <a:rPr lang="en-ZA" sz="1200" kern="1200" dirty="0">
                    <a:solidFill>
                      <a:schemeClr val="tx1"/>
                    </a:solidFill>
                    <a:effectLst/>
                    <a:latin typeface="+mn-lt"/>
                    <a:ea typeface="+mn-ea"/>
                    <a:cs typeface="+mn-cs"/>
                  </a:rPr>
                  <a:t> od </a:t>
                </a:r>
                <a:r>
                  <a:rPr lang="en-ZA" sz="1200" kern="1200" dirty="0" err="1">
                    <a:solidFill>
                      <a:schemeClr val="tx1"/>
                    </a:solidFill>
                    <a:effectLst/>
                    <a:latin typeface="+mn-lt"/>
                    <a:ea typeface="+mn-ea"/>
                    <a:cs typeface="+mn-cs"/>
                  </a:rPr>
                  <a:t>dve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linearne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jednačine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iz</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koga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treba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naći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bitove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niza</a:t>
                </a:r>
                <a:r>
                  <a:rPr lang="en-ZA" sz="1200" kern="1200" dirty="0">
                    <a:solidFill>
                      <a:schemeClr val="tx1"/>
                    </a:solidFill>
                    <a:effectLst/>
                    <a:latin typeface="+mn-lt"/>
                    <a:ea typeface="+mn-ea"/>
                    <a:cs typeface="+mn-cs"/>
                  </a:rPr>
                  <a:t> </a:t>
                </a:r>
                <a:r>
                  <a:rPr lang="sr-Latn-RS" sz="1200" i="0">
                    <a:latin typeface="Cambria Math" panose="02040503050406030204" pitchFamily="18" charset="0"/>
                  </a:rPr>
                  <a:t>𝑠</a:t>
                </a:r>
                <a:r>
                  <a:rPr lang="en-ZA" sz="1200" kern="1200" dirty="0">
                    <a:solidFill>
                      <a:schemeClr val="tx1"/>
                    </a:solidFill>
                    <a:effectLst/>
                    <a:latin typeface="+mn-lt"/>
                    <a:ea typeface="+mn-ea"/>
                    <a:cs typeface="+mn-cs"/>
                  </a:rPr>
                  <a:t>. Ove </a:t>
                </a:r>
                <a:r>
                  <a:rPr lang="en-ZA" sz="1200" kern="1200" dirty="0" err="1">
                    <a:solidFill>
                      <a:schemeClr val="tx1"/>
                    </a:solidFill>
                    <a:effectLst/>
                    <a:latin typeface="+mn-lt"/>
                    <a:ea typeface="+mn-ea"/>
                    <a:cs typeface="+mn-cs"/>
                  </a:rPr>
                  <a:t>jednačine</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zatim</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razvijaju</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kao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unutrašnji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proizvodi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bitova</a:t>
                </a:r>
                <a:r>
                  <a:rPr lang="en-ZA" sz="1200" kern="1200" dirty="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kern="1200" dirty="0">
                    <a:solidFill>
                      <a:schemeClr val="tx1"/>
                    </a:solidFill>
                    <a:effectLst/>
                    <a:latin typeface="+mn-lt"/>
                    <a:ea typeface="+mn-ea"/>
                    <a:cs typeface="+mn-cs"/>
                  </a:rPr>
                  <a:t>Prva </a:t>
                </a:r>
                <a:r>
                  <a:rPr lang="en-ZA" sz="1200" kern="1200" dirty="0" err="1">
                    <a:solidFill>
                      <a:schemeClr val="tx1"/>
                    </a:solidFill>
                    <a:effectLst/>
                    <a:latin typeface="+mn-lt"/>
                    <a:ea typeface="+mn-ea"/>
                    <a:cs typeface="+mn-cs"/>
                  </a:rPr>
                  <a:t>jednačina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direktno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daje</a:t>
                </a:r>
                <a:r>
                  <a:rPr lang="en-ZA" sz="1200" kern="1200" dirty="0">
                    <a:solidFill>
                      <a:schemeClr val="tx1"/>
                    </a:solidFill>
                    <a:effectLst/>
                    <a:latin typeface="+mn-lt"/>
                    <a:ea typeface="+mn-ea"/>
                    <a:cs typeface="+mn-cs"/>
                  </a:rPr>
                  <a:t> da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sr-Latn-RS" sz="1200" b="0" i="0">
                    <a:latin typeface="Cambria Math" panose="02040503050406030204" pitchFamily="18" charset="0"/>
                  </a:rPr>
                  <a:t>𝑠</a:t>
                </a:r>
                <a:r>
                  <a:rPr lang="en-US" sz="1200" b="0" i="0">
                    <a:latin typeface="Cambria Math" panose="02040503050406030204" pitchFamily="18" charset="0"/>
                  </a:rPr>
                  <a:t>_</a:t>
                </a:r>
                <a:r>
                  <a:rPr lang="sr-Latn-RS" sz="1200" b="0" i="0">
                    <a:latin typeface="Cambria Math" panose="02040503050406030204" pitchFamily="18" charset="0"/>
                  </a:rPr>
                  <a:t>0=0</a:t>
                </a:r>
                <a:r>
                  <a:rPr lang="en-ZA" sz="1200" kern="1200" dirty="0">
                    <a:solidFill>
                      <a:schemeClr val="tx1"/>
                    </a:solidFill>
                    <a:effectLst/>
                    <a:latin typeface="+mn-lt"/>
                    <a:ea typeface="+mn-ea"/>
                    <a:cs typeface="+mn-cs"/>
                  </a:rPr>
                  <a:t>. Druga </a:t>
                </a:r>
                <a:r>
                  <a:rPr lang="en-ZA" sz="1200" kern="1200" dirty="0" err="1">
                    <a:solidFill>
                      <a:schemeClr val="tx1"/>
                    </a:solidFill>
                    <a:effectLst/>
                    <a:latin typeface="+mn-lt"/>
                    <a:ea typeface="+mn-ea"/>
                    <a:cs typeface="+mn-cs"/>
                  </a:rPr>
                  <a:t>jednačina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ima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dva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rešenja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Ako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sr-Latn-RS" sz="1200" b="0" i="0">
                    <a:latin typeface="Cambria Math" panose="02040503050406030204" pitchFamily="18" charset="0"/>
                  </a:rPr>
                  <a:t>𝑠</a:t>
                </a:r>
                <a:r>
                  <a:rPr lang="en-US" sz="1200" b="0" i="0">
                    <a:latin typeface="Cambria Math" panose="02040503050406030204" pitchFamily="18" charset="0"/>
                  </a:rPr>
                  <a:t>_</a:t>
                </a:r>
                <a:r>
                  <a:rPr lang="sr-Latn-RS" sz="1200" b="0" i="0">
                    <a:latin typeface="Cambria Math" panose="02040503050406030204" pitchFamily="18" charset="0"/>
                  </a:rPr>
                  <a:t>1=𝑠</a:t>
                </a:r>
                <a:r>
                  <a:rPr lang="en-US" sz="1200" b="0" i="0">
                    <a:latin typeface="Cambria Math" panose="02040503050406030204" pitchFamily="18" charset="0"/>
                  </a:rPr>
                  <a:t>_</a:t>
                </a:r>
                <a:r>
                  <a:rPr lang="sr-Latn-RS" sz="1200" b="0" i="0">
                    <a:latin typeface="Cambria Math" panose="02040503050406030204" pitchFamily="18" charset="0"/>
                  </a:rPr>
                  <a:t>2=0</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dobija</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binarni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niz</a:t>
                </a:r>
                <a:r>
                  <a:rPr lang="en-ZA" sz="1200" kern="1200" dirty="0">
                    <a:solidFill>
                      <a:schemeClr val="tx1"/>
                    </a:solidFill>
                    <a:effectLst/>
                    <a:latin typeface="+mn-lt"/>
                    <a:ea typeface="+mn-ea"/>
                    <a:cs typeface="+mn-cs"/>
                  </a:rPr>
                  <a:t> 000. </a:t>
                </a:r>
                <a:r>
                  <a:rPr lang="en-ZA" sz="1200" kern="1200" dirty="0" err="1">
                    <a:solidFill>
                      <a:schemeClr val="tx1"/>
                    </a:solidFill>
                    <a:effectLst/>
                    <a:latin typeface="+mn-lt"/>
                    <a:ea typeface="+mn-ea"/>
                    <a:cs typeface="+mn-cs"/>
                  </a:rPr>
                  <a:t>Ako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sr-Latn-RS" sz="1200" b="0" i="0">
                    <a:latin typeface="Cambria Math" panose="02040503050406030204" pitchFamily="18" charset="0"/>
                  </a:rPr>
                  <a:t>𝑠</a:t>
                </a:r>
                <a:r>
                  <a:rPr lang="en-US" sz="1200" b="0" i="0">
                    <a:latin typeface="Cambria Math" panose="02040503050406030204" pitchFamily="18" charset="0"/>
                  </a:rPr>
                  <a:t>_</a:t>
                </a:r>
                <a:r>
                  <a:rPr lang="sr-Latn-RS" sz="1200" b="0" i="0">
                    <a:latin typeface="Cambria Math" panose="02040503050406030204" pitchFamily="18" charset="0"/>
                  </a:rPr>
                  <a:t>1=𝑠</a:t>
                </a:r>
                <a:r>
                  <a:rPr lang="en-US" sz="1200" b="0" i="0">
                    <a:latin typeface="Cambria Math" panose="02040503050406030204" pitchFamily="18" charset="0"/>
                  </a:rPr>
                  <a:t>_</a:t>
                </a:r>
                <a:r>
                  <a:rPr lang="sr-Latn-RS" sz="1200" b="0" i="0">
                    <a:latin typeface="Cambria Math" panose="02040503050406030204" pitchFamily="18" charset="0"/>
                  </a:rPr>
                  <a:t>2=1</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onda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sr-Latn-RS" sz="1200" i="0">
                    <a:latin typeface="Cambria Math" panose="02040503050406030204" pitchFamily="18" charset="0"/>
                  </a:rPr>
                  <a:t>𝑠</a:t>
                </a:r>
                <a:r>
                  <a:rPr lang="sr-Latn-RS" sz="1200" b="0" i="0">
                    <a:latin typeface="Cambria Math" panose="02040503050406030204" pitchFamily="18" charset="0"/>
                  </a:rPr>
                  <a:t>=110</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koje</a:t>
                </a:r>
                <a:r>
                  <a:rPr lang="en-ZA" sz="1200" kern="1200" dirty="0">
                    <a:solidFill>
                      <a:schemeClr val="tx1"/>
                    </a:solidFill>
                    <a:effectLst/>
                    <a:latin typeface="+mn-lt"/>
                    <a:ea typeface="+mn-ea"/>
                    <a:cs typeface="+mn-cs"/>
                  </a:rPr>
                  <a:t> se </a:t>
                </a:r>
                <a:r>
                  <a:rPr lang="en-ZA" sz="1200" kern="1200" dirty="0" err="1">
                    <a:solidFill>
                      <a:schemeClr val="tx1"/>
                    </a:solidFill>
                    <a:effectLst/>
                    <a:latin typeface="+mn-lt"/>
                    <a:ea typeface="+mn-ea"/>
                    <a:cs typeface="+mn-cs"/>
                  </a:rPr>
                  <a:t>uzima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kao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netrivijalno</a:t>
                </a:r>
                <a:r>
                  <a:rPr lang="en-ZA" sz="1200" kern="1200" dirty="0">
                    <a:solidFill>
                      <a:schemeClr val="tx1"/>
                    </a:solidFill>
                    <a:effectLst/>
                    <a:latin typeface="+mn-lt"/>
                    <a:ea typeface="+mn-ea"/>
                    <a:cs typeface="+mn-cs"/>
                  </a:rPr>
                  <a:t> </a:t>
                </a:r>
                <a:r>
                  <a:rPr lang="en-ZA" sz="1200" kern="1200">
                    <a:solidFill>
                      <a:schemeClr val="tx1"/>
                    </a:solidFill>
                    <a:effectLst/>
                    <a:latin typeface="+mn-lt"/>
                    <a:ea typeface="+mn-ea"/>
                    <a:cs typeface="+mn-cs"/>
                  </a:rPr>
                  <a:t>rešenje.</a:t>
                </a:r>
                <a:endParaRPr lang="en-ZA"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37</a:t>
            </a:fld>
            <a:endParaRPr lang="en-US"/>
          </a:p>
        </p:txBody>
      </p:sp>
    </p:spTree>
    <p:extLst>
      <p:ext uri="{BB962C8B-B14F-4D97-AF65-F5344CB8AC3E}">
        <p14:creationId xmlns:p14="http://schemas.microsoft.com/office/powerpoint/2010/main" val="41858151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38</a:t>
            </a:fld>
            <a:endParaRPr lang="en-US"/>
          </a:p>
        </p:txBody>
      </p:sp>
    </p:spTree>
    <p:extLst>
      <p:ext uri="{BB962C8B-B14F-4D97-AF65-F5344CB8AC3E}">
        <p14:creationId xmlns:p14="http://schemas.microsoft.com/office/powerpoint/2010/main" val="1314801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1120-9110-E347-8B54-7933DF290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8A87D-FAB6-A743-817E-0C56F6336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45607F-58DF-3447-9656-78BB1B0938F5}"/>
              </a:ext>
            </a:extLst>
          </p:cNvPr>
          <p:cNvSpPr>
            <a:spLocks noGrp="1"/>
          </p:cNvSpPr>
          <p:nvPr>
            <p:ph type="dt" sz="half" idx="10"/>
          </p:nvPr>
        </p:nvSpPr>
        <p:spPr/>
        <p:txBody>
          <a:bodyPr/>
          <a:lstStyle/>
          <a:p>
            <a:fld id="{1AE4839D-35CE-5948-991C-06BCC079A7B9}" type="datetime1">
              <a:rPr lang="en-US" smtClean="0"/>
              <a:t>9/2/26</a:t>
            </a:fld>
            <a:endParaRPr lang="en-US"/>
          </a:p>
        </p:txBody>
      </p:sp>
      <p:sp>
        <p:nvSpPr>
          <p:cNvPr id="5" name="Footer Placeholder 4">
            <a:extLst>
              <a:ext uri="{FF2B5EF4-FFF2-40B4-BE49-F238E27FC236}">
                <a16:creationId xmlns:a16="http://schemas.microsoft.com/office/drawing/2014/main" id="{82A11268-6971-7845-B2B0-61769F249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C93A-6955-DE48-9E72-AE2BF1040520}"/>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0016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9746-6A3A-2B40-897A-7771C9BE0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F0087-4B92-3E48-919C-B0DEFF5CA0F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05ED7-6A7E-B041-83E1-E1139884EF7E}"/>
              </a:ext>
            </a:extLst>
          </p:cNvPr>
          <p:cNvSpPr>
            <a:spLocks noGrp="1"/>
          </p:cNvSpPr>
          <p:nvPr>
            <p:ph type="dt" sz="half" idx="10"/>
          </p:nvPr>
        </p:nvSpPr>
        <p:spPr/>
        <p:txBody>
          <a:bodyPr/>
          <a:lstStyle/>
          <a:p>
            <a:fld id="{D21D1071-0E96-A240-8E9B-50D7576025E5}" type="datetime1">
              <a:rPr lang="en-US" smtClean="0"/>
              <a:t>9/2/26</a:t>
            </a:fld>
            <a:endParaRPr lang="en-US"/>
          </a:p>
        </p:txBody>
      </p:sp>
      <p:sp>
        <p:nvSpPr>
          <p:cNvPr id="5" name="Footer Placeholder 4">
            <a:extLst>
              <a:ext uri="{FF2B5EF4-FFF2-40B4-BE49-F238E27FC236}">
                <a16:creationId xmlns:a16="http://schemas.microsoft.com/office/drawing/2014/main" id="{234862D4-B653-154B-9F00-B29F8A990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7E1DDB-ECC2-6440-8F64-6FF7043B62E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75838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7889-5E26-9F4B-ABC5-46737412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3A11A0-B651-1246-A031-2EB34FAAA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A7FBDE-56A4-544F-9E46-A8B3D22162DA}"/>
              </a:ext>
            </a:extLst>
          </p:cNvPr>
          <p:cNvSpPr>
            <a:spLocks noGrp="1"/>
          </p:cNvSpPr>
          <p:nvPr>
            <p:ph type="dt" sz="half" idx="10"/>
          </p:nvPr>
        </p:nvSpPr>
        <p:spPr/>
        <p:txBody>
          <a:bodyPr/>
          <a:lstStyle/>
          <a:p>
            <a:fld id="{D17CBCF1-D7CE-2C41-A8FB-9348FB41C55E}" type="datetime1">
              <a:rPr lang="en-US" smtClean="0"/>
              <a:t>9/2/26</a:t>
            </a:fld>
            <a:endParaRPr lang="en-US"/>
          </a:p>
        </p:txBody>
      </p:sp>
      <p:sp>
        <p:nvSpPr>
          <p:cNvPr id="5" name="Footer Placeholder 4">
            <a:extLst>
              <a:ext uri="{FF2B5EF4-FFF2-40B4-BE49-F238E27FC236}">
                <a16:creationId xmlns:a16="http://schemas.microsoft.com/office/drawing/2014/main" id="{4C68709F-B42E-EC48-8FBC-6974B5FDA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19095-1014-2C44-87B5-A279D4057E2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66899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EC-CE7B-C74E-BB21-04FB5F3AD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AE6E3-FAA8-2941-97DF-C2CE1A284D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50239-C5D9-A146-B025-534BB867B5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14A720-AF7F-EC4C-B90A-F4581F526266}"/>
              </a:ext>
            </a:extLst>
          </p:cNvPr>
          <p:cNvSpPr>
            <a:spLocks noGrp="1"/>
          </p:cNvSpPr>
          <p:nvPr>
            <p:ph type="dt" sz="half" idx="10"/>
          </p:nvPr>
        </p:nvSpPr>
        <p:spPr/>
        <p:txBody>
          <a:bodyPr/>
          <a:lstStyle/>
          <a:p>
            <a:fld id="{7BA27735-2371-C441-A5A3-C9F11F72EF2A}" type="datetime1">
              <a:rPr lang="en-US" smtClean="0"/>
              <a:t>9/2/26</a:t>
            </a:fld>
            <a:endParaRPr lang="en-US"/>
          </a:p>
        </p:txBody>
      </p:sp>
      <p:sp>
        <p:nvSpPr>
          <p:cNvPr id="6" name="Footer Placeholder 5">
            <a:extLst>
              <a:ext uri="{FF2B5EF4-FFF2-40B4-BE49-F238E27FC236}">
                <a16:creationId xmlns:a16="http://schemas.microsoft.com/office/drawing/2014/main" id="{B28DF675-B48C-E044-8D49-6F0458C80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C3209-5E9C-C54A-ABFE-731C23683AB9}"/>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5601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92F6-6148-FE46-8B76-9B81927A0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4AF60-1528-9842-ADC9-963520FD63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AE9EEE-9501-B048-A51B-B54F83A807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56781-36D8-E34C-82CC-C088F79BE9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D179DE-69E1-4745-A19E-ECA22982DB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C8571-69A9-E54B-9D56-71E69986D26C}"/>
              </a:ext>
            </a:extLst>
          </p:cNvPr>
          <p:cNvSpPr>
            <a:spLocks noGrp="1"/>
          </p:cNvSpPr>
          <p:nvPr>
            <p:ph type="dt" sz="half" idx="10"/>
          </p:nvPr>
        </p:nvSpPr>
        <p:spPr/>
        <p:txBody>
          <a:bodyPr/>
          <a:lstStyle/>
          <a:p>
            <a:fld id="{AD956192-B3CA-E648-8D9D-A184E038D705}" type="datetime1">
              <a:rPr lang="en-US" smtClean="0"/>
              <a:t>9/2/26</a:t>
            </a:fld>
            <a:endParaRPr lang="en-US"/>
          </a:p>
        </p:txBody>
      </p:sp>
      <p:sp>
        <p:nvSpPr>
          <p:cNvPr id="8" name="Footer Placeholder 7">
            <a:extLst>
              <a:ext uri="{FF2B5EF4-FFF2-40B4-BE49-F238E27FC236}">
                <a16:creationId xmlns:a16="http://schemas.microsoft.com/office/drawing/2014/main" id="{F2999DD5-63CC-1D40-B3C1-B72C788C35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B02FEF-EE56-D249-961E-050212908867}"/>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52263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2A4E9-6EC3-B04F-B29B-A2BC27A8BA6F}"/>
              </a:ext>
            </a:extLst>
          </p:cNvPr>
          <p:cNvSpPr>
            <a:spLocks noGrp="1"/>
          </p:cNvSpPr>
          <p:nvPr>
            <p:ph type="title"/>
          </p:nvPr>
        </p:nvSpPr>
        <p:spPr>
          <a:xfrm>
            <a:off x="0" y="0"/>
            <a:ext cx="12192000" cy="928688"/>
          </a:xfrm>
          <a:noFill/>
          <a:ln>
            <a:noFill/>
          </a:ln>
        </p:spPr>
        <p:txBody>
          <a:bodyPr>
            <a:normAutofit/>
          </a:bodyPr>
          <a:lstStyle>
            <a:lvl1pPr>
              <a:defRPr sz="3200" baseline="0">
                <a:solidFill>
                  <a:srgbClr val="002060"/>
                </a:solidFill>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0" y="6492875"/>
            <a:ext cx="1012371" cy="365125"/>
          </a:xfrm>
        </p:spPr>
        <p:txBody>
          <a:bodyPr/>
          <a:lstStyle>
            <a:lvl1pPr algn="l">
              <a:defRPr/>
            </a:lvl1pPr>
          </a:lstStyle>
          <a:p>
            <a:fld id="{591A223C-FA10-BC46-A853-03BA373D023C}" type="slidenum">
              <a:rPr lang="en-US" smtClean="0"/>
              <a:pPr/>
              <a:t>‹#›</a:t>
            </a:fld>
            <a:endParaRPr lang="en-US"/>
          </a:p>
        </p:txBody>
      </p:sp>
      <p:pic>
        <p:nvPicPr>
          <p:cNvPr id="6" name="Picture 5">
            <a:extLst>
              <a:ext uri="{FF2B5EF4-FFF2-40B4-BE49-F238E27FC236}">
                <a16:creationId xmlns:a16="http://schemas.microsoft.com/office/drawing/2014/main" id="{739D85A4-0845-BB4B-A1E7-C780728A20FC}"/>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7" name="Picture 6">
            <a:extLst>
              <a:ext uri="{FF2B5EF4-FFF2-40B4-BE49-F238E27FC236}">
                <a16:creationId xmlns:a16="http://schemas.microsoft.com/office/drawing/2014/main" id="{8783392F-81F3-3B4E-A565-163FADA4D87E}"/>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18425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9/2/26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pic>
        <p:nvPicPr>
          <p:cNvPr id="5" name="Picture 4">
            <a:extLst>
              <a:ext uri="{FF2B5EF4-FFF2-40B4-BE49-F238E27FC236}">
                <a16:creationId xmlns:a16="http://schemas.microsoft.com/office/drawing/2014/main" id="{844701E8-2E7C-4E4E-AB3A-4756CF63303E}"/>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743636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0A5-589B-1341-A678-0A459F7E8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B40E1-21E4-9045-A9A4-3429D7316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75D2E-7C69-5C4D-9A6E-CC4654B47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4A6CC8-26C5-7448-ADC5-2749D941F84E}"/>
              </a:ext>
            </a:extLst>
          </p:cNvPr>
          <p:cNvSpPr>
            <a:spLocks noGrp="1"/>
          </p:cNvSpPr>
          <p:nvPr>
            <p:ph type="dt" sz="half" idx="10"/>
          </p:nvPr>
        </p:nvSpPr>
        <p:spPr/>
        <p:txBody>
          <a:bodyPr/>
          <a:lstStyle/>
          <a:p>
            <a:fld id="{67A6211D-AE56-974B-984B-C110E12B29A2}" type="datetime1">
              <a:rPr lang="en-US" smtClean="0"/>
              <a:t>9/2/26</a:t>
            </a:fld>
            <a:endParaRPr lang="en-US"/>
          </a:p>
        </p:txBody>
      </p:sp>
      <p:sp>
        <p:nvSpPr>
          <p:cNvPr id="6" name="Footer Placeholder 5">
            <a:extLst>
              <a:ext uri="{FF2B5EF4-FFF2-40B4-BE49-F238E27FC236}">
                <a16:creationId xmlns:a16="http://schemas.microsoft.com/office/drawing/2014/main" id="{5AADDA07-5AA1-B34C-B309-62DD4C1D4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78A32-B7C4-F842-87A7-D1CD1758A2A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64453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7726-1F76-544A-8680-3C1AB544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8CB2FB-2F4A-A74A-A759-A58010D3D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38E96-E545-AC4A-8D98-95FD19B67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9DA82-266B-CC41-B1D2-F7AA15C5075D}"/>
              </a:ext>
            </a:extLst>
          </p:cNvPr>
          <p:cNvSpPr>
            <a:spLocks noGrp="1"/>
          </p:cNvSpPr>
          <p:nvPr>
            <p:ph type="dt" sz="half" idx="10"/>
          </p:nvPr>
        </p:nvSpPr>
        <p:spPr/>
        <p:txBody>
          <a:bodyPr/>
          <a:lstStyle/>
          <a:p>
            <a:fld id="{AE5A7FFF-10B1-4343-8D17-406DC86E5FAA}" type="datetime1">
              <a:rPr lang="en-US" smtClean="0"/>
              <a:t>9/2/26</a:t>
            </a:fld>
            <a:endParaRPr lang="en-US"/>
          </a:p>
        </p:txBody>
      </p:sp>
      <p:sp>
        <p:nvSpPr>
          <p:cNvPr id="6" name="Footer Placeholder 5">
            <a:extLst>
              <a:ext uri="{FF2B5EF4-FFF2-40B4-BE49-F238E27FC236}">
                <a16:creationId xmlns:a16="http://schemas.microsoft.com/office/drawing/2014/main" id="{4C5952A7-DE1B-CD46-B203-BA6A17F7F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A02E3-794B-DA46-8CF3-5708E566E7B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296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BAA-57A4-C143-ABF5-35ABB2AF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9F01E-C4CF-6A43-99EC-53F5681F6D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13C5E-E003-A247-9E6F-436CAA7B14F4}"/>
              </a:ext>
            </a:extLst>
          </p:cNvPr>
          <p:cNvSpPr>
            <a:spLocks noGrp="1"/>
          </p:cNvSpPr>
          <p:nvPr>
            <p:ph type="dt" sz="half" idx="10"/>
          </p:nvPr>
        </p:nvSpPr>
        <p:spPr/>
        <p:txBody>
          <a:bodyPr/>
          <a:lstStyle/>
          <a:p>
            <a:fld id="{DF3C6696-8618-644E-B4E1-FA4689759F24}" type="datetime1">
              <a:rPr lang="en-US" smtClean="0"/>
              <a:t>9/2/26</a:t>
            </a:fld>
            <a:endParaRPr lang="en-US"/>
          </a:p>
        </p:txBody>
      </p:sp>
      <p:sp>
        <p:nvSpPr>
          <p:cNvPr id="5" name="Footer Placeholder 4">
            <a:extLst>
              <a:ext uri="{FF2B5EF4-FFF2-40B4-BE49-F238E27FC236}">
                <a16:creationId xmlns:a16="http://schemas.microsoft.com/office/drawing/2014/main" id="{27380A45-DDA9-4C4B-830C-9D0D28927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086D7-D0B1-6F43-A1F7-4D436CC2BE0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065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A87F1-769D-CC47-ABF4-393B691AD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6D245-448B-7B4E-9643-1A0962794C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926CF-5171-4D44-9CE6-7B7960534FE4}"/>
              </a:ext>
            </a:extLst>
          </p:cNvPr>
          <p:cNvSpPr>
            <a:spLocks noGrp="1"/>
          </p:cNvSpPr>
          <p:nvPr>
            <p:ph type="dt" sz="half" idx="10"/>
          </p:nvPr>
        </p:nvSpPr>
        <p:spPr/>
        <p:txBody>
          <a:bodyPr/>
          <a:lstStyle/>
          <a:p>
            <a:fld id="{D4DB5934-BE72-FB4C-902A-D10164A603D2}" type="datetime1">
              <a:rPr lang="en-US" smtClean="0"/>
              <a:t>9/2/26</a:t>
            </a:fld>
            <a:endParaRPr lang="en-US"/>
          </a:p>
        </p:txBody>
      </p:sp>
      <p:sp>
        <p:nvSpPr>
          <p:cNvPr id="5" name="Footer Placeholder 4">
            <a:extLst>
              <a:ext uri="{FF2B5EF4-FFF2-40B4-BE49-F238E27FC236}">
                <a16:creationId xmlns:a16="http://schemas.microsoft.com/office/drawing/2014/main" id="{79ED5D8F-44E4-964B-BE01-CF913802E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266BE-E226-064D-8963-7A1D7859CC52}"/>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3492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ath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2192000" cy="928688"/>
          </a:xfrm>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8C2906A7-A8EA-B04A-894C-1B7ACB284541}"/>
              </a:ext>
            </a:extLst>
          </p:cNvPr>
          <p:cNvSpPr/>
          <p:nvPr userDrawn="1"/>
        </p:nvSpPr>
        <p:spPr>
          <a:xfrm>
            <a:off x="10603707" y="0"/>
            <a:ext cx="1588293" cy="46166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MathBox</a:t>
            </a:r>
            <a:endParaRPr lang="en-US" sz="2400" dirty="0">
              <a:solidFill>
                <a:schemeClr val="tx1"/>
              </a:solidFill>
            </a:endParaRPr>
          </a:p>
        </p:txBody>
      </p:sp>
    </p:spTree>
    <p:extLst>
      <p:ext uri="{BB962C8B-B14F-4D97-AF65-F5344CB8AC3E}">
        <p14:creationId xmlns:p14="http://schemas.microsoft.com/office/powerpoint/2010/main" val="506271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A8E703-F9A8-0441-A9C1-970176EA1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D3E870-AE9A-814D-8F1C-424E01F6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DA625-67E6-FC41-AE05-BDF6D621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5C081-EA16-A444-838F-7A9CF60C5F71}" type="datetime1">
              <a:rPr lang="en-US" smtClean="0"/>
              <a:t>9/2/26</a:t>
            </a:fld>
            <a:endParaRPr lang="en-US"/>
          </a:p>
        </p:txBody>
      </p:sp>
      <p:sp>
        <p:nvSpPr>
          <p:cNvPr id="5" name="Footer Placeholder 4">
            <a:extLst>
              <a:ext uri="{FF2B5EF4-FFF2-40B4-BE49-F238E27FC236}">
                <a16:creationId xmlns:a16="http://schemas.microsoft.com/office/drawing/2014/main" id="{C2CC2541-8D10-844A-AACF-A9080B4FC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ED89E2-F822-BE4F-A114-8B2AC36CD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A223C-FA10-BC46-A853-03BA373D023C}" type="slidenum">
              <a:rPr lang="en-US" smtClean="0"/>
              <a:t>‹#›</a:t>
            </a:fld>
            <a:endParaRPr lang="en-US"/>
          </a:p>
        </p:txBody>
      </p:sp>
    </p:spTree>
    <p:extLst>
      <p:ext uri="{BB962C8B-B14F-4D97-AF65-F5344CB8AC3E}">
        <p14:creationId xmlns:p14="http://schemas.microsoft.com/office/powerpoint/2010/main" val="411158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NULL"/><Relationship Id="rId7" Type="http://schemas.openxmlformats.org/officeDocument/2006/relationships/image" Target="../media/image5.png"/><Relationship Id="rId12" Type="http://schemas.openxmlformats.org/officeDocument/2006/relationships/image" Target="NUL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 Id="rId14" Type="http://schemas.openxmlformats.org/officeDocument/2006/relationships/image" Target="NULL"/></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8.png"/><Relationship Id="rId3" Type="http://schemas.openxmlformats.org/officeDocument/2006/relationships/image" Target="../media/image16.png"/><Relationship Id="rId7" Type="http://schemas.openxmlformats.org/officeDocument/2006/relationships/image" Target="../media/image7.png"/><Relationship Id="rId12"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6.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s>
</file>

<file path=ppt/slides/_rels/slide8.xml.rels><?xml version="1.0" encoding="UTF-8" standalone="yes"?>
<Relationships xmlns="http://schemas.openxmlformats.org/package/2006/relationships"><Relationship Id="rId3" Type="http://schemas.openxmlformats.org/officeDocument/2006/relationships/image" Target="../media/image220.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50.png"/><Relationship Id="rId5" Type="http://schemas.openxmlformats.org/officeDocument/2006/relationships/image" Target="../media/image240.png"/><Relationship Id="rId4" Type="http://schemas.openxmlformats.org/officeDocument/2006/relationships/image" Target="../media/image23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290.png"/><Relationship Id="rId7" Type="http://schemas.openxmlformats.org/officeDocument/2006/relationships/image" Target="../media/image330.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320.png"/><Relationship Id="rId5" Type="http://schemas.openxmlformats.org/officeDocument/2006/relationships/image" Target="../media/image310.png"/><Relationship Id="rId10" Type="http://schemas.openxmlformats.org/officeDocument/2006/relationships/image" Target="../media/image360.png"/><Relationship Id="rId4" Type="http://schemas.openxmlformats.org/officeDocument/2006/relationships/image" Target="../media/image40.png"/><Relationship Id="rId9" Type="http://schemas.openxmlformats.org/officeDocument/2006/relationships/image" Target="../media/image350.png"/></Relationships>
</file>

<file path=ppt/slides/_rels/slide1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0.png"/><Relationship Id="rId7"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400.png"/><Relationship Id="rId5" Type="http://schemas.openxmlformats.org/officeDocument/2006/relationships/image" Target="../media/image390.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430.png"/><Relationship Id="rId3" Type="http://schemas.openxmlformats.org/officeDocument/2006/relationships/image" Target="../media/image370.png"/><Relationship Id="rId7"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46.png"/><Relationship Id="rId7" Type="http://schemas.openxmlformats.org/officeDocument/2006/relationships/image" Target="../media/image330.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320.png"/><Relationship Id="rId5" Type="http://schemas.openxmlformats.org/officeDocument/2006/relationships/image" Target="../media/image310.png"/><Relationship Id="rId10" Type="http://schemas.openxmlformats.org/officeDocument/2006/relationships/image" Target="../media/image50.png"/><Relationship Id="rId4" Type="http://schemas.openxmlformats.org/officeDocument/2006/relationships/image" Target="../media/image47.png"/><Relationship Id="rId9" Type="http://schemas.openxmlformats.org/officeDocument/2006/relationships/image" Target="../media/image281.png"/></Relationships>
</file>

<file path=ppt/slides/_rels/slide1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8.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54.png"/><Relationship Id="rId5" Type="http://schemas.openxmlformats.org/officeDocument/2006/relationships/image" Target="../media/image49.png"/><Relationship Id="rId10" Type="http://schemas.openxmlformats.org/officeDocument/2006/relationships/image" Target="../media/image56.png"/><Relationship Id="rId4" Type="http://schemas.openxmlformats.org/officeDocument/2006/relationships/image" Target="../media/image470.png"/><Relationship Id="rId9" Type="http://schemas.openxmlformats.org/officeDocument/2006/relationships/image" Target="../media/image51.png"/></Relationships>
</file>

<file path=ppt/slides/_rels/slide16.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4.png"/><Relationship Id="rId18" Type="http://schemas.openxmlformats.org/officeDocument/2006/relationships/image" Target="../media/image79.png"/><Relationship Id="rId3" Type="http://schemas.openxmlformats.org/officeDocument/2006/relationships/image" Target="../media/image58.png"/><Relationship Id="rId21" Type="http://schemas.openxmlformats.org/officeDocument/2006/relationships/image" Target="../media/image82.png"/><Relationship Id="rId7" Type="http://schemas.openxmlformats.org/officeDocument/2006/relationships/image" Target="../media/image65.png"/><Relationship Id="rId12" Type="http://schemas.openxmlformats.org/officeDocument/2006/relationships/image" Target="../media/image73.png"/><Relationship Id="rId17" Type="http://schemas.openxmlformats.org/officeDocument/2006/relationships/image" Target="../media/image78.png"/><Relationship Id="rId2" Type="http://schemas.openxmlformats.org/officeDocument/2006/relationships/notesSlide" Target="../notesSlides/notesSlide16.xml"/><Relationship Id="rId16" Type="http://schemas.openxmlformats.org/officeDocument/2006/relationships/image" Target="../media/image77.png"/><Relationship Id="rId20" Type="http://schemas.openxmlformats.org/officeDocument/2006/relationships/image" Target="../media/image81.png"/><Relationship Id="rId1" Type="http://schemas.openxmlformats.org/officeDocument/2006/relationships/slideLayout" Target="../slideLayouts/slideLayout6.xml"/><Relationship Id="rId6" Type="http://schemas.openxmlformats.org/officeDocument/2006/relationships/image" Target="../media/image57.png"/><Relationship Id="rId11" Type="http://schemas.openxmlformats.org/officeDocument/2006/relationships/image" Target="../media/image72.png"/><Relationship Id="rId5" Type="http://schemas.openxmlformats.org/officeDocument/2006/relationships/image" Target="../media/image61.png"/><Relationship Id="rId15" Type="http://schemas.openxmlformats.org/officeDocument/2006/relationships/image" Target="../media/image76.png"/><Relationship Id="rId23" Type="http://schemas.openxmlformats.org/officeDocument/2006/relationships/image" Target="../media/image84.png"/><Relationship Id="rId10" Type="http://schemas.openxmlformats.org/officeDocument/2006/relationships/image" Target="../media/image67.png"/><Relationship Id="rId19" Type="http://schemas.openxmlformats.org/officeDocument/2006/relationships/image" Target="../media/image80.png"/><Relationship Id="rId4" Type="http://schemas.openxmlformats.org/officeDocument/2006/relationships/image" Target="../media/image60.png"/><Relationship Id="rId9" Type="http://schemas.openxmlformats.org/officeDocument/2006/relationships/image" Target="../media/image630.png"/><Relationship Id="rId14" Type="http://schemas.openxmlformats.org/officeDocument/2006/relationships/image" Target="../media/image750.png"/><Relationship Id="rId22" Type="http://schemas.openxmlformats.org/officeDocument/2006/relationships/image" Target="../media/image83.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0.tiff"/></Relationships>
</file>

<file path=ppt/slides/_rels/slide18.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1.tiff"/></Relationships>
</file>

<file path=ppt/slides/_rels/slide19.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86.png"/><Relationship Id="rId3" Type="http://schemas.openxmlformats.org/officeDocument/2006/relationships/image" Target="../media/image89.png"/><Relationship Id="rId7" Type="http://schemas.openxmlformats.org/officeDocument/2006/relationships/image" Target="../media/image93.png"/><Relationship Id="rId12" Type="http://schemas.openxmlformats.org/officeDocument/2006/relationships/image" Target="../media/image98.png"/><Relationship Id="rId2" Type="http://schemas.openxmlformats.org/officeDocument/2006/relationships/notesSlide" Target="../notesSlides/notesSlide19.xml"/><Relationship Id="rId16" Type="http://schemas.openxmlformats.org/officeDocument/2006/relationships/image" Target="../media/image91.png"/><Relationship Id="rId1" Type="http://schemas.openxmlformats.org/officeDocument/2006/relationships/slideLayout" Target="../slideLayouts/slideLayout6.xml"/><Relationship Id="rId11" Type="http://schemas.openxmlformats.org/officeDocument/2006/relationships/image" Target="../media/image97.png"/><Relationship Id="rId15" Type="http://schemas.openxmlformats.org/officeDocument/2006/relationships/image" Target="../media/image90.png"/><Relationship Id="rId10" Type="http://schemas.openxmlformats.org/officeDocument/2006/relationships/image" Target="../media/image96.png"/><Relationship Id="rId4" Type="http://schemas.openxmlformats.org/officeDocument/2006/relationships/image" Target="../media/image85.png"/><Relationship Id="rId9" Type="http://schemas.openxmlformats.org/officeDocument/2006/relationships/image" Target="../media/image95.png"/><Relationship Id="rId14" Type="http://schemas.openxmlformats.org/officeDocument/2006/relationships/image" Target="../media/image88.png"/></Relationships>
</file>

<file path=ppt/slides/_rels/slide20.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8.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980.pn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62.png"/><Relationship Id="rId7" Type="http://schemas.openxmlformats.org/officeDocument/2006/relationships/image" Target="../media/image87.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980.png"/></Relationships>
</file>

<file path=ppt/slides/_rels/slide22.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01.png"/></Relationships>
</file>

<file path=ppt/slides/_rels/slide23.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19.png"/><Relationship Id="rId7" Type="http://schemas.openxmlformats.org/officeDocument/2006/relationships/image" Target="../media/image111.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21.emf"/><Relationship Id="rId5" Type="http://schemas.openxmlformats.org/officeDocument/2006/relationships/image" Target="../media/image109.png"/><Relationship Id="rId10" Type="http://schemas.openxmlformats.org/officeDocument/2006/relationships/image" Target="../media/image26.png"/><Relationship Id="rId4" Type="http://schemas.openxmlformats.org/officeDocument/2006/relationships/image" Target="../media/image20.svg"/><Relationship Id="rId9" Type="http://schemas.openxmlformats.org/officeDocument/2006/relationships/image" Target="../media/image118.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6.tiff"/></Relationships>
</file>

<file path=ppt/slides/_rels/slide2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280.png"/></Relationships>
</file>

<file path=ppt/slides/_rels/slide28.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00.png"/><Relationship Id="rId3" Type="http://schemas.openxmlformats.org/officeDocument/2006/relationships/image" Target="../media/image124.png"/><Relationship Id="rId12" Type="http://schemas.openxmlformats.org/officeDocument/2006/relationships/image" Target="../media/image59.png"/><Relationship Id="rId2" Type="http://schemas.openxmlformats.org/officeDocument/2006/relationships/notesSlide" Target="../notesSlides/notesSlide28.xml"/><Relationship Id="rId16" Type="http://schemas.openxmlformats.org/officeDocument/2006/relationships/image" Target="../media/image123.png"/><Relationship Id="rId1" Type="http://schemas.openxmlformats.org/officeDocument/2006/relationships/slideLayout" Target="../slideLayouts/slideLayout6.xml"/><Relationship Id="rId11" Type="http://schemas.openxmlformats.org/officeDocument/2006/relationships/image" Target="../media/image53.png"/><Relationship Id="rId15" Type="http://schemas.openxmlformats.org/officeDocument/2006/relationships/image" Target="../media/image121.png"/><Relationship Id="rId10" Type="http://schemas.openxmlformats.org/officeDocument/2006/relationships/image" Target="../media/image3300.png"/><Relationship Id="rId4" Type="http://schemas.openxmlformats.org/officeDocument/2006/relationships/image" Target="../media/image116.png"/><Relationship Id="rId9" Type="http://schemas.openxmlformats.org/officeDocument/2006/relationships/image" Target="../media/image3200.png"/><Relationship Id="rId14" Type="http://schemas.openxmlformats.org/officeDocument/2006/relationships/image" Target="../media/image120.png"/></Relationships>
</file>

<file path=ppt/slides/_rels/slide29.xml.rels><?xml version="1.0" encoding="UTF-8" standalone="yes"?>
<Relationships xmlns="http://schemas.openxmlformats.org/package/2006/relationships"><Relationship Id="rId3" Type="http://schemas.openxmlformats.org/officeDocument/2006/relationships/image" Target="../media/image60.tiff"/><Relationship Id="rId2" Type="http://schemas.openxmlformats.org/officeDocument/2006/relationships/notesSlide" Target="../notesSlides/notesSlide29.xml"/><Relationship Id="rId1" Type="http://schemas.openxmlformats.org/officeDocument/2006/relationships/slideLayout" Target="../slideLayouts/slideLayout6.xml"/><Relationship Id="rId5" Type="http://schemas.openxmlformats.org/officeDocument/2006/relationships/image" Target="../media/image1060.png"/><Relationship Id="rId4" Type="http://schemas.openxmlformats.org/officeDocument/2006/relationships/image" Target="../media/image108.png"/></Relationships>
</file>

<file path=ppt/slides/_rels/slide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050.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70.tiff"/></Relationships>
</file>

<file path=ppt/slides/_rels/slide3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143.png"/><Relationship Id="rId4" Type="http://schemas.openxmlformats.org/officeDocument/2006/relationships/image" Target="../media/image142.png"/></Relationships>
</file>

<file path=ppt/slides/_rels/slide34.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590.png"/><Relationship Id="rId7" Type="http://schemas.openxmlformats.org/officeDocument/2006/relationships/image" Target="../media/image104.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103.png"/><Relationship Id="rId5" Type="http://schemas.openxmlformats.org/officeDocument/2006/relationships/image" Target="../media/image75.png"/><Relationship Id="rId10" Type="http://schemas.openxmlformats.org/officeDocument/2006/relationships/image" Target="../media/image107.png"/><Relationship Id="rId4" Type="http://schemas.openxmlformats.org/officeDocument/2006/relationships/image" Target="../media/image690.png"/><Relationship Id="rId9" Type="http://schemas.openxmlformats.org/officeDocument/2006/relationships/image" Target="../media/image106.png"/></Relationships>
</file>

<file path=ppt/slides/_rels/slide35.xml.rels><?xml version="1.0" encoding="UTF-8" standalone="yes"?>
<Relationships xmlns="http://schemas.openxmlformats.org/package/2006/relationships"><Relationship Id="rId8" Type="http://schemas.openxmlformats.org/officeDocument/2006/relationships/image" Target="../media/image950.png"/><Relationship Id="rId13" Type="http://schemas.openxmlformats.org/officeDocument/2006/relationships/image" Target="../media/image158.png"/><Relationship Id="rId3" Type="http://schemas.openxmlformats.org/officeDocument/2006/relationships/image" Target="../media/image130.png"/><Relationship Id="rId7" Type="http://schemas.openxmlformats.org/officeDocument/2006/relationships/image" Target="../media/image126.png"/><Relationship Id="rId12" Type="http://schemas.openxmlformats.org/officeDocument/2006/relationships/image" Target="../media/image157.png"/><Relationship Id="rId2" Type="http://schemas.openxmlformats.org/officeDocument/2006/relationships/notesSlide" Target="../notesSlides/notesSlide35.xml"/><Relationship Id="rId16" Type="http://schemas.openxmlformats.org/officeDocument/2006/relationships/image" Target="../media/image161.png"/><Relationship Id="rId1" Type="http://schemas.openxmlformats.org/officeDocument/2006/relationships/slideLayout" Target="../slideLayouts/slideLayout6.xml"/><Relationship Id="rId6" Type="http://schemas.openxmlformats.org/officeDocument/2006/relationships/image" Target="../media/image125.png"/><Relationship Id="rId11" Type="http://schemas.openxmlformats.org/officeDocument/2006/relationships/image" Target="../media/image960.png"/><Relationship Id="rId5" Type="http://schemas.openxmlformats.org/officeDocument/2006/relationships/image" Target="../media/image122.png"/><Relationship Id="rId15" Type="http://schemas.openxmlformats.org/officeDocument/2006/relationships/image" Target="../media/image160.png"/><Relationship Id="rId10" Type="http://schemas.openxmlformats.org/officeDocument/2006/relationships/image" Target="../media/image156.png"/><Relationship Id="rId4" Type="http://schemas.openxmlformats.org/officeDocument/2006/relationships/image" Target="../media/image152.png"/><Relationship Id="rId9" Type="http://schemas.openxmlformats.org/officeDocument/2006/relationships/image" Target="../media/image155.png"/><Relationship Id="rId14" Type="http://schemas.openxmlformats.org/officeDocument/2006/relationships/image" Target="../media/image159.png"/></Relationships>
</file>

<file path=ppt/slides/_rels/slide36.xml.rels><?xml version="1.0" encoding="UTF-8" standalone="yes"?>
<Relationships xmlns="http://schemas.openxmlformats.org/package/2006/relationships"><Relationship Id="rId8" Type="http://schemas.openxmlformats.org/officeDocument/2006/relationships/image" Target="../media/image1100.png"/><Relationship Id="rId3" Type="http://schemas.openxmlformats.org/officeDocument/2006/relationships/image" Target="../media/image162.png"/><Relationship Id="rId7" Type="http://schemas.openxmlformats.org/officeDocument/2006/relationships/image" Target="../media/image1080.pn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127.png"/><Relationship Id="rId5" Type="http://schemas.openxmlformats.org/officeDocument/2006/relationships/image" Target="../media/image164.png"/><Relationship Id="rId4" Type="http://schemas.openxmlformats.org/officeDocument/2006/relationships/image" Target="../media/image163.png"/></Relationships>
</file>

<file path=ppt/slides/_rels/slide37.xml.rels><?xml version="1.0" encoding="UTF-8" standalone="yes"?>
<Relationships xmlns="http://schemas.openxmlformats.org/package/2006/relationships"><Relationship Id="rId8" Type="http://schemas.openxmlformats.org/officeDocument/2006/relationships/image" Target="../media/image173.png"/><Relationship Id="rId13" Type="http://schemas.openxmlformats.org/officeDocument/2006/relationships/image" Target="../media/image1120.png"/><Relationship Id="rId3" Type="http://schemas.openxmlformats.org/officeDocument/2006/relationships/image" Target="../media/image168.png"/><Relationship Id="rId7" Type="http://schemas.openxmlformats.org/officeDocument/2006/relationships/image" Target="../media/image172.png"/><Relationship Id="rId12" Type="http://schemas.openxmlformats.org/officeDocument/2006/relationships/image" Target="../media/image177.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171.png"/><Relationship Id="rId11" Type="http://schemas.openxmlformats.org/officeDocument/2006/relationships/image" Target="../media/image176.png"/><Relationship Id="rId5" Type="http://schemas.openxmlformats.org/officeDocument/2006/relationships/image" Target="../media/image170.png"/><Relationship Id="rId10" Type="http://schemas.openxmlformats.org/officeDocument/2006/relationships/image" Target="../media/image175.png"/><Relationship Id="rId4" Type="http://schemas.openxmlformats.org/officeDocument/2006/relationships/image" Target="../media/image169.png"/><Relationship Id="rId9" Type="http://schemas.openxmlformats.org/officeDocument/2006/relationships/image" Target="../media/image174.png"/></Relationships>
</file>

<file path=ppt/slides/_rels/slide3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93.tiff"/><Relationship Id="rId4"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0" y="2749694"/>
            <a:ext cx="12192000" cy="1015663"/>
          </a:xfrm>
          <a:prstGeom prst="rect">
            <a:avLst/>
          </a:prstGeom>
          <a:noFill/>
        </p:spPr>
        <p:txBody>
          <a:bodyPr wrap="square" rtlCol="0">
            <a:spAutoFit/>
          </a:bodyPr>
          <a:lstStyle/>
          <a:p>
            <a:pPr algn="ctr"/>
            <a:r>
              <a:rPr lang="en-US" sz="6000" b="1" dirty="0">
                <a:solidFill>
                  <a:schemeClr val="bg1"/>
                </a:solidFill>
              </a:rPr>
              <a:t>9. Quantum algorithms (1)</a:t>
            </a:r>
          </a:p>
        </p:txBody>
      </p:sp>
      <p:sp>
        <p:nvSpPr>
          <p:cNvPr id="9" name="TextBox 8">
            <a:extLst>
              <a:ext uri="{FF2B5EF4-FFF2-40B4-BE49-F238E27FC236}">
                <a16:creationId xmlns:a16="http://schemas.microsoft.com/office/drawing/2014/main" id="{1FD28682-5E6B-704F-9EBC-76C954E49F9E}"/>
              </a:ext>
            </a:extLst>
          </p:cNvPr>
          <p:cNvSpPr txBox="1"/>
          <p:nvPr/>
        </p:nvSpPr>
        <p:spPr>
          <a:xfrm>
            <a:off x="80505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alex@qcict.org</a:t>
            </a:r>
            <a:endParaRPr lang="en-US" sz="2400" dirty="0">
              <a:solidFill>
                <a:schemeClr val="bg1"/>
              </a:solidFill>
            </a:endParaRPr>
          </a:p>
        </p:txBody>
      </p:sp>
      <p:sp>
        <p:nvSpPr>
          <p:cNvPr id="10" name="TextBox 9">
            <a:extLst>
              <a:ext uri="{FF2B5EF4-FFF2-40B4-BE49-F238E27FC236}">
                <a16:creationId xmlns:a16="http://schemas.microsoft.com/office/drawing/2014/main" id="{A3701131-1EB6-484A-877D-A639E782C815}"/>
              </a:ext>
            </a:extLst>
          </p:cNvPr>
          <p:cNvSpPr txBox="1"/>
          <p:nvPr/>
        </p:nvSpPr>
        <p:spPr>
          <a:xfrm>
            <a:off x="278749" y="5528379"/>
            <a:ext cx="3828484" cy="830997"/>
          </a:xfrm>
          <a:prstGeom prst="rect">
            <a:avLst/>
          </a:prstGeom>
          <a:noFill/>
        </p:spPr>
        <p:txBody>
          <a:bodyPr wrap="none" rtlCol="0">
            <a:spAutoFit/>
          </a:bodyPr>
          <a:lstStyle/>
          <a:p>
            <a:r>
              <a:rPr lang="en-US" sz="2400" dirty="0">
                <a:solidFill>
                  <a:schemeClr val="bg1"/>
                </a:solidFill>
              </a:rPr>
              <a:t>Quantum Computing </a:t>
            </a:r>
            <a:r>
              <a:rPr lang="en-US" sz="2400" dirty="0" err="1">
                <a:solidFill>
                  <a:schemeClr val="bg1"/>
                </a:solidFill>
              </a:rPr>
              <a:t>Insitute</a:t>
            </a:r>
            <a:endParaRPr lang="en-US" sz="2400" dirty="0">
              <a:solidFill>
                <a:schemeClr val="bg1"/>
              </a:solidFill>
            </a:endParaRPr>
          </a:p>
          <a:p>
            <a:r>
              <a:rPr lang="en-US" sz="2400" dirty="0">
                <a:solidFill>
                  <a:schemeClr val="bg1"/>
                </a:solidFill>
              </a:rPr>
              <a:t>https://</a:t>
            </a:r>
            <a:r>
              <a:rPr lang="en-US" sz="2400" dirty="0" err="1">
                <a:solidFill>
                  <a:schemeClr val="bg1"/>
                </a:solidFill>
              </a:rPr>
              <a:t>qcict.org</a:t>
            </a:r>
            <a:endParaRPr lang="en-US" sz="2400" dirty="0">
              <a:solidFill>
                <a:schemeClr val="bg1"/>
              </a:solidFill>
            </a:endParaRPr>
          </a:p>
        </p:txBody>
      </p:sp>
    </p:spTree>
    <p:extLst>
      <p:ext uri="{BB962C8B-B14F-4D97-AF65-F5344CB8AC3E}">
        <p14:creationId xmlns:p14="http://schemas.microsoft.com/office/powerpoint/2010/main" val="4306029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0DFF5-4A4F-DF42-9481-2148F597198F}"/>
              </a:ext>
            </a:extLst>
          </p:cNvPr>
          <p:cNvSpPr>
            <a:spLocks noGrp="1"/>
          </p:cNvSpPr>
          <p:nvPr>
            <p:ph type="title"/>
          </p:nvPr>
        </p:nvSpPr>
        <p:spPr/>
        <p:txBody>
          <a:bodyPr/>
          <a:lstStyle/>
          <a:p>
            <a:r>
              <a:rPr lang="en-US" dirty="0"/>
              <a:t>Content</a:t>
            </a:r>
          </a:p>
        </p:txBody>
      </p:sp>
      <p:sp>
        <p:nvSpPr>
          <p:cNvPr id="3" name="Slide Number Placeholder 2">
            <a:extLst>
              <a:ext uri="{FF2B5EF4-FFF2-40B4-BE49-F238E27FC236}">
                <a16:creationId xmlns:a16="http://schemas.microsoft.com/office/drawing/2014/main" id="{947AFC6D-9054-5C4F-BC6F-F71355750398}"/>
              </a:ext>
            </a:extLst>
          </p:cNvPr>
          <p:cNvSpPr>
            <a:spLocks noGrp="1"/>
          </p:cNvSpPr>
          <p:nvPr>
            <p:ph type="sldNum" sz="quarter" idx="12"/>
          </p:nvPr>
        </p:nvSpPr>
        <p:spPr/>
        <p:txBody>
          <a:bodyPr/>
          <a:lstStyle/>
          <a:p>
            <a:fld id="{591A223C-FA10-BC46-A853-03BA373D023C}" type="slidenum">
              <a:rPr lang="en-US" smtClean="0"/>
              <a:t>2</a:t>
            </a:fld>
            <a:endParaRPr lang="en-US"/>
          </a:p>
        </p:txBody>
      </p:sp>
      <p:graphicFrame>
        <p:nvGraphicFramePr>
          <p:cNvPr id="46" name="Diagram 45">
            <a:extLst>
              <a:ext uri="{FF2B5EF4-FFF2-40B4-BE49-F238E27FC236}">
                <a16:creationId xmlns:a16="http://schemas.microsoft.com/office/drawing/2014/main" id="{BEA313B4-8D63-7442-B2B3-758588009C6A}"/>
              </a:ext>
            </a:extLst>
          </p:cNvPr>
          <p:cNvGraphicFramePr/>
          <p:nvPr>
            <p:extLst>
              <p:ext uri="{D42A27DB-BD31-4B8C-83A1-F6EECF244321}">
                <p14:modId xmlns:p14="http://schemas.microsoft.com/office/powerpoint/2010/main" val="3016730778"/>
              </p:ext>
            </p:extLst>
          </p:nvPr>
        </p:nvGraphicFramePr>
        <p:xfrm>
          <a:off x="585789" y="1074208"/>
          <a:ext cx="10987086"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0991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00E889-8309-3D4F-B5BD-1CCDA474CC13}"/>
              </a:ext>
            </a:extLst>
          </p:cNvPr>
          <p:cNvSpPr>
            <a:spLocks noGrp="1"/>
          </p:cNvSpPr>
          <p:nvPr>
            <p:ph type="title"/>
          </p:nvPr>
        </p:nvSpPr>
        <p:spPr/>
        <p:txBody>
          <a:bodyPr/>
          <a:lstStyle/>
          <a:p>
            <a:r>
              <a:rPr lang="en-ZA" b="1" dirty="0" err="1"/>
              <a:t>MathBox</a:t>
            </a:r>
            <a:r>
              <a:rPr lang="en-ZA" b="1" dirty="0"/>
              <a:t>: Modulo-2 Addition / XOR operation</a:t>
            </a:r>
            <a:endParaRPr lang="en-US" dirty="0"/>
          </a:p>
        </p:txBody>
      </p:sp>
      <p:sp>
        <p:nvSpPr>
          <p:cNvPr id="2" name="Slide Number Placeholder 1">
            <a:extLst>
              <a:ext uri="{FF2B5EF4-FFF2-40B4-BE49-F238E27FC236}">
                <a16:creationId xmlns:a16="http://schemas.microsoft.com/office/drawing/2014/main" id="{D8945B0D-FE8F-4242-A676-8E8DF5A260AB}"/>
              </a:ext>
            </a:extLst>
          </p:cNvPr>
          <p:cNvSpPr>
            <a:spLocks noGrp="1"/>
          </p:cNvSpPr>
          <p:nvPr>
            <p:ph type="sldNum" sz="quarter" idx="12"/>
          </p:nvPr>
        </p:nvSpPr>
        <p:spPr/>
        <p:txBody>
          <a:bodyPr/>
          <a:lstStyle/>
          <a:p>
            <a:fld id="{591A223C-FA10-BC46-A853-03BA373D023C}" type="slidenum">
              <a:rPr lang="en-US" smtClean="0"/>
              <a:t>3</a:t>
            </a:fld>
            <a:endParaRPr lang="en-US"/>
          </a:p>
        </p:txBody>
      </p:sp>
      <p:graphicFrame>
        <p:nvGraphicFramePr>
          <p:cNvPr id="22" name="Table 21">
            <a:extLst>
              <a:ext uri="{FF2B5EF4-FFF2-40B4-BE49-F238E27FC236}">
                <a16:creationId xmlns:a16="http://schemas.microsoft.com/office/drawing/2014/main" id="{1FEC447F-DA2C-7141-8C7D-17E5325CE608}"/>
              </a:ext>
            </a:extLst>
          </p:cNvPr>
          <p:cNvGraphicFramePr>
            <a:graphicFrameLocks noGrp="1"/>
          </p:cNvGraphicFramePr>
          <p:nvPr>
            <p:extLst>
              <p:ext uri="{D42A27DB-BD31-4B8C-83A1-F6EECF244321}">
                <p14:modId xmlns:p14="http://schemas.microsoft.com/office/powerpoint/2010/main" val="721508816"/>
              </p:ext>
            </p:extLst>
          </p:nvPr>
        </p:nvGraphicFramePr>
        <p:xfrm>
          <a:off x="1146631" y="1716047"/>
          <a:ext cx="5943438" cy="2895600"/>
        </p:xfrm>
        <a:graphic>
          <a:graphicData uri="http://schemas.openxmlformats.org/drawingml/2006/table">
            <a:tbl>
              <a:tblPr firstRow="1" bandRow="1">
                <a:tableStyleId>{5C22544A-7EE6-4342-B048-85BDC9FD1C3A}</a:tableStyleId>
              </a:tblPr>
              <a:tblGrid>
                <a:gridCol w="1981146">
                  <a:extLst>
                    <a:ext uri="{9D8B030D-6E8A-4147-A177-3AD203B41FA5}">
                      <a16:colId xmlns:a16="http://schemas.microsoft.com/office/drawing/2014/main" val="942887134"/>
                    </a:ext>
                  </a:extLst>
                </a:gridCol>
                <a:gridCol w="1981146">
                  <a:extLst>
                    <a:ext uri="{9D8B030D-6E8A-4147-A177-3AD203B41FA5}">
                      <a16:colId xmlns:a16="http://schemas.microsoft.com/office/drawing/2014/main" val="228072728"/>
                    </a:ext>
                  </a:extLst>
                </a:gridCol>
                <a:gridCol w="1981146">
                  <a:extLst>
                    <a:ext uri="{9D8B030D-6E8A-4147-A177-3AD203B41FA5}">
                      <a16:colId xmlns:a16="http://schemas.microsoft.com/office/drawing/2014/main" val="165410895"/>
                    </a:ext>
                  </a:extLst>
                </a:gridCol>
              </a:tblGrid>
              <a:tr h="370840">
                <a:tc>
                  <a:txBody>
                    <a:bodyPr/>
                    <a:lstStyle/>
                    <a:p>
                      <a:pPr algn="ctr"/>
                      <a:r>
                        <a:rPr lang="en-US" sz="3200" dirty="0"/>
                        <a:t>a</a:t>
                      </a:r>
                    </a:p>
                  </a:txBody>
                  <a:tcPr/>
                </a:tc>
                <a:tc>
                  <a:txBody>
                    <a:bodyPr/>
                    <a:lstStyle/>
                    <a:p>
                      <a:pPr algn="ctr"/>
                      <a:r>
                        <a:rPr lang="en-US" sz="3200" dirty="0"/>
                        <a:t>b</a:t>
                      </a:r>
                    </a:p>
                  </a:txBody>
                  <a:tcPr/>
                </a:tc>
                <a:tc>
                  <a:txBody>
                    <a:bodyPr/>
                    <a:lstStyle/>
                    <a:p>
                      <a:pPr algn="ctr"/>
                      <a:r>
                        <a:rPr lang="en-US" sz="3200" dirty="0"/>
                        <a:t>a ⨁ b</a:t>
                      </a:r>
                    </a:p>
                  </a:txBody>
                  <a:tcPr/>
                </a:tc>
                <a:extLst>
                  <a:ext uri="{0D108BD9-81ED-4DB2-BD59-A6C34878D82A}">
                    <a16:rowId xmlns:a16="http://schemas.microsoft.com/office/drawing/2014/main" val="2814951256"/>
                  </a:ext>
                </a:extLst>
              </a:tr>
              <a:tr h="370840">
                <a:tc>
                  <a:txBody>
                    <a:bodyPr/>
                    <a:lstStyle/>
                    <a:p>
                      <a:pPr algn="ctr"/>
                      <a:r>
                        <a:rPr lang="en-US" sz="3200" dirty="0"/>
                        <a:t>0</a:t>
                      </a:r>
                    </a:p>
                  </a:txBody>
                  <a:tcPr/>
                </a:tc>
                <a:tc>
                  <a:txBody>
                    <a:bodyPr/>
                    <a:lstStyle/>
                    <a:p>
                      <a:pPr algn="ctr"/>
                      <a:r>
                        <a:rPr lang="en-US" sz="3200" dirty="0"/>
                        <a:t>0</a:t>
                      </a:r>
                    </a:p>
                  </a:txBody>
                  <a:tcPr/>
                </a:tc>
                <a:tc>
                  <a:txBody>
                    <a:bodyPr/>
                    <a:lstStyle/>
                    <a:p>
                      <a:pPr algn="ctr"/>
                      <a:r>
                        <a:rPr lang="en-US" sz="3200" dirty="0"/>
                        <a:t>0</a:t>
                      </a:r>
                    </a:p>
                  </a:txBody>
                  <a:tcPr/>
                </a:tc>
                <a:extLst>
                  <a:ext uri="{0D108BD9-81ED-4DB2-BD59-A6C34878D82A}">
                    <a16:rowId xmlns:a16="http://schemas.microsoft.com/office/drawing/2014/main" val="440045814"/>
                  </a:ext>
                </a:extLst>
              </a:tr>
              <a:tr h="370840">
                <a:tc>
                  <a:txBody>
                    <a:bodyPr/>
                    <a:lstStyle/>
                    <a:p>
                      <a:pPr algn="ctr"/>
                      <a:r>
                        <a:rPr lang="en-US" sz="3200" dirty="0"/>
                        <a:t>0</a:t>
                      </a:r>
                    </a:p>
                  </a:txBody>
                  <a:tcPr/>
                </a:tc>
                <a:tc>
                  <a:txBody>
                    <a:bodyPr/>
                    <a:lstStyle/>
                    <a:p>
                      <a:pPr algn="ctr"/>
                      <a:r>
                        <a:rPr lang="en-US" sz="3200" dirty="0"/>
                        <a:t>1</a:t>
                      </a:r>
                    </a:p>
                  </a:txBody>
                  <a:tcPr/>
                </a:tc>
                <a:tc>
                  <a:txBody>
                    <a:bodyPr/>
                    <a:lstStyle/>
                    <a:p>
                      <a:pPr algn="ctr"/>
                      <a:r>
                        <a:rPr lang="en-US" sz="3200" dirty="0"/>
                        <a:t>1</a:t>
                      </a:r>
                    </a:p>
                  </a:txBody>
                  <a:tcPr/>
                </a:tc>
                <a:extLst>
                  <a:ext uri="{0D108BD9-81ED-4DB2-BD59-A6C34878D82A}">
                    <a16:rowId xmlns:a16="http://schemas.microsoft.com/office/drawing/2014/main" val="2341854108"/>
                  </a:ext>
                </a:extLst>
              </a:tr>
              <a:tr h="370840">
                <a:tc>
                  <a:txBody>
                    <a:bodyPr/>
                    <a:lstStyle/>
                    <a:p>
                      <a:pPr algn="ctr"/>
                      <a:r>
                        <a:rPr lang="en-US" sz="3200" dirty="0"/>
                        <a:t>1</a:t>
                      </a:r>
                    </a:p>
                  </a:txBody>
                  <a:tcPr/>
                </a:tc>
                <a:tc>
                  <a:txBody>
                    <a:bodyPr/>
                    <a:lstStyle/>
                    <a:p>
                      <a:pPr algn="ctr"/>
                      <a:r>
                        <a:rPr lang="en-US" sz="3200" dirty="0"/>
                        <a:t>0</a:t>
                      </a:r>
                    </a:p>
                  </a:txBody>
                  <a:tcPr/>
                </a:tc>
                <a:tc>
                  <a:txBody>
                    <a:bodyPr/>
                    <a:lstStyle/>
                    <a:p>
                      <a:pPr algn="ctr"/>
                      <a:r>
                        <a:rPr lang="en-US" sz="3200" dirty="0"/>
                        <a:t>1</a:t>
                      </a:r>
                    </a:p>
                  </a:txBody>
                  <a:tcPr/>
                </a:tc>
                <a:extLst>
                  <a:ext uri="{0D108BD9-81ED-4DB2-BD59-A6C34878D82A}">
                    <a16:rowId xmlns:a16="http://schemas.microsoft.com/office/drawing/2014/main" val="1951961033"/>
                  </a:ext>
                </a:extLst>
              </a:tr>
              <a:tr h="370840">
                <a:tc>
                  <a:txBody>
                    <a:bodyPr/>
                    <a:lstStyle/>
                    <a:p>
                      <a:pPr algn="ctr"/>
                      <a:r>
                        <a:rPr lang="en-US" sz="3200" dirty="0"/>
                        <a:t>1</a:t>
                      </a:r>
                    </a:p>
                  </a:txBody>
                  <a:tcPr/>
                </a:tc>
                <a:tc>
                  <a:txBody>
                    <a:bodyPr/>
                    <a:lstStyle/>
                    <a:p>
                      <a:pPr algn="ctr"/>
                      <a:r>
                        <a:rPr lang="en-US" sz="3200" dirty="0"/>
                        <a:t>1</a:t>
                      </a:r>
                    </a:p>
                  </a:txBody>
                  <a:tcPr/>
                </a:tc>
                <a:tc>
                  <a:txBody>
                    <a:bodyPr/>
                    <a:lstStyle/>
                    <a:p>
                      <a:pPr algn="ctr"/>
                      <a:r>
                        <a:rPr lang="en-US" sz="3200" dirty="0"/>
                        <a:t>0</a:t>
                      </a:r>
                    </a:p>
                  </a:txBody>
                  <a:tcPr/>
                </a:tc>
                <a:extLst>
                  <a:ext uri="{0D108BD9-81ED-4DB2-BD59-A6C34878D82A}">
                    <a16:rowId xmlns:a16="http://schemas.microsoft.com/office/drawing/2014/main" val="3849500644"/>
                  </a:ext>
                </a:extLst>
              </a:tr>
            </a:tbl>
          </a:graphicData>
        </a:graphic>
      </p:graphicFrame>
      <p:sp>
        <p:nvSpPr>
          <p:cNvPr id="23" name="Rectangle 22">
            <a:extLst>
              <a:ext uri="{FF2B5EF4-FFF2-40B4-BE49-F238E27FC236}">
                <a16:creationId xmlns:a16="http://schemas.microsoft.com/office/drawing/2014/main" id="{9F75CA4F-DC59-8947-AA90-1F8D1669D5A6}"/>
              </a:ext>
            </a:extLst>
          </p:cNvPr>
          <p:cNvSpPr/>
          <p:nvPr/>
        </p:nvSpPr>
        <p:spPr>
          <a:xfrm>
            <a:off x="233553" y="1131272"/>
            <a:ext cx="729687" cy="584775"/>
          </a:xfrm>
          <a:prstGeom prst="rect">
            <a:avLst/>
          </a:prstGeom>
        </p:spPr>
        <p:txBody>
          <a:bodyPr wrap="none">
            <a:spAutoFit/>
          </a:bodyPr>
          <a:lstStyle/>
          <a:p>
            <a:r>
              <a:rPr lang="en-US" sz="3200" dirty="0"/>
              <a:t>①</a:t>
            </a:r>
          </a:p>
        </p:txBody>
      </p:sp>
      <p:grpSp>
        <p:nvGrpSpPr>
          <p:cNvPr id="24" name="Group 23">
            <a:extLst>
              <a:ext uri="{FF2B5EF4-FFF2-40B4-BE49-F238E27FC236}">
                <a16:creationId xmlns:a16="http://schemas.microsoft.com/office/drawing/2014/main" id="{B56C60AB-BD6B-FC47-9D27-D88C49022C33}"/>
              </a:ext>
            </a:extLst>
          </p:cNvPr>
          <p:cNvGrpSpPr/>
          <p:nvPr/>
        </p:nvGrpSpPr>
        <p:grpSpPr>
          <a:xfrm>
            <a:off x="7616185" y="1131272"/>
            <a:ext cx="4139210" cy="3016675"/>
            <a:chOff x="7616185" y="1723432"/>
            <a:chExt cx="4139210" cy="3016675"/>
          </a:xfrm>
        </p:grpSpPr>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7BC9ED81-CFDE-9F4D-BE7E-FE2828152D6A}"/>
                    </a:ext>
                  </a:extLst>
                </p:cNvPr>
                <p:cNvSpPr/>
                <p:nvPr/>
              </p:nvSpPr>
              <p:spPr>
                <a:xfrm>
                  <a:off x="8411186" y="2308207"/>
                  <a:ext cx="1947584" cy="1569660"/>
                </a:xfrm>
                <a:prstGeom prst="rect">
                  <a:avLst/>
                </a:prstGeom>
                <a:solidFill>
                  <a:schemeClr val="accent5">
                    <a:lumMod val="20000"/>
                    <a:lumOff val="80000"/>
                  </a:schemeClr>
                </a:solidFill>
                <a:ln>
                  <a:solidFill>
                    <a:schemeClr val="accent1">
                      <a:shade val="50000"/>
                    </a:schemeClr>
                  </a:solidFill>
                </a:ln>
              </p:spPr>
              <p:txBody>
                <a:bodyPr wrap="none">
                  <a:spAutoFit/>
                </a:bodyPr>
                <a:lstStyle/>
                <a:p>
                  <a14:m>
                    <m:oMath xmlns:m="http://schemas.openxmlformats.org/officeDocument/2006/math">
                      <m:r>
                        <a:rPr lang="sr-Latn-RS" sz="3200" b="0" i="1" smtClean="0">
                          <a:latin typeface="Cambria Math" panose="02040503050406030204" pitchFamily="18" charset="0"/>
                        </a:rPr>
                        <m:t>0 </m:t>
                      </m:r>
                      <m:r>
                        <a:rPr lang="sr-Latn-RS" sz="3200" i="1">
                          <a:latin typeface="Cambria Math" panose="02040503050406030204" pitchFamily="18" charset="0"/>
                        </a:rPr>
                        <m:t>⨁</m:t>
                      </m:r>
                    </m:oMath>
                  </a14:m>
                  <a:r>
                    <a:rPr lang="en-US" sz="3200" i="1" dirty="0"/>
                    <a:t> </a:t>
                  </a:r>
                  <a14:m>
                    <m:oMath xmlns:m="http://schemas.openxmlformats.org/officeDocument/2006/math">
                      <m:r>
                        <a:rPr lang="sr-Latn-RS" sz="3200" b="0" i="1" smtClean="0">
                          <a:latin typeface="Cambria Math" panose="02040503050406030204" pitchFamily="18" charset="0"/>
                        </a:rPr>
                        <m:t>𝑥</m:t>
                      </m:r>
                      <m:r>
                        <a:rPr lang="sr-Latn-RS" sz="3200" b="0" i="1" smtClean="0">
                          <a:latin typeface="Cambria Math" panose="02040503050406030204" pitchFamily="18" charset="0"/>
                        </a:rPr>
                        <m:t>=</m:t>
                      </m:r>
                      <m:r>
                        <a:rPr lang="sr-Latn-RS" sz="3200" b="0" i="1" smtClean="0">
                          <a:latin typeface="Cambria Math" panose="02040503050406030204" pitchFamily="18" charset="0"/>
                        </a:rPr>
                        <m:t>𝑥</m:t>
                      </m:r>
                    </m:oMath>
                  </a14:m>
                  <a:endParaRPr lang="sr-Latn-RS" sz="3200" b="0" i="1" dirty="0"/>
                </a:p>
                <a:p>
                  <a14:m>
                    <m:oMath xmlns:m="http://schemas.openxmlformats.org/officeDocument/2006/math">
                      <m:r>
                        <a:rPr lang="sr-Latn-RS" sz="3200" i="1" smtClean="0">
                          <a:latin typeface="Cambria Math" panose="02040503050406030204" pitchFamily="18" charset="0"/>
                        </a:rPr>
                        <m:t>1</m:t>
                      </m:r>
                      <m:r>
                        <a:rPr lang="sr-Latn-RS" sz="3200" i="1">
                          <a:latin typeface="Cambria Math" panose="02040503050406030204" pitchFamily="18" charset="0"/>
                        </a:rPr>
                        <m:t> ⨁</m:t>
                      </m:r>
                    </m:oMath>
                  </a14:m>
                  <a:r>
                    <a:rPr lang="en-US" sz="3200" i="1" dirty="0"/>
                    <a:t> </a:t>
                  </a:r>
                  <a14:m>
                    <m:oMath xmlns:m="http://schemas.openxmlformats.org/officeDocument/2006/math">
                      <m:r>
                        <a:rPr lang="sr-Latn-RS" sz="3200" b="0" i="1" smtClean="0">
                          <a:latin typeface="Cambria Math" panose="02040503050406030204" pitchFamily="18" charset="0"/>
                        </a:rPr>
                        <m:t>𝑥</m:t>
                      </m:r>
                      <m:r>
                        <a:rPr lang="sr-Latn-RS" sz="3200" i="1">
                          <a:latin typeface="Cambria Math" panose="02040503050406030204" pitchFamily="18" charset="0"/>
                        </a:rPr>
                        <m:t>=</m:t>
                      </m:r>
                      <m:acc>
                        <m:accPr>
                          <m:chr m:val="̅"/>
                          <m:ctrlPr>
                            <a:rPr lang="sr-Latn-RS" sz="3200" i="1" smtClean="0">
                              <a:latin typeface="Cambria Math" panose="02040503050406030204" pitchFamily="18" charset="0"/>
                            </a:rPr>
                          </m:ctrlPr>
                        </m:accPr>
                        <m:e>
                          <m:r>
                            <a:rPr lang="sr-Latn-RS" sz="3200" b="0" i="1" smtClean="0">
                              <a:latin typeface="Cambria Math" panose="02040503050406030204" pitchFamily="18" charset="0"/>
                            </a:rPr>
                            <m:t>𝑥</m:t>
                          </m:r>
                        </m:e>
                      </m:acc>
                    </m:oMath>
                  </a14:m>
                  <a:endParaRPr lang="sr-Latn-RS" sz="3200" i="1" dirty="0"/>
                </a:p>
                <a:p>
                  <a14:m>
                    <m:oMath xmlns:m="http://schemas.openxmlformats.org/officeDocument/2006/math">
                      <m:r>
                        <a:rPr lang="sr-Latn-RS" sz="3200" i="1" smtClean="0">
                          <a:latin typeface="Cambria Math" panose="02040503050406030204" pitchFamily="18" charset="0"/>
                        </a:rPr>
                        <m:t>𝑥</m:t>
                      </m:r>
                      <m:r>
                        <a:rPr lang="sr-Latn-RS" sz="3200" i="1">
                          <a:latin typeface="Cambria Math" panose="02040503050406030204" pitchFamily="18" charset="0"/>
                        </a:rPr>
                        <m:t> ⨁</m:t>
                      </m:r>
                    </m:oMath>
                  </a14:m>
                  <a:r>
                    <a:rPr lang="en-US" sz="3200" i="1" dirty="0"/>
                    <a:t> </a:t>
                  </a:r>
                  <a14:m>
                    <m:oMath xmlns:m="http://schemas.openxmlformats.org/officeDocument/2006/math">
                      <m:r>
                        <a:rPr lang="sr-Latn-RS" sz="3200" i="1">
                          <a:latin typeface="Cambria Math" panose="02040503050406030204" pitchFamily="18" charset="0"/>
                        </a:rPr>
                        <m:t>𝑥</m:t>
                      </m:r>
                      <m:r>
                        <a:rPr lang="sr-Latn-RS" sz="3200" i="1">
                          <a:latin typeface="Cambria Math" panose="02040503050406030204" pitchFamily="18" charset="0"/>
                        </a:rPr>
                        <m:t>=0</m:t>
                      </m:r>
                    </m:oMath>
                  </a14:m>
                  <a:endParaRPr lang="sr-Latn-RS" sz="3200" i="1" dirty="0"/>
                </a:p>
              </p:txBody>
            </p:sp>
          </mc:Choice>
          <mc:Fallback xmlns="">
            <p:sp>
              <p:nvSpPr>
                <p:cNvPr id="28" name="Rectangle 27">
                  <a:extLst>
                    <a:ext uri="{FF2B5EF4-FFF2-40B4-BE49-F238E27FC236}">
                      <a16:creationId xmlns:a16="http://schemas.microsoft.com/office/drawing/2014/main" id="{74D00670-126C-8C4F-9ADA-F0CC1775FCA1}"/>
                    </a:ext>
                  </a:extLst>
                </p:cNvPr>
                <p:cNvSpPr>
                  <a:spLocks noRot="1" noChangeAspect="1" noMove="1" noResize="1" noEditPoints="1" noAdjustHandles="1" noChangeArrowheads="1" noChangeShapeType="1" noTextEdit="1"/>
                </p:cNvSpPr>
                <p:nvPr/>
              </p:nvSpPr>
              <p:spPr>
                <a:xfrm>
                  <a:off x="8411186" y="2308207"/>
                  <a:ext cx="1947584" cy="1569660"/>
                </a:xfrm>
                <a:prstGeom prst="rect">
                  <a:avLst/>
                </a:prstGeom>
                <a:blipFill>
                  <a:blip r:embed="rId3"/>
                  <a:stretch>
                    <a:fillRect l="-1923" r="-641" b="-7143"/>
                  </a:stretch>
                </a:blipFill>
                <a:ln>
                  <a:solidFill>
                    <a:schemeClr val="accent1">
                      <a:shade val="50000"/>
                    </a:schemeClr>
                  </a:solidFill>
                </a:ln>
              </p:spPr>
              <p:txBody>
                <a:bodyPr/>
                <a:lstStyle/>
                <a:p>
                  <a:r>
                    <a:rPr lang="en-US">
                      <a:noFill/>
                    </a:rPr>
                    <a:t> </a:t>
                  </a:r>
                </a:p>
              </p:txBody>
            </p:sp>
          </mc:Fallback>
        </mc:AlternateContent>
        <p:sp>
          <p:nvSpPr>
            <p:cNvPr id="26" name="TextBox 25">
              <a:extLst>
                <a:ext uri="{FF2B5EF4-FFF2-40B4-BE49-F238E27FC236}">
                  <a16:creationId xmlns:a16="http://schemas.microsoft.com/office/drawing/2014/main" id="{45489715-806F-5F46-83A9-9567D4D35D9D}"/>
                </a:ext>
              </a:extLst>
            </p:cNvPr>
            <p:cNvSpPr txBox="1"/>
            <p:nvPr/>
          </p:nvSpPr>
          <p:spPr>
            <a:xfrm>
              <a:off x="7616185" y="1723432"/>
              <a:ext cx="729687" cy="584775"/>
            </a:xfrm>
            <a:prstGeom prst="rect">
              <a:avLst/>
            </a:prstGeom>
            <a:noFill/>
          </p:spPr>
          <p:txBody>
            <a:bodyPr wrap="none" rtlCol="0">
              <a:spAutoFit/>
            </a:bodyPr>
            <a:lstStyle/>
            <a:p>
              <a:r>
                <a:rPr lang="en-US" sz="3200" dirty="0"/>
                <a:t>②</a:t>
              </a:r>
            </a:p>
          </p:txBody>
        </p:sp>
        <p:sp>
          <p:nvSpPr>
            <p:cNvPr id="28" name="TextBox 27">
              <a:extLst>
                <a:ext uri="{FF2B5EF4-FFF2-40B4-BE49-F238E27FC236}">
                  <a16:creationId xmlns:a16="http://schemas.microsoft.com/office/drawing/2014/main" id="{342AD492-DBAB-A24E-A453-4FA4C4879FA5}"/>
                </a:ext>
              </a:extLst>
            </p:cNvPr>
            <p:cNvSpPr txBox="1"/>
            <p:nvPr/>
          </p:nvSpPr>
          <p:spPr>
            <a:xfrm>
              <a:off x="7616185" y="4216887"/>
              <a:ext cx="4139210" cy="523220"/>
            </a:xfrm>
            <a:prstGeom prst="rect">
              <a:avLst/>
            </a:prstGeom>
            <a:noFill/>
          </p:spPr>
          <p:txBody>
            <a:bodyPr wrap="none" rtlCol="0">
              <a:spAutoFit/>
            </a:bodyPr>
            <a:lstStyle/>
            <a:p>
              <a:r>
                <a:rPr lang="en-US" sz="2800" dirty="0"/>
                <a:t>Example : 111 ⨁ 101 = 010</a:t>
              </a:r>
            </a:p>
          </p:txBody>
        </p:sp>
      </p:grpSp>
      <p:grpSp>
        <p:nvGrpSpPr>
          <p:cNvPr id="29" name="Group 28">
            <a:extLst>
              <a:ext uri="{FF2B5EF4-FFF2-40B4-BE49-F238E27FC236}">
                <a16:creationId xmlns:a16="http://schemas.microsoft.com/office/drawing/2014/main" id="{B95BC96F-C8CF-0946-84CC-A4376792C641}"/>
              </a:ext>
            </a:extLst>
          </p:cNvPr>
          <p:cNvGrpSpPr/>
          <p:nvPr/>
        </p:nvGrpSpPr>
        <p:grpSpPr>
          <a:xfrm>
            <a:off x="233553" y="4845906"/>
            <a:ext cx="9810002" cy="1692244"/>
            <a:chOff x="233553" y="4845906"/>
            <a:chExt cx="9810002" cy="1692244"/>
          </a:xfrm>
        </p:grpSpPr>
        <p:grpSp>
          <p:nvGrpSpPr>
            <p:cNvPr id="30" name="Group 29">
              <a:extLst>
                <a:ext uri="{FF2B5EF4-FFF2-40B4-BE49-F238E27FC236}">
                  <a16:creationId xmlns:a16="http://schemas.microsoft.com/office/drawing/2014/main" id="{0716B49A-E2B2-3743-9874-4DFD585AC940}"/>
                </a:ext>
              </a:extLst>
            </p:cNvPr>
            <p:cNvGrpSpPr/>
            <p:nvPr/>
          </p:nvGrpSpPr>
          <p:grpSpPr>
            <a:xfrm>
              <a:off x="233553" y="4845906"/>
              <a:ext cx="9381871" cy="1137876"/>
              <a:chOff x="233553" y="5329076"/>
              <a:chExt cx="9381871" cy="1137876"/>
            </a:xfrm>
          </p:grpSpPr>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B33CFE1E-E1B4-1C42-B2F4-B6D4441D375B}"/>
                      </a:ext>
                    </a:extLst>
                  </p:cNvPr>
                  <p:cNvSpPr/>
                  <p:nvPr/>
                </p:nvSpPr>
                <p:spPr>
                  <a:xfrm>
                    <a:off x="1146631" y="5329076"/>
                    <a:ext cx="8468793" cy="11378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i="1" smtClean="0">
                              <a:latin typeface="Cambria Math" panose="02040503050406030204" pitchFamily="18" charset="0"/>
                            </a:rPr>
                            <m:t>𝑥</m:t>
                          </m:r>
                          <m:r>
                            <a:rPr lang="sr-Latn-RS" sz="2800" i="1">
                              <a:latin typeface="Cambria Math" panose="02040503050406030204" pitchFamily="18" charset="0"/>
                              <a:ea typeface="Cambria Math" panose="02040503050406030204" pitchFamily="18" charset="0"/>
                            </a:rPr>
                            <m:t>∙</m:t>
                          </m:r>
                          <m:r>
                            <a:rPr lang="sr-Latn-RS" sz="2800" i="1">
                              <a:latin typeface="Cambria Math" panose="02040503050406030204" pitchFamily="18" charset="0"/>
                            </a:rPr>
                            <m:t>𝑦</m:t>
                          </m:r>
                          <m:r>
                            <a:rPr lang="sr-Latn-RS" sz="2800" b="0" i="1" smtClean="0">
                              <a:latin typeface="Cambria Math" panose="02040503050406030204" pitchFamily="18" charset="0"/>
                            </a:rPr>
                            <m:t> (</m:t>
                          </m:r>
                          <m:r>
                            <a:rPr lang="sr-Latn-RS" sz="2800" b="0" i="1" smtClean="0">
                              <a:latin typeface="Cambria Math" panose="02040503050406030204" pitchFamily="18" charset="0"/>
                            </a:rPr>
                            <m:t>𝑚𝑜𝑑</m:t>
                          </m:r>
                          <m:r>
                            <a:rPr lang="sr-Latn-RS" sz="2800" b="0" i="1" smtClean="0">
                              <a:latin typeface="Cambria Math" panose="02040503050406030204" pitchFamily="18" charset="0"/>
                            </a:rPr>
                            <m:t> 2)=</m:t>
                          </m:r>
                          <m:nary>
                            <m:naryPr>
                              <m:chr m:val="∑"/>
                              <m:supHide m:val="on"/>
                              <m:ctrlPr>
                                <a:rPr lang="sr-Latn-RS" sz="2800" b="0" i="1" smtClean="0">
                                  <a:latin typeface="Cambria Math" panose="02040503050406030204" pitchFamily="18" charset="0"/>
                                </a:rPr>
                              </m:ctrlPr>
                            </m:naryPr>
                            <m:sub>
                              <m:r>
                                <m:rPr>
                                  <m:brk m:alnAt="7"/>
                                </m:rPr>
                                <a:rPr lang="sr-Latn-RS" sz="2800" b="0" i="1" smtClean="0">
                                  <a:latin typeface="Cambria Math" panose="02040503050406030204" pitchFamily="18" charset="0"/>
                                </a:rPr>
                                <m:t>𝑖</m:t>
                              </m:r>
                            </m:sub>
                            <m:sup/>
                            <m:e>
                              <m:sSub>
                                <m:sSubPr>
                                  <m:ctrlPr>
                                    <a:rPr lang="sr-Latn-RS" sz="2800" i="1">
                                      <a:latin typeface="Cambria Math" panose="02040503050406030204" pitchFamily="18" charset="0"/>
                                    </a:rPr>
                                  </m:ctrlPr>
                                </m:sSubPr>
                                <m:e>
                                  <m:r>
                                    <a:rPr lang="sr-Latn-RS" sz="2800" i="1">
                                      <a:latin typeface="Cambria Math" panose="02040503050406030204" pitchFamily="18" charset="0"/>
                                    </a:rPr>
                                    <m:t>𝑥</m:t>
                                  </m:r>
                                </m:e>
                                <m:sub>
                                  <m:r>
                                    <a:rPr lang="sr-Latn-RS" sz="2800" b="0" i="1" smtClean="0">
                                      <a:latin typeface="Cambria Math" panose="02040503050406030204" pitchFamily="18" charset="0"/>
                                    </a:rPr>
                                    <m:t>𝑖</m:t>
                                  </m:r>
                                </m:sub>
                              </m:sSub>
                              <m:sSub>
                                <m:sSubPr>
                                  <m:ctrlPr>
                                    <a:rPr lang="sr-Latn-RS" sz="2800" i="1">
                                      <a:latin typeface="Cambria Math" panose="02040503050406030204" pitchFamily="18" charset="0"/>
                                    </a:rPr>
                                  </m:ctrlPr>
                                </m:sSubPr>
                                <m:e>
                                  <m:r>
                                    <a:rPr lang="sr-Latn-RS" sz="2800" i="1">
                                      <a:latin typeface="Cambria Math" panose="02040503050406030204" pitchFamily="18" charset="0"/>
                                    </a:rPr>
                                    <m:t>𝑦</m:t>
                                  </m:r>
                                </m:e>
                                <m:sub>
                                  <m:r>
                                    <a:rPr lang="sr-Latn-RS" sz="2800" b="0" i="1" smtClean="0">
                                      <a:latin typeface="Cambria Math" panose="02040503050406030204" pitchFamily="18" charset="0"/>
                                    </a:rPr>
                                    <m:t>𝑖</m:t>
                                  </m:r>
                                </m:sub>
                              </m:sSub>
                              <m:r>
                                <a:rPr lang="sr-Latn-RS" sz="2800" b="0" i="1" smtClean="0">
                                  <a:latin typeface="Cambria Math" panose="02040503050406030204" pitchFamily="18" charset="0"/>
                                </a:rPr>
                                <m:t>=</m:t>
                              </m:r>
                            </m:e>
                          </m:nary>
                          <m:sSub>
                            <m:sSubPr>
                              <m:ctrlPr>
                                <a:rPr lang="sr-Latn-RS" sz="2800" b="0" i="1" smtClean="0">
                                  <a:latin typeface="Cambria Math" panose="02040503050406030204" pitchFamily="18" charset="0"/>
                                </a:rPr>
                              </m:ctrlPr>
                            </m:sSubPr>
                            <m:e>
                              <m:r>
                                <a:rPr lang="sr-Latn-RS" sz="2800" b="0" i="1" smtClean="0">
                                  <a:latin typeface="Cambria Math" panose="02040503050406030204" pitchFamily="18" charset="0"/>
                                </a:rPr>
                                <m:t>𝑥</m:t>
                              </m:r>
                            </m:e>
                            <m:sub>
                              <m:r>
                                <a:rPr lang="sr-Latn-RS" sz="2800" b="0" i="1" smtClean="0">
                                  <a:latin typeface="Cambria Math" panose="02040503050406030204" pitchFamily="18" charset="0"/>
                                </a:rPr>
                                <m:t>0</m:t>
                              </m:r>
                            </m:sub>
                          </m:sSub>
                          <m:sSub>
                            <m:sSubPr>
                              <m:ctrlPr>
                                <a:rPr lang="sr-Latn-RS" sz="2800" i="1">
                                  <a:latin typeface="Cambria Math" panose="02040503050406030204" pitchFamily="18" charset="0"/>
                                </a:rPr>
                              </m:ctrlPr>
                            </m:sSubPr>
                            <m:e>
                              <m:r>
                                <a:rPr lang="sr-Latn-RS" sz="2800" b="0" i="1" smtClean="0">
                                  <a:latin typeface="Cambria Math" panose="02040503050406030204" pitchFamily="18" charset="0"/>
                                </a:rPr>
                                <m:t>𝑦</m:t>
                              </m:r>
                            </m:e>
                            <m:sub>
                              <m:r>
                                <a:rPr lang="sr-Latn-RS" sz="2800" i="1">
                                  <a:latin typeface="Cambria Math" panose="02040503050406030204" pitchFamily="18" charset="0"/>
                                </a:rPr>
                                <m:t>0</m:t>
                              </m:r>
                            </m:sub>
                          </m:sSub>
                          <m:r>
                            <a:rPr lang="sr-Latn-RS" sz="2800" b="0" i="1" smtClean="0">
                              <a:latin typeface="Cambria Math" panose="02040503050406030204" pitchFamily="18" charset="0"/>
                            </a:rPr>
                            <m:t> </m:t>
                          </m:r>
                          <m:sSub>
                            <m:sSubPr>
                              <m:ctrlPr>
                                <a:rPr lang="sr-Latn-RS" sz="2800" i="1">
                                  <a:latin typeface="Cambria Math" panose="02040503050406030204" pitchFamily="18" charset="0"/>
                                </a:rPr>
                              </m:ctrlPr>
                            </m:sSubPr>
                            <m:e>
                              <m:r>
                                <a:rPr lang="en-US" sz="2800" i="1">
                                  <a:latin typeface="Cambria Math" panose="02040503050406030204" pitchFamily="18" charset="0"/>
                                </a:rPr>
                                <m:t>⨁</m:t>
                              </m:r>
                              <m:r>
                                <a:rPr lang="sr-Latn-RS" sz="2800" i="1">
                                  <a:latin typeface="Cambria Math" panose="02040503050406030204" pitchFamily="18" charset="0"/>
                                </a:rPr>
                                <m:t>𝑥</m:t>
                              </m:r>
                            </m:e>
                            <m:sub>
                              <m:r>
                                <a:rPr lang="sr-Latn-RS" sz="2800" b="0" i="1" smtClean="0">
                                  <a:latin typeface="Cambria Math" panose="02040503050406030204" pitchFamily="18" charset="0"/>
                                </a:rPr>
                                <m:t>1</m:t>
                              </m:r>
                            </m:sub>
                          </m:sSub>
                          <m:sSub>
                            <m:sSubPr>
                              <m:ctrlPr>
                                <a:rPr lang="sr-Latn-RS" sz="2800" i="1">
                                  <a:latin typeface="Cambria Math" panose="02040503050406030204" pitchFamily="18" charset="0"/>
                                </a:rPr>
                              </m:ctrlPr>
                            </m:sSubPr>
                            <m:e>
                              <m:r>
                                <a:rPr lang="sr-Latn-RS" sz="2800" i="1">
                                  <a:latin typeface="Cambria Math" panose="02040503050406030204" pitchFamily="18" charset="0"/>
                                </a:rPr>
                                <m:t>𝑦</m:t>
                              </m:r>
                            </m:e>
                            <m:sub>
                              <m:r>
                                <a:rPr lang="sr-Latn-RS" sz="2800" b="0" i="1" smtClean="0">
                                  <a:latin typeface="Cambria Math" panose="02040503050406030204" pitchFamily="18" charset="0"/>
                                </a:rPr>
                                <m:t>1</m:t>
                              </m:r>
                            </m:sub>
                          </m:sSub>
                          <m:r>
                            <a:rPr lang="sr-Latn-RS" sz="2800" i="1" smtClean="0">
                              <a:latin typeface="Cambria Math" panose="02040503050406030204" pitchFamily="18" charset="0"/>
                              <a:ea typeface="Cambria Math" panose="02040503050406030204" pitchFamily="18" charset="0"/>
                            </a:rPr>
                            <m:t>⋯</m:t>
                          </m:r>
                          <m:sSub>
                            <m:sSubPr>
                              <m:ctrlPr>
                                <a:rPr lang="sr-Latn-RS" sz="2800" i="1">
                                  <a:latin typeface="Cambria Math" panose="02040503050406030204" pitchFamily="18" charset="0"/>
                                </a:rPr>
                              </m:ctrlPr>
                            </m:sSubPr>
                            <m:e>
                              <m:r>
                                <a:rPr lang="en-US" sz="2800" i="1">
                                  <a:latin typeface="Cambria Math" panose="02040503050406030204" pitchFamily="18" charset="0"/>
                                </a:rPr>
                                <m:t>⨁</m:t>
                              </m:r>
                              <m:r>
                                <a:rPr lang="sr-Latn-RS" sz="2800" i="1">
                                  <a:latin typeface="Cambria Math" panose="02040503050406030204" pitchFamily="18" charset="0"/>
                                </a:rPr>
                                <m:t>𝑥</m:t>
                              </m:r>
                            </m:e>
                            <m:sub>
                              <m:r>
                                <a:rPr lang="en-US" sz="2800" b="0" i="1" smtClean="0">
                                  <a:latin typeface="Cambria Math" panose="02040503050406030204" pitchFamily="18" charset="0"/>
                                </a:rPr>
                                <m:t>𝑛</m:t>
                              </m:r>
                              <m:r>
                                <a:rPr lang="en-US" sz="2800" b="0" i="1" smtClean="0">
                                  <a:latin typeface="Cambria Math" panose="02040503050406030204" pitchFamily="18" charset="0"/>
                                </a:rPr>
                                <m:t>−1</m:t>
                              </m:r>
                            </m:sub>
                          </m:sSub>
                          <m:sSub>
                            <m:sSubPr>
                              <m:ctrlPr>
                                <a:rPr lang="sr-Latn-RS" sz="2800" i="1">
                                  <a:latin typeface="Cambria Math" panose="02040503050406030204" pitchFamily="18" charset="0"/>
                                </a:rPr>
                              </m:ctrlPr>
                            </m:sSubPr>
                            <m:e>
                              <m:r>
                                <a:rPr lang="sr-Latn-RS" sz="2800" i="1">
                                  <a:latin typeface="Cambria Math" panose="02040503050406030204" pitchFamily="18" charset="0"/>
                                </a:rPr>
                                <m:t>𝑦</m:t>
                              </m:r>
                            </m:e>
                            <m:sub>
                              <m:r>
                                <a:rPr lang="en-US" sz="2800" b="0" i="1" smtClean="0">
                                  <a:latin typeface="Cambria Math" panose="02040503050406030204" pitchFamily="18" charset="0"/>
                                </a:rPr>
                                <m:t>𝑛</m:t>
                              </m:r>
                              <m:r>
                                <a:rPr lang="en-US" sz="2800" b="0" i="1" smtClean="0">
                                  <a:latin typeface="Cambria Math" panose="02040503050406030204" pitchFamily="18" charset="0"/>
                                </a:rPr>
                                <m:t>−1</m:t>
                              </m:r>
                            </m:sub>
                          </m:sSub>
                        </m:oMath>
                      </m:oMathPara>
                    </a14:m>
                    <a:endParaRPr lang="en-US" sz="2800" dirty="0"/>
                  </a:p>
                </p:txBody>
              </p:sp>
            </mc:Choice>
            <mc:Fallback xmlns="">
              <p:sp>
                <p:nvSpPr>
                  <p:cNvPr id="34" name="Rectangle 33">
                    <a:extLst>
                      <a:ext uri="{FF2B5EF4-FFF2-40B4-BE49-F238E27FC236}">
                        <a16:creationId xmlns:a16="http://schemas.microsoft.com/office/drawing/2014/main" id="{B33CFE1E-E1B4-1C42-B2F4-B6D4441D375B}"/>
                      </a:ext>
                    </a:extLst>
                  </p:cNvPr>
                  <p:cNvSpPr>
                    <a:spLocks noRot="1" noChangeAspect="1" noMove="1" noResize="1" noEditPoints="1" noAdjustHandles="1" noChangeArrowheads="1" noChangeShapeType="1" noTextEdit="1"/>
                  </p:cNvSpPr>
                  <p:nvPr/>
                </p:nvSpPr>
                <p:spPr>
                  <a:xfrm>
                    <a:off x="1146631" y="5329076"/>
                    <a:ext cx="8468793" cy="1137876"/>
                  </a:xfrm>
                  <a:prstGeom prst="rect">
                    <a:avLst/>
                  </a:prstGeom>
                  <a:blipFill>
                    <a:blip r:embed="rId4"/>
                    <a:stretch>
                      <a:fillRect t="-130000" b="-182222"/>
                    </a:stretch>
                  </a:blipFill>
                </p:spPr>
                <p:txBody>
                  <a:bodyPr/>
                  <a:lstStyle/>
                  <a:p>
                    <a:r>
                      <a:rPr lang="en-US">
                        <a:noFill/>
                      </a:rPr>
                      <a:t> </a:t>
                    </a:r>
                  </a:p>
                </p:txBody>
              </p:sp>
            </mc:Fallback>
          </mc:AlternateContent>
          <p:sp>
            <p:nvSpPr>
              <p:cNvPr id="35" name="Rectangle 34">
                <a:extLst>
                  <a:ext uri="{FF2B5EF4-FFF2-40B4-BE49-F238E27FC236}">
                    <a16:creationId xmlns:a16="http://schemas.microsoft.com/office/drawing/2014/main" id="{B1E87A34-3C42-434E-8172-5067C8460249}"/>
                  </a:ext>
                </a:extLst>
              </p:cNvPr>
              <p:cNvSpPr/>
              <p:nvPr/>
            </p:nvSpPr>
            <p:spPr>
              <a:xfrm>
                <a:off x="233553" y="5515004"/>
                <a:ext cx="729687" cy="584775"/>
              </a:xfrm>
              <a:prstGeom prst="rect">
                <a:avLst/>
              </a:prstGeom>
            </p:spPr>
            <p:txBody>
              <a:bodyPr wrap="none">
                <a:spAutoFit/>
              </a:bodyPr>
              <a:lstStyle/>
              <a:p>
                <a:r>
                  <a:rPr lang="en-US" sz="3200" dirty="0"/>
                  <a:t>③</a:t>
                </a:r>
              </a:p>
            </p:txBody>
          </p:sp>
        </p:grpSp>
        <p:sp>
          <p:nvSpPr>
            <p:cNvPr id="31" name="Rectangle 30">
              <a:extLst>
                <a:ext uri="{FF2B5EF4-FFF2-40B4-BE49-F238E27FC236}">
                  <a16:creationId xmlns:a16="http://schemas.microsoft.com/office/drawing/2014/main" id="{1C77480B-4ED8-4044-8708-2981D98A42F6}"/>
                </a:ext>
              </a:extLst>
            </p:cNvPr>
            <p:cNvSpPr/>
            <p:nvPr/>
          </p:nvSpPr>
          <p:spPr>
            <a:xfrm>
              <a:off x="515215" y="6014930"/>
              <a:ext cx="1593641" cy="523220"/>
            </a:xfrm>
            <a:prstGeom prst="rect">
              <a:avLst/>
            </a:prstGeom>
          </p:spPr>
          <p:txBody>
            <a:bodyPr wrap="none">
              <a:spAutoFit/>
            </a:bodyPr>
            <a:lstStyle/>
            <a:p>
              <a:r>
                <a:rPr lang="en-US" sz="2800" dirty="0"/>
                <a:t>Example: </a:t>
              </a:r>
            </a:p>
          </p:txBody>
        </p:sp>
        <p:sp>
          <p:nvSpPr>
            <p:cNvPr id="32" name="TextBox 31">
              <a:extLst>
                <a:ext uri="{FF2B5EF4-FFF2-40B4-BE49-F238E27FC236}">
                  <a16:creationId xmlns:a16="http://schemas.microsoft.com/office/drawing/2014/main" id="{4E9B503D-FA3F-684C-B54C-28E61A4E3181}"/>
                </a:ext>
              </a:extLst>
            </p:cNvPr>
            <p:cNvSpPr txBox="1"/>
            <p:nvPr/>
          </p:nvSpPr>
          <p:spPr>
            <a:xfrm>
              <a:off x="2148445" y="6014930"/>
              <a:ext cx="7895110" cy="523220"/>
            </a:xfrm>
            <a:prstGeom prst="rect">
              <a:avLst/>
            </a:prstGeom>
            <a:noFill/>
          </p:spPr>
          <p:txBody>
            <a:bodyPr wrap="none" rtlCol="0">
              <a:spAutoFit/>
            </a:bodyPr>
            <a:lstStyle/>
            <a:p>
              <a:r>
                <a:rPr lang="en-US" sz="2800" dirty="0"/>
                <a:t>101 ∙ 110 = (1 ∙ 1) ⊕ (0 ∙ 1) ⊕ (1 ∙ 0) = 1 ⊕ 0 ⊕ 0 = 1</a:t>
              </a:r>
            </a:p>
          </p:txBody>
        </p:sp>
      </p:grpSp>
    </p:spTree>
    <p:extLst>
      <p:ext uri="{BB962C8B-B14F-4D97-AF65-F5344CB8AC3E}">
        <p14:creationId xmlns:p14="http://schemas.microsoft.com/office/powerpoint/2010/main" val="494486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dissolve">
                                      <p:cBhvr>
                                        <p:cTn id="1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DC060E10-06A4-7646-AAFD-CD4794DEE1F6}"/>
              </a:ext>
            </a:extLst>
          </p:cNvPr>
          <p:cNvCxnSpPr>
            <a:cxnSpLocks/>
          </p:cNvCxnSpPr>
          <p:nvPr/>
        </p:nvCxnSpPr>
        <p:spPr>
          <a:xfrm>
            <a:off x="4001626" y="3620766"/>
            <a:ext cx="470262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0C48E8F-06E8-DF4E-A12F-4F14980BE02F}"/>
              </a:ext>
            </a:extLst>
          </p:cNvPr>
          <p:cNvSpPr>
            <a:spLocks noGrp="1"/>
          </p:cNvSpPr>
          <p:nvPr>
            <p:ph type="title"/>
          </p:nvPr>
        </p:nvSpPr>
        <p:spPr/>
        <p:txBody>
          <a:bodyPr/>
          <a:lstStyle/>
          <a:p>
            <a:r>
              <a:rPr lang="en-ZA" dirty="0"/>
              <a:t>Recap: Quantum Oracle</a:t>
            </a:r>
            <a:endParaRPr lang="en-US" dirty="0"/>
          </a:p>
        </p:txBody>
      </p:sp>
      <p:sp>
        <p:nvSpPr>
          <p:cNvPr id="3" name="Slide Number Placeholder 2">
            <a:extLst>
              <a:ext uri="{FF2B5EF4-FFF2-40B4-BE49-F238E27FC236}">
                <a16:creationId xmlns:a16="http://schemas.microsoft.com/office/drawing/2014/main" id="{BC9A3C24-DF32-574C-8890-55BB719E4634}"/>
              </a:ext>
            </a:extLst>
          </p:cNvPr>
          <p:cNvSpPr>
            <a:spLocks noGrp="1"/>
          </p:cNvSpPr>
          <p:nvPr>
            <p:ph type="sldNum" sz="quarter" idx="12"/>
          </p:nvPr>
        </p:nvSpPr>
        <p:spPr/>
        <p:txBody>
          <a:bodyPr/>
          <a:lstStyle/>
          <a:p>
            <a:fld id="{591A223C-FA10-BC46-A853-03BA373D023C}" type="slidenum">
              <a:rPr lang="en-US" smtClean="0"/>
              <a:t>4</a:t>
            </a:fld>
            <a:endParaRPr lang="en-US"/>
          </a:p>
        </p:txBody>
      </p:sp>
      <p:cxnSp>
        <p:nvCxnSpPr>
          <p:cNvPr id="10" name="Straight Connector 9">
            <a:extLst>
              <a:ext uri="{FF2B5EF4-FFF2-40B4-BE49-F238E27FC236}">
                <a16:creationId xmlns:a16="http://schemas.microsoft.com/office/drawing/2014/main" id="{EE348288-4056-B24B-87E2-037C31244143}"/>
              </a:ext>
            </a:extLst>
          </p:cNvPr>
          <p:cNvCxnSpPr>
            <a:cxnSpLocks/>
          </p:cNvCxnSpPr>
          <p:nvPr/>
        </p:nvCxnSpPr>
        <p:spPr>
          <a:xfrm>
            <a:off x="4001626" y="2479321"/>
            <a:ext cx="470262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DA7CDF0A-91B5-5348-88C2-2B4D1CA61715}"/>
              </a:ext>
            </a:extLst>
          </p:cNvPr>
          <p:cNvSpPr/>
          <p:nvPr/>
        </p:nvSpPr>
        <p:spPr>
          <a:xfrm>
            <a:off x="5019224" y="2090347"/>
            <a:ext cx="3111500" cy="1819986"/>
          </a:xfrm>
          <a:prstGeom prst="roundRect">
            <a:avLst>
              <a:gd name="adj" fmla="val 4804"/>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BDBC4062-18D1-F448-895B-7EC754A2289A}"/>
                  </a:ext>
                </a:extLst>
              </p:cNvPr>
              <p:cNvSpPr/>
              <p:nvPr/>
            </p:nvSpPr>
            <p:spPr>
              <a:xfrm>
                <a:off x="3362755" y="3339465"/>
                <a:ext cx="63876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𝑦</m:t>
                          </m:r>
                        </m:e>
                      </m:d>
                    </m:oMath>
                  </m:oMathPara>
                </a14:m>
                <a:endParaRPr lang="en-US" sz="2400" dirty="0"/>
              </a:p>
            </p:txBody>
          </p:sp>
        </mc:Choice>
        <mc:Fallback xmlns="">
          <p:sp>
            <p:nvSpPr>
              <p:cNvPr id="13" name="Rectangle 12">
                <a:extLst>
                  <a:ext uri="{FF2B5EF4-FFF2-40B4-BE49-F238E27FC236}">
                    <a16:creationId xmlns:a16="http://schemas.microsoft.com/office/drawing/2014/main" id="{BDBC4062-18D1-F448-895B-7EC754A2289A}"/>
                  </a:ext>
                </a:extLst>
              </p:cNvPr>
              <p:cNvSpPr>
                <a:spLocks noRot="1" noChangeAspect="1" noMove="1" noResize="1" noEditPoints="1" noAdjustHandles="1" noChangeArrowheads="1" noChangeShapeType="1" noTextEdit="1"/>
              </p:cNvSpPr>
              <p:nvPr/>
            </p:nvSpPr>
            <p:spPr>
              <a:xfrm>
                <a:off x="3362755" y="3339465"/>
                <a:ext cx="638765" cy="461665"/>
              </a:xfrm>
              <a:prstGeom prst="rect">
                <a:avLst/>
              </a:prstGeom>
              <a:blipFill>
                <a:blip r:embed="rId3"/>
                <a:stretch>
                  <a:fillRect l="-23529" t="-124324" r="-49020" b="-194595"/>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E7253CE9-FB02-1A4A-9635-A30E849EC2D4}"/>
              </a:ext>
            </a:extLst>
          </p:cNvPr>
          <p:cNvSpPr txBox="1"/>
          <p:nvPr/>
        </p:nvSpPr>
        <p:spPr>
          <a:xfrm>
            <a:off x="6270106" y="2531146"/>
            <a:ext cx="591829" cy="769441"/>
          </a:xfrm>
          <a:prstGeom prst="rect">
            <a:avLst/>
          </a:prstGeom>
          <a:noFill/>
        </p:spPr>
        <p:txBody>
          <a:bodyPr wrap="none" rtlCol="0">
            <a:spAutoFit/>
          </a:bodyPr>
          <a:lstStyle/>
          <a:p>
            <a:r>
              <a:rPr lang="en-US" sz="4400" i="1" dirty="0">
                <a:solidFill>
                  <a:schemeClr val="bg1"/>
                </a:solidFill>
                <a:latin typeface="Times New Roman" panose="02020603050405020304" pitchFamily="18" charset="0"/>
                <a:cs typeface="Times New Roman" panose="02020603050405020304" pitchFamily="18" charset="0"/>
              </a:rPr>
              <a:t>O</a:t>
            </a:r>
            <a:endParaRPr lang="en-US" sz="4400" i="1" baseline="-25000" dirty="0">
              <a:solidFill>
                <a:schemeClr val="bg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32B2286-C0C5-6245-B336-0032F997235B}"/>
                  </a:ext>
                </a:extLst>
              </p:cNvPr>
              <p:cNvSpPr/>
              <p:nvPr/>
            </p:nvSpPr>
            <p:spPr>
              <a:xfrm>
                <a:off x="3366731" y="2215371"/>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15" name="Rectangle 14">
                <a:extLst>
                  <a:ext uri="{FF2B5EF4-FFF2-40B4-BE49-F238E27FC236}">
                    <a16:creationId xmlns:a16="http://schemas.microsoft.com/office/drawing/2014/main" id="{A32B2286-C0C5-6245-B336-0032F997235B}"/>
                  </a:ext>
                </a:extLst>
              </p:cNvPr>
              <p:cNvSpPr>
                <a:spLocks noRot="1" noChangeAspect="1" noMove="1" noResize="1" noEditPoints="1" noAdjustHandles="1" noChangeArrowheads="1" noChangeShapeType="1" noTextEdit="1"/>
              </p:cNvSpPr>
              <p:nvPr/>
            </p:nvSpPr>
            <p:spPr>
              <a:xfrm>
                <a:off x="3366731" y="2215371"/>
                <a:ext cx="634789" cy="461665"/>
              </a:xfrm>
              <a:prstGeom prst="rect">
                <a:avLst/>
              </a:prstGeom>
              <a:blipFill>
                <a:blip r:embed="rId4"/>
                <a:stretch>
                  <a:fillRect l="-23529" t="-121053" r="-4902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8E7A37D-A6FF-1446-9F2E-FF0F55FC88F7}"/>
                  </a:ext>
                </a:extLst>
              </p:cNvPr>
              <p:cNvSpPr/>
              <p:nvPr/>
            </p:nvSpPr>
            <p:spPr>
              <a:xfrm>
                <a:off x="8634241" y="3389933"/>
                <a:ext cx="164884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i="1">
                              <a:latin typeface="Cambria Math" panose="02040503050406030204" pitchFamily="18" charset="0"/>
                            </a:rPr>
                            <m:t>𝑦</m:t>
                          </m:r>
                          <m:r>
                            <a:rPr lang="sr-Latn-RS" sz="2400" b="0" i="1" smtClean="0">
                              <a:latin typeface="Cambria Math" panose="02040503050406030204" pitchFamily="18" charset="0"/>
                            </a:rPr>
                            <m:t> </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sr-Latn-RS" sz="2400" b="0" i="1" smtClean="0">
                                  <a:latin typeface="Cambria Math" panose="02040503050406030204" pitchFamily="18" charset="0"/>
                                </a:rPr>
                                <m:t> </m:t>
                              </m:r>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𝑥</m:t>
                              </m:r>
                            </m:e>
                          </m:d>
                        </m:e>
                      </m:d>
                    </m:oMath>
                  </m:oMathPara>
                </a14:m>
                <a:endParaRPr lang="en-US" sz="2400" dirty="0"/>
              </a:p>
            </p:txBody>
          </p:sp>
        </mc:Choice>
        <mc:Fallback xmlns="">
          <p:sp>
            <p:nvSpPr>
              <p:cNvPr id="16" name="Rectangle 15">
                <a:extLst>
                  <a:ext uri="{FF2B5EF4-FFF2-40B4-BE49-F238E27FC236}">
                    <a16:creationId xmlns:a16="http://schemas.microsoft.com/office/drawing/2014/main" id="{F8E7A37D-A6FF-1446-9F2E-FF0F55FC88F7}"/>
                  </a:ext>
                </a:extLst>
              </p:cNvPr>
              <p:cNvSpPr>
                <a:spLocks noRot="1" noChangeAspect="1" noMove="1" noResize="1" noEditPoints="1" noAdjustHandles="1" noChangeArrowheads="1" noChangeShapeType="1" noTextEdit="1"/>
              </p:cNvSpPr>
              <p:nvPr/>
            </p:nvSpPr>
            <p:spPr>
              <a:xfrm>
                <a:off x="8634241" y="3389933"/>
                <a:ext cx="1648849" cy="461665"/>
              </a:xfrm>
              <a:prstGeom prst="rect">
                <a:avLst/>
              </a:prstGeom>
              <a:blipFill>
                <a:blip r:embed="rId5"/>
                <a:stretch>
                  <a:fillRect t="-124324" r="-18321"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F2845869-8604-9C4A-85AA-743F6D3E659B}"/>
                  </a:ext>
                </a:extLst>
              </p:cNvPr>
              <p:cNvSpPr/>
              <p:nvPr/>
            </p:nvSpPr>
            <p:spPr>
              <a:xfrm>
                <a:off x="8634241" y="2275179"/>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17" name="Rectangle 16">
                <a:extLst>
                  <a:ext uri="{FF2B5EF4-FFF2-40B4-BE49-F238E27FC236}">
                    <a16:creationId xmlns:a16="http://schemas.microsoft.com/office/drawing/2014/main" id="{F2845869-8604-9C4A-85AA-743F6D3E659B}"/>
                  </a:ext>
                </a:extLst>
              </p:cNvPr>
              <p:cNvSpPr>
                <a:spLocks noRot="1" noChangeAspect="1" noMove="1" noResize="1" noEditPoints="1" noAdjustHandles="1" noChangeArrowheads="1" noChangeShapeType="1" noTextEdit="1"/>
              </p:cNvSpPr>
              <p:nvPr/>
            </p:nvSpPr>
            <p:spPr>
              <a:xfrm>
                <a:off x="8634241" y="2275179"/>
                <a:ext cx="634789" cy="461665"/>
              </a:xfrm>
              <a:prstGeom prst="rect">
                <a:avLst/>
              </a:prstGeom>
              <a:blipFill>
                <a:blip r:embed="rId6"/>
                <a:stretch>
                  <a:fillRect l="-25490" t="-124324" r="-49020" b="-194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C3A3B7CC-AE00-7C45-B66D-5F66E37C7178}"/>
                  </a:ext>
                </a:extLst>
              </p:cNvPr>
              <p:cNvSpPr/>
              <p:nvPr/>
            </p:nvSpPr>
            <p:spPr>
              <a:xfrm>
                <a:off x="4825223" y="4106045"/>
                <a:ext cx="343767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𝑂</m:t>
                      </m:r>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m:t>
                          </m:r>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𝑦</m:t>
                          </m:r>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m:t>
                          </m:r>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𝑦</m:t>
                          </m:r>
                          <m:r>
                            <a:rPr lang="en-US" sz="2400">
                              <a:latin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e>
                      </m:d>
                    </m:oMath>
                  </m:oMathPara>
                </a14:m>
                <a:endParaRPr lang="en-US" sz="2400" dirty="0"/>
              </a:p>
            </p:txBody>
          </p:sp>
        </mc:Choice>
        <mc:Fallback xmlns="">
          <p:sp>
            <p:nvSpPr>
              <p:cNvPr id="21" name="Rectangle 20">
                <a:extLst>
                  <a:ext uri="{FF2B5EF4-FFF2-40B4-BE49-F238E27FC236}">
                    <a16:creationId xmlns:a16="http://schemas.microsoft.com/office/drawing/2014/main" id="{C3A3B7CC-AE00-7C45-B66D-5F66E37C7178}"/>
                  </a:ext>
                </a:extLst>
              </p:cNvPr>
              <p:cNvSpPr>
                <a:spLocks noRot="1" noChangeAspect="1" noMove="1" noResize="1" noEditPoints="1" noAdjustHandles="1" noChangeArrowheads="1" noChangeShapeType="1" noTextEdit="1"/>
              </p:cNvSpPr>
              <p:nvPr/>
            </p:nvSpPr>
            <p:spPr>
              <a:xfrm>
                <a:off x="4825223" y="4106045"/>
                <a:ext cx="3437671" cy="461665"/>
              </a:xfrm>
              <a:prstGeom prst="rect">
                <a:avLst/>
              </a:prstGeom>
              <a:blipFill>
                <a:blip r:embed="rId7"/>
                <a:stretch>
                  <a:fillRect b="-15789"/>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BE016234-5535-DD46-9749-B41DEA314E8F}"/>
              </a:ext>
            </a:extLst>
          </p:cNvPr>
          <p:cNvGrpSpPr/>
          <p:nvPr/>
        </p:nvGrpSpPr>
        <p:grpSpPr>
          <a:xfrm>
            <a:off x="1345418" y="4747588"/>
            <a:ext cx="5420586" cy="1843797"/>
            <a:chOff x="1345418" y="4747588"/>
            <a:chExt cx="5420586" cy="1843797"/>
          </a:xfrm>
        </p:grpSpPr>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9E29BA4-ABBB-304A-8480-54B41D938B08}"/>
                    </a:ext>
                  </a:extLst>
                </p:cNvPr>
                <p:cNvSpPr txBox="1"/>
                <p:nvPr/>
              </p:nvSpPr>
              <p:spPr>
                <a:xfrm>
                  <a:off x="1345418" y="4747588"/>
                  <a:ext cx="3345339" cy="523220"/>
                </a:xfrm>
                <a:prstGeom prst="rect">
                  <a:avLst/>
                </a:prstGeom>
                <a:solidFill>
                  <a:schemeClr val="accent4">
                    <a:lumMod val="20000"/>
                    <a:lumOff val="80000"/>
                  </a:schemeClr>
                </a:solidFill>
              </p:spPr>
              <p:txBody>
                <a:bodyPr wrap="none" rtlCol="0">
                  <a:spAutoFit/>
                </a:bodyPr>
                <a:lstStyle/>
                <a:p>
                  <a:r>
                    <a:rPr lang="en-US" sz="2800" dirty="0"/>
                    <a:t>Binary oracle: </a:t>
                  </a:r>
                  <a14:m>
                    <m:oMath xmlns:m="http://schemas.openxmlformats.org/officeDocument/2006/math">
                      <m:r>
                        <a:rPr lang="en-US" sz="2800" i="1">
                          <a:latin typeface="Cambria Math" panose="02040503050406030204" pitchFamily="18" charset="0"/>
                        </a:rPr>
                        <m:t>𝑦</m:t>
                      </m:r>
                    </m:oMath>
                  </a14:m>
                  <a:r>
                    <a:rPr lang="en-US" sz="2800" dirty="0"/>
                    <a:t>= </a:t>
                  </a:r>
                  <a14:m>
                    <m:oMath xmlns:m="http://schemas.openxmlformats.org/officeDocument/2006/math">
                      <m:d>
                        <m:dPr>
                          <m:begChr m:val="|"/>
                          <m:endChr m:val="⟩"/>
                          <m:ctrlPr>
                            <a:rPr lang="en-US" sz="2800" i="1">
                              <a:latin typeface="Cambria Math" panose="02040503050406030204" pitchFamily="18" charset="0"/>
                            </a:rPr>
                          </m:ctrlPr>
                        </m:dPr>
                        <m:e>
                          <m:r>
                            <a:rPr lang="sr-Latn-RS" sz="2800" i="1">
                              <a:latin typeface="Cambria Math" panose="02040503050406030204" pitchFamily="18" charset="0"/>
                            </a:rPr>
                            <m:t>0</m:t>
                          </m:r>
                        </m:e>
                      </m:d>
                      <m:r>
                        <a:rPr lang="sr-Latn-RS" sz="2800" i="1">
                          <a:latin typeface="Cambria Math" panose="02040503050406030204" pitchFamily="18" charset="0"/>
                        </a:rPr>
                        <m:t> </m:t>
                      </m:r>
                    </m:oMath>
                  </a14:m>
                  <a:r>
                    <a:rPr lang="en-US" sz="2800" dirty="0"/>
                    <a:t>:</a:t>
                  </a:r>
                </a:p>
              </p:txBody>
            </p:sp>
          </mc:Choice>
          <mc:Fallback xmlns="">
            <p:sp>
              <p:nvSpPr>
                <p:cNvPr id="22" name="TextBox 21">
                  <a:extLst>
                    <a:ext uri="{FF2B5EF4-FFF2-40B4-BE49-F238E27FC236}">
                      <a16:creationId xmlns:a16="http://schemas.microsoft.com/office/drawing/2014/main" id="{E9E29BA4-ABBB-304A-8480-54B41D938B08}"/>
                    </a:ext>
                  </a:extLst>
                </p:cNvPr>
                <p:cNvSpPr txBox="1">
                  <a:spLocks noRot="1" noChangeAspect="1" noMove="1" noResize="1" noEditPoints="1" noAdjustHandles="1" noChangeArrowheads="1" noChangeShapeType="1" noTextEdit="1"/>
                </p:cNvSpPr>
                <p:nvPr/>
              </p:nvSpPr>
              <p:spPr>
                <a:xfrm>
                  <a:off x="1345418" y="4747588"/>
                  <a:ext cx="3345339" cy="523220"/>
                </a:xfrm>
                <a:prstGeom prst="rect">
                  <a:avLst/>
                </a:prstGeom>
                <a:blipFill>
                  <a:blip r:embed="rId8"/>
                  <a:stretch>
                    <a:fillRect l="-3409" t="-11905" r="-2652"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1ED4EB45-593F-1540-837A-62D8656E4F24}"/>
                    </a:ext>
                  </a:extLst>
                </p:cNvPr>
                <p:cNvSpPr/>
                <p:nvPr/>
              </p:nvSpPr>
              <p:spPr>
                <a:xfrm>
                  <a:off x="1345418" y="5444293"/>
                  <a:ext cx="542058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0</m:t>
                            </m:r>
                          </m:e>
                        </m:d>
                        <m:r>
                          <a:rPr lang="en-US" sz="2800" i="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sr-Latn-RS" sz="2800" b="0" i="0" smtClean="0">
                                <a:latin typeface="Cambria Math" panose="02040503050406030204" pitchFamily="18" charset="0"/>
                              </a:rPr>
                              <m:t>0</m:t>
                            </m:r>
                            <m:r>
                              <a:rPr lang="en-US" sz="2800">
                                <a:latin typeface="Cambria Math" panose="02040503050406030204" pitchFamily="18" charset="0"/>
                              </a:rPr>
                              <m:t>⨁</m:t>
                            </m:r>
                            <m:r>
                              <a:rPr lang="en-US" sz="2800" i="1">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𝑥</m:t>
                                </m:r>
                              </m:e>
                            </m:d>
                          </m:e>
                        </m:d>
                        <m:r>
                          <a:rPr lang="sr-Latn-RS" sz="2800" b="0" i="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𝑓</m:t>
                            </m:r>
                            <m:d>
                              <m:dPr>
                                <m:ctrlPr>
                                  <a:rPr lang="en-US" sz="2800" i="1">
                                    <a:latin typeface="Cambria Math" panose="02040503050406030204" pitchFamily="18" charset="0"/>
                                  </a:rPr>
                                </m:ctrlPr>
                              </m:dPr>
                              <m:e>
                                <m:r>
                                  <a:rPr lang="en-US" sz="2800" i="1">
                                    <a:latin typeface="Cambria Math" panose="02040503050406030204" pitchFamily="18" charset="0"/>
                                  </a:rPr>
                                  <m:t>𝑥</m:t>
                                </m:r>
                              </m:e>
                            </m:d>
                          </m:e>
                        </m:d>
                      </m:oMath>
                    </m:oMathPara>
                  </a14:m>
                  <a:endParaRPr lang="en-US" sz="2800" dirty="0"/>
                </a:p>
              </p:txBody>
            </p:sp>
          </mc:Choice>
          <mc:Fallback xmlns="">
            <p:sp>
              <p:nvSpPr>
                <p:cNvPr id="24" name="Rectangle 23">
                  <a:extLst>
                    <a:ext uri="{FF2B5EF4-FFF2-40B4-BE49-F238E27FC236}">
                      <a16:creationId xmlns:a16="http://schemas.microsoft.com/office/drawing/2014/main" id="{1ED4EB45-593F-1540-837A-62D8656E4F24}"/>
                    </a:ext>
                  </a:extLst>
                </p:cNvPr>
                <p:cNvSpPr>
                  <a:spLocks noRot="1" noChangeAspect="1" noMove="1" noResize="1" noEditPoints="1" noAdjustHandles="1" noChangeArrowheads="1" noChangeShapeType="1" noTextEdit="1"/>
                </p:cNvSpPr>
                <p:nvPr/>
              </p:nvSpPr>
              <p:spPr>
                <a:xfrm>
                  <a:off x="1345418" y="5444293"/>
                  <a:ext cx="5420586" cy="523220"/>
                </a:xfrm>
                <a:prstGeom prst="rect">
                  <a:avLst/>
                </a:prstGeom>
                <a:blipFill>
                  <a:blip r:embed="rId9"/>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40072A01-C560-584B-B01D-39F710F1FF3B}"/>
                    </a:ext>
                  </a:extLst>
                </p:cNvPr>
                <p:cNvSpPr/>
                <p:nvPr/>
              </p:nvSpPr>
              <p:spPr>
                <a:xfrm>
                  <a:off x="1701990" y="6068165"/>
                  <a:ext cx="381386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ZA" sz="2800"/>
                          <m:t>provides</m:t>
                        </m:r>
                        <m:r>
                          <m:rPr>
                            <m:nor/>
                          </m:rPr>
                          <a:rPr lang="en-ZA" sz="2800"/>
                          <m:t> </m:t>
                        </m:r>
                        <m:r>
                          <m:rPr>
                            <m:nor/>
                          </m:rPr>
                          <a:rPr lang="en-ZA" sz="2800"/>
                          <m:t>function</m:t>
                        </m:r>
                        <m:r>
                          <m:rPr>
                            <m:nor/>
                          </m:rPr>
                          <a:rPr lang="en-ZA" sz="2800"/>
                          <m:t> </m:t>
                        </m:r>
                        <m:r>
                          <m:rPr>
                            <m:nor/>
                          </m:rPr>
                          <a:rPr lang="en-ZA" sz="2800"/>
                          <m:t>values</m:t>
                        </m:r>
                      </m:oMath>
                    </m:oMathPara>
                  </a14:m>
                  <a:endParaRPr lang="en-US" sz="2800" dirty="0"/>
                </a:p>
              </p:txBody>
            </p:sp>
          </mc:Choice>
          <mc:Fallback xmlns="">
            <p:sp>
              <p:nvSpPr>
                <p:cNvPr id="28" name="Rectangle 27">
                  <a:extLst>
                    <a:ext uri="{FF2B5EF4-FFF2-40B4-BE49-F238E27FC236}">
                      <a16:creationId xmlns:a16="http://schemas.microsoft.com/office/drawing/2014/main" id="{40072A01-C560-584B-B01D-39F710F1FF3B}"/>
                    </a:ext>
                  </a:extLst>
                </p:cNvPr>
                <p:cNvSpPr>
                  <a:spLocks noRot="1" noChangeAspect="1" noMove="1" noResize="1" noEditPoints="1" noAdjustHandles="1" noChangeArrowheads="1" noChangeShapeType="1" noTextEdit="1"/>
                </p:cNvSpPr>
                <p:nvPr/>
              </p:nvSpPr>
              <p:spPr>
                <a:xfrm>
                  <a:off x="1701990" y="6068165"/>
                  <a:ext cx="3813865" cy="523220"/>
                </a:xfrm>
                <a:prstGeom prst="rect">
                  <a:avLst/>
                </a:prstGeom>
                <a:blipFill>
                  <a:blip r:embed="rId10"/>
                  <a:stretch>
                    <a:fillRect t="-9524" b="-21429"/>
                  </a:stretch>
                </a:blipFill>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A2BF4789-75D7-EB4C-8DDE-CBA34E85DAC9}"/>
              </a:ext>
            </a:extLst>
          </p:cNvPr>
          <p:cNvGrpSpPr/>
          <p:nvPr/>
        </p:nvGrpSpPr>
        <p:grpSpPr>
          <a:xfrm>
            <a:off x="7505529" y="4747588"/>
            <a:ext cx="4011226" cy="1843797"/>
            <a:chOff x="7505529" y="4747588"/>
            <a:chExt cx="4011226" cy="1843797"/>
          </a:xfrm>
        </p:grpSpPr>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7689450-8665-6E43-96FC-118806A49AB9}"/>
                    </a:ext>
                  </a:extLst>
                </p:cNvPr>
                <p:cNvSpPr txBox="1"/>
                <p:nvPr/>
              </p:nvSpPr>
              <p:spPr>
                <a:xfrm>
                  <a:off x="7505529" y="4747588"/>
                  <a:ext cx="3353226" cy="523220"/>
                </a:xfrm>
                <a:prstGeom prst="rect">
                  <a:avLst/>
                </a:prstGeom>
                <a:solidFill>
                  <a:schemeClr val="accent4">
                    <a:lumMod val="20000"/>
                    <a:lumOff val="80000"/>
                  </a:schemeClr>
                </a:solidFill>
              </p:spPr>
              <p:txBody>
                <a:bodyPr wrap="none" rtlCol="0">
                  <a:spAutoFit/>
                </a:bodyPr>
                <a:lstStyle/>
                <a:p>
                  <a:r>
                    <a:rPr lang="en-US" sz="2800" dirty="0"/>
                    <a:t>Phase oracle: </a:t>
                  </a:r>
                  <a14:m>
                    <m:oMath xmlns:m="http://schemas.openxmlformats.org/officeDocument/2006/math">
                      <m:r>
                        <a:rPr lang="en-US" sz="2800" i="1">
                          <a:latin typeface="Cambria Math" panose="02040503050406030204" pitchFamily="18" charset="0"/>
                        </a:rPr>
                        <m:t>𝑦</m:t>
                      </m:r>
                    </m:oMath>
                  </a14:m>
                  <a:r>
                    <a:rPr lang="en-US" sz="2800" dirty="0"/>
                    <a:t>= </a:t>
                  </a:r>
                  <a14:m>
                    <m:oMath xmlns:m="http://schemas.openxmlformats.org/officeDocument/2006/math">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m:t>
                          </m:r>
                        </m:e>
                      </m:d>
                      <m:r>
                        <a:rPr lang="sr-Latn-RS" sz="2800" i="1">
                          <a:latin typeface="Cambria Math" panose="02040503050406030204" pitchFamily="18" charset="0"/>
                        </a:rPr>
                        <m:t> </m:t>
                      </m:r>
                    </m:oMath>
                  </a14:m>
                  <a:r>
                    <a:rPr lang="en-US" sz="2800" dirty="0"/>
                    <a:t>:</a:t>
                  </a:r>
                </a:p>
              </p:txBody>
            </p:sp>
          </mc:Choice>
          <mc:Fallback xmlns="">
            <p:sp>
              <p:nvSpPr>
                <p:cNvPr id="25" name="TextBox 24">
                  <a:extLst>
                    <a:ext uri="{FF2B5EF4-FFF2-40B4-BE49-F238E27FC236}">
                      <a16:creationId xmlns:a16="http://schemas.microsoft.com/office/drawing/2014/main" id="{17689450-8665-6E43-96FC-118806A49AB9}"/>
                    </a:ext>
                  </a:extLst>
                </p:cNvPr>
                <p:cNvSpPr txBox="1">
                  <a:spLocks noRot="1" noChangeAspect="1" noMove="1" noResize="1" noEditPoints="1" noAdjustHandles="1" noChangeArrowheads="1" noChangeShapeType="1" noTextEdit="1"/>
                </p:cNvSpPr>
                <p:nvPr/>
              </p:nvSpPr>
              <p:spPr>
                <a:xfrm>
                  <a:off x="7505529" y="4747588"/>
                  <a:ext cx="3353226" cy="523220"/>
                </a:xfrm>
                <a:prstGeom prst="rect">
                  <a:avLst/>
                </a:prstGeom>
                <a:blipFill>
                  <a:blip r:embed="rId11"/>
                  <a:stretch>
                    <a:fillRect l="-3774" t="-11905" r="-2642"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B98E5439-F9BF-AA4F-BD4D-17CC55764EC6}"/>
                    </a:ext>
                  </a:extLst>
                </p:cNvPr>
                <p:cNvSpPr/>
                <p:nvPr/>
              </p:nvSpPr>
              <p:spPr>
                <a:xfrm>
                  <a:off x="7505529" y="5426403"/>
                  <a:ext cx="4011226" cy="541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m:t>
                            </m:r>
                          </m:e>
                        </m:d>
                        <m:r>
                          <a:rPr lang="en-US" sz="2800" i="0">
                            <a:latin typeface="Cambria Math" panose="02040503050406030204" pitchFamily="18" charset="0"/>
                          </a:rPr>
                          <m:t>→</m:t>
                        </m:r>
                        <m:sSup>
                          <m:sSupPr>
                            <m:ctrlPr>
                              <a:rPr lang="en-US" sz="2800" i="1" smtClean="0">
                                <a:latin typeface="Cambria Math" panose="02040503050406030204" pitchFamily="18" charset="0"/>
                              </a:rPr>
                            </m:ctrlPr>
                          </m:sSupPr>
                          <m:e>
                            <m:r>
                              <a:rPr lang="sr-Latn-RS" sz="2800" b="0" i="1" smtClean="0">
                                <a:latin typeface="Cambria Math" panose="02040503050406030204" pitchFamily="18" charset="0"/>
                              </a:rPr>
                              <m:t>(−1)</m:t>
                            </m:r>
                          </m:e>
                          <m:sup>
                            <m:r>
                              <a:rPr lang="sr-Latn-RS" sz="2800" b="0" i="1" smtClean="0">
                                <a:latin typeface="Cambria Math" panose="02040503050406030204" pitchFamily="18" charset="0"/>
                              </a:rPr>
                              <m:t>𝑓</m:t>
                            </m:r>
                            <m:r>
                              <a:rPr lang="sr-Latn-RS" sz="2800" b="0" i="1" smtClean="0">
                                <a:latin typeface="Cambria Math" panose="02040503050406030204" pitchFamily="18" charset="0"/>
                              </a:rPr>
                              <m:t>(</m:t>
                            </m:r>
                            <m:r>
                              <a:rPr lang="sr-Latn-RS" sz="2800" b="0" i="1" smtClean="0">
                                <a:latin typeface="Cambria Math" panose="02040503050406030204" pitchFamily="18" charset="0"/>
                              </a:rPr>
                              <m:t>𝑥</m:t>
                            </m:r>
                            <m:r>
                              <a:rPr lang="sr-Latn-RS" sz="2800" b="0" i="1" smtClean="0">
                                <a:latin typeface="Cambria Math" panose="02040503050406030204" pitchFamily="18" charset="0"/>
                              </a:rPr>
                              <m:t>)</m:t>
                            </m:r>
                          </m:sup>
                        </m:sSup>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d>
                          <m:dPr>
                            <m:begChr m:val="|"/>
                            <m:endChr m:val="⟩"/>
                            <m:ctrlPr>
                              <a:rPr lang="en-US" sz="2800" i="1">
                                <a:latin typeface="Cambria Math" panose="02040503050406030204" pitchFamily="18" charset="0"/>
                              </a:rPr>
                            </m:ctrlPr>
                          </m:dPr>
                          <m:e>
                            <m:r>
                              <a:rPr lang="sr-Latn-RS" sz="2800" b="0" i="1" smtClean="0">
                                <a:latin typeface="Cambria Math" panose="02040503050406030204" pitchFamily="18" charset="0"/>
                              </a:rPr>
                              <m:t>−</m:t>
                            </m:r>
                          </m:e>
                        </m:d>
                      </m:oMath>
                    </m:oMathPara>
                  </a14:m>
                  <a:endParaRPr lang="en-US" sz="2800" dirty="0"/>
                </a:p>
              </p:txBody>
            </p:sp>
          </mc:Choice>
          <mc:Fallback xmlns="">
            <p:sp>
              <p:nvSpPr>
                <p:cNvPr id="26" name="Rectangle 25">
                  <a:extLst>
                    <a:ext uri="{FF2B5EF4-FFF2-40B4-BE49-F238E27FC236}">
                      <a16:creationId xmlns:a16="http://schemas.microsoft.com/office/drawing/2014/main" id="{B98E5439-F9BF-AA4F-BD4D-17CC55764EC6}"/>
                    </a:ext>
                  </a:extLst>
                </p:cNvPr>
                <p:cNvSpPr>
                  <a:spLocks noRot="1" noChangeAspect="1" noMove="1" noResize="1" noEditPoints="1" noAdjustHandles="1" noChangeArrowheads="1" noChangeShapeType="1" noTextEdit="1"/>
                </p:cNvSpPr>
                <p:nvPr/>
              </p:nvSpPr>
              <p:spPr>
                <a:xfrm>
                  <a:off x="7505529" y="5426403"/>
                  <a:ext cx="4011226" cy="541110"/>
                </a:xfrm>
                <a:prstGeom prst="rect">
                  <a:avLst/>
                </a:prstGeom>
                <a:blipFill>
                  <a:blip r:embed="rId12"/>
                  <a:stretch>
                    <a:fillRect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49B52108-A814-3242-A1A3-F693075C7F59}"/>
                    </a:ext>
                  </a:extLst>
                </p:cNvPr>
                <p:cNvSpPr/>
                <p:nvPr/>
              </p:nvSpPr>
              <p:spPr>
                <a:xfrm>
                  <a:off x="7905190" y="6068165"/>
                  <a:ext cx="255390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ZA" sz="2800"/>
                          <m:t>marks</m:t>
                        </m:r>
                        <m:r>
                          <m:rPr>
                            <m:nor/>
                          </m:rPr>
                          <a:rPr lang="en-ZA" sz="2800"/>
                          <m:t> </m:t>
                        </m:r>
                        <m:r>
                          <m:rPr>
                            <m:nor/>
                          </m:rPr>
                          <a:rPr lang="en-ZA" sz="2800"/>
                          <m:t>solutions</m:t>
                        </m:r>
                      </m:oMath>
                    </m:oMathPara>
                  </a14:m>
                  <a:endParaRPr lang="en-US" sz="2800" dirty="0"/>
                </a:p>
              </p:txBody>
            </p:sp>
          </mc:Choice>
          <mc:Fallback xmlns="">
            <p:sp>
              <p:nvSpPr>
                <p:cNvPr id="29" name="Rectangle 28">
                  <a:extLst>
                    <a:ext uri="{FF2B5EF4-FFF2-40B4-BE49-F238E27FC236}">
                      <a16:creationId xmlns:a16="http://schemas.microsoft.com/office/drawing/2014/main" id="{49B52108-A814-3242-A1A3-F693075C7F59}"/>
                    </a:ext>
                  </a:extLst>
                </p:cNvPr>
                <p:cNvSpPr>
                  <a:spLocks noRot="1" noChangeAspect="1" noMove="1" noResize="1" noEditPoints="1" noAdjustHandles="1" noChangeArrowheads="1" noChangeShapeType="1" noTextEdit="1"/>
                </p:cNvSpPr>
                <p:nvPr/>
              </p:nvSpPr>
              <p:spPr>
                <a:xfrm>
                  <a:off x="7905190" y="6068165"/>
                  <a:ext cx="2553904" cy="523220"/>
                </a:xfrm>
                <a:prstGeom prst="rect">
                  <a:avLst/>
                </a:prstGeom>
                <a:blipFill>
                  <a:blip r:embed="rId13"/>
                  <a:stretch>
                    <a:fillRect t="-9524" b="-2142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5354CE0-8F99-5A40-B34F-09A47B423E0C}"/>
                  </a:ext>
                </a:extLst>
              </p:cNvPr>
              <p:cNvSpPr/>
              <p:nvPr/>
            </p:nvSpPr>
            <p:spPr>
              <a:xfrm>
                <a:off x="5027841" y="1490871"/>
                <a:ext cx="28668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m:t>
                              </m:r>
                            </m:e>
                          </m:d>
                        </m:e>
                        <m:sup>
                          <m:r>
                            <a:rPr lang="en-US" sz="2400" i="1">
                              <a:latin typeface="Cambria Math" panose="02040503050406030204" pitchFamily="18" charset="0"/>
                            </a:rPr>
                            <m:t>𝑛</m:t>
                          </m:r>
                        </m:sup>
                      </m:sSup>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0,1</m:t>
                          </m:r>
                        </m:e>
                      </m:d>
                    </m:oMath>
                  </m:oMathPara>
                </a14:m>
                <a:endParaRPr lang="en-US" sz="2400" dirty="0"/>
              </a:p>
            </p:txBody>
          </p:sp>
        </mc:Choice>
        <mc:Fallback xmlns="">
          <p:sp>
            <p:nvSpPr>
              <p:cNvPr id="4" name="Rectangle 3">
                <a:extLst>
                  <a:ext uri="{FF2B5EF4-FFF2-40B4-BE49-F238E27FC236}">
                    <a16:creationId xmlns:a16="http://schemas.microsoft.com/office/drawing/2014/main" id="{B5354CE0-8F99-5A40-B34F-09A47B423E0C}"/>
                  </a:ext>
                </a:extLst>
              </p:cNvPr>
              <p:cNvSpPr>
                <a:spLocks noRot="1" noChangeAspect="1" noMove="1" noResize="1" noEditPoints="1" noAdjustHandles="1" noChangeArrowheads="1" noChangeShapeType="1" noTextEdit="1"/>
              </p:cNvSpPr>
              <p:nvPr/>
            </p:nvSpPr>
            <p:spPr>
              <a:xfrm>
                <a:off x="5027841" y="1490871"/>
                <a:ext cx="2866875" cy="461665"/>
              </a:xfrm>
              <a:prstGeom prst="rect">
                <a:avLst/>
              </a:prstGeom>
              <a:blipFill>
                <a:blip r:embed="rId14"/>
                <a:stretch>
                  <a:fillRect l="-442" b="-15789"/>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BB4380E9-E06B-974D-AED2-133E8710397B}"/>
              </a:ext>
            </a:extLst>
          </p:cNvPr>
          <p:cNvSpPr txBox="1"/>
          <p:nvPr/>
        </p:nvSpPr>
        <p:spPr>
          <a:xfrm>
            <a:off x="4259524" y="1761203"/>
            <a:ext cx="389850" cy="584775"/>
          </a:xfrm>
          <a:prstGeom prst="rect">
            <a:avLst/>
          </a:prstGeom>
          <a:noFill/>
        </p:spPr>
        <p:txBody>
          <a:bodyPr wrap="none" rtlCol="0">
            <a:spAutoFit/>
          </a:bodyPr>
          <a:lstStyle/>
          <a:p>
            <a:r>
              <a:rPr lang="en-US" sz="3200" i="1" dirty="0">
                <a:latin typeface="Times New Roman" panose="02020603050405020304" pitchFamily="18" charset="0"/>
                <a:cs typeface="Times New Roman" panose="02020603050405020304" pitchFamily="18" charset="0"/>
              </a:rPr>
              <a:t>n</a:t>
            </a:r>
            <a:endParaRPr lang="en-US" sz="3200" dirty="0">
              <a:latin typeface="Times New Roman" panose="02020603050405020304" pitchFamily="18" charset="0"/>
              <a:cs typeface="Times New Roman" panose="02020603050405020304" pitchFamily="18" charset="0"/>
            </a:endParaRPr>
          </a:p>
        </p:txBody>
      </p:sp>
      <p:cxnSp>
        <p:nvCxnSpPr>
          <p:cNvPr id="27" name="Straight Connector 26">
            <a:extLst>
              <a:ext uri="{FF2B5EF4-FFF2-40B4-BE49-F238E27FC236}">
                <a16:creationId xmlns:a16="http://schemas.microsoft.com/office/drawing/2014/main" id="{75705A46-CD11-C245-83FE-7ED51E91789C}"/>
              </a:ext>
            </a:extLst>
          </p:cNvPr>
          <p:cNvCxnSpPr>
            <a:cxnSpLocks/>
          </p:cNvCxnSpPr>
          <p:nvPr/>
        </p:nvCxnSpPr>
        <p:spPr>
          <a:xfrm flipV="1">
            <a:off x="4331085" y="2291084"/>
            <a:ext cx="232756" cy="329347"/>
          </a:xfrm>
          <a:prstGeom prst="line">
            <a:avLst/>
          </a:prstGeom>
          <a:ln w="50800" cap="rnd" cmpd="dbl"/>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CFC1A36-60EB-4B48-B71A-8242C5AE4A8D}"/>
              </a:ext>
            </a:extLst>
          </p:cNvPr>
          <p:cNvSpPr txBox="1"/>
          <p:nvPr/>
        </p:nvSpPr>
        <p:spPr>
          <a:xfrm>
            <a:off x="859257" y="3178652"/>
            <a:ext cx="2356351" cy="707886"/>
          </a:xfrm>
          <a:prstGeom prst="rect">
            <a:avLst/>
          </a:prstGeom>
          <a:noFill/>
        </p:spPr>
        <p:txBody>
          <a:bodyPr wrap="none" rtlCol="0">
            <a:spAutoFit/>
          </a:bodyPr>
          <a:lstStyle/>
          <a:p>
            <a:pPr algn="ctr"/>
            <a:r>
              <a:rPr lang="en-ZA" sz="2000" b="1" dirty="0">
                <a:latin typeface="+mj-lt"/>
              </a:rPr>
              <a:t>auxiliary (ancillary) </a:t>
            </a:r>
          </a:p>
          <a:p>
            <a:pPr algn="ctr"/>
            <a:r>
              <a:rPr lang="en-ZA" sz="2000" b="1" dirty="0">
                <a:latin typeface="+mj-lt"/>
              </a:rPr>
              <a:t>input/output register</a:t>
            </a:r>
            <a:endParaRPr lang="en-US" sz="2000" dirty="0">
              <a:latin typeface="+mj-lt"/>
            </a:endParaRPr>
          </a:p>
        </p:txBody>
      </p:sp>
      <p:sp>
        <p:nvSpPr>
          <p:cNvPr id="30" name="TextBox 29">
            <a:extLst>
              <a:ext uri="{FF2B5EF4-FFF2-40B4-BE49-F238E27FC236}">
                <a16:creationId xmlns:a16="http://schemas.microsoft.com/office/drawing/2014/main" id="{4A8874E0-4CBB-1A45-9F81-25C9E7B9516B}"/>
              </a:ext>
            </a:extLst>
          </p:cNvPr>
          <p:cNvSpPr txBox="1"/>
          <p:nvPr/>
        </p:nvSpPr>
        <p:spPr>
          <a:xfrm>
            <a:off x="859257" y="2264829"/>
            <a:ext cx="2356351" cy="400110"/>
          </a:xfrm>
          <a:prstGeom prst="rect">
            <a:avLst/>
          </a:prstGeom>
          <a:noFill/>
        </p:spPr>
        <p:txBody>
          <a:bodyPr wrap="none" rtlCol="0">
            <a:spAutoFit/>
          </a:bodyPr>
          <a:lstStyle/>
          <a:p>
            <a:r>
              <a:rPr lang="en-ZA" sz="2000" b="1" dirty="0">
                <a:latin typeface="+mj-lt"/>
              </a:rPr>
              <a:t>input/output register</a:t>
            </a:r>
            <a:endParaRPr lang="en-US" sz="2000" dirty="0">
              <a:latin typeface="+mj-lt"/>
            </a:endParaRPr>
          </a:p>
        </p:txBody>
      </p:sp>
    </p:spTree>
    <p:extLst>
      <p:ext uri="{BB962C8B-B14F-4D97-AF65-F5344CB8AC3E}">
        <p14:creationId xmlns:p14="http://schemas.microsoft.com/office/powerpoint/2010/main" val="108191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6E0ED3C-2AF9-1E48-84F4-67458E869F45}"/>
                  </a:ext>
                </a:extLst>
              </p:cNvPr>
              <p:cNvSpPr/>
              <p:nvPr/>
            </p:nvSpPr>
            <p:spPr>
              <a:xfrm>
                <a:off x="2672111" y="1242059"/>
                <a:ext cx="2785058" cy="7455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002060"/>
                          </a:solidFill>
                          <a:latin typeface="Cambria Math" panose="02040503050406030204" pitchFamily="18" charset="0"/>
                          <a:ea typeface="Cambria Math" panose="02040503050406030204" pitchFamily="18" charset="0"/>
                        </a:rPr>
                        <m:t>𝐻</m:t>
                      </m:r>
                      <m:r>
                        <a:rPr lang="en-US" sz="20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0</m:t>
                          </m:r>
                        </m:e>
                      </m:d>
                      <m:r>
                        <a:rPr lang="en-US" sz="2000" i="1">
                          <a:solidFill>
                            <a:srgbClr val="002060"/>
                          </a:solidFill>
                          <a:latin typeface="Cambria Math" panose="02040503050406030204" pitchFamily="18" charset="0"/>
                          <a:ea typeface="Cambria Math" panose="02040503050406030204" pitchFamily="18" charset="0"/>
                        </a:rPr>
                        <m:t>=</m:t>
                      </m:r>
                      <m:f>
                        <m:fPr>
                          <m:ctrlPr>
                            <a:rPr lang="en-US" sz="20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|0</m:t>
                              </m:r>
                            </m:e>
                          </m:d>
                          <m:r>
                            <a:rPr lang="en-US" sz="2000" i="1">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2000" i="1">
                                  <a:solidFill>
                                    <a:srgbClr val="002060"/>
                                  </a:solidFill>
                                  <a:latin typeface="Cambria Math" panose="02040503050406030204" pitchFamily="18" charset="0"/>
                                  <a:ea typeface="Cambria Math" panose="02040503050406030204" pitchFamily="18" charset="0"/>
                                </a:rPr>
                              </m:ctrlPr>
                            </m:radPr>
                            <m:deg/>
                            <m:e>
                              <m:r>
                                <a:rPr lang="en-US" sz="2000" i="1">
                                  <a:solidFill>
                                    <a:srgbClr val="002060"/>
                                  </a:solidFill>
                                  <a:latin typeface="Cambria Math" panose="02040503050406030204" pitchFamily="18" charset="0"/>
                                  <a:ea typeface="Cambria Math" panose="02040503050406030204" pitchFamily="18" charset="0"/>
                                </a:rPr>
                                <m:t>2</m:t>
                              </m:r>
                            </m:e>
                          </m:rad>
                        </m:den>
                      </m:f>
                      <m:r>
                        <a:rPr lang="en-US" sz="20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m:t>
                          </m:r>
                          <m:r>
                            <a:rPr lang="en-US" sz="2000" b="0" i="1" smtClean="0">
                              <a:solidFill>
                                <a:srgbClr val="002060"/>
                              </a:solidFill>
                              <a:latin typeface="Cambria Math" panose="02040503050406030204" pitchFamily="18" charset="0"/>
                              <a:ea typeface="Cambria Math" panose="02040503050406030204" pitchFamily="18" charset="0"/>
                            </a:rPr>
                            <m:t>+</m:t>
                          </m:r>
                        </m:e>
                      </m:d>
                    </m:oMath>
                  </m:oMathPara>
                </a14:m>
                <a:endParaRPr lang="en-US" sz="2000" dirty="0"/>
              </a:p>
            </p:txBody>
          </p:sp>
        </mc:Choice>
        <mc:Fallback xmlns="">
          <p:sp>
            <p:nvSpPr>
              <p:cNvPr id="4" name="Rectangle 3">
                <a:extLst>
                  <a:ext uri="{FF2B5EF4-FFF2-40B4-BE49-F238E27FC236}">
                    <a16:creationId xmlns:a16="http://schemas.microsoft.com/office/drawing/2014/main" id="{96E0ED3C-2AF9-1E48-84F4-67458E869F45}"/>
                  </a:ext>
                </a:extLst>
              </p:cNvPr>
              <p:cNvSpPr>
                <a:spLocks noRot="1" noChangeAspect="1" noMove="1" noResize="1" noEditPoints="1" noAdjustHandles="1" noChangeArrowheads="1" noChangeShapeType="1" noTextEdit="1"/>
              </p:cNvSpPr>
              <p:nvPr/>
            </p:nvSpPr>
            <p:spPr>
              <a:xfrm>
                <a:off x="2672111" y="1242059"/>
                <a:ext cx="2785058" cy="745589"/>
              </a:xfrm>
              <a:prstGeom prst="rect">
                <a:avLst/>
              </a:prstGeom>
              <a:blipFill>
                <a:blip r:embed="rId3"/>
                <a:stretch>
                  <a:fillRect t="-63333" r="-8145" b="-71667"/>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AC121468-F0A2-2940-AECA-8084D3B9CEA9}"/>
              </a:ext>
            </a:extLst>
          </p:cNvPr>
          <p:cNvSpPr>
            <a:spLocks noGrp="1"/>
          </p:cNvSpPr>
          <p:nvPr>
            <p:ph type="title"/>
          </p:nvPr>
        </p:nvSpPr>
        <p:spPr/>
        <p:txBody>
          <a:bodyPr/>
          <a:lstStyle/>
          <a:p>
            <a:r>
              <a:rPr lang="en-ZA" dirty="0"/>
              <a:t>Recap: </a:t>
            </a:r>
            <a:r>
              <a:rPr lang="en-US" dirty="0"/>
              <a:t>Superposition</a:t>
            </a:r>
          </a:p>
        </p:txBody>
      </p:sp>
      <p:sp>
        <p:nvSpPr>
          <p:cNvPr id="3" name="Slide Number Placeholder 2">
            <a:extLst>
              <a:ext uri="{FF2B5EF4-FFF2-40B4-BE49-F238E27FC236}">
                <a16:creationId xmlns:a16="http://schemas.microsoft.com/office/drawing/2014/main" id="{86251094-C392-504A-BB6D-9B0B7E7415E9}"/>
              </a:ext>
            </a:extLst>
          </p:cNvPr>
          <p:cNvSpPr>
            <a:spLocks noGrp="1"/>
          </p:cNvSpPr>
          <p:nvPr>
            <p:ph type="sldNum" sz="quarter" idx="12"/>
          </p:nvPr>
        </p:nvSpPr>
        <p:spPr/>
        <p:txBody>
          <a:bodyPr/>
          <a:lstStyle/>
          <a:p>
            <a:fld id="{591A223C-FA10-BC46-A853-03BA373D023C}" type="slidenum">
              <a:rPr lang="en-US" smtClean="0"/>
              <a:t>5</a:t>
            </a:fld>
            <a:endParaRPr lang="en-US"/>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F5BDF59-F5E8-374D-965D-034193F338D1}"/>
                  </a:ext>
                </a:extLst>
              </p:cNvPr>
              <p:cNvSpPr/>
              <p:nvPr/>
            </p:nvSpPr>
            <p:spPr>
              <a:xfrm>
                <a:off x="205119" y="1371616"/>
                <a:ext cx="63639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r>
                            <a:rPr lang="sr-Latn-RS" sz="2400" b="0" i="1" smtClean="0">
                              <a:solidFill>
                                <a:srgbClr val="002060"/>
                              </a:solidFill>
                              <a:latin typeface="Cambria Math" panose="02040503050406030204" pitchFamily="18" charset="0"/>
                              <a:ea typeface="Cambria Math" panose="02040503050406030204" pitchFamily="18" charset="0"/>
                            </a:rPr>
                            <m:t>𝑞</m:t>
                          </m:r>
                        </m:e>
                      </m:d>
                    </m:oMath>
                  </m:oMathPara>
                </a14:m>
                <a:endParaRPr lang="en-US" sz="2400" dirty="0"/>
              </a:p>
            </p:txBody>
          </p:sp>
        </mc:Choice>
        <mc:Fallback xmlns="">
          <p:sp>
            <p:nvSpPr>
              <p:cNvPr id="9" name="Rectangle 8">
                <a:extLst>
                  <a:ext uri="{FF2B5EF4-FFF2-40B4-BE49-F238E27FC236}">
                    <a16:creationId xmlns:a16="http://schemas.microsoft.com/office/drawing/2014/main" id="{9F5BDF59-F5E8-374D-965D-034193F338D1}"/>
                  </a:ext>
                </a:extLst>
              </p:cNvPr>
              <p:cNvSpPr>
                <a:spLocks noRot="1" noChangeAspect="1" noMove="1" noResize="1" noEditPoints="1" noAdjustHandles="1" noChangeArrowheads="1" noChangeShapeType="1" noTextEdit="1"/>
              </p:cNvSpPr>
              <p:nvPr/>
            </p:nvSpPr>
            <p:spPr>
              <a:xfrm>
                <a:off x="205119" y="1371616"/>
                <a:ext cx="636392" cy="461665"/>
              </a:xfrm>
              <a:prstGeom prst="rect">
                <a:avLst/>
              </a:prstGeom>
              <a:blipFill>
                <a:blip r:embed="rId4"/>
                <a:stretch>
                  <a:fillRect l="-23529" t="-130556" r="-49020" b="-200000"/>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12D60914-F0A5-2A4E-A45A-02131444ED42}"/>
              </a:ext>
            </a:extLst>
          </p:cNvPr>
          <p:cNvGrpSpPr/>
          <p:nvPr/>
        </p:nvGrpSpPr>
        <p:grpSpPr>
          <a:xfrm>
            <a:off x="447512" y="1559715"/>
            <a:ext cx="1603550" cy="720000"/>
            <a:chOff x="9910446" y="5217879"/>
            <a:chExt cx="1603550" cy="720000"/>
          </a:xfrm>
        </p:grpSpPr>
        <p:cxnSp>
          <p:nvCxnSpPr>
            <p:cNvPr id="16" name="Straight Connector 15">
              <a:extLst>
                <a:ext uri="{FF2B5EF4-FFF2-40B4-BE49-F238E27FC236}">
                  <a16:creationId xmlns:a16="http://schemas.microsoft.com/office/drawing/2014/main" id="{7924E9FD-0738-7646-8452-0AF93AEEB8EA}"/>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37245C8-DD6B-0C4B-A006-3E3D9EAA876A}"/>
                </a:ext>
              </a:extLst>
            </p:cNvPr>
            <p:cNvSpPr/>
            <p:nvPr/>
          </p:nvSpPr>
          <p:spPr>
            <a:xfrm>
              <a:off x="10363873"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0AA1605C-1004-5D43-BAD5-A5265944B0F7}"/>
                  </a:ext>
                </a:extLst>
              </p:cNvPr>
              <p:cNvSpPr/>
              <p:nvPr/>
            </p:nvSpPr>
            <p:spPr>
              <a:xfrm>
                <a:off x="6018957" y="1346722"/>
                <a:ext cx="4634409" cy="95725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𝐻</m:t>
                      </m:r>
                      <m:r>
                        <a:rPr lang="en-US" sz="2000" i="1">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sr-Latn-RS" sz="2000" i="1">
                              <a:solidFill>
                                <a:srgbClr val="002060"/>
                              </a:solidFill>
                              <a:latin typeface="Cambria Math" panose="02040503050406030204" pitchFamily="18" charset="0"/>
                              <a:ea typeface="Cambria Math" panose="02040503050406030204" pitchFamily="18" charset="0"/>
                            </a:rPr>
                            <m:t>𝑞</m:t>
                          </m:r>
                        </m:e>
                      </m:d>
                      <m:r>
                        <a:rPr lang="en-US" sz="2000" i="1">
                          <a:solidFill>
                            <a:srgbClr val="002060"/>
                          </a:solidFill>
                          <a:latin typeface="Cambria Math" panose="02040503050406030204" pitchFamily="18" charset="0"/>
                          <a:ea typeface="Cambria Math" panose="02040503050406030204" pitchFamily="18" charset="0"/>
                        </a:rPr>
                        <m:t>=</m:t>
                      </m:r>
                      <m:f>
                        <m:fPr>
                          <m:ctrlPr>
                            <a:rPr lang="en-US" sz="2000" i="1">
                              <a:solidFill>
                                <a:srgbClr val="002060"/>
                              </a:solidFill>
                              <a:latin typeface="Cambria Math" panose="02040503050406030204" pitchFamily="18" charset="0"/>
                              <a:ea typeface="Cambria Math" panose="02040503050406030204" pitchFamily="18" charset="0"/>
                            </a:rPr>
                          </m:ctrlPr>
                        </m:fPr>
                        <m:num>
                          <m:r>
                            <a:rPr lang="en-US" sz="2000" i="1">
                              <a:solidFill>
                                <a:srgbClr val="002060"/>
                              </a:solidFill>
                              <a:latin typeface="Cambria Math" panose="02040503050406030204" pitchFamily="18" charset="0"/>
                              <a:ea typeface="Cambria Math" panose="02040503050406030204" pitchFamily="18" charset="0"/>
                            </a:rPr>
                            <m:t>1</m:t>
                          </m:r>
                        </m:num>
                        <m:den>
                          <m:rad>
                            <m:radPr>
                              <m:degHide m:val="on"/>
                              <m:ctrlPr>
                                <a:rPr lang="en-US" sz="2000" i="1">
                                  <a:solidFill>
                                    <a:srgbClr val="002060"/>
                                  </a:solidFill>
                                  <a:latin typeface="Cambria Math" panose="02040503050406030204" pitchFamily="18" charset="0"/>
                                  <a:ea typeface="Cambria Math" panose="02040503050406030204" pitchFamily="18" charset="0"/>
                                </a:rPr>
                              </m:ctrlPr>
                            </m:radPr>
                            <m:deg/>
                            <m:e>
                              <m:r>
                                <a:rPr lang="en-US" sz="2000" i="1">
                                  <a:solidFill>
                                    <a:srgbClr val="002060"/>
                                  </a:solidFill>
                                  <a:latin typeface="Cambria Math" panose="02040503050406030204" pitchFamily="18" charset="0"/>
                                  <a:ea typeface="Cambria Math" panose="02040503050406030204" pitchFamily="18" charset="0"/>
                                </a:rPr>
                                <m:t>2</m:t>
                              </m:r>
                            </m:e>
                          </m:rad>
                        </m:den>
                      </m:f>
                      <m:nary>
                        <m:naryPr>
                          <m:chr m:val="∑"/>
                          <m:ctrlPr>
                            <a:rPr lang="en-US" sz="2000" i="1">
                              <a:solidFill>
                                <a:srgbClr val="002060"/>
                              </a:solidFill>
                              <a:latin typeface="Cambria Math" panose="02040503050406030204" pitchFamily="18" charset="0"/>
                              <a:ea typeface="Cambria Math" panose="02040503050406030204" pitchFamily="18" charset="0"/>
                            </a:rPr>
                          </m:ctrlPr>
                        </m:naryPr>
                        <m:sub>
                          <m:r>
                            <m:rPr>
                              <m:brk m:alnAt="23"/>
                            </m:rPr>
                            <a:rPr lang="en-US" sz="2000" i="1">
                              <a:solidFill>
                                <a:srgbClr val="002060"/>
                              </a:solidFill>
                              <a:latin typeface="Cambria Math" panose="02040503050406030204" pitchFamily="18" charset="0"/>
                              <a:ea typeface="Cambria Math" panose="02040503050406030204" pitchFamily="18" charset="0"/>
                            </a:rPr>
                            <m:t>𝑘</m:t>
                          </m:r>
                          <m:r>
                            <a:rPr lang="en-US" sz="2000" i="1">
                              <a:solidFill>
                                <a:srgbClr val="002060"/>
                              </a:solidFill>
                              <a:latin typeface="Cambria Math" panose="02040503050406030204" pitchFamily="18" charset="0"/>
                              <a:ea typeface="Cambria Math" panose="02040503050406030204" pitchFamily="18" charset="0"/>
                            </a:rPr>
                            <m:t>=0</m:t>
                          </m:r>
                        </m:sub>
                        <m:sup>
                          <m:r>
                            <a:rPr lang="en-US" sz="2000" i="1">
                              <a:solidFill>
                                <a:srgbClr val="002060"/>
                              </a:solidFill>
                              <a:latin typeface="Cambria Math" panose="02040503050406030204" pitchFamily="18" charset="0"/>
                              <a:ea typeface="Cambria Math" panose="02040503050406030204" pitchFamily="18" charset="0"/>
                            </a:rPr>
                            <m:t>1</m:t>
                          </m:r>
                        </m:sup>
                        <m:e>
                          <m:sSup>
                            <m:sSupPr>
                              <m:ctrlPr>
                                <a:rPr lang="en-US" sz="2000" i="1">
                                  <a:solidFill>
                                    <a:srgbClr val="002060"/>
                                  </a:solidFill>
                                  <a:latin typeface="Cambria Math" panose="02040503050406030204" pitchFamily="18" charset="0"/>
                                  <a:ea typeface="Cambria Math" panose="02040503050406030204" pitchFamily="18" charset="0"/>
                                </a:rPr>
                              </m:ctrlPr>
                            </m:sSupPr>
                            <m:e>
                              <m:d>
                                <m:dPr>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−1</m:t>
                                  </m:r>
                                </m:e>
                              </m:d>
                            </m:e>
                            <m:sup>
                              <m:r>
                                <a:rPr lang="sr-Latn-RS" sz="2000" i="1">
                                  <a:solidFill>
                                    <a:srgbClr val="002060"/>
                                  </a:solidFill>
                                  <a:latin typeface="Cambria Math" panose="02040503050406030204" pitchFamily="18" charset="0"/>
                                  <a:ea typeface="Cambria Math" panose="02040503050406030204" pitchFamily="18" charset="0"/>
                                </a:rPr>
                                <m:t>𝑞</m:t>
                              </m:r>
                              <m:r>
                                <a:rPr lang="en-US" sz="2000" i="1">
                                  <a:solidFill>
                                    <a:srgbClr val="002060"/>
                                  </a:solidFill>
                                  <a:latin typeface="Cambria Math" panose="02040503050406030204" pitchFamily="18" charset="0"/>
                                  <a:ea typeface="Cambria Math" panose="02040503050406030204" pitchFamily="18" charset="0"/>
                                </a:rPr>
                                <m:t>𝑘</m:t>
                              </m:r>
                            </m:sup>
                          </m:sSup>
                          <m:r>
                            <a:rPr lang="en-US" sz="2000" i="1">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𝑘</m:t>
                              </m:r>
                            </m:e>
                          </m:d>
                          <m:r>
                            <m:rPr>
                              <m:nor/>
                            </m:rPr>
                            <a:rPr lang="en-US" sz="2000">
                              <a:solidFill>
                                <a:srgbClr val="002060"/>
                              </a:solidFill>
                              <a:latin typeface="Cambria Math" panose="02040503050406030204" pitchFamily="18" charset="0"/>
                              <a:ea typeface="Cambria Math" panose="02040503050406030204" pitchFamily="18" charset="0"/>
                            </a:rPr>
                            <m:t>,</m:t>
                          </m:r>
                          <m:r>
                            <m:rPr>
                              <m:nor/>
                            </m:rPr>
                            <a:rPr lang="en-US" sz="2000" dirty="0"/>
                            <m:t> </m:t>
                          </m:r>
                        </m:e>
                      </m:nary>
                      <m:r>
                        <a:rPr lang="en-US" sz="2000" i="1">
                          <a:solidFill>
                            <a:srgbClr val="002060"/>
                          </a:solidFill>
                          <a:latin typeface="Cambria Math" panose="02040503050406030204" pitchFamily="18" charset="0"/>
                          <a:ea typeface="Cambria Math" panose="02040503050406030204" pitchFamily="18" charset="0"/>
                        </a:rPr>
                        <m:t>   ∀</m:t>
                      </m:r>
                      <m:r>
                        <a:rPr lang="sr-Latn-RS" sz="2000" i="1">
                          <a:solidFill>
                            <a:srgbClr val="002060"/>
                          </a:solidFill>
                          <a:latin typeface="Cambria Math" panose="02040503050406030204" pitchFamily="18" charset="0"/>
                          <a:ea typeface="Cambria Math" panose="02040503050406030204" pitchFamily="18" charset="0"/>
                        </a:rPr>
                        <m:t>𝑞</m:t>
                      </m:r>
                      <m:r>
                        <a:rPr lang="en-US" sz="2000" i="1">
                          <a:solidFill>
                            <a:srgbClr val="002060"/>
                          </a:solidFill>
                          <a:latin typeface="Cambria Math" panose="02040503050406030204" pitchFamily="18" charset="0"/>
                          <a:ea typeface="Cambria Math" panose="02040503050406030204" pitchFamily="18" charset="0"/>
                        </a:rPr>
                        <m:t>,</m:t>
                      </m:r>
                      <m:r>
                        <a:rPr lang="en-US" sz="2000" i="1">
                          <a:solidFill>
                            <a:srgbClr val="002060"/>
                          </a:solidFill>
                          <a:latin typeface="Cambria Math" panose="02040503050406030204" pitchFamily="18" charset="0"/>
                          <a:ea typeface="Cambria Math" panose="02040503050406030204" pitchFamily="18" charset="0"/>
                        </a:rPr>
                        <m:t>𝑘</m:t>
                      </m:r>
                      <m:r>
                        <a:rPr lang="en-US" sz="2000" i="1">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0,1</m:t>
                          </m:r>
                        </m:e>
                      </m:d>
                    </m:oMath>
                  </m:oMathPara>
                </a14:m>
                <a:endParaRPr lang="en-US" sz="2000" dirty="0"/>
              </a:p>
            </p:txBody>
          </p:sp>
        </mc:Choice>
        <mc:Fallback xmlns="">
          <p:sp>
            <p:nvSpPr>
              <p:cNvPr id="10" name="Rectangle 9">
                <a:extLst>
                  <a:ext uri="{FF2B5EF4-FFF2-40B4-BE49-F238E27FC236}">
                    <a16:creationId xmlns:a16="http://schemas.microsoft.com/office/drawing/2014/main" id="{0AA1605C-1004-5D43-BAD5-A5265944B0F7}"/>
                  </a:ext>
                </a:extLst>
              </p:cNvPr>
              <p:cNvSpPr>
                <a:spLocks noRot="1" noChangeAspect="1" noMove="1" noResize="1" noEditPoints="1" noAdjustHandles="1" noChangeArrowheads="1" noChangeShapeType="1" noTextEdit="1"/>
              </p:cNvSpPr>
              <p:nvPr/>
            </p:nvSpPr>
            <p:spPr>
              <a:xfrm>
                <a:off x="6018957" y="1346722"/>
                <a:ext cx="4634409" cy="957250"/>
              </a:xfrm>
              <a:prstGeom prst="rect">
                <a:avLst/>
              </a:prstGeom>
              <a:blipFill>
                <a:blip r:embed="rId5"/>
                <a:stretch>
                  <a:fillRect t="-97368" b="-153947"/>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A019EBF5-40E9-5642-9DA6-7C31CD416D06}"/>
              </a:ext>
            </a:extLst>
          </p:cNvPr>
          <p:cNvGrpSpPr/>
          <p:nvPr/>
        </p:nvGrpSpPr>
        <p:grpSpPr>
          <a:xfrm>
            <a:off x="175390" y="2799719"/>
            <a:ext cx="10700180" cy="2243497"/>
            <a:chOff x="175390" y="2799719"/>
            <a:chExt cx="10700180" cy="2243497"/>
          </a:xfrm>
        </p:grpSpPr>
        <p:sp>
          <p:nvSpPr>
            <p:cNvPr id="30" name="Right Brace 29">
              <a:extLst>
                <a:ext uri="{FF2B5EF4-FFF2-40B4-BE49-F238E27FC236}">
                  <a16:creationId xmlns:a16="http://schemas.microsoft.com/office/drawing/2014/main" id="{C97259A6-D2A8-DF47-A1F6-C689F0996A60}"/>
                </a:ext>
              </a:extLst>
            </p:cNvPr>
            <p:cNvSpPr/>
            <p:nvPr/>
          </p:nvSpPr>
          <p:spPr>
            <a:xfrm>
              <a:off x="2226926" y="3285058"/>
              <a:ext cx="472458" cy="1758158"/>
            </a:xfrm>
            <a:prstGeom prst="rightBrace">
              <a:avLst>
                <a:gd name="adj1" fmla="val 3342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2" name="Group 21">
              <a:extLst>
                <a:ext uri="{FF2B5EF4-FFF2-40B4-BE49-F238E27FC236}">
                  <a16:creationId xmlns:a16="http://schemas.microsoft.com/office/drawing/2014/main" id="{07BE65E4-5D1B-0C4A-AF47-C8EC6346F269}"/>
                </a:ext>
              </a:extLst>
            </p:cNvPr>
            <p:cNvGrpSpPr/>
            <p:nvPr/>
          </p:nvGrpSpPr>
          <p:grpSpPr>
            <a:xfrm>
              <a:off x="560182" y="3261739"/>
              <a:ext cx="1603550" cy="720000"/>
              <a:chOff x="9910446" y="5217879"/>
              <a:chExt cx="1603550" cy="720000"/>
            </a:xfrm>
          </p:grpSpPr>
          <p:cxnSp>
            <p:nvCxnSpPr>
              <p:cNvPr id="23" name="Straight Connector 22">
                <a:extLst>
                  <a:ext uri="{FF2B5EF4-FFF2-40B4-BE49-F238E27FC236}">
                    <a16:creationId xmlns:a16="http://schemas.microsoft.com/office/drawing/2014/main" id="{ECCF0E39-CB81-B34A-A1E9-3D69DB79A165}"/>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7B0806E-08A7-1544-929E-C23E15C91C84}"/>
                  </a:ext>
                </a:extLst>
              </p:cNvPr>
              <p:cNvSpPr/>
              <p:nvPr/>
            </p:nvSpPr>
            <p:spPr>
              <a:xfrm>
                <a:off x="10279465"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grpSp>
          <p:nvGrpSpPr>
            <p:cNvPr id="25" name="Group 24">
              <a:extLst>
                <a:ext uri="{FF2B5EF4-FFF2-40B4-BE49-F238E27FC236}">
                  <a16:creationId xmlns:a16="http://schemas.microsoft.com/office/drawing/2014/main" id="{E1000A47-5BD3-6645-B29F-86132EC9F5CD}"/>
                </a:ext>
              </a:extLst>
            </p:cNvPr>
            <p:cNvGrpSpPr/>
            <p:nvPr/>
          </p:nvGrpSpPr>
          <p:grpSpPr>
            <a:xfrm>
              <a:off x="577354" y="4299897"/>
              <a:ext cx="1603550" cy="720000"/>
              <a:chOff x="9910446" y="5217879"/>
              <a:chExt cx="1603550" cy="720000"/>
            </a:xfrm>
          </p:grpSpPr>
          <p:cxnSp>
            <p:nvCxnSpPr>
              <p:cNvPr id="26" name="Straight Connector 25">
                <a:extLst>
                  <a:ext uri="{FF2B5EF4-FFF2-40B4-BE49-F238E27FC236}">
                    <a16:creationId xmlns:a16="http://schemas.microsoft.com/office/drawing/2014/main" id="{A8CBE8C5-E956-144D-8CCB-B4FC3DE90C02}"/>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60A99893-D865-E341-A730-1982CAB98539}"/>
                  </a:ext>
                </a:extLst>
              </p:cNvPr>
              <p:cNvSpPr/>
              <p:nvPr/>
            </p:nvSpPr>
            <p:spPr>
              <a:xfrm>
                <a:off x="10265397"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3730CE09-2069-E848-A3DB-CBECD4388B3E}"/>
                    </a:ext>
                  </a:extLst>
                </p:cNvPr>
                <p:cNvSpPr/>
                <p:nvPr/>
              </p:nvSpPr>
              <p:spPr>
                <a:xfrm>
                  <a:off x="184300" y="3103195"/>
                  <a:ext cx="7565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1</m:t>
                                </m:r>
                              </m:sub>
                            </m:sSub>
                          </m:e>
                        </m:d>
                      </m:oMath>
                    </m:oMathPara>
                  </a14:m>
                  <a:endParaRPr lang="en-US" sz="2400" dirty="0"/>
                </a:p>
              </p:txBody>
            </p:sp>
          </mc:Choice>
          <mc:Fallback xmlns="">
            <p:sp>
              <p:nvSpPr>
                <p:cNvPr id="28" name="Rectangle 27">
                  <a:extLst>
                    <a:ext uri="{FF2B5EF4-FFF2-40B4-BE49-F238E27FC236}">
                      <a16:creationId xmlns:a16="http://schemas.microsoft.com/office/drawing/2014/main" id="{3730CE09-2069-E848-A3DB-CBECD4388B3E}"/>
                    </a:ext>
                  </a:extLst>
                </p:cNvPr>
                <p:cNvSpPr>
                  <a:spLocks noRot="1" noChangeAspect="1" noMove="1" noResize="1" noEditPoints="1" noAdjustHandles="1" noChangeArrowheads="1" noChangeShapeType="1" noTextEdit="1"/>
                </p:cNvSpPr>
                <p:nvPr/>
              </p:nvSpPr>
              <p:spPr>
                <a:xfrm>
                  <a:off x="184300" y="3103195"/>
                  <a:ext cx="756553" cy="461665"/>
                </a:xfrm>
                <a:prstGeom prst="rect">
                  <a:avLst/>
                </a:prstGeom>
                <a:blipFill>
                  <a:blip r:embed="rId6"/>
                  <a:stretch>
                    <a:fillRect l="-5000" t="-121053" r="-41667"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5F9F6496-81DE-5943-9EDB-69C421C45042}"/>
                    </a:ext>
                  </a:extLst>
                </p:cNvPr>
                <p:cNvSpPr/>
                <p:nvPr/>
              </p:nvSpPr>
              <p:spPr>
                <a:xfrm>
                  <a:off x="175390" y="4132929"/>
                  <a:ext cx="76367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2</m:t>
                                </m:r>
                              </m:sub>
                            </m:sSub>
                          </m:e>
                        </m:d>
                      </m:oMath>
                    </m:oMathPara>
                  </a14:m>
                  <a:endParaRPr lang="en-US" sz="2400" dirty="0"/>
                </a:p>
              </p:txBody>
            </p:sp>
          </mc:Choice>
          <mc:Fallback xmlns="">
            <p:sp>
              <p:nvSpPr>
                <p:cNvPr id="29" name="Rectangle 28">
                  <a:extLst>
                    <a:ext uri="{FF2B5EF4-FFF2-40B4-BE49-F238E27FC236}">
                      <a16:creationId xmlns:a16="http://schemas.microsoft.com/office/drawing/2014/main" id="{5F9F6496-81DE-5943-9EDB-69C421C45042}"/>
                    </a:ext>
                  </a:extLst>
                </p:cNvPr>
                <p:cNvSpPr>
                  <a:spLocks noRot="1" noChangeAspect="1" noMove="1" noResize="1" noEditPoints="1" noAdjustHandles="1" noChangeArrowheads="1" noChangeShapeType="1" noTextEdit="1"/>
                </p:cNvSpPr>
                <p:nvPr/>
              </p:nvSpPr>
              <p:spPr>
                <a:xfrm>
                  <a:off x="175390" y="4132929"/>
                  <a:ext cx="763671" cy="461665"/>
                </a:xfrm>
                <a:prstGeom prst="rect">
                  <a:avLst/>
                </a:prstGeom>
                <a:blipFill>
                  <a:blip r:embed="rId7"/>
                  <a:stretch>
                    <a:fillRect l="-3279" t="-121053" r="-40984"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EA6240F4-0D6F-8F4D-AFE2-DA3528DD5CA4}"/>
                    </a:ext>
                  </a:extLst>
                </p:cNvPr>
                <p:cNvSpPr/>
                <p:nvPr/>
              </p:nvSpPr>
              <p:spPr>
                <a:xfrm>
                  <a:off x="3271950" y="2799719"/>
                  <a:ext cx="7603620" cy="10831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002060"/>
                            </a:solidFill>
                            <a:latin typeface="Cambria Math" panose="02040503050406030204" pitchFamily="18" charset="0"/>
                            <a:ea typeface="Cambria Math" panose="02040503050406030204" pitchFamily="18" charset="0"/>
                          </a:rPr>
                          <m:t>𝐻</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sSub>
                                  <m:sSubPr>
                                    <m:ctrlPr>
                                      <a:rPr lang="en-US" sz="2000" i="1">
                                        <a:solidFill>
                                          <a:srgbClr val="002060"/>
                                        </a:solidFill>
                                        <a:latin typeface="Cambria Math" panose="02040503050406030204" pitchFamily="18" charset="0"/>
                                        <a:ea typeface="Cambria Math" panose="02040503050406030204" pitchFamily="18" charset="0"/>
                                      </a:rPr>
                                    </m:ctrlPr>
                                  </m:sSubPr>
                                  <m:e>
                                    <m:r>
                                      <a:rPr lang="sr-Latn-RS" sz="2000" b="0" i="1" smtClean="0">
                                        <a:solidFill>
                                          <a:srgbClr val="002060"/>
                                        </a:solidFill>
                                        <a:latin typeface="Cambria Math" panose="02040503050406030204" pitchFamily="18" charset="0"/>
                                        <a:ea typeface="Cambria Math" panose="02040503050406030204" pitchFamily="18" charset="0"/>
                                      </a:rPr>
                                      <m:t>𝑞</m:t>
                                    </m:r>
                                  </m:e>
                                  <m:sub>
                                    <m:r>
                                      <a:rPr lang="en-US" sz="2000" i="1">
                                        <a:solidFill>
                                          <a:srgbClr val="002060"/>
                                        </a:solidFill>
                                        <a:latin typeface="Cambria Math" panose="02040503050406030204" pitchFamily="18" charset="0"/>
                                        <a:ea typeface="Cambria Math" panose="02040503050406030204" pitchFamily="18" charset="0"/>
                                      </a:rPr>
                                      <m:t>1</m:t>
                                    </m:r>
                                  </m:sub>
                                </m:sSub>
                              </m:e>
                            </m:d>
                            <m:r>
                              <a:rPr lang="en-US" sz="2000" i="1" smtClean="0">
                                <a:solidFill>
                                  <a:srgbClr val="002060"/>
                                </a:solidFill>
                                <a:latin typeface="Cambria Math" panose="02040503050406030204" pitchFamily="18" charset="0"/>
                                <a:ea typeface="Cambria Math" panose="02040503050406030204" pitchFamily="18" charset="0"/>
                              </a:rPr>
                              <m:t>⨂</m:t>
                            </m:r>
                            <m:r>
                              <a:rPr lang="en-US" sz="2000" i="1">
                                <a:solidFill>
                                  <a:srgbClr val="002060"/>
                                </a:solidFill>
                                <a:latin typeface="Cambria Math" panose="02040503050406030204" pitchFamily="18" charset="0"/>
                                <a:ea typeface="Cambria Math" panose="02040503050406030204" pitchFamily="18" charset="0"/>
                              </a:rPr>
                              <m:t>𝐻</m:t>
                            </m:r>
                          </m:e>
                        </m:d>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sSub>
                              <m:sSubPr>
                                <m:ctrlPr>
                                  <a:rPr lang="en-US" sz="2000" i="1">
                                    <a:solidFill>
                                      <a:srgbClr val="002060"/>
                                    </a:solidFill>
                                    <a:latin typeface="Cambria Math" panose="02040503050406030204" pitchFamily="18" charset="0"/>
                                    <a:ea typeface="Cambria Math" panose="02040503050406030204" pitchFamily="18" charset="0"/>
                                  </a:rPr>
                                </m:ctrlPr>
                              </m:sSubPr>
                              <m:e>
                                <m:r>
                                  <a:rPr lang="sr-Latn-RS" sz="2000" b="0" i="1" smtClean="0">
                                    <a:solidFill>
                                      <a:srgbClr val="002060"/>
                                    </a:solidFill>
                                    <a:latin typeface="Cambria Math" panose="02040503050406030204" pitchFamily="18" charset="0"/>
                                    <a:ea typeface="Cambria Math" panose="02040503050406030204" pitchFamily="18" charset="0"/>
                                  </a:rPr>
                                  <m:t>𝑞</m:t>
                                </m:r>
                              </m:e>
                              <m:sub>
                                <m:r>
                                  <a:rPr lang="en-US" sz="2000" b="0" i="1" smtClean="0">
                                    <a:solidFill>
                                      <a:srgbClr val="002060"/>
                                    </a:solidFill>
                                    <a:latin typeface="Cambria Math" panose="02040503050406030204" pitchFamily="18" charset="0"/>
                                    <a:ea typeface="Cambria Math" panose="02040503050406030204" pitchFamily="18" charset="0"/>
                                  </a:rPr>
                                  <m:t>2</m:t>
                                </m:r>
                              </m:sub>
                            </m:sSub>
                          </m:e>
                        </m:d>
                        <m:r>
                          <a:rPr lang="en-US" sz="2000" b="0" i="1" smtClean="0">
                            <a:solidFill>
                              <a:srgbClr val="002060"/>
                            </a:solidFill>
                            <a:latin typeface="Cambria Math" panose="02040503050406030204" pitchFamily="18" charset="0"/>
                            <a:ea typeface="Cambria Math" panose="02040503050406030204" pitchFamily="18" charset="0"/>
                          </a:rPr>
                          <m:t>=</m:t>
                        </m:r>
                        <m:d>
                          <m:dPr>
                            <m:ctrlPr>
                              <a:rPr lang="en-US" sz="2000" b="0" i="1" smtClean="0">
                                <a:solidFill>
                                  <a:srgbClr val="002060"/>
                                </a:solidFill>
                                <a:latin typeface="Cambria Math" panose="02040503050406030204" pitchFamily="18" charset="0"/>
                                <a:ea typeface="Cambria Math" panose="02040503050406030204" pitchFamily="18" charset="0"/>
                              </a:rPr>
                            </m:ctrlPr>
                          </m:dPr>
                          <m:e>
                            <m:f>
                              <m:fPr>
                                <m:ctrlPr>
                                  <a:rPr lang="en-US" sz="2000" i="1">
                                    <a:solidFill>
                                      <a:srgbClr val="002060"/>
                                    </a:solidFill>
                                    <a:latin typeface="Cambria Math" panose="02040503050406030204" pitchFamily="18" charset="0"/>
                                    <a:ea typeface="Cambria Math" panose="02040503050406030204" pitchFamily="18" charset="0"/>
                                  </a:rPr>
                                </m:ctrlPr>
                              </m:fPr>
                              <m:num>
                                <m:r>
                                  <a:rPr lang="en-US" sz="2000" i="1">
                                    <a:solidFill>
                                      <a:srgbClr val="002060"/>
                                    </a:solidFill>
                                    <a:latin typeface="Cambria Math" panose="02040503050406030204" pitchFamily="18" charset="0"/>
                                    <a:ea typeface="Cambria Math" panose="02040503050406030204" pitchFamily="18" charset="0"/>
                                  </a:rPr>
                                  <m:t>1</m:t>
                                </m:r>
                              </m:num>
                              <m:den>
                                <m:rad>
                                  <m:radPr>
                                    <m:degHide m:val="on"/>
                                    <m:ctrlPr>
                                      <a:rPr lang="en-US" sz="2000" i="1">
                                        <a:solidFill>
                                          <a:srgbClr val="002060"/>
                                        </a:solidFill>
                                        <a:latin typeface="Cambria Math" panose="02040503050406030204" pitchFamily="18" charset="0"/>
                                        <a:ea typeface="Cambria Math" panose="02040503050406030204" pitchFamily="18" charset="0"/>
                                      </a:rPr>
                                    </m:ctrlPr>
                                  </m:radPr>
                                  <m:deg/>
                                  <m:e>
                                    <m:r>
                                      <a:rPr lang="en-US" sz="2000" i="1">
                                        <a:solidFill>
                                          <a:srgbClr val="002060"/>
                                        </a:solidFill>
                                        <a:latin typeface="Cambria Math" panose="02040503050406030204" pitchFamily="18" charset="0"/>
                                        <a:ea typeface="Cambria Math" panose="02040503050406030204" pitchFamily="18" charset="0"/>
                                      </a:rPr>
                                      <m:t>2</m:t>
                                    </m:r>
                                  </m:e>
                                </m:rad>
                              </m:den>
                            </m:f>
                            <m:nary>
                              <m:naryPr>
                                <m:chr m:val="∑"/>
                                <m:ctrlPr>
                                  <a:rPr lang="en-US" sz="2000" i="1">
                                    <a:solidFill>
                                      <a:srgbClr val="002060"/>
                                    </a:solidFill>
                                    <a:latin typeface="Cambria Math" panose="02040503050406030204" pitchFamily="18" charset="0"/>
                                    <a:ea typeface="Cambria Math" panose="02040503050406030204" pitchFamily="18" charset="0"/>
                                  </a:rPr>
                                </m:ctrlPr>
                              </m:naryPr>
                              <m:sub>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b="0" i="1" smtClean="0">
                                        <a:solidFill>
                                          <a:srgbClr val="002060"/>
                                        </a:solidFill>
                                        <a:latin typeface="Cambria Math" panose="02040503050406030204" pitchFamily="18" charset="0"/>
                                        <a:ea typeface="Cambria Math" panose="02040503050406030204" pitchFamily="18" charset="0"/>
                                      </a:rPr>
                                      <m:t>𝑘</m:t>
                                    </m:r>
                                  </m:e>
                                  <m:sub>
                                    <m:r>
                                      <a:rPr lang="en-US" sz="2000" i="1">
                                        <a:solidFill>
                                          <a:srgbClr val="002060"/>
                                        </a:solidFill>
                                        <a:latin typeface="Cambria Math" panose="02040503050406030204" pitchFamily="18" charset="0"/>
                                        <a:ea typeface="Cambria Math" panose="02040503050406030204" pitchFamily="18" charset="0"/>
                                      </a:rPr>
                                      <m:t>1</m:t>
                                    </m:r>
                                  </m:sub>
                                </m:sSub>
                                <m:r>
                                  <a:rPr lang="en-US" sz="2000" i="1">
                                    <a:solidFill>
                                      <a:srgbClr val="002060"/>
                                    </a:solidFill>
                                    <a:latin typeface="Cambria Math" panose="02040503050406030204" pitchFamily="18" charset="0"/>
                                    <a:ea typeface="Cambria Math" panose="02040503050406030204" pitchFamily="18" charset="0"/>
                                  </a:rPr>
                                  <m:t>=0</m:t>
                                </m:r>
                              </m:sub>
                              <m:sup>
                                <m:r>
                                  <a:rPr lang="en-US" sz="2000" i="1">
                                    <a:solidFill>
                                      <a:srgbClr val="002060"/>
                                    </a:solidFill>
                                    <a:latin typeface="Cambria Math" panose="02040503050406030204" pitchFamily="18" charset="0"/>
                                    <a:ea typeface="Cambria Math" panose="02040503050406030204" pitchFamily="18" charset="0"/>
                                  </a:rPr>
                                  <m:t>1</m:t>
                                </m:r>
                              </m:sup>
                              <m:e>
                                <m:sSup>
                                  <m:sSupPr>
                                    <m:ctrlPr>
                                      <a:rPr lang="en-US" sz="2000" i="1">
                                        <a:solidFill>
                                          <a:srgbClr val="002060"/>
                                        </a:solidFill>
                                        <a:latin typeface="Cambria Math" panose="02040503050406030204" pitchFamily="18" charset="0"/>
                                        <a:ea typeface="Cambria Math" panose="02040503050406030204" pitchFamily="18" charset="0"/>
                                      </a:rPr>
                                    </m:ctrlPr>
                                  </m:sSupPr>
                                  <m:e>
                                    <m:d>
                                      <m:dPr>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−1</m:t>
                                        </m:r>
                                      </m:e>
                                    </m:d>
                                  </m:e>
                                  <m:sup>
                                    <m:sSub>
                                      <m:sSubPr>
                                        <m:ctrlPr>
                                          <a:rPr lang="en-US" sz="2000" i="1">
                                            <a:solidFill>
                                              <a:srgbClr val="002060"/>
                                            </a:solidFill>
                                            <a:latin typeface="Cambria Math" panose="02040503050406030204" pitchFamily="18" charset="0"/>
                                            <a:ea typeface="Cambria Math" panose="02040503050406030204" pitchFamily="18" charset="0"/>
                                          </a:rPr>
                                        </m:ctrlPr>
                                      </m:sSubPr>
                                      <m:e>
                                        <m:r>
                                          <a:rPr lang="sr-Latn-RS" sz="2000" b="0" i="1" smtClean="0">
                                            <a:solidFill>
                                              <a:srgbClr val="002060"/>
                                            </a:solidFill>
                                            <a:latin typeface="Cambria Math" panose="02040503050406030204" pitchFamily="18" charset="0"/>
                                            <a:ea typeface="Cambria Math" panose="02040503050406030204" pitchFamily="18" charset="0"/>
                                          </a:rPr>
                                          <m:t>𝑞</m:t>
                                        </m:r>
                                      </m:e>
                                      <m:sub>
                                        <m:r>
                                          <a:rPr lang="en-US" sz="2000" i="1">
                                            <a:solidFill>
                                              <a:srgbClr val="002060"/>
                                            </a:solidFill>
                                            <a:latin typeface="Cambria Math" panose="02040503050406030204" pitchFamily="18" charset="0"/>
                                            <a:ea typeface="Cambria Math" panose="02040503050406030204" pitchFamily="18" charset="0"/>
                                          </a:rPr>
                                          <m:t>1</m:t>
                                        </m:r>
                                      </m:sub>
                                    </m:sSub>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b="0" i="1" smtClean="0">
                                            <a:solidFill>
                                              <a:srgbClr val="002060"/>
                                            </a:solidFill>
                                            <a:latin typeface="Cambria Math" panose="02040503050406030204" pitchFamily="18" charset="0"/>
                                            <a:ea typeface="Cambria Math" panose="02040503050406030204" pitchFamily="18" charset="0"/>
                                          </a:rPr>
                                          <m:t>𝑘</m:t>
                                        </m:r>
                                      </m:e>
                                      <m:sub>
                                        <m:r>
                                          <a:rPr lang="en-US" sz="2000" i="1">
                                            <a:solidFill>
                                              <a:srgbClr val="002060"/>
                                            </a:solidFill>
                                            <a:latin typeface="Cambria Math" panose="02040503050406030204" pitchFamily="18" charset="0"/>
                                            <a:ea typeface="Cambria Math" panose="02040503050406030204" pitchFamily="18" charset="0"/>
                                          </a:rPr>
                                          <m:t>1</m:t>
                                        </m:r>
                                      </m:sub>
                                    </m:sSub>
                                  </m:sup>
                                </m:sSup>
                                <m:r>
                                  <a:rPr lang="en-US" sz="2000" i="1">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b="0" i="1" smtClean="0">
                                            <a:solidFill>
                                              <a:srgbClr val="002060"/>
                                            </a:solidFill>
                                            <a:latin typeface="Cambria Math" panose="02040503050406030204" pitchFamily="18" charset="0"/>
                                            <a:ea typeface="Cambria Math" panose="02040503050406030204" pitchFamily="18" charset="0"/>
                                          </a:rPr>
                                          <m:t>𝑘</m:t>
                                        </m:r>
                                      </m:e>
                                      <m:sub>
                                        <m:r>
                                          <a:rPr lang="en-US" sz="2000" i="1">
                                            <a:solidFill>
                                              <a:srgbClr val="002060"/>
                                            </a:solidFill>
                                            <a:latin typeface="Cambria Math" panose="02040503050406030204" pitchFamily="18" charset="0"/>
                                            <a:ea typeface="Cambria Math" panose="02040503050406030204" pitchFamily="18" charset="0"/>
                                          </a:rPr>
                                          <m:t>1</m:t>
                                        </m:r>
                                      </m:sub>
                                    </m:sSub>
                                  </m:e>
                                </m:d>
                                <m:r>
                                  <m:rPr>
                                    <m:nor/>
                                  </m:rPr>
                                  <a:rPr lang="en-US" sz="2000" dirty="0"/>
                                  <m:t> </m:t>
                                </m:r>
                              </m:e>
                            </m:nary>
                          </m:e>
                        </m:d>
                        <m:r>
                          <a:rPr lang="en-US" sz="2000" i="1">
                            <a:solidFill>
                              <a:srgbClr val="002060"/>
                            </a:solidFill>
                            <a:latin typeface="Cambria Math" panose="02040503050406030204" pitchFamily="18" charset="0"/>
                            <a:ea typeface="Cambria Math" panose="02040503050406030204" pitchFamily="18" charset="0"/>
                          </a:rPr>
                          <m:t>⨂</m:t>
                        </m:r>
                        <m:d>
                          <m:dPr>
                            <m:ctrlPr>
                              <a:rPr lang="en-US" sz="2000" i="1">
                                <a:solidFill>
                                  <a:srgbClr val="002060"/>
                                </a:solidFill>
                                <a:latin typeface="Cambria Math" panose="02040503050406030204" pitchFamily="18" charset="0"/>
                                <a:ea typeface="Cambria Math" panose="02040503050406030204" pitchFamily="18" charset="0"/>
                              </a:rPr>
                            </m:ctrlPr>
                          </m:dPr>
                          <m:e>
                            <m:f>
                              <m:fPr>
                                <m:ctrlPr>
                                  <a:rPr lang="en-US" sz="2000" i="1">
                                    <a:solidFill>
                                      <a:srgbClr val="002060"/>
                                    </a:solidFill>
                                    <a:latin typeface="Cambria Math" panose="02040503050406030204" pitchFamily="18" charset="0"/>
                                    <a:ea typeface="Cambria Math" panose="02040503050406030204" pitchFamily="18" charset="0"/>
                                  </a:rPr>
                                </m:ctrlPr>
                              </m:fPr>
                              <m:num>
                                <m:r>
                                  <a:rPr lang="en-US" sz="2000" i="1">
                                    <a:solidFill>
                                      <a:srgbClr val="002060"/>
                                    </a:solidFill>
                                    <a:latin typeface="Cambria Math" panose="02040503050406030204" pitchFamily="18" charset="0"/>
                                    <a:ea typeface="Cambria Math" panose="02040503050406030204" pitchFamily="18" charset="0"/>
                                  </a:rPr>
                                  <m:t>1</m:t>
                                </m:r>
                              </m:num>
                              <m:den>
                                <m:rad>
                                  <m:radPr>
                                    <m:degHide m:val="on"/>
                                    <m:ctrlPr>
                                      <a:rPr lang="en-US" sz="2000" i="1">
                                        <a:solidFill>
                                          <a:srgbClr val="002060"/>
                                        </a:solidFill>
                                        <a:latin typeface="Cambria Math" panose="02040503050406030204" pitchFamily="18" charset="0"/>
                                        <a:ea typeface="Cambria Math" panose="02040503050406030204" pitchFamily="18" charset="0"/>
                                      </a:rPr>
                                    </m:ctrlPr>
                                  </m:radPr>
                                  <m:deg/>
                                  <m:e>
                                    <m:r>
                                      <a:rPr lang="en-US" sz="2000" i="1">
                                        <a:solidFill>
                                          <a:srgbClr val="002060"/>
                                        </a:solidFill>
                                        <a:latin typeface="Cambria Math" panose="02040503050406030204" pitchFamily="18" charset="0"/>
                                        <a:ea typeface="Cambria Math" panose="02040503050406030204" pitchFamily="18" charset="0"/>
                                      </a:rPr>
                                      <m:t>2</m:t>
                                    </m:r>
                                  </m:e>
                                </m:rad>
                              </m:den>
                            </m:f>
                            <m:nary>
                              <m:naryPr>
                                <m:chr m:val="∑"/>
                                <m:ctrlPr>
                                  <a:rPr lang="en-US" sz="2000" i="1">
                                    <a:solidFill>
                                      <a:srgbClr val="002060"/>
                                    </a:solidFill>
                                    <a:latin typeface="Cambria Math" panose="02040503050406030204" pitchFamily="18" charset="0"/>
                                    <a:ea typeface="Cambria Math" panose="02040503050406030204" pitchFamily="18" charset="0"/>
                                  </a:rPr>
                                </m:ctrlPr>
                              </m:naryPr>
                              <m:sub>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b="0" i="1" smtClean="0">
                                        <a:solidFill>
                                          <a:srgbClr val="002060"/>
                                        </a:solidFill>
                                        <a:latin typeface="Cambria Math" panose="02040503050406030204" pitchFamily="18" charset="0"/>
                                        <a:ea typeface="Cambria Math" panose="02040503050406030204" pitchFamily="18" charset="0"/>
                                      </a:rPr>
                                      <m:t>𝑘</m:t>
                                    </m:r>
                                  </m:e>
                                  <m:sub>
                                    <m:r>
                                      <a:rPr lang="en-US" sz="2000" b="0" i="1" smtClean="0">
                                        <a:solidFill>
                                          <a:srgbClr val="002060"/>
                                        </a:solidFill>
                                        <a:latin typeface="Cambria Math" panose="02040503050406030204" pitchFamily="18" charset="0"/>
                                        <a:ea typeface="Cambria Math" panose="02040503050406030204" pitchFamily="18" charset="0"/>
                                      </a:rPr>
                                      <m:t>2</m:t>
                                    </m:r>
                                  </m:sub>
                                </m:sSub>
                                <m:r>
                                  <a:rPr lang="en-US" sz="2000" i="1">
                                    <a:solidFill>
                                      <a:srgbClr val="002060"/>
                                    </a:solidFill>
                                    <a:latin typeface="Cambria Math" panose="02040503050406030204" pitchFamily="18" charset="0"/>
                                    <a:ea typeface="Cambria Math" panose="02040503050406030204" pitchFamily="18" charset="0"/>
                                  </a:rPr>
                                  <m:t>=0</m:t>
                                </m:r>
                              </m:sub>
                              <m:sup>
                                <m:r>
                                  <a:rPr lang="en-US" sz="2000" i="1">
                                    <a:solidFill>
                                      <a:srgbClr val="002060"/>
                                    </a:solidFill>
                                    <a:latin typeface="Cambria Math" panose="02040503050406030204" pitchFamily="18" charset="0"/>
                                    <a:ea typeface="Cambria Math" panose="02040503050406030204" pitchFamily="18" charset="0"/>
                                  </a:rPr>
                                  <m:t>1</m:t>
                                </m:r>
                              </m:sup>
                              <m:e>
                                <m:sSup>
                                  <m:sSupPr>
                                    <m:ctrlPr>
                                      <a:rPr lang="en-US" sz="2000" i="1">
                                        <a:solidFill>
                                          <a:srgbClr val="002060"/>
                                        </a:solidFill>
                                        <a:latin typeface="Cambria Math" panose="02040503050406030204" pitchFamily="18" charset="0"/>
                                        <a:ea typeface="Cambria Math" panose="02040503050406030204" pitchFamily="18" charset="0"/>
                                      </a:rPr>
                                    </m:ctrlPr>
                                  </m:sSupPr>
                                  <m:e>
                                    <m:d>
                                      <m:dPr>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−1</m:t>
                                        </m:r>
                                      </m:e>
                                    </m:d>
                                  </m:e>
                                  <m:sup>
                                    <m:sSub>
                                      <m:sSubPr>
                                        <m:ctrlPr>
                                          <a:rPr lang="en-US" sz="2000" i="1">
                                            <a:solidFill>
                                              <a:srgbClr val="002060"/>
                                            </a:solidFill>
                                            <a:latin typeface="Cambria Math" panose="02040503050406030204" pitchFamily="18" charset="0"/>
                                            <a:ea typeface="Cambria Math" panose="02040503050406030204" pitchFamily="18" charset="0"/>
                                          </a:rPr>
                                        </m:ctrlPr>
                                      </m:sSubPr>
                                      <m:e>
                                        <m:r>
                                          <a:rPr lang="sr-Latn-RS" sz="2000" b="0" i="1" smtClean="0">
                                            <a:solidFill>
                                              <a:srgbClr val="002060"/>
                                            </a:solidFill>
                                            <a:latin typeface="Cambria Math" panose="02040503050406030204" pitchFamily="18" charset="0"/>
                                            <a:ea typeface="Cambria Math" panose="02040503050406030204" pitchFamily="18" charset="0"/>
                                          </a:rPr>
                                          <m:t>𝑞</m:t>
                                        </m:r>
                                      </m:e>
                                      <m:sub>
                                        <m:r>
                                          <a:rPr lang="en-US" sz="2000" b="0" i="1" smtClean="0">
                                            <a:solidFill>
                                              <a:srgbClr val="002060"/>
                                            </a:solidFill>
                                            <a:latin typeface="Cambria Math" panose="02040503050406030204" pitchFamily="18" charset="0"/>
                                            <a:ea typeface="Cambria Math" panose="02040503050406030204" pitchFamily="18" charset="0"/>
                                          </a:rPr>
                                          <m:t>2</m:t>
                                        </m:r>
                                      </m:sub>
                                    </m:sSub>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b="0" i="1" smtClean="0">
                                            <a:solidFill>
                                              <a:srgbClr val="002060"/>
                                            </a:solidFill>
                                            <a:latin typeface="Cambria Math" panose="02040503050406030204" pitchFamily="18" charset="0"/>
                                            <a:ea typeface="Cambria Math" panose="02040503050406030204" pitchFamily="18" charset="0"/>
                                          </a:rPr>
                                          <m:t>𝑘</m:t>
                                        </m:r>
                                      </m:e>
                                      <m:sub>
                                        <m:r>
                                          <a:rPr lang="en-US" sz="2000" b="0" i="1" smtClean="0">
                                            <a:solidFill>
                                              <a:srgbClr val="002060"/>
                                            </a:solidFill>
                                            <a:latin typeface="Cambria Math" panose="02040503050406030204" pitchFamily="18" charset="0"/>
                                            <a:ea typeface="Cambria Math" panose="02040503050406030204" pitchFamily="18" charset="0"/>
                                          </a:rPr>
                                          <m:t>2</m:t>
                                        </m:r>
                                      </m:sub>
                                    </m:sSub>
                                  </m:sup>
                                </m:sSup>
                                <m:r>
                                  <a:rPr lang="en-US" sz="2000" i="1">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b="0" i="1" smtClean="0">
                                            <a:solidFill>
                                              <a:srgbClr val="002060"/>
                                            </a:solidFill>
                                            <a:latin typeface="Cambria Math" panose="02040503050406030204" pitchFamily="18" charset="0"/>
                                            <a:ea typeface="Cambria Math" panose="02040503050406030204" pitchFamily="18" charset="0"/>
                                          </a:rPr>
                                          <m:t>𝑘</m:t>
                                        </m:r>
                                      </m:e>
                                      <m:sub>
                                        <m:r>
                                          <a:rPr lang="en-US" sz="2000" b="0" i="1" smtClean="0">
                                            <a:solidFill>
                                              <a:srgbClr val="002060"/>
                                            </a:solidFill>
                                            <a:latin typeface="Cambria Math" panose="02040503050406030204" pitchFamily="18" charset="0"/>
                                            <a:ea typeface="Cambria Math" panose="02040503050406030204" pitchFamily="18" charset="0"/>
                                          </a:rPr>
                                          <m:t>2</m:t>
                                        </m:r>
                                      </m:sub>
                                    </m:sSub>
                                  </m:e>
                                </m:d>
                                <m:r>
                                  <m:rPr>
                                    <m:nor/>
                                  </m:rPr>
                                  <a:rPr lang="en-US" sz="2000" dirty="0"/>
                                  <m:t> </m:t>
                                </m:r>
                              </m:e>
                            </m:nary>
                          </m:e>
                        </m:d>
                      </m:oMath>
                    </m:oMathPara>
                  </a14:m>
                  <a:endParaRPr lang="en-US" sz="2000" dirty="0"/>
                </a:p>
              </p:txBody>
            </p:sp>
          </mc:Choice>
          <mc:Fallback xmlns="">
            <p:sp>
              <p:nvSpPr>
                <p:cNvPr id="31" name="Rectangle 30">
                  <a:extLst>
                    <a:ext uri="{FF2B5EF4-FFF2-40B4-BE49-F238E27FC236}">
                      <a16:creationId xmlns:a16="http://schemas.microsoft.com/office/drawing/2014/main" id="{EA6240F4-0D6F-8F4D-AFE2-DA3528DD5CA4}"/>
                    </a:ext>
                  </a:extLst>
                </p:cNvPr>
                <p:cNvSpPr>
                  <a:spLocks noRot="1" noChangeAspect="1" noMove="1" noResize="1" noEditPoints="1" noAdjustHandles="1" noChangeArrowheads="1" noChangeShapeType="1" noTextEdit="1"/>
                </p:cNvSpPr>
                <p:nvPr/>
              </p:nvSpPr>
              <p:spPr>
                <a:xfrm>
                  <a:off x="3271950" y="2799719"/>
                  <a:ext cx="7603620" cy="1083182"/>
                </a:xfrm>
                <a:prstGeom prst="rect">
                  <a:avLst/>
                </a:prstGeom>
                <a:blipFill>
                  <a:blip r:embed="rId8"/>
                  <a:stretch>
                    <a:fillRect t="-80460" b="-1264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A63688C9-331B-D642-835B-37D59859498E}"/>
                    </a:ext>
                  </a:extLst>
                </p:cNvPr>
                <p:cNvSpPr/>
                <p:nvPr/>
              </p:nvSpPr>
              <p:spPr>
                <a:xfrm>
                  <a:off x="4808906" y="3740228"/>
                  <a:ext cx="4165949" cy="9935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000" b="0" i="1" smtClean="0">
                            <a:solidFill>
                              <a:srgbClr val="002060"/>
                            </a:solidFill>
                            <a:latin typeface="Cambria Math" panose="02040503050406030204" pitchFamily="18" charset="0"/>
                            <a:ea typeface="Cambria Math" panose="02040503050406030204" pitchFamily="18" charset="0"/>
                          </a:rPr>
                          <m:t>=</m:t>
                        </m:r>
                        <m:f>
                          <m:fPr>
                            <m:ctrlPr>
                              <a:rPr lang="en-US" sz="2000" i="1">
                                <a:solidFill>
                                  <a:srgbClr val="002060"/>
                                </a:solidFill>
                                <a:latin typeface="Cambria Math" panose="02040503050406030204" pitchFamily="18" charset="0"/>
                                <a:ea typeface="Cambria Math" panose="02040503050406030204" pitchFamily="18" charset="0"/>
                              </a:rPr>
                            </m:ctrlPr>
                          </m:fPr>
                          <m:num>
                            <m:r>
                              <a:rPr lang="en-US" sz="2000" i="1">
                                <a:solidFill>
                                  <a:srgbClr val="002060"/>
                                </a:solidFill>
                                <a:latin typeface="Cambria Math" panose="02040503050406030204" pitchFamily="18" charset="0"/>
                                <a:ea typeface="Cambria Math" panose="02040503050406030204" pitchFamily="18" charset="0"/>
                              </a:rPr>
                              <m:t>1</m:t>
                            </m:r>
                          </m:num>
                          <m:den>
                            <m:rad>
                              <m:radPr>
                                <m:degHide m:val="on"/>
                                <m:ctrlPr>
                                  <a:rPr lang="en-US" sz="2000" i="1">
                                    <a:solidFill>
                                      <a:srgbClr val="002060"/>
                                    </a:solidFill>
                                    <a:latin typeface="Cambria Math" panose="02040503050406030204" pitchFamily="18" charset="0"/>
                                    <a:ea typeface="Cambria Math" panose="02040503050406030204" pitchFamily="18" charset="0"/>
                                  </a:rPr>
                                </m:ctrlPr>
                              </m:radPr>
                              <m:deg/>
                              <m:e>
                                <m:sSup>
                                  <m:sSupPr>
                                    <m:ctrlPr>
                                      <a:rPr lang="en-US" sz="2000" i="1">
                                        <a:solidFill>
                                          <a:srgbClr val="002060"/>
                                        </a:solidFill>
                                        <a:latin typeface="Cambria Math" panose="02040503050406030204" pitchFamily="18" charset="0"/>
                                        <a:ea typeface="Cambria Math" panose="02040503050406030204" pitchFamily="18" charset="0"/>
                                      </a:rPr>
                                    </m:ctrlPr>
                                  </m:sSupPr>
                                  <m:e>
                                    <m:r>
                                      <a:rPr lang="en-US" sz="2000" i="1">
                                        <a:solidFill>
                                          <a:srgbClr val="002060"/>
                                        </a:solidFill>
                                        <a:latin typeface="Cambria Math" panose="02040503050406030204" pitchFamily="18" charset="0"/>
                                        <a:ea typeface="Cambria Math" panose="02040503050406030204" pitchFamily="18" charset="0"/>
                                      </a:rPr>
                                      <m:t>2</m:t>
                                    </m:r>
                                  </m:e>
                                  <m:sup>
                                    <m:r>
                                      <a:rPr lang="en-US" sz="2000" i="1">
                                        <a:solidFill>
                                          <a:srgbClr val="002060"/>
                                        </a:solidFill>
                                        <a:latin typeface="Cambria Math" panose="02040503050406030204" pitchFamily="18" charset="0"/>
                                        <a:ea typeface="Cambria Math" panose="02040503050406030204" pitchFamily="18" charset="0"/>
                                      </a:rPr>
                                      <m:t>2</m:t>
                                    </m:r>
                                  </m:sup>
                                </m:sSup>
                              </m:e>
                            </m:rad>
                          </m:den>
                        </m:f>
                        <m:nary>
                          <m:naryPr>
                            <m:chr m:val="∑"/>
                            <m:ctrlPr>
                              <a:rPr lang="en-US" sz="2000" i="1" smtClean="0">
                                <a:solidFill>
                                  <a:srgbClr val="002060"/>
                                </a:solidFill>
                                <a:latin typeface="Cambria Math" panose="02040503050406030204" pitchFamily="18" charset="0"/>
                                <a:ea typeface="Cambria Math" panose="02040503050406030204" pitchFamily="18" charset="0"/>
                              </a:rPr>
                            </m:ctrlPr>
                          </m:naryPr>
                          <m:sub>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i="1">
                                    <a:solidFill>
                                      <a:srgbClr val="002060"/>
                                    </a:solidFill>
                                    <a:latin typeface="Cambria Math" panose="02040503050406030204" pitchFamily="18" charset="0"/>
                                    <a:ea typeface="Cambria Math" panose="02040503050406030204" pitchFamily="18" charset="0"/>
                                  </a:rPr>
                                  <m:t>𝑘</m:t>
                                </m:r>
                              </m:e>
                              <m:sub>
                                <m:r>
                                  <a:rPr lang="en-US" sz="2000" i="1">
                                    <a:solidFill>
                                      <a:srgbClr val="002060"/>
                                    </a:solidFill>
                                    <a:latin typeface="Cambria Math" panose="02040503050406030204" pitchFamily="18" charset="0"/>
                                    <a:ea typeface="Cambria Math" panose="02040503050406030204" pitchFamily="18" charset="0"/>
                                  </a:rPr>
                                  <m:t>1</m:t>
                                </m:r>
                              </m:sub>
                            </m:sSub>
                            <m:r>
                              <a:rPr lang="en-US" sz="2000" i="1">
                                <a:solidFill>
                                  <a:srgbClr val="002060"/>
                                </a:solidFill>
                                <a:latin typeface="Cambria Math" panose="02040503050406030204" pitchFamily="18" charset="0"/>
                                <a:ea typeface="Cambria Math" panose="02040503050406030204" pitchFamily="18" charset="0"/>
                              </a:rPr>
                              <m:t>=0</m:t>
                            </m:r>
                          </m:sub>
                          <m:sup>
                            <m:r>
                              <a:rPr lang="en-US" sz="2000" b="0" i="1" smtClean="0">
                                <a:solidFill>
                                  <a:srgbClr val="002060"/>
                                </a:solidFill>
                                <a:latin typeface="Cambria Math" panose="02040503050406030204" pitchFamily="18" charset="0"/>
                                <a:ea typeface="Cambria Math" panose="02040503050406030204" pitchFamily="18" charset="0"/>
                              </a:rPr>
                              <m:t>1</m:t>
                            </m:r>
                          </m:sup>
                          <m:e>
                            <m:nary>
                              <m:naryPr>
                                <m:chr m:val="∑"/>
                                <m:ctrlPr>
                                  <a:rPr lang="en-US" sz="2000" i="1" smtClean="0">
                                    <a:solidFill>
                                      <a:srgbClr val="002060"/>
                                    </a:solidFill>
                                    <a:latin typeface="Cambria Math" panose="02040503050406030204" pitchFamily="18" charset="0"/>
                                    <a:ea typeface="Cambria Math" panose="02040503050406030204" pitchFamily="18" charset="0"/>
                                  </a:rPr>
                                </m:ctrlPr>
                              </m:naryPr>
                              <m:sub>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i="1">
                                        <a:solidFill>
                                          <a:srgbClr val="002060"/>
                                        </a:solidFill>
                                        <a:latin typeface="Cambria Math" panose="02040503050406030204" pitchFamily="18" charset="0"/>
                                        <a:ea typeface="Cambria Math" panose="02040503050406030204" pitchFamily="18" charset="0"/>
                                      </a:rPr>
                                      <m:t>𝑘</m:t>
                                    </m:r>
                                  </m:e>
                                  <m:sub>
                                    <m:r>
                                      <a:rPr lang="en-US" sz="2000" b="0" i="1" smtClean="0">
                                        <a:solidFill>
                                          <a:srgbClr val="002060"/>
                                        </a:solidFill>
                                        <a:latin typeface="Cambria Math" panose="02040503050406030204" pitchFamily="18" charset="0"/>
                                        <a:ea typeface="Cambria Math" panose="02040503050406030204" pitchFamily="18" charset="0"/>
                                      </a:rPr>
                                      <m:t>2</m:t>
                                    </m:r>
                                  </m:sub>
                                </m:sSub>
                                <m:r>
                                  <a:rPr lang="en-US" sz="2000" i="1">
                                    <a:solidFill>
                                      <a:srgbClr val="002060"/>
                                    </a:solidFill>
                                    <a:latin typeface="Cambria Math" panose="02040503050406030204" pitchFamily="18" charset="0"/>
                                    <a:ea typeface="Cambria Math" panose="02040503050406030204" pitchFamily="18" charset="0"/>
                                  </a:rPr>
                                  <m:t>=0</m:t>
                                </m:r>
                              </m:sub>
                              <m:sup>
                                <m:r>
                                  <a:rPr lang="en-US" sz="2000" b="0" i="1" smtClean="0">
                                    <a:solidFill>
                                      <a:srgbClr val="002060"/>
                                    </a:solidFill>
                                    <a:latin typeface="Cambria Math" panose="02040503050406030204" pitchFamily="18" charset="0"/>
                                    <a:ea typeface="Cambria Math" panose="02040503050406030204" pitchFamily="18" charset="0"/>
                                  </a:rPr>
                                  <m:t>1</m:t>
                                </m:r>
                              </m:sup>
                              <m:e>
                                <m:sSup>
                                  <m:sSupPr>
                                    <m:ctrlPr>
                                      <a:rPr lang="en-US" sz="2000" i="1">
                                        <a:solidFill>
                                          <a:srgbClr val="002060"/>
                                        </a:solidFill>
                                        <a:latin typeface="Cambria Math" panose="02040503050406030204" pitchFamily="18" charset="0"/>
                                        <a:ea typeface="Cambria Math" panose="02040503050406030204" pitchFamily="18" charset="0"/>
                                      </a:rPr>
                                    </m:ctrlPr>
                                  </m:sSupPr>
                                  <m:e>
                                    <m:d>
                                      <m:dPr>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−1</m:t>
                                        </m:r>
                                      </m:e>
                                    </m:d>
                                  </m:e>
                                  <m:sup>
                                    <m:sSub>
                                      <m:sSubPr>
                                        <m:ctrlPr>
                                          <a:rPr lang="en-US" sz="2000" i="1">
                                            <a:solidFill>
                                              <a:srgbClr val="002060"/>
                                            </a:solidFill>
                                            <a:latin typeface="Cambria Math" panose="02040503050406030204" pitchFamily="18" charset="0"/>
                                            <a:ea typeface="Cambria Math" panose="02040503050406030204" pitchFamily="18" charset="0"/>
                                          </a:rPr>
                                        </m:ctrlPr>
                                      </m:sSubPr>
                                      <m:e>
                                        <m:r>
                                          <a:rPr lang="sr-Latn-RS" sz="2000" i="1">
                                            <a:solidFill>
                                              <a:srgbClr val="002060"/>
                                            </a:solidFill>
                                            <a:latin typeface="Cambria Math" panose="02040503050406030204" pitchFamily="18" charset="0"/>
                                            <a:ea typeface="Cambria Math" panose="02040503050406030204" pitchFamily="18" charset="0"/>
                                          </a:rPr>
                                          <m:t>𝑞</m:t>
                                        </m:r>
                                      </m:e>
                                      <m:sub>
                                        <m:r>
                                          <a:rPr lang="en-US" sz="2000" b="0" i="1" smtClean="0">
                                            <a:solidFill>
                                              <a:srgbClr val="002060"/>
                                            </a:solidFill>
                                            <a:latin typeface="Cambria Math" panose="02040503050406030204" pitchFamily="18" charset="0"/>
                                            <a:ea typeface="Cambria Math" panose="02040503050406030204" pitchFamily="18" charset="0"/>
                                          </a:rPr>
                                          <m:t>1</m:t>
                                        </m:r>
                                      </m:sub>
                                    </m:sSub>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i="1">
                                            <a:solidFill>
                                              <a:srgbClr val="002060"/>
                                            </a:solidFill>
                                            <a:latin typeface="Cambria Math" panose="02040503050406030204" pitchFamily="18" charset="0"/>
                                            <a:ea typeface="Cambria Math" panose="02040503050406030204" pitchFamily="18" charset="0"/>
                                          </a:rPr>
                                          <m:t>𝑘</m:t>
                                        </m:r>
                                      </m:e>
                                      <m:sub>
                                        <m:r>
                                          <a:rPr lang="en-US" sz="2000" b="0" i="1" smtClean="0">
                                            <a:solidFill>
                                              <a:srgbClr val="002060"/>
                                            </a:solidFill>
                                            <a:latin typeface="Cambria Math" panose="02040503050406030204" pitchFamily="18" charset="0"/>
                                            <a:ea typeface="Cambria Math" panose="02040503050406030204" pitchFamily="18" charset="0"/>
                                          </a:rPr>
                                          <m:t>1</m:t>
                                        </m:r>
                                      </m:sub>
                                    </m:sSub>
                                    <m:r>
                                      <a:rPr lang="en-US" sz="2000" b="0" i="1" smtClean="0">
                                        <a:solidFill>
                                          <a:srgbClr val="002060"/>
                                        </a:solidFill>
                                        <a:latin typeface="Cambria Math" panose="02040503050406030204" pitchFamily="18" charset="0"/>
                                        <a:ea typeface="Cambria Math" panose="02040503050406030204" pitchFamily="18" charset="0"/>
                                      </a:rPr>
                                      <m:t>+</m:t>
                                    </m:r>
                                    <m:sSub>
                                      <m:sSubPr>
                                        <m:ctrlPr>
                                          <a:rPr lang="en-US" sz="2000" i="1">
                                            <a:solidFill>
                                              <a:srgbClr val="002060"/>
                                            </a:solidFill>
                                            <a:latin typeface="Cambria Math" panose="02040503050406030204" pitchFamily="18" charset="0"/>
                                            <a:ea typeface="Cambria Math" panose="02040503050406030204" pitchFamily="18" charset="0"/>
                                          </a:rPr>
                                        </m:ctrlPr>
                                      </m:sSubPr>
                                      <m:e>
                                        <m:r>
                                          <a:rPr lang="sr-Latn-RS" sz="2000" i="1">
                                            <a:solidFill>
                                              <a:srgbClr val="002060"/>
                                            </a:solidFill>
                                            <a:latin typeface="Cambria Math" panose="02040503050406030204" pitchFamily="18" charset="0"/>
                                            <a:ea typeface="Cambria Math" panose="02040503050406030204" pitchFamily="18" charset="0"/>
                                          </a:rPr>
                                          <m:t>𝑞</m:t>
                                        </m:r>
                                      </m:e>
                                      <m:sub>
                                        <m:r>
                                          <a:rPr lang="en-US" sz="2000" i="1">
                                            <a:solidFill>
                                              <a:srgbClr val="002060"/>
                                            </a:solidFill>
                                            <a:latin typeface="Cambria Math" panose="02040503050406030204" pitchFamily="18" charset="0"/>
                                            <a:ea typeface="Cambria Math" panose="02040503050406030204" pitchFamily="18" charset="0"/>
                                          </a:rPr>
                                          <m:t>2</m:t>
                                        </m:r>
                                      </m:sub>
                                    </m:sSub>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i="1">
                                            <a:solidFill>
                                              <a:srgbClr val="002060"/>
                                            </a:solidFill>
                                            <a:latin typeface="Cambria Math" panose="02040503050406030204" pitchFamily="18" charset="0"/>
                                            <a:ea typeface="Cambria Math" panose="02040503050406030204" pitchFamily="18" charset="0"/>
                                          </a:rPr>
                                          <m:t>𝑘</m:t>
                                        </m:r>
                                      </m:e>
                                      <m:sub>
                                        <m:r>
                                          <a:rPr lang="en-US" sz="2000" i="1">
                                            <a:solidFill>
                                              <a:srgbClr val="002060"/>
                                            </a:solidFill>
                                            <a:latin typeface="Cambria Math" panose="02040503050406030204" pitchFamily="18" charset="0"/>
                                            <a:ea typeface="Cambria Math" panose="02040503050406030204" pitchFamily="18" charset="0"/>
                                          </a:rPr>
                                          <m:t>2</m:t>
                                        </m:r>
                                      </m:sub>
                                    </m:sSub>
                                  </m:sup>
                                </m:sSup>
                                <m:r>
                                  <a:rPr lang="en-US" sz="2000" i="1">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i="1">
                                            <a:solidFill>
                                              <a:srgbClr val="002060"/>
                                            </a:solidFill>
                                            <a:latin typeface="Cambria Math" panose="02040503050406030204" pitchFamily="18" charset="0"/>
                                            <a:ea typeface="Cambria Math" panose="02040503050406030204" pitchFamily="18" charset="0"/>
                                          </a:rPr>
                                          <m:t>𝑘</m:t>
                                        </m:r>
                                      </m:e>
                                      <m:sub>
                                        <m:r>
                                          <a:rPr lang="en-US" sz="2000" b="0" i="1" smtClean="0">
                                            <a:solidFill>
                                              <a:srgbClr val="002060"/>
                                            </a:solidFill>
                                            <a:latin typeface="Cambria Math" panose="02040503050406030204" pitchFamily="18" charset="0"/>
                                            <a:ea typeface="Cambria Math" panose="02040503050406030204" pitchFamily="18" charset="0"/>
                                          </a:rPr>
                                          <m:t>1</m:t>
                                        </m:r>
                                      </m:sub>
                                    </m:sSub>
                                    <m:sSub>
                                      <m:sSubPr>
                                        <m:ctrlPr>
                                          <a:rPr lang="en-US" sz="2000" i="1">
                                            <a:solidFill>
                                              <a:srgbClr val="002060"/>
                                            </a:solidFill>
                                            <a:latin typeface="Cambria Math" panose="02040503050406030204" pitchFamily="18" charset="0"/>
                                            <a:ea typeface="Cambria Math" panose="02040503050406030204" pitchFamily="18" charset="0"/>
                                          </a:rPr>
                                        </m:ctrlPr>
                                      </m:sSubPr>
                                      <m:e>
                                        <m:r>
                                          <a:rPr lang="en-US" sz="2000" i="1">
                                            <a:solidFill>
                                              <a:srgbClr val="002060"/>
                                            </a:solidFill>
                                            <a:latin typeface="Cambria Math" panose="02040503050406030204" pitchFamily="18" charset="0"/>
                                            <a:ea typeface="Cambria Math" panose="02040503050406030204" pitchFamily="18" charset="0"/>
                                          </a:rPr>
                                          <m:t>𝑘</m:t>
                                        </m:r>
                                      </m:e>
                                      <m:sub>
                                        <m:r>
                                          <a:rPr lang="en-US" sz="2000" i="1">
                                            <a:solidFill>
                                              <a:srgbClr val="002060"/>
                                            </a:solidFill>
                                            <a:latin typeface="Cambria Math" panose="02040503050406030204" pitchFamily="18" charset="0"/>
                                            <a:ea typeface="Cambria Math" panose="02040503050406030204" pitchFamily="18" charset="0"/>
                                          </a:rPr>
                                          <m:t>2</m:t>
                                        </m:r>
                                      </m:sub>
                                    </m:sSub>
                                  </m:e>
                                </m:d>
                              </m:e>
                            </m:nary>
                          </m:e>
                        </m:nary>
                      </m:oMath>
                    </m:oMathPara>
                  </a14:m>
                  <a:endParaRPr lang="en-US" sz="2000" dirty="0"/>
                </a:p>
              </p:txBody>
            </p:sp>
          </mc:Choice>
          <mc:Fallback xmlns="">
            <p:sp>
              <p:nvSpPr>
                <p:cNvPr id="32" name="Rectangle 31">
                  <a:extLst>
                    <a:ext uri="{FF2B5EF4-FFF2-40B4-BE49-F238E27FC236}">
                      <a16:creationId xmlns:a16="http://schemas.microsoft.com/office/drawing/2014/main" id="{A63688C9-331B-D642-835B-37D59859498E}"/>
                    </a:ext>
                  </a:extLst>
                </p:cNvPr>
                <p:cNvSpPr>
                  <a:spLocks noRot="1" noChangeAspect="1" noMove="1" noResize="1" noEditPoints="1" noAdjustHandles="1" noChangeArrowheads="1" noChangeShapeType="1" noTextEdit="1"/>
                </p:cNvSpPr>
                <p:nvPr/>
              </p:nvSpPr>
              <p:spPr>
                <a:xfrm>
                  <a:off x="4808906" y="3740228"/>
                  <a:ext cx="4165949" cy="993542"/>
                </a:xfrm>
                <a:prstGeom prst="rect">
                  <a:avLst/>
                </a:prstGeom>
                <a:blipFill>
                  <a:blip r:embed="rId9"/>
                  <a:stretch>
                    <a:fillRect l="-912" t="-94937" r="-5167" b="-14303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5A2B92C-F5F9-0148-9BE5-CC0D2A06BEA9}"/>
                  </a:ext>
                </a:extLst>
              </p:cNvPr>
              <p:cNvSpPr txBox="1"/>
              <p:nvPr/>
            </p:nvSpPr>
            <p:spPr>
              <a:xfrm>
                <a:off x="2672111" y="1819349"/>
                <a:ext cx="2785058" cy="7455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smtClean="0">
                          <a:solidFill>
                            <a:srgbClr val="002060"/>
                          </a:solidFill>
                          <a:latin typeface="Cambria Math" panose="02040503050406030204" pitchFamily="18" charset="0"/>
                          <a:ea typeface="Cambria Math" panose="02040503050406030204" pitchFamily="18" charset="0"/>
                        </a:rPr>
                        <m:t>𝐻</m:t>
                      </m:r>
                      <m:r>
                        <a:rPr lang="en-US" sz="20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1</m:t>
                          </m:r>
                        </m:e>
                      </m:d>
                      <m:r>
                        <a:rPr lang="en-US" sz="2000" i="1">
                          <a:solidFill>
                            <a:srgbClr val="002060"/>
                          </a:solidFill>
                          <a:latin typeface="Cambria Math" panose="02040503050406030204" pitchFamily="18" charset="0"/>
                          <a:ea typeface="Cambria Math" panose="02040503050406030204" pitchFamily="18" charset="0"/>
                        </a:rPr>
                        <m:t>=</m:t>
                      </m:r>
                      <m:f>
                        <m:fPr>
                          <m:ctrlPr>
                            <a:rPr lang="en-US" sz="2000" i="1">
                              <a:solidFill>
                                <a:srgbClr val="002060"/>
                              </a:solidFill>
                              <a:latin typeface="Cambria Math" panose="02040503050406030204" pitchFamily="18" charset="0"/>
                              <a:ea typeface="Cambria Math" panose="02040503050406030204" pitchFamily="18" charset="0"/>
                            </a:rPr>
                          </m:ctrlPr>
                        </m:fPr>
                        <m:num>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|0</m:t>
                              </m:r>
                            </m:e>
                          </m:d>
                          <m:r>
                            <a:rPr lang="en-US" sz="2000" i="1">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|1</m:t>
                              </m:r>
                            </m:e>
                          </m:d>
                        </m:num>
                        <m:den>
                          <m:rad>
                            <m:radPr>
                              <m:degHide m:val="on"/>
                              <m:ctrlPr>
                                <a:rPr lang="en-US" sz="2000" i="1">
                                  <a:solidFill>
                                    <a:srgbClr val="002060"/>
                                  </a:solidFill>
                                  <a:latin typeface="Cambria Math" panose="02040503050406030204" pitchFamily="18" charset="0"/>
                                  <a:ea typeface="Cambria Math" panose="02040503050406030204" pitchFamily="18" charset="0"/>
                                </a:rPr>
                              </m:ctrlPr>
                            </m:radPr>
                            <m:deg/>
                            <m:e>
                              <m:r>
                                <a:rPr lang="en-US" sz="2000" i="1">
                                  <a:solidFill>
                                    <a:srgbClr val="002060"/>
                                  </a:solidFill>
                                  <a:latin typeface="Cambria Math" panose="02040503050406030204" pitchFamily="18" charset="0"/>
                                  <a:ea typeface="Cambria Math" panose="02040503050406030204" pitchFamily="18" charset="0"/>
                                </a:rPr>
                                <m:t>2</m:t>
                              </m:r>
                            </m:e>
                          </m:rad>
                        </m:den>
                      </m:f>
                      <m:r>
                        <a:rPr lang="en-US" sz="2000" b="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000" i="1">
                              <a:solidFill>
                                <a:srgbClr val="002060"/>
                              </a:solidFill>
                              <a:latin typeface="Cambria Math" panose="02040503050406030204" pitchFamily="18" charset="0"/>
                              <a:ea typeface="Cambria Math" panose="02040503050406030204" pitchFamily="18" charset="0"/>
                            </a:rPr>
                          </m:ctrlPr>
                        </m:dPr>
                        <m:e>
                          <m:r>
                            <a:rPr lang="en-US" sz="2000" i="1">
                              <a:solidFill>
                                <a:srgbClr val="002060"/>
                              </a:solidFill>
                              <a:latin typeface="Cambria Math" panose="02040503050406030204" pitchFamily="18" charset="0"/>
                              <a:ea typeface="Cambria Math" panose="02040503050406030204" pitchFamily="18" charset="0"/>
                            </a:rPr>
                            <m:t>|</m:t>
                          </m:r>
                          <m:r>
                            <a:rPr lang="en-US" sz="2000" b="0" i="1" smtClean="0">
                              <a:solidFill>
                                <a:srgbClr val="002060"/>
                              </a:solidFill>
                              <a:latin typeface="Cambria Math" panose="02040503050406030204" pitchFamily="18" charset="0"/>
                              <a:ea typeface="Cambria Math" panose="02040503050406030204" pitchFamily="18" charset="0"/>
                            </a:rPr>
                            <m:t>−</m:t>
                          </m:r>
                        </m:e>
                      </m:d>
                    </m:oMath>
                  </m:oMathPara>
                </a14:m>
                <a:endParaRPr lang="en-US" sz="2000" dirty="0"/>
              </a:p>
            </p:txBody>
          </p:sp>
        </mc:Choice>
        <mc:Fallback xmlns="">
          <p:sp>
            <p:nvSpPr>
              <p:cNvPr id="5" name="TextBox 4">
                <a:extLst>
                  <a:ext uri="{FF2B5EF4-FFF2-40B4-BE49-F238E27FC236}">
                    <a16:creationId xmlns:a16="http://schemas.microsoft.com/office/drawing/2014/main" id="{F5A2B92C-F5F9-0148-9BE5-CC0D2A06BEA9}"/>
                  </a:ext>
                </a:extLst>
              </p:cNvPr>
              <p:cNvSpPr txBox="1">
                <a:spLocks noRot="1" noChangeAspect="1" noMove="1" noResize="1" noEditPoints="1" noAdjustHandles="1" noChangeArrowheads="1" noChangeShapeType="1" noTextEdit="1"/>
              </p:cNvSpPr>
              <p:nvPr/>
            </p:nvSpPr>
            <p:spPr>
              <a:xfrm>
                <a:off x="2672111" y="1819349"/>
                <a:ext cx="2785058" cy="745589"/>
              </a:xfrm>
              <a:prstGeom prst="rect">
                <a:avLst/>
              </a:prstGeom>
              <a:blipFill>
                <a:blip r:embed="rId10"/>
                <a:stretch>
                  <a:fillRect t="-63333" r="-8145" b="-73333"/>
                </a:stretch>
              </a:blipFill>
            </p:spPr>
            <p:txBody>
              <a:bodyPr/>
              <a:lstStyle/>
              <a:p>
                <a:r>
                  <a:rPr lang="en-US">
                    <a:noFill/>
                  </a:rPr>
                  <a:t> </a:t>
                </a:r>
              </a:p>
            </p:txBody>
          </p:sp>
        </mc:Fallback>
      </mc:AlternateContent>
      <p:sp>
        <p:nvSpPr>
          <p:cNvPr id="47" name="Right Brace 46">
            <a:extLst>
              <a:ext uri="{FF2B5EF4-FFF2-40B4-BE49-F238E27FC236}">
                <a16:creationId xmlns:a16="http://schemas.microsoft.com/office/drawing/2014/main" id="{FDE104EA-FC01-4F49-B2D5-5CB85F805B55}"/>
              </a:ext>
            </a:extLst>
          </p:cNvPr>
          <p:cNvSpPr/>
          <p:nvPr/>
        </p:nvSpPr>
        <p:spPr>
          <a:xfrm>
            <a:off x="2104190" y="1400893"/>
            <a:ext cx="472458" cy="1009836"/>
          </a:xfrm>
          <a:prstGeom prst="rightBrace">
            <a:avLst>
              <a:gd name="adj1" fmla="val 33422"/>
              <a:gd name="adj2" fmla="val 512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Right Brace 47">
            <a:extLst>
              <a:ext uri="{FF2B5EF4-FFF2-40B4-BE49-F238E27FC236}">
                <a16:creationId xmlns:a16="http://schemas.microsoft.com/office/drawing/2014/main" id="{166CC959-E072-CB41-A2CF-8CB8B759BD36}"/>
              </a:ext>
            </a:extLst>
          </p:cNvPr>
          <p:cNvSpPr/>
          <p:nvPr/>
        </p:nvSpPr>
        <p:spPr>
          <a:xfrm>
            <a:off x="5385378" y="1346722"/>
            <a:ext cx="472458" cy="1009836"/>
          </a:xfrm>
          <a:prstGeom prst="rightBrace">
            <a:avLst>
              <a:gd name="adj1" fmla="val 3342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2" name="Group 11">
            <a:extLst>
              <a:ext uri="{FF2B5EF4-FFF2-40B4-BE49-F238E27FC236}">
                <a16:creationId xmlns:a16="http://schemas.microsoft.com/office/drawing/2014/main" id="{F787F3A5-9D0F-DD4C-B222-5A8CD56D7C93}"/>
              </a:ext>
            </a:extLst>
          </p:cNvPr>
          <p:cNvGrpSpPr/>
          <p:nvPr/>
        </p:nvGrpSpPr>
        <p:grpSpPr>
          <a:xfrm>
            <a:off x="151822" y="3280768"/>
            <a:ext cx="9211604" cy="3449639"/>
            <a:chOff x="151822" y="3280768"/>
            <a:chExt cx="9211604" cy="3449639"/>
          </a:xfrm>
        </p:grpSpPr>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FC547CBE-2608-4340-98B2-DB6171560A91}"/>
                    </a:ext>
                  </a:extLst>
                </p:cNvPr>
                <p:cNvSpPr/>
                <p:nvPr/>
              </p:nvSpPr>
              <p:spPr>
                <a:xfrm>
                  <a:off x="3271950" y="4862010"/>
                  <a:ext cx="6091476" cy="9950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i="1">
                                <a:latin typeface="Cambria Math" panose="02040503050406030204" pitchFamily="18" charset="0"/>
                              </a:rPr>
                              <m:t>𝐻</m:t>
                            </m:r>
                          </m:e>
                          <m:sup>
                            <m:r>
                              <a:rPr lang="en-US" sz="2000" i="0">
                                <a:latin typeface="Cambria Math" panose="02040503050406030204" pitchFamily="18" charset="0"/>
                              </a:rPr>
                              <m:t>⊗</m:t>
                            </m:r>
                            <m:r>
                              <a:rPr lang="en-US" sz="2000" i="1">
                                <a:latin typeface="Cambria Math" panose="02040503050406030204" pitchFamily="18" charset="0"/>
                              </a:rPr>
                              <m:t>𝑛</m:t>
                            </m:r>
                          </m:sup>
                        </m:sSup>
                        <m:d>
                          <m:dPr>
                            <m:begChr m:val="|"/>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𝑞</m:t>
                                </m:r>
                              </m:e>
                              <m:sub>
                                <m:r>
                                  <a:rPr lang="en-US" sz="2000" i="0">
                                    <a:latin typeface="Cambria Math" panose="02040503050406030204" pitchFamily="18" charset="0"/>
                                  </a:rPr>
                                  <m:t>1⋯</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𝑞</m:t>
                                </m:r>
                              </m:e>
                              <m:sub>
                                <m:r>
                                  <a:rPr lang="en-US" sz="2000" i="1">
                                    <a:latin typeface="Cambria Math" panose="02040503050406030204" pitchFamily="18" charset="0"/>
                                  </a:rPr>
                                  <m:t>𝑛</m:t>
                                </m:r>
                              </m:sub>
                            </m:sSub>
                          </m:e>
                        </m:d>
                        <m:r>
                          <a:rPr lang="en-US" sz="2000" i="0">
                            <a:latin typeface="Cambria Math" panose="02040503050406030204" pitchFamily="18" charset="0"/>
                          </a:rPr>
                          <m:t>=</m:t>
                        </m:r>
                        <m:f>
                          <m:fPr>
                            <m:ctrlPr>
                              <a:rPr lang="en-US" sz="2000" i="1">
                                <a:latin typeface="Cambria Math" panose="02040503050406030204" pitchFamily="18" charset="0"/>
                              </a:rPr>
                            </m:ctrlPr>
                          </m:fPr>
                          <m:num>
                            <m:r>
                              <a:rPr lang="en-US" sz="2000" i="0">
                                <a:latin typeface="Cambria Math" panose="02040503050406030204" pitchFamily="18" charset="0"/>
                              </a:rPr>
                              <m:t>1</m:t>
                            </m:r>
                          </m:num>
                          <m:den>
                            <m:rad>
                              <m:radPr>
                                <m:degHide m:val="on"/>
                                <m:ctrlPr>
                                  <a:rPr lang="en-US" sz="2000" i="1">
                                    <a:latin typeface="Cambria Math" panose="02040503050406030204" pitchFamily="18" charset="0"/>
                                  </a:rPr>
                                </m:ctrlPr>
                              </m:radPr>
                              <m:deg/>
                              <m:e>
                                <m:sSup>
                                  <m:sSupPr>
                                    <m:ctrlPr>
                                      <a:rPr lang="en-US" sz="2000" i="1">
                                        <a:latin typeface="Cambria Math" panose="02040503050406030204" pitchFamily="18" charset="0"/>
                                      </a:rPr>
                                    </m:ctrlPr>
                                  </m:sSupPr>
                                  <m:e>
                                    <m:r>
                                      <a:rPr lang="en-US" sz="2000" i="0">
                                        <a:latin typeface="Cambria Math" panose="02040503050406030204" pitchFamily="18" charset="0"/>
                                      </a:rPr>
                                      <m:t>2</m:t>
                                    </m:r>
                                  </m:e>
                                  <m:sup>
                                    <m:r>
                                      <a:rPr lang="en-US" sz="2000" i="1">
                                        <a:latin typeface="Cambria Math" panose="02040503050406030204" pitchFamily="18" charset="0"/>
                                      </a:rPr>
                                      <m:t>𝑛</m:t>
                                    </m:r>
                                  </m:sup>
                                </m:sSup>
                              </m:e>
                            </m:rad>
                          </m:den>
                        </m:f>
                        <m:nary>
                          <m:naryPr>
                            <m:chr m:val="∑"/>
                            <m:limLoc m:val="undOvr"/>
                            <m:ctrlPr>
                              <a:rPr lang="en-US" sz="2000" i="1">
                                <a:latin typeface="Cambria Math" panose="02040503050406030204" pitchFamily="18" charset="0"/>
                              </a:rPr>
                            </m:ctrlPr>
                          </m:naryPr>
                          <m:sub>
                            <m:sSub>
                              <m:sSubPr>
                                <m:ctrlPr>
                                  <a:rPr lang="en-US" sz="2000" i="1">
                                    <a:latin typeface="Cambria Math" panose="02040503050406030204" pitchFamily="18" charset="0"/>
                                  </a:rPr>
                                </m:ctrlPr>
                              </m:sSubPr>
                              <m:e>
                                <m:r>
                                  <a:rPr lang="sr-Latn-RS" sz="2000" b="0" i="1" smtClean="0">
                                    <a:latin typeface="Cambria Math" panose="02040503050406030204" pitchFamily="18" charset="0"/>
                                  </a:rPr>
                                  <m:t>𝑘</m:t>
                                </m:r>
                              </m:e>
                              <m:sub>
                                <m:r>
                                  <a:rPr lang="en-US" sz="2000" i="0">
                                    <a:latin typeface="Cambria Math" panose="02040503050406030204" pitchFamily="18" charset="0"/>
                                  </a:rPr>
                                  <m:t>1</m:t>
                                </m:r>
                              </m:sub>
                            </m:sSub>
                            <m:r>
                              <a:rPr lang="en-US" sz="2000" i="0">
                                <a:latin typeface="Cambria Math" panose="02040503050406030204" pitchFamily="18" charset="0"/>
                              </a:rPr>
                              <m:t>,⋯,</m:t>
                            </m:r>
                            <m:sSub>
                              <m:sSubPr>
                                <m:ctrlPr>
                                  <a:rPr lang="en-US" sz="2000" i="1">
                                    <a:latin typeface="Cambria Math" panose="02040503050406030204" pitchFamily="18" charset="0"/>
                                  </a:rPr>
                                </m:ctrlPr>
                              </m:sSubPr>
                              <m:e>
                                <m:r>
                                  <a:rPr lang="sr-Latn-RS" sz="2000" b="0" i="1" smtClean="0">
                                    <a:latin typeface="Cambria Math" panose="02040503050406030204" pitchFamily="18" charset="0"/>
                                  </a:rPr>
                                  <m:t>𝑘</m:t>
                                </m:r>
                              </m:e>
                              <m:sub>
                                <m:r>
                                  <a:rPr lang="en-US" sz="2000" i="1">
                                    <a:latin typeface="Cambria Math" panose="02040503050406030204" pitchFamily="18" charset="0"/>
                                  </a:rPr>
                                  <m:t>𝑛</m:t>
                                </m:r>
                              </m:sub>
                            </m:sSub>
                            <m:r>
                              <a:rPr lang="en-US" sz="2000" i="0">
                                <a:latin typeface="Cambria Math" panose="02040503050406030204" pitchFamily="18" charset="0"/>
                              </a:rPr>
                              <m:t>=0</m:t>
                            </m:r>
                          </m:sub>
                          <m:sup>
                            <m:r>
                              <a:rPr lang="en-US" sz="2000" i="0">
                                <a:latin typeface="Cambria Math" panose="02040503050406030204" pitchFamily="18" charset="0"/>
                              </a:rPr>
                              <m:t>1</m:t>
                            </m:r>
                          </m:sup>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r>
                                      <a:rPr lang="en-US" sz="2000" i="0">
                                        <a:latin typeface="Cambria Math" panose="02040503050406030204" pitchFamily="18" charset="0"/>
                                      </a:rPr>
                                      <m:t>−1</m:t>
                                    </m:r>
                                  </m:e>
                                </m:d>
                              </m:e>
                              <m:sup>
                                <m:sSub>
                                  <m:sSubPr>
                                    <m:ctrlPr>
                                      <a:rPr lang="en-US" sz="2000" i="1">
                                        <a:latin typeface="Cambria Math" panose="02040503050406030204" pitchFamily="18" charset="0"/>
                                      </a:rPr>
                                    </m:ctrlPr>
                                  </m:sSubPr>
                                  <m:e>
                                    <m:sSub>
                                      <m:sSubPr>
                                        <m:ctrlPr>
                                          <a:rPr lang="en-US" sz="2000" i="1">
                                            <a:latin typeface="Cambria Math" panose="02040503050406030204" pitchFamily="18" charset="0"/>
                                          </a:rPr>
                                        </m:ctrlPr>
                                      </m:sSubPr>
                                      <m:e>
                                        <m:r>
                                          <a:rPr lang="en-US" sz="2000" i="1">
                                            <a:latin typeface="Cambria Math" panose="02040503050406030204" pitchFamily="18" charset="0"/>
                                          </a:rPr>
                                          <m:t>𝑞</m:t>
                                        </m:r>
                                      </m:e>
                                      <m:sub>
                                        <m:r>
                                          <a:rPr lang="en-US" sz="2000" i="0">
                                            <a:latin typeface="Cambria Math" panose="02040503050406030204" pitchFamily="18" charset="0"/>
                                          </a:rPr>
                                          <m:t>1</m:t>
                                        </m:r>
                                      </m:sub>
                                    </m:sSub>
                                    <m:sSub>
                                      <m:sSubPr>
                                        <m:ctrlPr>
                                          <a:rPr lang="en-US" sz="2000" i="1">
                                            <a:latin typeface="Cambria Math" panose="02040503050406030204" pitchFamily="18" charset="0"/>
                                          </a:rPr>
                                        </m:ctrlPr>
                                      </m:sSubPr>
                                      <m:e>
                                        <m:r>
                                          <a:rPr lang="sr-Latn-RS" sz="2000" b="0" i="1" smtClean="0">
                                            <a:latin typeface="Cambria Math" panose="02040503050406030204" pitchFamily="18" charset="0"/>
                                          </a:rPr>
                                          <m:t>𝑘</m:t>
                                        </m:r>
                                      </m:e>
                                      <m:sub>
                                        <m:r>
                                          <a:rPr lang="en-US" sz="2000" i="0">
                                            <a:latin typeface="Cambria Math" panose="02040503050406030204" pitchFamily="18" charset="0"/>
                                          </a:rPr>
                                          <m:t>1</m:t>
                                        </m:r>
                                      </m:sub>
                                    </m:sSub>
                                    <m:r>
                                      <a:rPr lang="en-US" sz="2000" i="0">
                                        <a:latin typeface="Cambria Math" panose="02040503050406030204" pitchFamily="18" charset="0"/>
                                      </a:rPr>
                                      <m:t>+⋯+</m:t>
                                    </m:r>
                                    <m:r>
                                      <a:rPr lang="en-US" sz="2000" i="1" smtClean="0">
                                        <a:latin typeface="Cambria Math" panose="02040503050406030204" pitchFamily="18" charset="0"/>
                                      </a:rPr>
                                      <m:t>𝑞</m:t>
                                    </m:r>
                                  </m:e>
                                  <m:sub>
                                    <m:r>
                                      <a:rPr lang="en-US" sz="2000" i="1">
                                        <a:latin typeface="Cambria Math" panose="02040503050406030204" pitchFamily="18" charset="0"/>
                                      </a:rPr>
                                      <m:t>𝑛</m:t>
                                    </m:r>
                                  </m:sub>
                                </m:sSub>
                                <m:sSub>
                                  <m:sSubPr>
                                    <m:ctrlPr>
                                      <a:rPr lang="en-US" sz="2000" i="1">
                                        <a:latin typeface="Cambria Math" panose="02040503050406030204" pitchFamily="18" charset="0"/>
                                      </a:rPr>
                                    </m:ctrlPr>
                                  </m:sSubPr>
                                  <m:e>
                                    <m:r>
                                      <a:rPr lang="sr-Latn-RS" sz="2000" b="0" i="1" smtClean="0">
                                        <a:latin typeface="Cambria Math" panose="02040503050406030204" pitchFamily="18" charset="0"/>
                                      </a:rPr>
                                      <m:t>𝑘</m:t>
                                    </m:r>
                                  </m:e>
                                  <m:sub>
                                    <m:r>
                                      <a:rPr lang="en-US" sz="2000" i="1">
                                        <a:latin typeface="Cambria Math" panose="02040503050406030204" pitchFamily="18" charset="0"/>
                                      </a:rPr>
                                      <m:t>𝑛</m:t>
                                    </m:r>
                                  </m:sub>
                                </m:sSub>
                              </m:sup>
                            </m:sSup>
                            <m:d>
                              <m:dPr>
                                <m:begChr m:val="|"/>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sr-Latn-RS" sz="2000" b="0" i="1" smtClean="0">
                                        <a:latin typeface="Cambria Math" panose="02040503050406030204" pitchFamily="18" charset="0"/>
                                      </a:rPr>
                                      <m:t>𝑘</m:t>
                                    </m:r>
                                  </m:e>
                                  <m:sub>
                                    <m:r>
                                      <a:rPr lang="en-US" sz="2000" i="0">
                                        <a:latin typeface="Cambria Math" panose="02040503050406030204" pitchFamily="18" charset="0"/>
                                      </a:rPr>
                                      <m:t>1⋯</m:t>
                                    </m:r>
                                  </m:sub>
                                </m:sSub>
                                <m:sSub>
                                  <m:sSubPr>
                                    <m:ctrlPr>
                                      <a:rPr lang="en-US" sz="2000" i="1">
                                        <a:latin typeface="Cambria Math" panose="02040503050406030204" pitchFamily="18" charset="0"/>
                                      </a:rPr>
                                    </m:ctrlPr>
                                  </m:sSubPr>
                                  <m:e>
                                    <m:r>
                                      <a:rPr lang="sr-Latn-RS" sz="2000" b="0" i="1" smtClean="0">
                                        <a:latin typeface="Cambria Math" panose="02040503050406030204" pitchFamily="18" charset="0"/>
                                      </a:rPr>
                                      <m:t>𝑘</m:t>
                                    </m:r>
                                  </m:e>
                                  <m:sub>
                                    <m:r>
                                      <a:rPr lang="en-US" sz="2000" i="1">
                                        <a:latin typeface="Cambria Math" panose="02040503050406030204" pitchFamily="18" charset="0"/>
                                      </a:rPr>
                                      <m:t>𝑛</m:t>
                                    </m:r>
                                  </m:sub>
                                </m:sSub>
                              </m:e>
                            </m:d>
                          </m:e>
                        </m:nary>
                      </m:oMath>
                    </m:oMathPara>
                  </a14:m>
                  <a:endParaRPr lang="en-US" sz="2000" dirty="0"/>
                </a:p>
              </p:txBody>
            </p:sp>
          </mc:Choice>
          <mc:Fallback xmlns="">
            <p:sp>
              <p:nvSpPr>
                <p:cNvPr id="33" name="Rectangle 32">
                  <a:extLst>
                    <a:ext uri="{FF2B5EF4-FFF2-40B4-BE49-F238E27FC236}">
                      <a16:creationId xmlns:a16="http://schemas.microsoft.com/office/drawing/2014/main" id="{FC547CBE-2608-4340-98B2-DB6171560A91}"/>
                    </a:ext>
                  </a:extLst>
                </p:cNvPr>
                <p:cNvSpPr>
                  <a:spLocks noRot="1" noChangeAspect="1" noMove="1" noResize="1" noEditPoints="1" noAdjustHandles="1" noChangeArrowheads="1" noChangeShapeType="1" noTextEdit="1"/>
                </p:cNvSpPr>
                <p:nvPr/>
              </p:nvSpPr>
              <p:spPr>
                <a:xfrm>
                  <a:off x="3271950" y="4862010"/>
                  <a:ext cx="6091476" cy="995081"/>
                </a:xfrm>
                <a:prstGeom prst="rect">
                  <a:avLst/>
                </a:prstGeom>
                <a:blipFill>
                  <a:blip r:embed="rId11"/>
                  <a:stretch>
                    <a:fillRect t="-93671" b="-1430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878A7ABF-6828-C346-B00C-470AF9D7B893}"/>
                    </a:ext>
                  </a:extLst>
                </p:cNvPr>
                <p:cNvSpPr/>
                <p:nvPr/>
              </p:nvSpPr>
              <p:spPr>
                <a:xfrm>
                  <a:off x="4723532" y="5857091"/>
                  <a:ext cx="2976841" cy="8733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m:t>
                        </m:r>
                        <m:f>
                          <m:fPr>
                            <m:ctrlPr>
                              <a:rPr lang="en-ZA" sz="2000" i="1">
                                <a:latin typeface="Cambria Math" panose="02040503050406030204" pitchFamily="18" charset="0"/>
                              </a:rPr>
                            </m:ctrlPr>
                          </m:fPr>
                          <m:num>
                            <m:r>
                              <a:rPr lang="sr-Latn-RS" sz="2000" i="1">
                                <a:latin typeface="Cambria Math" panose="02040503050406030204" pitchFamily="18" charset="0"/>
                              </a:rPr>
                              <m:t>1</m:t>
                            </m:r>
                          </m:num>
                          <m:den>
                            <m:rad>
                              <m:radPr>
                                <m:degHide m:val="on"/>
                                <m:ctrlPr>
                                  <a:rPr lang="en-ZA" sz="2000" i="1">
                                    <a:latin typeface="Cambria Math" panose="02040503050406030204" pitchFamily="18" charset="0"/>
                                  </a:rPr>
                                </m:ctrlPr>
                              </m:radPr>
                              <m:deg/>
                              <m:e>
                                <m:sSup>
                                  <m:sSupPr>
                                    <m:ctrlPr>
                                      <a:rPr lang="en-ZA" sz="2000" i="1">
                                        <a:latin typeface="Cambria Math" panose="02040503050406030204" pitchFamily="18" charset="0"/>
                                      </a:rPr>
                                    </m:ctrlPr>
                                  </m:sSupPr>
                                  <m:e>
                                    <m:r>
                                      <a:rPr lang="sr-Latn-RS" sz="2000" i="1">
                                        <a:latin typeface="Cambria Math" panose="02040503050406030204" pitchFamily="18" charset="0"/>
                                      </a:rPr>
                                      <m:t>2</m:t>
                                    </m:r>
                                  </m:e>
                                  <m:sup>
                                    <m:r>
                                      <a:rPr lang="sr-Latn-RS" sz="2000" i="1">
                                        <a:latin typeface="Cambria Math" panose="02040503050406030204" pitchFamily="18" charset="0"/>
                                      </a:rPr>
                                      <m:t>𝑛</m:t>
                                    </m:r>
                                  </m:sup>
                                </m:sSup>
                              </m:e>
                            </m:rad>
                          </m:den>
                        </m:f>
                        <m:nary>
                          <m:naryPr>
                            <m:chr m:val="∑"/>
                            <m:limLoc m:val="undOvr"/>
                            <m:supHide m:val="on"/>
                            <m:ctrlPr>
                              <a:rPr lang="en-ZA" sz="2000" i="1">
                                <a:latin typeface="Cambria Math" panose="02040503050406030204" pitchFamily="18" charset="0"/>
                              </a:rPr>
                            </m:ctrlPr>
                          </m:naryPr>
                          <m:sub>
                            <m:r>
                              <m:rPr>
                                <m:brk/>
                              </m:rPr>
                              <a:rPr lang="sr-Latn-RS" sz="2000" b="0" i="1" smtClean="0">
                                <a:latin typeface="Cambria Math" panose="02040503050406030204" pitchFamily="18" charset="0"/>
                              </a:rPr>
                              <m:t>𝑘</m:t>
                            </m:r>
                            <m:r>
                              <a:rPr lang="sr-Latn-RS" sz="2000" i="1">
                                <a:latin typeface="Cambria Math" panose="02040503050406030204" pitchFamily="18" charset="0"/>
                              </a:rPr>
                              <m:t>∈</m:t>
                            </m:r>
                            <m:sSup>
                              <m:sSupPr>
                                <m:ctrlPr>
                                  <a:rPr lang="en-ZA" sz="2000" i="1">
                                    <a:latin typeface="Cambria Math" panose="02040503050406030204" pitchFamily="18" charset="0"/>
                                  </a:rPr>
                                </m:ctrlPr>
                              </m:sSupPr>
                              <m:e>
                                <m:d>
                                  <m:dPr>
                                    <m:begChr m:val="{"/>
                                    <m:endChr m:val="}"/>
                                    <m:ctrlPr>
                                      <a:rPr lang="en-ZA" sz="2000" i="1">
                                        <a:latin typeface="Cambria Math" panose="02040503050406030204" pitchFamily="18" charset="0"/>
                                      </a:rPr>
                                    </m:ctrlPr>
                                  </m:dPr>
                                  <m:e>
                                    <m:r>
                                      <a:rPr lang="sr-Latn-RS" sz="2000" i="1">
                                        <a:latin typeface="Cambria Math" panose="02040503050406030204" pitchFamily="18" charset="0"/>
                                      </a:rPr>
                                      <m:t>0,1</m:t>
                                    </m:r>
                                  </m:e>
                                </m:d>
                              </m:e>
                              <m:sup>
                                <m:r>
                                  <a:rPr lang="sr-Latn-RS" sz="2000" i="1">
                                    <a:latin typeface="Cambria Math" panose="02040503050406030204" pitchFamily="18" charset="0"/>
                                  </a:rPr>
                                  <m:t>𝑛</m:t>
                                </m:r>
                              </m:sup>
                            </m:sSup>
                          </m:sub>
                          <m:sup/>
                          <m:e>
                            <m:sSup>
                              <m:sSupPr>
                                <m:ctrlPr>
                                  <a:rPr lang="en-ZA" sz="2000" i="1">
                                    <a:latin typeface="Cambria Math" panose="02040503050406030204" pitchFamily="18" charset="0"/>
                                  </a:rPr>
                                </m:ctrlPr>
                              </m:sSupPr>
                              <m:e>
                                <m:d>
                                  <m:dPr>
                                    <m:ctrlPr>
                                      <a:rPr lang="en-ZA" sz="2000" i="1">
                                        <a:latin typeface="Cambria Math" panose="02040503050406030204" pitchFamily="18" charset="0"/>
                                      </a:rPr>
                                    </m:ctrlPr>
                                  </m:dPr>
                                  <m:e>
                                    <m:r>
                                      <a:rPr lang="sr-Latn-RS" sz="2000" i="1">
                                        <a:latin typeface="Cambria Math" panose="02040503050406030204" pitchFamily="18" charset="0"/>
                                      </a:rPr>
                                      <m:t>−1</m:t>
                                    </m:r>
                                  </m:e>
                                </m:d>
                              </m:e>
                              <m:sup>
                                <m:r>
                                  <a:rPr lang="sr-Latn-RS" sz="2000" i="1">
                                    <a:latin typeface="Cambria Math" panose="02040503050406030204" pitchFamily="18" charset="0"/>
                                  </a:rPr>
                                  <m:t>𝑞</m:t>
                                </m:r>
                                <m:r>
                                  <a:rPr lang="sr-Latn-RS" sz="2000" i="1" smtClean="0">
                                    <a:latin typeface="Cambria Math" panose="02040503050406030204" pitchFamily="18" charset="0"/>
                                    <a:ea typeface="Cambria Math" panose="02040503050406030204" pitchFamily="18" charset="0"/>
                                  </a:rPr>
                                  <m:t>∙</m:t>
                                </m:r>
                                <m:r>
                                  <a:rPr lang="sr-Latn-RS" sz="2000" b="0" i="1" smtClean="0">
                                    <a:latin typeface="Cambria Math" panose="02040503050406030204" pitchFamily="18" charset="0"/>
                                  </a:rPr>
                                  <m:t>𝑘</m:t>
                                </m:r>
                              </m:sup>
                            </m:sSup>
                            <m:d>
                              <m:dPr>
                                <m:begChr m:val="|"/>
                                <m:endChr m:val="⟩"/>
                                <m:ctrlPr>
                                  <a:rPr lang="en-ZA" sz="2000" i="1">
                                    <a:latin typeface="Cambria Math" panose="02040503050406030204" pitchFamily="18" charset="0"/>
                                  </a:rPr>
                                </m:ctrlPr>
                              </m:dPr>
                              <m:e>
                                <m:r>
                                  <a:rPr lang="sr-Latn-RS" sz="2000" b="0" i="1" smtClean="0">
                                    <a:latin typeface="Cambria Math" panose="02040503050406030204" pitchFamily="18" charset="0"/>
                                  </a:rPr>
                                  <m:t>𝑘</m:t>
                                </m:r>
                              </m:e>
                            </m:d>
                            <m:r>
                              <a:rPr lang="sr-Latn-RS" sz="2000" i="1">
                                <a:latin typeface="Cambria Math" panose="02040503050406030204" pitchFamily="18" charset="0"/>
                              </a:rPr>
                              <m:t> </m:t>
                            </m:r>
                          </m:e>
                        </m:nary>
                      </m:oMath>
                    </m:oMathPara>
                  </a14:m>
                  <a:endParaRPr lang="en-US" sz="2000" dirty="0"/>
                </a:p>
              </p:txBody>
            </p:sp>
          </mc:Choice>
          <mc:Fallback xmlns="">
            <p:sp>
              <p:nvSpPr>
                <p:cNvPr id="46" name="Rectangle 45">
                  <a:extLst>
                    <a:ext uri="{FF2B5EF4-FFF2-40B4-BE49-F238E27FC236}">
                      <a16:creationId xmlns:a16="http://schemas.microsoft.com/office/drawing/2014/main" id="{878A7ABF-6828-C346-B00C-470AF9D7B893}"/>
                    </a:ext>
                  </a:extLst>
                </p:cNvPr>
                <p:cNvSpPr>
                  <a:spLocks noRot="1" noChangeAspect="1" noMove="1" noResize="1" noEditPoints="1" noAdjustHandles="1" noChangeArrowheads="1" noChangeShapeType="1" noTextEdit="1"/>
                </p:cNvSpPr>
                <p:nvPr/>
              </p:nvSpPr>
              <p:spPr>
                <a:xfrm>
                  <a:off x="4723532" y="5857091"/>
                  <a:ext cx="2976841" cy="873316"/>
                </a:xfrm>
                <a:prstGeom prst="rect">
                  <a:avLst/>
                </a:prstGeom>
                <a:blipFill>
                  <a:blip r:embed="rId12"/>
                  <a:stretch>
                    <a:fillRect t="-118571" b="-162857"/>
                  </a:stretch>
                </a:blipFill>
              </p:spPr>
              <p:txBody>
                <a:bodyPr/>
                <a:lstStyle/>
                <a:p>
                  <a:r>
                    <a:rPr lang="en-US">
                      <a:noFill/>
                    </a:rPr>
                    <a:t> </a:t>
                  </a:r>
                </a:p>
              </p:txBody>
            </p:sp>
          </mc:Fallback>
        </mc:AlternateContent>
        <p:grpSp>
          <p:nvGrpSpPr>
            <p:cNvPr id="49" name="Group 48">
              <a:extLst>
                <a:ext uri="{FF2B5EF4-FFF2-40B4-BE49-F238E27FC236}">
                  <a16:creationId xmlns:a16="http://schemas.microsoft.com/office/drawing/2014/main" id="{FC9CFE4D-DCC6-D740-9D11-96DF83611FBA}"/>
                </a:ext>
              </a:extLst>
            </p:cNvPr>
            <p:cNvGrpSpPr/>
            <p:nvPr/>
          </p:nvGrpSpPr>
          <p:grpSpPr>
            <a:xfrm>
              <a:off x="638194" y="5942696"/>
              <a:ext cx="1603550" cy="720000"/>
              <a:chOff x="9910446" y="5217879"/>
              <a:chExt cx="1603550" cy="720000"/>
            </a:xfrm>
          </p:grpSpPr>
          <p:cxnSp>
            <p:nvCxnSpPr>
              <p:cNvPr id="50" name="Straight Connector 49">
                <a:extLst>
                  <a:ext uri="{FF2B5EF4-FFF2-40B4-BE49-F238E27FC236}">
                    <a16:creationId xmlns:a16="http://schemas.microsoft.com/office/drawing/2014/main" id="{18C55D5D-D999-5C46-AE8B-1742D61FCD82}"/>
                  </a:ext>
                </a:extLst>
              </p:cNvPr>
              <p:cNvCxnSpPr>
                <a:cxnSpLocks/>
              </p:cNvCxnSpPr>
              <p:nvPr/>
            </p:nvCxnSpPr>
            <p:spPr>
              <a:xfrm>
                <a:off x="9910446" y="5565785"/>
                <a:ext cx="160355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F888914-25EF-794E-9736-1A70A88C41AD}"/>
                  </a:ext>
                </a:extLst>
              </p:cNvPr>
              <p:cNvSpPr/>
              <p:nvPr/>
            </p:nvSpPr>
            <p:spPr>
              <a:xfrm>
                <a:off x="10195057" y="521787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8624C727-7904-3E40-8314-CBEA09DEA865}"/>
                    </a:ext>
                  </a:extLst>
                </p:cNvPr>
                <p:cNvSpPr/>
                <p:nvPr/>
              </p:nvSpPr>
              <p:spPr>
                <a:xfrm>
                  <a:off x="151822" y="5775728"/>
                  <a:ext cx="78354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2060"/>
                            </a:solidFill>
                            <a:latin typeface="Cambria Math" panose="02040503050406030204" pitchFamily="18" charset="0"/>
                            <a:ea typeface="Cambria Math" panose="02040503050406030204" pitchFamily="18" charset="0"/>
                          </a:rPr>
                          <m:t>|</m:t>
                        </m:r>
                        <m:d>
                          <m:dPr>
                            <m:begChr m:val=""/>
                            <m:endChr m:val="⟩"/>
                            <m:ctrlPr>
                              <a:rPr lang="en-US" sz="2400" i="1">
                                <a:solidFill>
                                  <a:srgbClr val="002060"/>
                                </a:solidFill>
                                <a:latin typeface="Cambria Math" panose="02040503050406030204" pitchFamily="18" charset="0"/>
                                <a:ea typeface="Cambria Math" panose="02040503050406030204" pitchFamily="18" charset="0"/>
                              </a:rPr>
                            </m:ctrlPr>
                          </m:dPr>
                          <m:e>
                            <m:sSub>
                              <m:sSubPr>
                                <m:ctrlPr>
                                  <a:rPr lang="en-US" sz="2400" i="1" smtClean="0">
                                    <a:solidFill>
                                      <a:srgbClr val="002060"/>
                                    </a:solidFill>
                                    <a:latin typeface="Cambria Math" panose="02040503050406030204" pitchFamily="18" charset="0"/>
                                    <a:ea typeface="Cambria Math" panose="02040503050406030204" pitchFamily="18" charset="0"/>
                                  </a:rPr>
                                </m:ctrlPr>
                              </m:sSubPr>
                              <m:e>
                                <m:r>
                                  <a:rPr lang="sr-Latn-RS" sz="2400" b="0" i="1" smtClean="0">
                                    <a:solidFill>
                                      <a:srgbClr val="002060"/>
                                    </a:solidFill>
                                    <a:latin typeface="Cambria Math" panose="02040503050406030204" pitchFamily="18" charset="0"/>
                                    <a:ea typeface="Cambria Math" panose="02040503050406030204" pitchFamily="18" charset="0"/>
                                  </a:rPr>
                                  <m:t>𝑞</m:t>
                                </m:r>
                              </m:e>
                              <m:sub>
                                <m:r>
                                  <a:rPr lang="en-US" sz="2400" b="0" i="1" smtClean="0">
                                    <a:solidFill>
                                      <a:srgbClr val="002060"/>
                                    </a:solidFill>
                                    <a:latin typeface="Cambria Math" panose="02040503050406030204" pitchFamily="18" charset="0"/>
                                    <a:ea typeface="Cambria Math" panose="02040503050406030204" pitchFamily="18" charset="0"/>
                                  </a:rPr>
                                  <m:t>𝑛</m:t>
                                </m:r>
                              </m:sub>
                            </m:sSub>
                          </m:e>
                        </m:d>
                      </m:oMath>
                    </m:oMathPara>
                  </a14:m>
                  <a:endParaRPr lang="en-US" sz="2400" dirty="0"/>
                </a:p>
              </p:txBody>
            </p:sp>
          </mc:Choice>
          <mc:Fallback xmlns="">
            <p:sp>
              <p:nvSpPr>
                <p:cNvPr id="52" name="Rectangle 51">
                  <a:extLst>
                    <a:ext uri="{FF2B5EF4-FFF2-40B4-BE49-F238E27FC236}">
                      <a16:creationId xmlns:a16="http://schemas.microsoft.com/office/drawing/2014/main" id="{8624C727-7904-3E40-8314-CBEA09DEA865}"/>
                    </a:ext>
                  </a:extLst>
                </p:cNvPr>
                <p:cNvSpPr>
                  <a:spLocks noRot="1" noChangeAspect="1" noMove="1" noResize="1" noEditPoints="1" noAdjustHandles="1" noChangeArrowheads="1" noChangeShapeType="1" noTextEdit="1"/>
                </p:cNvSpPr>
                <p:nvPr/>
              </p:nvSpPr>
              <p:spPr>
                <a:xfrm>
                  <a:off x="151822" y="5775728"/>
                  <a:ext cx="783548" cy="461665"/>
                </a:xfrm>
                <a:prstGeom prst="rect">
                  <a:avLst/>
                </a:prstGeom>
                <a:blipFill>
                  <a:blip r:embed="rId13"/>
                  <a:stretch>
                    <a:fillRect l="-3226" t="-124324" r="-40323" b="-191892"/>
                  </a:stretch>
                </a:blipFill>
              </p:spPr>
              <p:txBody>
                <a:bodyPr/>
                <a:lstStyle/>
                <a:p>
                  <a:r>
                    <a:rPr lang="en-US">
                      <a:noFill/>
                    </a:rPr>
                    <a:t> </a:t>
                  </a:r>
                </a:p>
              </p:txBody>
            </p:sp>
          </mc:Fallback>
        </mc:AlternateContent>
        <p:sp>
          <p:nvSpPr>
            <p:cNvPr id="53" name="Oval 52">
              <a:extLst>
                <a:ext uri="{FF2B5EF4-FFF2-40B4-BE49-F238E27FC236}">
                  <a16:creationId xmlns:a16="http://schemas.microsoft.com/office/drawing/2014/main" id="{D35A01ED-14EA-B946-8CD3-989509FA9F87}"/>
                </a:ext>
              </a:extLst>
            </p:cNvPr>
            <p:cNvSpPr/>
            <p:nvPr/>
          </p:nvSpPr>
          <p:spPr>
            <a:xfrm>
              <a:off x="1345781" y="5107359"/>
              <a:ext cx="90000" cy="9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3EA52E9-C414-CD49-B7B1-199BE8D86811}"/>
                </a:ext>
              </a:extLst>
            </p:cNvPr>
            <p:cNvSpPr/>
            <p:nvPr/>
          </p:nvSpPr>
          <p:spPr>
            <a:xfrm>
              <a:off x="1345781" y="5419296"/>
              <a:ext cx="90000" cy="9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FB09ED57-5480-8348-8320-FA71E366D04A}"/>
                </a:ext>
              </a:extLst>
            </p:cNvPr>
            <p:cNvSpPr/>
            <p:nvPr/>
          </p:nvSpPr>
          <p:spPr>
            <a:xfrm>
              <a:off x="1345781" y="5731233"/>
              <a:ext cx="90000" cy="9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Brace 55">
              <a:extLst>
                <a:ext uri="{FF2B5EF4-FFF2-40B4-BE49-F238E27FC236}">
                  <a16:creationId xmlns:a16="http://schemas.microsoft.com/office/drawing/2014/main" id="{D26A1260-651C-9E4A-B181-268D398BB0D4}"/>
                </a:ext>
              </a:extLst>
            </p:cNvPr>
            <p:cNvSpPr/>
            <p:nvPr/>
          </p:nvSpPr>
          <p:spPr>
            <a:xfrm>
              <a:off x="2672404" y="3280768"/>
              <a:ext cx="472458" cy="3381927"/>
            </a:xfrm>
            <a:prstGeom prst="rightBrace">
              <a:avLst>
                <a:gd name="adj1" fmla="val 33422"/>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98501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A0EC26-90BB-1445-9C08-4D25D1DA9447}"/>
              </a:ext>
            </a:extLst>
          </p:cNvPr>
          <p:cNvSpPr txBox="1"/>
          <p:nvPr/>
        </p:nvSpPr>
        <p:spPr>
          <a:xfrm>
            <a:off x="1580305" y="2533074"/>
            <a:ext cx="4581703" cy="1323439"/>
          </a:xfrm>
          <a:prstGeom prst="rect">
            <a:avLst/>
          </a:prstGeom>
          <a:noFill/>
        </p:spPr>
        <p:txBody>
          <a:bodyPr wrap="none" rtlCol="0">
            <a:spAutoFit/>
          </a:bodyPr>
          <a:lstStyle/>
          <a:p>
            <a:r>
              <a:rPr lang="en-US" sz="4000" dirty="0">
                <a:latin typeface="Comic Sans MS" panose="030F0902030302020204" pitchFamily="66" charset="0"/>
              </a:rPr>
              <a:t>Deutsch algorithm</a:t>
            </a:r>
          </a:p>
          <a:p>
            <a:pPr algn="ctr"/>
            <a:r>
              <a:rPr lang="en-US" sz="4000" dirty="0">
                <a:latin typeface="Comic Sans MS" panose="030F0902030302020204" pitchFamily="66" charset="0"/>
              </a:rPr>
              <a:t>(1985)</a:t>
            </a:r>
          </a:p>
        </p:txBody>
      </p:sp>
      <p:sp>
        <p:nvSpPr>
          <p:cNvPr id="7" name="TextBox 6">
            <a:extLst>
              <a:ext uri="{FF2B5EF4-FFF2-40B4-BE49-F238E27FC236}">
                <a16:creationId xmlns:a16="http://schemas.microsoft.com/office/drawing/2014/main" id="{D7D985D0-71E5-FA4A-B888-53A25D5971AC}"/>
              </a:ext>
            </a:extLst>
          </p:cNvPr>
          <p:cNvSpPr txBox="1"/>
          <p:nvPr/>
        </p:nvSpPr>
        <p:spPr>
          <a:xfrm>
            <a:off x="7987271" y="4495042"/>
            <a:ext cx="3661259" cy="461665"/>
          </a:xfrm>
          <a:prstGeom prst="rect">
            <a:avLst/>
          </a:prstGeom>
          <a:noFill/>
        </p:spPr>
        <p:txBody>
          <a:bodyPr wrap="none" rtlCol="0">
            <a:spAutoFit/>
          </a:bodyPr>
          <a:lstStyle/>
          <a:p>
            <a:r>
              <a:rPr lang="en-US" sz="2400" dirty="0"/>
              <a:t>David Deutsch  (born 1953)</a:t>
            </a:r>
          </a:p>
        </p:txBody>
      </p:sp>
      <p:pic>
        <p:nvPicPr>
          <p:cNvPr id="4" name="Picture 3">
            <a:extLst>
              <a:ext uri="{FF2B5EF4-FFF2-40B4-BE49-F238E27FC236}">
                <a16:creationId xmlns:a16="http://schemas.microsoft.com/office/drawing/2014/main" id="{813945AE-8D8B-9F43-B5F8-720E06A70287}"/>
              </a:ext>
            </a:extLst>
          </p:cNvPr>
          <p:cNvPicPr>
            <a:picLocks noChangeAspect="1"/>
          </p:cNvPicPr>
          <p:nvPr/>
        </p:nvPicPr>
        <p:blipFill>
          <a:blip r:embed="rId3"/>
          <a:stretch>
            <a:fillRect/>
          </a:stretch>
        </p:blipFill>
        <p:spPr>
          <a:xfrm>
            <a:off x="8263390" y="361345"/>
            <a:ext cx="2662518" cy="3993777"/>
          </a:xfrm>
          <a:prstGeom prst="rect">
            <a:avLst/>
          </a:prstGeom>
        </p:spPr>
      </p:pic>
      <p:sp>
        <p:nvSpPr>
          <p:cNvPr id="2" name="TextBox 1">
            <a:extLst>
              <a:ext uri="{FF2B5EF4-FFF2-40B4-BE49-F238E27FC236}">
                <a16:creationId xmlns:a16="http://schemas.microsoft.com/office/drawing/2014/main" id="{8BDC068F-7C08-9344-902F-A12FBA46537B}"/>
              </a:ext>
            </a:extLst>
          </p:cNvPr>
          <p:cNvSpPr txBox="1"/>
          <p:nvPr/>
        </p:nvSpPr>
        <p:spPr>
          <a:xfrm>
            <a:off x="0" y="5387606"/>
            <a:ext cx="12324017" cy="830997"/>
          </a:xfrm>
          <a:prstGeom prst="rect">
            <a:avLst/>
          </a:prstGeom>
          <a:noFill/>
        </p:spPr>
        <p:txBody>
          <a:bodyPr wrap="square" rtlCol="0">
            <a:spAutoFit/>
          </a:bodyPr>
          <a:lstStyle/>
          <a:p>
            <a:r>
              <a:rPr lang="en-ZA" sz="2400" dirty="0"/>
              <a:t>D. Deutsch, “Quantum theory, the Church–Turing principle and the universal quantum computer,” </a:t>
            </a:r>
            <a:r>
              <a:rPr lang="en-ZA" sz="2400" i="1" dirty="0"/>
              <a:t>Proceedings of the Royal Society of London A</a:t>
            </a:r>
            <a:r>
              <a:rPr lang="en-ZA" sz="2400" dirty="0"/>
              <a:t>, vol. 400, no. 1818, pp. 97–117, 1985.</a:t>
            </a:r>
            <a:endParaRPr lang="en-US" sz="2400" dirty="0"/>
          </a:p>
        </p:txBody>
      </p:sp>
      <p:sp>
        <p:nvSpPr>
          <p:cNvPr id="8" name="Slide Number Placeholder 2">
            <a:extLst>
              <a:ext uri="{FF2B5EF4-FFF2-40B4-BE49-F238E27FC236}">
                <a16:creationId xmlns:a16="http://schemas.microsoft.com/office/drawing/2014/main" id="{A6229A0F-8D9A-8645-97C4-68FD46C914C8}"/>
              </a:ext>
            </a:extLst>
          </p:cNvPr>
          <p:cNvSpPr>
            <a:spLocks noGrp="1"/>
          </p:cNvSpPr>
          <p:nvPr>
            <p:ph type="sldNum" sz="quarter" idx="12"/>
          </p:nvPr>
        </p:nvSpPr>
        <p:spPr>
          <a:xfrm>
            <a:off x="0" y="6492875"/>
            <a:ext cx="1012371" cy="365125"/>
          </a:xfrm>
        </p:spPr>
        <p:txBody>
          <a:bodyPr/>
          <a:lstStyle/>
          <a:p>
            <a:fld id="{591A223C-FA10-BC46-A853-03BA373D023C}" type="slidenum">
              <a:rPr lang="en-US" smtClean="0"/>
              <a:t>6</a:t>
            </a:fld>
            <a:endParaRPr lang="en-US"/>
          </a:p>
        </p:txBody>
      </p:sp>
    </p:spTree>
    <p:extLst>
      <p:ext uri="{BB962C8B-B14F-4D97-AF65-F5344CB8AC3E}">
        <p14:creationId xmlns:p14="http://schemas.microsoft.com/office/powerpoint/2010/main" val="2482916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2630D94C-5CDF-BA4A-AC2B-83DDF19AC211}"/>
              </a:ext>
            </a:extLst>
          </p:cNvPr>
          <p:cNvSpPr/>
          <p:nvPr/>
        </p:nvSpPr>
        <p:spPr>
          <a:xfrm>
            <a:off x="907654" y="1769450"/>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7" name="Right Triangle 6">
            <a:extLst>
              <a:ext uri="{FF2B5EF4-FFF2-40B4-BE49-F238E27FC236}">
                <a16:creationId xmlns:a16="http://schemas.microsoft.com/office/drawing/2014/main" id="{3E2788EE-EEE8-E04B-B06A-554C4A348034}"/>
              </a:ext>
            </a:extLst>
          </p:cNvPr>
          <p:cNvSpPr/>
          <p:nvPr/>
        </p:nvSpPr>
        <p:spPr>
          <a:xfrm>
            <a:off x="2129352" y="2956084"/>
            <a:ext cx="554636" cy="389745"/>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19DC550-314D-2F45-A094-CF61DEAA40F2}"/>
              </a:ext>
            </a:extLst>
          </p:cNvPr>
          <p:cNvSpPr>
            <a:spLocks noGrp="1"/>
          </p:cNvSpPr>
          <p:nvPr>
            <p:ph type="title"/>
          </p:nvPr>
        </p:nvSpPr>
        <p:spPr/>
        <p:txBody>
          <a:bodyPr/>
          <a:lstStyle/>
          <a:p>
            <a:r>
              <a:rPr lang="en-US" dirty="0"/>
              <a:t>Informal Problem Description</a:t>
            </a:r>
          </a:p>
        </p:txBody>
      </p:sp>
      <p:sp>
        <p:nvSpPr>
          <p:cNvPr id="3" name="Slide Number Placeholder 2">
            <a:extLst>
              <a:ext uri="{FF2B5EF4-FFF2-40B4-BE49-F238E27FC236}">
                <a16:creationId xmlns:a16="http://schemas.microsoft.com/office/drawing/2014/main" id="{83D1796D-EB17-1049-8E89-E63F16233974}"/>
              </a:ext>
            </a:extLst>
          </p:cNvPr>
          <p:cNvSpPr>
            <a:spLocks noGrp="1"/>
          </p:cNvSpPr>
          <p:nvPr>
            <p:ph type="sldNum" sz="quarter" idx="12"/>
          </p:nvPr>
        </p:nvSpPr>
        <p:spPr/>
        <p:txBody>
          <a:bodyPr/>
          <a:lstStyle/>
          <a:p>
            <a:fld id="{591A223C-FA10-BC46-A853-03BA373D023C}" type="slidenum">
              <a:rPr lang="en-US" smtClean="0"/>
              <a:t>7</a:t>
            </a:fld>
            <a:endParaRPr lang="en-US"/>
          </a:p>
        </p:txBody>
      </p:sp>
      <mc:AlternateContent xmlns:mc="http://schemas.openxmlformats.org/markup-compatibility/2006" xmlns:a14="http://schemas.microsoft.com/office/drawing/2010/main">
        <mc:Choice Requires="a14">
          <p:sp>
            <p:nvSpPr>
              <p:cNvPr id="5" name="Rounded Rectangle 4">
                <a:extLst>
                  <a:ext uri="{FF2B5EF4-FFF2-40B4-BE49-F238E27FC236}">
                    <a16:creationId xmlns:a16="http://schemas.microsoft.com/office/drawing/2014/main" id="{605764C0-EEA6-2E48-BEE6-C217EDD67E44}"/>
                  </a:ext>
                </a:extLst>
              </p:cNvPr>
              <p:cNvSpPr/>
              <p:nvPr/>
            </p:nvSpPr>
            <p:spPr>
              <a:xfrm>
                <a:off x="907654" y="2566340"/>
                <a:ext cx="1349115" cy="779489"/>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𝑓</m:t>
                      </m:r>
                      <m:d>
                        <m:dPr>
                          <m:ctrlPr>
                            <a:rPr lang="en-US" sz="3200" i="1" smtClean="0">
                              <a:latin typeface="Cambria Math" panose="02040503050406030204" pitchFamily="18" charset="0"/>
                            </a:rPr>
                          </m:ctrlPr>
                        </m:dPr>
                        <m:e>
                          <m:r>
                            <a:rPr lang="en-US" sz="3200" b="0" i="1" smtClean="0">
                              <a:latin typeface="Cambria Math" panose="02040503050406030204" pitchFamily="18" charset="0"/>
                            </a:rPr>
                            <m:t>𝑥</m:t>
                          </m:r>
                        </m:e>
                      </m:d>
                    </m:oMath>
                  </m:oMathPara>
                </a14:m>
                <a:endParaRPr lang="en-US" sz="3200" dirty="0"/>
              </a:p>
            </p:txBody>
          </p:sp>
        </mc:Choice>
        <mc:Fallback xmlns="">
          <p:sp>
            <p:nvSpPr>
              <p:cNvPr id="5" name="Rounded Rectangle 4">
                <a:extLst>
                  <a:ext uri="{FF2B5EF4-FFF2-40B4-BE49-F238E27FC236}">
                    <a16:creationId xmlns:a16="http://schemas.microsoft.com/office/drawing/2014/main" id="{605764C0-EEA6-2E48-BEE6-C217EDD67E44}"/>
                  </a:ext>
                </a:extLst>
              </p:cNvPr>
              <p:cNvSpPr>
                <a:spLocks noRot="1" noChangeAspect="1" noMove="1" noResize="1" noEditPoints="1" noAdjustHandles="1" noChangeArrowheads="1" noChangeShapeType="1" noTextEdit="1"/>
              </p:cNvSpPr>
              <p:nvPr/>
            </p:nvSpPr>
            <p:spPr>
              <a:xfrm>
                <a:off x="907654" y="2566340"/>
                <a:ext cx="1349115" cy="779489"/>
              </a:xfrm>
              <a:prstGeom prst="roundRect">
                <a:avLst/>
              </a:prstGeom>
              <a:blipFill>
                <a:blip r:embed="rId3"/>
                <a:stretch>
                  <a:fillRect b="-322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Manual Operation 5">
                <a:extLst>
                  <a:ext uri="{FF2B5EF4-FFF2-40B4-BE49-F238E27FC236}">
                    <a16:creationId xmlns:a16="http://schemas.microsoft.com/office/drawing/2014/main" id="{D1324228-3756-204A-8C29-C4EDAE0D0640}"/>
                  </a:ext>
                </a:extLst>
              </p:cNvPr>
              <p:cNvSpPr/>
              <p:nvPr/>
            </p:nvSpPr>
            <p:spPr>
              <a:xfrm>
                <a:off x="840880" y="2052560"/>
                <a:ext cx="867385" cy="513780"/>
              </a:xfrm>
              <a:prstGeom prst="flowChartManualOperation">
                <a:avLst/>
              </a:prstGeom>
              <a:gradFill flip="none" rotWithShape="1">
                <a:gsLst>
                  <a:gs pos="0">
                    <a:schemeClr val="accent1">
                      <a:lumMod val="67000"/>
                    </a:schemeClr>
                  </a:gs>
                  <a:gs pos="29000">
                    <a:schemeClr val="accent1">
                      <a:lumMod val="97000"/>
                      <a:lumOff val="3000"/>
                    </a:schemeClr>
                  </a:gs>
                  <a:gs pos="77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bg1"/>
                          </a:solidFill>
                          <a:latin typeface="Cambria Math" panose="02040503050406030204" pitchFamily="18" charset="0"/>
                        </a:rPr>
                        <m:t> </m:t>
                      </m:r>
                      <m:r>
                        <a:rPr lang="en-US" sz="3200" i="1" smtClean="0">
                          <a:solidFill>
                            <a:schemeClr val="bg1"/>
                          </a:solidFill>
                          <a:latin typeface="Cambria Math" panose="02040503050406030204" pitchFamily="18" charset="0"/>
                        </a:rPr>
                        <m:t>𝑥</m:t>
                      </m:r>
                    </m:oMath>
                  </m:oMathPara>
                </a14:m>
                <a:endParaRPr lang="en-US" sz="3200" dirty="0">
                  <a:solidFill>
                    <a:schemeClr val="bg1"/>
                  </a:solidFill>
                </a:endParaRPr>
              </a:p>
            </p:txBody>
          </p:sp>
        </mc:Choice>
        <mc:Fallback xmlns="">
          <p:sp>
            <p:nvSpPr>
              <p:cNvPr id="6" name="Manual Operation 5">
                <a:extLst>
                  <a:ext uri="{FF2B5EF4-FFF2-40B4-BE49-F238E27FC236}">
                    <a16:creationId xmlns:a16="http://schemas.microsoft.com/office/drawing/2014/main" id="{D1324228-3756-204A-8C29-C4EDAE0D0640}"/>
                  </a:ext>
                </a:extLst>
              </p:cNvPr>
              <p:cNvSpPr>
                <a:spLocks noRot="1" noChangeAspect="1" noMove="1" noResize="1" noEditPoints="1" noAdjustHandles="1" noChangeArrowheads="1" noChangeShapeType="1" noTextEdit="1"/>
              </p:cNvSpPr>
              <p:nvPr/>
            </p:nvSpPr>
            <p:spPr>
              <a:xfrm>
                <a:off x="840880" y="2052560"/>
                <a:ext cx="867385" cy="513780"/>
              </a:xfrm>
              <a:prstGeom prst="flowChartManualOperation">
                <a:avLst/>
              </a:prstGeom>
              <a:blipFill>
                <a:blip r:embed="rId4"/>
                <a:stretch>
                  <a:fillRect t="-4878" b="-34146"/>
                </a:stretch>
              </a:blipFill>
              <a:ln>
                <a:noFill/>
              </a:ln>
            </p:spPr>
            <p:txBody>
              <a:bodyPr/>
              <a:lstStyle/>
              <a:p>
                <a:r>
                  <a:rPr lang="en-US">
                    <a:noFill/>
                  </a:rPr>
                  <a:t> </a:t>
                </a:r>
              </a:p>
            </p:txBody>
          </p:sp>
        </mc:Fallback>
      </mc:AlternateContent>
      <p:sp>
        <p:nvSpPr>
          <p:cNvPr id="9" name="Oval 8">
            <a:extLst>
              <a:ext uri="{FF2B5EF4-FFF2-40B4-BE49-F238E27FC236}">
                <a16:creationId xmlns:a16="http://schemas.microsoft.com/office/drawing/2014/main" id="{7058AA35-D2A4-B14F-855C-8F82F2CE89E4}"/>
              </a:ext>
            </a:extLst>
          </p:cNvPr>
          <p:cNvSpPr/>
          <p:nvPr/>
        </p:nvSpPr>
        <p:spPr>
          <a:xfrm>
            <a:off x="833238" y="1435670"/>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 name="Oval 9">
            <a:extLst>
              <a:ext uri="{FF2B5EF4-FFF2-40B4-BE49-F238E27FC236}">
                <a16:creationId xmlns:a16="http://schemas.microsoft.com/office/drawing/2014/main" id="{DA62DC61-DAAD-EA44-B5D2-2AA71A42B773}"/>
              </a:ext>
            </a:extLst>
          </p:cNvPr>
          <p:cNvSpPr/>
          <p:nvPr/>
        </p:nvSpPr>
        <p:spPr>
          <a:xfrm>
            <a:off x="510446" y="1056947"/>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1" name="Oval 10">
            <a:extLst>
              <a:ext uri="{FF2B5EF4-FFF2-40B4-BE49-F238E27FC236}">
                <a16:creationId xmlns:a16="http://schemas.microsoft.com/office/drawing/2014/main" id="{1963CD97-0DB6-C345-9C77-73EB0EDC1A13}"/>
              </a:ext>
            </a:extLst>
          </p:cNvPr>
          <p:cNvSpPr/>
          <p:nvPr/>
        </p:nvSpPr>
        <p:spPr>
          <a:xfrm>
            <a:off x="690446" y="1242560"/>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34" name="Straight Connector 33">
            <a:extLst>
              <a:ext uri="{FF2B5EF4-FFF2-40B4-BE49-F238E27FC236}">
                <a16:creationId xmlns:a16="http://schemas.microsoft.com/office/drawing/2014/main" id="{709FC74C-E6BE-254C-937D-E4E316CEEE3C}"/>
              </a:ext>
            </a:extLst>
          </p:cNvPr>
          <p:cNvCxnSpPr>
            <a:cxnSpLocks/>
          </p:cNvCxnSpPr>
          <p:nvPr/>
        </p:nvCxnSpPr>
        <p:spPr>
          <a:xfrm>
            <a:off x="2605407" y="3338685"/>
            <a:ext cx="1440000"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6BE31819-6E8E-644D-B773-C4D49595A0EF}"/>
              </a:ext>
            </a:extLst>
          </p:cNvPr>
          <p:cNvSpPr/>
          <p:nvPr/>
        </p:nvSpPr>
        <p:spPr>
          <a:xfrm>
            <a:off x="2406670" y="2856072"/>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37" name="Oval 36">
            <a:extLst>
              <a:ext uri="{FF2B5EF4-FFF2-40B4-BE49-F238E27FC236}">
                <a16:creationId xmlns:a16="http://schemas.microsoft.com/office/drawing/2014/main" id="{42208EEA-E781-5D4E-9E24-1C422E02476A}"/>
              </a:ext>
            </a:extLst>
          </p:cNvPr>
          <p:cNvSpPr/>
          <p:nvPr/>
        </p:nvSpPr>
        <p:spPr>
          <a:xfrm>
            <a:off x="2833889" y="2970956"/>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38" name="Oval 37">
            <a:extLst>
              <a:ext uri="{FF2B5EF4-FFF2-40B4-BE49-F238E27FC236}">
                <a16:creationId xmlns:a16="http://schemas.microsoft.com/office/drawing/2014/main" id="{379C8284-6165-394D-AEA1-76A613E35BC7}"/>
              </a:ext>
            </a:extLst>
          </p:cNvPr>
          <p:cNvSpPr/>
          <p:nvPr/>
        </p:nvSpPr>
        <p:spPr>
          <a:xfrm>
            <a:off x="3261108" y="2956084"/>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39" name="Oval 38">
            <a:extLst>
              <a:ext uri="{FF2B5EF4-FFF2-40B4-BE49-F238E27FC236}">
                <a16:creationId xmlns:a16="http://schemas.microsoft.com/office/drawing/2014/main" id="{1593B8D6-94D9-354C-9E54-DD0A9BB55BF2}"/>
              </a:ext>
            </a:extLst>
          </p:cNvPr>
          <p:cNvSpPr/>
          <p:nvPr/>
        </p:nvSpPr>
        <p:spPr>
          <a:xfrm>
            <a:off x="7175030" y="1751599"/>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0" name="Right Triangle 39">
            <a:extLst>
              <a:ext uri="{FF2B5EF4-FFF2-40B4-BE49-F238E27FC236}">
                <a16:creationId xmlns:a16="http://schemas.microsoft.com/office/drawing/2014/main" id="{30D66648-C96A-5F49-9A66-A2944C5CBEBB}"/>
              </a:ext>
            </a:extLst>
          </p:cNvPr>
          <p:cNvSpPr/>
          <p:nvPr/>
        </p:nvSpPr>
        <p:spPr>
          <a:xfrm>
            <a:off x="8396728" y="2938233"/>
            <a:ext cx="554636" cy="389745"/>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Rounded Rectangle 40">
                <a:extLst>
                  <a:ext uri="{FF2B5EF4-FFF2-40B4-BE49-F238E27FC236}">
                    <a16:creationId xmlns:a16="http://schemas.microsoft.com/office/drawing/2014/main" id="{A9AEBDDC-ED9A-1641-8194-568C2E4B4E3C}"/>
                  </a:ext>
                </a:extLst>
              </p:cNvPr>
              <p:cNvSpPr/>
              <p:nvPr/>
            </p:nvSpPr>
            <p:spPr>
              <a:xfrm>
                <a:off x="7175030" y="2548489"/>
                <a:ext cx="1349115" cy="779489"/>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𝑓</m:t>
                      </m:r>
                      <m:d>
                        <m:dPr>
                          <m:ctrlPr>
                            <a:rPr lang="en-US" sz="3200" i="1" smtClean="0">
                              <a:latin typeface="Cambria Math" panose="02040503050406030204" pitchFamily="18" charset="0"/>
                            </a:rPr>
                          </m:ctrlPr>
                        </m:dPr>
                        <m:e>
                          <m:r>
                            <a:rPr lang="en-US" sz="3200" b="0" i="1" smtClean="0">
                              <a:latin typeface="Cambria Math" panose="02040503050406030204" pitchFamily="18" charset="0"/>
                            </a:rPr>
                            <m:t>𝑥</m:t>
                          </m:r>
                        </m:e>
                      </m:d>
                    </m:oMath>
                  </m:oMathPara>
                </a14:m>
                <a:endParaRPr lang="en-US" sz="3200" dirty="0"/>
              </a:p>
            </p:txBody>
          </p:sp>
        </mc:Choice>
        <mc:Fallback xmlns="">
          <p:sp>
            <p:nvSpPr>
              <p:cNvPr id="41" name="Rounded Rectangle 40">
                <a:extLst>
                  <a:ext uri="{FF2B5EF4-FFF2-40B4-BE49-F238E27FC236}">
                    <a16:creationId xmlns:a16="http://schemas.microsoft.com/office/drawing/2014/main" id="{A9AEBDDC-ED9A-1641-8194-568C2E4B4E3C}"/>
                  </a:ext>
                </a:extLst>
              </p:cNvPr>
              <p:cNvSpPr>
                <a:spLocks noRot="1" noChangeAspect="1" noMove="1" noResize="1" noEditPoints="1" noAdjustHandles="1" noChangeArrowheads="1" noChangeShapeType="1" noTextEdit="1"/>
              </p:cNvSpPr>
              <p:nvPr/>
            </p:nvSpPr>
            <p:spPr>
              <a:xfrm>
                <a:off x="7175030" y="2548489"/>
                <a:ext cx="1349115" cy="779489"/>
              </a:xfrm>
              <a:prstGeom prst="roundRect">
                <a:avLst/>
              </a:prstGeom>
              <a:blipFill>
                <a:blip r:embed="rId5"/>
                <a:stretch>
                  <a:fillRect b="-322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Manual Operation 41">
                <a:extLst>
                  <a:ext uri="{FF2B5EF4-FFF2-40B4-BE49-F238E27FC236}">
                    <a16:creationId xmlns:a16="http://schemas.microsoft.com/office/drawing/2014/main" id="{CEC2AE1D-E193-4348-A89B-C582EBEA8EB9}"/>
                  </a:ext>
                </a:extLst>
              </p:cNvPr>
              <p:cNvSpPr/>
              <p:nvPr/>
            </p:nvSpPr>
            <p:spPr>
              <a:xfrm>
                <a:off x="7108256" y="2034709"/>
                <a:ext cx="867385" cy="513780"/>
              </a:xfrm>
              <a:prstGeom prst="flowChartManualOperation">
                <a:avLst/>
              </a:prstGeom>
              <a:gradFill flip="none" rotWithShape="1">
                <a:gsLst>
                  <a:gs pos="0">
                    <a:schemeClr val="accent1">
                      <a:lumMod val="67000"/>
                    </a:schemeClr>
                  </a:gs>
                  <a:gs pos="29000">
                    <a:schemeClr val="accent1">
                      <a:lumMod val="97000"/>
                      <a:lumOff val="3000"/>
                    </a:schemeClr>
                  </a:gs>
                  <a:gs pos="77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bg1"/>
                          </a:solidFill>
                          <a:latin typeface="Cambria Math" panose="02040503050406030204" pitchFamily="18" charset="0"/>
                        </a:rPr>
                        <m:t> </m:t>
                      </m:r>
                      <m:r>
                        <a:rPr lang="en-US" sz="3200" i="1" smtClean="0">
                          <a:solidFill>
                            <a:schemeClr val="bg1"/>
                          </a:solidFill>
                          <a:latin typeface="Cambria Math" panose="02040503050406030204" pitchFamily="18" charset="0"/>
                        </a:rPr>
                        <m:t>𝑥</m:t>
                      </m:r>
                    </m:oMath>
                  </m:oMathPara>
                </a14:m>
                <a:endParaRPr lang="en-US" sz="3200" dirty="0">
                  <a:solidFill>
                    <a:schemeClr val="bg1"/>
                  </a:solidFill>
                </a:endParaRPr>
              </a:p>
            </p:txBody>
          </p:sp>
        </mc:Choice>
        <mc:Fallback xmlns="">
          <p:sp>
            <p:nvSpPr>
              <p:cNvPr id="42" name="Manual Operation 41">
                <a:extLst>
                  <a:ext uri="{FF2B5EF4-FFF2-40B4-BE49-F238E27FC236}">
                    <a16:creationId xmlns:a16="http://schemas.microsoft.com/office/drawing/2014/main" id="{CEC2AE1D-E193-4348-A89B-C582EBEA8EB9}"/>
                  </a:ext>
                </a:extLst>
              </p:cNvPr>
              <p:cNvSpPr>
                <a:spLocks noRot="1" noChangeAspect="1" noMove="1" noResize="1" noEditPoints="1" noAdjustHandles="1" noChangeArrowheads="1" noChangeShapeType="1" noTextEdit="1"/>
              </p:cNvSpPr>
              <p:nvPr/>
            </p:nvSpPr>
            <p:spPr>
              <a:xfrm>
                <a:off x="7108256" y="2034709"/>
                <a:ext cx="867385" cy="513780"/>
              </a:xfrm>
              <a:prstGeom prst="flowChartManualOperation">
                <a:avLst/>
              </a:prstGeom>
              <a:blipFill>
                <a:blip r:embed="rId6"/>
                <a:stretch>
                  <a:fillRect t="-4762" b="-30952"/>
                </a:stretch>
              </a:blipFill>
              <a:ln>
                <a:noFill/>
              </a:ln>
            </p:spPr>
            <p:txBody>
              <a:bodyPr/>
              <a:lstStyle/>
              <a:p>
                <a:r>
                  <a:rPr lang="en-US">
                    <a:noFill/>
                  </a:rPr>
                  <a:t> </a:t>
                </a:r>
              </a:p>
            </p:txBody>
          </p:sp>
        </mc:Fallback>
      </mc:AlternateContent>
      <p:sp>
        <p:nvSpPr>
          <p:cNvPr id="43" name="Oval 42">
            <a:extLst>
              <a:ext uri="{FF2B5EF4-FFF2-40B4-BE49-F238E27FC236}">
                <a16:creationId xmlns:a16="http://schemas.microsoft.com/office/drawing/2014/main" id="{DE8B9E4B-6ECF-2449-A83C-02290A149048}"/>
              </a:ext>
            </a:extLst>
          </p:cNvPr>
          <p:cNvSpPr/>
          <p:nvPr/>
        </p:nvSpPr>
        <p:spPr>
          <a:xfrm>
            <a:off x="7100614" y="1417819"/>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4DA3A023-7585-A840-A234-69ADA3CC943B}"/>
              </a:ext>
            </a:extLst>
          </p:cNvPr>
          <p:cNvSpPr/>
          <p:nvPr/>
        </p:nvSpPr>
        <p:spPr>
          <a:xfrm>
            <a:off x="6777822" y="1039096"/>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45" name="Oval 44">
            <a:extLst>
              <a:ext uri="{FF2B5EF4-FFF2-40B4-BE49-F238E27FC236}">
                <a16:creationId xmlns:a16="http://schemas.microsoft.com/office/drawing/2014/main" id="{E768971E-8165-6A46-9F29-9AC765E0B5E8}"/>
              </a:ext>
            </a:extLst>
          </p:cNvPr>
          <p:cNvSpPr/>
          <p:nvPr/>
        </p:nvSpPr>
        <p:spPr>
          <a:xfrm>
            <a:off x="6957822" y="1224709"/>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46" name="Straight Connector 45">
            <a:extLst>
              <a:ext uri="{FF2B5EF4-FFF2-40B4-BE49-F238E27FC236}">
                <a16:creationId xmlns:a16="http://schemas.microsoft.com/office/drawing/2014/main" id="{5A57E62D-DAAD-D247-9CAE-5CA0FFC8CD26}"/>
              </a:ext>
            </a:extLst>
          </p:cNvPr>
          <p:cNvCxnSpPr>
            <a:cxnSpLocks/>
          </p:cNvCxnSpPr>
          <p:nvPr/>
        </p:nvCxnSpPr>
        <p:spPr>
          <a:xfrm>
            <a:off x="8872783" y="3320834"/>
            <a:ext cx="1440000"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D14EA8F8-2AEB-9944-8BBB-A3363B0E900D}"/>
              </a:ext>
            </a:extLst>
          </p:cNvPr>
          <p:cNvSpPr/>
          <p:nvPr/>
        </p:nvSpPr>
        <p:spPr>
          <a:xfrm>
            <a:off x="8674046" y="2838221"/>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8" name="Oval 47">
            <a:extLst>
              <a:ext uri="{FF2B5EF4-FFF2-40B4-BE49-F238E27FC236}">
                <a16:creationId xmlns:a16="http://schemas.microsoft.com/office/drawing/2014/main" id="{B8B59FAF-216B-9040-8458-F5D9CD4F942E}"/>
              </a:ext>
            </a:extLst>
          </p:cNvPr>
          <p:cNvSpPr/>
          <p:nvPr/>
        </p:nvSpPr>
        <p:spPr>
          <a:xfrm>
            <a:off x="9101265" y="2953105"/>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9" name="Oval 48">
            <a:extLst>
              <a:ext uri="{FF2B5EF4-FFF2-40B4-BE49-F238E27FC236}">
                <a16:creationId xmlns:a16="http://schemas.microsoft.com/office/drawing/2014/main" id="{2A22447E-17ED-8744-8A3B-B18469F3F90B}"/>
              </a:ext>
            </a:extLst>
          </p:cNvPr>
          <p:cNvSpPr/>
          <p:nvPr/>
        </p:nvSpPr>
        <p:spPr>
          <a:xfrm>
            <a:off x="9528484" y="2938233"/>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0" name="TextBox 49">
            <a:extLst>
              <a:ext uri="{FF2B5EF4-FFF2-40B4-BE49-F238E27FC236}">
                <a16:creationId xmlns:a16="http://schemas.microsoft.com/office/drawing/2014/main" id="{F918F02E-74DE-B645-BB84-15F8D470B6C7}"/>
              </a:ext>
            </a:extLst>
          </p:cNvPr>
          <p:cNvSpPr txBox="1"/>
          <p:nvPr/>
        </p:nvSpPr>
        <p:spPr>
          <a:xfrm>
            <a:off x="1013238" y="3504740"/>
            <a:ext cx="1296637" cy="461665"/>
          </a:xfrm>
          <a:prstGeom prst="rect">
            <a:avLst/>
          </a:prstGeom>
          <a:noFill/>
        </p:spPr>
        <p:txBody>
          <a:bodyPr wrap="none" rtlCol="0">
            <a:spAutoFit/>
          </a:bodyPr>
          <a:lstStyle/>
          <a:p>
            <a:r>
              <a:rPr lang="en-US" sz="2400" dirty="0"/>
              <a:t>Constant</a:t>
            </a:r>
          </a:p>
        </p:txBody>
      </p:sp>
      <p:sp>
        <p:nvSpPr>
          <p:cNvPr id="51" name="TextBox 50">
            <a:extLst>
              <a:ext uri="{FF2B5EF4-FFF2-40B4-BE49-F238E27FC236}">
                <a16:creationId xmlns:a16="http://schemas.microsoft.com/office/drawing/2014/main" id="{6378A50D-49E5-FC44-90D2-7C4DFCECC215}"/>
              </a:ext>
            </a:extLst>
          </p:cNvPr>
          <p:cNvSpPr txBox="1"/>
          <p:nvPr/>
        </p:nvSpPr>
        <p:spPr>
          <a:xfrm>
            <a:off x="7383068" y="3357132"/>
            <a:ext cx="1296637" cy="461665"/>
          </a:xfrm>
          <a:prstGeom prst="rect">
            <a:avLst/>
          </a:prstGeom>
          <a:noFill/>
        </p:spPr>
        <p:txBody>
          <a:bodyPr wrap="none" rtlCol="0">
            <a:spAutoFit/>
          </a:bodyPr>
          <a:lstStyle/>
          <a:p>
            <a:r>
              <a:rPr lang="en-US" sz="2400" dirty="0"/>
              <a:t>Constant</a:t>
            </a:r>
          </a:p>
        </p:txBody>
      </p: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FEE8FF49-7522-C04A-8B2B-5EB9173C392B}"/>
                  </a:ext>
                </a:extLst>
              </p:cNvPr>
              <p:cNvSpPr txBox="1"/>
              <p:nvPr/>
            </p:nvSpPr>
            <p:spPr>
              <a:xfrm>
                <a:off x="3047685" y="2129450"/>
                <a:ext cx="243252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=0</m:t>
                      </m:r>
                    </m:oMath>
                  </m:oMathPara>
                </a14:m>
                <a:endParaRPr lang="en-US" sz="2400" dirty="0"/>
              </a:p>
            </p:txBody>
          </p:sp>
        </mc:Choice>
        <mc:Fallback xmlns="">
          <p:sp>
            <p:nvSpPr>
              <p:cNvPr id="88" name="TextBox 87">
                <a:extLst>
                  <a:ext uri="{FF2B5EF4-FFF2-40B4-BE49-F238E27FC236}">
                    <a16:creationId xmlns:a16="http://schemas.microsoft.com/office/drawing/2014/main" id="{FEE8FF49-7522-C04A-8B2B-5EB9173C392B}"/>
                  </a:ext>
                </a:extLst>
              </p:cNvPr>
              <p:cNvSpPr txBox="1">
                <a:spLocks noRot="1" noChangeAspect="1" noMove="1" noResize="1" noEditPoints="1" noAdjustHandles="1" noChangeArrowheads="1" noChangeShapeType="1" noTextEdit="1"/>
              </p:cNvSpPr>
              <p:nvPr/>
            </p:nvSpPr>
            <p:spPr>
              <a:xfrm>
                <a:off x="3047685" y="2129450"/>
                <a:ext cx="2432525" cy="461665"/>
              </a:xfrm>
              <a:prstGeom prst="rect">
                <a:avLst/>
              </a:prstGeom>
              <a:blipFill>
                <a:blip r:embed="rId7"/>
                <a:stretch>
                  <a:fillRect l="-521"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7A3F3779-8550-0141-BB77-93F19E01F246}"/>
                  </a:ext>
                </a:extLst>
              </p:cNvPr>
              <p:cNvSpPr txBox="1"/>
              <p:nvPr/>
            </p:nvSpPr>
            <p:spPr>
              <a:xfrm>
                <a:off x="9091375" y="2052560"/>
                <a:ext cx="243252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en-US" sz="2400" b="0" i="1" smtClean="0">
                          <a:latin typeface="Cambria Math" panose="02040503050406030204" pitchFamily="18" charset="0"/>
                        </a:rPr>
                        <m:t>1</m:t>
                      </m:r>
                    </m:oMath>
                  </m:oMathPara>
                </a14:m>
                <a:endParaRPr lang="en-US" sz="2400" dirty="0"/>
              </a:p>
            </p:txBody>
          </p:sp>
        </mc:Choice>
        <mc:Fallback xmlns="">
          <p:sp>
            <p:nvSpPr>
              <p:cNvPr id="89" name="TextBox 88">
                <a:extLst>
                  <a:ext uri="{FF2B5EF4-FFF2-40B4-BE49-F238E27FC236}">
                    <a16:creationId xmlns:a16="http://schemas.microsoft.com/office/drawing/2014/main" id="{7A3F3779-8550-0141-BB77-93F19E01F246}"/>
                  </a:ext>
                </a:extLst>
              </p:cNvPr>
              <p:cNvSpPr txBox="1">
                <a:spLocks noRot="1" noChangeAspect="1" noMove="1" noResize="1" noEditPoints="1" noAdjustHandles="1" noChangeArrowheads="1" noChangeShapeType="1" noTextEdit="1"/>
              </p:cNvSpPr>
              <p:nvPr/>
            </p:nvSpPr>
            <p:spPr>
              <a:xfrm>
                <a:off x="9091375" y="2052560"/>
                <a:ext cx="2432525" cy="461665"/>
              </a:xfrm>
              <a:prstGeom prst="rect">
                <a:avLst/>
              </a:prstGeom>
              <a:blipFill>
                <a:blip r:embed="rId8"/>
                <a:stretch>
                  <a:fillRect b="-16216"/>
                </a:stretch>
              </a:blipFill>
            </p:spPr>
            <p:txBody>
              <a:bodyPr/>
              <a:lstStyle/>
              <a:p>
                <a:r>
                  <a:rPr lang="en-US">
                    <a:noFill/>
                  </a:rPr>
                  <a:t> </a:t>
                </a:r>
              </a:p>
            </p:txBody>
          </p:sp>
        </mc:Fallback>
      </mc:AlternateContent>
      <p:sp>
        <p:nvSpPr>
          <p:cNvPr id="92" name="Oval 91">
            <a:extLst>
              <a:ext uri="{FF2B5EF4-FFF2-40B4-BE49-F238E27FC236}">
                <a16:creationId xmlns:a16="http://schemas.microsoft.com/office/drawing/2014/main" id="{877062A9-7A20-F142-BB85-EFFADD092B83}"/>
              </a:ext>
            </a:extLst>
          </p:cNvPr>
          <p:cNvSpPr/>
          <p:nvPr/>
        </p:nvSpPr>
        <p:spPr>
          <a:xfrm>
            <a:off x="3669363" y="2946198"/>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93" name="Oval 92">
            <a:extLst>
              <a:ext uri="{FF2B5EF4-FFF2-40B4-BE49-F238E27FC236}">
                <a16:creationId xmlns:a16="http://schemas.microsoft.com/office/drawing/2014/main" id="{605F2434-71E1-2643-A0BC-381FDCC0DBF5}"/>
              </a:ext>
            </a:extLst>
          </p:cNvPr>
          <p:cNvSpPr/>
          <p:nvPr/>
        </p:nvSpPr>
        <p:spPr>
          <a:xfrm>
            <a:off x="9955703" y="2938233"/>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nvGrpSpPr>
          <p:cNvPr id="100" name="Group 99">
            <a:extLst>
              <a:ext uri="{FF2B5EF4-FFF2-40B4-BE49-F238E27FC236}">
                <a16:creationId xmlns:a16="http://schemas.microsoft.com/office/drawing/2014/main" id="{1F2A7435-ECFC-794B-ABE0-DFA98135D290}"/>
              </a:ext>
            </a:extLst>
          </p:cNvPr>
          <p:cNvGrpSpPr/>
          <p:nvPr/>
        </p:nvGrpSpPr>
        <p:grpSpPr>
          <a:xfrm>
            <a:off x="796030" y="4044329"/>
            <a:ext cx="11021491" cy="2794574"/>
            <a:chOff x="796030" y="4044329"/>
            <a:chExt cx="11021491" cy="2794574"/>
          </a:xfrm>
        </p:grpSpPr>
        <p:sp>
          <p:nvSpPr>
            <p:cNvPr id="52" name="Oval 51">
              <a:extLst>
                <a:ext uri="{FF2B5EF4-FFF2-40B4-BE49-F238E27FC236}">
                  <a16:creationId xmlns:a16="http://schemas.microsoft.com/office/drawing/2014/main" id="{EA60C8AD-D2B4-E64D-9A7B-8646494EBE12}"/>
                </a:ext>
              </a:extLst>
            </p:cNvPr>
            <p:cNvSpPr/>
            <p:nvPr/>
          </p:nvSpPr>
          <p:spPr>
            <a:xfrm>
              <a:off x="1193238" y="4771705"/>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3" name="Right Triangle 52">
              <a:extLst>
                <a:ext uri="{FF2B5EF4-FFF2-40B4-BE49-F238E27FC236}">
                  <a16:creationId xmlns:a16="http://schemas.microsoft.com/office/drawing/2014/main" id="{FD0FFDBE-91FD-C643-B0C7-C5CD1F173B4C}"/>
                </a:ext>
              </a:extLst>
            </p:cNvPr>
            <p:cNvSpPr/>
            <p:nvPr/>
          </p:nvSpPr>
          <p:spPr>
            <a:xfrm>
              <a:off x="2414936" y="5958339"/>
              <a:ext cx="554636" cy="389745"/>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4" name="Rounded Rectangle 53">
                  <a:extLst>
                    <a:ext uri="{FF2B5EF4-FFF2-40B4-BE49-F238E27FC236}">
                      <a16:creationId xmlns:a16="http://schemas.microsoft.com/office/drawing/2014/main" id="{C33D3C57-174E-E940-A939-85B3FF5513BA}"/>
                    </a:ext>
                  </a:extLst>
                </p:cNvPr>
                <p:cNvSpPr/>
                <p:nvPr/>
              </p:nvSpPr>
              <p:spPr>
                <a:xfrm>
                  <a:off x="1193238" y="5568595"/>
                  <a:ext cx="1349115" cy="779489"/>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𝑓</m:t>
                        </m:r>
                        <m:d>
                          <m:dPr>
                            <m:ctrlPr>
                              <a:rPr lang="en-US" sz="3200" i="1" smtClean="0">
                                <a:latin typeface="Cambria Math" panose="02040503050406030204" pitchFamily="18" charset="0"/>
                              </a:rPr>
                            </m:ctrlPr>
                          </m:dPr>
                          <m:e>
                            <m:r>
                              <a:rPr lang="en-US" sz="3200" b="0" i="1" smtClean="0">
                                <a:latin typeface="Cambria Math" panose="02040503050406030204" pitchFamily="18" charset="0"/>
                              </a:rPr>
                              <m:t>𝑥</m:t>
                            </m:r>
                          </m:e>
                        </m:d>
                      </m:oMath>
                    </m:oMathPara>
                  </a14:m>
                  <a:endParaRPr lang="en-US" sz="3200" dirty="0"/>
                </a:p>
              </p:txBody>
            </p:sp>
          </mc:Choice>
          <mc:Fallback xmlns="">
            <p:sp>
              <p:nvSpPr>
                <p:cNvPr id="54" name="Rounded Rectangle 53">
                  <a:extLst>
                    <a:ext uri="{FF2B5EF4-FFF2-40B4-BE49-F238E27FC236}">
                      <a16:creationId xmlns:a16="http://schemas.microsoft.com/office/drawing/2014/main" id="{C33D3C57-174E-E940-A939-85B3FF5513BA}"/>
                    </a:ext>
                  </a:extLst>
                </p:cNvPr>
                <p:cNvSpPr>
                  <a:spLocks noRot="1" noChangeAspect="1" noMove="1" noResize="1" noEditPoints="1" noAdjustHandles="1" noChangeArrowheads="1" noChangeShapeType="1" noTextEdit="1"/>
                </p:cNvSpPr>
                <p:nvPr/>
              </p:nvSpPr>
              <p:spPr>
                <a:xfrm>
                  <a:off x="1193238" y="5568595"/>
                  <a:ext cx="1349115" cy="779489"/>
                </a:xfrm>
                <a:prstGeom prst="roundRect">
                  <a:avLst/>
                </a:prstGeom>
                <a:blipFill>
                  <a:blip r:embed="rId9"/>
                  <a:stretch>
                    <a:fillRect b="-158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Manual Operation 54">
                  <a:extLst>
                    <a:ext uri="{FF2B5EF4-FFF2-40B4-BE49-F238E27FC236}">
                      <a16:creationId xmlns:a16="http://schemas.microsoft.com/office/drawing/2014/main" id="{17A27404-6456-DF48-9DC9-5C8278ABEBD7}"/>
                    </a:ext>
                  </a:extLst>
                </p:cNvPr>
                <p:cNvSpPr/>
                <p:nvPr/>
              </p:nvSpPr>
              <p:spPr>
                <a:xfrm>
                  <a:off x="1126464" y="5054815"/>
                  <a:ext cx="867385" cy="513780"/>
                </a:xfrm>
                <a:prstGeom prst="flowChartManualOperation">
                  <a:avLst/>
                </a:prstGeom>
                <a:gradFill flip="none" rotWithShape="1">
                  <a:gsLst>
                    <a:gs pos="0">
                      <a:schemeClr val="accent1">
                        <a:lumMod val="67000"/>
                      </a:schemeClr>
                    </a:gs>
                    <a:gs pos="29000">
                      <a:schemeClr val="accent1">
                        <a:lumMod val="97000"/>
                        <a:lumOff val="3000"/>
                      </a:schemeClr>
                    </a:gs>
                    <a:gs pos="77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bg1"/>
                            </a:solidFill>
                            <a:latin typeface="Cambria Math" panose="02040503050406030204" pitchFamily="18" charset="0"/>
                          </a:rPr>
                          <m:t> </m:t>
                        </m:r>
                        <m:r>
                          <a:rPr lang="en-US" sz="3200" i="1" smtClean="0">
                            <a:solidFill>
                              <a:schemeClr val="bg1"/>
                            </a:solidFill>
                            <a:latin typeface="Cambria Math" panose="02040503050406030204" pitchFamily="18" charset="0"/>
                          </a:rPr>
                          <m:t>𝑥</m:t>
                        </m:r>
                      </m:oMath>
                    </m:oMathPara>
                  </a14:m>
                  <a:endParaRPr lang="en-US" sz="3200" dirty="0">
                    <a:solidFill>
                      <a:schemeClr val="bg1"/>
                    </a:solidFill>
                  </a:endParaRPr>
                </a:p>
              </p:txBody>
            </p:sp>
          </mc:Choice>
          <mc:Fallback xmlns="">
            <p:sp>
              <p:nvSpPr>
                <p:cNvPr id="55" name="Manual Operation 54">
                  <a:extLst>
                    <a:ext uri="{FF2B5EF4-FFF2-40B4-BE49-F238E27FC236}">
                      <a16:creationId xmlns:a16="http://schemas.microsoft.com/office/drawing/2014/main" id="{17A27404-6456-DF48-9DC9-5C8278ABEBD7}"/>
                    </a:ext>
                  </a:extLst>
                </p:cNvPr>
                <p:cNvSpPr>
                  <a:spLocks noRot="1" noChangeAspect="1" noMove="1" noResize="1" noEditPoints="1" noAdjustHandles="1" noChangeArrowheads="1" noChangeShapeType="1" noTextEdit="1"/>
                </p:cNvSpPr>
                <p:nvPr/>
              </p:nvSpPr>
              <p:spPr>
                <a:xfrm>
                  <a:off x="1126464" y="5054815"/>
                  <a:ext cx="867385" cy="513780"/>
                </a:xfrm>
                <a:prstGeom prst="flowChartManualOperation">
                  <a:avLst/>
                </a:prstGeom>
                <a:blipFill>
                  <a:blip r:embed="rId10"/>
                  <a:stretch>
                    <a:fillRect t="-2439" b="-34146"/>
                  </a:stretch>
                </a:blipFill>
                <a:ln>
                  <a:noFill/>
                </a:ln>
              </p:spPr>
              <p:txBody>
                <a:bodyPr/>
                <a:lstStyle/>
                <a:p>
                  <a:r>
                    <a:rPr lang="en-US">
                      <a:noFill/>
                    </a:rPr>
                    <a:t> </a:t>
                  </a:r>
                </a:p>
              </p:txBody>
            </p:sp>
          </mc:Fallback>
        </mc:AlternateContent>
        <p:sp>
          <p:nvSpPr>
            <p:cNvPr id="56" name="Oval 55">
              <a:extLst>
                <a:ext uri="{FF2B5EF4-FFF2-40B4-BE49-F238E27FC236}">
                  <a16:creationId xmlns:a16="http://schemas.microsoft.com/office/drawing/2014/main" id="{4C732B93-6CFC-DC40-BFA8-EBFF6D60D5D4}"/>
                </a:ext>
              </a:extLst>
            </p:cNvPr>
            <p:cNvSpPr/>
            <p:nvPr/>
          </p:nvSpPr>
          <p:spPr>
            <a:xfrm>
              <a:off x="1118822" y="4437925"/>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7" name="Oval 56">
              <a:extLst>
                <a:ext uri="{FF2B5EF4-FFF2-40B4-BE49-F238E27FC236}">
                  <a16:creationId xmlns:a16="http://schemas.microsoft.com/office/drawing/2014/main" id="{8497905E-E493-F748-90F5-FFB63D6A0AED}"/>
                </a:ext>
              </a:extLst>
            </p:cNvPr>
            <p:cNvSpPr/>
            <p:nvPr/>
          </p:nvSpPr>
          <p:spPr>
            <a:xfrm>
              <a:off x="796030" y="4059202"/>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8" name="Oval 57">
              <a:extLst>
                <a:ext uri="{FF2B5EF4-FFF2-40B4-BE49-F238E27FC236}">
                  <a16:creationId xmlns:a16="http://schemas.microsoft.com/office/drawing/2014/main" id="{39090B60-193A-B942-A540-F399E871718E}"/>
                </a:ext>
              </a:extLst>
            </p:cNvPr>
            <p:cNvSpPr/>
            <p:nvPr/>
          </p:nvSpPr>
          <p:spPr>
            <a:xfrm>
              <a:off x="976030" y="4244815"/>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9" name="Straight Connector 58">
              <a:extLst>
                <a:ext uri="{FF2B5EF4-FFF2-40B4-BE49-F238E27FC236}">
                  <a16:creationId xmlns:a16="http://schemas.microsoft.com/office/drawing/2014/main" id="{410EA7E6-910D-9A46-BF47-5F75A068539A}"/>
                </a:ext>
              </a:extLst>
            </p:cNvPr>
            <p:cNvCxnSpPr>
              <a:cxnSpLocks/>
            </p:cNvCxnSpPr>
            <p:nvPr/>
          </p:nvCxnSpPr>
          <p:spPr>
            <a:xfrm>
              <a:off x="2890991" y="6340940"/>
              <a:ext cx="1440000"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F4BA46A8-E54B-0E40-9600-E311CD0DEBB4}"/>
                </a:ext>
              </a:extLst>
            </p:cNvPr>
            <p:cNvSpPr/>
            <p:nvPr/>
          </p:nvSpPr>
          <p:spPr>
            <a:xfrm>
              <a:off x="2692254" y="5858327"/>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1" name="Oval 60">
              <a:extLst>
                <a:ext uri="{FF2B5EF4-FFF2-40B4-BE49-F238E27FC236}">
                  <a16:creationId xmlns:a16="http://schemas.microsoft.com/office/drawing/2014/main" id="{21C7437C-7E4A-8540-8422-5A74BF74FCCD}"/>
                </a:ext>
              </a:extLst>
            </p:cNvPr>
            <p:cNvSpPr/>
            <p:nvPr/>
          </p:nvSpPr>
          <p:spPr>
            <a:xfrm>
              <a:off x="3119473" y="5973211"/>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2" name="Oval 61">
              <a:extLst>
                <a:ext uri="{FF2B5EF4-FFF2-40B4-BE49-F238E27FC236}">
                  <a16:creationId xmlns:a16="http://schemas.microsoft.com/office/drawing/2014/main" id="{D3254A13-54FF-FC4C-A997-143AFC33201C}"/>
                </a:ext>
              </a:extLst>
            </p:cNvPr>
            <p:cNvSpPr/>
            <p:nvPr/>
          </p:nvSpPr>
          <p:spPr>
            <a:xfrm>
              <a:off x="3546692" y="5958339"/>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3" name="TextBox 62">
              <a:extLst>
                <a:ext uri="{FF2B5EF4-FFF2-40B4-BE49-F238E27FC236}">
                  <a16:creationId xmlns:a16="http://schemas.microsoft.com/office/drawing/2014/main" id="{24DFFCDE-CA57-AA4E-856B-8BAD3D38CF8C}"/>
                </a:ext>
              </a:extLst>
            </p:cNvPr>
            <p:cNvSpPr txBox="1"/>
            <p:nvPr/>
          </p:nvSpPr>
          <p:spPr>
            <a:xfrm>
              <a:off x="1401276" y="6377238"/>
              <a:ext cx="1324402" cy="461665"/>
            </a:xfrm>
            <a:prstGeom prst="rect">
              <a:avLst/>
            </a:prstGeom>
            <a:noFill/>
          </p:spPr>
          <p:txBody>
            <a:bodyPr wrap="none" rtlCol="0">
              <a:spAutoFit/>
            </a:bodyPr>
            <a:lstStyle/>
            <a:p>
              <a:r>
                <a:rPr lang="en-US" sz="2400" dirty="0"/>
                <a:t>Balanced</a:t>
              </a: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1D631175-BEEB-F749-9F9D-B4812ECBDF6D}"/>
                    </a:ext>
                  </a:extLst>
                </p:cNvPr>
                <p:cNvSpPr txBox="1"/>
                <p:nvPr/>
              </p:nvSpPr>
              <p:spPr>
                <a:xfrm>
                  <a:off x="3193889" y="4809109"/>
                  <a:ext cx="27162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b="0" i="1" smtClean="0">
                            <a:latin typeface="Cambria Math" panose="02040503050406030204" pitchFamily="18" charset="0"/>
                          </a:rPr>
                          <m:t>0, </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m:t>
                        </m:r>
                        <m:r>
                          <a:rPr lang="en-US" sz="2400" b="0" i="1" smtClean="0">
                            <a:latin typeface="Cambria Math" panose="02040503050406030204" pitchFamily="18" charset="0"/>
                          </a:rPr>
                          <m:t>1</m:t>
                        </m:r>
                      </m:oMath>
                    </m:oMathPara>
                  </a14:m>
                  <a:endParaRPr lang="en-US" sz="2400" dirty="0"/>
                </a:p>
              </p:txBody>
            </p:sp>
          </mc:Choice>
          <mc:Fallback xmlns="">
            <p:sp>
              <p:nvSpPr>
                <p:cNvPr id="90" name="TextBox 89">
                  <a:extLst>
                    <a:ext uri="{FF2B5EF4-FFF2-40B4-BE49-F238E27FC236}">
                      <a16:creationId xmlns:a16="http://schemas.microsoft.com/office/drawing/2014/main" id="{1D631175-BEEB-F749-9F9D-B4812ECBDF6D}"/>
                    </a:ext>
                  </a:extLst>
                </p:cNvPr>
                <p:cNvSpPr txBox="1">
                  <a:spLocks noRot="1" noChangeAspect="1" noMove="1" noResize="1" noEditPoints="1" noAdjustHandles="1" noChangeArrowheads="1" noChangeShapeType="1" noTextEdit="1"/>
                </p:cNvSpPr>
                <p:nvPr/>
              </p:nvSpPr>
              <p:spPr>
                <a:xfrm>
                  <a:off x="3193889" y="4809109"/>
                  <a:ext cx="2716256" cy="461665"/>
                </a:xfrm>
                <a:prstGeom prst="rect">
                  <a:avLst/>
                </a:prstGeom>
                <a:blipFill>
                  <a:blip r:embed="rId11"/>
                  <a:stretch>
                    <a:fillRect b="-16216"/>
                  </a:stretch>
                </a:blipFill>
              </p:spPr>
              <p:txBody>
                <a:bodyPr/>
                <a:lstStyle/>
                <a:p>
                  <a:r>
                    <a:rPr lang="en-US">
                      <a:noFill/>
                    </a:rPr>
                    <a:t> </a:t>
                  </a:r>
                </a:p>
              </p:txBody>
            </p:sp>
          </mc:Fallback>
        </mc:AlternateContent>
        <p:sp>
          <p:nvSpPr>
            <p:cNvPr id="95" name="Oval 94">
              <a:extLst>
                <a:ext uri="{FF2B5EF4-FFF2-40B4-BE49-F238E27FC236}">
                  <a16:creationId xmlns:a16="http://schemas.microsoft.com/office/drawing/2014/main" id="{292B44A3-1E6B-204C-BAD8-D973A6D47DD1}"/>
                </a:ext>
              </a:extLst>
            </p:cNvPr>
            <p:cNvSpPr/>
            <p:nvPr/>
          </p:nvSpPr>
          <p:spPr>
            <a:xfrm>
              <a:off x="3985307" y="5958338"/>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76" name="Oval 75">
              <a:extLst>
                <a:ext uri="{FF2B5EF4-FFF2-40B4-BE49-F238E27FC236}">
                  <a16:creationId xmlns:a16="http://schemas.microsoft.com/office/drawing/2014/main" id="{EFE6AD1E-7911-ED4E-8873-F0CAD43AE26C}"/>
                </a:ext>
              </a:extLst>
            </p:cNvPr>
            <p:cNvSpPr/>
            <p:nvPr/>
          </p:nvSpPr>
          <p:spPr>
            <a:xfrm>
              <a:off x="7232359" y="4756832"/>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77" name="Right Triangle 76">
              <a:extLst>
                <a:ext uri="{FF2B5EF4-FFF2-40B4-BE49-F238E27FC236}">
                  <a16:creationId xmlns:a16="http://schemas.microsoft.com/office/drawing/2014/main" id="{C3E7963D-A70A-4344-B001-7BD9E17F8399}"/>
                </a:ext>
              </a:extLst>
            </p:cNvPr>
            <p:cNvSpPr/>
            <p:nvPr/>
          </p:nvSpPr>
          <p:spPr>
            <a:xfrm>
              <a:off x="8454057" y="5943466"/>
              <a:ext cx="554636" cy="389745"/>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8" name="Rounded Rectangle 77">
                  <a:extLst>
                    <a:ext uri="{FF2B5EF4-FFF2-40B4-BE49-F238E27FC236}">
                      <a16:creationId xmlns:a16="http://schemas.microsoft.com/office/drawing/2014/main" id="{099299C8-71F1-424B-B713-77C3389FAF61}"/>
                    </a:ext>
                  </a:extLst>
                </p:cNvPr>
                <p:cNvSpPr/>
                <p:nvPr/>
              </p:nvSpPr>
              <p:spPr>
                <a:xfrm>
                  <a:off x="7232359" y="5553722"/>
                  <a:ext cx="1349115" cy="779489"/>
                </a:xfrm>
                <a:prstGeom prst="roundRect">
                  <a:avLst/>
                </a:prstGeom>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𝑓</m:t>
                        </m:r>
                        <m:d>
                          <m:dPr>
                            <m:ctrlPr>
                              <a:rPr lang="en-US" sz="3200" i="1" smtClean="0">
                                <a:latin typeface="Cambria Math" panose="02040503050406030204" pitchFamily="18" charset="0"/>
                              </a:rPr>
                            </m:ctrlPr>
                          </m:dPr>
                          <m:e>
                            <m:r>
                              <a:rPr lang="en-US" sz="3200" b="0" i="1" smtClean="0">
                                <a:latin typeface="Cambria Math" panose="02040503050406030204" pitchFamily="18" charset="0"/>
                              </a:rPr>
                              <m:t>𝑥</m:t>
                            </m:r>
                          </m:e>
                        </m:d>
                      </m:oMath>
                    </m:oMathPara>
                  </a14:m>
                  <a:endParaRPr lang="en-US" sz="3200" dirty="0"/>
                </a:p>
              </p:txBody>
            </p:sp>
          </mc:Choice>
          <mc:Fallback xmlns="">
            <p:sp>
              <p:nvSpPr>
                <p:cNvPr id="78" name="Rounded Rectangle 77">
                  <a:extLst>
                    <a:ext uri="{FF2B5EF4-FFF2-40B4-BE49-F238E27FC236}">
                      <a16:creationId xmlns:a16="http://schemas.microsoft.com/office/drawing/2014/main" id="{099299C8-71F1-424B-B713-77C3389FAF61}"/>
                    </a:ext>
                  </a:extLst>
                </p:cNvPr>
                <p:cNvSpPr>
                  <a:spLocks noRot="1" noChangeAspect="1" noMove="1" noResize="1" noEditPoints="1" noAdjustHandles="1" noChangeArrowheads="1" noChangeShapeType="1" noTextEdit="1"/>
                </p:cNvSpPr>
                <p:nvPr/>
              </p:nvSpPr>
              <p:spPr>
                <a:xfrm>
                  <a:off x="7232359" y="5553722"/>
                  <a:ext cx="1349115" cy="779489"/>
                </a:xfrm>
                <a:prstGeom prst="roundRect">
                  <a:avLst/>
                </a:prstGeom>
                <a:blipFill>
                  <a:blip r:embed="rId12"/>
                  <a:stretch>
                    <a:fillRect b="-158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Manual Operation 78">
                  <a:extLst>
                    <a:ext uri="{FF2B5EF4-FFF2-40B4-BE49-F238E27FC236}">
                      <a16:creationId xmlns:a16="http://schemas.microsoft.com/office/drawing/2014/main" id="{73147E42-8709-BD45-B29D-BF4B1169473F}"/>
                    </a:ext>
                  </a:extLst>
                </p:cNvPr>
                <p:cNvSpPr/>
                <p:nvPr/>
              </p:nvSpPr>
              <p:spPr>
                <a:xfrm>
                  <a:off x="7165585" y="5039942"/>
                  <a:ext cx="867385" cy="513780"/>
                </a:xfrm>
                <a:prstGeom prst="flowChartManualOperation">
                  <a:avLst/>
                </a:prstGeom>
                <a:gradFill flip="none" rotWithShape="1">
                  <a:gsLst>
                    <a:gs pos="0">
                      <a:schemeClr val="accent1">
                        <a:lumMod val="67000"/>
                      </a:schemeClr>
                    </a:gs>
                    <a:gs pos="29000">
                      <a:schemeClr val="accent1">
                        <a:lumMod val="97000"/>
                        <a:lumOff val="3000"/>
                      </a:schemeClr>
                    </a:gs>
                    <a:gs pos="77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3200" b="0" i="1" smtClean="0">
                            <a:solidFill>
                              <a:schemeClr val="bg1"/>
                            </a:solidFill>
                            <a:latin typeface="Cambria Math" panose="02040503050406030204" pitchFamily="18" charset="0"/>
                          </a:rPr>
                          <m:t> </m:t>
                        </m:r>
                        <m:r>
                          <a:rPr lang="en-US" sz="3200" i="1" smtClean="0">
                            <a:solidFill>
                              <a:schemeClr val="bg1"/>
                            </a:solidFill>
                            <a:latin typeface="Cambria Math" panose="02040503050406030204" pitchFamily="18" charset="0"/>
                          </a:rPr>
                          <m:t>𝑥</m:t>
                        </m:r>
                      </m:oMath>
                    </m:oMathPara>
                  </a14:m>
                  <a:endParaRPr lang="en-US" sz="3200" dirty="0">
                    <a:solidFill>
                      <a:schemeClr val="bg1"/>
                    </a:solidFill>
                  </a:endParaRPr>
                </a:p>
              </p:txBody>
            </p:sp>
          </mc:Choice>
          <mc:Fallback xmlns="">
            <p:sp>
              <p:nvSpPr>
                <p:cNvPr id="79" name="Manual Operation 78">
                  <a:extLst>
                    <a:ext uri="{FF2B5EF4-FFF2-40B4-BE49-F238E27FC236}">
                      <a16:creationId xmlns:a16="http://schemas.microsoft.com/office/drawing/2014/main" id="{73147E42-8709-BD45-B29D-BF4B1169473F}"/>
                    </a:ext>
                  </a:extLst>
                </p:cNvPr>
                <p:cNvSpPr>
                  <a:spLocks noRot="1" noChangeAspect="1" noMove="1" noResize="1" noEditPoints="1" noAdjustHandles="1" noChangeArrowheads="1" noChangeShapeType="1" noTextEdit="1"/>
                </p:cNvSpPr>
                <p:nvPr/>
              </p:nvSpPr>
              <p:spPr>
                <a:xfrm>
                  <a:off x="7165585" y="5039942"/>
                  <a:ext cx="867385" cy="513780"/>
                </a:xfrm>
                <a:prstGeom prst="flowChartManualOperation">
                  <a:avLst/>
                </a:prstGeom>
                <a:blipFill>
                  <a:blip r:embed="rId13"/>
                  <a:stretch>
                    <a:fillRect t="-4878" b="-34146"/>
                  </a:stretch>
                </a:blipFill>
                <a:ln>
                  <a:noFill/>
                </a:ln>
              </p:spPr>
              <p:txBody>
                <a:bodyPr/>
                <a:lstStyle/>
                <a:p>
                  <a:r>
                    <a:rPr lang="en-US">
                      <a:noFill/>
                    </a:rPr>
                    <a:t> </a:t>
                  </a:r>
                </a:p>
              </p:txBody>
            </p:sp>
          </mc:Fallback>
        </mc:AlternateContent>
        <p:sp>
          <p:nvSpPr>
            <p:cNvPr id="80" name="Oval 79">
              <a:extLst>
                <a:ext uri="{FF2B5EF4-FFF2-40B4-BE49-F238E27FC236}">
                  <a16:creationId xmlns:a16="http://schemas.microsoft.com/office/drawing/2014/main" id="{25CD3DE6-4A8D-FD4A-B21B-201331129CC8}"/>
                </a:ext>
              </a:extLst>
            </p:cNvPr>
            <p:cNvSpPr/>
            <p:nvPr/>
          </p:nvSpPr>
          <p:spPr>
            <a:xfrm>
              <a:off x="7157943" y="4423052"/>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1" name="Oval 80">
              <a:extLst>
                <a:ext uri="{FF2B5EF4-FFF2-40B4-BE49-F238E27FC236}">
                  <a16:creationId xmlns:a16="http://schemas.microsoft.com/office/drawing/2014/main" id="{2B9A4C78-14B5-F444-B7BD-198F5C23F364}"/>
                </a:ext>
              </a:extLst>
            </p:cNvPr>
            <p:cNvSpPr/>
            <p:nvPr/>
          </p:nvSpPr>
          <p:spPr>
            <a:xfrm>
              <a:off x="6835151" y="4044329"/>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82" name="Oval 81">
              <a:extLst>
                <a:ext uri="{FF2B5EF4-FFF2-40B4-BE49-F238E27FC236}">
                  <a16:creationId xmlns:a16="http://schemas.microsoft.com/office/drawing/2014/main" id="{F15A9714-CDA6-294C-A883-67C3E4BDBAB1}"/>
                </a:ext>
              </a:extLst>
            </p:cNvPr>
            <p:cNvSpPr/>
            <p:nvPr/>
          </p:nvSpPr>
          <p:spPr>
            <a:xfrm>
              <a:off x="7015151" y="4229942"/>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83" name="Straight Connector 82">
              <a:extLst>
                <a:ext uri="{FF2B5EF4-FFF2-40B4-BE49-F238E27FC236}">
                  <a16:creationId xmlns:a16="http://schemas.microsoft.com/office/drawing/2014/main" id="{FE49B818-A3FD-B541-8B4A-2BF6082E54F6}"/>
                </a:ext>
              </a:extLst>
            </p:cNvPr>
            <p:cNvCxnSpPr>
              <a:cxnSpLocks/>
            </p:cNvCxnSpPr>
            <p:nvPr/>
          </p:nvCxnSpPr>
          <p:spPr>
            <a:xfrm>
              <a:off x="8930112" y="6326067"/>
              <a:ext cx="1440000"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84" name="Oval 83">
              <a:extLst>
                <a:ext uri="{FF2B5EF4-FFF2-40B4-BE49-F238E27FC236}">
                  <a16:creationId xmlns:a16="http://schemas.microsoft.com/office/drawing/2014/main" id="{05EFE740-D728-9B44-BA85-26C4A1B68CC7}"/>
                </a:ext>
              </a:extLst>
            </p:cNvPr>
            <p:cNvSpPr/>
            <p:nvPr/>
          </p:nvSpPr>
          <p:spPr>
            <a:xfrm>
              <a:off x="8731375" y="5843454"/>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5" name="Oval 84">
              <a:extLst>
                <a:ext uri="{FF2B5EF4-FFF2-40B4-BE49-F238E27FC236}">
                  <a16:creationId xmlns:a16="http://schemas.microsoft.com/office/drawing/2014/main" id="{21EE28AD-9E6B-354F-9B8C-F954017B4CA4}"/>
                </a:ext>
              </a:extLst>
            </p:cNvPr>
            <p:cNvSpPr/>
            <p:nvPr/>
          </p:nvSpPr>
          <p:spPr>
            <a:xfrm>
              <a:off x="9158594" y="5958338"/>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86" name="Oval 85">
              <a:extLst>
                <a:ext uri="{FF2B5EF4-FFF2-40B4-BE49-F238E27FC236}">
                  <a16:creationId xmlns:a16="http://schemas.microsoft.com/office/drawing/2014/main" id="{7B6A1A06-8314-0940-A2B0-A68B53716C7C}"/>
                </a:ext>
              </a:extLst>
            </p:cNvPr>
            <p:cNvSpPr/>
            <p:nvPr/>
          </p:nvSpPr>
          <p:spPr>
            <a:xfrm>
              <a:off x="9585813" y="5943466"/>
              <a:ext cx="360000" cy="360000"/>
            </a:xfrm>
            <a:prstGeom prst="ellipse">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87" name="TextBox 86">
              <a:extLst>
                <a:ext uri="{FF2B5EF4-FFF2-40B4-BE49-F238E27FC236}">
                  <a16:creationId xmlns:a16="http://schemas.microsoft.com/office/drawing/2014/main" id="{165AC56F-54C1-6949-A039-C80D6218AA1B}"/>
                </a:ext>
              </a:extLst>
            </p:cNvPr>
            <p:cNvSpPr txBox="1"/>
            <p:nvPr/>
          </p:nvSpPr>
          <p:spPr>
            <a:xfrm>
              <a:off x="7440397" y="6362365"/>
              <a:ext cx="1324402" cy="461665"/>
            </a:xfrm>
            <a:prstGeom prst="rect">
              <a:avLst/>
            </a:prstGeom>
            <a:noFill/>
          </p:spPr>
          <p:txBody>
            <a:bodyPr wrap="none" rtlCol="0">
              <a:spAutoFit/>
            </a:bodyPr>
            <a:lstStyle/>
            <a:p>
              <a:r>
                <a:rPr lang="en-US" sz="2400" dirty="0"/>
                <a:t>Balanced</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434684A4-83EA-5142-9F00-FC0DF6DB06CA}"/>
                    </a:ext>
                  </a:extLst>
                </p:cNvPr>
                <p:cNvSpPr txBox="1"/>
                <p:nvPr/>
              </p:nvSpPr>
              <p:spPr>
                <a:xfrm>
                  <a:off x="9101265" y="4809109"/>
                  <a:ext cx="27162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rPr>
                          <m:t>=</m:t>
                        </m:r>
                        <m:r>
                          <a:rPr lang="en-US" sz="2400" b="0" i="1" smtClean="0">
                            <a:latin typeface="Cambria Math" panose="02040503050406030204" pitchFamily="18" charset="0"/>
                          </a:rPr>
                          <m:t>1, </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1</m:t>
                            </m:r>
                          </m:e>
                        </m:d>
                        <m:r>
                          <a:rPr lang="en-US" sz="2400" i="1">
                            <a:latin typeface="Cambria Math" panose="02040503050406030204" pitchFamily="18" charset="0"/>
                          </a:rPr>
                          <m:t>=0</m:t>
                        </m:r>
                      </m:oMath>
                    </m:oMathPara>
                  </a14:m>
                  <a:endParaRPr lang="en-US" sz="2400" dirty="0"/>
                </a:p>
              </p:txBody>
            </p:sp>
          </mc:Choice>
          <mc:Fallback xmlns="">
            <p:sp>
              <p:nvSpPr>
                <p:cNvPr id="91" name="TextBox 90">
                  <a:extLst>
                    <a:ext uri="{FF2B5EF4-FFF2-40B4-BE49-F238E27FC236}">
                      <a16:creationId xmlns:a16="http://schemas.microsoft.com/office/drawing/2014/main" id="{434684A4-83EA-5142-9F00-FC0DF6DB06CA}"/>
                    </a:ext>
                  </a:extLst>
                </p:cNvPr>
                <p:cNvSpPr txBox="1">
                  <a:spLocks noRot="1" noChangeAspect="1" noMove="1" noResize="1" noEditPoints="1" noAdjustHandles="1" noChangeArrowheads="1" noChangeShapeType="1" noTextEdit="1"/>
                </p:cNvSpPr>
                <p:nvPr/>
              </p:nvSpPr>
              <p:spPr>
                <a:xfrm>
                  <a:off x="9101265" y="4809109"/>
                  <a:ext cx="2716256" cy="461665"/>
                </a:xfrm>
                <a:prstGeom prst="rect">
                  <a:avLst/>
                </a:prstGeom>
                <a:blipFill>
                  <a:blip r:embed="rId14"/>
                  <a:stretch>
                    <a:fillRect b="-16216"/>
                  </a:stretch>
                </a:blipFill>
              </p:spPr>
              <p:txBody>
                <a:bodyPr/>
                <a:lstStyle/>
                <a:p>
                  <a:r>
                    <a:rPr lang="en-US">
                      <a:noFill/>
                    </a:rPr>
                    <a:t> </a:t>
                  </a:r>
                </a:p>
              </p:txBody>
            </p:sp>
          </mc:Fallback>
        </mc:AlternateContent>
        <p:sp>
          <p:nvSpPr>
            <p:cNvPr id="96" name="Oval 95">
              <a:extLst>
                <a:ext uri="{FF2B5EF4-FFF2-40B4-BE49-F238E27FC236}">
                  <a16:creationId xmlns:a16="http://schemas.microsoft.com/office/drawing/2014/main" id="{6F09C979-4025-BE41-9A50-4E845278F088}"/>
                </a:ext>
              </a:extLst>
            </p:cNvPr>
            <p:cNvSpPr/>
            <p:nvPr/>
          </p:nvSpPr>
          <p:spPr>
            <a:xfrm>
              <a:off x="10013032" y="5954767"/>
              <a:ext cx="360000" cy="360000"/>
            </a:xfrm>
            <a:prstGeom prst="ellipse">
              <a:avLst/>
            </a:prstGeom>
            <a:solidFill>
              <a:srgbClr val="30E8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Tree>
    <p:extLst>
      <p:ext uri="{BB962C8B-B14F-4D97-AF65-F5344CB8AC3E}">
        <p14:creationId xmlns:p14="http://schemas.microsoft.com/office/powerpoint/2010/main" val="3210444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dissolve">
                                      <p:cBhvr>
                                        <p:cTn id="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36E2D-F6CA-E544-AD39-8FFD3BAA0A3B}"/>
              </a:ext>
            </a:extLst>
          </p:cNvPr>
          <p:cNvSpPr>
            <a:spLocks noGrp="1"/>
          </p:cNvSpPr>
          <p:nvPr>
            <p:ph type="title"/>
          </p:nvPr>
        </p:nvSpPr>
        <p:spPr/>
        <p:txBody>
          <a:bodyPr/>
          <a:lstStyle/>
          <a:p>
            <a:r>
              <a:rPr lang="en-US" dirty="0"/>
              <a:t>Constant and Balanced Functions</a:t>
            </a:r>
          </a:p>
        </p:txBody>
      </p:sp>
      <p:sp>
        <p:nvSpPr>
          <p:cNvPr id="3" name="Slide Number Placeholder 2">
            <a:extLst>
              <a:ext uri="{FF2B5EF4-FFF2-40B4-BE49-F238E27FC236}">
                <a16:creationId xmlns:a16="http://schemas.microsoft.com/office/drawing/2014/main" id="{62CE5B1C-D11B-A541-9DE2-A7F56453CD62}"/>
              </a:ext>
            </a:extLst>
          </p:cNvPr>
          <p:cNvSpPr>
            <a:spLocks noGrp="1"/>
          </p:cNvSpPr>
          <p:nvPr>
            <p:ph type="sldNum" sz="quarter" idx="12"/>
          </p:nvPr>
        </p:nvSpPr>
        <p:spPr/>
        <p:txBody>
          <a:bodyPr/>
          <a:lstStyle/>
          <a:p>
            <a:fld id="{591A223C-FA10-BC46-A853-03BA373D023C}" type="slidenum">
              <a:rPr lang="en-US" smtClean="0"/>
              <a:t>8</a:t>
            </a:fld>
            <a:endParaRPr lang="en-US"/>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587A703-03D0-D448-BE2E-456582EE2A49}"/>
                  </a:ext>
                </a:extLst>
              </p:cNvPr>
              <p:cNvGraphicFramePr>
                <a:graphicFrameLocks noGrp="1"/>
              </p:cNvGraphicFramePr>
              <p:nvPr>
                <p:extLst>
                  <p:ext uri="{D42A27DB-BD31-4B8C-83A1-F6EECF244321}">
                    <p14:modId xmlns:p14="http://schemas.microsoft.com/office/powerpoint/2010/main" val="2610147712"/>
                  </p:ext>
                </p:extLst>
              </p:nvPr>
            </p:nvGraphicFramePr>
            <p:xfrm>
              <a:off x="1120287" y="1577788"/>
              <a:ext cx="3443049" cy="148844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388773">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𝒙</m:t>
                                </m:r>
                              </m:oMath>
                            </m:oMathPara>
                          </a14:m>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𝒇</m:t>
                                </m:r>
                                <m:r>
                                  <a:rPr lang="sr-Latn-RS" sz="3200">
                                    <a:effectLst/>
                                    <a:latin typeface="Cambria Math" panose="02040503050406030204" pitchFamily="18" charset="0"/>
                                  </a:rPr>
                                  <m:t>(</m:t>
                                </m:r>
                                <m:r>
                                  <a:rPr lang="sr-Latn-RS" sz="3200">
                                    <a:effectLst/>
                                    <a:latin typeface="Cambria Math" panose="02040503050406030204" pitchFamily="18" charset="0"/>
                                  </a:rPr>
                                  <m:t>𝒙</m:t>
                                </m:r>
                                <m:r>
                                  <a:rPr lang="sr-Latn-RS" sz="3200">
                                    <a:effectLst/>
                                    <a:latin typeface="Cambria Math" panose="02040503050406030204" pitchFamily="18" charset="0"/>
                                  </a:rPr>
                                  <m:t>)</m:t>
                                </m:r>
                              </m:oMath>
                            </m:oMathPara>
                          </a14:m>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50607844"/>
                      </a:ext>
                    </a:extLst>
                  </a:tr>
                  <a:tr h="341362">
                    <a:tc>
                      <a:txBody>
                        <a:bodyPr/>
                        <a:lstStyle/>
                        <a:p>
                          <a:pPr algn="ctr">
                            <a:spcBef>
                              <a:spcPts val="200"/>
                            </a:spcBef>
                            <a:spcAft>
                              <a:spcPts val="200"/>
                            </a:spcAf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341362">
                    <a:tc>
                      <a:txBody>
                        <a:bodyPr/>
                        <a:lstStyle/>
                        <a:p>
                          <a:pPr algn="ctr">
                            <a:spcBef>
                              <a:spcPts val="200"/>
                            </a:spcBef>
                            <a:spcAft>
                              <a:spcPts val="200"/>
                            </a:spcAf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en-ZA" sz="32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0</a:t>
                          </a:r>
                        </a:p>
                      </a:txBody>
                      <a:tcPr marL="68580" marR="68580" marT="0" marB="0"/>
                    </a:tc>
                    <a:extLst>
                      <a:ext uri="{0D108BD9-81ED-4DB2-BD59-A6C34878D82A}">
                        <a16:rowId xmlns:a16="http://schemas.microsoft.com/office/drawing/2014/main" val="4268419380"/>
                      </a:ext>
                    </a:extLst>
                  </a:tr>
                </a:tbl>
              </a:graphicData>
            </a:graphic>
          </p:graphicFrame>
        </mc:Choice>
        <mc:Fallback xmlns="">
          <p:graphicFrame>
            <p:nvGraphicFramePr>
              <p:cNvPr id="4" name="Table 3">
                <a:extLst>
                  <a:ext uri="{FF2B5EF4-FFF2-40B4-BE49-F238E27FC236}">
                    <a16:creationId xmlns:a16="http://schemas.microsoft.com/office/drawing/2014/main" id="{F587A703-03D0-D448-BE2E-456582EE2A49}"/>
                  </a:ext>
                </a:extLst>
              </p:cNvPr>
              <p:cNvGraphicFramePr>
                <a:graphicFrameLocks noGrp="1"/>
              </p:cNvGraphicFramePr>
              <p:nvPr>
                <p:extLst>
                  <p:ext uri="{D42A27DB-BD31-4B8C-83A1-F6EECF244321}">
                    <p14:modId xmlns:p14="http://schemas.microsoft.com/office/powerpoint/2010/main" val="2610147712"/>
                  </p:ext>
                </p:extLst>
              </p:nvPr>
            </p:nvGraphicFramePr>
            <p:xfrm>
              <a:off x="1120287" y="1577788"/>
              <a:ext cx="3443049" cy="148844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513080">
                    <a:tc>
                      <a:txBody>
                        <a:bodyPr/>
                        <a:lstStyle/>
                        <a:p>
                          <a:endParaRPr lang="en-US"/>
                        </a:p>
                      </a:txBody>
                      <a:tcPr marL="68580" marR="68580" marT="0" marB="0">
                        <a:blipFill>
                          <a:blip r:embed="rId3"/>
                          <a:stretch>
                            <a:fillRect l="-1020" t="-2439" r="-178571" b="-231707"/>
                          </a:stretch>
                        </a:blipFill>
                      </a:tcPr>
                    </a:tc>
                    <a:tc>
                      <a:txBody>
                        <a:bodyPr/>
                        <a:lstStyle/>
                        <a:p>
                          <a:endParaRPr lang="en-US"/>
                        </a:p>
                      </a:txBody>
                      <a:tcPr marL="68580" marR="68580" marT="0" marB="0">
                        <a:blipFill>
                          <a:blip r:embed="rId3"/>
                          <a:stretch>
                            <a:fillRect l="-56897" t="-2439" r="-575" b="-231707"/>
                          </a:stretch>
                        </a:blipFill>
                      </a:tcPr>
                    </a:tc>
                    <a:extLst>
                      <a:ext uri="{0D108BD9-81ED-4DB2-BD59-A6C34878D82A}">
                        <a16:rowId xmlns:a16="http://schemas.microsoft.com/office/drawing/2014/main" val="1650607844"/>
                      </a:ext>
                    </a:extLst>
                  </a:tr>
                  <a:tr h="487680">
                    <a:tc>
                      <a:txBody>
                        <a:bodyPr/>
                        <a:lstStyle/>
                        <a:p>
                          <a:pPr algn="ctr">
                            <a:spcBef>
                              <a:spcPts val="200"/>
                            </a:spcBef>
                            <a:spcAft>
                              <a:spcPts val="200"/>
                            </a:spcAf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487680">
                    <a:tc>
                      <a:txBody>
                        <a:bodyPr/>
                        <a:lstStyle/>
                        <a:p>
                          <a:pPr algn="ctr">
                            <a:spcBef>
                              <a:spcPts val="200"/>
                            </a:spcBef>
                            <a:spcAft>
                              <a:spcPts val="200"/>
                            </a:spcAf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en-ZA" sz="32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0</a:t>
                          </a:r>
                        </a:p>
                      </a:txBody>
                      <a:tcPr marL="68580" marR="68580" marT="0" marB="0"/>
                    </a:tc>
                    <a:extLst>
                      <a:ext uri="{0D108BD9-81ED-4DB2-BD59-A6C34878D82A}">
                        <a16:rowId xmlns:a16="http://schemas.microsoft.com/office/drawing/2014/main" val="426841938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73CF9345-2381-BF4C-A86A-C7F86E67BE99}"/>
                  </a:ext>
                </a:extLst>
              </p:cNvPr>
              <p:cNvGraphicFramePr>
                <a:graphicFrameLocks noGrp="1"/>
              </p:cNvGraphicFramePr>
              <p:nvPr>
                <p:extLst>
                  <p:ext uri="{D42A27DB-BD31-4B8C-83A1-F6EECF244321}">
                    <p14:modId xmlns:p14="http://schemas.microsoft.com/office/powerpoint/2010/main" val="1431204395"/>
                  </p:ext>
                </p:extLst>
              </p:nvPr>
            </p:nvGraphicFramePr>
            <p:xfrm>
              <a:off x="7727275" y="1577788"/>
              <a:ext cx="3443049" cy="148844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388773">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𝒙</m:t>
                                </m:r>
                              </m:oMath>
                            </m:oMathPara>
                          </a14:m>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𝒇</m:t>
                                </m:r>
                                <m:r>
                                  <a:rPr lang="sr-Latn-RS" sz="3200">
                                    <a:effectLst/>
                                    <a:latin typeface="Cambria Math" panose="02040503050406030204" pitchFamily="18" charset="0"/>
                                  </a:rPr>
                                  <m:t>(</m:t>
                                </m:r>
                                <m:r>
                                  <a:rPr lang="sr-Latn-RS" sz="3200">
                                    <a:effectLst/>
                                    <a:latin typeface="Cambria Math" panose="02040503050406030204" pitchFamily="18" charset="0"/>
                                  </a:rPr>
                                  <m:t>𝒙</m:t>
                                </m:r>
                                <m:r>
                                  <a:rPr lang="sr-Latn-RS" sz="3200">
                                    <a:effectLst/>
                                    <a:latin typeface="Cambria Math" panose="02040503050406030204" pitchFamily="18" charset="0"/>
                                  </a:rPr>
                                  <m:t>)</m:t>
                                </m:r>
                              </m:oMath>
                            </m:oMathPara>
                          </a14:m>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50607844"/>
                      </a:ext>
                    </a:extLst>
                  </a:tr>
                  <a:tr h="341362">
                    <a:tc>
                      <a:txBody>
                        <a:bodyPr/>
                        <a:lstStyle/>
                        <a:p>
                          <a:pPr algn="ctr">
                            <a:spcBef>
                              <a:spcPts val="200"/>
                            </a:spcBef>
                            <a:spcAft>
                              <a:spcPts val="200"/>
                            </a:spcAf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latin typeface="Cambria" panose="02040503050406030204" pitchFamily="18" charset="0"/>
                              <a:ea typeface="Times New Roman" panose="02020603050405020304" pitchFamily="18" charset="0"/>
                              <a:cs typeface="Times New Roman" panose="02020603050405020304" pitchFamily="18" charset="0"/>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341362">
                    <a:tc>
                      <a:txBody>
                        <a:bodyPr/>
                        <a:lstStyle/>
                        <a:p>
                          <a:pPr algn="ctr">
                            <a:spcBef>
                              <a:spcPts val="200"/>
                            </a:spcBef>
                            <a:spcAft>
                              <a:spcPts val="200"/>
                            </a:spcAf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en-ZA" sz="32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1</a:t>
                          </a:r>
                        </a:p>
                      </a:txBody>
                      <a:tcPr marL="68580" marR="68580" marT="0" marB="0"/>
                    </a:tc>
                    <a:extLst>
                      <a:ext uri="{0D108BD9-81ED-4DB2-BD59-A6C34878D82A}">
                        <a16:rowId xmlns:a16="http://schemas.microsoft.com/office/drawing/2014/main" val="4268419380"/>
                      </a:ext>
                    </a:extLst>
                  </a:tr>
                </a:tbl>
              </a:graphicData>
            </a:graphic>
          </p:graphicFrame>
        </mc:Choice>
        <mc:Fallback xmlns="">
          <p:graphicFrame>
            <p:nvGraphicFramePr>
              <p:cNvPr id="5" name="Table 4">
                <a:extLst>
                  <a:ext uri="{FF2B5EF4-FFF2-40B4-BE49-F238E27FC236}">
                    <a16:creationId xmlns:a16="http://schemas.microsoft.com/office/drawing/2014/main" id="{73CF9345-2381-BF4C-A86A-C7F86E67BE99}"/>
                  </a:ext>
                </a:extLst>
              </p:cNvPr>
              <p:cNvGraphicFramePr>
                <a:graphicFrameLocks noGrp="1"/>
              </p:cNvGraphicFramePr>
              <p:nvPr>
                <p:extLst>
                  <p:ext uri="{D42A27DB-BD31-4B8C-83A1-F6EECF244321}">
                    <p14:modId xmlns:p14="http://schemas.microsoft.com/office/powerpoint/2010/main" val="1431204395"/>
                  </p:ext>
                </p:extLst>
              </p:nvPr>
            </p:nvGraphicFramePr>
            <p:xfrm>
              <a:off x="7727275" y="1577788"/>
              <a:ext cx="3443049" cy="148844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513080">
                    <a:tc>
                      <a:txBody>
                        <a:bodyPr/>
                        <a:lstStyle/>
                        <a:p>
                          <a:endParaRPr lang="en-US"/>
                        </a:p>
                      </a:txBody>
                      <a:tcPr marL="68580" marR="68580" marT="0" marB="0">
                        <a:blipFill>
                          <a:blip r:embed="rId4"/>
                          <a:stretch>
                            <a:fillRect l="-1020" t="-2439" r="-178571" b="-231707"/>
                          </a:stretch>
                        </a:blipFill>
                      </a:tcPr>
                    </a:tc>
                    <a:tc>
                      <a:txBody>
                        <a:bodyPr/>
                        <a:lstStyle/>
                        <a:p>
                          <a:endParaRPr lang="en-US"/>
                        </a:p>
                      </a:txBody>
                      <a:tcPr marL="68580" marR="68580" marT="0" marB="0">
                        <a:blipFill>
                          <a:blip r:embed="rId4"/>
                          <a:stretch>
                            <a:fillRect l="-56897" t="-2439" r="-575" b="-231707"/>
                          </a:stretch>
                        </a:blipFill>
                      </a:tcPr>
                    </a:tc>
                    <a:extLst>
                      <a:ext uri="{0D108BD9-81ED-4DB2-BD59-A6C34878D82A}">
                        <a16:rowId xmlns:a16="http://schemas.microsoft.com/office/drawing/2014/main" val="1650607844"/>
                      </a:ext>
                    </a:extLst>
                  </a:tr>
                  <a:tr h="487680">
                    <a:tc>
                      <a:txBody>
                        <a:bodyPr/>
                        <a:lstStyle/>
                        <a:p>
                          <a:pPr algn="ctr">
                            <a:spcBef>
                              <a:spcPts val="200"/>
                            </a:spcBef>
                            <a:spcAft>
                              <a:spcPts val="200"/>
                            </a:spcAf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latin typeface="Cambria" panose="02040503050406030204" pitchFamily="18" charset="0"/>
                              <a:ea typeface="Times New Roman" panose="02020603050405020304" pitchFamily="18" charset="0"/>
                              <a:cs typeface="Times New Roman" panose="02020603050405020304" pitchFamily="18" charset="0"/>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487680">
                    <a:tc>
                      <a:txBody>
                        <a:bodyPr/>
                        <a:lstStyle/>
                        <a:p>
                          <a:pPr algn="ctr">
                            <a:spcBef>
                              <a:spcPts val="200"/>
                            </a:spcBef>
                            <a:spcAft>
                              <a:spcPts val="200"/>
                            </a:spcAf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en-ZA" sz="32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1</a:t>
                          </a:r>
                        </a:p>
                      </a:txBody>
                      <a:tcPr marL="68580" marR="68580" marT="0" marB="0"/>
                    </a:tc>
                    <a:extLst>
                      <a:ext uri="{0D108BD9-81ED-4DB2-BD59-A6C34878D82A}">
                        <a16:rowId xmlns:a16="http://schemas.microsoft.com/office/drawing/2014/main" val="4268419380"/>
                      </a:ext>
                    </a:extLst>
                  </a:tr>
                </a:tbl>
              </a:graphicData>
            </a:graphic>
          </p:graphicFrame>
        </mc:Fallback>
      </mc:AlternateContent>
      <p:sp>
        <p:nvSpPr>
          <p:cNvPr id="6" name="TextBox 5">
            <a:extLst>
              <a:ext uri="{FF2B5EF4-FFF2-40B4-BE49-F238E27FC236}">
                <a16:creationId xmlns:a16="http://schemas.microsoft.com/office/drawing/2014/main" id="{D2C9F6DF-FD59-A743-93A4-21906BB46AB0}"/>
              </a:ext>
            </a:extLst>
          </p:cNvPr>
          <p:cNvSpPr txBox="1"/>
          <p:nvPr/>
        </p:nvSpPr>
        <p:spPr>
          <a:xfrm>
            <a:off x="5801941" y="2137342"/>
            <a:ext cx="679994" cy="584775"/>
          </a:xfrm>
          <a:prstGeom prst="rect">
            <a:avLst/>
          </a:prstGeom>
          <a:noFill/>
        </p:spPr>
        <p:txBody>
          <a:bodyPr wrap="none" rtlCol="0">
            <a:spAutoFit/>
          </a:bodyPr>
          <a:lstStyle/>
          <a:p>
            <a:r>
              <a:rPr lang="en-US" sz="3200" dirty="0"/>
              <a:t>OR</a:t>
            </a:r>
          </a:p>
        </p:txBody>
      </p:sp>
      <p:sp>
        <p:nvSpPr>
          <p:cNvPr id="7" name="TextBox 6">
            <a:extLst>
              <a:ext uri="{FF2B5EF4-FFF2-40B4-BE49-F238E27FC236}">
                <a16:creationId xmlns:a16="http://schemas.microsoft.com/office/drawing/2014/main" id="{37B39112-AEE8-F343-B723-04F5A2BE9540}"/>
              </a:ext>
            </a:extLst>
          </p:cNvPr>
          <p:cNvSpPr txBox="1"/>
          <p:nvPr/>
        </p:nvSpPr>
        <p:spPr>
          <a:xfrm>
            <a:off x="4486164" y="928688"/>
            <a:ext cx="2785827" cy="523220"/>
          </a:xfrm>
          <a:prstGeom prst="rect">
            <a:avLst/>
          </a:prstGeom>
          <a:noFill/>
        </p:spPr>
        <p:txBody>
          <a:bodyPr wrap="none" rtlCol="0">
            <a:spAutoFit/>
          </a:bodyPr>
          <a:lstStyle/>
          <a:p>
            <a:r>
              <a:rPr lang="en-US" sz="2800" dirty="0"/>
              <a:t>Constant function</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6BC19C58-54EC-A141-961B-F6516E61FFA9}"/>
                  </a:ext>
                </a:extLst>
              </p:cNvPr>
              <p:cNvGraphicFramePr>
                <a:graphicFrameLocks noGrp="1"/>
              </p:cNvGraphicFramePr>
              <p:nvPr>
                <p:extLst>
                  <p:ext uri="{D42A27DB-BD31-4B8C-83A1-F6EECF244321}">
                    <p14:modId xmlns:p14="http://schemas.microsoft.com/office/powerpoint/2010/main" val="2360793076"/>
                  </p:ext>
                </p:extLst>
              </p:nvPr>
            </p:nvGraphicFramePr>
            <p:xfrm>
              <a:off x="1120287" y="4167173"/>
              <a:ext cx="3443049" cy="148844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388773">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𝒙</m:t>
                                </m:r>
                              </m:oMath>
                            </m:oMathPara>
                          </a14:m>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𝒇</m:t>
                                </m:r>
                                <m:r>
                                  <a:rPr lang="sr-Latn-RS" sz="3200">
                                    <a:effectLst/>
                                    <a:latin typeface="Cambria Math" panose="02040503050406030204" pitchFamily="18" charset="0"/>
                                  </a:rPr>
                                  <m:t>(</m:t>
                                </m:r>
                                <m:r>
                                  <a:rPr lang="sr-Latn-RS" sz="3200">
                                    <a:effectLst/>
                                    <a:latin typeface="Cambria Math" panose="02040503050406030204" pitchFamily="18" charset="0"/>
                                  </a:rPr>
                                  <m:t>𝒙</m:t>
                                </m:r>
                                <m:r>
                                  <a:rPr lang="sr-Latn-RS" sz="3200">
                                    <a:effectLst/>
                                    <a:latin typeface="Cambria Math" panose="02040503050406030204" pitchFamily="18" charset="0"/>
                                  </a:rPr>
                                  <m:t>)</m:t>
                                </m:r>
                              </m:oMath>
                            </m:oMathPara>
                          </a14:m>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50607844"/>
                      </a:ext>
                    </a:extLst>
                  </a:tr>
                  <a:tr h="341362">
                    <a:tc>
                      <a:txBody>
                        <a:bodyPr/>
                        <a:lstStyle/>
                        <a:p>
                          <a:pPr algn="ctr">
                            <a:spcBef>
                              <a:spcPts val="200"/>
                            </a:spcBef>
                            <a:spcAft>
                              <a:spcPts val="200"/>
                            </a:spcAf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341362">
                    <a:tc>
                      <a:txBody>
                        <a:bodyPr/>
                        <a:lstStyle/>
                        <a:p>
                          <a:pPr algn="ctr">
                            <a:spcBef>
                              <a:spcPts val="200"/>
                            </a:spcBef>
                            <a:spcAft>
                              <a:spcPts val="200"/>
                            </a:spcAf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en-ZA" sz="32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1</a:t>
                          </a:r>
                        </a:p>
                      </a:txBody>
                      <a:tcPr marL="68580" marR="68580" marT="0" marB="0"/>
                    </a:tc>
                    <a:extLst>
                      <a:ext uri="{0D108BD9-81ED-4DB2-BD59-A6C34878D82A}">
                        <a16:rowId xmlns:a16="http://schemas.microsoft.com/office/drawing/2014/main" val="4268419380"/>
                      </a:ext>
                    </a:extLst>
                  </a:tr>
                </a:tbl>
              </a:graphicData>
            </a:graphic>
          </p:graphicFrame>
        </mc:Choice>
        <mc:Fallback xmlns="">
          <p:graphicFrame>
            <p:nvGraphicFramePr>
              <p:cNvPr id="8" name="Table 7">
                <a:extLst>
                  <a:ext uri="{FF2B5EF4-FFF2-40B4-BE49-F238E27FC236}">
                    <a16:creationId xmlns:a16="http://schemas.microsoft.com/office/drawing/2014/main" id="{6BC19C58-54EC-A141-961B-F6516E61FFA9}"/>
                  </a:ext>
                </a:extLst>
              </p:cNvPr>
              <p:cNvGraphicFramePr>
                <a:graphicFrameLocks noGrp="1"/>
              </p:cNvGraphicFramePr>
              <p:nvPr>
                <p:extLst>
                  <p:ext uri="{D42A27DB-BD31-4B8C-83A1-F6EECF244321}">
                    <p14:modId xmlns:p14="http://schemas.microsoft.com/office/powerpoint/2010/main" val="2360793076"/>
                  </p:ext>
                </p:extLst>
              </p:nvPr>
            </p:nvGraphicFramePr>
            <p:xfrm>
              <a:off x="1120287" y="4167173"/>
              <a:ext cx="3443049" cy="148844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513080">
                    <a:tc>
                      <a:txBody>
                        <a:bodyPr/>
                        <a:lstStyle/>
                        <a:p>
                          <a:endParaRPr lang="en-US"/>
                        </a:p>
                      </a:txBody>
                      <a:tcPr marL="68580" marR="68580" marT="0" marB="0">
                        <a:blipFill>
                          <a:blip r:embed="rId5"/>
                          <a:stretch>
                            <a:fillRect l="-1020" t="-2439" r="-178571" b="-231707"/>
                          </a:stretch>
                        </a:blipFill>
                      </a:tcPr>
                    </a:tc>
                    <a:tc>
                      <a:txBody>
                        <a:bodyPr/>
                        <a:lstStyle/>
                        <a:p>
                          <a:endParaRPr lang="en-US"/>
                        </a:p>
                      </a:txBody>
                      <a:tcPr marL="68580" marR="68580" marT="0" marB="0">
                        <a:blipFill>
                          <a:blip r:embed="rId5"/>
                          <a:stretch>
                            <a:fillRect l="-56897" t="-2439" r="-575" b="-231707"/>
                          </a:stretch>
                        </a:blipFill>
                      </a:tcPr>
                    </a:tc>
                    <a:extLst>
                      <a:ext uri="{0D108BD9-81ED-4DB2-BD59-A6C34878D82A}">
                        <a16:rowId xmlns:a16="http://schemas.microsoft.com/office/drawing/2014/main" val="1650607844"/>
                      </a:ext>
                    </a:extLst>
                  </a:tr>
                  <a:tr h="487680">
                    <a:tc>
                      <a:txBody>
                        <a:bodyPr/>
                        <a:lstStyle/>
                        <a:p>
                          <a:pPr algn="ctr">
                            <a:spcBef>
                              <a:spcPts val="200"/>
                            </a:spcBef>
                            <a:spcAft>
                              <a:spcPts val="200"/>
                            </a:spcAf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latin typeface="Cambria" panose="02040503050406030204" pitchFamily="18" charset="0"/>
                              <a:ea typeface="Times New Roman" panose="02020603050405020304" pitchFamily="18" charset="0"/>
                              <a:cs typeface="Times New Roman" panose="02020603050405020304" pitchFamily="18" charset="0"/>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487680">
                    <a:tc>
                      <a:txBody>
                        <a:bodyPr/>
                        <a:lstStyle/>
                        <a:p>
                          <a:pPr algn="ctr">
                            <a:spcBef>
                              <a:spcPts val="200"/>
                            </a:spcBef>
                            <a:spcAft>
                              <a:spcPts val="200"/>
                            </a:spcAf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en-ZA" sz="32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1</a:t>
                          </a:r>
                        </a:p>
                      </a:txBody>
                      <a:tcPr marL="68580" marR="68580" marT="0" marB="0"/>
                    </a:tc>
                    <a:extLst>
                      <a:ext uri="{0D108BD9-81ED-4DB2-BD59-A6C34878D82A}">
                        <a16:rowId xmlns:a16="http://schemas.microsoft.com/office/drawing/2014/main" val="426841938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FE15B968-A591-3E4D-9FF3-716C34D6AF03}"/>
                  </a:ext>
                </a:extLst>
              </p:cNvPr>
              <p:cNvGraphicFramePr>
                <a:graphicFrameLocks noGrp="1"/>
              </p:cNvGraphicFramePr>
              <p:nvPr>
                <p:extLst>
                  <p:ext uri="{D42A27DB-BD31-4B8C-83A1-F6EECF244321}">
                    <p14:modId xmlns:p14="http://schemas.microsoft.com/office/powerpoint/2010/main" val="2146006531"/>
                  </p:ext>
                </p:extLst>
              </p:nvPr>
            </p:nvGraphicFramePr>
            <p:xfrm>
              <a:off x="7727275" y="4167173"/>
              <a:ext cx="3443049" cy="148844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388773">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𝒙</m:t>
                                </m:r>
                              </m:oMath>
                            </m:oMathPara>
                          </a14:m>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𝒇</m:t>
                                </m:r>
                                <m:r>
                                  <a:rPr lang="sr-Latn-RS" sz="3200">
                                    <a:effectLst/>
                                    <a:latin typeface="Cambria Math" panose="02040503050406030204" pitchFamily="18" charset="0"/>
                                  </a:rPr>
                                  <m:t>(</m:t>
                                </m:r>
                                <m:r>
                                  <a:rPr lang="sr-Latn-RS" sz="3200">
                                    <a:effectLst/>
                                    <a:latin typeface="Cambria Math" panose="02040503050406030204" pitchFamily="18" charset="0"/>
                                  </a:rPr>
                                  <m:t>𝒙</m:t>
                                </m:r>
                                <m:r>
                                  <a:rPr lang="sr-Latn-RS" sz="3200">
                                    <a:effectLst/>
                                    <a:latin typeface="Cambria Math" panose="02040503050406030204" pitchFamily="18" charset="0"/>
                                  </a:rPr>
                                  <m:t>)</m:t>
                                </m:r>
                              </m:oMath>
                            </m:oMathPara>
                          </a14:m>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50607844"/>
                      </a:ext>
                    </a:extLst>
                  </a:tr>
                  <a:tr h="341362">
                    <a:tc>
                      <a:txBody>
                        <a:bodyPr/>
                        <a:lstStyle/>
                        <a:p>
                          <a:pPr algn="ctr">
                            <a:spcBef>
                              <a:spcPts val="200"/>
                            </a:spcBef>
                            <a:spcAft>
                              <a:spcPts val="200"/>
                            </a:spcAf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latin typeface="Cambria" panose="02040503050406030204" pitchFamily="18" charset="0"/>
                              <a:ea typeface="Times New Roman" panose="02020603050405020304" pitchFamily="18" charset="0"/>
                              <a:cs typeface="Times New Roman" panose="02020603050405020304" pitchFamily="18" charset="0"/>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341362">
                    <a:tc>
                      <a:txBody>
                        <a:bodyPr/>
                        <a:lstStyle/>
                        <a:p>
                          <a:pPr algn="ctr">
                            <a:spcBef>
                              <a:spcPts val="200"/>
                            </a:spcBef>
                            <a:spcAft>
                              <a:spcPts val="200"/>
                            </a:spcAf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en-ZA" sz="32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0</a:t>
                          </a:r>
                        </a:p>
                      </a:txBody>
                      <a:tcPr marL="68580" marR="68580" marT="0" marB="0"/>
                    </a:tc>
                    <a:extLst>
                      <a:ext uri="{0D108BD9-81ED-4DB2-BD59-A6C34878D82A}">
                        <a16:rowId xmlns:a16="http://schemas.microsoft.com/office/drawing/2014/main" val="4268419380"/>
                      </a:ext>
                    </a:extLst>
                  </a:tr>
                </a:tbl>
              </a:graphicData>
            </a:graphic>
          </p:graphicFrame>
        </mc:Choice>
        <mc:Fallback xmlns="">
          <p:graphicFrame>
            <p:nvGraphicFramePr>
              <p:cNvPr id="9" name="Table 8">
                <a:extLst>
                  <a:ext uri="{FF2B5EF4-FFF2-40B4-BE49-F238E27FC236}">
                    <a16:creationId xmlns:a16="http://schemas.microsoft.com/office/drawing/2014/main" id="{FE15B968-A591-3E4D-9FF3-716C34D6AF03}"/>
                  </a:ext>
                </a:extLst>
              </p:cNvPr>
              <p:cNvGraphicFramePr>
                <a:graphicFrameLocks noGrp="1"/>
              </p:cNvGraphicFramePr>
              <p:nvPr>
                <p:extLst>
                  <p:ext uri="{D42A27DB-BD31-4B8C-83A1-F6EECF244321}">
                    <p14:modId xmlns:p14="http://schemas.microsoft.com/office/powerpoint/2010/main" val="2146006531"/>
                  </p:ext>
                </p:extLst>
              </p:nvPr>
            </p:nvGraphicFramePr>
            <p:xfrm>
              <a:off x="7727275" y="4167173"/>
              <a:ext cx="3443049" cy="148844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513080">
                    <a:tc>
                      <a:txBody>
                        <a:bodyPr/>
                        <a:lstStyle/>
                        <a:p>
                          <a:endParaRPr lang="en-US"/>
                        </a:p>
                      </a:txBody>
                      <a:tcPr marL="68580" marR="68580" marT="0" marB="0">
                        <a:blipFill>
                          <a:blip r:embed="rId6"/>
                          <a:stretch>
                            <a:fillRect l="-1020" t="-2439" r="-178571" b="-231707"/>
                          </a:stretch>
                        </a:blipFill>
                      </a:tcPr>
                    </a:tc>
                    <a:tc>
                      <a:txBody>
                        <a:bodyPr/>
                        <a:lstStyle/>
                        <a:p>
                          <a:endParaRPr lang="en-US"/>
                        </a:p>
                      </a:txBody>
                      <a:tcPr marL="68580" marR="68580" marT="0" marB="0">
                        <a:blipFill>
                          <a:blip r:embed="rId6"/>
                          <a:stretch>
                            <a:fillRect l="-56897" t="-2439" r="-575" b="-231707"/>
                          </a:stretch>
                        </a:blipFill>
                      </a:tcPr>
                    </a:tc>
                    <a:extLst>
                      <a:ext uri="{0D108BD9-81ED-4DB2-BD59-A6C34878D82A}">
                        <a16:rowId xmlns:a16="http://schemas.microsoft.com/office/drawing/2014/main" val="1650607844"/>
                      </a:ext>
                    </a:extLst>
                  </a:tr>
                  <a:tr h="487680">
                    <a:tc>
                      <a:txBody>
                        <a:bodyPr/>
                        <a:lstStyle/>
                        <a:p>
                          <a:pPr algn="ctr">
                            <a:spcBef>
                              <a:spcPts val="200"/>
                            </a:spcBef>
                            <a:spcAft>
                              <a:spcPts val="200"/>
                            </a:spcAf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latin typeface="Cambria" panose="02040503050406030204" pitchFamily="18" charset="0"/>
                              <a:ea typeface="Times New Roman" panose="02020603050405020304" pitchFamily="18" charset="0"/>
                              <a:cs typeface="Times New Roman" panose="02020603050405020304" pitchFamily="18" charset="0"/>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487680">
                    <a:tc>
                      <a:txBody>
                        <a:bodyPr/>
                        <a:lstStyle/>
                        <a:p>
                          <a:pPr algn="ctr">
                            <a:spcBef>
                              <a:spcPts val="200"/>
                            </a:spcBef>
                            <a:spcAft>
                              <a:spcPts val="200"/>
                            </a:spcAf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en-ZA" sz="32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rPr>
                            <a:t>0</a:t>
                          </a:r>
                        </a:p>
                      </a:txBody>
                      <a:tcPr marL="68580" marR="68580" marT="0" marB="0"/>
                    </a:tc>
                    <a:extLst>
                      <a:ext uri="{0D108BD9-81ED-4DB2-BD59-A6C34878D82A}">
                        <a16:rowId xmlns:a16="http://schemas.microsoft.com/office/drawing/2014/main" val="4268419380"/>
                      </a:ext>
                    </a:extLst>
                  </a:tr>
                </a:tbl>
              </a:graphicData>
            </a:graphic>
          </p:graphicFrame>
        </mc:Fallback>
      </mc:AlternateContent>
      <p:sp>
        <p:nvSpPr>
          <p:cNvPr id="10" name="TextBox 9">
            <a:extLst>
              <a:ext uri="{FF2B5EF4-FFF2-40B4-BE49-F238E27FC236}">
                <a16:creationId xmlns:a16="http://schemas.microsoft.com/office/drawing/2014/main" id="{88BF9DAC-C2DF-9A4B-9DE4-418FDCB09C91}"/>
              </a:ext>
            </a:extLst>
          </p:cNvPr>
          <p:cNvSpPr txBox="1"/>
          <p:nvPr/>
        </p:nvSpPr>
        <p:spPr>
          <a:xfrm>
            <a:off x="5801941" y="4726727"/>
            <a:ext cx="679994" cy="584775"/>
          </a:xfrm>
          <a:prstGeom prst="rect">
            <a:avLst/>
          </a:prstGeom>
          <a:noFill/>
        </p:spPr>
        <p:txBody>
          <a:bodyPr wrap="none" rtlCol="0">
            <a:spAutoFit/>
          </a:bodyPr>
          <a:lstStyle/>
          <a:p>
            <a:r>
              <a:rPr lang="en-US" sz="3200" dirty="0"/>
              <a:t>OR</a:t>
            </a:r>
          </a:p>
        </p:txBody>
      </p:sp>
      <p:sp>
        <p:nvSpPr>
          <p:cNvPr id="11" name="TextBox 10">
            <a:extLst>
              <a:ext uri="{FF2B5EF4-FFF2-40B4-BE49-F238E27FC236}">
                <a16:creationId xmlns:a16="http://schemas.microsoft.com/office/drawing/2014/main" id="{DC5CC802-55E6-7A4B-B6B0-264A669E7B17}"/>
              </a:ext>
            </a:extLst>
          </p:cNvPr>
          <p:cNvSpPr txBox="1"/>
          <p:nvPr/>
        </p:nvSpPr>
        <p:spPr>
          <a:xfrm>
            <a:off x="4550224" y="3561452"/>
            <a:ext cx="2815194" cy="523220"/>
          </a:xfrm>
          <a:prstGeom prst="rect">
            <a:avLst/>
          </a:prstGeom>
          <a:noFill/>
        </p:spPr>
        <p:txBody>
          <a:bodyPr wrap="none" rtlCol="0">
            <a:spAutoFit/>
          </a:bodyPr>
          <a:lstStyle/>
          <a:p>
            <a:r>
              <a:rPr lang="en-US" sz="2800" dirty="0"/>
              <a:t>Balanced function</a:t>
            </a:r>
          </a:p>
        </p:txBody>
      </p:sp>
      <p:sp>
        <p:nvSpPr>
          <p:cNvPr id="12" name="TextBox 11">
            <a:extLst>
              <a:ext uri="{FF2B5EF4-FFF2-40B4-BE49-F238E27FC236}">
                <a16:creationId xmlns:a16="http://schemas.microsoft.com/office/drawing/2014/main" id="{02420AE5-C7CC-974A-9C7F-A083F0786516}"/>
              </a:ext>
            </a:extLst>
          </p:cNvPr>
          <p:cNvSpPr txBox="1"/>
          <p:nvPr/>
        </p:nvSpPr>
        <p:spPr>
          <a:xfrm>
            <a:off x="537883" y="2022969"/>
            <a:ext cx="314510" cy="707886"/>
          </a:xfrm>
          <a:prstGeom prst="rect">
            <a:avLst/>
          </a:prstGeom>
          <a:noFill/>
        </p:spPr>
        <p:txBody>
          <a:bodyPr wrap="none" rtlCol="0">
            <a:spAutoFit/>
          </a:bodyPr>
          <a:lstStyle/>
          <a:p>
            <a:r>
              <a:rPr lang="en-US" sz="4000" dirty="0"/>
              <a:t>I</a:t>
            </a:r>
          </a:p>
        </p:txBody>
      </p:sp>
      <p:sp>
        <p:nvSpPr>
          <p:cNvPr id="13" name="TextBox 12">
            <a:extLst>
              <a:ext uri="{FF2B5EF4-FFF2-40B4-BE49-F238E27FC236}">
                <a16:creationId xmlns:a16="http://schemas.microsoft.com/office/drawing/2014/main" id="{677D97DC-6773-D34E-B532-A996D9F8A9AC}"/>
              </a:ext>
            </a:extLst>
          </p:cNvPr>
          <p:cNvSpPr txBox="1"/>
          <p:nvPr/>
        </p:nvSpPr>
        <p:spPr>
          <a:xfrm>
            <a:off x="7001436" y="1923554"/>
            <a:ext cx="444352" cy="707886"/>
          </a:xfrm>
          <a:prstGeom prst="rect">
            <a:avLst/>
          </a:prstGeom>
          <a:noFill/>
        </p:spPr>
        <p:txBody>
          <a:bodyPr wrap="none" rtlCol="0">
            <a:spAutoFit/>
          </a:bodyPr>
          <a:lstStyle/>
          <a:p>
            <a:r>
              <a:rPr lang="en-US" sz="4000" dirty="0"/>
              <a:t>II</a:t>
            </a:r>
          </a:p>
        </p:txBody>
      </p:sp>
      <p:sp>
        <p:nvSpPr>
          <p:cNvPr id="14" name="TextBox 13">
            <a:extLst>
              <a:ext uri="{FF2B5EF4-FFF2-40B4-BE49-F238E27FC236}">
                <a16:creationId xmlns:a16="http://schemas.microsoft.com/office/drawing/2014/main" id="{92DB88D3-ADAC-0F4B-B19C-F9D716C61AB2}"/>
              </a:ext>
            </a:extLst>
          </p:cNvPr>
          <p:cNvSpPr txBox="1"/>
          <p:nvPr/>
        </p:nvSpPr>
        <p:spPr>
          <a:xfrm>
            <a:off x="408040" y="4557450"/>
            <a:ext cx="574196" cy="707886"/>
          </a:xfrm>
          <a:prstGeom prst="rect">
            <a:avLst/>
          </a:prstGeom>
          <a:noFill/>
        </p:spPr>
        <p:txBody>
          <a:bodyPr wrap="none" rtlCol="0">
            <a:spAutoFit/>
          </a:bodyPr>
          <a:lstStyle/>
          <a:p>
            <a:r>
              <a:rPr lang="en-US" sz="4000" dirty="0"/>
              <a:t>III</a:t>
            </a:r>
          </a:p>
        </p:txBody>
      </p:sp>
      <p:sp>
        <p:nvSpPr>
          <p:cNvPr id="15" name="TextBox 14">
            <a:extLst>
              <a:ext uri="{FF2B5EF4-FFF2-40B4-BE49-F238E27FC236}">
                <a16:creationId xmlns:a16="http://schemas.microsoft.com/office/drawing/2014/main" id="{8CBF5721-3B2C-8D42-9265-ECA5C5EC8421}"/>
              </a:ext>
            </a:extLst>
          </p:cNvPr>
          <p:cNvSpPr txBox="1"/>
          <p:nvPr/>
        </p:nvSpPr>
        <p:spPr>
          <a:xfrm>
            <a:off x="6934748" y="4557450"/>
            <a:ext cx="606256" cy="707886"/>
          </a:xfrm>
          <a:prstGeom prst="rect">
            <a:avLst/>
          </a:prstGeom>
          <a:noFill/>
        </p:spPr>
        <p:txBody>
          <a:bodyPr wrap="none" rtlCol="0">
            <a:spAutoFit/>
          </a:bodyPr>
          <a:lstStyle/>
          <a:p>
            <a:r>
              <a:rPr lang="en-US" sz="4000" dirty="0"/>
              <a:t>IV</a:t>
            </a:r>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A29C6A12-0876-B144-A7FE-81E0CB153CEF}"/>
                  </a:ext>
                </a:extLst>
              </p:cNvPr>
              <p:cNvSpPr/>
              <p:nvPr/>
            </p:nvSpPr>
            <p:spPr>
              <a:xfrm>
                <a:off x="3905941" y="5852597"/>
                <a:ext cx="4210320" cy="1005403"/>
              </a:xfrm>
              <a:prstGeom prst="rect">
                <a:avLst/>
              </a:prstGeom>
              <a:solidFill>
                <a:schemeClr val="accent4">
                  <a:lumMod val="20000"/>
                  <a:lumOff val="80000"/>
                </a:schemeClr>
              </a:solidFill>
            </p:spPr>
            <p:txBody>
              <a:bodyPr wrap="none">
                <a:spAutoFit/>
              </a:bodyPr>
              <a:lstStyle/>
              <a:p>
                <a:pPr algn="ctr">
                  <a:spcBef>
                    <a:spcPts val="200"/>
                  </a:spcBef>
                  <a:spcAft>
                    <a:spcPts val="200"/>
                  </a:spcAft>
                </a:pPr>
                <a14:m>
                  <m:oMath xmlns:m="http://schemas.openxmlformats.org/officeDocument/2006/math">
                    <m:r>
                      <a:rPr lang="sr-Latn-RS" sz="2800" b="0" i="1">
                        <a:latin typeface="Cambria Math" panose="02040503050406030204" pitchFamily="18" charset="0"/>
                      </a:rPr>
                      <m:t>𝑓</m:t>
                    </m:r>
                    <m:d>
                      <m:dPr>
                        <m:ctrlPr>
                          <a:rPr lang="sr-Latn-RS" sz="2800" i="1">
                            <a:latin typeface="Cambria Math" panose="02040503050406030204" pitchFamily="18" charset="0"/>
                          </a:rPr>
                        </m:ctrlPr>
                      </m:dPr>
                      <m:e>
                        <m:r>
                          <a:rPr lang="sr-Latn-RS" sz="2800" b="0" i="0" smtClean="0">
                            <a:latin typeface="Cambria Math" panose="02040503050406030204" pitchFamily="18" charset="0"/>
                          </a:rPr>
                          <m:t>0</m:t>
                        </m:r>
                      </m:e>
                    </m:d>
                    <m:r>
                      <a:rPr lang="sr-Latn-RS" sz="2800" b="0" i="0" smtClean="0">
                        <a:latin typeface="Cambria Math" panose="02040503050406030204" pitchFamily="18" charset="0"/>
                      </a:rPr>
                      <m:t>=</m:t>
                    </m:r>
                    <m:r>
                      <a:rPr lang="sr-Latn-RS" sz="2800" b="0" i="1">
                        <a:latin typeface="Cambria Math" panose="02040503050406030204" pitchFamily="18" charset="0"/>
                      </a:rPr>
                      <m:t>𝑓</m:t>
                    </m:r>
                    <m:d>
                      <m:dPr>
                        <m:ctrlPr>
                          <a:rPr lang="sr-Latn-RS" sz="2800" i="1">
                            <a:latin typeface="Cambria Math" panose="02040503050406030204" pitchFamily="18" charset="0"/>
                          </a:rPr>
                        </m:ctrlPr>
                      </m:dPr>
                      <m:e>
                        <m:r>
                          <a:rPr lang="sr-Latn-RS" sz="2800" b="0" i="0" smtClean="0">
                            <a:latin typeface="Cambria Math" panose="02040503050406030204" pitchFamily="18" charset="0"/>
                          </a:rPr>
                          <m:t>1</m:t>
                        </m:r>
                      </m:e>
                    </m:d>
                  </m:oMath>
                </a14:m>
                <a:r>
                  <a:rPr lang="en-ZA" sz="28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800" b="0" i="1">
                        <a:latin typeface="Cambria Math" panose="02040503050406030204" pitchFamily="18" charset="0"/>
                      </a:rPr>
                      <m:t>𝑓</m:t>
                    </m:r>
                  </m:oMath>
                </a14:m>
                <a:r>
                  <a:rPr lang="en-ZA" sz="2800" dirty="0">
                    <a:latin typeface="Cambria" panose="02040503050406030204" pitchFamily="18" charset="0"/>
                    <a:ea typeface="Times New Roman" panose="02020603050405020304" pitchFamily="18" charset="0"/>
                    <a:cs typeface="Times New Roman" panose="02020603050405020304" pitchFamily="18" charset="0"/>
                  </a:rPr>
                  <a:t> is constant</a:t>
                </a:r>
              </a:p>
              <a:p>
                <a:pPr algn="ctr">
                  <a:spcBef>
                    <a:spcPts val="200"/>
                  </a:spcBef>
                  <a:spcAft>
                    <a:spcPts val="200"/>
                  </a:spcAft>
                </a:pPr>
                <a14:m>
                  <m:oMath xmlns:m="http://schemas.openxmlformats.org/officeDocument/2006/math">
                    <m:r>
                      <a:rPr lang="sr-Latn-RS" sz="2800" b="0" i="1">
                        <a:latin typeface="Cambria Math" panose="02040503050406030204" pitchFamily="18" charset="0"/>
                      </a:rPr>
                      <m:t>𝑓</m:t>
                    </m:r>
                    <m:d>
                      <m:dPr>
                        <m:ctrlPr>
                          <a:rPr lang="sr-Latn-RS" sz="2800" i="1">
                            <a:latin typeface="Cambria Math" panose="02040503050406030204" pitchFamily="18" charset="0"/>
                          </a:rPr>
                        </m:ctrlPr>
                      </m:dPr>
                      <m:e>
                        <m:r>
                          <a:rPr lang="sr-Latn-RS" sz="2800" b="0" i="1">
                            <a:latin typeface="Cambria Math" panose="02040503050406030204" pitchFamily="18" charset="0"/>
                          </a:rPr>
                          <m:t>0</m:t>
                        </m:r>
                      </m:e>
                    </m:d>
                    <m:r>
                      <a:rPr lang="sr-Latn-RS" sz="2800" b="0" i="1" smtClean="0">
                        <a:latin typeface="Cambria Math" panose="02040503050406030204" pitchFamily="18" charset="0"/>
                        <a:ea typeface="Cambria Math" panose="02040503050406030204" pitchFamily="18" charset="0"/>
                      </a:rPr>
                      <m:t>≠</m:t>
                    </m:r>
                    <m:r>
                      <a:rPr lang="sr-Latn-RS" sz="2800" b="0" i="1">
                        <a:latin typeface="Cambria Math" panose="02040503050406030204" pitchFamily="18" charset="0"/>
                      </a:rPr>
                      <m:t>𝑓</m:t>
                    </m:r>
                    <m:d>
                      <m:dPr>
                        <m:ctrlPr>
                          <a:rPr lang="sr-Latn-RS" sz="2800" i="1">
                            <a:latin typeface="Cambria Math" panose="02040503050406030204" pitchFamily="18" charset="0"/>
                          </a:rPr>
                        </m:ctrlPr>
                      </m:dPr>
                      <m:e>
                        <m:r>
                          <a:rPr lang="sr-Latn-RS" sz="2800" b="0" i="1">
                            <a:latin typeface="Cambria Math" panose="02040503050406030204" pitchFamily="18" charset="0"/>
                          </a:rPr>
                          <m:t>1</m:t>
                        </m:r>
                      </m:e>
                    </m:d>
                    <m:r>
                      <a:rPr lang="sr-Latn-RS" sz="2800" b="0" i="0" smtClean="0">
                        <a:latin typeface="Cambria Math" panose="02040503050406030204" pitchFamily="18" charset="0"/>
                      </a:rPr>
                      <m:t>: </m:t>
                    </m:r>
                    <m:r>
                      <a:rPr lang="sr-Latn-RS" sz="2800" b="0" i="1">
                        <a:latin typeface="Cambria Math" panose="02040503050406030204" pitchFamily="18" charset="0"/>
                      </a:rPr>
                      <m:t>𝑓</m:t>
                    </m:r>
                  </m:oMath>
                </a14:m>
                <a:r>
                  <a:rPr lang="en-ZA" sz="2800" dirty="0">
                    <a:latin typeface="Cambria" panose="02040503050406030204" pitchFamily="18" charset="0"/>
                    <a:ea typeface="Times New Roman" panose="02020603050405020304" pitchFamily="18" charset="0"/>
                    <a:cs typeface="Times New Roman" panose="02020603050405020304" pitchFamily="18" charset="0"/>
                  </a:rPr>
                  <a:t> is balanced</a:t>
                </a:r>
              </a:p>
            </p:txBody>
          </p:sp>
        </mc:Choice>
        <mc:Fallback xmlns="">
          <p:sp>
            <p:nvSpPr>
              <p:cNvPr id="16" name="Rectangle 15">
                <a:extLst>
                  <a:ext uri="{FF2B5EF4-FFF2-40B4-BE49-F238E27FC236}">
                    <a16:creationId xmlns:a16="http://schemas.microsoft.com/office/drawing/2014/main" id="{A29C6A12-0876-B144-A7FE-81E0CB153CEF}"/>
                  </a:ext>
                </a:extLst>
              </p:cNvPr>
              <p:cNvSpPr>
                <a:spLocks noRot="1" noChangeAspect="1" noMove="1" noResize="1" noEditPoints="1" noAdjustHandles="1" noChangeArrowheads="1" noChangeShapeType="1" noTextEdit="1"/>
              </p:cNvSpPr>
              <p:nvPr/>
            </p:nvSpPr>
            <p:spPr>
              <a:xfrm>
                <a:off x="3905941" y="5852597"/>
                <a:ext cx="4210320" cy="1005403"/>
              </a:xfrm>
              <a:prstGeom prst="rect">
                <a:avLst/>
              </a:prstGeom>
              <a:blipFill>
                <a:blip r:embed="rId7"/>
                <a:stretch>
                  <a:fillRect l="-1506" t="-6250" r="-2410" b="-15000"/>
                </a:stretch>
              </a:blipFill>
            </p:spPr>
            <p:txBody>
              <a:bodyPr/>
              <a:lstStyle/>
              <a:p>
                <a:r>
                  <a:rPr lang="en-US">
                    <a:noFill/>
                  </a:rPr>
                  <a:t> </a:t>
                </a:r>
              </a:p>
            </p:txBody>
          </p:sp>
        </mc:Fallback>
      </mc:AlternateContent>
    </p:spTree>
    <p:extLst>
      <p:ext uri="{BB962C8B-B14F-4D97-AF65-F5344CB8AC3E}">
        <p14:creationId xmlns:p14="http://schemas.microsoft.com/office/powerpoint/2010/main" val="792433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0215D0-A637-0340-AA30-531E62D8E359}"/>
              </a:ext>
            </a:extLst>
          </p:cNvPr>
          <p:cNvSpPr>
            <a:spLocks noGrp="1"/>
          </p:cNvSpPr>
          <p:nvPr>
            <p:ph type="title"/>
          </p:nvPr>
        </p:nvSpPr>
        <p:spPr/>
        <p:txBody>
          <a:bodyPr/>
          <a:lstStyle/>
          <a:p>
            <a:r>
              <a:rPr lang="en-ZA" dirty="0"/>
              <a:t>Formulation of Deutsch’s Problem</a:t>
            </a:r>
            <a:endParaRPr lang="en-US" dirty="0"/>
          </a:p>
        </p:txBody>
      </p:sp>
      <p:sp>
        <p:nvSpPr>
          <p:cNvPr id="2" name="Cloud Callout 1">
            <a:extLst>
              <a:ext uri="{FF2B5EF4-FFF2-40B4-BE49-F238E27FC236}">
                <a16:creationId xmlns:a16="http://schemas.microsoft.com/office/drawing/2014/main" id="{3BB88D25-3351-CA43-8CC4-3CA8CE7BF3B5}"/>
              </a:ext>
            </a:extLst>
          </p:cNvPr>
          <p:cNvSpPr/>
          <p:nvPr/>
        </p:nvSpPr>
        <p:spPr>
          <a:xfrm>
            <a:off x="2976282" y="1186693"/>
            <a:ext cx="3191436" cy="1789589"/>
          </a:xfrm>
          <a:prstGeom prst="cloudCallout">
            <a:avLst>
              <a:gd name="adj1" fmla="val -78409"/>
              <a:gd name="adj2" fmla="val 12521"/>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solidFill>
              <a:latin typeface="Comic Sans MS" panose="030F0902030302020204" pitchFamily="66" charset="0"/>
            </a:endParaRPr>
          </a:p>
          <a:p>
            <a:pPr algn="ctr"/>
            <a:r>
              <a:rPr lang="en-US" sz="2400" dirty="0">
                <a:solidFill>
                  <a:schemeClr val="tx1"/>
                </a:solidFill>
                <a:latin typeface="Comic Sans MS" panose="030F0902030302020204" pitchFamily="66" charset="0"/>
              </a:rPr>
              <a:t>Constant</a:t>
            </a:r>
          </a:p>
          <a:p>
            <a:pPr algn="ctr"/>
            <a:r>
              <a:rPr lang="en-US" sz="2400" dirty="0">
                <a:solidFill>
                  <a:schemeClr val="tx1"/>
                </a:solidFill>
                <a:latin typeface="Comic Sans MS" panose="030F0902030302020204" pitchFamily="66" charset="0"/>
              </a:rPr>
              <a:t>or</a:t>
            </a:r>
          </a:p>
          <a:p>
            <a:pPr algn="ctr"/>
            <a:r>
              <a:rPr lang="en-US" sz="2400" dirty="0">
                <a:solidFill>
                  <a:schemeClr val="tx1"/>
                </a:solidFill>
                <a:latin typeface="Comic Sans MS" panose="030F0902030302020204" pitchFamily="66" charset="0"/>
              </a:rPr>
              <a:t>Balanced ?</a:t>
            </a:r>
          </a:p>
          <a:p>
            <a:pPr algn="ctr"/>
            <a:endParaRPr lang="en-US" sz="2400" dirty="0">
              <a:solidFill>
                <a:schemeClr val="tx1"/>
              </a:solidFill>
            </a:endParaRPr>
          </a:p>
        </p:txBody>
      </p:sp>
      <p:pic>
        <p:nvPicPr>
          <p:cNvPr id="5" name="Picture 4">
            <a:extLst>
              <a:ext uri="{FF2B5EF4-FFF2-40B4-BE49-F238E27FC236}">
                <a16:creationId xmlns:a16="http://schemas.microsoft.com/office/drawing/2014/main" id="{53B02EAE-1074-E149-BFBE-0B870ED2CB82}"/>
              </a:ext>
            </a:extLst>
          </p:cNvPr>
          <p:cNvPicPr>
            <a:picLocks noChangeAspect="1"/>
          </p:cNvPicPr>
          <p:nvPr/>
        </p:nvPicPr>
        <p:blipFill>
          <a:blip r:embed="rId3"/>
          <a:stretch>
            <a:fillRect/>
          </a:stretch>
        </p:blipFill>
        <p:spPr>
          <a:xfrm>
            <a:off x="143435" y="1272806"/>
            <a:ext cx="1792941" cy="2689412"/>
          </a:xfrm>
          <a:prstGeom prst="rect">
            <a:avLst/>
          </a:prstGeom>
        </p:spPr>
      </p:pic>
      <p:sp>
        <p:nvSpPr>
          <p:cNvPr id="6" name="Slide Number Placeholder 2">
            <a:extLst>
              <a:ext uri="{FF2B5EF4-FFF2-40B4-BE49-F238E27FC236}">
                <a16:creationId xmlns:a16="http://schemas.microsoft.com/office/drawing/2014/main" id="{5B2F8765-C4DD-C443-92FE-0EA2B055978E}"/>
              </a:ext>
            </a:extLst>
          </p:cNvPr>
          <p:cNvSpPr>
            <a:spLocks noGrp="1"/>
          </p:cNvSpPr>
          <p:nvPr>
            <p:ph type="sldNum" sz="quarter" idx="12"/>
          </p:nvPr>
        </p:nvSpPr>
        <p:spPr>
          <a:xfrm>
            <a:off x="0" y="6492875"/>
            <a:ext cx="1012371" cy="365125"/>
          </a:xfrm>
        </p:spPr>
        <p:txBody>
          <a:bodyPr/>
          <a:lstStyle/>
          <a:p>
            <a:fld id="{591A223C-FA10-BC46-A853-03BA373D023C}" type="slidenum">
              <a:rPr lang="en-US" smtClean="0"/>
              <a:t>9</a:t>
            </a:fld>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41682B4-C0C4-C346-AF61-A921D3063BFC}"/>
                  </a:ext>
                </a:extLst>
              </p:cNvPr>
              <p:cNvSpPr/>
              <p:nvPr/>
            </p:nvSpPr>
            <p:spPr>
              <a:xfrm>
                <a:off x="143435" y="3962218"/>
                <a:ext cx="12048565" cy="2246769"/>
              </a:xfrm>
              <a:prstGeom prst="rect">
                <a:avLst/>
              </a:prstGeom>
            </p:spPr>
            <p:txBody>
              <a:bodyPr wrap="square">
                <a:spAutoFit/>
              </a:bodyPr>
              <a:lstStyle/>
              <a:p>
                <a:pPr algn="ctr">
                  <a:spcAft>
                    <a:spcPts val="1200"/>
                  </a:spcAft>
                </a:pPr>
                <a:r>
                  <a:rPr lang="en-ZA" sz="2500" dirty="0"/>
                  <a:t>Given a one-bit function </a:t>
                </a:r>
                <a14:m>
                  <m:oMath xmlns:m="http://schemas.openxmlformats.org/officeDocument/2006/math">
                    <m:r>
                      <a:rPr lang="sr-Latn-RS" sz="2500" i="1">
                        <a:latin typeface="Cambria Math" panose="02040503050406030204" pitchFamily="18" charset="0"/>
                        <a:ea typeface="Times New Roman" panose="02020603050405020304" pitchFamily="18" charset="0"/>
                        <a:cs typeface="Times New Roman" panose="02020603050405020304" pitchFamily="18" charset="0"/>
                      </a:rPr>
                      <m:t>𝑓</m:t>
                    </m:r>
                    <m:r>
                      <a:rPr lang="sr-Latn-RS" sz="25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25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500" i="1">
                            <a:latin typeface="Cambria Math" panose="02040503050406030204" pitchFamily="18" charset="0"/>
                            <a:ea typeface="Times New Roman" panose="02020603050405020304" pitchFamily="18" charset="0"/>
                            <a:cs typeface="Times New Roman" panose="02020603050405020304" pitchFamily="18" charset="0"/>
                          </a:rPr>
                          <m:t>0,1</m:t>
                        </m:r>
                      </m:e>
                    </m:d>
                    <m:r>
                      <a:rPr lang="sr-Latn-RS" sz="25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25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500" i="1">
                            <a:latin typeface="Cambria Math" panose="02040503050406030204" pitchFamily="18" charset="0"/>
                            <a:ea typeface="Times New Roman" panose="02020603050405020304" pitchFamily="18" charset="0"/>
                            <a:cs typeface="Times New Roman" panose="02020603050405020304" pitchFamily="18" charset="0"/>
                          </a:rPr>
                          <m:t>0,1</m:t>
                        </m:r>
                      </m:e>
                    </m:d>
                  </m:oMath>
                </a14:m>
                <a:r>
                  <a:rPr lang="sr-Latn-RS" sz="2500" dirty="0">
                    <a:latin typeface="Cambria" panose="02040503050406030204" pitchFamily="18" charset="0"/>
                    <a:ea typeface="Times New Roman" panose="02020603050405020304" pitchFamily="18" charset="0"/>
                    <a:cs typeface="Times New Roman" panose="02020603050405020304" pitchFamily="18" charset="0"/>
                  </a:rPr>
                  <a:t> </a:t>
                </a:r>
                <a:r>
                  <a:rPr lang="en-ZA" sz="2500" dirty="0"/>
                  <a:t>that is promised to be either constant or balanced, determine with as few evaluations as possible whether </a:t>
                </a:r>
                <a14:m>
                  <m:oMath xmlns:m="http://schemas.openxmlformats.org/officeDocument/2006/math">
                    <m:r>
                      <a:rPr lang="sr-Latn-RS" sz="2500" i="1">
                        <a:latin typeface="Cambria Math" panose="02040503050406030204" pitchFamily="18" charset="0"/>
                        <a:ea typeface="Times New Roman" panose="02020603050405020304" pitchFamily="18" charset="0"/>
                        <a:cs typeface="Times New Roman" panose="02020603050405020304" pitchFamily="18" charset="0"/>
                      </a:rPr>
                      <m:t>𝑓</m:t>
                    </m:r>
                  </m:oMath>
                </a14:m>
                <a:r>
                  <a:rPr lang="en-ZA" sz="2500" dirty="0"/>
                  <a:t> is constant or balanced</a:t>
                </a:r>
                <a:r>
                  <a:rPr lang="en-ZA" sz="2400" dirty="0"/>
                  <a:t>.</a:t>
                </a:r>
              </a:p>
              <a:p>
                <a:pPr algn="ctr">
                  <a:spcAft>
                    <a:spcPts val="1200"/>
                  </a:spcAft>
                </a:pPr>
                <a:endParaRPr lang="sr-Latn-RS" sz="1200" dirty="0">
                  <a:latin typeface="Cambria" panose="02040503050406030204" pitchFamily="18" charset="0"/>
                  <a:ea typeface="Times New Roman" panose="02020603050405020304" pitchFamily="18" charset="0"/>
                  <a:cs typeface="Times New Roman" panose="02020603050405020304" pitchFamily="18" charset="0"/>
                </a:endParaRPr>
              </a:p>
              <a:p>
                <a:pPr marL="457200" indent="-457200">
                  <a:spcAft>
                    <a:spcPts val="1200"/>
                  </a:spcAft>
                  <a:buFont typeface="Arial" panose="020B0604020202020204" pitchFamily="34" charset="0"/>
                  <a:buChar char="•"/>
                </a:pPr>
                <a:r>
                  <a:rPr lang="en-ZA" sz="2400" dirty="0"/>
                  <a:t>A constant function maps both inputs to the same output, either 0 or 1:	 </a:t>
                </a:r>
                <a14:m>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b="0" i="1" smtClean="0">
                        <a:latin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1</m:t>
                        </m:r>
                      </m:e>
                    </m:d>
                  </m:oMath>
                </a14:m>
                <a:endParaRPr lang="sr-Latn-RS" sz="2400" dirty="0">
                  <a:ea typeface="Times New Roman" panose="02020603050405020304" pitchFamily="18" charset="0"/>
                  <a:cs typeface="Times New Roman" panose="02020603050405020304" pitchFamily="18" charset="0"/>
                </a:endParaRPr>
              </a:p>
              <a:p>
                <a:pPr marL="457200" indent="-457200">
                  <a:spcAft>
                    <a:spcPts val="1200"/>
                  </a:spcAft>
                  <a:buFont typeface="Arial" panose="020B0604020202020204" pitchFamily="34" charset="0"/>
                  <a:buChar char="•"/>
                </a:pPr>
                <a:r>
                  <a:rPr lang="en-ZA" sz="2400" dirty="0"/>
                  <a:t>A balanced function maps one input to 0 and the other to 1:			</a:t>
                </a:r>
                <a14:m>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𝑓</m:t>
                    </m:r>
                    <m:d>
                      <m:dPr>
                        <m:ctrlPr>
                          <a:rPr lang="en-US" sz="2400" i="1">
                            <a:latin typeface="Cambria Math" panose="02040503050406030204" pitchFamily="18" charset="0"/>
                          </a:rPr>
                        </m:ctrlPr>
                      </m:dPr>
                      <m:e>
                        <m:r>
                          <a:rPr lang="en-US" sz="2400" i="1">
                            <a:latin typeface="Cambria Math" panose="02040503050406030204" pitchFamily="18" charset="0"/>
                          </a:rPr>
                          <m:t>1</m:t>
                        </m:r>
                      </m:e>
                    </m:d>
                  </m:oMath>
                </a14:m>
                <a:endParaRPr lang="sr-Latn-RS" sz="2400" dirty="0">
                  <a:ea typeface="Times New Roman" panose="02020603050405020304" pitchFamily="18" charset="0"/>
                  <a:cs typeface="Times New Roman" panose="02020603050405020304" pitchFamily="18" charset="0"/>
                </a:endParaRPr>
              </a:p>
            </p:txBody>
          </p:sp>
        </mc:Choice>
        <mc:Fallback xmlns="">
          <p:sp>
            <p:nvSpPr>
              <p:cNvPr id="7" name="Rectangle 6">
                <a:extLst>
                  <a:ext uri="{FF2B5EF4-FFF2-40B4-BE49-F238E27FC236}">
                    <a16:creationId xmlns:a16="http://schemas.microsoft.com/office/drawing/2014/main" id="{C41682B4-C0C4-C346-AF61-A921D3063BFC}"/>
                  </a:ext>
                </a:extLst>
              </p:cNvPr>
              <p:cNvSpPr>
                <a:spLocks noRot="1" noChangeAspect="1" noMove="1" noResize="1" noEditPoints="1" noAdjustHandles="1" noChangeArrowheads="1" noChangeShapeType="1" noTextEdit="1"/>
              </p:cNvSpPr>
              <p:nvPr/>
            </p:nvSpPr>
            <p:spPr>
              <a:xfrm>
                <a:off x="143435" y="3962218"/>
                <a:ext cx="12048565" cy="2246769"/>
              </a:xfrm>
              <a:prstGeom prst="rect">
                <a:avLst/>
              </a:prstGeom>
              <a:blipFill>
                <a:blip r:embed="rId4"/>
                <a:stretch>
                  <a:fillRect l="-632" t="-2825" r="-316" b="-5085"/>
                </a:stretch>
              </a:blipFill>
            </p:spPr>
            <p:txBody>
              <a:bodyPr/>
              <a:lstStyle/>
              <a:p>
                <a:r>
                  <a:rPr lang="en-US">
                    <a:noFill/>
                  </a:rPr>
                  <a:t> </a:t>
                </a:r>
              </a:p>
            </p:txBody>
          </p:sp>
        </mc:Fallback>
      </mc:AlternateContent>
    </p:spTree>
    <p:extLst>
      <p:ext uri="{BB962C8B-B14F-4D97-AF65-F5344CB8AC3E}">
        <p14:creationId xmlns:p14="http://schemas.microsoft.com/office/powerpoint/2010/main" val="1727060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F47B0-FD1D-6943-8C6E-AE26690B8EE2}"/>
              </a:ext>
            </a:extLst>
          </p:cNvPr>
          <p:cNvSpPr>
            <a:spLocks noGrp="1"/>
          </p:cNvSpPr>
          <p:nvPr>
            <p:ph type="title"/>
          </p:nvPr>
        </p:nvSpPr>
        <p:spPr/>
        <p:txBody>
          <a:bodyPr/>
          <a:lstStyle/>
          <a:p>
            <a:r>
              <a:rPr lang="en-ZA" dirty="0"/>
              <a:t>Classical vs Quantum Solution</a:t>
            </a:r>
            <a:endParaRPr lang="en-US" dirty="0"/>
          </a:p>
        </p:txBody>
      </p:sp>
      <p:sp>
        <p:nvSpPr>
          <p:cNvPr id="3" name="Slide Number Placeholder 2">
            <a:extLst>
              <a:ext uri="{FF2B5EF4-FFF2-40B4-BE49-F238E27FC236}">
                <a16:creationId xmlns:a16="http://schemas.microsoft.com/office/drawing/2014/main" id="{782D3AC0-E813-1F46-ADBF-1850A2744D79}"/>
              </a:ext>
            </a:extLst>
          </p:cNvPr>
          <p:cNvSpPr>
            <a:spLocks noGrp="1"/>
          </p:cNvSpPr>
          <p:nvPr>
            <p:ph type="sldNum" sz="quarter" idx="12"/>
          </p:nvPr>
        </p:nvSpPr>
        <p:spPr/>
        <p:txBody>
          <a:bodyPr/>
          <a:lstStyle/>
          <a:p>
            <a:fld id="{591A223C-FA10-BC46-A853-03BA373D023C}" type="slidenum">
              <a:rPr lang="en-US" smtClean="0"/>
              <a:t>10</a:t>
            </a:fld>
            <a:endParaRPr lang="en-US"/>
          </a:p>
        </p:txBody>
      </p:sp>
      <p:sp>
        <p:nvSpPr>
          <p:cNvPr id="4" name="TextBox 3">
            <a:extLst>
              <a:ext uri="{FF2B5EF4-FFF2-40B4-BE49-F238E27FC236}">
                <a16:creationId xmlns:a16="http://schemas.microsoft.com/office/drawing/2014/main" id="{1165C5FF-19A2-8149-B805-F1B539F007E2}"/>
              </a:ext>
            </a:extLst>
          </p:cNvPr>
          <p:cNvSpPr txBox="1"/>
          <p:nvPr/>
        </p:nvSpPr>
        <p:spPr>
          <a:xfrm>
            <a:off x="573741" y="2438398"/>
            <a:ext cx="4894731" cy="2677656"/>
          </a:xfrm>
          <a:prstGeom prst="rect">
            <a:avLst/>
          </a:prstGeom>
          <a:noFill/>
        </p:spPr>
        <p:txBody>
          <a:bodyPr wrap="square" rtlCol="0">
            <a:spAutoFit/>
          </a:bodyPr>
          <a:lstStyle/>
          <a:p>
            <a:r>
              <a:rPr lang="en-ZA" sz="2400" dirty="0"/>
              <a:t>The function is evaluated twice:</a:t>
            </a:r>
          </a:p>
          <a:p>
            <a:endParaRPr lang="en-ZA" sz="2400" dirty="0"/>
          </a:p>
          <a:p>
            <a:pPr marL="342900" indent="-342900">
              <a:buFont typeface="Arial" panose="020B0604020202020204" pitchFamily="34" charset="0"/>
              <a:buChar char="•"/>
            </a:pPr>
            <a:r>
              <a:rPr lang="en-ZA" sz="2400" dirty="0"/>
              <a:t>If both outputs are the same, the function is constant.</a:t>
            </a:r>
          </a:p>
          <a:p>
            <a:pPr marL="342900" indent="-342900">
              <a:buFont typeface="Arial" panose="020B0604020202020204" pitchFamily="34" charset="0"/>
              <a:buChar char="•"/>
            </a:pPr>
            <a:endParaRPr lang="en-ZA" sz="2400" dirty="0"/>
          </a:p>
          <a:p>
            <a:pPr marL="342900" indent="-342900">
              <a:buFont typeface="Arial" panose="020B0604020202020204" pitchFamily="34" charset="0"/>
              <a:buChar char="•"/>
            </a:pPr>
            <a:r>
              <a:rPr lang="en-ZA" sz="2400" dirty="0"/>
              <a:t>If the outputs are different, the function is balanced.</a:t>
            </a:r>
          </a:p>
        </p:txBody>
      </p:sp>
      <p:sp>
        <p:nvSpPr>
          <p:cNvPr id="5" name="TextBox 4">
            <a:extLst>
              <a:ext uri="{FF2B5EF4-FFF2-40B4-BE49-F238E27FC236}">
                <a16:creationId xmlns:a16="http://schemas.microsoft.com/office/drawing/2014/main" id="{C49597B2-5206-7441-86A3-DA1E352F5784}"/>
              </a:ext>
            </a:extLst>
          </p:cNvPr>
          <p:cNvSpPr txBox="1"/>
          <p:nvPr/>
        </p:nvSpPr>
        <p:spPr>
          <a:xfrm>
            <a:off x="6329081" y="2438399"/>
            <a:ext cx="5360895" cy="3046988"/>
          </a:xfrm>
          <a:prstGeom prst="rect">
            <a:avLst/>
          </a:prstGeom>
          <a:noFill/>
        </p:spPr>
        <p:txBody>
          <a:bodyPr wrap="square" rtlCol="0">
            <a:spAutoFit/>
          </a:bodyPr>
          <a:lstStyle/>
          <a:p>
            <a:r>
              <a:rPr lang="en-ZA" sz="2400" dirty="0"/>
              <a:t>The function is evaluated only once, with the input in superposition.</a:t>
            </a:r>
          </a:p>
          <a:p>
            <a:endParaRPr lang="en-ZA" sz="2400" dirty="0"/>
          </a:p>
          <a:p>
            <a:pPr marL="342900" indent="-342900">
              <a:buFont typeface="Arial" panose="020B0604020202020204" pitchFamily="34" charset="0"/>
              <a:buChar char="•"/>
            </a:pPr>
            <a:r>
              <a:rPr lang="en-ZA" sz="2400" dirty="0"/>
              <a:t>If the output is 0, the function is constant.</a:t>
            </a:r>
          </a:p>
          <a:p>
            <a:pPr marL="342900" indent="-342900">
              <a:buFont typeface="Arial" panose="020B0604020202020204" pitchFamily="34" charset="0"/>
              <a:buChar char="•"/>
            </a:pPr>
            <a:endParaRPr lang="en-ZA" sz="2400" dirty="0"/>
          </a:p>
          <a:p>
            <a:pPr marL="342900" indent="-342900">
              <a:buFont typeface="Arial" panose="020B0604020202020204" pitchFamily="34" charset="0"/>
              <a:buChar char="•"/>
            </a:pPr>
            <a:r>
              <a:rPr lang="en-ZA" sz="2400" dirty="0"/>
              <a:t>If the output is 1, the function is balanced.</a:t>
            </a:r>
          </a:p>
        </p:txBody>
      </p:sp>
      <p:sp>
        <p:nvSpPr>
          <p:cNvPr id="6" name="TextBox 5">
            <a:extLst>
              <a:ext uri="{FF2B5EF4-FFF2-40B4-BE49-F238E27FC236}">
                <a16:creationId xmlns:a16="http://schemas.microsoft.com/office/drawing/2014/main" id="{979B235C-701E-404B-99BB-915251A1C345}"/>
              </a:ext>
            </a:extLst>
          </p:cNvPr>
          <p:cNvSpPr txBox="1"/>
          <p:nvPr/>
        </p:nvSpPr>
        <p:spPr>
          <a:xfrm>
            <a:off x="1351001" y="1561485"/>
            <a:ext cx="2619884" cy="523220"/>
          </a:xfrm>
          <a:prstGeom prst="rect">
            <a:avLst/>
          </a:prstGeom>
          <a:solidFill>
            <a:schemeClr val="bg1">
              <a:lumMod val="95000"/>
            </a:schemeClr>
          </a:solidFill>
        </p:spPr>
        <p:txBody>
          <a:bodyPr wrap="none" rtlCol="0">
            <a:spAutoFit/>
          </a:bodyPr>
          <a:lstStyle/>
          <a:p>
            <a:r>
              <a:rPr lang="en-ZA" sz="2800" dirty="0"/>
              <a:t>classical solution</a:t>
            </a:r>
            <a:endParaRPr lang="en-US" sz="2800" dirty="0"/>
          </a:p>
        </p:txBody>
      </p:sp>
      <p:sp>
        <p:nvSpPr>
          <p:cNvPr id="7" name="TextBox 6">
            <a:extLst>
              <a:ext uri="{FF2B5EF4-FFF2-40B4-BE49-F238E27FC236}">
                <a16:creationId xmlns:a16="http://schemas.microsoft.com/office/drawing/2014/main" id="{2129349B-D469-AC4A-BB8E-3D0072B2AE54}"/>
              </a:ext>
            </a:extLst>
          </p:cNvPr>
          <p:cNvSpPr txBox="1"/>
          <p:nvPr/>
        </p:nvSpPr>
        <p:spPr>
          <a:xfrm>
            <a:off x="7621691" y="1561485"/>
            <a:ext cx="2779800" cy="523220"/>
          </a:xfrm>
          <a:prstGeom prst="rect">
            <a:avLst/>
          </a:prstGeom>
          <a:solidFill>
            <a:schemeClr val="accent4">
              <a:lumMod val="20000"/>
              <a:lumOff val="80000"/>
            </a:schemeClr>
          </a:solidFill>
        </p:spPr>
        <p:txBody>
          <a:bodyPr wrap="none" rtlCol="0">
            <a:spAutoFit/>
          </a:bodyPr>
          <a:lstStyle/>
          <a:p>
            <a:r>
              <a:rPr lang="en-ZA" sz="2800" dirty="0"/>
              <a:t>quantum solution</a:t>
            </a:r>
            <a:endParaRPr lang="en-US" sz="2800" dirty="0"/>
          </a:p>
        </p:txBody>
      </p:sp>
      <p:cxnSp>
        <p:nvCxnSpPr>
          <p:cNvPr id="9" name="Straight Connector 8">
            <a:extLst>
              <a:ext uri="{FF2B5EF4-FFF2-40B4-BE49-F238E27FC236}">
                <a16:creationId xmlns:a16="http://schemas.microsoft.com/office/drawing/2014/main" id="{CFDEC1C8-7F37-2C45-A6FA-F0A24B237416}"/>
              </a:ext>
            </a:extLst>
          </p:cNvPr>
          <p:cNvCxnSpPr>
            <a:cxnSpLocks/>
          </p:cNvCxnSpPr>
          <p:nvPr/>
        </p:nvCxnSpPr>
        <p:spPr>
          <a:xfrm>
            <a:off x="5898776" y="1853872"/>
            <a:ext cx="0" cy="3631515"/>
          </a:xfrm>
          <a:prstGeom prst="line">
            <a:avLst/>
          </a:prstGeom>
          <a:ln w="76200" cmpd="dbl">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3008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86388B73-2C66-BC44-B68C-1678D53E8689}"/>
              </a:ext>
            </a:extLst>
          </p:cNvPr>
          <p:cNvCxnSpPr>
            <a:cxnSpLocks/>
          </p:cNvCxnSpPr>
          <p:nvPr/>
        </p:nvCxnSpPr>
        <p:spPr>
          <a:xfrm>
            <a:off x="885860" y="2816441"/>
            <a:ext cx="8749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A08DBC5-B1D1-9445-A14E-0C03662E2E90}"/>
              </a:ext>
            </a:extLst>
          </p:cNvPr>
          <p:cNvCxnSpPr>
            <a:cxnSpLocks/>
          </p:cNvCxnSpPr>
          <p:nvPr/>
        </p:nvCxnSpPr>
        <p:spPr>
          <a:xfrm>
            <a:off x="885860" y="3939053"/>
            <a:ext cx="66048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833474D-9E79-D24F-BD6F-AD46CDB9C5DD}"/>
              </a:ext>
            </a:extLst>
          </p:cNvPr>
          <p:cNvSpPr>
            <a:spLocks noGrp="1"/>
          </p:cNvSpPr>
          <p:nvPr>
            <p:ph type="title"/>
          </p:nvPr>
        </p:nvSpPr>
        <p:spPr/>
        <p:txBody>
          <a:bodyPr/>
          <a:lstStyle/>
          <a:p>
            <a:r>
              <a:rPr lang="en-ZA" dirty="0"/>
              <a:t>Deutsch’s Algorithm Implementation</a:t>
            </a:r>
            <a:endParaRPr lang="en-US" dirty="0"/>
          </a:p>
        </p:txBody>
      </p:sp>
      <p:sp>
        <p:nvSpPr>
          <p:cNvPr id="3" name="Slide Number Placeholder 2">
            <a:extLst>
              <a:ext uri="{FF2B5EF4-FFF2-40B4-BE49-F238E27FC236}">
                <a16:creationId xmlns:a16="http://schemas.microsoft.com/office/drawing/2014/main" id="{9C445608-EF0F-7B4E-8FCC-0288A3035AAE}"/>
              </a:ext>
            </a:extLst>
          </p:cNvPr>
          <p:cNvSpPr>
            <a:spLocks noGrp="1"/>
          </p:cNvSpPr>
          <p:nvPr>
            <p:ph type="sldNum" sz="quarter" idx="12"/>
          </p:nvPr>
        </p:nvSpPr>
        <p:spPr/>
        <p:txBody>
          <a:bodyPr/>
          <a:lstStyle/>
          <a:p>
            <a:fld id="{591A223C-FA10-BC46-A853-03BA373D023C}" type="slidenum">
              <a:rPr lang="en-US" smtClean="0"/>
              <a:t>11</a:t>
            </a:fld>
            <a:endParaRPr lang="en-US" dirty="0"/>
          </a:p>
        </p:txBody>
      </p:sp>
      <p:grpSp>
        <p:nvGrpSpPr>
          <p:cNvPr id="47" name="Group 46">
            <a:extLst>
              <a:ext uri="{FF2B5EF4-FFF2-40B4-BE49-F238E27FC236}">
                <a16:creationId xmlns:a16="http://schemas.microsoft.com/office/drawing/2014/main" id="{7F484FDB-AD58-0548-BCB1-14AB8D09AFBD}"/>
              </a:ext>
            </a:extLst>
          </p:cNvPr>
          <p:cNvGrpSpPr/>
          <p:nvPr/>
        </p:nvGrpSpPr>
        <p:grpSpPr>
          <a:xfrm>
            <a:off x="482286" y="1179394"/>
            <a:ext cx="5790496" cy="897804"/>
            <a:chOff x="804861" y="1296485"/>
            <a:chExt cx="5790496" cy="897804"/>
          </a:xfrm>
        </p:grpSpPr>
        <p:sp>
          <p:nvSpPr>
            <p:cNvPr id="41" name="Line Callout 1 40">
              <a:extLst>
                <a:ext uri="{FF2B5EF4-FFF2-40B4-BE49-F238E27FC236}">
                  <a16:creationId xmlns:a16="http://schemas.microsoft.com/office/drawing/2014/main" id="{70CE0FDF-0A9E-8A4A-8C4A-CE56828D1410}"/>
                </a:ext>
              </a:extLst>
            </p:cNvPr>
            <p:cNvSpPr/>
            <p:nvPr/>
          </p:nvSpPr>
          <p:spPr>
            <a:xfrm>
              <a:off x="905102" y="1296485"/>
              <a:ext cx="5690255" cy="893271"/>
            </a:xfrm>
            <a:prstGeom prst="borderCallout1">
              <a:avLst>
                <a:gd name="adj1" fmla="val 97884"/>
                <a:gd name="adj2" fmla="val 46439"/>
                <a:gd name="adj3" fmla="val 342866"/>
                <a:gd name="adj4" fmla="val 46525"/>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7489D41-871C-4F49-9A4F-AFBBD4EC7CF4}"/>
                    </a:ext>
                  </a:extLst>
                </p:cNvPr>
                <p:cNvSpPr/>
                <p:nvPr/>
              </p:nvSpPr>
              <p:spPr>
                <a:xfrm>
                  <a:off x="804861" y="1389582"/>
                  <a:ext cx="5790496" cy="8047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smtClean="0">
                                <a:latin typeface="Cambria Math" panose="02040503050406030204" pitchFamily="18" charset="0"/>
                              </a:rPr>
                              <m:t>|</m:t>
                            </m:r>
                            <m:r>
                              <a:rPr lang="en-US" sz="2400" b="0" i="1" smtClean="0">
                                <a:latin typeface="Cambria Math" panose="02040503050406030204" pitchFamily="18" charset="0"/>
                              </a:rPr>
                              <m:t>+</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m:t>
                            </m:r>
                          </m:e>
                        </m:d>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num>
                          <m:den>
                            <m:r>
                              <a:rPr lang="en-US" sz="2400" b="0" i="1" smtClean="0">
                                <a:latin typeface="Cambria Math" panose="02040503050406030204" pitchFamily="18" charset="0"/>
                              </a:rPr>
                              <m:t>2</m:t>
                            </m:r>
                          </m:den>
                        </m:f>
                      </m:oMath>
                    </m:oMathPara>
                  </a14:m>
                  <a:endParaRPr lang="en-US" sz="2400" dirty="0"/>
                </a:p>
              </p:txBody>
            </p:sp>
          </mc:Choice>
          <mc:Fallback xmlns="">
            <p:sp>
              <p:nvSpPr>
                <p:cNvPr id="4" name="Rectangle 3">
                  <a:extLst>
                    <a:ext uri="{FF2B5EF4-FFF2-40B4-BE49-F238E27FC236}">
                      <a16:creationId xmlns:a16="http://schemas.microsoft.com/office/drawing/2014/main" id="{97489D41-871C-4F49-9A4F-AFBBD4EC7CF4}"/>
                    </a:ext>
                  </a:extLst>
                </p:cNvPr>
                <p:cNvSpPr>
                  <a:spLocks noRot="1" noChangeAspect="1" noMove="1" noResize="1" noEditPoints="1" noAdjustHandles="1" noChangeArrowheads="1" noChangeShapeType="1" noTextEdit="1"/>
                </p:cNvSpPr>
                <p:nvPr/>
              </p:nvSpPr>
              <p:spPr>
                <a:xfrm>
                  <a:off x="804861" y="1389582"/>
                  <a:ext cx="5790496" cy="804707"/>
                </a:xfrm>
                <a:prstGeom prst="rect">
                  <a:avLst/>
                </a:prstGeom>
                <a:blipFill>
                  <a:blip r:embed="rId3"/>
                  <a:stretch>
                    <a:fillRect l="-219" t="-73846" r="-5033" b="-92308"/>
                  </a:stretch>
                </a:blipFill>
              </p:spPr>
              <p:txBody>
                <a:bodyPr/>
                <a:lstStyle/>
                <a:p>
                  <a:r>
                    <a:rPr lang="en-US">
                      <a:noFill/>
                    </a:rPr>
                    <a:t> </a:t>
                  </a:r>
                </a:p>
              </p:txBody>
            </p:sp>
          </mc:Fallback>
        </mc:AlternateContent>
      </p:grpSp>
      <p:grpSp>
        <p:nvGrpSpPr>
          <p:cNvPr id="48" name="Group 47">
            <a:extLst>
              <a:ext uri="{FF2B5EF4-FFF2-40B4-BE49-F238E27FC236}">
                <a16:creationId xmlns:a16="http://schemas.microsoft.com/office/drawing/2014/main" id="{A4BBE3D8-61E0-DA4D-A143-90C0DD1C2856}"/>
              </a:ext>
            </a:extLst>
          </p:cNvPr>
          <p:cNvGrpSpPr/>
          <p:nvPr/>
        </p:nvGrpSpPr>
        <p:grpSpPr>
          <a:xfrm>
            <a:off x="3070512" y="4720261"/>
            <a:ext cx="9022999" cy="1116041"/>
            <a:chOff x="4332681" y="946392"/>
            <a:chExt cx="9022999" cy="1116041"/>
          </a:xfrm>
        </p:grpSpPr>
        <p:sp>
          <p:nvSpPr>
            <p:cNvPr id="43" name="Line Callout 1 42">
              <a:extLst>
                <a:ext uri="{FF2B5EF4-FFF2-40B4-BE49-F238E27FC236}">
                  <a16:creationId xmlns:a16="http://schemas.microsoft.com/office/drawing/2014/main" id="{6614B1DF-9776-D84A-8E94-AF05E23BF9F7}"/>
                </a:ext>
              </a:extLst>
            </p:cNvPr>
            <p:cNvSpPr/>
            <p:nvPr/>
          </p:nvSpPr>
          <p:spPr>
            <a:xfrm>
              <a:off x="4341297" y="946392"/>
              <a:ext cx="9014383" cy="1116041"/>
            </a:xfrm>
            <a:prstGeom prst="borderCallout1">
              <a:avLst>
                <a:gd name="adj1" fmla="val -202"/>
                <a:gd name="adj2" fmla="val 41304"/>
                <a:gd name="adj3" fmla="val -199827"/>
                <a:gd name="adj4" fmla="val 41563"/>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89B3E4F-B2A4-6048-AD32-C1F521DE6F5C}"/>
                    </a:ext>
                  </a:extLst>
                </p:cNvPr>
                <p:cNvSpPr/>
                <p:nvPr/>
              </p:nvSpPr>
              <p:spPr>
                <a:xfrm>
                  <a:off x="4332681" y="1104230"/>
                  <a:ext cx="8715976" cy="8066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𝑆</m:t>
                            </m:r>
                          </m:e>
                        </m:d>
                        <m:r>
                          <a:rPr lang="en-US" sz="2400" i="1">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r>
                                  <a:rPr lang="sr-Latn-RS" sz="2400" i="1">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0</m:t>
                                    </m:r>
                                  </m:e>
                                </m:d>
                              </m:e>
                            </m:d>
                            <m:r>
                              <m:rPr>
                                <m:nor/>
                              </m:rPr>
                              <a:rPr lang="en-US" sz="2400" dirty="0"/>
                              <m:t> </m:t>
                            </m:r>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d>
                                  <m:dPr>
                                    <m:begChr m:val=""/>
                                    <m:ctrlPr>
                                      <a:rPr lang="en-US" sz="2400" i="1">
                                        <a:latin typeface="Cambria Math" panose="02040503050406030204" pitchFamily="18" charset="0"/>
                                      </a:rPr>
                                    </m:ctrlPr>
                                  </m:dPr>
                                  <m:e>
                                    <m:r>
                                      <a:rPr lang="en-US" sz="2400" b="0" i="1" smtClean="0">
                                        <a:latin typeface="Cambria Math" panose="02040503050406030204" pitchFamily="18" charset="0"/>
                                      </a:rPr>
                                      <m:t>0</m:t>
                                    </m:r>
                                    <m:r>
                                      <a:rPr lang="sr-Latn-RS" sz="2400" i="1">
                                        <a:latin typeface="Cambria Math" panose="02040503050406030204" pitchFamily="18" charset="0"/>
                                      </a:rPr>
                                      <m:t>⨁</m:t>
                                    </m:r>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1</m:t>
                                    </m:r>
                                  </m:e>
                                </m:d>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1</m:t>
                                    </m:r>
                                  </m:e>
                                </m:d>
                              </m:e>
                            </m:d>
                          </m:num>
                          <m:den>
                            <m:r>
                              <a:rPr lang="en-US" sz="2400" b="0" i="1" smtClean="0">
                                <a:latin typeface="Cambria Math" panose="02040503050406030204" pitchFamily="18" charset="0"/>
                              </a:rPr>
                              <m:t>2</m:t>
                            </m:r>
                          </m:den>
                        </m:f>
                      </m:oMath>
                    </m:oMathPara>
                  </a14:m>
                  <a:endParaRPr lang="en-US" sz="2400" dirty="0"/>
                </a:p>
              </p:txBody>
            </p:sp>
          </mc:Choice>
          <mc:Fallback xmlns="">
            <p:sp>
              <p:nvSpPr>
                <p:cNvPr id="8" name="Rectangle 7">
                  <a:extLst>
                    <a:ext uri="{FF2B5EF4-FFF2-40B4-BE49-F238E27FC236}">
                      <a16:creationId xmlns:a16="http://schemas.microsoft.com/office/drawing/2014/main" id="{589B3E4F-B2A4-6048-AD32-C1F521DE6F5C}"/>
                    </a:ext>
                  </a:extLst>
                </p:cNvPr>
                <p:cNvSpPr>
                  <a:spLocks noRot="1" noChangeAspect="1" noMove="1" noResize="1" noEditPoints="1" noAdjustHandles="1" noChangeArrowheads="1" noChangeShapeType="1" noTextEdit="1"/>
                </p:cNvSpPr>
                <p:nvPr/>
              </p:nvSpPr>
              <p:spPr>
                <a:xfrm>
                  <a:off x="4332681" y="1104230"/>
                  <a:ext cx="8715976" cy="806696"/>
                </a:xfrm>
                <a:prstGeom prst="rect">
                  <a:avLst/>
                </a:prstGeom>
                <a:blipFill>
                  <a:blip r:embed="rId4"/>
                  <a:stretch>
                    <a:fillRect l="-1456" t="-75000" r="-3202" b="-93750"/>
                  </a:stretch>
                </a:blipFill>
              </p:spPr>
              <p:txBody>
                <a:bodyPr/>
                <a:lstStyle/>
                <a:p>
                  <a:r>
                    <a:rPr lang="en-US">
                      <a:noFill/>
                    </a:rPr>
                    <a:t> </a:t>
                  </a:r>
                </a:p>
              </p:txBody>
            </p:sp>
          </mc:Fallback>
        </mc:AlternateContent>
      </p:grpSp>
      <p:sp>
        <p:nvSpPr>
          <p:cNvPr id="9" name="Rectangle 8">
            <a:extLst>
              <a:ext uri="{FF2B5EF4-FFF2-40B4-BE49-F238E27FC236}">
                <a16:creationId xmlns:a16="http://schemas.microsoft.com/office/drawing/2014/main" id="{D3522152-D916-5741-AF48-CB508F4952C4}"/>
              </a:ext>
            </a:extLst>
          </p:cNvPr>
          <p:cNvSpPr/>
          <p:nvPr/>
        </p:nvSpPr>
        <p:spPr>
          <a:xfrm>
            <a:off x="2350511" y="3573301"/>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16" name="Group 15">
            <a:extLst>
              <a:ext uri="{FF2B5EF4-FFF2-40B4-BE49-F238E27FC236}">
                <a16:creationId xmlns:a16="http://schemas.microsoft.com/office/drawing/2014/main" id="{88FC7ACD-8080-1549-9D9A-C7BDF48668B3}"/>
              </a:ext>
            </a:extLst>
          </p:cNvPr>
          <p:cNvGrpSpPr/>
          <p:nvPr/>
        </p:nvGrpSpPr>
        <p:grpSpPr>
          <a:xfrm>
            <a:off x="8728800" y="2456441"/>
            <a:ext cx="720000" cy="796546"/>
            <a:chOff x="3031963" y="4808040"/>
            <a:chExt cx="720000" cy="796546"/>
          </a:xfrm>
        </p:grpSpPr>
        <p:sp>
          <p:nvSpPr>
            <p:cNvPr id="11" name="Rectangle 10">
              <a:extLst>
                <a:ext uri="{FF2B5EF4-FFF2-40B4-BE49-F238E27FC236}">
                  <a16:creationId xmlns:a16="http://schemas.microsoft.com/office/drawing/2014/main" id="{75984391-5D9E-6A4E-94A7-94977D717624}"/>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2" name="Arc 11">
              <a:extLst>
                <a:ext uri="{FF2B5EF4-FFF2-40B4-BE49-F238E27FC236}">
                  <a16:creationId xmlns:a16="http://schemas.microsoft.com/office/drawing/2014/main" id="{C30D3ED5-8085-D648-9853-1E50DCFE96C2}"/>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00F7998-40F1-A240-B4FB-1201470FF160}"/>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7" name="Rounded Rectangle 16">
            <a:extLst>
              <a:ext uri="{FF2B5EF4-FFF2-40B4-BE49-F238E27FC236}">
                <a16:creationId xmlns:a16="http://schemas.microsoft.com/office/drawing/2014/main" id="{F74807BA-7B49-A64D-A7A9-ABCCACB1A275}"/>
              </a:ext>
            </a:extLst>
          </p:cNvPr>
          <p:cNvSpPr/>
          <p:nvPr/>
        </p:nvSpPr>
        <p:spPr>
          <a:xfrm>
            <a:off x="3424896" y="2427467"/>
            <a:ext cx="3111500" cy="1819986"/>
          </a:xfrm>
          <a:prstGeom prst="roundRect">
            <a:avLst>
              <a:gd name="adj" fmla="val 4804"/>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5B55692A-C476-0744-A72D-1E724A1CBF23}"/>
                  </a:ext>
                </a:extLst>
              </p:cNvPr>
              <p:cNvSpPr/>
              <p:nvPr/>
            </p:nvSpPr>
            <p:spPr>
              <a:xfrm>
                <a:off x="3377534" y="3699155"/>
                <a:ext cx="15449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𝑦</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m:t>
                          </m:r>
                        </m:e>
                      </m:d>
                    </m:oMath>
                  </m:oMathPara>
                </a14:m>
                <a:endParaRPr lang="en-US" sz="2400" dirty="0"/>
              </a:p>
            </p:txBody>
          </p:sp>
        </mc:Choice>
        <mc:Fallback xmlns="">
          <p:sp>
            <p:nvSpPr>
              <p:cNvPr id="21" name="Rectangle 20">
                <a:extLst>
                  <a:ext uri="{FF2B5EF4-FFF2-40B4-BE49-F238E27FC236}">
                    <a16:creationId xmlns:a16="http://schemas.microsoft.com/office/drawing/2014/main" id="{5B55692A-C476-0744-A72D-1E724A1CBF23}"/>
                  </a:ext>
                </a:extLst>
              </p:cNvPr>
              <p:cNvSpPr>
                <a:spLocks noRot="1" noChangeAspect="1" noMove="1" noResize="1" noEditPoints="1" noAdjustHandles="1" noChangeArrowheads="1" noChangeShapeType="1" noTextEdit="1"/>
              </p:cNvSpPr>
              <p:nvPr/>
            </p:nvSpPr>
            <p:spPr>
              <a:xfrm>
                <a:off x="3377534" y="3699155"/>
                <a:ext cx="1544975" cy="461665"/>
              </a:xfrm>
              <a:prstGeom prst="rect">
                <a:avLst/>
              </a:prstGeom>
              <a:blipFill>
                <a:blip r:embed="rId5"/>
                <a:stretch>
                  <a:fillRect l="-9756" t="-121053" r="-19512" b="-186842"/>
                </a:stretch>
              </a:blipFill>
            </p:spPr>
            <p:txBody>
              <a:bodyPr/>
              <a:lstStyle/>
              <a:p>
                <a:r>
                  <a:rPr lang="en-US">
                    <a:noFill/>
                  </a:rPr>
                  <a:t> </a:t>
                </a:r>
              </a:p>
            </p:txBody>
          </p:sp>
        </mc:Fallback>
      </mc:AlternateContent>
      <p:sp>
        <p:nvSpPr>
          <p:cNvPr id="23" name="Oval 22">
            <a:extLst>
              <a:ext uri="{FF2B5EF4-FFF2-40B4-BE49-F238E27FC236}">
                <a16:creationId xmlns:a16="http://schemas.microsoft.com/office/drawing/2014/main" id="{EAF9DA22-98DD-7043-8AA4-027DF8B39686}"/>
              </a:ext>
            </a:extLst>
          </p:cNvPr>
          <p:cNvSpPr/>
          <p:nvPr/>
        </p:nvSpPr>
        <p:spPr>
          <a:xfrm>
            <a:off x="1453319" y="355395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sp>
        <p:nvSpPr>
          <p:cNvPr id="24" name="TextBox 23">
            <a:extLst>
              <a:ext uri="{FF2B5EF4-FFF2-40B4-BE49-F238E27FC236}">
                <a16:creationId xmlns:a16="http://schemas.microsoft.com/office/drawing/2014/main" id="{87D8134D-C9AF-F043-BBD4-816F829C15CC}"/>
              </a:ext>
            </a:extLst>
          </p:cNvPr>
          <p:cNvSpPr txBox="1"/>
          <p:nvPr/>
        </p:nvSpPr>
        <p:spPr>
          <a:xfrm>
            <a:off x="4675778" y="2868266"/>
            <a:ext cx="591829" cy="769441"/>
          </a:xfrm>
          <a:prstGeom prst="rect">
            <a:avLst/>
          </a:prstGeom>
          <a:noFill/>
        </p:spPr>
        <p:txBody>
          <a:bodyPr wrap="none" rtlCol="0">
            <a:spAutoFit/>
          </a:bodyPr>
          <a:lstStyle/>
          <a:p>
            <a:r>
              <a:rPr lang="en-US" sz="4400" i="1" dirty="0">
                <a:latin typeface="Times New Roman" panose="02020603050405020304" pitchFamily="18" charset="0"/>
                <a:cs typeface="Times New Roman" panose="02020603050405020304" pitchFamily="18" charset="0"/>
              </a:rPr>
              <a:t>O</a:t>
            </a: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DE8BDC1F-6CBE-2E43-AAD0-519A9D215E2F}"/>
                  </a:ext>
                </a:extLst>
              </p:cNvPr>
              <p:cNvSpPr/>
              <p:nvPr/>
            </p:nvSpPr>
            <p:spPr>
              <a:xfrm>
                <a:off x="318822" y="2577739"/>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32" name="Rectangle 31">
                <a:extLst>
                  <a:ext uri="{FF2B5EF4-FFF2-40B4-BE49-F238E27FC236}">
                    <a16:creationId xmlns:a16="http://schemas.microsoft.com/office/drawing/2014/main" id="{DE8BDC1F-6CBE-2E43-AAD0-519A9D215E2F}"/>
                  </a:ext>
                </a:extLst>
              </p:cNvPr>
              <p:cNvSpPr>
                <a:spLocks noRot="1" noChangeAspect="1" noMove="1" noResize="1" noEditPoints="1" noAdjustHandles="1" noChangeArrowheads="1" noChangeShapeType="1" noTextEdit="1"/>
              </p:cNvSpPr>
              <p:nvPr/>
            </p:nvSpPr>
            <p:spPr>
              <a:xfrm>
                <a:off x="318822" y="2577739"/>
                <a:ext cx="631904" cy="461665"/>
              </a:xfrm>
              <a:prstGeom prst="rect">
                <a:avLst/>
              </a:prstGeom>
              <a:blipFill>
                <a:blip r:embed="rId6"/>
                <a:stretch>
                  <a:fillRect l="-23529" t="-124324" r="-49020" b="-194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34076D6F-F96E-E147-86E6-C1DFF4C94710}"/>
                  </a:ext>
                </a:extLst>
              </p:cNvPr>
              <p:cNvSpPr/>
              <p:nvPr/>
            </p:nvSpPr>
            <p:spPr>
              <a:xfrm>
                <a:off x="318822" y="3702468"/>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33" name="Rectangle 32">
                <a:extLst>
                  <a:ext uri="{FF2B5EF4-FFF2-40B4-BE49-F238E27FC236}">
                    <a16:creationId xmlns:a16="http://schemas.microsoft.com/office/drawing/2014/main" id="{34076D6F-F96E-E147-86E6-C1DFF4C94710}"/>
                  </a:ext>
                </a:extLst>
              </p:cNvPr>
              <p:cNvSpPr>
                <a:spLocks noRot="1" noChangeAspect="1" noMove="1" noResize="1" noEditPoints="1" noAdjustHandles="1" noChangeArrowheads="1" noChangeShapeType="1" noTextEdit="1"/>
              </p:cNvSpPr>
              <p:nvPr/>
            </p:nvSpPr>
            <p:spPr>
              <a:xfrm>
                <a:off x="318822" y="3702468"/>
                <a:ext cx="631904" cy="461665"/>
              </a:xfrm>
              <a:prstGeom prst="rect">
                <a:avLst/>
              </a:prstGeom>
              <a:blipFill>
                <a:blip r:embed="rId7"/>
                <a:stretch>
                  <a:fillRect l="-23529" t="-127027" r="-49020" b="-191892"/>
                </a:stretch>
              </a:blipFill>
            </p:spPr>
            <p:txBody>
              <a:bodyPr/>
              <a:lstStyle/>
              <a:p>
                <a:r>
                  <a:rPr lang="en-US">
                    <a:noFill/>
                  </a:rPr>
                  <a:t> </a:t>
                </a:r>
              </a:p>
            </p:txBody>
          </p:sp>
        </mc:Fallback>
      </mc:AlternateContent>
      <p:sp>
        <p:nvSpPr>
          <p:cNvPr id="53" name="Rectangle 52">
            <a:extLst>
              <a:ext uri="{FF2B5EF4-FFF2-40B4-BE49-F238E27FC236}">
                <a16:creationId xmlns:a16="http://schemas.microsoft.com/office/drawing/2014/main" id="{8DD204A0-9AF4-6647-8EFC-E3840C9A6123}"/>
              </a:ext>
            </a:extLst>
          </p:cNvPr>
          <p:cNvSpPr/>
          <p:nvPr/>
        </p:nvSpPr>
        <p:spPr>
          <a:xfrm>
            <a:off x="2359128" y="2455538"/>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0F34BBAF-84A5-C74C-9F7E-605B5893B28B}"/>
                  </a:ext>
                </a:extLst>
              </p:cNvPr>
              <p:cNvSpPr/>
              <p:nvPr/>
            </p:nvSpPr>
            <p:spPr>
              <a:xfrm>
                <a:off x="3434112" y="2575061"/>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54" name="Rectangle 53">
                <a:extLst>
                  <a:ext uri="{FF2B5EF4-FFF2-40B4-BE49-F238E27FC236}">
                    <a16:creationId xmlns:a16="http://schemas.microsoft.com/office/drawing/2014/main" id="{0F34BBAF-84A5-C74C-9F7E-605B5893B28B}"/>
                  </a:ext>
                </a:extLst>
              </p:cNvPr>
              <p:cNvSpPr>
                <a:spLocks noRot="1" noChangeAspect="1" noMove="1" noResize="1" noEditPoints="1" noAdjustHandles="1" noChangeArrowheads="1" noChangeShapeType="1" noTextEdit="1"/>
              </p:cNvSpPr>
              <p:nvPr/>
            </p:nvSpPr>
            <p:spPr>
              <a:xfrm>
                <a:off x="3434112" y="2575061"/>
                <a:ext cx="634789" cy="461665"/>
              </a:xfrm>
              <a:prstGeom prst="rect">
                <a:avLst/>
              </a:prstGeom>
              <a:blipFill>
                <a:blip r:embed="rId8"/>
                <a:stretch>
                  <a:fillRect l="-23529" t="-124324" r="-5098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1CEAF67E-0E5D-BC4F-9828-E708B59BF884}"/>
                  </a:ext>
                </a:extLst>
              </p:cNvPr>
              <p:cNvSpPr/>
              <p:nvPr/>
            </p:nvSpPr>
            <p:spPr>
              <a:xfrm>
                <a:off x="4988259" y="3699154"/>
                <a:ext cx="151419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i="1">
                              <a:latin typeface="Cambria Math" panose="02040503050406030204" pitchFamily="18" charset="0"/>
                            </a:rPr>
                            <m:t>𝑦</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𝑥</m:t>
                              </m:r>
                            </m:e>
                          </m:d>
                        </m:e>
                      </m:d>
                    </m:oMath>
                  </m:oMathPara>
                </a14:m>
                <a:endParaRPr lang="en-US" sz="2400" dirty="0"/>
              </a:p>
            </p:txBody>
          </p:sp>
        </mc:Choice>
        <mc:Fallback xmlns="">
          <p:sp>
            <p:nvSpPr>
              <p:cNvPr id="55" name="Rectangle 54">
                <a:extLst>
                  <a:ext uri="{FF2B5EF4-FFF2-40B4-BE49-F238E27FC236}">
                    <a16:creationId xmlns:a16="http://schemas.microsoft.com/office/drawing/2014/main" id="{1CEAF67E-0E5D-BC4F-9828-E708B59BF884}"/>
                  </a:ext>
                </a:extLst>
              </p:cNvPr>
              <p:cNvSpPr>
                <a:spLocks noRot="1" noChangeAspect="1" noMove="1" noResize="1" noEditPoints="1" noAdjustHandles="1" noChangeArrowheads="1" noChangeShapeType="1" noTextEdit="1"/>
              </p:cNvSpPr>
              <p:nvPr/>
            </p:nvSpPr>
            <p:spPr>
              <a:xfrm>
                <a:off x="4988259" y="3699154"/>
                <a:ext cx="1514197" cy="461665"/>
              </a:xfrm>
              <a:prstGeom prst="rect">
                <a:avLst/>
              </a:prstGeom>
              <a:blipFill>
                <a:blip r:embed="rId9"/>
                <a:stretch>
                  <a:fillRect t="-121053" r="-20833"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7BE7BE61-3A3C-3E4A-9132-9AAC14980568}"/>
                  </a:ext>
                </a:extLst>
              </p:cNvPr>
              <p:cNvSpPr/>
              <p:nvPr/>
            </p:nvSpPr>
            <p:spPr>
              <a:xfrm>
                <a:off x="5901713" y="2584400"/>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56" name="Rectangle 55">
                <a:extLst>
                  <a:ext uri="{FF2B5EF4-FFF2-40B4-BE49-F238E27FC236}">
                    <a16:creationId xmlns:a16="http://schemas.microsoft.com/office/drawing/2014/main" id="{7BE7BE61-3A3C-3E4A-9132-9AAC14980568}"/>
                  </a:ext>
                </a:extLst>
              </p:cNvPr>
              <p:cNvSpPr>
                <a:spLocks noRot="1" noChangeAspect="1" noMove="1" noResize="1" noEditPoints="1" noAdjustHandles="1" noChangeArrowheads="1" noChangeShapeType="1" noTextEdit="1"/>
              </p:cNvSpPr>
              <p:nvPr/>
            </p:nvSpPr>
            <p:spPr>
              <a:xfrm>
                <a:off x="5901713" y="2584400"/>
                <a:ext cx="634789" cy="461665"/>
              </a:xfrm>
              <a:prstGeom prst="rect">
                <a:avLst/>
              </a:prstGeom>
              <a:blipFill>
                <a:blip r:embed="rId10"/>
                <a:stretch>
                  <a:fillRect l="-25490" t="-121053" r="-49020" b="-186842"/>
                </a:stretch>
              </a:blipFill>
            </p:spPr>
            <p:txBody>
              <a:bodyPr/>
              <a:lstStyle/>
              <a:p>
                <a:r>
                  <a:rPr lang="en-US">
                    <a:noFill/>
                  </a:rPr>
                  <a:t> </a:t>
                </a:r>
              </a:p>
            </p:txBody>
          </p:sp>
        </mc:Fallback>
      </mc:AlternateContent>
      <p:sp>
        <p:nvSpPr>
          <p:cNvPr id="57" name="Rectangle 56">
            <a:extLst>
              <a:ext uri="{FF2B5EF4-FFF2-40B4-BE49-F238E27FC236}">
                <a16:creationId xmlns:a16="http://schemas.microsoft.com/office/drawing/2014/main" id="{2020D67C-B75E-CC48-9605-E5E9EB57334A}"/>
              </a:ext>
            </a:extLst>
          </p:cNvPr>
          <p:cNvSpPr/>
          <p:nvPr/>
        </p:nvSpPr>
        <p:spPr>
          <a:xfrm>
            <a:off x="7193569" y="245704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Tree>
    <p:extLst>
      <p:ext uri="{BB962C8B-B14F-4D97-AF65-F5344CB8AC3E}">
        <p14:creationId xmlns:p14="http://schemas.microsoft.com/office/powerpoint/2010/main" val="307295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dissolve">
                                      <p:cBhvr>
                                        <p:cTn id="12"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55B57E75-564A-084A-B3BB-9EE293E8EEA3}"/>
              </a:ext>
            </a:extLst>
          </p:cNvPr>
          <p:cNvCxnSpPr>
            <a:cxnSpLocks/>
          </p:cNvCxnSpPr>
          <p:nvPr/>
        </p:nvCxnSpPr>
        <p:spPr>
          <a:xfrm>
            <a:off x="8420866" y="1808130"/>
            <a:ext cx="2399534"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892F591-60CE-AF47-8D22-78C11816F53E}"/>
              </a:ext>
            </a:extLst>
          </p:cNvPr>
          <p:cNvSpPr>
            <a:spLocks noGrp="1"/>
          </p:cNvSpPr>
          <p:nvPr>
            <p:ph type="title"/>
          </p:nvPr>
        </p:nvSpPr>
        <p:spPr/>
        <p:txBody>
          <a:bodyPr/>
          <a:lstStyle/>
          <a:p>
            <a:r>
              <a:rPr lang="en-ZA" dirty="0"/>
              <a:t>Constant Function Case</a:t>
            </a:r>
            <a:endParaRPr lang="en-US" dirty="0"/>
          </a:p>
        </p:txBody>
      </p:sp>
      <p:sp>
        <p:nvSpPr>
          <p:cNvPr id="3" name="Slide Number Placeholder 2">
            <a:extLst>
              <a:ext uri="{FF2B5EF4-FFF2-40B4-BE49-F238E27FC236}">
                <a16:creationId xmlns:a16="http://schemas.microsoft.com/office/drawing/2014/main" id="{009BC50B-009E-3C47-BBBD-CDF9D9EF6486}"/>
              </a:ext>
            </a:extLst>
          </p:cNvPr>
          <p:cNvSpPr>
            <a:spLocks noGrp="1"/>
          </p:cNvSpPr>
          <p:nvPr>
            <p:ph type="sldNum" sz="quarter" idx="12"/>
          </p:nvPr>
        </p:nvSpPr>
        <p:spPr/>
        <p:txBody>
          <a:bodyPr/>
          <a:lstStyle/>
          <a:p>
            <a:fld id="{591A223C-FA10-BC46-A853-03BA373D023C}" type="slidenum">
              <a:rPr lang="en-US" smtClean="0"/>
              <a:t>12</a:t>
            </a:fld>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7D76981-9202-744C-A8E5-570A51643049}"/>
                  </a:ext>
                </a:extLst>
              </p:cNvPr>
              <p:cNvSpPr/>
              <p:nvPr/>
            </p:nvSpPr>
            <p:spPr>
              <a:xfrm>
                <a:off x="337115" y="1353540"/>
                <a:ext cx="7956665" cy="806696"/>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i="1" smtClean="0">
                              <a:latin typeface="Cambria Math" panose="02040503050406030204" pitchFamily="18" charset="0"/>
                            </a:rPr>
                            <m:t>𝑆</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0</m:t>
                                  </m:r>
                                </m:e>
                              </m:d>
                            </m:e>
                          </m:d>
                          <m:r>
                            <m:rPr>
                              <m:nor/>
                            </m:rPr>
                            <a:rPr lang="en-US" sz="2400" dirty="0"/>
                            <m:t> </m:t>
                          </m:r>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1</m:t>
                                  </m:r>
                                </m:e>
                              </m:d>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1</m:t>
                                  </m:r>
                                </m:e>
                              </m:d>
                            </m:e>
                          </m:d>
                        </m:num>
                        <m:den>
                          <m:r>
                            <a:rPr lang="en-US" sz="2400" b="0" i="1" smtClean="0">
                              <a:latin typeface="Cambria Math" panose="02040503050406030204" pitchFamily="18" charset="0"/>
                            </a:rPr>
                            <m:t>2</m:t>
                          </m:r>
                        </m:den>
                      </m:f>
                    </m:oMath>
                  </m:oMathPara>
                </a14:m>
                <a:endParaRPr lang="en-US" sz="2400" dirty="0"/>
              </a:p>
            </p:txBody>
          </p:sp>
        </mc:Choice>
        <mc:Fallback xmlns="">
          <p:sp>
            <p:nvSpPr>
              <p:cNvPr id="6" name="Rectangle 5">
                <a:extLst>
                  <a:ext uri="{FF2B5EF4-FFF2-40B4-BE49-F238E27FC236}">
                    <a16:creationId xmlns:a16="http://schemas.microsoft.com/office/drawing/2014/main" id="{97D76981-9202-744C-A8E5-570A51643049}"/>
                  </a:ext>
                </a:extLst>
              </p:cNvPr>
              <p:cNvSpPr>
                <a:spLocks noRot="1" noChangeAspect="1" noMove="1" noResize="1" noEditPoints="1" noAdjustHandles="1" noChangeArrowheads="1" noChangeShapeType="1" noTextEdit="1"/>
              </p:cNvSpPr>
              <p:nvPr/>
            </p:nvSpPr>
            <p:spPr>
              <a:xfrm>
                <a:off x="337115" y="1353540"/>
                <a:ext cx="7956665" cy="806696"/>
              </a:xfrm>
              <a:prstGeom prst="rect">
                <a:avLst/>
              </a:prstGeom>
              <a:blipFill>
                <a:blip r:embed="rId3"/>
                <a:stretch>
                  <a:fillRect l="-957" t="-75000" r="-2871" b="-953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3988665-4C58-D44C-86D4-B095A598D858}"/>
                  </a:ext>
                </a:extLst>
              </p:cNvPr>
              <p:cNvSpPr/>
              <p:nvPr/>
            </p:nvSpPr>
            <p:spPr>
              <a:xfrm>
                <a:off x="464201" y="2400422"/>
                <a:ext cx="4882747" cy="461665"/>
              </a:xfrm>
              <a:prstGeom prst="rect">
                <a:avLst/>
              </a:prstGeom>
              <a:solidFill>
                <a:schemeClr val="accent4">
                  <a:lumMod val="20000"/>
                  <a:lumOff val="80000"/>
                </a:schemeClr>
              </a:solidFill>
            </p:spPr>
            <p:txBody>
              <a:bodyPr wrap="none">
                <a:spAutoFit/>
              </a:bodyPr>
              <a:lstStyle/>
              <a:p>
                <a:r>
                  <a:rPr lang="sr-Latn-RS" sz="2400" dirty="0" err="1"/>
                  <a:t>For</a:t>
                </a:r>
                <a:r>
                  <a:rPr lang="sr-Latn-RS" sz="2400" dirty="0"/>
                  <a:t> a </a:t>
                </a:r>
                <a:r>
                  <a:rPr lang="sr-Latn-RS" sz="2400" dirty="0" err="1"/>
                  <a:t>constant</a:t>
                </a:r>
                <a:r>
                  <a:rPr lang="sr-Latn-RS" sz="2400" dirty="0"/>
                  <a:t> </a:t>
                </a:r>
                <a:r>
                  <a:rPr lang="sr-Latn-RS" sz="2400" dirty="0" err="1"/>
                  <a:t>function</a:t>
                </a:r>
                <a:r>
                  <a:rPr lang="sr-Latn-RS" sz="2400" dirty="0"/>
                  <a:t>: </a:t>
                </a:r>
                <a14:m>
                  <m:oMath xmlns:m="http://schemas.openxmlformats.org/officeDocument/2006/math">
                    <m:r>
                      <a:rPr lang="sr-Latn-RS" sz="2400" b="0" i="1">
                        <a:latin typeface="Cambria Math" panose="02040503050406030204" pitchFamily="18" charset="0"/>
                      </a:rPr>
                      <m:t>𝑓</m:t>
                    </m:r>
                    <m:d>
                      <m:dPr>
                        <m:ctrlPr>
                          <a:rPr lang="sr-Latn-RS" sz="2400" i="1">
                            <a:latin typeface="Cambria Math" panose="02040503050406030204" pitchFamily="18" charset="0"/>
                          </a:rPr>
                        </m:ctrlPr>
                      </m:dPr>
                      <m:e>
                        <m:r>
                          <a:rPr lang="sr-Latn-RS" sz="2400" b="0" i="1">
                            <a:latin typeface="Cambria Math" panose="02040503050406030204" pitchFamily="18" charset="0"/>
                          </a:rPr>
                          <m:t>0</m:t>
                        </m:r>
                      </m:e>
                    </m:d>
                    <m:r>
                      <a:rPr lang="sr-Latn-RS" sz="2400" b="0">
                        <a:latin typeface="Cambria Math" panose="02040503050406030204" pitchFamily="18" charset="0"/>
                      </a:rPr>
                      <m:t>=</m:t>
                    </m:r>
                    <m:r>
                      <a:rPr lang="sr-Latn-RS" sz="2400" b="0" i="1">
                        <a:latin typeface="Cambria Math" panose="02040503050406030204" pitchFamily="18" charset="0"/>
                      </a:rPr>
                      <m:t>𝑓</m:t>
                    </m:r>
                    <m:d>
                      <m:dPr>
                        <m:ctrlPr>
                          <a:rPr lang="sr-Latn-RS" sz="2400" i="1">
                            <a:latin typeface="Cambria Math" panose="02040503050406030204" pitchFamily="18" charset="0"/>
                          </a:rPr>
                        </m:ctrlPr>
                      </m:dPr>
                      <m:e>
                        <m:r>
                          <a:rPr lang="sr-Latn-RS" sz="2400" b="0" i="1">
                            <a:latin typeface="Cambria Math" panose="02040503050406030204" pitchFamily="18" charset="0"/>
                          </a:rPr>
                          <m:t>1</m:t>
                        </m:r>
                      </m:e>
                    </m:d>
                  </m:oMath>
                </a14:m>
                <a:r>
                  <a:rPr lang="en-ZA" sz="2400" dirty="0">
                    <a:latin typeface="Cambria" panose="02040503050406030204" pitchFamily="18" charset="0"/>
                    <a:ea typeface="Times New Roman" panose="02020603050405020304" pitchFamily="18" charset="0"/>
                    <a:cs typeface="Times New Roman" panose="02020603050405020304" pitchFamily="18" charset="0"/>
                  </a:rPr>
                  <a:t> </a:t>
                </a:r>
                <a:endParaRPr lang="en-US" sz="2400" dirty="0"/>
              </a:p>
            </p:txBody>
          </p:sp>
        </mc:Choice>
        <mc:Fallback xmlns="">
          <p:sp>
            <p:nvSpPr>
              <p:cNvPr id="7" name="Rectangle 6">
                <a:extLst>
                  <a:ext uri="{FF2B5EF4-FFF2-40B4-BE49-F238E27FC236}">
                    <a16:creationId xmlns:a16="http://schemas.microsoft.com/office/drawing/2014/main" id="{23988665-4C58-D44C-86D4-B095A598D858}"/>
                  </a:ext>
                </a:extLst>
              </p:cNvPr>
              <p:cNvSpPr>
                <a:spLocks noRot="1" noChangeAspect="1" noMove="1" noResize="1" noEditPoints="1" noAdjustHandles="1" noChangeArrowheads="1" noChangeShapeType="1" noTextEdit="1"/>
              </p:cNvSpPr>
              <p:nvPr/>
            </p:nvSpPr>
            <p:spPr>
              <a:xfrm>
                <a:off x="464201" y="2400422"/>
                <a:ext cx="4882747" cy="461665"/>
              </a:xfrm>
              <a:prstGeom prst="rect">
                <a:avLst/>
              </a:prstGeom>
              <a:blipFill>
                <a:blip r:embed="rId4"/>
                <a:stretch>
                  <a:fillRect l="-2078" t="-5405"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CD1094E-3883-6843-88CB-5AFC565DCFB4}"/>
                  </a:ext>
                </a:extLst>
              </p:cNvPr>
              <p:cNvSpPr/>
              <p:nvPr/>
            </p:nvSpPr>
            <p:spPr>
              <a:xfrm>
                <a:off x="464201" y="3102273"/>
                <a:ext cx="7956665" cy="806696"/>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i="1" smtClean="0">
                              <a:latin typeface="Cambria Math" panose="02040503050406030204" pitchFamily="18" charset="0"/>
                            </a:rPr>
                            <m:t>𝑆</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0</m:t>
                                  </m:r>
                                </m:e>
                              </m:d>
                            </m:e>
                          </m:d>
                          <m:r>
                            <m:rPr>
                              <m:nor/>
                            </m:rPr>
                            <a:rPr lang="en-US" sz="2400" dirty="0"/>
                            <m:t> </m:t>
                          </m:r>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sr-Latn-RS" sz="2400" b="0" i="1" smtClean="0">
                                      <a:latin typeface="Cambria Math" panose="02040503050406030204" pitchFamily="18" charset="0"/>
                                    </a:rPr>
                                    <m:t>0</m:t>
                                  </m:r>
                                </m:e>
                              </m:d>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sr-Latn-RS" sz="2400" b="0" i="1" smtClean="0">
                                      <a:latin typeface="Cambria Math" panose="02040503050406030204" pitchFamily="18" charset="0"/>
                                    </a:rPr>
                                    <m:t>0</m:t>
                                  </m:r>
                                </m:e>
                              </m:d>
                            </m:e>
                          </m:d>
                        </m:num>
                        <m:den>
                          <m:r>
                            <a:rPr lang="en-US" sz="2400" b="0" i="1" smtClean="0">
                              <a:latin typeface="Cambria Math" panose="02040503050406030204" pitchFamily="18" charset="0"/>
                            </a:rPr>
                            <m:t>2</m:t>
                          </m:r>
                        </m:den>
                      </m:f>
                    </m:oMath>
                  </m:oMathPara>
                </a14:m>
                <a:endParaRPr lang="en-US" sz="2400" dirty="0"/>
              </a:p>
            </p:txBody>
          </p:sp>
        </mc:Choice>
        <mc:Fallback xmlns="">
          <p:sp>
            <p:nvSpPr>
              <p:cNvPr id="8" name="Rectangle 7">
                <a:extLst>
                  <a:ext uri="{FF2B5EF4-FFF2-40B4-BE49-F238E27FC236}">
                    <a16:creationId xmlns:a16="http://schemas.microsoft.com/office/drawing/2014/main" id="{9CD1094E-3883-6843-88CB-5AFC565DCFB4}"/>
                  </a:ext>
                </a:extLst>
              </p:cNvPr>
              <p:cNvSpPr>
                <a:spLocks noRot="1" noChangeAspect="1" noMove="1" noResize="1" noEditPoints="1" noAdjustHandles="1" noChangeArrowheads="1" noChangeShapeType="1" noTextEdit="1"/>
              </p:cNvSpPr>
              <p:nvPr/>
            </p:nvSpPr>
            <p:spPr>
              <a:xfrm>
                <a:off x="464201" y="3102273"/>
                <a:ext cx="7956665" cy="806696"/>
              </a:xfrm>
              <a:prstGeom prst="rect">
                <a:avLst/>
              </a:prstGeom>
              <a:blipFill>
                <a:blip r:embed="rId5"/>
                <a:stretch>
                  <a:fillRect l="-957" t="-72308" r="-2871" b="-9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F7636DCE-C8E0-4B42-AC74-29EE4795745D}"/>
                  </a:ext>
                </a:extLst>
              </p:cNvPr>
              <p:cNvSpPr/>
              <p:nvPr/>
            </p:nvSpPr>
            <p:spPr>
              <a:xfrm>
                <a:off x="464201" y="4044310"/>
                <a:ext cx="10758330" cy="806696"/>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i="1" smtClean="0">
                              <a:latin typeface="Cambria Math" panose="02040503050406030204" pitchFamily="18" charset="0"/>
                            </a:rPr>
                            <m:t>𝑆</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ctrlPr>
                                <a:rPr lang="sr-Latn-RS" sz="2400" b="0" i="1" smtClean="0">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1</m:t>
                                  </m:r>
                                </m:e>
                              </m:d>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(0)</m:t>
                              </m:r>
                            </m:e>
                          </m:d>
                          <m:r>
                            <a:rPr lang="sr-Latn-RS" sz="2400" b="0" i="1" smtClean="0">
                              <a:latin typeface="Cambria Math" panose="02040503050406030204" pitchFamily="18" charset="0"/>
                            </a:rPr>
                            <m:t>−</m:t>
                          </m:r>
                          <m:d>
                            <m:dPr>
                              <m:ctrlPr>
                                <a:rPr lang="sr-Latn-R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1</m:t>
                                  </m:r>
                                </m:e>
                              </m:d>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0</m:t>
                                  </m:r>
                                </m:e>
                              </m:d>
                            </m:e>
                          </m:d>
                          <m:r>
                            <m:rPr>
                              <m:nor/>
                            </m:rPr>
                            <a:rPr lang="en-US" sz="2400" dirty="0"/>
                            <m:t> </m:t>
                          </m:r>
                        </m:num>
                        <m:den>
                          <m:r>
                            <a:rPr lang="en-US" sz="2400" b="0" i="1" smtClean="0">
                              <a:latin typeface="Cambria Math" panose="02040503050406030204" pitchFamily="18" charset="0"/>
                            </a:rPr>
                            <m:t>2</m:t>
                          </m:r>
                        </m:den>
                      </m:f>
                      <m:r>
                        <a:rPr lang="sr-Latn-RS" sz="2400" b="0" i="1" smtClean="0">
                          <a:latin typeface="Cambria Math" panose="02040503050406030204" pitchFamily="18" charset="0"/>
                        </a:rPr>
                        <m:t>=</m:t>
                      </m:r>
                      <m:f>
                        <m:fPr>
                          <m:ctrlPr>
                            <a:rPr lang="sr-Latn-RS" sz="2400" b="0" i="1" smtClean="0">
                              <a:latin typeface="Cambria Math" panose="02040503050406030204" pitchFamily="18" charset="0"/>
                            </a:rPr>
                          </m:ctrlPr>
                        </m:fPr>
                        <m:num>
                          <m:d>
                            <m:dPr>
                              <m:ctrlPr>
                                <a:rPr lang="sr-Latn-R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1</m:t>
                                  </m:r>
                                </m:e>
                              </m:d>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𝑓</m:t>
                              </m:r>
                              <m:r>
                                <a:rPr lang="en-US" sz="2400" i="1">
                                  <a:latin typeface="Cambria Math" panose="02040503050406030204" pitchFamily="18" charset="0"/>
                                </a:rPr>
                                <m:t>(0)</m:t>
                              </m:r>
                            </m:e>
                          </m:d>
                          <m:r>
                            <a:rPr lang="sr-Latn-RS" sz="2400" b="0" i="1" smtClean="0">
                              <a:latin typeface="Cambria Math" panose="02040503050406030204" pitchFamily="18" charset="0"/>
                            </a:rPr>
                            <m:t>−</m:t>
                          </m:r>
                          <m:r>
                            <a:rPr lang="en-US" sz="2400">
                              <a:latin typeface="Cambria Math" panose="02040503050406030204" pitchFamily="18" charset="0"/>
                            </a:rPr>
                            <m:t>|</m:t>
                          </m:r>
                          <m:r>
                            <a:rPr lang="en-US" sz="2400" i="1">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0</m:t>
                              </m:r>
                            </m:e>
                          </m:d>
                          <m:r>
                            <a:rPr lang="sr-Latn-RS" sz="2400" b="0" i="1" smtClean="0">
                              <a:latin typeface="Cambria Math" panose="02040503050406030204" pitchFamily="18" charset="0"/>
                            </a:rPr>
                            <m:t>)</m:t>
                          </m:r>
                        </m:num>
                        <m:den>
                          <m:r>
                            <a:rPr lang="sr-Latn-RS" sz="2400" b="0" i="1" smtClean="0">
                              <a:latin typeface="Cambria Math" panose="02040503050406030204" pitchFamily="18" charset="0"/>
                            </a:rPr>
                            <m:t>2</m:t>
                          </m:r>
                        </m:den>
                      </m:f>
                    </m:oMath>
                  </m:oMathPara>
                </a14:m>
                <a:endParaRPr lang="en-US" sz="2400" dirty="0"/>
              </a:p>
            </p:txBody>
          </p:sp>
        </mc:Choice>
        <mc:Fallback xmlns="">
          <p:sp>
            <p:nvSpPr>
              <p:cNvPr id="9" name="Rectangle 8">
                <a:extLst>
                  <a:ext uri="{FF2B5EF4-FFF2-40B4-BE49-F238E27FC236}">
                    <a16:creationId xmlns:a16="http://schemas.microsoft.com/office/drawing/2014/main" id="{F7636DCE-C8E0-4B42-AC74-29EE4795745D}"/>
                  </a:ext>
                </a:extLst>
              </p:cNvPr>
              <p:cNvSpPr>
                <a:spLocks noRot="1" noChangeAspect="1" noMove="1" noResize="1" noEditPoints="1" noAdjustHandles="1" noChangeArrowheads="1" noChangeShapeType="1" noTextEdit="1"/>
              </p:cNvSpPr>
              <p:nvPr/>
            </p:nvSpPr>
            <p:spPr>
              <a:xfrm>
                <a:off x="464201" y="4044310"/>
                <a:ext cx="10758330" cy="806696"/>
              </a:xfrm>
              <a:prstGeom prst="rect">
                <a:avLst/>
              </a:prstGeom>
              <a:blipFill>
                <a:blip r:embed="rId6"/>
                <a:stretch>
                  <a:fillRect l="-590" t="-72308" r="-590" b="-9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9B62929-6E1F-314E-97C5-0E8792772E24}"/>
                  </a:ext>
                </a:extLst>
              </p:cNvPr>
              <p:cNvSpPr/>
              <p:nvPr/>
            </p:nvSpPr>
            <p:spPr>
              <a:xfrm>
                <a:off x="464201" y="4986347"/>
                <a:ext cx="4019690" cy="87818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i="1" smtClean="0">
                              <a:latin typeface="Cambria Math" panose="02040503050406030204" pitchFamily="18" charset="0"/>
                            </a:rPr>
                            <m:t>𝑆</m:t>
                          </m:r>
                        </m:e>
                      </m:d>
                      <m:r>
                        <a:rPr lang="en-US" sz="2400" b="0" i="1" smtClean="0">
                          <a:latin typeface="Cambria Math" panose="02040503050406030204" pitchFamily="18" charset="0"/>
                        </a:rPr>
                        <m:t>=</m:t>
                      </m:r>
                      <m:d>
                        <m:dPr>
                          <m:begChr m:val=""/>
                          <m:endChr m:val="⟩"/>
                          <m:ctrlPr>
                            <a:rPr lang="en-US" sz="2400" i="1" smtClean="0">
                              <a:solidFill>
                                <a:srgbClr val="FF0000"/>
                              </a:solidFill>
                              <a:latin typeface="Cambria Math" panose="02040503050406030204" pitchFamily="18" charset="0"/>
                            </a:rPr>
                          </m:ctrlPr>
                        </m:dPr>
                        <m:e>
                          <m:r>
                            <a:rPr lang="en-US" sz="2400">
                              <a:solidFill>
                                <a:srgbClr val="FF0000"/>
                              </a:solidFill>
                              <a:latin typeface="Cambria Math" panose="02040503050406030204" pitchFamily="18" charset="0"/>
                            </a:rPr>
                            <m:t>|</m:t>
                          </m:r>
                          <m:r>
                            <a:rPr lang="sr-Latn-RS" sz="2400" b="0" i="1" smtClean="0">
                              <a:solidFill>
                                <a:srgbClr val="FF0000"/>
                              </a:solidFill>
                              <a:latin typeface="Cambria Math" panose="02040503050406030204" pitchFamily="18" charset="0"/>
                            </a:rPr>
                            <m:t>+</m:t>
                          </m:r>
                        </m:e>
                      </m:d>
                      <m:f>
                        <m:fPr>
                          <m:ctrlPr>
                            <a:rPr lang="sr-Latn-RS" sz="2400" b="0" i="1" smtClean="0">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𝑓</m:t>
                              </m:r>
                              <m:r>
                                <a:rPr lang="en-US" sz="2400" i="1">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0</m:t>
                                  </m:r>
                                </m:e>
                              </m:d>
                            </m:e>
                          </m:d>
                        </m:num>
                        <m:den>
                          <m:rad>
                            <m:radPr>
                              <m:degHide m:val="on"/>
                              <m:ctrlPr>
                                <a:rPr lang="sr-Latn-RS" sz="2400" b="0" i="1" smtClean="0">
                                  <a:latin typeface="Cambria Math" panose="02040503050406030204" pitchFamily="18" charset="0"/>
                                </a:rPr>
                              </m:ctrlPr>
                            </m:radPr>
                            <m:deg/>
                            <m:e>
                              <m:r>
                                <a:rPr lang="sr-Latn-RS" sz="2400" b="0" i="1" smtClean="0">
                                  <a:latin typeface="Cambria Math" panose="02040503050406030204" pitchFamily="18" charset="0"/>
                                </a:rPr>
                                <m:t>2</m:t>
                              </m:r>
                            </m:e>
                          </m:rad>
                        </m:den>
                      </m:f>
                    </m:oMath>
                  </m:oMathPara>
                </a14:m>
                <a:endParaRPr lang="en-US" sz="2400" dirty="0"/>
              </a:p>
            </p:txBody>
          </p:sp>
        </mc:Choice>
        <mc:Fallback xmlns="">
          <p:sp>
            <p:nvSpPr>
              <p:cNvPr id="10" name="Rectangle 9">
                <a:extLst>
                  <a:ext uri="{FF2B5EF4-FFF2-40B4-BE49-F238E27FC236}">
                    <a16:creationId xmlns:a16="http://schemas.microsoft.com/office/drawing/2014/main" id="{19B62929-6E1F-314E-97C5-0E8792772E24}"/>
                  </a:ext>
                </a:extLst>
              </p:cNvPr>
              <p:cNvSpPr>
                <a:spLocks noRot="1" noChangeAspect="1" noMove="1" noResize="1" noEditPoints="1" noAdjustHandles="1" noChangeArrowheads="1" noChangeShapeType="1" noTextEdit="1"/>
              </p:cNvSpPr>
              <p:nvPr/>
            </p:nvSpPr>
            <p:spPr>
              <a:xfrm>
                <a:off x="464201" y="4986347"/>
                <a:ext cx="4019690" cy="878189"/>
              </a:xfrm>
              <a:prstGeom prst="rect">
                <a:avLst/>
              </a:prstGeom>
              <a:blipFill>
                <a:blip r:embed="rId7"/>
                <a:stretch>
                  <a:fillRect l="-3785" t="-68571" r="-7571" b="-78571"/>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4BFE540C-B4EE-8C48-B3FF-094F5FED8B8E}"/>
              </a:ext>
            </a:extLst>
          </p:cNvPr>
          <p:cNvCxnSpPr>
            <a:cxnSpLocks/>
          </p:cNvCxnSpPr>
          <p:nvPr/>
        </p:nvCxnSpPr>
        <p:spPr>
          <a:xfrm>
            <a:off x="464201" y="2862087"/>
            <a:ext cx="11136128"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C765571-B380-9B46-A402-039404B18874}"/>
                  </a:ext>
                </a:extLst>
              </p:cNvPr>
              <p:cNvSpPr txBox="1"/>
              <p:nvPr/>
            </p:nvSpPr>
            <p:spPr>
              <a:xfrm>
                <a:off x="337115" y="903151"/>
                <a:ext cx="1829988" cy="369332"/>
              </a:xfrm>
              <a:prstGeom prst="rect">
                <a:avLst/>
              </a:prstGeom>
              <a:noFill/>
            </p:spPr>
            <p:txBody>
              <a:bodyPr wrap="none" rtlCol="0">
                <a:spAutoFit/>
              </a:bodyPr>
              <a:lstStyle/>
              <a:p>
                <a14:m>
                  <m:oMath xmlns:m="http://schemas.openxmlformats.org/officeDocument/2006/math">
                    <m:r>
                      <a:rPr lang="sr-Latn-RS" b="0" i="1" smtClean="0">
                        <a:latin typeface="Cambria Math" panose="02040503050406030204" pitchFamily="18" charset="0"/>
                      </a:rPr>
                      <m:t>0 </m:t>
                    </m:r>
                    <m:r>
                      <a:rPr lang="sr-Latn-R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𝑓</m:t>
                        </m:r>
                        <m:r>
                          <a:rPr lang="en-US" i="1">
                            <a:latin typeface="Cambria Math" panose="02040503050406030204" pitchFamily="18" charset="0"/>
                          </a:rPr>
                          <m:t>(</m:t>
                        </m:r>
                        <m:r>
                          <a:rPr lang="en-US" b="0" i="1" smtClean="0">
                            <a:latin typeface="Cambria Math" panose="02040503050406030204" pitchFamily="18" charset="0"/>
                          </a:rPr>
                          <m:t>𝑥</m:t>
                        </m:r>
                      </m:e>
                    </m:d>
                    <m:r>
                      <a:rPr lang="sr-Latn-RS" i="1">
                        <a:latin typeface="Cambria Math" panose="02040503050406030204" pitchFamily="18" charset="0"/>
                      </a:rPr>
                      <m:t>=</m:t>
                    </m:r>
                    <m:r>
                      <a:rPr lang="sr-Latn-RS" i="1">
                        <a:latin typeface="Cambria Math" panose="02040503050406030204" pitchFamily="18" charset="0"/>
                      </a:rPr>
                      <m:t>𝑓</m:t>
                    </m:r>
                    <m:d>
                      <m:dPr>
                        <m:ctrlPr>
                          <a:rPr lang="sr-Latn-RS" i="1">
                            <a:latin typeface="Cambria Math" panose="02040503050406030204" pitchFamily="18" charset="0"/>
                          </a:rPr>
                        </m:ctrlPr>
                      </m:dPr>
                      <m:e>
                        <m:r>
                          <a:rPr lang="en-US" b="0" i="1" smtClean="0">
                            <a:latin typeface="Cambria Math" panose="02040503050406030204" pitchFamily="18" charset="0"/>
                          </a:rPr>
                          <m:t>𝑥</m:t>
                        </m:r>
                      </m:e>
                    </m:d>
                  </m:oMath>
                </a14:m>
                <a:r>
                  <a:rPr lang="en-US" i="1" dirty="0"/>
                  <a:t>:</a:t>
                </a:r>
              </a:p>
            </p:txBody>
          </p:sp>
        </mc:Choice>
        <mc:Fallback xmlns="">
          <p:sp>
            <p:nvSpPr>
              <p:cNvPr id="14" name="TextBox 13">
                <a:extLst>
                  <a:ext uri="{FF2B5EF4-FFF2-40B4-BE49-F238E27FC236}">
                    <a16:creationId xmlns:a16="http://schemas.microsoft.com/office/drawing/2014/main" id="{5C765571-B380-9B46-A402-039404B18874}"/>
                  </a:ext>
                </a:extLst>
              </p:cNvPr>
              <p:cNvSpPr txBox="1">
                <a:spLocks noRot="1" noChangeAspect="1" noMove="1" noResize="1" noEditPoints="1" noAdjustHandles="1" noChangeArrowheads="1" noChangeShapeType="1" noTextEdit="1"/>
              </p:cNvSpPr>
              <p:nvPr/>
            </p:nvSpPr>
            <p:spPr>
              <a:xfrm>
                <a:off x="337115" y="903151"/>
                <a:ext cx="1829988" cy="369332"/>
              </a:xfrm>
              <a:prstGeom prst="rect">
                <a:avLst/>
              </a:prstGeom>
              <a:blipFill>
                <a:blip r:embed="rId8"/>
                <a:stretch>
                  <a:fillRect t="-116667" r="-2069" b="-183333"/>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70106843-C3C6-6743-A5B7-EE076C9C8CB5}"/>
              </a:ext>
            </a:extLst>
          </p:cNvPr>
          <p:cNvGrpSpPr/>
          <p:nvPr/>
        </p:nvGrpSpPr>
        <p:grpSpPr>
          <a:xfrm>
            <a:off x="9867450" y="1455029"/>
            <a:ext cx="720000" cy="796546"/>
            <a:chOff x="3031963" y="4808040"/>
            <a:chExt cx="720000" cy="796546"/>
          </a:xfrm>
        </p:grpSpPr>
        <p:sp>
          <p:nvSpPr>
            <p:cNvPr id="16" name="Rectangle 15">
              <a:extLst>
                <a:ext uri="{FF2B5EF4-FFF2-40B4-BE49-F238E27FC236}">
                  <a16:creationId xmlns:a16="http://schemas.microsoft.com/office/drawing/2014/main" id="{8AE74331-289E-BD49-AB81-6F0A0C7D9DC8}"/>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7" name="Arc 16">
              <a:extLst>
                <a:ext uri="{FF2B5EF4-FFF2-40B4-BE49-F238E27FC236}">
                  <a16:creationId xmlns:a16="http://schemas.microsoft.com/office/drawing/2014/main" id="{96B8099C-27BE-4C42-B1B6-2441CC3714CD}"/>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72268898-6731-F24F-802C-26E691C51B91}"/>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21ECF83D-BC6B-7043-A761-AEB099C2AB5D}"/>
              </a:ext>
            </a:extLst>
          </p:cNvPr>
          <p:cNvSpPr/>
          <p:nvPr/>
        </p:nvSpPr>
        <p:spPr>
          <a:xfrm>
            <a:off x="8675940" y="145502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Tree>
    <p:extLst>
      <p:ext uri="{BB962C8B-B14F-4D97-AF65-F5344CB8AC3E}">
        <p14:creationId xmlns:p14="http://schemas.microsoft.com/office/powerpoint/2010/main" val="79736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2F591-60CE-AF47-8D22-78C11816F53E}"/>
              </a:ext>
            </a:extLst>
          </p:cNvPr>
          <p:cNvSpPr>
            <a:spLocks noGrp="1"/>
          </p:cNvSpPr>
          <p:nvPr>
            <p:ph type="title"/>
          </p:nvPr>
        </p:nvSpPr>
        <p:spPr/>
        <p:txBody>
          <a:bodyPr/>
          <a:lstStyle/>
          <a:p>
            <a:r>
              <a:rPr lang="en-ZA" dirty="0"/>
              <a:t>Balanced Function Case</a:t>
            </a:r>
            <a:endParaRPr lang="en-US" dirty="0"/>
          </a:p>
        </p:txBody>
      </p:sp>
      <p:sp>
        <p:nvSpPr>
          <p:cNvPr id="3" name="Slide Number Placeholder 2">
            <a:extLst>
              <a:ext uri="{FF2B5EF4-FFF2-40B4-BE49-F238E27FC236}">
                <a16:creationId xmlns:a16="http://schemas.microsoft.com/office/drawing/2014/main" id="{009BC50B-009E-3C47-BBBD-CDF9D9EF6486}"/>
              </a:ext>
            </a:extLst>
          </p:cNvPr>
          <p:cNvSpPr>
            <a:spLocks noGrp="1"/>
          </p:cNvSpPr>
          <p:nvPr>
            <p:ph type="sldNum" sz="quarter" idx="12"/>
          </p:nvPr>
        </p:nvSpPr>
        <p:spPr/>
        <p:txBody>
          <a:bodyPr/>
          <a:lstStyle/>
          <a:p>
            <a:fld id="{591A223C-FA10-BC46-A853-03BA373D023C}" type="slidenum">
              <a:rPr lang="en-US" smtClean="0"/>
              <a:t>13</a:t>
            </a:fld>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7D76981-9202-744C-A8E5-570A51643049}"/>
                  </a:ext>
                </a:extLst>
              </p:cNvPr>
              <p:cNvSpPr/>
              <p:nvPr/>
            </p:nvSpPr>
            <p:spPr>
              <a:xfrm>
                <a:off x="337115" y="1353540"/>
                <a:ext cx="7956665" cy="806696"/>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i="1" smtClean="0">
                              <a:latin typeface="Cambria Math" panose="02040503050406030204" pitchFamily="18" charset="0"/>
                            </a:rPr>
                            <m:t>𝑆</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0</m:t>
                                  </m:r>
                                </m:e>
                              </m:d>
                            </m:e>
                          </m:d>
                          <m:r>
                            <m:rPr>
                              <m:nor/>
                            </m:rPr>
                            <a:rPr lang="en-US" sz="2400" dirty="0"/>
                            <m:t> </m:t>
                          </m:r>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1</m:t>
                                  </m:r>
                                </m:e>
                              </m:d>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1</m:t>
                              </m:r>
                              <m:r>
                                <a:rPr lang="sr-Latn-RS" sz="2400" i="1">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1</m:t>
                                  </m:r>
                                </m:e>
                              </m:d>
                            </m:e>
                          </m:d>
                        </m:num>
                        <m:den>
                          <m:r>
                            <a:rPr lang="en-US" sz="2400" b="0" i="1" smtClean="0">
                              <a:latin typeface="Cambria Math" panose="02040503050406030204" pitchFamily="18" charset="0"/>
                            </a:rPr>
                            <m:t>2</m:t>
                          </m:r>
                        </m:den>
                      </m:f>
                    </m:oMath>
                  </m:oMathPara>
                </a14:m>
                <a:endParaRPr lang="en-US" sz="2400" dirty="0"/>
              </a:p>
            </p:txBody>
          </p:sp>
        </mc:Choice>
        <mc:Fallback xmlns="">
          <p:sp>
            <p:nvSpPr>
              <p:cNvPr id="6" name="Rectangle 5">
                <a:extLst>
                  <a:ext uri="{FF2B5EF4-FFF2-40B4-BE49-F238E27FC236}">
                    <a16:creationId xmlns:a16="http://schemas.microsoft.com/office/drawing/2014/main" id="{97D76981-9202-744C-A8E5-570A51643049}"/>
                  </a:ext>
                </a:extLst>
              </p:cNvPr>
              <p:cNvSpPr>
                <a:spLocks noRot="1" noChangeAspect="1" noMove="1" noResize="1" noEditPoints="1" noAdjustHandles="1" noChangeArrowheads="1" noChangeShapeType="1" noTextEdit="1"/>
              </p:cNvSpPr>
              <p:nvPr/>
            </p:nvSpPr>
            <p:spPr>
              <a:xfrm>
                <a:off x="337115" y="1353540"/>
                <a:ext cx="7956665" cy="806696"/>
              </a:xfrm>
              <a:prstGeom prst="rect">
                <a:avLst/>
              </a:prstGeom>
              <a:blipFill>
                <a:blip r:embed="rId3"/>
                <a:stretch>
                  <a:fillRect l="-957" t="-75000" r="-2871" b="-953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3988665-4C58-D44C-86D4-B095A598D858}"/>
                  </a:ext>
                </a:extLst>
              </p:cNvPr>
              <p:cNvSpPr/>
              <p:nvPr/>
            </p:nvSpPr>
            <p:spPr>
              <a:xfrm>
                <a:off x="446272" y="2400422"/>
                <a:ext cx="4941930" cy="461665"/>
              </a:xfrm>
              <a:prstGeom prst="rect">
                <a:avLst/>
              </a:prstGeom>
              <a:solidFill>
                <a:schemeClr val="accent4">
                  <a:lumMod val="20000"/>
                  <a:lumOff val="80000"/>
                </a:schemeClr>
              </a:solidFill>
            </p:spPr>
            <p:txBody>
              <a:bodyPr wrap="none">
                <a:spAutoFit/>
              </a:bodyPr>
              <a:lstStyle/>
              <a:p>
                <a:r>
                  <a:rPr lang="sr-Latn-RS" sz="2400" dirty="0" err="1"/>
                  <a:t>For</a:t>
                </a:r>
                <a:r>
                  <a:rPr lang="sr-Latn-RS" sz="2400" dirty="0"/>
                  <a:t> a </a:t>
                </a:r>
                <a:r>
                  <a:rPr lang="en-ZA" sz="2400" dirty="0"/>
                  <a:t>balanced function:</a:t>
                </a:r>
                <a:r>
                  <a:rPr lang="sr-Latn-RS" sz="2400" dirty="0"/>
                  <a:t> </a:t>
                </a:r>
                <a14:m>
                  <m:oMath xmlns:m="http://schemas.openxmlformats.org/officeDocument/2006/math">
                    <m:r>
                      <a:rPr lang="sr-Latn-RS" sz="2400" b="0" i="1">
                        <a:latin typeface="Cambria Math" panose="02040503050406030204" pitchFamily="18" charset="0"/>
                      </a:rPr>
                      <m:t>𝑓</m:t>
                    </m:r>
                    <m:d>
                      <m:dPr>
                        <m:ctrlPr>
                          <a:rPr lang="sr-Latn-RS" sz="2400" i="1">
                            <a:latin typeface="Cambria Math" panose="02040503050406030204" pitchFamily="18" charset="0"/>
                          </a:rPr>
                        </m:ctrlPr>
                      </m:dPr>
                      <m:e>
                        <m:r>
                          <a:rPr lang="sr-Latn-RS" sz="2400" b="0" i="1">
                            <a:latin typeface="Cambria Math" panose="02040503050406030204" pitchFamily="18" charset="0"/>
                          </a:rPr>
                          <m:t>0</m:t>
                        </m:r>
                      </m:e>
                    </m:d>
                    <m:r>
                      <a:rPr lang="sr-Latn-RS" sz="2400" b="0" i="1" smtClean="0">
                        <a:latin typeface="Cambria Math" panose="02040503050406030204" pitchFamily="18" charset="0"/>
                        <a:ea typeface="Cambria Math" panose="02040503050406030204" pitchFamily="18" charset="0"/>
                      </a:rPr>
                      <m:t>≠</m:t>
                    </m:r>
                    <m:r>
                      <a:rPr lang="sr-Latn-RS" sz="2400" b="0" i="1">
                        <a:latin typeface="Cambria Math" panose="02040503050406030204" pitchFamily="18" charset="0"/>
                      </a:rPr>
                      <m:t>𝑓</m:t>
                    </m:r>
                    <m:d>
                      <m:dPr>
                        <m:ctrlPr>
                          <a:rPr lang="sr-Latn-RS" sz="2400" i="1">
                            <a:latin typeface="Cambria Math" panose="02040503050406030204" pitchFamily="18" charset="0"/>
                          </a:rPr>
                        </m:ctrlPr>
                      </m:dPr>
                      <m:e>
                        <m:r>
                          <a:rPr lang="sr-Latn-RS" sz="2400" b="0" i="1">
                            <a:latin typeface="Cambria Math" panose="02040503050406030204" pitchFamily="18" charset="0"/>
                          </a:rPr>
                          <m:t>1</m:t>
                        </m:r>
                      </m:e>
                    </m:d>
                  </m:oMath>
                </a14:m>
                <a:r>
                  <a:rPr lang="en-ZA" sz="2400" dirty="0">
                    <a:latin typeface="Cambria" panose="02040503050406030204" pitchFamily="18" charset="0"/>
                    <a:ea typeface="Times New Roman" panose="02020603050405020304" pitchFamily="18" charset="0"/>
                    <a:cs typeface="Times New Roman" panose="02020603050405020304" pitchFamily="18" charset="0"/>
                  </a:rPr>
                  <a:t> </a:t>
                </a:r>
                <a:endParaRPr lang="en-US" sz="2400" dirty="0"/>
              </a:p>
            </p:txBody>
          </p:sp>
        </mc:Choice>
        <mc:Fallback xmlns="">
          <p:sp>
            <p:nvSpPr>
              <p:cNvPr id="7" name="Rectangle 6">
                <a:extLst>
                  <a:ext uri="{FF2B5EF4-FFF2-40B4-BE49-F238E27FC236}">
                    <a16:creationId xmlns:a16="http://schemas.microsoft.com/office/drawing/2014/main" id="{23988665-4C58-D44C-86D4-B095A598D858}"/>
                  </a:ext>
                </a:extLst>
              </p:cNvPr>
              <p:cNvSpPr>
                <a:spLocks noRot="1" noChangeAspect="1" noMove="1" noResize="1" noEditPoints="1" noAdjustHandles="1" noChangeArrowheads="1" noChangeShapeType="1" noTextEdit="1"/>
              </p:cNvSpPr>
              <p:nvPr/>
            </p:nvSpPr>
            <p:spPr>
              <a:xfrm>
                <a:off x="446272" y="2400422"/>
                <a:ext cx="4941930" cy="461665"/>
              </a:xfrm>
              <a:prstGeom prst="rect">
                <a:avLst/>
              </a:prstGeom>
              <a:blipFill>
                <a:blip r:embed="rId4"/>
                <a:stretch>
                  <a:fillRect l="-1795" t="-5405"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CD1094E-3883-6843-88CB-5AFC565DCFB4}"/>
                  </a:ext>
                </a:extLst>
              </p:cNvPr>
              <p:cNvSpPr/>
              <p:nvPr/>
            </p:nvSpPr>
            <p:spPr>
              <a:xfrm>
                <a:off x="464201" y="3102273"/>
                <a:ext cx="7081426" cy="806696"/>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i="1" smtClean="0">
                              <a:latin typeface="Cambria Math" panose="02040503050406030204" pitchFamily="18" charset="0"/>
                            </a:rPr>
                            <m:t>𝑆</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sr-Latn-RS" sz="2400" b="0" i="1" smtClean="0">
                                      <a:latin typeface="Cambria Math" panose="02040503050406030204" pitchFamily="18" charset="0"/>
                                    </a:rPr>
                                    <m:t>1</m:t>
                                  </m:r>
                                </m:e>
                              </m:d>
                            </m:e>
                          </m:d>
                          <m:r>
                            <m:rPr>
                              <m:nor/>
                            </m:rPr>
                            <a:rPr lang="en-US" sz="2400" dirty="0"/>
                            <m:t> </m:t>
                          </m:r>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sr-Latn-RS" sz="2400" b="0" i="1" smtClean="0">
                                      <a:latin typeface="Cambria Math" panose="02040503050406030204" pitchFamily="18" charset="0"/>
                                    </a:rPr>
                                    <m:t>1</m:t>
                                  </m:r>
                                </m:e>
                              </m:d>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sr-Latn-RS" sz="2400" b="0" i="1" smtClean="0">
                                      <a:latin typeface="Cambria Math" panose="02040503050406030204" pitchFamily="18" charset="0"/>
                                    </a:rPr>
                                    <m:t>0</m:t>
                                  </m:r>
                                </m:e>
                              </m:d>
                            </m:e>
                          </m:d>
                        </m:num>
                        <m:den>
                          <m:r>
                            <a:rPr lang="en-US" sz="2400" b="0" i="1" smtClean="0">
                              <a:latin typeface="Cambria Math" panose="02040503050406030204" pitchFamily="18" charset="0"/>
                            </a:rPr>
                            <m:t>2</m:t>
                          </m:r>
                        </m:den>
                      </m:f>
                    </m:oMath>
                  </m:oMathPara>
                </a14:m>
                <a:endParaRPr lang="en-US" sz="2400" dirty="0"/>
              </a:p>
            </p:txBody>
          </p:sp>
        </mc:Choice>
        <mc:Fallback xmlns="">
          <p:sp>
            <p:nvSpPr>
              <p:cNvPr id="8" name="Rectangle 7">
                <a:extLst>
                  <a:ext uri="{FF2B5EF4-FFF2-40B4-BE49-F238E27FC236}">
                    <a16:creationId xmlns:a16="http://schemas.microsoft.com/office/drawing/2014/main" id="{9CD1094E-3883-6843-88CB-5AFC565DCFB4}"/>
                  </a:ext>
                </a:extLst>
              </p:cNvPr>
              <p:cNvSpPr>
                <a:spLocks noRot="1" noChangeAspect="1" noMove="1" noResize="1" noEditPoints="1" noAdjustHandles="1" noChangeArrowheads="1" noChangeShapeType="1" noTextEdit="1"/>
              </p:cNvSpPr>
              <p:nvPr/>
            </p:nvSpPr>
            <p:spPr>
              <a:xfrm>
                <a:off x="464201" y="3102273"/>
                <a:ext cx="7081426" cy="806696"/>
              </a:xfrm>
              <a:prstGeom prst="rect">
                <a:avLst/>
              </a:prstGeom>
              <a:blipFill>
                <a:blip r:embed="rId5"/>
                <a:stretch>
                  <a:fillRect l="-1075" t="-72308" r="-3226" b="-9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F7636DCE-C8E0-4B42-AC74-29EE4795745D}"/>
                  </a:ext>
                </a:extLst>
              </p:cNvPr>
              <p:cNvSpPr/>
              <p:nvPr/>
            </p:nvSpPr>
            <p:spPr>
              <a:xfrm>
                <a:off x="464201" y="4044310"/>
                <a:ext cx="9883090" cy="806696"/>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i="1" smtClean="0">
                              <a:latin typeface="Cambria Math" panose="02040503050406030204" pitchFamily="18" charset="0"/>
                            </a:rPr>
                            <m:t>𝑆</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ctrlPr>
                                <a:rPr lang="sr-Latn-RS" sz="2400" b="0" i="1" smtClean="0">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1</m:t>
                                  </m:r>
                                </m:e>
                              </m:d>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(0)</m:t>
                              </m:r>
                            </m:e>
                          </m:d>
                          <m:r>
                            <a:rPr lang="sr-Latn-RS" sz="2400" b="0" i="1" smtClean="0">
                              <a:latin typeface="Cambria Math" panose="02040503050406030204" pitchFamily="18" charset="0"/>
                            </a:rPr>
                            <m:t>−</m:t>
                          </m:r>
                          <m:d>
                            <m:dPr>
                              <m:ctrlPr>
                                <a:rPr lang="sr-Latn-R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1</m:t>
                                  </m:r>
                                </m:e>
                              </m:d>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sr-Latn-RS" sz="2400" b="0" i="1" smtClean="0">
                                      <a:latin typeface="Cambria Math" panose="02040503050406030204" pitchFamily="18" charset="0"/>
                                    </a:rPr>
                                    <m:t>1</m:t>
                                  </m:r>
                                </m:e>
                              </m:d>
                            </m:e>
                          </m:d>
                          <m:r>
                            <m:rPr>
                              <m:nor/>
                            </m:rPr>
                            <a:rPr lang="en-US" sz="2400" dirty="0"/>
                            <m:t> </m:t>
                          </m:r>
                        </m:num>
                        <m:den>
                          <m:r>
                            <a:rPr lang="en-US" sz="2400" b="0" i="1" smtClean="0">
                              <a:latin typeface="Cambria Math" panose="02040503050406030204" pitchFamily="18" charset="0"/>
                            </a:rPr>
                            <m:t>2</m:t>
                          </m:r>
                        </m:den>
                      </m:f>
                      <m:r>
                        <a:rPr lang="sr-Latn-RS" sz="2400" b="0" i="1" smtClean="0">
                          <a:latin typeface="Cambria Math" panose="02040503050406030204" pitchFamily="18" charset="0"/>
                        </a:rPr>
                        <m:t>=</m:t>
                      </m:r>
                      <m:f>
                        <m:fPr>
                          <m:ctrlPr>
                            <a:rPr lang="sr-Latn-RS" sz="2400" b="0" i="1" smtClean="0">
                              <a:latin typeface="Cambria Math" panose="02040503050406030204" pitchFamily="18" charset="0"/>
                            </a:rPr>
                          </m:ctrlPr>
                        </m:fPr>
                        <m:num>
                          <m:d>
                            <m:dPr>
                              <m:ctrlPr>
                                <a:rPr lang="sr-Latn-R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1</m:t>
                                  </m:r>
                                </m:e>
                              </m:d>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𝑓</m:t>
                              </m:r>
                              <m:r>
                                <a:rPr lang="en-US" sz="2400" i="1">
                                  <a:latin typeface="Cambria Math" panose="02040503050406030204" pitchFamily="18" charset="0"/>
                                </a:rPr>
                                <m:t>(0)</m:t>
                              </m:r>
                            </m:e>
                          </m:d>
                          <m:r>
                            <a:rPr lang="sr-Latn-RS" sz="2400" b="0" i="1" smtClean="0">
                              <a:latin typeface="Cambria Math" panose="02040503050406030204" pitchFamily="18" charset="0"/>
                            </a:rPr>
                            <m:t>−</m:t>
                          </m:r>
                          <m:r>
                            <a:rPr lang="en-US" sz="2400">
                              <a:latin typeface="Cambria Math" panose="02040503050406030204" pitchFamily="18" charset="0"/>
                            </a:rPr>
                            <m:t>|</m:t>
                          </m:r>
                          <m:d>
                            <m:dPr>
                              <m:begChr m:val=""/>
                              <m:ctrlPr>
                                <a:rPr lang="en-US" sz="2400" i="1" smtClean="0">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sr-Latn-RS" sz="2400" b="0" i="1" smtClean="0">
                                  <a:latin typeface="Cambria Math" panose="02040503050406030204" pitchFamily="18" charset="0"/>
                                </a:rPr>
                                <m:t>1</m:t>
                              </m:r>
                            </m:e>
                          </m:d>
                          <m:r>
                            <a:rPr lang="sr-Latn-RS" sz="2400" b="0" i="1" smtClean="0">
                              <a:latin typeface="Cambria Math" panose="02040503050406030204" pitchFamily="18" charset="0"/>
                            </a:rPr>
                            <m:t>)</m:t>
                          </m:r>
                        </m:num>
                        <m:den>
                          <m:r>
                            <a:rPr lang="sr-Latn-RS" sz="2400" b="0" i="1" smtClean="0">
                              <a:latin typeface="Cambria Math" panose="02040503050406030204" pitchFamily="18" charset="0"/>
                            </a:rPr>
                            <m:t>2</m:t>
                          </m:r>
                        </m:den>
                      </m:f>
                    </m:oMath>
                  </m:oMathPara>
                </a14:m>
                <a:endParaRPr lang="en-US" sz="2400" dirty="0"/>
              </a:p>
            </p:txBody>
          </p:sp>
        </mc:Choice>
        <mc:Fallback xmlns="">
          <p:sp>
            <p:nvSpPr>
              <p:cNvPr id="9" name="Rectangle 8">
                <a:extLst>
                  <a:ext uri="{FF2B5EF4-FFF2-40B4-BE49-F238E27FC236}">
                    <a16:creationId xmlns:a16="http://schemas.microsoft.com/office/drawing/2014/main" id="{F7636DCE-C8E0-4B42-AC74-29EE4795745D}"/>
                  </a:ext>
                </a:extLst>
              </p:cNvPr>
              <p:cNvSpPr>
                <a:spLocks noRot="1" noChangeAspect="1" noMove="1" noResize="1" noEditPoints="1" noAdjustHandles="1" noChangeArrowheads="1" noChangeShapeType="1" noTextEdit="1"/>
              </p:cNvSpPr>
              <p:nvPr/>
            </p:nvSpPr>
            <p:spPr>
              <a:xfrm>
                <a:off x="464201" y="4044310"/>
                <a:ext cx="9883090" cy="806696"/>
              </a:xfrm>
              <a:prstGeom prst="rect">
                <a:avLst/>
              </a:prstGeom>
              <a:blipFill>
                <a:blip r:embed="rId6"/>
                <a:stretch>
                  <a:fillRect l="-642" t="-72308" r="-642" b="-9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9B62929-6E1F-314E-97C5-0E8792772E24}"/>
                  </a:ext>
                </a:extLst>
              </p:cNvPr>
              <p:cNvSpPr/>
              <p:nvPr/>
            </p:nvSpPr>
            <p:spPr>
              <a:xfrm>
                <a:off x="464201" y="4986347"/>
                <a:ext cx="3582071" cy="87818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i="1" smtClean="0">
                              <a:latin typeface="Cambria Math" panose="02040503050406030204" pitchFamily="18" charset="0"/>
                            </a:rPr>
                            <m:t>𝑆</m:t>
                          </m:r>
                        </m:e>
                      </m:d>
                      <m:r>
                        <a:rPr lang="en-US" sz="2400" b="0" i="1" smtClean="0">
                          <a:latin typeface="Cambria Math" panose="02040503050406030204" pitchFamily="18" charset="0"/>
                        </a:rPr>
                        <m:t>=</m:t>
                      </m:r>
                      <m:d>
                        <m:dPr>
                          <m:begChr m:val=""/>
                          <m:endChr m:val="⟩"/>
                          <m:ctrlPr>
                            <a:rPr lang="en-US" sz="2400" i="1" smtClean="0">
                              <a:solidFill>
                                <a:srgbClr val="FF0000"/>
                              </a:solidFill>
                              <a:latin typeface="Cambria Math" panose="02040503050406030204" pitchFamily="18" charset="0"/>
                            </a:rPr>
                          </m:ctrlPr>
                        </m:dPr>
                        <m:e>
                          <m:r>
                            <a:rPr lang="en-US" sz="2400">
                              <a:solidFill>
                                <a:srgbClr val="FF0000"/>
                              </a:solidFill>
                              <a:latin typeface="Cambria Math" panose="02040503050406030204" pitchFamily="18" charset="0"/>
                            </a:rPr>
                            <m:t>|</m:t>
                          </m:r>
                          <m:r>
                            <a:rPr lang="sr-Latn-RS" sz="2400" b="0" i="1" smtClean="0">
                              <a:solidFill>
                                <a:srgbClr val="FF0000"/>
                              </a:solidFill>
                              <a:latin typeface="Cambria Math" panose="02040503050406030204" pitchFamily="18" charset="0"/>
                            </a:rPr>
                            <m:t>−</m:t>
                          </m:r>
                        </m:e>
                      </m:d>
                      <m:f>
                        <m:fPr>
                          <m:ctrlPr>
                            <a:rPr lang="sr-Latn-RS" sz="2400" b="0" i="1" smtClean="0">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𝑓</m:t>
                              </m:r>
                              <m:r>
                                <a:rPr lang="en-US" sz="2400" i="1">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b="0" i="1" smtClean="0">
                                      <a:latin typeface="Cambria Math" panose="02040503050406030204" pitchFamily="18" charset="0"/>
                                    </a:rPr>
                                    <m:t>1</m:t>
                                  </m:r>
                                </m:e>
                              </m:d>
                            </m:e>
                          </m:d>
                        </m:num>
                        <m:den>
                          <m:rad>
                            <m:radPr>
                              <m:degHide m:val="on"/>
                              <m:ctrlPr>
                                <a:rPr lang="sr-Latn-RS" sz="2400" b="0" i="1" smtClean="0">
                                  <a:latin typeface="Cambria Math" panose="02040503050406030204" pitchFamily="18" charset="0"/>
                                </a:rPr>
                              </m:ctrlPr>
                            </m:radPr>
                            <m:deg/>
                            <m:e>
                              <m:r>
                                <a:rPr lang="sr-Latn-RS" sz="2400" b="0" i="1" smtClean="0">
                                  <a:latin typeface="Cambria Math" panose="02040503050406030204" pitchFamily="18" charset="0"/>
                                </a:rPr>
                                <m:t>2</m:t>
                              </m:r>
                            </m:e>
                          </m:rad>
                        </m:den>
                      </m:f>
                    </m:oMath>
                  </m:oMathPara>
                </a14:m>
                <a:endParaRPr lang="en-US" sz="2400" dirty="0"/>
              </a:p>
            </p:txBody>
          </p:sp>
        </mc:Choice>
        <mc:Fallback xmlns="">
          <p:sp>
            <p:nvSpPr>
              <p:cNvPr id="10" name="Rectangle 9">
                <a:extLst>
                  <a:ext uri="{FF2B5EF4-FFF2-40B4-BE49-F238E27FC236}">
                    <a16:creationId xmlns:a16="http://schemas.microsoft.com/office/drawing/2014/main" id="{19B62929-6E1F-314E-97C5-0E8792772E24}"/>
                  </a:ext>
                </a:extLst>
              </p:cNvPr>
              <p:cNvSpPr>
                <a:spLocks noRot="1" noChangeAspect="1" noMove="1" noResize="1" noEditPoints="1" noAdjustHandles="1" noChangeArrowheads="1" noChangeShapeType="1" noTextEdit="1"/>
              </p:cNvSpPr>
              <p:nvPr/>
            </p:nvSpPr>
            <p:spPr>
              <a:xfrm>
                <a:off x="464201" y="4986347"/>
                <a:ext cx="3582071" cy="878189"/>
              </a:xfrm>
              <a:prstGeom prst="rect">
                <a:avLst/>
              </a:prstGeom>
              <a:blipFill>
                <a:blip r:embed="rId7"/>
                <a:stretch>
                  <a:fillRect l="-4240" t="-68571" r="-8481" b="-78571"/>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4BFE540C-B4EE-8C48-B3FF-094F5FED8B8E}"/>
              </a:ext>
            </a:extLst>
          </p:cNvPr>
          <p:cNvCxnSpPr>
            <a:cxnSpLocks/>
          </p:cNvCxnSpPr>
          <p:nvPr/>
        </p:nvCxnSpPr>
        <p:spPr>
          <a:xfrm>
            <a:off x="464201" y="2862087"/>
            <a:ext cx="11136128"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A081F8D-12E3-A74E-8A56-F0CFA2C95059}"/>
                  </a:ext>
                </a:extLst>
              </p:cNvPr>
              <p:cNvSpPr txBox="1"/>
              <p:nvPr/>
            </p:nvSpPr>
            <p:spPr>
              <a:xfrm>
                <a:off x="7710206" y="2420010"/>
                <a:ext cx="382085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1</m:t>
                      </m:r>
                      <m:r>
                        <a:rPr lang="sr-Latn-R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𝑓</m:t>
                          </m:r>
                          <m:r>
                            <a:rPr lang="en-US" i="1">
                              <a:latin typeface="Cambria Math" panose="02040503050406030204" pitchFamily="18" charset="0"/>
                            </a:rPr>
                            <m:t>(0</m:t>
                          </m:r>
                        </m:e>
                      </m:d>
                      <m:r>
                        <a:rPr lang="sr-Latn-RS" b="0" i="1" smtClean="0">
                          <a:latin typeface="Cambria Math" panose="02040503050406030204" pitchFamily="18" charset="0"/>
                        </a:rPr>
                        <m:t>=</m:t>
                      </m:r>
                      <m:r>
                        <a:rPr lang="sr-Latn-RS" b="0" i="1" smtClean="0">
                          <a:latin typeface="Cambria Math" panose="02040503050406030204" pitchFamily="18" charset="0"/>
                        </a:rPr>
                        <m:t>𝑓</m:t>
                      </m:r>
                      <m:d>
                        <m:dPr>
                          <m:ctrlPr>
                            <a:rPr lang="sr-Latn-RS" b="0" i="1" smtClean="0">
                              <a:latin typeface="Cambria Math" panose="02040503050406030204" pitchFamily="18" charset="0"/>
                            </a:rPr>
                          </m:ctrlPr>
                        </m:dPr>
                        <m:e>
                          <m:r>
                            <a:rPr lang="sr-Latn-RS" b="0" i="1" smtClean="0">
                              <a:latin typeface="Cambria Math" panose="02040503050406030204" pitchFamily="18" charset="0"/>
                            </a:rPr>
                            <m:t>1</m:t>
                          </m:r>
                        </m:e>
                      </m:d>
                      <m:r>
                        <a:rPr lang="sr-Latn-RS" b="0" i="1" smtClean="0">
                          <a:latin typeface="Cambria Math" panose="02040503050406030204" pitchFamily="18" charset="0"/>
                        </a:rPr>
                        <m:t>,  </m:t>
                      </m:r>
                      <m:r>
                        <a:rPr lang="en-US" i="1">
                          <a:latin typeface="Cambria Math" panose="02040503050406030204" pitchFamily="18" charset="0"/>
                        </a:rPr>
                        <m:t>1</m:t>
                      </m:r>
                      <m:r>
                        <a:rPr lang="sr-Latn-RS" i="1">
                          <a:latin typeface="Cambria Math" panose="02040503050406030204" pitchFamily="18" charset="0"/>
                        </a:rPr>
                        <m:t>⨁</m:t>
                      </m:r>
                      <m:d>
                        <m:dPr>
                          <m:begChr m:val=""/>
                          <m:ctrlPr>
                            <a:rPr lang="en-US" i="1">
                              <a:latin typeface="Cambria Math" panose="02040503050406030204" pitchFamily="18" charset="0"/>
                            </a:rPr>
                          </m:ctrlPr>
                        </m:dPr>
                        <m:e>
                          <m:r>
                            <a:rPr lang="en-US" i="1">
                              <a:latin typeface="Cambria Math" panose="02040503050406030204" pitchFamily="18" charset="0"/>
                            </a:rPr>
                            <m:t>𝑓</m:t>
                          </m:r>
                          <m:r>
                            <a:rPr lang="en-US" i="1">
                              <a:latin typeface="Cambria Math" panose="02040503050406030204" pitchFamily="18" charset="0"/>
                            </a:rPr>
                            <m:t>(1</m:t>
                          </m:r>
                        </m:e>
                      </m:d>
                      <m:r>
                        <a:rPr lang="sr-Latn-RS" i="1">
                          <a:latin typeface="Cambria Math" panose="02040503050406030204" pitchFamily="18" charset="0"/>
                        </a:rPr>
                        <m:t>=</m:t>
                      </m:r>
                      <m:r>
                        <a:rPr lang="sr-Latn-RS" i="1">
                          <a:latin typeface="Cambria Math" panose="02040503050406030204" pitchFamily="18" charset="0"/>
                        </a:rPr>
                        <m:t>𝑓</m:t>
                      </m:r>
                      <m:d>
                        <m:dPr>
                          <m:ctrlPr>
                            <a:rPr lang="sr-Latn-RS" i="1">
                              <a:latin typeface="Cambria Math" panose="02040503050406030204" pitchFamily="18" charset="0"/>
                            </a:rPr>
                          </m:ctrlPr>
                        </m:dPr>
                        <m:e>
                          <m:r>
                            <a:rPr lang="sr-Latn-RS" b="0" i="1" smtClean="0">
                              <a:latin typeface="Cambria Math" panose="02040503050406030204" pitchFamily="18" charset="0"/>
                            </a:rPr>
                            <m:t>0</m:t>
                          </m:r>
                        </m:e>
                      </m:d>
                    </m:oMath>
                  </m:oMathPara>
                </a14:m>
                <a:endParaRPr lang="en-US" i="1" dirty="0"/>
              </a:p>
            </p:txBody>
          </p:sp>
        </mc:Choice>
        <mc:Fallback xmlns="">
          <p:sp>
            <p:nvSpPr>
              <p:cNvPr id="4" name="TextBox 3">
                <a:extLst>
                  <a:ext uri="{FF2B5EF4-FFF2-40B4-BE49-F238E27FC236}">
                    <a16:creationId xmlns:a16="http://schemas.microsoft.com/office/drawing/2014/main" id="{1A081F8D-12E3-A74E-8A56-F0CFA2C95059}"/>
                  </a:ext>
                </a:extLst>
              </p:cNvPr>
              <p:cNvSpPr txBox="1">
                <a:spLocks noRot="1" noChangeAspect="1" noMove="1" noResize="1" noEditPoints="1" noAdjustHandles="1" noChangeArrowheads="1" noChangeShapeType="1" noTextEdit="1"/>
              </p:cNvSpPr>
              <p:nvPr/>
            </p:nvSpPr>
            <p:spPr>
              <a:xfrm>
                <a:off x="7710206" y="2420010"/>
                <a:ext cx="3820854" cy="369332"/>
              </a:xfrm>
              <a:prstGeom prst="rect">
                <a:avLst/>
              </a:prstGeom>
              <a:blipFill>
                <a:blip r:embed="rId8"/>
                <a:stretch>
                  <a:fillRect t="-116667" b="-180000"/>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D5EA0498-6844-5C4A-B2DE-5E3C84660860}"/>
              </a:ext>
            </a:extLst>
          </p:cNvPr>
          <p:cNvCxnSpPr>
            <a:cxnSpLocks/>
          </p:cNvCxnSpPr>
          <p:nvPr/>
        </p:nvCxnSpPr>
        <p:spPr>
          <a:xfrm>
            <a:off x="8420866" y="1808130"/>
            <a:ext cx="2399534"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E784ECBF-6369-A242-9B6E-B19994CD8D06}"/>
              </a:ext>
            </a:extLst>
          </p:cNvPr>
          <p:cNvGrpSpPr/>
          <p:nvPr/>
        </p:nvGrpSpPr>
        <p:grpSpPr>
          <a:xfrm>
            <a:off x="9867450" y="1455029"/>
            <a:ext cx="720000" cy="796546"/>
            <a:chOff x="3031963" y="4808040"/>
            <a:chExt cx="720000" cy="796546"/>
          </a:xfrm>
        </p:grpSpPr>
        <p:sp>
          <p:nvSpPr>
            <p:cNvPr id="14" name="Rectangle 13">
              <a:extLst>
                <a:ext uri="{FF2B5EF4-FFF2-40B4-BE49-F238E27FC236}">
                  <a16:creationId xmlns:a16="http://schemas.microsoft.com/office/drawing/2014/main" id="{6AB15848-7C59-6940-8E17-80526299AD62}"/>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5" name="Arc 14">
              <a:extLst>
                <a:ext uri="{FF2B5EF4-FFF2-40B4-BE49-F238E27FC236}">
                  <a16:creationId xmlns:a16="http://schemas.microsoft.com/office/drawing/2014/main" id="{DA0E1319-4ED2-3D4D-A90F-E421BD745F77}"/>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3B7DDE85-3842-0D44-8581-972244B93A16}"/>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7" name="Rectangle 16">
            <a:extLst>
              <a:ext uri="{FF2B5EF4-FFF2-40B4-BE49-F238E27FC236}">
                <a16:creationId xmlns:a16="http://schemas.microsoft.com/office/drawing/2014/main" id="{8B6C4E7A-92E8-9A43-BEC5-9FBA6EC2AECF}"/>
              </a:ext>
            </a:extLst>
          </p:cNvPr>
          <p:cNvSpPr/>
          <p:nvPr/>
        </p:nvSpPr>
        <p:spPr>
          <a:xfrm>
            <a:off x="8675940" y="145502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spTree>
    <p:extLst>
      <p:ext uri="{BB962C8B-B14F-4D97-AF65-F5344CB8AC3E}">
        <p14:creationId xmlns:p14="http://schemas.microsoft.com/office/powerpoint/2010/main" val="1191504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22538-E02A-EF4B-B627-922F9EDE161B}"/>
              </a:ext>
            </a:extLst>
          </p:cNvPr>
          <p:cNvSpPr>
            <a:spLocks noGrp="1"/>
          </p:cNvSpPr>
          <p:nvPr>
            <p:ph type="title"/>
          </p:nvPr>
        </p:nvSpPr>
        <p:spPr/>
        <p:txBody>
          <a:bodyPr/>
          <a:lstStyle/>
          <a:p>
            <a:r>
              <a:rPr lang="en-ZA" dirty="0"/>
              <a:t>Replacing the Binary Oracle with a Phase Oracle</a:t>
            </a:r>
            <a:endParaRPr lang="en-US" dirty="0"/>
          </a:p>
        </p:txBody>
      </p:sp>
      <p:sp>
        <p:nvSpPr>
          <p:cNvPr id="3" name="Slide Number Placeholder 2">
            <a:extLst>
              <a:ext uri="{FF2B5EF4-FFF2-40B4-BE49-F238E27FC236}">
                <a16:creationId xmlns:a16="http://schemas.microsoft.com/office/drawing/2014/main" id="{C2A14541-B466-1642-9B21-715BED4E8A4E}"/>
              </a:ext>
            </a:extLst>
          </p:cNvPr>
          <p:cNvSpPr>
            <a:spLocks noGrp="1"/>
          </p:cNvSpPr>
          <p:nvPr>
            <p:ph type="sldNum" sz="quarter" idx="12"/>
          </p:nvPr>
        </p:nvSpPr>
        <p:spPr/>
        <p:txBody>
          <a:bodyPr/>
          <a:lstStyle/>
          <a:p>
            <a:fld id="{591A223C-FA10-BC46-A853-03BA373D023C}" type="slidenum">
              <a:rPr lang="en-US" smtClean="0"/>
              <a:t>14</a:t>
            </a:fld>
            <a:endParaRPr lang="en-US"/>
          </a:p>
        </p:txBody>
      </p:sp>
      <p:cxnSp>
        <p:nvCxnSpPr>
          <p:cNvPr id="4" name="Straight Connector 3">
            <a:extLst>
              <a:ext uri="{FF2B5EF4-FFF2-40B4-BE49-F238E27FC236}">
                <a16:creationId xmlns:a16="http://schemas.microsoft.com/office/drawing/2014/main" id="{A914C55A-EDC7-704C-86C4-B08FCCA2BE9B}"/>
              </a:ext>
            </a:extLst>
          </p:cNvPr>
          <p:cNvCxnSpPr>
            <a:cxnSpLocks/>
          </p:cNvCxnSpPr>
          <p:nvPr/>
        </p:nvCxnSpPr>
        <p:spPr>
          <a:xfrm>
            <a:off x="885860" y="2816441"/>
            <a:ext cx="8749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26806A2-286D-EC44-B36A-6B939F93A729}"/>
              </a:ext>
            </a:extLst>
          </p:cNvPr>
          <p:cNvCxnSpPr>
            <a:cxnSpLocks/>
          </p:cNvCxnSpPr>
          <p:nvPr/>
        </p:nvCxnSpPr>
        <p:spPr>
          <a:xfrm>
            <a:off x="885860" y="3939053"/>
            <a:ext cx="66048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2A280706-076B-5A4D-877B-132F77D9FBDB}"/>
              </a:ext>
            </a:extLst>
          </p:cNvPr>
          <p:cNvGrpSpPr/>
          <p:nvPr/>
        </p:nvGrpSpPr>
        <p:grpSpPr>
          <a:xfrm>
            <a:off x="908085" y="990136"/>
            <a:ext cx="3971783" cy="1120451"/>
            <a:chOff x="1230660" y="1090687"/>
            <a:chExt cx="3971783" cy="1120451"/>
          </a:xfrm>
        </p:grpSpPr>
        <p:sp>
          <p:nvSpPr>
            <p:cNvPr id="7" name="Line Callout 1 6">
              <a:extLst>
                <a:ext uri="{FF2B5EF4-FFF2-40B4-BE49-F238E27FC236}">
                  <a16:creationId xmlns:a16="http://schemas.microsoft.com/office/drawing/2014/main" id="{CDD38681-6E24-A84C-834C-341BD7E606B9}"/>
                </a:ext>
              </a:extLst>
            </p:cNvPr>
            <p:cNvSpPr/>
            <p:nvPr/>
          </p:nvSpPr>
          <p:spPr>
            <a:xfrm>
              <a:off x="1230660" y="1090687"/>
              <a:ext cx="3971783" cy="1120451"/>
            </a:xfrm>
            <a:prstGeom prst="borderCallout1">
              <a:avLst>
                <a:gd name="adj1" fmla="val 98684"/>
                <a:gd name="adj2" fmla="val 58398"/>
                <a:gd name="adj3" fmla="val 303951"/>
                <a:gd name="adj4" fmla="val 58677"/>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E695B9D-5679-2F46-B02F-1CA1B6AFF7D5}"/>
                    </a:ext>
                  </a:extLst>
                </p:cNvPr>
                <p:cNvSpPr/>
                <p:nvPr/>
              </p:nvSpPr>
              <p:spPr>
                <a:xfrm>
                  <a:off x="1543625" y="1278760"/>
                  <a:ext cx="3345852"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m:t>
                            </m:r>
                          </m:e>
                        </m:d>
                        <m:r>
                          <a:rPr lang="sr-Latn-RS" sz="2400" b="0" i="0" smtClean="0">
                            <a:latin typeface="Cambria Math" panose="02040503050406030204" pitchFamily="18" charset="0"/>
                          </a:rPr>
                          <m:t>=</m:t>
                        </m:r>
                        <m:f>
                          <m:fPr>
                            <m:ctrlPr>
                              <a:rPr lang="sr-Latn-RS" sz="2400" b="0" i="1" smtClean="0">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1</m:t>
                                </m:r>
                              </m:e>
                            </m:d>
                          </m:num>
                          <m:den>
                            <m:rad>
                              <m:radPr>
                                <m:degHide m:val="on"/>
                                <m:ctrlPr>
                                  <a:rPr lang="sr-Latn-RS" sz="2400" b="0" i="1" smtClean="0">
                                    <a:latin typeface="Cambria Math" panose="02040503050406030204" pitchFamily="18" charset="0"/>
                                  </a:rPr>
                                </m:ctrlPr>
                              </m:radPr>
                              <m:deg/>
                              <m:e>
                                <m:r>
                                  <a:rPr lang="sr-Latn-RS" sz="2400" b="0" i="1" smtClean="0">
                                    <a:latin typeface="Cambria Math" panose="02040503050406030204" pitchFamily="18" charset="0"/>
                                  </a:rPr>
                                  <m:t>2</m:t>
                                </m:r>
                              </m:e>
                            </m:rad>
                          </m:den>
                        </m:f>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m:t>
                            </m:r>
                          </m:e>
                        </m:d>
                      </m:oMath>
                    </m:oMathPara>
                  </a14:m>
                  <a:endParaRPr lang="en-US" sz="2400" dirty="0"/>
                </a:p>
              </p:txBody>
            </p:sp>
          </mc:Choice>
          <mc:Fallback xmlns="">
            <p:sp>
              <p:nvSpPr>
                <p:cNvPr id="8" name="Rectangle 7">
                  <a:extLst>
                    <a:ext uri="{FF2B5EF4-FFF2-40B4-BE49-F238E27FC236}">
                      <a16:creationId xmlns:a16="http://schemas.microsoft.com/office/drawing/2014/main" id="{4E695B9D-5679-2F46-B02F-1CA1B6AFF7D5}"/>
                    </a:ext>
                  </a:extLst>
                </p:cNvPr>
                <p:cNvSpPr>
                  <a:spLocks noRot="1" noChangeAspect="1" noMove="1" noResize="1" noEditPoints="1" noAdjustHandles="1" noChangeArrowheads="1" noChangeShapeType="1" noTextEdit="1"/>
                </p:cNvSpPr>
                <p:nvPr/>
              </p:nvSpPr>
              <p:spPr>
                <a:xfrm>
                  <a:off x="1543625" y="1278760"/>
                  <a:ext cx="3345852" cy="876202"/>
                </a:xfrm>
                <a:prstGeom prst="rect">
                  <a:avLst/>
                </a:prstGeom>
                <a:blipFill>
                  <a:blip r:embed="rId3"/>
                  <a:stretch>
                    <a:fillRect l="-758" t="-68571" r="-9091" b="-77143"/>
                  </a:stretch>
                </a:blipFill>
              </p:spPr>
              <p:txBody>
                <a:bodyPr/>
                <a:lstStyle/>
                <a:p>
                  <a:r>
                    <a:rPr lang="en-US">
                      <a:noFill/>
                    </a:rPr>
                    <a:t> </a:t>
                  </a:r>
                </a:p>
              </p:txBody>
            </p:sp>
          </mc:Fallback>
        </mc:AlternateContent>
      </p:grpSp>
      <p:grpSp>
        <p:nvGrpSpPr>
          <p:cNvPr id="9" name="Group 8">
            <a:extLst>
              <a:ext uri="{FF2B5EF4-FFF2-40B4-BE49-F238E27FC236}">
                <a16:creationId xmlns:a16="http://schemas.microsoft.com/office/drawing/2014/main" id="{FF8512B6-EA46-FA46-BE86-975FE5587783}"/>
              </a:ext>
            </a:extLst>
          </p:cNvPr>
          <p:cNvGrpSpPr/>
          <p:nvPr/>
        </p:nvGrpSpPr>
        <p:grpSpPr>
          <a:xfrm>
            <a:off x="4435201" y="4709380"/>
            <a:ext cx="4202390" cy="1116041"/>
            <a:chOff x="5192646" y="911165"/>
            <a:chExt cx="4202390" cy="1116041"/>
          </a:xfrm>
        </p:grpSpPr>
        <p:sp>
          <p:nvSpPr>
            <p:cNvPr id="10" name="Line Callout 1 9">
              <a:extLst>
                <a:ext uri="{FF2B5EF4-FFF2-40B4-BE49-F238E27FC236}">
                  <a16:creationId xmlns:a16="http://schemas.microsoft.com/office/drawing/2014/main" id="{56A63EEE-38E3-E447-9731-CDAEC3DA553D}"/>
                </a:ext>
              </a:extLst>
            </p:cNvPr>
            <p:cNvSpPr/>
            <p:nvPr/>
          </p:nvSpPr>
          <p:spPr>
            <a:xfrm>
              <a:off x="5192646" y="911165"/>
              <a:ext cx="4202390" cy="1116041"/>
            </a:xfrm>
            <a:prstGeom prst="borderCallout1">
              <a:avLst>
                <a:gd name="adj1" fmla="val -1340"/>
                <a:gd name="adj2" fmla="val 58925"/>
                <a:gd name="adj3" fmla="val -203241"/>
                <a:gd name="adj4" fmla="val 58955"/>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050937B-CBCB-6C43-87EF-D965C2D2AC3B}"/>
                    </a:ext>
                  </a:extLst>
                </p:cNvPr>
                <p:cNvSpPr/>
                <p:nvPr/>
              </p:nvSpPr>
              <p:spPr>
                <a:xfrm>
                  <a:off x="5393384" y="1111010"/>
                  <a:ext cx="4000454" cy="716350"/>
                </a:xfrm>
                <a:prstGeom prst="rect">
                  <a:avLst/>
                </a:prstGeom>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𝑆</m:t>
                          </m:r>
                        </m:e>
                      </m:d>
                      <m:r>
                        <a:rPr lang="en-US" sz="2400" i="1">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(0)</m:t>
                              </m:r>
                            </m:sup>
                          </m:sSup>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i="1">
                              <a:latin typeface="Cambria Math" panose="02040503050406030204" pitchFamily="18" charset="0"/>
                            </a:rPr>
                            <m:t>+</m:t>
                          </m:r>
                          <m:d>
                            <m:dPr>
                              <m:begChr m:val=""/>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(1)</m:t>
                                  </m:r>
                                </m:sup>
                              </m:sSup>
                              <m:r>
                                <a:rPr lang="en-US" sz="2400">
                                  <a:latin typeface="Cambria Math" panose="02040503050406030204" pitchFamily="18" charset="0"/>
                                </a:rPr>
                                <m:t>|</m:t>
                              </m:r>
                              <m:r>
                                <a:rPr lang="sr-Latn-RS" sz="2400" i="1">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sr-Latn-RS" sz="2400" i="1">
                                  <a:latin typeface="Cambria Math" panose="02040503050406030204" pitchFamily="18" charset="0"/>
                                </a:rPr>
                                <m:t>2</m:t>
                              </m:r>
                            </m:e>
                          </m:rad>
                        </m:den>
                      </m:f>
                    </m:oMath>
                  </a14:m>
                  <a:r>
                    <a:rPr lang="en-US" sz="2400" dirty="0"/>
                    <a:t> </a:t>
                  </a:r>
                  <a14:m>
                    <m:oMath xmlns:m="http://schemas.openxmlformats.org/officeDocument/2006/math">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m:t>
                          </m:r>
                        </m:e>
                      </m:d>
                    </m:oMath>
                  </a14:m>
                  <a:endParaRPr lang="en-US" sz="2400" dirty="0"/>
                </a:p>
              </p:txBody>
            </p:sp>
          </mc:Choice>
          <mc:Fallback xmlns="">
            <p:sp>
              <p:nvSpPr>
                <p:cNvPr id="11" name="Rectangle 10">
                  <a:extLst>
                    <a:ext uri="{FF2B5EF4-FFF2-40B4-BE49-F238E27FC236}">
                      <a16:creationId xmlns:a16="http://schemas.microsoft.com/office/drawing/2014/main" id="{B050937B-CBCB-6C43-87EF-D965C2D2AC3B}"/>
                    </a:ext>
                  </a:extLst>
                </p:cNvPr>
                <p:cNvSpPr>
                  <a:spLocks noRot="1" noChangeAspect="1" noMove="1" noResize="1" noEditPoints="1" noAdjustHandles="1" noChangeArrowheads="1" noChangeShapeType="1" noTextEdit="1"/>
                </p:cNvSpPr>
                <p:nvPr/>
              </p:nvSpPr>
              <p:spPr>
                <a:xfrm>
                  <a:off x="5393384" y="1111010"/>
                  <a:ext cx="4000454" cy="716350"/>
                </a:xfrm>
                <a:prstGeom prst="rect">
                  <a:avLst/>
                </a:prstGeom>
                <a:blipFill>
                  <a:blip r:embed="rId4"/>
                  <a:stretch>
                    <a:fillRect l="-5063" t="-82456" r="-7911" b="-110526"/>
                  </a:stretch>
                </a:blipFill>
              </p:spPr>
              <p:txBody>
                <a:bodyPr/>
                <a:lstStyle/>
                <a:p>
                  <a:r>
                    <a:rPr lang="en-US">
                      <a:noFill/>
                    </a:rPr>
                    <a:t> </a:t>
                  </a:r>
                </a:p>
              </p:txBody>
            </p:sp>
          </mc:Fallback>
        </mc:AlternateContent>
      </p:grpSp>
      <p:sp>
        <p:nvSpPr>
          <p:cNvPr id="12" name="Rectangle 11">
            <a:extLst>
              <a:ext uri="{FF2B5EF4-FFF2-40B4-BE49-F238E27FC236}">
                <a16:creationId xmlns:a16="http://schemas.microsoft.com/office/drawing/2014/main" id="{C77EF52F-F328-C044-AFAF-B1C5C1625D4F}"/>
              </a:ext>
            </a:extLst>
          </p:cNvPr>
          <p:cNvSpPr/>
          <p:nvPr/>
        </p:nvSpPr>
        <p:spPr>
          <a:xfrm>
            <a:off x="2350511" y="3573301"/>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13" name="Group 12">
            <a:extLst>
              <a:ext uri="{FF2B5EF4-FFF2-40B4-BE49-F238E27FC236}">
                <a16:creationId xmlns:a16="http://schemas.microsoft.com/office/drawing/2014/main" id="{A802AD00-E7B1-8D47-8D07-4358F21414EB}"/>
              </a:ext>
            </a:extLst>
          </p:cNvPr>
          <p:cNvGrpSpPr/>
          <p:nvPr/>
        </p:nvGrpSpPr>
        <p:grpSpPr>
          <a:xfrm>
            <a:off x="8728800" y="2456441"/>
            <a:ext cx="720000" cy="796546"/>
            <a:chOff x="3031963" y="4808040"/>
            <a:chExt cx="720000" cy="796546"/>
          </a:xfrm>
        </p:grpSpPr>
        <p:sp>
          <p:nvSpPr>
            <p:cNvPr id="14" name="Rectangle 13">
              <a:extLst>
                <a:ext uri="{FF2B5EF4-FFF2-40B4-BE49-F238E27FC236}">
                  <a16:creationId xmlns:a16="http://schemas.microsoft.com/office/drawing/2014/main" id="{714DEFE9-014A-4445-8CA1-8873963936D0}"/>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5" name="Arc 14">
              <a:extLst>
                <a:ext uri="{FF2B5EF4-FFF2-40B4-BE49-F238E27FC236}">
                  <a16:creationId xmlns:a16="http://schemas.microsoft.com/office/drawing/2014/main" id="{E4A45154-E365-F248-B136-7A42C9E35ABE}"/>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6483357F-19B1-ED47-B0BF-3AB9CD54480E}"/>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7" name="Rounded Rectangle 16">
            <a:extLst>
              <a:ext uri="{FF2B5EF4-FFF2-40B4-BE49-F238E27FC236}">
                <a16:creationId xmlns:a16="http://schemas.microsoft.com/office/drawing/2014/main" id="{A50207D1-A310-8949-86F5-988E7FB08587}"/>
              </a:ext>
            </a:extLst>
          </p:cNvPr>
          <p:cNvSpPr/>
          <p:nvPr/>
        </p:nvSpPr>
        <p:spPr>
          <a:xfrm>
            <a:off x="3424896" y="2427467"/>
            <a:ext cx="3111500" cy="1819986"/>
          </a:xfrm>
          <a:prstGeom prst="roundRect">
            <a:avLst>
              <a:gd name="adj" fmla="val 4804"/>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01323A82-03E6-3147-BD4C-F19D84841BC2}"/>
                  </a:ext>
                </a:extLst>
              </p:cNvPr>
              <p:cNvSpPr/>
              <p:nvPr/>
            </p:nvSpPr>
            <p:spPr>
              <a:xfrm>
                <a:off x="3377534" y="3699155"/>
                <a:ext cx="15449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𝑦</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m:t>
                          </m:r>
                        </m:e>
                      </m:d>
                    </m:oMath>
                  </m:oMathPara>
                </a14:m>
                <a:endParaRPr lang="en-US" sz="2400" dirty="0"/>
              </a:p>
            </p:txBody>
          </p:sp>
        </mc:Choice>
        <mc:Fallback xmlns="">
          <p:sp>
            <p:nvSpPr>
              <p:cNvPr id="18" name="Rectangle 17">
                <a:extLst>
                  <a:ext uri="{FF2B5EF4-FFF2-40B4-BE49-F238E27FC236}">
                    <a16:creationId xmlns:a16="http://schemas.microsoft.com/office/drawing/2014/main" id="{01323A82-03E6-3147-BD4C-F19D84841BC2}"/>
                  </a:ext>
                </a:extLst>
              </p:cNvPr>
              <p:cNvSpPr>
                <a:spLocks noRot="1" noChangeAspect="1" noMove="1" noResize="1" noEditPoints="1" noAdjustHandles="1" noChangeArrowheads="1" noChangeShapeType="1" noTextEdit="1"/>
              </p:cNvSpPr>
              <p:nvPr/>
            </p:nvSpPr>
            <p:spPr>
              <a:xfrm>
                <a:off x="3377534" y="3699155"/>
                <a:ext cx="1544975" cy="461665"/>
              </a:xfrm>
              <a:prstGeom prst="rect">
                <a:avLst/>
              </a:prstGeom>
              <a:blipFill>
                <a:blip r:embed="rId5"/>
                <a:stretch>
                  <a:fillRect l="-9756" t="-121053" r="-19512" b="-186842"/>
                </a:stretch>
              </a:blipFill>
            </p:spPr>
            <p:txBody>
              <a:bodyPr/>
              <a:lstStyle/>
              <a:p>
                <a:r>
                  <a:rPr lang="en-US">
                    <a:noFill/>
                  </a:rPr>
                  <a:t> </a:t>
                </a:r>
              </a:p>
            </p:txBody>
          </p:sp>
        </mc:Fallback>
      </mc:AlternateContent>
      <p:sp>
        <p:nvSpPr>
          <p:cNvPr id="19" name="Oval 18">
            <a:extLst>
              <a:ext uri="{FF2B5EF4-FFF2-40B4-BE49-F238E27FC236}">
                <a16:creationId xmlns:a16="http://schemas.microsoft.com/office/drawing/2014/main" id="{E98DEF54-AFD5-2444-AD2D-82A216C46DEA}"/>
              </a:ext>
            </a:extLst>
          </p:cNvPr>
          <p:cNvSpPr/>
          <p:nvPr/>
        </p:nvSpPr>
        <p:spPr>
          <a:xfrm>
            <a:off x="1453319" y="355395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sp>
        <p:nvSpPr>
          <p:cNvPr id="20" name="TextBox 19">
            <a:extLst>
              <a:ext uri="{FF2B5EF4-FFF2-40B4-BE49-F238E27FC236}">
                <a16:creationId xmlns:a16="http://schemas.microsoft.com/office/drawing/2014/main" id="{22F56801-5020-3F46-936A-6E9D23AAB8CD}"/>
              </a:ext>
            </a:extLst>
          </p:cNvPr>
          <p:cNvSpPr txBox="1"/>
          <p:nvPr/>
        </p:nvSpPr>
        <p:spPr>
          <a:xfrm>
            <a:off x="4675778" y="2868266"/>
            <a:ext cx="591829" cy="769441"/>
          </a:xfrm>
          <a:prstGeom prst="rect">
            <a:avLst/>
          </a:prstGeom>
          <a:noFill/>
        </p:spPr>
        <p:txBody>
          <a:bodyPr wrap="none" rtlCol="0">
            <a:spAutoFit/>
          </a:bodyPr>
          <a:lstStyle/>
          <a:p>
            <a:r>
              <a:rPr lang="en-US" sz="4400" i="1" dirty="0">
                <a:latin typeface="Times New Roman" panose="02020603050405020304" pitchFamily="18" charset="0"/>
                <a:cs typeface="Times New Roman" panose="02020603050405020304" pitchFamily="18" charset="0"/>
              </a:rPr>
              <a:t>O</a:t>
            </a: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739BB73A-943F-734A-9753-821B87C985CF}"/>
                  </a:ext>
                </a:extLst>
              </p:cNvPr>
              <p:cNvSpPr/>
              <p:nvPr/>
            </p:nvSpPr>
            <p:spPr>
              <a:xfrm>
                <a:off x="318822" y="2577739"/>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21" name="Rectangle 20">
                <a:extLst>
                  <a:ext uri="{FF2B5EF4-FFF2-40B4-BE49-F238E27FC236}">
                    <a16:creationId xmlns:a16="http://schemas.microsoft.com/office/drawing/2014/main" id="{739BB73A-943F-734A-9753-821B87C985CF}"/>
                  </a:ext>
                </a:extLst>
              </p:cNvPr>
              <p:cNvSpPr>
                <a:spLocks noRot="1" noChangeAspect="1" noMove="1" noResize="1" noEditPoints="1" noAdjustHandles="1" noChangeArrowheads="1" noChangeShapeType="1" noTextEdit="1"/>
              </p:cNvSpPr>
              <p:nvPr/>
            </p:nvSpPr>
            <p:spPr>
              <a:xfrm>
                <a:off x="318822" y="2577739"/>
                <a:ext cx="631904" cy="461665"/>
              </a:xfrm>
              <a:prstGeom prst="rect">
                <a:avLst/>
              </a:prstGeom>
              <a:blipFill>
                <a:blip r:embed="rId6"/>
                <a:stretch>
                  <a:fillRect l="-23529" t="-124324" r="-49020" b="-194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0780DBA8-EC47-394B-95E1-3CFE05AC5328}"/>
                  </a:ext>
                </a:extLst>
              </p:cNvPr>
              <p:cNvSpPr/>
              <p:nvPr/>
            </p:nvSpPr>
            <p:spPr>
              <a:xfrm>
                <a:off x="318822" y="3702468"/>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22" name="Rectangle 21">
                <a:extLst>
                  <a:ext uri="{FF2B5EF4-FFF2-40B4-BE49-F238E27FC236}">
                    <a16:creationId xmlns:a16="http://schemas.microsoft.com/office/drawing/2014/main" id="{0780DBA8-EC47-394B-95E1-3CFE05AC5328}"/>
                  </a:ext>
                </a:extLst>
              </p:cNvPr>
              <p:cNvSpPr>
                <a:spLocks noRot="1" noChangeAspect="1" noMove="1" noResize="1" noEditPoints="1" noAdjustHandles="1" noChangeArrowheads="1" noChangeShapeType="1" noTextEdit="1"/>
              </p:cNvSpPr>
              <p:nvPr/>
            </p:nvSpPr>
            <p:spPr>
              <a:xfrm>
                <a:off x="318822" y="3702468"/>
                <a:ext cx="631904" cy="461665"/>
              </a:xfrm>
              <a:prstGeom prst="rect">
                <a:avLst/>
              </a:prstGeom>
              <a:blipFill>
                <a:blip r:embed="rId7"/>
                <a:stretch>
                  <a:fillRect l="-23529" t="-127027" r="-49020" b="-191892"/>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4700844A-C735-E94A-B1DA-41A800EFD2BB}"/>
              </a:ext>
            </a:extLst>
          </p:cNvPr>
          <p:cNvSpPr/>
          <p:nvPr/>
        </p:nvSpPr>
        <p:spPr>
          <a:xfrm>
            <a:off x="2359128" y="2455538"/>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52506E20-9C59-C94B-9784-03D2993192CD}"/>
                  </a:ext>
                </a:extLst>
              </p:cNvPr>
              <p:cNvSpPr/>
              <p:nvPr/>
            </p:nvSpPr>
            <p:spPr>
              <a:xfrm>
                <a:off x="3434112" y="2575061"/>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24" name="Rectangle 23">
                <a:extLst>
                  <a:ext uri="{FF2B5EF4-FFF2-40B4-BE49-F238E27FC236}">
                    <a16:creationId xmlns:a16="http://schemas.microsoft.com/office/drawing/2014/main" id="{52506E20-9C59-C94B-9784-03D2993192CD}"/>
                  </a:ext>
                </a:extLst>
              </p:cNvPr>
              <p:cNvSpPr>
                <a:spLocks noRot="1" noChangeAspect="1" noMove="1" noResize="1" noEditPoints="1" noAdjustHandles="1" noChangeArrowheads="1" noChangeShapeType="1" noTextEdit="1"/>
              </p:cNvSpPr>
              <p:nvPr/>
            </p:nvSpPr>
            <p:spPr>
              <a:xfrm>
                <a:off x="3434112" y="2575061"/>
                <a:ext cx="634789" cy="461665"/>
              </a:xfrm>
              <a:prstGeom prst="rect">
                <a:avLst/>
              </a:prstGeom>
              <a:blipFill>
                <a:blip r:embed="rId8"/>
                <a:stretch>
                  <a:fillRect l="-23529" t="-124324" r="-5098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45E2B9D1-3048-2249-B432-86CE251A25CF}"/>
                  </a:ext>
                </a:extLst>
              </p:cNvPr>
              <p:cNvSpPr/>
              <p:nvPr/>
            </p:nvSpPr>
            <p:spPr>
              <a:xfrm>
                <a:off x="4635939" y="2566920"/>
                <a:ext cx="1846596" cy="5057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p>
                            <m:sSupPr>
                              <m:ctrlPr>
                                <a:rPr lang="en-US"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m:t>
                              </m:r>
                              <m:r>
                                <a:rPr lang="sr-Latn-RS" sz="2400" i="1">
                                  <a:latin typeface="Cambria Math" panose="02040503050406030204" pitchFamily="18" charset="0"/>
                                </a:rPr>
                                <m:t>𝑥</m:t>
                              </m:r>
                              <m:r>
                                <a:rPr lang="sr-Latn-RS" sz="2400" i="1">
                                  <a:latin typeface="Cambria Math" panose="02040503050406030204" pitchFamily="18" charset="0"/>
                                </a:rPr>
                                <m:t>)</m:t>
                              </m:r>
                            </m:sup>
                          </m:sSup>
                          <m:r>
                            <m:rPr>
                              <m:nor/>
                            </m:rPr>
                            <a:rPr lang="en-US" sz="2400" dirty="0"/>
                            <m:t> </m:t>
                          </m:r>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26" name="Rectangle 25">
                <a:extLst>
                  <a:ext uri="{FF2B5EF4-FFF2-40B4-BE49-F238E27FC236}">
                    <a16:creationId xmlns:a16="http://schemas.microsoft.com/office/drawing/2014/main" id="{45E2B9D1-3048-2249-B432-86CE251A25CF}"/>
                  </a:ext>
                </a:extLst>
              </p:cNvPr>
              <p:cNvSpPr>
                <a:spLocks noRot="1" noChangeAspect="1" noMove="1" noResize="1" noEditPoints="1" noAdjustHandles="1" noChangeArrowheads="1" noChangeShapeType="1" noTextEdit="1"/>
              </p:cNvSpPr>
              <p:nvPr/>
            </p:nvSpPr>
            <p:spPr>
              <a:xfrm>
                <a:off x="4635939" y="2566920"/>
                <a:ext cx="1846596" cy="505779"/>
              </a:xfrm>
              <a:prstGeom prst="rect">
                <a:avLst/>
              </a:prstGeom>
              <a:blipFill>
                <a:blip r:embed="rId9"/>
                <a:stretch>
                  <a:fillRect t="-156098" r="-26712" b="-239024"/>
                </a:stretch>
              </a:blipFill>
            </p:spPr>
            <p:txBody>
              <a:bodyPr/>
              <a:lstStyle/>
              <a:p>
                <a:r>
                  <a:rPr lang="en-US">
                    <a:noFill/>
                  </a:rPr>
                  <a:t> </a:t>
                </a:r>
              </a:p>
            </p:txBody>
          </p:sp>
        </mc:Fallback>
      </mc:AlternateContent>
      <p:sp>
        <p:nvSpPr>
          <p:cNvPr id="27" name="Rectangle 26">
            <a:extLst>
              <a:ext uri="{FF2B5EF4-FFF2-40B4-BE49-F238E27FC236}">
                <a16:creationId xmlns:a16="http://schemas.microsoft.com/office/drawing/2014/main" id="{C6C27485-C764-2D48-A8D4-4514A5E8C8BE}"/>
              </a:ext>
            </a:extLst>
          </p:cNvPr>
          <p:cNvSpPr/>
          <p:nvPr/>
        </p:nvSpPr>
        <p:spPr>
          <a:xfrm>
            <a:off x="7193569" y="2457044"/>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9C750643-70BB-AA41-A5DE-A01CD2E8CA8E}"/>
                  </a:ext>
                </a:extLst>
              </p:cNvPr>
              <p:cNvSpPr/>
              <p:nvPr/>
            </p:nvSpPr>
            <p:spPr>
              <a:xfrm>
                <a:off x="7408157" y="3683125"/>
                <a:ext cx="75963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m:t>
                          </m:r>
                        </m:e>
                      </m:d>
                    </m:oMath>
                  </m:oMathPara>
                </a14:m>
                <a:endParaRPr lang="en-US" sz="2400" dirty="0"/>
              </a:p>
            </p:txBody>
          </p:sp>
        </mc:Choice>
        <mc:Fallback xmlns="">
          <p:sp>
            <p:nvSpPr>
              <p:cNvPr id="28" name="Rectangle 27">
                <a:extLst>
                  <a:ext uri="{FF2B5EF4-FFF2-40B4-BE49-F238E27FC236}">
                    <a16:creationId xmlns:a16="http://schemas.microsoft.com/office/drawing/2014/main" id="{9C750643-70BB-AA41-A5DE-A01CD2E8CA8E}"/>
                  </a:ext>
                </a:extLst>
              </p:cNvPr>
              <p:cNvSpPr>
                <a:spLocks noRot="1" noChangeAspect="1" noMove="1" noResize="1" noEditPoints="1" noAdjustHandles="1" noChangeArrowheads="1" noChangeShapeType="1" noTextEdit="1"/>
              </p:cNvSpPr>
              <p:nvPr/>
            </p:nvSpPr>
            <p:spPr>
              <a:xfrm>
                <a:off x="7408157" y="3683125"/>
                <a:ext cx="759631" cy="461665"/>
              </a:xfrm>
              <a:prstGeom prst="rect">
                <a:avLst/>
              </a:prstGeom>
              <a:blipFill>
                <a:blip r:embed="rId10"/>
                <a:stretch>
                  <a:fillRect l="-4918" t="-124324" r="-40984" b="-191892"/>
                </a:stretch>
              </a:blipFill>
            </p:spPr>
            <p:txBody>
              <a:bodyPr/>
              <a:lstStyle/>
              <a:p>
                <a:r>
                  <a:rPr lang="en-US">
                    <a:noFill/>
                  </a:rPr>
                  <a:t> </a:t>
                </a:r>
              </a:p>
            </p:txBody>
          </p:sp>
        </mc:Fallback>
      </mc:AlternateContent>
    </p:spTree>
    <p:extLst>
      <p:ext uri="{BB962C8B-B14F-4D97-AF65-F5344CB8AC3E}">
        <p14:creationId xmlns:p14="http://schemas.microsoft.com/office/powerpoint/2010/main" val="1668622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912A2-DD3C-9349-B4E2-F0647EA782FB}"/>
              </a:ext>
            </a:extLst>
          </p:cNvPr>
          <p:cNvSpPr>
            <a:spLocks noGrp="1"/>
          </p:cNvSpPr>
          <p:nvPr>
            <p:ph type="title"/>
          </p:nvPr>
        </p:nvSpPr>
        <p:spPr/>
        <p:txBody>
          <a:bodyPr/>
          <a:lstStyle/>
          <a:p>
            <a:r>
              <a:rPr lang="en-ZA" dirty="0" err="1"/>
              <a:t>Analyzing</a:t>
            </a:r>
            <a:r>
              <a:rPr lang="en-ZA" dirty="0"/>
              <a:t> the Phase Oracle Output</a:t>
            </a:r>
            <a:endParaRPr lang="en-US" dirty="0"/>
          </a:p>
        </p:txBody>
      </p:sp>
      <p:sp>
        <p:nvSpPr>
          <p:cNvPr id="3" name="Slide Number Placeholder 2">
            <a:extLst>
              <a:ext uri="{FF2B5EF4-FFF2-40B4-BE49-F238E27FC236}">
                <a16:creationId xmlns:a16="http://schemas.microsoft.com/office/drawing/2014/main" id="{944C2B6A-2834-8145-A809-67AC5FDCB786}"/>
              </a:ext>
            </a:extLst>
          </p:cNvPr>
          <p:cNvSpPr>
            <a:spLocks noGrp="1"/>
          </p:cNvSpPr>
          <p:nvPr>
            <p:ph type="sldNum" sz="quarter" idx="12"/>
          </p:nvPr>
        </p:nvSpPr>
        <p:spPr/>
        <p:txBody>
          <a:bodyPr/>
          <a:lstStyle/>
          <a:p>
            <a:fld id="{591A223C-FA10-BC46-A853-03BA373D023C}" type="slidenum">
              <a:rPr lang="en-US" smtClean="0"/>
              <a:t>15</a:t>
            </a:fld>
            <a:endParaRPr lang="en-US"/>
          </a:p>
        </p:txBody>
      </p:sp>
      <p:cxnSp>
        <p:nvCxnSpPr>
          <p:cNvPr id="4" name="Straight Connector 3">
            <a:extLst>
              <a:ext uri="{FF2B5EF4-FFF2-40B4-BE49-F238E27FC236}">
                <a16:creationId xmlns:a16="http://schemas.microsoft.com/office/drawing/2014/main" id="{8863D8BC-ED8F-954C-AD84-E49F61916CBE}"/>
              </a:ext>
            </a:extLst>
          </p:cNvPr>
          <p:cNvCxnSpPr>
            <a:cxnSpLocks/>
          </p:cNvCxnSpPr>
          <p:nvPr/>
        </p:nvCxnSpPr>
        <p:spPr>
          <a:xfrm>
            <a:off x="8420866" y="1808130"/>
            <a:ext cx="2399534" cy="0"/>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19AB280E-5894-CA4E-8B48-72708EEBB151}"/>
              </a:ext>
            </a:extLst>
          </p:cNvPr>
          <p:cNvGrpSpPr/>
          <p:nvPr/>
        </p:nvGrpSpPr>
        <p:grpSpPr>
          <a:xfrm>
            <a:off x="9867450" y="1455029"/>
            <a:ext cx="720000" cy="796546"/>
            <a:chOff x="3031963" y="4808040"/>
            <a:chExt cx="720000" cy="796546"/>
          </a:xfrm>
        </p:grpSpPr>
        <p:sp>
          <p:nvSpPr>
            <p:cNvPr id="6" name="Rectangle 5">
              <a:extLst>
                <a:ext uri="{FF2B5EF4-FFF2-40B4-BE49-F238E27FC236}">
                  <a16:creationId xmlns:a16="http://schemas.microsoft.com/office/drawing/2014/main" id="{D98D3430-935B-CB40-B4AC-6B1756EFFE2C}"/>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7" name="Arc 6">
              <a:extLst>
                <a:ext uri="{FF2B5EF4-FFF2-40B4-BE49-F238E27FC236}">
                  <a16:creationId xmlns:a16="http://schemas.microsoft.com/office/drawing/2014/main" id="{9FE34460-EBD2-CE4B-9FF5-35C60C184D21}"/>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3537ECF5-F103-D64B-A46C-AC016C219D81}"/>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9" name="Rectangle 8">
            <a:extLst>
              <a:ext uri="{FF2B5EF4-FFF2-40B4-BE49-F238E27FC236}">
                <a16:creationId xmlns:a16="http://schemas.microsoft.com/office/drawing/2014/main" id="{B9D43A3A-3B1E-754B-B1AB-DC36A33BEBA4}"/>
              </a:ext>
            </a:extLst>
          </p:cNvPr>
          <p:cNvSpPr/>
          <p:nvPr/>
        </p:nvSpPr>
        <p:spPr>
          <a:xfrm>
            <a:off x="8675940" y="145502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3E0258F-7E7C-2041-B9AD-00A6D574566E}"/>
                  </a:ext>
                </a:extLst>
              </p:cNvPr>
              <p:cNvSpPr/>
              <p:nvPr/>
            </p:nvSpPr>
            <p:spPr>
              <a:xfrm>
                <a:off x="888020" y="1331451"/>
                <a:ext cx="4978991" cy="9201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𝑆</m:t>
                          </m:r>
                        </m:e>
                      </m:d>
                      <m:r>
                        <a:rPr lang="en-US" sz="2400" i="1">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(0)</m:t>
                              </m:r>
                            </m:sup>
                          </m:sSup>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i="1">
                              <a:latin typeface="Cambria Math" panose="02040503050406030204" pitchFamily="18" charset="0"/>
                            </a:rPr>
                            <m:t>+</m:t>
                          </m:r>
                          <m:d>
                            <m:dPr>
                              <m:begChr m:val=""/>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(1)</m:t>
                                  </m:r>
                                </m:sup>
                              </m:sSup>
                              <m:r>
                                <a:rPr lang="en-US" sz="2400">
                                  <a:latin typeface="Cambria Math" panose="02040503050406030204" pitchFamily="18" charset="0"/>
                                </a:rPr>
                                <m:t>|</m:t>
                              </m:r>
                              <m:r>
                                <a:rPr lang="sr-Latn-RS" sz="2400" i="1">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sr-Latn-RS" sz="2400" i="1">
                                  <a:latin typeface="Cambria Math" panose="02040503050406030204" pitchFamily="18" charset="0"/>
                                </a:rPr>
                                <m:t>2</m:t>
                              </m:r>
                            </m:e>
                          </m:rad>
                        </m:den>
                      </m:f>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m:t>
                          </m:r>
                        </m:e>
                      </m:d>
                    </m:oMath>
                  </m:oMathPara>
                </a14:m>
                <a:endParaRPr lang="en-US" sz="2400" dirty="0"/>
              </a:p>
            </p:txBody>
          </p:sp>
        </mc:Choice>
        <mc:Fallback xmlns="">
          <p:sp>
            <p:nvSpPr>
              <p:cNvPr id="10" name="Rectangle 9">
                <a:extLst>
                  <a:ext uri="{FF2B5EF4-FFF2-40B4-BE49-F238E27FC236}">
                    <a16:creationId xmlns:a16="http://schemas.microsoft.com/office/drawing/2014/main" id="{53E0258F-7E7C-2041-B9AD-00A6D574566E}"/>
                  </a:ext>
                </a:extLst>
              </p:cNvPr>
              <p:cNvSpPr>
                <a:spLocks noRot="1" noChangeAspect="1" noMove="1" noResize="1" noEditPoints="1" noAdjustHandles="1" noChangeArrowheads="1" noChangeShapeType="1" noTextEdit="1"/>
              </p:cNvSpPr>
              <p:nvPr/>
            </p:nvSpPr>
            <p:spPr>
              <a:xfrm>
                <a:off x="888020" y="1331451"/>
                <a:ext cx="4978991" cy="920124"/>
              </a:xfrm>
              <a:prstGeom prst="rect">
                <a:avLst/>
              </a:prstGeom>
              <a:blipFill>
                <a:blip r:embed="rId3"/>
                <a:stretch>
                  <a:fillRect l="-2799" t="-89041" r="-5852" b="-90411"/>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FFF26AFA-79EB-C144-8D12-F8CA170C9C6F}"/>
              </a:ext>
            </a:extLst>
          </p:cNvPr>
          <p:cNvGrpSpPr/>
          <p:nvPr/>
        </p:nvGrpSpPr>
        <p:grpSpPr>
          <a:xfrm>
            <a:off x="470784" y="2676972"/>
            <a:ext cx="11193280" cy="2263126"/>
            <a:chOff x="470784" y="2676972"/>
            <a:chExt cx="11193280" cy="2263126"/>
          </a:xfrm>
        </p:grpSpPr>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113F31F-BFD5-D843-A3F4-215DC8132558}"/>
                    </a:ext>
                  </a:extLst>
                </p:cNvPr>
                <p:cNvSpPr/>
                <p:nvPr/>
              </p:nvSpPr>
              <p:spPr>
                <a:xfrm>
                  <a:off x="527936" y="2676972"/>
                  <a:ext cx="4882747" cy="461665"/>
                </a:xfrm>
                <a:prstGeom prst="rect">
                  <a:avLst/>
                </a:prstGeom>
                <a:solidFill>
                  <a:schemeClr val="accent4">
                    <a:lumMod val="20000"/>
                    <a:lumOff val="80000"/>
                  </a:schemeClr>
                </a:solidFill>
              </p:spPr>
              <p:txBody>
                <a:bodyPr wrap="none">
                  <a:spAutoFit/>
                </a:bodyPr>
                <a:lstStyle/>
                <a:p>
                  <a:r>
                    <a:rPr lang="sr-Latn-RS" sz="2400" dirty="0" err="1"/>
                    <a:t>For</a:t>
                  </a:r>
                  <a:r>
                    <a:rPr lang="sr-Latn-RS" sz="2400" dirty="0"/>
                    <a:t> a </a:t>
                  </a:r>
                  <a:r>
                    <a:rPr lang="sr-Latn-RS" sz="2400" dirty="0" err="1"/>
                    <a:t>constant</a:t>
                  </a:r>
                  <a:r>
                    <a:rPr lang="sr-Latn-RS" sz="2400" dirty="0"/>
                    <a:t> </a:t>
                  </a:r>
                  <a:r>
                    <a:rPr lang="sr-Latn-RS" sz="2400" dirty="0" err="1"/>
                    <a:t>function</a:t>
                  </a:r>
                  <a:r>
                    <a:rPr lang="sr-Latn-RS" sz="2400" dirty="0"/>
                    <a:t>: </a:t>
                  </a:r>
                  <a14:m>
                    <m:oMath xmlns:m="http://schemas.openxmlformats.org/officeDocument/2006/math">
                      <m:r>
                        <a:rPr lang="sr-Latn-RS" sz="2400">
                          <a:latin typeface="Cambria Math" panose="02040503050406030204" pitchFamily="18" charset="0"/>
                        </a:rPr>
                        <m:t>𝒇</m:t>
                      </m:r>
                      <m:d>
                        <m:dPr>
                          <m:ctrlPr>
                            <a:rPr lang="sr-Latn-RS" sz="2400" i="1">
                              <a:latin typeface="Cambria Math" panose="02040503050406030204" pitchFamily="18" charset="0"/>
                            </a:rPr>
                          </m:ctrlPr>
                        </m:dPr>
                        <m:e>
                          <m:r>
                            <a:rPr lang="sr-Latn-RS" sz="2400">
                              <a:latin typeface="Cambria Math" panose="02040503050406030204" pitchFamily="18" charset="0"/>
                            </a:rPr>
                            <m:t>0</m:t>
                          </m:r>
                        </m:e>
                      </m:d>
                      <m:r>
                        <a:rPr lang="sr-Latn-RS" sz="2400" b="0" i="1" smtClean="0">
                          <a:latin typeface="Cambria Math" panose="02040503050406030204" pitchFamily="18" charset="0"/>
                        </a:rPr>
                        <m:t>=</m:t>
                      </m:r>
                      <m:r>
                        <a:rPr lang="sr-Latn-RS" sz="2400">
                          <a:latin typeface="Cambria Math" panose="02040503050406030204" pitchFamily="18" charset="0"/>
                        </a:rPr>
                        <m:t>𝒇</m:t>
                      </m:r>
                      <m:d>
                        <m:dPr>
                          <m:ctrlPr>
                            <a:rPr lang="sr-Latn-RS" sz="2400" i="1">
                              <a:latin typeface="Cambria Math" panose="02040503050406030204" pitchFamily="18" charset="0"/>
                            </a:rPr>
                          </m:ctrlPr>
                        </m:dPr>
                        <m:e>
                          <m:r>
                            <a:rPr lang="sr-Latn-RS" sz="2400">
                              <a:latin typeface="Cambria Math" panose="02040503050406030204" pitchFamily="18" charset="0"/>
                            </a:rPr>
                            <m:t>1</m:t>
                          </m:r>
                        </m:e>
                      </m:d>
                    </m:oMath>
                  </a14:m>
                  <a:r>
                    <a:rPr lang="en-ZA" sz="2400" dirty="0">
                      <a:latin typeface="Cambria" panose="02040503050406030204" pitchFamily="18" charset="0"/>
                      <a:ea typeface="Times New Roman" panose="02020603050405020304" pitchFamily="18" charset="0"/>
                      <a:cs typeface="Times New Roman" panose="02020603050405020304" pitchFamily="18" charset="0"/>
                    </a:rPr>
                    <a:t> </a:t>
                  </a:r>
                  <a:endParaRPr lang="en-US" sz="2400" dirty="0"/>
                </a:p>
              </p:txBody>
            </p:sp>
          </mc:Choice>
          <mc:Fallback xmlns="">
            <p:sp>
              <p:nvSpPr>
                <p:cNvPr id="11" name="Rectangle 10">
                  <a:extLst>
                    <a:ext uri="{FF2B5EF4-FFF2-40B4-BE49-F238E27FC236}">
                      <a16:creationId xmlns:a16="http://schemas.microsoft.com/office/drawing/2014/main" id="{9113F31F-BFD5-D843-A3F4-215DC8132558}"/>
                    </a:ext>
                  </a:extLst>
                </p:cNvPr>
                <p:cNvSpPr>
                  <a:spLocks noRot="1" noChangeAspect="1" noMove="1" noResize="1" noEditPoints="1" noAdjustHandles="1" noChangeArrowheads="1" noChangeShapeType="1" noTextEdit="1"/>
                </p:cNvSpPr>
                <p:nvPr/>
              </p:nvSpPr>
              <p:spPr>
                <a:xfrm>
                  <a:off x="527936" y="2676972"/>
                  <a:ext cx="4882747" cy="461665"/>
                </a:xfrm>
                <a:prstGeom prst="rect">
                  <a:avLst/>
                </a:prstGeom>
                <a:blipFill>
                  <a:blip r:embed="rId4"/>
                  <a:stretch>
                    <a:fillRect l="-1818" t="-8108" b="-29730"/>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DE666929-CBC8-4746-8ABC-7A8ECE784989}"/>
                </a:ext>
              </a:extLst>
            </p:cNvPr>
            <p:cNvCxnSpPr>
              <a:cxnSpLocks/>
            </p:cNvCxnSpPr>
            <p:nvPr/>
          </p:nvCxnSpPr>
          <p:spPr>
            <a:xfrm>
              <a:off x="527936" y="3138637"/>
              <a:ext cx="11136128"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C33FD294-ACE9-F546-97AB-1EA4CFDE52F2}"/>
                    </a:ext>
                  </a:extLst>
                </p:cNvPr>
                <p:cNvSpPr/>
                <p:nvPr/>
              </p:nvSpPr>
              <p:spPr>
                <a:xfrm>
                  <a:off x="470784" y="3411312"/>
                  <a:ext cx="3845348"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smtClean="0">
                                <a:latin typeface="Cambria Math" panose="02040503050406030204" pitchFamily="18" charset="0"/>
                              </a:rPr>
                              <m:t>|</m:t>
                            </m:r>
                            <m:r>
                              <a:rPr lang="sr-Latn-RS" sz="2400" b="0" i="1" smtClean="0">
                                <a:latin typeface="Cambria Math" panose="02040503050406030204" pitchFamily="18" charset="0"/>
                              </a:rPr>
                              <m:t>𝑆</m:t>
                            </m:r>
                          </m:e>
                        </m:d>
                        <m:r>
                          <a:rPr lang="en-US" sz="2400" i="1">
                            <a:latin typeface="Cambria Math" panose="02040503050406030204" pitchFamily="18" charset="0"/>
                          </a:rPr>
                          <m:t>=</m:t>
                        </m:r>
                        <m:sSup>
                          <m:sSupPr>
                            <m:ctrlPr>
                              <a:rPr lang="en-US"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(0)</m:t>
                            </m:r>
                          </m:sup>
                        </m:sSup>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sr-Latn-RS" sz="2400" i="1">
                                    <a:latin typeface="Cambria Math" panose="02040503050406030204" pitchFamily="18" charset="0"/>
                                  </a:rPr>
                                  <m:t>2</m:t>
                                </m:r>
                              </m:e>
                            </m:rad>
                          </m:den>
                        </m:f>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m:t>
                            </m:r>
                          </m:e>
                        </m:d>
                      </m:oMath>
                    </m:oMathPara>
                  </a14:m>
                  <a:endParaRPr lang="en-US" sz="2400" dirty="0"/>
                </a:p>
              </p:txBody>
            </p:sp>
          </mc:Choice>
          <mc:Fallback xmlns="">
            <p:sp>
              <p:nvSpPr>
                <p:cNvPr id="15" name="Rectangle 14">
                  <a:extLst>
                    <a:ext uri="{FF2B5EF4-FFF2-40B4-BE49-F238E27FC236}">
                      <a16:creationId xmlns:a16="http://schemas.microsoft.com/office/drawing/2014/main" id="{C33FD294-ACE9-F546-97AB-1EA4CFDE52F2}"/>
                    </a:ext>
                  </a:extLst>
                </p:cNvPr>
                <p:cNvSpPr>
                  <a:spLocks noRot="1" noChangeAspect="1" noMove="1" noResize="1" noEditPoints="1" noAdjustHandles="1" noChangeArrowheads="1" noChangeShapeType="1" noTextEdit="1"/>
                </p:cNvSpPr>
                <p:nvPr/>
              </p:nvSpPr>
              <p:spPr>
                <a:xfrm>
                  <a:off x="470784" y="3411312"/>
                  <a:ext cx="3845348" cy="876202"/>
                </a:xfrm>
                <a:prstGeom prst="rect">
                  <a:avLst/>
                </a:prstGeom>
                <a:blipFill>
                  <a:blip r:embed="rId5"/>
                  <a:stretch>
                    <a:fillRect l="-3947" t="-70000" r="-7895" b="-7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3D94EEA5-5F6B-E445-B21D-CB762DA8CA0E}"/>
                    </a:ext>
                  </a:extLst>
                </p:cNvPr>
                <p:cNvSpPr/>
                <p:nvPr/>
              </p:nvSpPr>
              <p:spPr>
                <a:xfrm>
                  <a:off x="527936" y="4463108"/>
                  <a:ext cx="3293337" cy="476990"/>
                </a:xfrm>
                <a:prstGeom prst="rect">
                  <a:avLst/>
                </a:prstGeom>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𝑆</m:t>
                          </m:r>
                        </m:e>
                      </m:d>
                      <m:r>
                        <a:rPr lang="en-US" sz="2400" i="1">
                          <a:latin typeface="Cambria Math" panose="02040503050406030204" pitchFamily="18" charset="0"/>
                        </a:rPr>
                        <m:t>=</m:t>
                      </m:r>
                      <m:sSup>
                        <m:sSupPr>
                          <m:ctrlPr>
                            <a:rPr lang="en-US"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(0)</m:t>
                          </m:r>
                        </m:sup>
                      </m:sSup>
                    </m:oMath>
                  </a14:m>
                  <a:r>
                    <a:rPr lang="en-US" sz="2400" dirty="0"/>
                    <a:t> </a:t>
                  </a:r>
                  <a14:m>
                    <m:oMath xmlns:m="http://schemas.openxmlformats.org/officeDocument/2006/math">
                      <m:d>
                        <m:dPr>
                          <m:begChr m:val=""/>
                          <m:endChr m:val="⟩"/>
                          <m:ctrlPr>
                            <a:rPr lang="en-US" sz="2400" i="1" smtClean="0">
                              <a:solidFill>
                                <a:srgbClr val="FF0000"/>
                              </a:solidFill>
                              <a:latin typeface="Cambria Math" panose="02040503050406030204" pitchFamily="18" charset="0"/>
                            </a:rPr>
                          </m:ctrlPr>
                        </m:dPr>
                        <m:e>
                          <m:r>
                            <a:rPr lang="en-US" sz="240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m:t>
                          </m:r>
                        </m:e>
                      </m:d>
                    </m:oMath>
                  </a14:m>
                  <a:endParaRPr lang="en-US" sz="2400" dirty="0"/>
                </a:p>
              </p:txBody>
            </p:sp>
          </mc:Choice>
          <mc:Fallback xmlns="">
            <p:sp>
              <p:nvSpPr>
                <p:cNvPr id="16" name="Rectangle 15">
                  <a:extLst>
                    <a:ext uri="{FF2B5EF4-FFF2-40B4-BE49-F238E27FC236}">
                      <a16:creationId xmlns:a16="http://schemas.microsoft.com/office/drawing/2014/main" id="{3D94EEA5-5F6B-E445-B21D-CB762DA8CA0E}"/>
                    </a:ext>
                  </a:extLst>
                </p:cNvPr>
                <p:cNvSpPr>
                  <a:spLocks noRot="1" noChangeAspect="1" noMove="1" noResize="1" noEditPoints="1" noAdjustHandles="1" noChangeArrowheads="1" noChangeShapeType="1" noTextEdit="1"/>
                </p:cNvSpPr>
                <p:nvPr/>
              </p:nvSpPr>
              <p:spPr>
                <a:xfrm>
                  <a:off x="527936" y="4463108"/>
                  <a:ext cx="3293337" cy="476990"/>
                </a:xfrm>
                <a:prstGeom prst="rect">
                  <a:avLst/>
                </a:prstGeom>
                <a:blipFill>
                  <a:blip r:embed="rId6"/>
                  <a:stretch>
                    <a:fillRect l="-6154" t="-115385" r="-6154" b="-182051"/>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6AC9DA86-6A6D-AC40-B8EF-1762F8713439}"/>
              </a:ext>
            </a:extLst>
          </p:cNvPr>
          <p:cNvGrpSpPr/>
          <p:nvPr/>
        </p:nvGrpSpPr>
        <p:grpSpPr>
          <a:xfrm>
            <a:off x="5790544" y="2676971"/>
            <a:ext cx="6201698" cy="3294797"/>
            <a:chOff x="5790544" y="2676971"/>
            <a:chExt cx="6201698" cy="3294797"/>
          </a:xfrm>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DF9BA70-B077-A742-A4E4-0E3C516AFA0F}"/>
                    </a:ext>
                  </a:extLst>
                </p:cNvPr>
                <p:cNvSpPr/>
                <p:nvPr/>
              </p:nvSpPr>
              <p:spPr>
                <a:xfrm>
                  <a:off x="5790544" y="2676971"/>
                  <a:ext cx="6201698" cy="461665"/>
                </a:xfrm>
                <a:prstGeom prst="rect">
                  <a:avLst/>
                </a:prstGeom>
                <a:solidFill>
                  <a:schemeClr val="accent4">
                    <a:lumMod val="20000"/>
                    <a:lumOff val="80000"/>
                  </a:schemeClr>
                </a:solidFill>
              </p:spPr>
              <p:txBody>
                <a:bodyPr wrap="none">
                  <a:spAutoFit/>
                </a:bodyPr>
                <a:lstStyle/>
                <a:p>
                  <a:r>
                    <a:rPr lang="sr-Latn-RS" sz="2400" dirty="0"/>
                    <a:t>For a </a:t>
                  </a:r>
                  <a:r>
                    <a:rPr lang="en-ZA" sz="2400" dirty="0"/>
                    <a:t>balanced function let:</a:t>
                  </a:r>
                  <a:r>
                    <a:rPr lang="sr-Latn-RS" sz="2400" dirty="0"/>
                    <a:t> </a:t>
                  </a:r>
                  <a14:m>
                    <m:oMath xmlns:m="http://schemas.openxmlformats.org/officeDocument/2006/math">
                      <m:r>
                        <a:rPr lang="sr-Latn-RS" sz="2400" b="0" i="1">
                          <a:latin typeface="Cambria Math" panose="02040503050406030204" pitchFamily="18" charset="0"/>
                        </a:rPr>
                        <m:t>𝑓</m:t>
                      </m:r>
                      <m:d>
                        <m:dPr>
                          <m:ctrlPr>
                            <a:rPr lang="sr-Latn-RS" sz="2400" i="1">
                              <a:latin typeface="Cambria Math" panose="02040503050406030204" pitchFamily="18" charset="0"/>
                            </a:rPr>
                          </m:ctrlPr>
                        </m:dPr>
                        <m:e>
                          <m:r>
                            <a:rPr lang="sr-Latn-RS" sz="2400" b="0" i="1">
                              <a:latin typeface="Cambria Math" panose="02040503050406030204" pitchFamily="18" charset="0"/>
                            </a:rPr>
                            <m:t>0</m:t>
                          </m:r>
                        </m:e>
                      </m:d>
                      <m:r>
                        <a:rPr lang="en-US" sz="2400" b="0" i="1" smtClean="0">
                          <a:latin typeface="Cambria Math" panose="02040503050406030204" pitchFamily="18" charset="0"/>
                        </a:rPr>
                        <m:t>=0, </m:t>
                      </m:r>
                      <m:r>
                        <a:rPr lang="sr-Latn-RS" sz="2400" b="0" i="1">
                          <a:latin typeface="Cambria Math" panose="02040503050406030204" pitchFamily="18" charset="0"/>
                        </a:rPr>
                        <m:t>𝑓</m:t>
                      </m:r>
                      <m:d>
                        <m:dPr>
                          <m:ctrlPr>
                            <a:rPr lang="sr-Latn-RS" sz="2400" i="1">
                              <a:latin typeface="Cambria Math" panose="02040503050406030204" pitchFamily="18" charset="0"/>
                            </a:rPr>
                          </m:ctrlPr>
                        </m:dPr>
                        <m:e>
                          <m:r>
                            <a:rPr lang="sr-Latn-RS" sz="2400" b="0" i="1">
                              <a:latin typeface="Cambria Math" panose="02040503050406030204" pitchFamily="18" charset="0"/>
                            </a:rPr>
                            <m:t>1</m:t>
                          </m:r>
                        </m:e>
                      </m:d>
                      <m:r>
                        <a:rPr lang="en-US" sz="2400" b="0" i="1" smtClean="0">
                          <a:latin typeface="Cambria Math" panose="02040503050406030204" pitchFamily="18" charset="0"/>
                        </a:rPr>
                        <m:t>=1</m:t>
                      </m:r>
                    </m:oMath>
                  </a14:m>
                  <a:r>
                    <a:rPr lang="en-ZA" sz="2400" dirty="0">
                      <a:latin typeface="Cambria" panose="02040503050406030204" pitchFamily="18" charset="0"/>
                      <a:ea typeface="Times New Roman" panose="02020603050405020304" pitchFamily="18" charset="0"/>
                      <a:cs typeface="Times New Roman" panose="02020603050405020304" pitchFamily="18" charset="0"/>
                    </a:rPr>
                    <a:t> </a:t>
                  </a:r>
                  <a:endParaRPr lang="en-US" sz="2400" dirty="0"/>
                </a:p>
              </p:txBody>
            </p:sp>
          </mc:Choice>
          <mc:Fallback xmlns="">
            <p:sp>
              <p:nvSpPr>
                <p:cNvPr id="13" name="Rectangle 12">
                  <a:extLst>
                    <a:ext uri="{FF2B5EF4-FFF2-40B4-BE49-F238E27FC236}">
                      <a16:creationId xmlns:a16="http://schemas.microsoft.com/office/drawing/2014/main" id="{DDF9BA70-B077-A742-A4E4-0E3C516AFA0F}"/>
                    </a:ext>
                  </a:extLst>
                </p:cNvPr>
                <p:cNvSpPr>
                  <a:spLocks noRot="1" noChangeAspect="1" noMove="1" noResize="1" noEditPoints="1" noAdjustHandles="1" noChangeArrowheads="1" noChangeShapeType="1" noTextEdit="1"/>
                </p:cNvSpPr>
                <p:nvPr/>
              </p:nvSpPr>
              <p:spPr>
                <a:xfrm>
                  <a:off x="5790544" y="2676971"/>
                  <a:ext cx="6201698" cy="461665"/>
                </a:xfrm>
                <a:prstGeom prst="rect">
                  <a:avLst/>
                </a:prstGeom>
                <a:blipFill>
                  <a:blip r:embed="rId7"/>
                  <a:stretch>
                    <a:fillRect l="-1639" t="-8108"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12A687E-843B-D04B-945B-FB9290C79385}"/>
                    </a:ext>
                  </a:extLst>
                </p:cNvPr>
                <p:cNvSpPr/>
                <p:nvPr/>
              </p:nvSpPr>
              <p:spPr>
                <a:xfrm>
                  <a:off x="6179689" y="4463108"/>
                  <a:ext cx="2711704"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𝑆</m:t>
                            </m:r>
                          </m:e>
                        </m:d>
                        <m:r>
                          <a:rPr lang="en-US" sz="2400" i="1">
                            <a:latin typeface="Cambria Math" panose="02040503050406030204" pitchFamily="18" charset="0"/>
                          </a:rPr>
                          <m:t>=</m:t>
                        </m:r>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sr-Latn-RS" sz="2400" i="1">
                                    <a:latin typeface="Cambria Math" panose="02040503050406030204" pitchFamily="18" charset="0"/>
                                  </a:rPr>
                                  <m:t>2</m:t>
                                </m:r>
                              </m:e>
                            </m:rad>
                          </m:den>
                        </m:f>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m:t>
                            </m:r>
                          </m:e>
                        </m:d>
                      </m:oMath>
                    </m:oMathPara>
                  </a14:m>
                  <a:endParaRPr lang="en-US" sz="2400" dirty="0"/>
                </a:p>
              </p:txBody>
            </p:sp>
          </mc:Choice>
          <mc:Fallback xmlns="">
            <p:sp>
              <p:nvSpPr>
                <p:cNvPr id="17" name="Rectangle 16">
                  <a:extLst>
                    <a:ext uri="{FF2B5EF4-FFF2-40B4-BE49-F238E27FC236}">
                      <a16:creationId xmlns:a16="http://schemas.microsoft.com/office/drawing/2014/main" id="{212A687E-843B-D04B-945B-FB9290C79385}"/>
                    </a:ext>
                  </a:extLst>
                </p:cNvPr>
                <p:cNvSpPr>
                  <a:spLocks noRot="1" noChangeAspect="1" noMove="1" noResize="1" noEditPoints="1" noAdjustHandles="1" noChangeArrowheads="1" noChangeShapeType="1" noTextEdit="1"/>
                </p:cNvSpPr>
                <p:nvPr/>
              </p:nvSpPr>
              <p:spPr>
                <a:xfrm>
                  <a:off x="6179689" y="4463108"/>
                  <a:ext cx="2711704" cy="876202"/>
                </a:xfrm>
                <a:prstGeom prst="rect">
                  <a:avLst/>
                </a:prstGeom>
                <a:blipFill>
                  <a:blip r:embed="rId8"/>
                  <a:stretch>
                    <a:fillRect l="-5607" t="-68571" r="-11215" b="-7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7CD383F1-F3AC-EE40-8F51-D5DC93D88CA5}"/>
                    </a:ext>
                  </a:extLst>
                </p:cNvPr>
                <p:cNvSpPr/>
                <p:nvPr/>
              </p:nvSpPr>
              <p:spPr>
                <a:xfrm>
                  <a:off x="6096000" y="3416113"/>
                  <a:ext cx="3793731"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𝑆</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sr-Latn-RS" sz="2400" i="1">
                                <a:latin typeface="Cambria Math" panose="02040503050406030204" pitchFamily="18" charset="0"/>
                              </a:rPr>
                              <m:t>(1)</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0</m:t>
                                </m:r>
                              </m:e>
                            </m:d>
                            <m:r>
                              <a:rPr lang="sr-Latn-RS" sz="2400" i="1">
                                <a:latin typeface="Cambria Math" panose="02040503050406030204" pitchFamily="18" charset="0"/>
                              </a:rPr>
                              <m:t>+(</m:t>
                            </m:r>
                            <m:r>
                              <a:rPr lang="en-US" sz="2400" b="0" i="1" smtClean="0">
                                <a:latin typeface="Cambria Math" panose="02040503050406030204" pitchFamily="18" charset="0"/>
                              </a:rPr>
                              <m:t>−</m:t>
                            </m:r>
                            <m:r>
                              <a:rPr lang="sr-Latn-RS" sz="2400" i="1">
                                <a:latin typeface="Cambria Math" panose="02040503050406030204" pitchFamily="18" charset="0"/>
                              </a:rPr>
                              <m:t>1)</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1</m:t>
                                </m:r>
                              </m:e>
                            </m:d>
                          </m:num>
                          <m:den>
                            <m:rad>
                              <m:radPr>
                                <m:degHide m:val="on"/>
                                <m:ctrlPr>
                                  <a:rPr lang="en-US" sz="2400" i="1">
                                    <a:latin typeface="Cambria Math" panose="02040503050406030204" pitchFamily="18" charset="0"/>
                                  </a:rPr>
                                </m:ctrlPr>
                              </m:radPr>
                              <m:deg/>
                              <m:e>
                                <m:r>
                                  <a:rPr lang="sr-Latn-RS" sz="2400" i="1">
                                    <a:latin typeface="Cambria Math" panose="02040503050406030204" pitchFamily="18" charset="0"/>
                                  </a:rPr>
                                  <m:t>2</m:t>
                                </m:r>
                              </m:e>
                            </m:rad>
                          </m:den>
                        </m:f>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m:t>
                            </m:r>
                          </m:e>
                        </m:d>
                      </m:oMath>
                    </m:oMathPara>
                  </a14:m>
                  <a:endParaRPr lang="en-US" sz="2400" dirty="0"/>
                </a:p>
              </p:txBody>
            </p:sp>
          </mc:Choice>
          <mc:Fallback xmlns="">
            <p:sp>
              <p:nvSpPr>
                <p:cNvPr id="21" name="Rectangle 20">
                  <a:extLst>
                    <a:ext uri="{FF2B5EF4-FFF2-40B4-BE49-F238E27FC236}">
                      <a16:creationId xmlns:a16="http://schemas.microsoft.com/office/drawing/2014/main" id="{7CD383F1-F3AC-EE40-8F51-D5DC93D88CA5}"/>
                    </a:ext>
                  </a:extLst>
                </p:cNvPr>
                <p:cNvSpPr>
                  <a:spLocks noRot="1" noChangeAspect="1" noMove="1" noResize="1" noEditPoints="1" noAdjustHandles="1" noChangeArrowheads="1" noChangeShapeType="1" noTextEdit="1"/>
                </p:cNvSpPr>
                <p:nvPr/>
              </p:nvSpPr>
              <p:spPr>
                <a:xfrm>
                  <a:off x="6096000" y="3416113"/>
                  <a:ext cx="3793731" cy="876202"/>
                </a:xfrm>
                <a:prstGeom prst="rect">
                  <a:avLst/>
                </a:prstGeom>
                <a:blipFill>
                  <a:blip r:embed="rId9"/>
                  <a:stretch>
                    <a:fillRect l="-4013" t="-68571" r="-8027" b="-7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276F8EF3-9146-DD41-BEB7-9DB23C4902A9}"/>
                    </a:ext>
                  </a:extLst>
                </p:cNvPr>
                <p:cNvSpPr/>
                <p:nvPr/>
              </p:nvSpPr>
              <p:spPr>
                <a:xfrm>
                  <a:off x="6179689" y="5510103"/>
                  <a:ext cx="204376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𝑆</m:t>
                            </m:r>
                          </m:e>
                        </m:d>
                        <m:r>
                          <a:rPr lang="en-US" sz="2400" i="1">
                            <a:latin typeface="Cambria Math" panose="02040503050406030204" pitchFamily="18" charset="0"/>
                          </a:rPr>
                          <m:t>=</m:t>
                        </m:r>
                        <m:d>
                          <m:dPr>
                            <m:begChr m:val=""/>
                            <m:endChr m:val="⟩"/>
                            <m:ctrlPr>
                              <a:rPr lang="en-US" sz="2400" i="1" smtClean="0">
                                <a:solidFill>
                                  <a:srgbClr val="FF0000"/>
                                </a:solidFill>
                                <a:latin typeface="Cambria Math" panose="02040503050406030204" pitchFamily="18" charset="0"/>
                              </a:rPr>
                            </m:ctrlPr>
                          </m:dPr>
                          <m:e>
                            <m:r>
                              <a:rPr lang="en-US" sz="2400">
                                <a:solidFill>
                                  <a:srgbClr val="FF0000"/>
                                </a:solidFill>
                                <a:latin typeface="Cambria Math" panose="02040503050406030204" pitchFamily="18" charset="0"/>
                              </a:rPr>
                              <m:t>|</m:t>
                            </m:r>
                            <m:r>
                              <a:rPr lang="sr-Latn-RS" sz="2400" i="1">
                                <a:solidFill>
                                  <a:srgbClr val="FF0000"/>
                                </a:solidFill>
                                <a:latin typeface="Cambria Math" panose="02040503050406030204" pitchFamily="18" charset="0"/>
                              </a:rPr>
                              <m:t>−</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m:t>
                            </m:r>
                          </m:e>
                        </m:d>
                      </m:oMath>
                    </m:oMathPara>
                  </a14:m>
                  <a:endParaRPr lang="en-US" sz="2400" dirty="0"/>
                </a:p>
              </p:txBody>
            </p:sp>
          </mc:Choice>
          <mc:Fallback xmlns="">
            <p:sp>
              <p:nvSpPr>
                <p:cNvPr id="23" name="Rectangle 22">
                  <a:extLst>
                    <a:ext uri="{FF2B5EF4-FFF2-40B4-BE49-F238E27FC236}">
                      <a16:creationId xmlns:a16="http://schemas.microsoft.com/office/drawing/2014/main" id="{276F8EF3-9146-DD41-BEB7-9DB23C4902A9}"/>
                    </a:ext>
                  </a:extLst>
                </p:cNvPr>
                <p:cNvSpPr>
                  <a:spLocks noRot="1" noChangeAspect="1" noMove="1" noResize="1" noEditPoints="1" noAdjustHandles="1" noChangeArrowheads="1" noChangeShapeType="1" noTextEdit="1"/>
                </p:cNvSpPr>
                <p:nvPr/>
              </p:nvSpPr>
              <p:spPr>
                <a:xfrm>
                  <a:off x="6179689" y="5510103"/>
                  <a:ext cx="2043765" cy="461665"/>
                </a:xfrm>
                <a:prstGeom prst="rect">
                  <a:avLst/>
                </a:prstGeom>
                <a:blipFill>
                  <a:blip r:embed="rId10"/>
                  <a:stretch>
                    <a:fillRect l="-8025" t="-124324" r="-14815" b="-191892"/>
                  </a:stretch>
                </a:blipFill>
              </p:spPr>
              <p:txBody>
                <a:bodyPr/>
                <a:lstStyle/>
                <a:p>
                  <a:r>
                    <a:rPr lang="en-US">
                      <a:noFill/>
                    </a:rPr>
                    <a:t> </a:t>
                  </a:r>
                </a:p>
              </p:txBody>
            </p:sp>
          </mc:Fallback>
        </mc:AlternateContent>
      </p:grpSp>
    </p:spTree>
    <p:extLst>
      <p:ext uri="{BB962C8B-B14F-4D97-AF65-F5344CB8AC3E}">
        <p14:creationId xmlns:p14="http://schemas.microsoft.com/office/powerpoint/2010/main" val="236280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16CCD-7866-3948-8CFE-0329AE4AB22A}"/>
              </a:ext>
            </a:extLst>
          </p:cNvPr>
          <p:cNvSpPr>
            <a:spLocks noGrp="1"/>
          </p:cNvSpPr>
          <p:nvPr>
            <p:ph type="title"/>
          </p:nvPr>
        </p:nvSpPr>
        <p:spPr/>
        <p:txBody>
          <a:bodyPr/>
          <a:lstStyle/>
          <a:p>
            <a:r>
              <a:rPr lang="en-ZA" dirty="0"/>
              <a:t>Experimental realizations of Deutsch’s oracle</a:t>
            </a:r>
            <a:endParaRPr lang="en-US" dirty="0"/>
          </a:p>
        </p:txBody>
      </p:sp>
      <p:sp>
        <p:nvSpPr>
          <p:cNvPr id="3" name="Slide Number Placeholder 2">
            <a:extLst>
              <a:ext uri="{FF2B5EF4-FFF2-40B4-BE49-F238E27FC236}">
                <a16:creationId xmlns:a16="http://schemas.microsoft.com/office/drawing/2014/main" id="{FF33BA3B-3298-C645-ABB0-0A44AAEFA947}"/>
              </a:ext>
            </a:extLst>
          </p:cNvPr>
          <p:cNvSpPr>
            <a:spLocks noGrp="1"/>
          </p:cNvSpPr>
          <p:nvPr>
            <p:ph type="sldNum" sz="quarter" idx="12"/>
          </p:nvPr>
        </p:nvSpPr>
        <p:spPr/>
        <p:txBody>
          <a:bodyPr/>
          <a:lstStyle/>
          <a:p>
            <a:fld id="{591A223C-FA10-BC46-A853-03BA373D023C}" type="slidenum">
              <a:rPr lang="en-US" smtClean="0"/>
              <a:t>16</a:t>
            </a:fld>
            <a:endParaRPr lang="en-US"/>
          </a:p>
        </p:txBody>
      </p:sp>
      <p:grpSp>
        <p:nvGrpSpPr>
          <p:cNvPr id="19" name="Group 18">
            <a:extLst>
              <a:ext uri="{FF2B5EF4-FFF2-40B4-BE49-F238E27FC236}">
                <a16:creationId xmlns:a16="http://schemas.microsoft.com/office/drawing/2014/main" id="{83CAF6A2-7A26-CB4C-BD44-073BE1C45699}"/>
              </a:ext>
            </a:extLst>
          </p:cNvPr>
          <p:cNvGrpSpPr/>
          <p:nvPr/>
        </p:nvGrpSpPr>
        <p:grpSpPr>
          <a:xfrm>
            <a:off x="6851088" y="653636"/>
            <a:ext cx="4237766" cy="1172441"/>
            <a:chOff x="7089624" y="1037093"/>
            <a:chExt cx="4237766" cy="1172441"/>
          </a:xfrm>
        </p:grpSpPr>
        <p:sp>
          <p:nvSpPr>
            <p:cNvPr id="7" name="Rounded Rectangle 6">
              <a:extLst>
                <a:ext uri="{FF2B5EF4-FFF2-40B4-BE49-F238E27FC236}">
                  <a16:creationId xmlns:a16="http://schemas.microsoft.com/office/drawing/2014/main" id="{58338C5E-26FD-8F4E-8803-1320F337CDF0}"/>
                </a:ext>
              </a:extLst>
            </p:cNvPr>
            <p:cNvSpPr/>
            <p:nvPr/>
          </p:nvSpPr>
          <p:spPr>
            <a:xfrm>
              <a:off x="8635533" y="1037093"/>
              <a:ext cx="1624182" cy="1150619"/>
            </a:xfrm>
            <a:prstGeom prst="roundRect">
              <a:avLst>
                <a:gd name="adj" fmla="val 480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2D6B5B84-C3C9-F34E-ABB3-E5DA7031F30E}"/>
                </a:ext>
              </a:extLst>
            </p:cNvPr>
            <p:cNvCxnSpPr>
              <a:cxnSpLocks/>
            </p:cNvCxnSpPr>
            <p:nvPr/>
          </p:nvCxnSpPr>
          <p:spPr>
            <a:xfrm>
              <a:off x="8107774" y="1271010"/>
              <a:ext cx="2679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93F9B61-56F5-024D-826B-3F9F7C33F458}"/>
                </a:ext>
              </a:extLst>
            </p:cNvPr>
            <p:cNvCxnSpPr>
              <a:cxnSpLocks/>
            </p:cNvCxnSpPr>
            <p:nvPr/>
          </p:nvCxnSpPr>
          <p:spPr>
            <a:xfrm>
              <a:off x="8107774" y="1968002"/>
              <a:ext cx="26797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841D2EC5-65A3-DB4D-A9C2-7D754CA4F8F0}"/>
                    </a:ext>
                  </a:extLst>
                </p:cNvPr>
                <p:cNvSpPr/>
                <p:nvPr/>
              </p:nvSpPr>
              <p:spPr>
                <a:xfrm>
                  <a:off x="7580015" y="1055566"/>
                  <a:ext cx="59913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𝑥</m:t>
                            </m:r>
                          </m:e>
                        </m:d>
                      </m:oMath>
                    </m:oMathPara>
                  </a14:m>
                  <a:endParaRPr lang="en-US" sz="2200" dirty="0"/>
                </a:p>
              </p:txBody>
            </p:sp>
          </mc:Choice>
          <mc:Fallback xmlns="">
            <p:sp>
              <p:nvSpPr>
                <p:cNvPr id="15" name="Rectangle 14">
                  <a:extLst>
                    <a:ext uri="{FF2B5EF4-FFF2-40B4-BE49-F238E27FC236}">
                      <a16:creationId xmlns:a16="http://schemas.microsoft.com/office/drawing/2014/main" id="{841D2EC5-65A3-DB4D-A9C2-7D754CA4F8F0}"/>
                    </a:ext>
                  </a:extLst>
                </p:cNvPr>
                <p:cNvSpPr>
                  <a:spLocks noRot="1" noChangeAspect="1" noMove="1" noResize="1" noEditPoints="1" noAdjustHandles="1" noChangeArrowheads="1" noChangeShapeType="1" noTextEdit="1"/>
                </p:cNvSpPr>
                <p:nvPr/>
              </p:nvSpPr>
              <p:spPr>
                <a:xfrm>
                  <a:off x="7580015" y="1055566"/>
                  <a:ext cx="599138" cy="430887"/>
                </a:xfrm>
                <a:prstGeom prst="rect">
                  <a:avLst/>
                </a:prstGeom>
                <a:blipFill>
                  <a:blip r:embed="rId3"/>
                  <a:stretch>
                    <a:fillRect l="-20833" t="-117143" r="-45833" b="-18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A96CE7C0-2F3D-5F4B-83B9-EF659F068802}"/>
                    </a:ext>
                  </a:extLst>
                </p:cNvPr>
                <p:cNvSpPr/>
                <p:nvPr/>
              </p:nvSpPr>
              <p:spPr>
                <a:xfrm>
                  <a:off x="10642023" y="1037093"/>
                  <a:ext cx="59913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𝑥</m:t>
                            </m:r>
                          </m:e>
                        </m:d>
                      </m:oMath>
                    </m:oMathPara>
                  </a14:m>
                  <a:endParaRPr lang="en-US" sz="2200" dirty="0"/>
                </a:p>
              </p:txBody>
            </p:sp>
          </mc:Choice>
          <mc:Fallback xmlns="">
            <p:sp>
              <p:nvSpPr>
                <p:cNvPr id="16" name="Rectangle 15">
                  <a:extLst>
                    <a:ext uri="{FF2B5EF4-FFF2-40B4-BE49-F238E27FC236}">
                      <a16:creationId xmlns:a16="http://schemas.microsoft.com/office/drawing/2014/main" id="{A96CE7C0-2F3D-5F4B-83B9-EF659F068802}"/>
                    </a:ext>
                  </a:extLst>
                </p:cNvPr>
                <p:cNvSpPr>
                  <a:spLocks noRot="1" noChangeAspect="1" noMove="1" noResize="1" noEditPoints="1" noAdjustHandles="1" noChangeArrowheads="1" noChangeShapeType="1" noTextEdit="1"/>
                </p:cNvSpPr>
                <p:nvPr/>
              </p:nvSpPr>
              <p:spPr>
                <a:xfrm>
                  <a:off x="10642023" y="1037093"/>
                  <a:ext cx="599138" cy="430887"/>
                </a:xfrm>
                <a:prstGeom prst="rect">
                  <a:avLst/>
                </a:prstGeom>
                <a:blipFill>
                  <a:blip r:embed="rId4"/>
                  <a:stretch>
                    <a:fillRect l="-20833" t="-114286" r="-45833" b="-18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2FCDC50A-A0DC-0A4A-9589-7DF5BE13B408}"/>
                    </a:ext>
                  </a:extLst>
                </p:cNvPr>
                <p:cNvSpPr/>
                <p:nvPr/>
              </p:nvSpPr>
              <p:spPr>
                <a:xfrm>
                  <a:off x="7089624" y="1778647"/>
                  <a:ext cx="1089529" cy="430887"/>
                </a:xfrm>
                <a:prstGeom prst="rect">
                  <a:avLst/>
                </a:prstGeom>
              </p:spPr>
              <p:txBody>
                <a:bodyPr wrap="none">
                  <a:spAutoFit/>
                </a:bodyPr>
                <a:lstStyle/>
                <a:p>
                  <a14:m>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𝑦</m:t>
                          </m:r>
                        </m:e>
                      </m:d>
                    </m:oMath>
                  </a14:m>
                  <a:r>
                    <a:rPr lang="en-US" sz="2200" dirty="0"/>
                    <a:t>= </a:t>
                  </a:r>
                  <a14:m>
                    <m:oMath xmlns:m="http://schemas.openxmlformats.org/officeDocument/2006/math">
                      <m:d>
                        <m:dPr>
                          <m:begChr m:val=""/>
                          <m:endChr m:val="⟩"/>
                          <m:ctrlPr>
                            <a:rPr lang="en-US" sz="2200" i="1">
                              <a:latin typeface="Cambria Math" panose="02040503050406030204" pitchFamily="18" charset="0"/>
                            </a:rPr>
                          </m:ctrlPr>
                        </m:dPr>
                        <m:e>
                          <m:r>
                            <a:rPr lang="en-US" sz="2200">
                              <a:latin typeface="Cambria Math" panose="02040503050406030204" pitchFamily="18" charset="0"/>
                            </a:rPr>
                            <m:t>|</m:t>
                          </m:r>
                          <m:r>
                            <a:rPr lang="sr-Latn-RS" sz="2200" b="0" i="1" smtClean="0">
                              <a:latin typeface="Cambria Math" panose="02040503050406030204" pitchFamily="18" charset="0"/>
                            </a:rPr>
                            <m:t>0</m:t>
                          </m:r>
                        </m:e>
                      </m:d>
                    </m:oMath>
                  </a14:m>
                  <a:endParaRPr lang="en-US" sz="2200" dirty="0"/>
                </a:p>
              </p:txBody>
            </p:sp>
          </mc:Choice>
          <mc:Fallback xmlns="">
            <p:sp>
              <p:nvSpPr>
                <p:cNvPr id="17" name="Rectangle 16">
                  <a:extLst>
                    <a:ext uri="{FF2B5EF4-FFF2-40B4-BE49-F238E27FC236}">
                      <a16:creationId xmlns:a16="http://schemas.microsoft.com/office/drawing/2014/main" id="{2FCDC50A-A0DC-0A4A-9589-7DF5BE13B408}"/>
                    </a:ext>
                  </a:extLst>
                </p:cNvPr>
                <p:cNvSpPr>
                  <a:spLocks noRot="1" noChangeAspect="1" noMove="1" noResize="1" noEditPoints="1" noAdjustHandles="1" noChangeArrowheads="1" noChangeShapeType="1" noTextEdit="1"/>
                </p:cNvSpPr>
                <p:nvPr/>
              </p:nvSpPr>
              <p:spPr>
                <a:xfrm>
                  <a:off x="7089624" y="1778647"/>
                  <a:ext cx="1089529" cy="430887"/>
                </a:xfrm>
                <a:prstGeom prst="rect">
                  <a:avLst/>
                </a:prstGeom>
                <a:blipFill>
                  <a:blip r:embed="rId5"/>
                  <a:stretch>
                    <a:fillRect l="-13793" t="-117143" r="-27586" b="-18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3F474BE2-551F-8C43-843E-64E46122B86B}"/>
                    </a:ext>
                  </a:extLst>
                </p:cNvPr>
                <p:cNvSpPr/>
                <p:nvPr/>
              </p:nvSpPr>
              <p:spPr>
                <a:xfrm>
                  <a:off x="10731971" y="1705964"/>
                  <a:ext cx="59541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a:latin typeface="Cambria Math" panose="02040503050406030204" pitchFamily="18" charset="0"/>
                              </a:rPr>
                              <m:t>|</m:t>
                            </m:r>
                            <m:r>
                              <a:rPr lang="en-US" sz="2200" b="0" i="1" smtClean="0">
                                <a:latin typeface="Cambria Math" panose="02040503050406030204" pitchFamily="18" charset="0"/>
                              </a:rPr>
                              <m:t>0</m:t>
                            </m:r>
                          </m:e>
                        </m:d>
                      </m:oMath>
                    </m:oMathPara>
                  </a14:m>
                  <a:endParaRPr lang="en-US" sz="2200" dirty="0"/>
                </a:p>
              </p:txBody>
            </p:sp>
          </mc:Choice>
          <mc:Fallback xmlns="">
            <p:sp>
              <p:nvSpPr>
                <p:cNvPr id="18" name="Rectangle 17">
                  <a:extLst>
                    <a:ext uri="{FF2B5EF4-FFF2-40B4-BE49-F238E27FC236}">
                      <a16:creationId xmlns:a16="http://schemas.microsoft.com/office/drawing/2014/main" id="{3F474BE2-551F-8C43-843E-64E46122B86B}"/>
                    </a:ext>
                  </a:extLst>
                </p:cNvPr>
                <p:cNvSpPr>
                  <a:spLocks noRot="1" noChangeAspect="1" noMove="1" noResize="1" noEditPoints="1" noAdjustHandles="1" noChangeArrowheads="1" noChangeShapeType="1" noTextEdit="1"/>
                </p:cNvSpPr>
                <p:nvPr/>
              </p:nvSpPr>
              <p:spPr>
                <a:xfrm>
                  <a:off x="10731971" y="1705964"/>
                  <a:ext cx="595419" cy="430887"/>
                </a:xfrm>
                <a:prstGeom prst="rect">
                  <a:avLst/>
                </a:prstGeom>
                <a:blipFill>
                  <a:blip r:embed="rId6"/>
                  <a:stretch>
                    <a:fillRect l="-20833" t="-117143" r="-45833" b="-185714"/>
                  </a:stretch>
                </a:blipFill>
              </p:spPr>
              <p:txBody>
                <a:bodyPr/>
                <a:lstStyle/>
                <a:p>
                  <a:r>
                    <a:rPr lang="en-US">
                      <a:noFill/>
                    </a:rPr>
                    <a:t> </a:t>
                  </a:r>
                </a:p>
              </p:txBody>
            </p:sp>
          </mc:Fallback>
        </mc:AlternateContent>
      </p:grpSp>
      <p:grpSp>
        <p:nvGrpSpPr>
          <p:cNvPr id="20" name="Group 19">
            <a:extLst>
              <a:ext uri="{FF2B5EF4-FFF2-40B4-BE49-F238E27FC236}">
                <a16:creationId xmlns:a16="http://schemas.microsoft.com/office/drawing/2014/main" id="{D7912167-F8A4-D847-8B69-FEB978663C1C}"/>
              </a:ext>
            </a:extLst>
          </p:cNvPr>
          <p:cNvGrpSpPr/>
          <p:nvPr/>
        </p:nvGrpSpPr>
        <p:grpSpPr>
          <a:xfrm>
            <a:off x="6819027" y="2188835"/>
            <a:ext cx="4269827" cy="1150619"/>
            <a:chOff x="7057563" y="1037093"/>
            <a:chExt cx="4269827" cy="1150619"/>
          </a:xfrm>
        </p:grpSpPr>
        <p:sp>
          <p:nvSpPr>
            <p:cNvPr id="21" name="Rounded Rectangle 20">
              <a:extLst>
                <a:ext uri="{FF2B5EF4-FFF2-40B4-BE49-F238E27FC236}">
                  <a16:creationId xmlns:a16="http://schemas.microsoft.com/office/drawing/2014/main" id="{855BFB4B-2BDA-3845-B31A-E1EC0C21CC7E}"/>
                </a:ext>
              </a:extLst>
            </p:cNvPr>
            <p:cNvSpPr/>
            <p:nvPr/>
          </p:nvSpPr>
          <p:spPr>
            <a:xfrm>
              <a:off x="8635533" y="1037093"/>
              <a:ext cx="1624182" cy="1150619"/>
            </a:xfrm>
            <a:prstGeom prst="roundRect">
              <a:avLst>
                <a:gd name="adj" fmla="val 480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880002B0-6797-944D-9D87-AC724443EBC9}"/>
                </a:ext>
              </a:extLst>
            </p:cNvPr>
            <p:cNvCxnSpPr>
              <a:cxnSpLocks/>
            </p:cNvCxnSpPr>
            <p:nvPr/>
          </p:nvCxnSpPr>
          <p:spPr>
            <a:xfrm>
              <a:off x="8107774" y="1271010"/>
              <a:ext cx="2679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CE4B6CA-FBEA-A948-B714-4AEEC8CE8A41}"/>
                </a:ext>
              </a:extLst>
            </p:cNvPr>
            <p:cNvCxnSpPr>
              <a:cxnSpLocks/>
            </p:cNvCxnSpPr>
            <p:nvPr/>
          </p:nvCxnSpPr>
          <p:spPr>
            <a:xfrm>
              <a:off x="8107774" y="1968002"/>
              <a:ext cx="26797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A4838A3D-F7B2-F941-B722-3BBAC94EF1A5}"/>
                    </a:ext>
                  </a:extLst>
                </p:cNvPr>
                <p:cNvSpPr/>
                <p:nvPr/>
              </p:nvSpPr>
              <p:spPr>
                <a:xfrm>
                  <a:off x="7580015" y="1055566"/>
                  <a:ext cx="59913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𝑥</m:t>
                            </m:r>
                          </m:e>
                        </m:d>
                      </m:oMath>
                    </m:oMathPara>
                  </a14:m>
                  <a:endParaRPr lang="en-US" sz="2200" dirty="0"/>
                </a:p>
              </p:txBody>
            </p:sp>
          </mc:Choice>
          <mc:Fallback xmlns="">
            <p:sp>
              <p:nvSpPr>
                <p:cNvPr id="24" name="Rectangle 23">
                  <a:extLst>
                    <a:ext uri="{FF2B5EF4-FFF2-40B4-BE49-F238E27FC236}">
                      <a16:creationId xmlns:a16="http://schemas.microsoft.com/office/drawing/2014/main" id="{A4838A3D-F7B2-F941-B722-3BBAC94EF1A5}"/>
                    </a:ext>
                  </a:extLst>
                </p:cNvPr>
                <p:cNvSpPr>
                  <a:spLocks noRot="1" noChangeAspect="1" noMove="1" noResize="1" noEditPoints="1" noAdjustHandles="1" noChangeArrowheads="1" noChangeShapeType="1" noTextEdit="1"/>
                </p:cNvSpPr>
                <p:nvPr/>
              </p:nvSpPr>
              <p:spPr>
                <a:xfrm>
                  <a:off x="7580015" y="1055566"/>
                  <a:ext cx="599138" cy="430887"/>
                </a:xfrm>
                <a:prstGeom prst="rect">
                  <a:avLst/>
                </a:prstGeom>
                <a:blipFill>
                  <a:blip r:embed="rId4"/>
                  <a:stretch>
                    <a:fillRect l="-20833" t="-117143" r="-45833" b="-18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F5DB6DBF-C926-574E-A200-1B67E32F7D67}"/>
                    </a:ext>
                  </a:extLst>
                </p:cNvPr>
                <p:cNvSpPr/>
                <p:nvPr/>
              </p:nvSpPr>
              <p:spPr>
                <a:xfrm>
                  <a:off x="10642023" y="1037093"/>
                  <a:ext cx="59913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𝑥</m:t>
                            </m:r>
                          </m:e>
                        </m:d>
                      </m:oMath>
                    </m:oMathPara>
                  </a14:m>
                  <a:endParaRPr lang="en-US" sz="2200" dirty="0"/>
                </a:p>
              </p:txBody>
            </p:sp>
          </mc:Choice>
          <mc:Fallback xmlns="">
            <p:sp>
              <p:nvSpPr>
                <p:cNvPr id="25" name="Rectangle 24">
                  <a:extLst>
                    <a:ext uri="{FF2B5EF4-FFF2-40B4-BE49-F238E27FC236}">
                      <a16:creationId xmlns:a16="http://schemas.microsoft.com/office/drawing/2014/main" id="{F5DB6DBF-C926-574E-A200-1B67E32F7D67}"/>
                    </a:ext>
                  </a:extLst>
                </p:cNvPr>
                <p:cNvSpPr>
                  <a:spLocks noRot="1" noChangeAspect="1" noMove="1" noResize="1" noEditPoints="1" noAdjustHandles="1" noChangeArrowheads="1" noChangeShapeType="1" noTextEdit="1"/>
                </p:cNvSpPr>
                <p:nvPr/>
              </p:nvSpPr>
              <p:spPr>
                <a:xfrm>
                  <a:off x="10642023" y="1037093"/>
                  <a:ext cx="599138" cy="430887"/>
                </a:xfrm>
                <a:prstGeom prst="rect">
                  <a:avLst/>
                </a:prstGeom>
                <a:blipFill>
                  <a:blip r:embed="rId7"/>
                  <a:stretch>
                    <a:fillRect l="-20833" t="-117143" r="-45833" b="-18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75CF391C-AF0B-8848-AB9E-2C08AA16FA88}"/>
                    </a:ext>
                  </a:extLst>
                </p:cNvPr>
                <p:cNvSpPr/>
                <p:nvPr/>
              </p:nvSpPr>
              <p:spPr>
                <a:xfrm>
                  <a:off x="7057563" y="1730600"/>
                  <a:ext cx="115364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rPr>
                            </m:ctrlPr>
                          </m:dPr>
                          <m:e>
                            <m:r>
                              <a:rPr lang="en-US" sz="2200">
                                <a:latin typeface="Cambria Math" panose="02040503050406030204" pitchFamily="18" charset="0"/>
                              </a:rPr>
                              <m:t>|</m:t>
                            </m:r>
                            <m:r>
                              <a:rPr lang="sr-Latn-RS" sz="2200" i="1">
                                <a:latin typeface="Cambria Math" panose="02040503050406030204" pitchFamily="18" charset="0"/>
                              </a:rPr>
                              <m:t>𝑦</m:t>
                            </m:r>
                          </m:e>
                        </m:d>
                        <m:r>
                          <m:rPr>
                            <m:nor/>
                          </m:rPr>
                          <a:rPr lang="en-US" sz="2200" dirty="0"/>
                          <m:t>= </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m:t>
                            </m:r>
                            <m:r>
                              <a:rPr lang="sr-Latn-RS" sz="2200" i="1">
                                <a:latin typeface="Cambria Math" panose="02040503050406030204" pitchFamily="18" charset="0"/>
                              </a:rPr>
                              <m:t>0</m:t>
                            </m:r>
                          </m:e>
                        </m:d>
                      </m:oMath>
                    </m:oMathPara>
                  </a14:m>
                  <a:endParaRPr lang="en-US" sz="2200" dirty="0"/>
                </a:p>
              </p:txBody>
            </p:sp>
          </mc:Choice>
          <mc:Fallback xmlns="">
            <p:sp>
              <p:nvSpPr>
                <p:cNvPr id="26" name="Rectangle 25">
                  <a:extLst>
                    <a:ext uri="{FF2B5EF4-FFF2-40B4-BE49-F238E27FC236}">
                      <a16:creationId xmlns:a16="http://schemas.microsoft.com/office/drawing/2014/main" id="{75CF391C-AF0B-8848-AB9E-2C08AA16FA88}"/>
                    </a:ext>
                  </a:extLst>
                </p:cNvPr>
                <p:cNvSpPr>
                  <a:spLocks noRot="1" noChangeAspect="1" noMove="1" noResize="1" noEditPoints="1" noAdjustHandles="1" noChangeArrowheads="1" noChangeShapeType="1" noTextEdit="1"/>
                </p:cNvSpPr>
                <p:nvPr/>
              </p:nvSpPr>
              <p:spPr>
                <a:xfrm>
                  <a:off x="7057563" y="1730600"/>
                  <a:ext cx="1153649" cy="430887"/>
                </a:xfrm>
                <a:prstGeom prst="rect">
                  <a:avLst/>
                </a:prstGeom>
                <a:blipFill>
                  <a:blip r:embed="rId8"/>
                  <a:stretch>
                    <a:fillRect l="-10870" t="-117143" r="-22826" b="-18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287916F4-FB40-DB44-B271-A6B46135C3BD}"/>
                    </a:ext>
                  </a:extLst>
                </p:cNvPr>
                <p:cNvSpPr/>
                <p:nvPr/>
              </p:nvSpPr>
              <p:spPr>
                <a:xfrm>
                  <a:off x="10731971" y="1705964"/>
                  <a:ext cx="59541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a:latin typeface="Cambria Math" panose="02040503050406030204" pitchFamily="18" charset="0"/>
                              </a:rPr>
                              <m:t>|</m:t>
                            </m:r>
                            <m:r>
                              <a:rPr lang="sr-Latn-RS" sz="2200" b="0" i="1" smtClean="0">
                                <a:latin typeface="Cambria Math" panose="02040503050406030204" pitchFamily="18" charset="0"/>
                              </a:rPr>
                              <m:t>1</m:t>
                            </m:r>
                          </m:e>
                        </m:d>
                      </m:oMath>
                    </m:oMathPara>
                  </a14:m>
                  <a:endParaRPr lang="en-US" sz="2200" dirty="0"/>
                </a:p>
              </p:txBody>
            </p:sp>
          </mc:Choice>
          <mc:Fallback xmlns="">
            <p:sp>
              <p:nvSpPr>
                <p:cNvPr id="27" name="Rectangle 26">
                  <a:extLst>
                    <a:ext uri="{FF2B5EF4-FFF2-40B4-BE49-F238E27FC236}">
                      <a16:creationId xmlns:a16="http://schemas.microsoft.com/office/drawing/2014/main" id="{287916F4-FB40-DB44-B271-A6B46135C3BD}"/>
                    </a:ext>
                  </a:extLst>
                </p:cNvPr>
                <p:cNvSpPr>
                  <a:spLocks noRot="1" noChangeAspect="1" noMove="1" noResize="1" noEditPoints="1" noAdjustHandles="1" noChangeArrowheads="1" noChangeShapeType="1" noTextEdit="1"/>
                </p:cNvSpPr>
                <p:nvPr/>
              </p:nvSpPr>
              <p:spPr>
                <a:xfrm>
                  <a:off x="10731971" y="1705964"/>
                  <a:ext cx="595419" cy="430887"/>
                </a:xfrm>
                <a:prstGeom prst="rect">
                  <a:avLst/>
                </a:prstGeom>
                <a:blipFill>
                  <a:blip r:embed="rId9"/>
                  <a:stretch>
                    <a:fillRect l="-20833" t="-117143" r="-45833" b="-185714"/>
                  </a:stretch>
                </a:blipFill>
              </p:spPr>
              <p:txBody>
                <a:bodyPr/>
                <a:lstStyle/>
                <a:p>
                  <a:r>
                    <a:rPr lang="en-US">
                      <a:noFill/>
                    </a:rPr>
                    <a:t> </a:t>
                  </a:r>
                </a:p>
              </p:txBody>
            </p:sp>
          </mc:Fallback>
        </mc:AlternateContent>
      </p:grpSp>
      <p:grpSp>
        <p:nvGrpSpPr>
          <p:cNvPr id="28" name="Group 27">
            <a:extLst>
              <a:ext uri="{FF2B5EF4-FFF2-40B4-BE49-F238E27FC236}">
                <a16:creationId xmlns:a16="http://schemas.microsoft.com/office/drawing/2014/main" id="{A2768F1C-8CBE-7348-8A20-39F636037652}"/>
              </a:ext>
            </a:extLst>
          </p:cNvPr>
          <p:cNvGrpSpPr/>
          <p:nvPr/>
        </p:nvGrpSpPr>
        <p:grpSpPr>
          <a:xfrm>
            <a:off x="6816841" y="3724034"/>
            <a:ext cx="5080696" cy="1165357"/>
            <a:chOff x="7055377" y="1037093"/>
            <a:chExt cx="5080696" cy="1165357"/>
          </a:xfrm>
        </p:grpSpPr>
        <p:sp>
          <p:nvSpPr>
            <p:cNvPr id="29" name="Rounded Rectangle 28">
              <a:extLst>
                <a:ext uri="{FF2B5EF4-FFF2-40B4-BE49-F238E27FC236}">
                  <a16:creationId xmlns:a16="http://schemas.microsoft.com/office/drawing/2014/main" id="{82C2A4B9-5ADE-FF48-9E70-92E46DB47825}"/>
                </a:ext>
              </a:extLst>
            </p:cNvPr>
            <p:cNvSpPr/>
            <p:nvPr/>
          </p:nvSpPr>
          <p:spPr>
            <a:xfrm>
              <a:off x="8635533" y="1037093"/>
              <a:ext cx="1624182" cy="1150619"/>
            </a:xfrm>
            <a:prstGeom prst="roundRect">
              <a:avLst>
                <a:gd name="adj" fmla="val 480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22C68DC0-C293-024D-AE9D-43F80C3985E0}"/>
                </a:ext>
              </a:extLst>
            </p:cNvPr>
            <p:cNvCxnSpPr>
              <a:cxnSpLocks/>
            </p:cNvCxnSpPr>
            <p:nvPr/>
          </p:nvCxnSpPr>
          <p:spPr>
            <a:xfrm>
              <a:off x="8107774" y="1271010"/>
              <a:ext cx="2679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19E60C0-A442-F242-9EE4-60968E666169}"/>
                </a:ext>
              </a:extLst>
            </p:cNvPr>
            <p:cNvCxnSpPr>
              <a:cxnSpLocks/>
            </p:cNvCxnSpPr>
            <p:nvPr/>
          </p:nvCxnSpPr>
          <p:spPr>
            <a:xfrm>
              <a:off x="8107774" y="1968002"/>
              <a:ext cx="26797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00BBAA75-AAFD-4142-AD88-91D9A4E2F695}"/>
                    </a:ext>
                  </a:extLst>
                </p:cNvPr>
                <p:cNvSpPr/>
                <p:nvPr/>
              </p:nvSpPr>
              <p:spPr>
                <a:xfrm>
                  <a:off x="7580015" y="1055566"/>
                  <a:ext cx="59913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𝑥</m:t>
                            </m:r>
                          </m:e>
                        </m:d>
                      </m:oMath>
                    </m:oMathPara>
                  </a14:m>
                  <a:endParaRPr lang="en-US" sz="2200" dirty="0"/>
                </a:p>
              </p:txBody>
            </p:sp>
          </mc:Choice>
          <mc:Fallback xmlns="">
            <p:sp>
              <p:nvSpPr>
                <p:cNvPr id="32" name="Rectangle 31">
                  <a:extLst>
                    <a:ext uri="{FF2B5EF4-FFF2-40B4-BE49-F238E27FC236}">
                      <a16:creationId xmlns:a16="http://schemas.microsoft.com/office/drawing/2014/main" id="{00BBAA75-AAFD-4142-AD88-91D9A4E2F695}"/>
                    </a:ext>
                  </a:extLst>
                </p:cNvPr>
                <p:cNvSpPr>
                  <a:spLocks noRot="1" noChangeAspect="1" noMove="1" noResize="1" noEditPoints="1" noAdjustHandles="1" noChangeArrowheads="1" noChangeShapeType="1" noTextEdit="1"/>
                </p:cNvSpPr>
                <p:nvPr/>
              </p:nvSpPr>
              <p:spPr>
                <a:xfrm>
                  <a:off x="7580015" y="1055566"/>
                  <a:ext cx="599138" cy="430887"/>
                </a:xfrm>
                <a:prstGeom prst="rect">
                  <a:avLst/>
                </a:prstGeom>
                <a:blipFill>
                  <a:blip r:embed="rId10"/>
                  <a:stretch>
                    <a:fillRect l="-20833" t="-120000" r="-45833" b="-18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35CEC60E-48AD-964D-9A0E-61ED949F243A}"/>
                    </a:ext>
                  </a:extLst>
                </p:cNvPr>
                <p:cNvSpPr/>
                <p:nvPr/>
              </p:nvSpPr>
              <p:spPr>
                <a:xfrm>
                  <a:off x="10642023" y="1037093"/>
                  <a:ext cx="59913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𝑥</m:t>
                            </m:r>
                          </m:e>
                        </m:d>
                      </m:oMath>
                    </m:oMathPara>
                  </a14:m>
                  <a:endParaRPr lang="en-US" sz="2200" dirty="0"/>
                </a:p>
              </p:txBody>
            </p:sp>
          </mc:Choice>
          <mc:Fallback xmlns="">
            <p:sp>
              <p:nvSpPr>
                <p:cNvPr id="33" name="Rectangle 32">
                  <a:extLst>
                    <a:ext uri="{FF2B5EF4-FFF2-40B4-BE49-F238E27FC236}">
                      <a16:creationId xmlns:a16="http://schemas.microsoft.com/office/drawing/2014/main" id="{35CEC60E-48AD-964D-9A0E-61ED949F243A}"/>
                    </a:ext>
                  </a:extLst>
                </p:cNvPr>
                <p:cNvSpPr>
                  <a:spLocks noRot="1" noChangeAspect="1" noMove="1" noResize="1" noEditPoints="1" noAdjustHandles="1" noChangeArrowheads="1" noChangeShapeType="1" noTextEdit="1"/>
                </p:cNvSpPr>
                <p:nvPr/>
              </p:nvSpPr>
              <p:spPr>
                <a:xfrm>
                  <a:off x="10642023" y="1037093"/>
                  <a:ext cx="599138" cy="430887"/>
                </a:xfrm>
                <a:prstGeom prst="rect">
                  <a:avLst/>
                </a:prstGeom>
                <a:blipFill>
                  <a:blip r:embed="rId11"/>
                  <a:stretch>
                    <a:fillRect l="-20833" t="-117143" r="-45833" b="-18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38F4BD3A-288C-D14D-BE90-F637AB747C58}"/>
                    </a:ext>
                  </a:extLst>
                </p:cNvPr>
                <p:cNvSpPr/>
                <p:nvPr/>
              </p:nvSpPr>
              <p:spPr>
                <a:xfrm>
                  <a:off x="7055377" y="1771563"/>
                  <a:ext cx="115364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rPr>
                            </m:ctrlPr>
                          </m:dPr>
                          <m:e>
                            <m:r>
                              <a:rPr lang="en-US" sz="2200">
                                <a:latin typeface="Cambria Math" panose="02040503050406030204" pitchFamily="18" charset="0"/>
                              </a:rPr>
                              <m:t>|</m:t>
                            </m:r>
                            <m:r>
                              <a:rPr lang="sr-Latn-RS" sz="2200" i="1">
                                <a:latin typeface="Cambria Math" panose="02040503050406030204" pitchFamily="18" charset="0"/>
                              </a:rPr>
                              <m:t>𝑦</m:t>
                            </m:r>
                          </m:e>
                        </m:d>
                        <m:r>
                          <m:rPr>
                            <m:nor/>
                          </m:rPr>
                          <a:rPr lang="en-US" sz="2200" dirty="0"/>
                          <m:t>= </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m:t>
                            </m:r>
                            <m:r>
                              <a:rPr lang="sr-Latn-RS" sz="2200" i="1">
                                <a:latin typeface="Cambria Math" panose="02040503050406030204" pitchFamily="18" charset="0"/>
                              </a:rPr>
                              <m:t>0</m:t>
                            </m:r>
                          </m:e>
                        </m:d>
                      </m:oMath>
                    </m:oMathPara>
                  </a14:m>
                  <a:endParaRPr lang="en-US" sz="2200" dirty="0"/>
                </a:p>
              </p:txBody>
            </p:sp>
          </mc:Choice>
          <mc:Fallback xmlns="">
            <p:sp>
              <p:nvSpPr>
                <p:cNvPr id="34" name="Rectangle 33">
                  <a:extLst>
                    <a:ext uri="{FF2B5EF4-FFF2-40B4-BE49-F238E27FC236}">
                      <a16:creationId xmlns:a16="http://schemas.microsoft.com/office/drawing/2014/main" id="{38F4BD3A-288C-D14D-BE90-F637AB747C58}"/>
                    </a:ext>
                  </a:extLst>
                </p:cNvPr>
                <p:cNvSpPr>
                  <a:spLocks noRot="1" noChangeAspect="1" noMove="1" noResize="1" noEditPoints="1" noAdjustHandles="1" noChangeArrowheads="1" noChangeShapeType="1" noTextEdit="1"/>
                </p:cNvSpPr>
                <p:nvPr/>
              </p:nvSpPr>
              <p:spPr>
                <a:xfrm>
                  <a:off x="7055377" y="1771563"/>
                  <a:ext cx="1153649" cy="430887"/>
                </a:xfrm>
                <a:prstGeom prst="rect">
                  <a:avLst/>
                </a:prstGeom>
                <a:blipFill>
                  <a:blip r:embed="rId12"/>
                  <a:stretch>
                    <a:fillRect l="-10870" t="-117143" r="-22826" b="-18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081AF347-EDF6-8148-98F1-E39E0A6C4376}"/>
                    </a:ext>
                  </a:extLst>
                </p:cNvPr>
                <p:cNvSpPr/>
                <p:nvPr/>
              </p:nvSpPr>
              <p:spPr>
                <a:xfrm>
                  <a:off x="10731971" y="1705964"/>
                  <a:ext cx="140410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𝑦</m:t>
                            </m:r>
                            <m:r>
                              <a:rPr lang="sr-Latn-RS" sz="2200" i="1">
                                <a:latin typeface="Cambria Math" panose="02040503050406030204" pitchFamily="18" charset="0"/>
                              </a:rPr>
                              <m:t>⨁</m:t>
                            </m:r>
                            <m:r>
                              <a:rPr lang="sr-Latn-RS" sz="2200" b="0" i="1" smtClean="0">
                                <a:latin typeface="Cambria Math" panose="02040503050406030204" pitchFamily="18" charset="0"/>
                              </a:rPr>
                              <m:t>𝑓</m:t>
                            </m:r>
                            <m:r>
                              <a:rPr lang="sr-Latn-RS" sz="2200" b="0" i="1" smtClean="0">
                                <a:latin typeface="Cambria Math" panose="02040503050406030204" pitchFamily="18" charset="0"/>
                              </a:rPr>
                              <m:t>(</m:t>
                            </m:r>
                            <m:r>
                              <a:rPr lang="sr-Latn-RS" sz="2200" b="0" i="1" smtClean="0">
                                <a:latin typeface="Cambria Math" panose="02040503050406030204" pitchFamily="18" charset="0"/>
                              </a:rPr>
                              <m:t>𝑥</m:t>
                            </m:r>
                            <m:r>
                              <a:rPr lang="sr-Latn-RS" sz="2200" b="0" i="1" smtClean="0">
                                <a:latin typeface="Cambria Math" panose="02040503050406030204" pitchFamily="18" charset="0"/>
                              </a:rPr>
                              <m:t>)</m:t>
                            </m:r>
                          </m:e>
                        </m:d>
                      </m:oMath>
                    </m:oMathPara>
                  </a14:m>
                  <a:endParaRPr lang="en-US" sz="2200" dirty="0"/>
                </a:p>
              </p:txBody>
            </p:sp>
          </mc:Choice>
          <mc:Fallback xmlns="">
            <p:sp>
              <p:nvSpPr>
                <p:cNvPr id="35" name="Rectangle 34">
                  <a:extLst>
                    <a:ext uri="{FF2B5EF4-FFF2-40B4-BE49-F238E27FC236}">
                      <a16:creationId xmlns:a16="http://schemas.microsoft.com/office/drawing/2014/main" id="{081AF347-EDF6-8148-98F1-E39E0A6C4376}"/>
                    </a:ext>
                  </a:extLst>
                </p:cNvPr>
                <p:cNvSpPr>
                  <a:spLocks noRot="1" noChangeAspect="1" noMove="1" noResize="1" noEditPoints="1" noAdjustHandles="1" noChangeArrowheads="1" noChangeShapeType="1" noTextEdit="1"/>
                </p:cNvSpPr>
                <p:nvPr/>
              </p:nvSpPr>
              <p:spPr>
                <a:xfrm>
                  <a:off x="10731971" y="1705964"/>
                  <a:ext cx="1404102" cy="430887"/>
                </a:xfrm>
                <a:prstGeom prst="rect">
                  <a:avLst/>
                </a:prstGeom>
                <a:blipFill>
                  <a:blip r:embed="rId13"/>
                  <a:stretch>
                    <a:fillRect t="-117143" r="-19643" b="-182857"/>
                  </a:stretch>
                </a:blipFill>
              </p:spPr>
              <p:txBody>
                <a:bodyPr/>
                <a:lstStyle/>
                <a:p>
                  <a:r>
                    <a:rPr lang="en-US">
                      <a:noFill/>
                    </a:rPr>
                    <a:t> </a:t>
                  </a:r>
                </a:p>
              </p:txBody>
            </p:sp>
          </mc:Fallback>
        </mc:AlternateContent>
      </p:grpSp>
      <p:grpSp>
        <p:nvGrpSpPr>
          <p:cNvPr id="36" name="Group 35">
            <a:extLst>
              <a:ext uri="{FF2B5EF4-FFF2-40B4-BE49-F238E27FC236}">
                <a16:creationId xmlns:a16="http://schemas.microsoft.com/office/drawing/2014/main" id="{6C42620E-60BE-7141-A3F9-6F297094FF5C}"/>
              </a:ext>
            </a:extLst>
          </p:cNvPr>
          <p:cNvGrpSpPr/>
          <p:nvPr/>
        </p:nvGrpSpPr>
        <p:grpSpPr>
          <a:xfrm>
            <a:off x="6786148" y="5259232"/>
            <a:ext cx="5111389" cy="1154004"/>
            <a:chOff x="7024684" y="1037093"/>
            <a:chExt cx="5111389" cy="1154004"/>
          </a:xfrm>
        </p:grpSpPr>
        <p:sp>
          <p:nvSpPr>
            <p:cNvPr id="37" name="Rounded Rectangle 36">
              <a:extLst>
                <a:ext uri="{FF2B5EF4-FFF2-40B4-BE49-F238E27FC236}">
                  <a16:creationId xmlns:a16="http://schemas.microsoft.com/office/drawing/2014/main" id="{AAB289A7-8394-F643-8D35-A0ABD19835DA}"/>
                </a:ext>
              </a:extLst>
            </p:cNvPr>
            <p:cNvSpPr/>
            <p:nvPr/>
          </p:nvSpPr>
          <p:spPr>
            <a:xfrm>
              <a:off x="8635533" y="1037093"/>
              <a:ext cx="1624182" cy="1150619"/>
            </a:xfrm>
            <a:prstGeom prst="roundRect">
              <a:avLst>
                <a:gd name="adj" fmla="val 480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891EEED9-DD19-534C-8059-958BA571190D}"/>
                </a:ext>
              </a:extLst>
            </p:cNvPr>
            <p:cNvCxnSpPr>
              <a:cxnSpLocks/>
            </p:cNvCxnSpPr>
            <p:nvPr/>
          </p:nvCxnSpPr>
          <p:spPr>
            <a:xfrm>
              <a:off x="8107774" y="1271010"/>
              <a:ext cx="26797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0FC2B07-9B14-0344-9FA4-075277FC4881}"/>
                </a:ext>
              </a:extLst>
            </p:cNvPr>
            <p:cNvCxnSpPr>
              <a:cxnSpLocks/>
            </p:cNvCxnSpPr>
            <p:nvPr/>
          </p:nvCxnSpPr>
          <p:spPr>
            <a:xfrm>
              <a:off x="8107774" y="1968002"/>
              <a:ext cx="26797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95BA569B-8623-EF4D-97B2-871ACF8EB094}"/>
                    </a:ext>
                  </a:extLst>
                </p:cNvPr>
                <p:cNvSpPr/>
                <p:nvPr/>
              </p:nvSpPr>
              <p:spPr>
                <a:xfrm>
                  <a:off x="7580015" y="1055566"/>
                  <a:ext cx="59913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𝑥</m:t>
                            </m:r>
                          </m:e>
                        </m:d>
                      </m:oMath>
                    </m:oMathPara>
                  </a14:m>
                  <a:endParaRPr lang="en-US" sz="2200" dirty="0"/>
                </a:p>
              </p:txBody>
            </p:sp>
          </mc:Choice>
          <mc:Fallback xmlns="">
            <p:sp>
              <p:nvSpPr>
                <p:cNvPr id="40" name="Rectangle 39">
                  <a:extLst>
                    <a:ext uri="{FF2B5EF4-FFF2-40B4-BE49-F238E27FC236}">
                      <a16:creationId xmlns:a16="http://schemas.microsoft.com/office/drawing/2014/main" id="{95BA569B-8623-EF4D-97B2-871ACF8EB094}"/>
                    </a:ext>
                  </a:extLst>
                </p:cNvPr>
                <p:cNvSpPr>
                  <a:spLocks noRot="1" noChangeAspect="1" noMove="1" noResize="1" noEditPoints="1" noAdjustHandles="1" noChangeArrowheads="1" noChangeShapeType="1" noTextEdit="1"/>
                </p:cNvSpPr>
                <p:nvPr/>
              </p:nvSpPr>
              <p:spPr>
                <a:xfrm>
                  <a:off x="7580015" y="1055566"/>
                  <a:ext cx="599138" cy="430887"/>
                </a:xfrm>
                <a:prstGeom prst="rect">
                  <a:avLst/>
                </a:prstGeom>
                <a:blipFill>
                  <a:blip r:embed="rId10"/>
                  <a:stretch>
                    <a:fillRect l="-20833" t="-123529" r="-45833" b="-19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CBAEF6AB-267F-9E44-85E0-C3F8A6C14E05}"/>
                    </a:ext>
                  </a:extLst>
                </p:cNvPr>
                <p:cNvSpPr/>
                <p:nvPr/>
              </p:nvSpPr>
              <p:spPr>
                <a:xfrm>
                  <a:off x="10642023" y="1037093"/>
                  <a:ext cx="599138"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𝑥</m:t>
                            </m:r>
                          </m:e>
                        </m:d>
                      </m:oMath>
                    </m:oMathPara>
                  </a14:m>
                  <a:endParaRPr lang="en-US" sz="2200" dirty="0"/>
                </a:p>
              </p:txBody>
            </p:sp>
          </mc:Choice>
          <mc:Fallback xmlns="">
            <p:sp>
              <p:nvSpPr>
                <p:cNvPr id="41" name="Rectangle 40">
                  <a:extLst>
                    <a:ext uri="{FF2B5EF4-FFF2-40B4-BE49-F238E27FC236}">
                      <a16:creationId xmlns:a16="http://schemas.microsoft.com/office/drawing/2014/main" id="{CBAEF6AB-267F-9E44-85E0-C3F8A6C14E05}"/>
                    </a:ext>
                  </a:extLst>
                </p:cNvPr>
                <p:cNvSpPr>
                  <a:spLocks noRot="1" noChangeAspect="1" noMove="1" noResize="1" noEditPoints="1" noAdjustHandles="1" noChangeArrowheads="1" noChangeShapeType="1" noTextEdit="1"/>
                </p:cNvSpPr>
                <p:nvPr/>
              </p:nvSpPr>
              <p:spPr>
                <a:xfrm>
                  <a:off x="10642023" y="1037093"/>
                  <a:ext cx="599138" cy="430887"/>
                </a:xfrm>
                <a:prstGeom prst="rect">
                  <a:avLst/>
                </a:prstGeom>
                <a:blipFill>
                  <a:blip r:embed="rId11"/>
                  <a:stretch>
                    <a:fillRect l="-20833" t="-117143" r="-45833" b="-18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20291AFD-7D4C-D643-9B77-8D125C5CEA04}"/>
                    </a:ext>
                  </a:extLst>
                </p:cNvPr>
                <p:cNvSpPr/>
                <p:nvPr/>
              </p:nvSpPr>
              <p:spPr>
                <a:xfrm>
                  <a:off x="7024684" y="1760210"/>
                  <a:ext cx="115364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rPr>
                            </m:ctrlPr>
                          </m:dPr>
                          <m:e>
                            <m:r>
                              <a:rPr lang="en-US" sz="2200">
                                <a:latin typeface="Cambria Math" panose="02040503050406030204" pitchFamily="18" charset="0"/>
                              </a:rPr>
                              <m:t>|</m:t>
                            </m:r>
                            <m:r>
                              <a:rPr lang="sr-Latn-RS" sz="2200" i="1">
                                <a:latin typeface="Cambria Math" panose="02040503050406030204" pitchFamily="18" charset="0"/>
                              </a:rPr>
                              <m:t>𝑦</m:t>
                            </m:r>
                          </m:e>
                        </m:d>
                        <m:r>
                          <m:rPr>
                            <m:nor/>
                          </m:rPr>
                          <a:rPr lang="en-US" sz="2200" dirty="0"/>
                          <m:t>= </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m:t>
                            </m:r>
                            <m:r>
                              <a:rPr lang="sr-Latn-RS" sz="2200" i="1">
                                <a:latin typeface="Cambria Math" panose="02040503050406030204" pitchFamily="18" charset="0"/>
                              </a:rPr>
                              <m:t>0</m:t>
                            </m:r>
                          </m:e>
                        </m:d>
                      </m:oMath>
                    </m:oMathPara>
                  </a14:m>
                  <a:endParaRPr lang="en-US" sz="2200" dirty="0"/>
                </a:p>
              </p:txBody>
            </p:sp>
          </mc:Choice>
          <mc:Fallback xmlns="">
            <p:sp>
              <p:nvSpPr>
                <p:cNvPr id="42" name="Rectangle 41">
                  <a:extLst>
                    <a:ext uri="{FF2B5EF4-FFF2-40B4-BE49-F238E27FC236}">
                      <a16:creationId xmlns:a16="http://schemas.microsoft.com/office/drawing/2014/main" id="{20291AFD-7D4C-D643-9B77-8D125C5CEA04}"/>
                    </a:ext>
                  </a:extLst>
                </p:cNvPr>
                <p:cNvSpPr>
                  <a:spLocks noRot="1" noChangeAspect="1" noMove="1" noResize="1" noEditPoints="1" noAdjustHandles="1" noChangeArrowheads="1" noChangeShapeType="1" noTextEdit="1"/>
                </p:cNvSpPr>
                <p:nvPr/>
              </p:nvSpPr>
              <p:spPr>
                <a:xfrm>
                  <a:off x="7024684" y="1760210"/>
                  <a:ext cx="1153649" cy="430887"/>
                </a:xfrm>
                <a:prstGeom prst="rect">
                  <a:avLst/>
                </a:prstGeom>
                <a:blipFill>
                  <a:blip r:embed="rId14"/>
                  <a:stretch>
                    <a:fillRect l="-10870" t="-117143" r="-23913" b="-18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54D3897E-F629-044C-82C4-75D7E745E200}"/>
                    </a:ext>
                  </a:extLst>
                </p:cNvPr>
                <p:cNvSpPr/>
                <p:nvPr/>
              </p:nvSpPr>
              <p:spPr>
                <a:xfrm>
                  <a:off x="10731971" y="1705964"/>
                  <a:ext cx="1404102"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r>
                              <a:rPr lang="en-US" sz="2200" i="0" smtClean="0">
                                <a:latin typeface="Cambria Math" panose="02040503050406030204" pitchFamily="18" charset="0"/>
                              </a:rPr>
                              <m:t>|</m:t>
                            </m:r>
                            <m:r>
                              <a:rPr lang="sr-Latn-RS" sz="2200" b="0" i="1" smtClean="0">
                                <a:latin typeface="Cambria Math" panose="02040503050406030204" pitchFamily="18" charset="0"/>
                              </a:rPr>
                              <m:t>𝑦</m:t>
                            </m:r>
                            <m:r>
                              <a:rPr lang="sr-Latn-RS" sz="2200" i="1">
                                <a:latin typeface="Cambria Math" panose="02040503050406030204" pitchFamily="18" charset="0"/>
                              </a:rPr>
                              <m:t>⨁</m:t>
                            </m:r>
                            <m:r>
                              <a:rPr lang="sr-Latn-RS" sz="2200" b="0" i="1" smtClean="0">
                                <a:latin typeface="Cambria Math" panose="02040503050406030204" pitchFamily="18" charset="0"/>
                              </a:rPr>
                              <m:t>𝑓</m:t>
                            </m:r>
                            <m:r>
                              <a:rPr lang="sr-Latn-RS" sz="2200" b="0" i="1" smtClean="0">
                                <a:latin typeface="Cambria Math" panose="02040503050406030204" pitchFamily="18" charset="0"/>
                              </a:rPr>
                              <m:t>(</m:t>
                            </m:r>
                            <m:r>
                              <a:rPr lang="sr-Latn-RS" sz="2200" b="0" i="1" smtClean="0">
                                <a:latin typeface="Cambria Math" panose="02040503050406030204" pitchFamily="18" charset="0"/>
                              </a:rPr>
                              <m:t>𝑥</m:t>
                            </m:r>
                            <m:r>
                              <a:rPr lang="sr-Latn-RS" sz="2200" b="0" i="1" smtClean="0">
                                <a:latin typeface="Cambria Math" panose="02040503050406030204" pitchFamily="18" charset="0"/>
                              </a:rPr>
                              <m:t>)</m:t>
                            </m:r>
                          </m:e>
                        </m:d>
                      </m:oMath>
                    </m:oMathPara>
                  </a14:m>
                  <a:endParaRPr lang="en-US" sz="2200" dirty="0"/>
                </a:p>
              </p:txBody>
            </p:sp>
          </mc:Choice>
          <mc:Fallback xmlns="">
            <p:sp>
              <p:nvSpPr>
                <p:cNvPr id="43" name="Rectangle 42">
                  <a:extLst>
                    <a:ext uri="{FF2B5EF4-FFF2-40B4-BE49-F238E27FC236}">
                      <a16:creationId xmlns:a16="http://schemas.microsoft.com/office/drawing/2014/main" id="{54D3897E-F629-044C-82C4-75D7E745E200}"/>
                    </a:ext>
                  </a:extLst>
                </p:cNvPr>
                <p:cNvSpPr>
                  <a:spLocks noRot="1" noChangeAspect="1" noMove="1" noResize="1" noEditPoints="1" noAdjustHandles="1" noChangeArrowheads="1" noChangeShapeType="1" noTextEdit="1"/>
                </p:cNvSpPr>
                <p:nvPr/>
              </p:nvSpPr>
              <p:spPr>
                <a:xfrm>
                  <a:off x="10731971" y="1705964"/>
                  <a:ext cx="1404102" cy="430887"/>
                </a:xfrm>
                <a:prstGeom prst="rect">
                  <a:avLst/>
                </a:prstGeom>
                <a:blipFill>
                  <a:blip r:embed="rId15"/>
                  <a:stretch>
                    <a:fillRect t="-117143" r="-19643" b="-182857"/>
                  </a:stretch>
                </a:blipFill>
              </p:spPr>
              <p:txBody>
                <a:bodyPr/>
                <a:lstStyle/>
                <a:p>
                  <a:r>
                    <a:rPr lang="en-US">
                      <a:noFill/>
                    </a:rPr>
                    <a:t> </a:t>
                  </a:r>
                </a:p>
              </p:txBody>
            </p:sp>
          </mc:Fallback>
        </mc:AlternateContent>
      </p:grpSp>
      <p:sp>
        <p:nvSpPr>
          <p:cNvPr id="44" name="Oval 43">
            <a:extLst>
              <a:ext uri="{FF2B5EF4-FFF2-40B4-BE49-F238E27FC236}">
                <a16:creationId xmlns:a16="http://schemas.microsoft.com/office/drawing/2014/main" id="{C8373060-FF57-894C-977B-921B2955D76A}"/>
              </a:ext>
            </a:extLst>
          </p:cNvPr>
          <p:cNvSpPr/>
          <p:nvPr/>
        </p:nvSpPr>
        <p:spPr>
          <a:xfrm>
            <a:off x="9029088" y="2922775"/>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a:t>
            </a:r>
          </a:p>
        </p:txBody>
      </p:sp>
      <p:sp>
        <p:nvSpPr>
          <p:cNvPr id="45" name="Oval 44">
            <a:extLst>
              <a:ext uri="{FF2B5EF4-FFF2-40B4-BE49-F238E27FC236}">
                <a16:creationId xmlns:a16="http://schemas.microsoft.com/office/drawing/2014/main" id="{F29EA32B-F64A-5F4A-98EE-3A4F644306F4}"/>
              </a:ext>
            </a:extLst>
          </p:cNvPr>
          <p:cNvSpPr/>
          <p:nvPr/>
        </p:nvSpPr>
        <p:spPr>
          <a:xfrm>
            <a:off x="9029088" y="4474943"/>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a:t>
            </a:r>
          </a:p>
        </p:txBody>
      </p:sp>
      <p:sp>
        <p:nvSpPr>
          <p:cNvPr id="46" name="Oval 45">
            <a:extLst>
              <a:ext uri="{FF2B5EF4-FFF2-40B4-BE49-F238E27FC236}">
                <a16:creationId xmlns:a16="http://schemas.microsoft.com/office/drawing/2014/main" id="{85F0F8BD-F99B-7649-9126-15E90D27BA21}"/>
              </a:ext>
            </a:extLst>
          </p:cNvPr>
          <p:cNvSpPr/>
          <p:nvPr/>
        </p:nvSpPr>
        <p:spPr>
          <a:xfrm>
            <a:off x="9155088" y="3912215"/>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latin typeface="Times" pitchFamily="2" charset="0"/>
            </a:endParaRPr>
          </a:p>
        </p:txBody>
      </p:sp>
      <p:cxnSp>
        <p:nvCxnSpPr>
          <p:cNvPr id="48" name="Straight Connector 47">
            <a:extLst>
              <a:ext uri="{FF2B5EF4-FFF2-40B4-BE49-F238E27FC236}">
                <a16:creationId xmlns:a16="http://schemas.microsoft.com/office/drawing/2014/main" id="{AF15303B-C897-8042-B2DE-F9E3E726269F}"/>
              </a:ext>
            </a:extLst>
          </p:cNvPr>
          <p:cNvCxnSpPr>
            <a:cxnSpLocks/>
            <a:stCxn id="46" idx="4"/>
            <a:endCxn id="45" idx="0"/>
          </p:cNvCxnSpPr>
          <p:nvPr/>
        </p:nvCxnSpPr>
        <p:spPr>
          <a:xfrm>
            <a:off x="9209088" y="4020215"/>
            <a:ext cx="0" cy="4547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40118E04-A0A3-BC4A-92E5-C19829B41E3C}"/>
              </a:ext>
            </a:extLst>
          </p:cNvPr>
          <p:cNvSpPr/>
          <p:nvPr/>
        </p:nvSpPr>
        <p:spPr>
          <a:xfrm>
            <a:off x="8697581" y="6002165"/>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a:t>
            </a:r>
          </a:p>
        </p:txBody>
      </p:sp>
      <p:sp>
        <p:nvSpPr>
          <p:cNvPr id="52" name="Oval 51">
            <a:extLst>
              <a:ext uri="{FF2B5EF4-FFF2-40B4-BE49-F238E27FC236}">
                <a16:creationId xmlns:a16="http://schemas.microsoft.com/office/drawing/2014/main" id="{A6ADE32C-79A2-4248-8A60-2DD1BCC27579}"/>
              </a:ext>
            </a:extLst>
          </p:cNvPr>
          <p:cNvSpPr/>
          <p:nvPr/>
        </p:nvSpPr>
        <p:spPr>
          <a:xfrm>
            <a:off x="8823581" y="5439437"/>
            <a:ext cx="108000" cy="10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dirty="0">
              <a:latin typeface="Times" pitchFamily="2" charset="0"/>
            </a:endParaRPr>
          </a:p>
        </p:txBody>
      </p:sp>
      <p:cxnSp>
        <p:nvCxnSpPr>
          <p:cNvPr id="53" name="Straight Connector 52">
            <a:extLst>
              <a:ext uri="{FF2B5EF4-FFF2-40B4-BE49-F238E27FC236}">
                <a16:creationId xmlns:a16="http://schemas.microsoft.com/office/drawing/2014/main" id="{EC326673-4B3F-DB41-8F6D-DADD95982A8E}"/>
              </a:ext>
            </a:extLst>
          </p:cNvPr>
          <p:cNvCxnSpPr>
            <a:cxnSpLocks/>
            <a:stCxn id="52" idx="4"/>
            <a:endCxn id="51" idx="0"/>
          </p:cNvCxnSpPr>
          <p:nvPr/>
        </p:nvCxnSpPr>
        <p:spPr>
          <a:xfrm>
            <a:off x="8877581" y="5547437"/>
            <a:ext cx="0" cy="4547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a:extLst>
              <a:ext uri="{FF2B5EF4-FFF2-40B4-BE49-F238E27FC236}">
                <a16:creationId xmlns:a16="http://schemas.microsoft.com/office/drawing/2014/main" id="{A95209D5-E20F-E847-91D9-AB1428487E30}"/>
              </a:ext>
            </a:extLst>
          </p:cNvPr>
          <p:cNvSpPr/>
          <p:nvPr/>
        </p:nvSpPr>
        <p:spPr>
          <a:xfrm>
            <a:off x="9405340" y="6010141"/>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pitchFamily="2" charset="0"/>
              </a:rPr>
              <a:t>+</a:t>
            </a:r>
          </a:p>
        </p:txBody>
      </p:sp>
      <p:sp>
        <p:nvSpPr>
          <p:cNvPr id="55" name="TextBox 54">
            <a:extLst>
              <a:ext uri="{FF2B5EF4-FFF2-40B4-BE49-F238E27FC236}">
                <a16:creationId xmlns:a16="http://schemas.microsoft.com/office/drawing/2014/main" id="{9576F7D2-57C2-AC48-8027-E67FC5D04C86}"/>
              </a:ext>
            </a:extLst>
          </p:cNvPr>
          <p:cNvSpPr txBox="1"/>
          <p:nvPr/>
        </p:nvSpPr>
        <p:spPr>
          <a:xfrm>
            <a:off x="409163" y="1061325"/>
            <a:ext cx="1524520" cy="523220"/>
          </a:xfrm>
          <a:prstGeom prst="rect">
            <a:avLst/>
          </a:prstGeom>
          <a:noFill/>
        </p:spPr>
        <p:txBody>
          <a:bodyPr wrap="none" rtlCol="0">
            <a:spAutoFit/>
          </a:bodyPr>
          <a:lstStyle/>
          <a:p>
            <a:r>
              <a:rPr lang="en-US" sz="2800" dirty="0"/>
              <a:t>constant </a:t>
            </a:r>
          </a:p>
        </p:txBody>
      </p:sp>
      <p:sp>
        <p:nvSpPr>
          <p:cNvPr id="56" name="TextBox 55">
            <a:extLst>
              <a:ext uri="{FF2B5EF4-FFF2-40B4-BE49-F238E27FC236}">
                <a16:creationId xmlns:a16="http://schemas.microsoft.com/office/drawing/2014/main" id="{49292FE8-89AE-AD44-B8F0-6910A98A1865}"/>
              </a:ext>
            </a:extLst>
          </p:cNvPr>
          <p:cNvSpPr txBox="1"/>
          <p:nvPr/>
        </p:nvSpPr>
        <p:spPr>
          <a:xfrm>
            <a:off x="381956" y="2592557"/>
            <a:ext cx="1442767" cy="523220"/>
          </a:xfrm>
          <a:prstGeom prst="rect">
            <a:avLst/>
          </a:prstGeom>
          <a:noFill/>
        </p:spPr>
        <p:txBody>
          <a:bodyPr wrap="none" rtlCol="0">
            <a:spAutoFit/>
          </a:bodyPr>
          <a:lstStyle/>
          <a:p>
            <a:r>
              <a:rPr lang="en-US" sz="2800" dirty="0"/>
              <a:t>constant</a:t>
            </a:r>
          </a:p>
        </p:txBody>
      </p:sp>
      <p:sp>
        <p:nvSpPr>
          <p:cNvPr id="57" name="TextBox 56">
            <a:extLst>
              <a:ext uri="{FF2B5EF4-FFF2-40B4-BE49-F238E27FC236}">
                <a16:creationId xmlns:a16="http://schemas.microsoft.com/office/drawing/2014/main" id="{8CEB1418-7CB7-384D-85F0-381F8DEEC680}"/>
              </a:ext>
            </a:extLst>
          </p:cNvPr>
          <p:cNvSpPr txBox="1"/>
          <p:nvPr/>
        </p:nvSpPr>
        <p:spPr>
          <a:xfrm>
            <a:off x="409163" y="4135972"/>
            <a:ext cx="1507144" cy="523220"/>
          </a:xfrm>
          <a:prstGeom prst="rect">
            <a:avLst/>
          </a:prstGeom>
          <a:noFill/>
        </p:spPr>
        <p:txBody>
          <a:bodyPr wrap="none" rtlCol="0">
            <a:spAutoFit/>
          </a:bodyPr>
          <a:lstStyle/>
          <a:p>
            <a:r>
              <a:rPr lang="en-US" sz="2800" dirty="0"/>
              <a:t>balanced</a:t>
            </a:r>
          </a:p>
        </p:txBody>
      </p:sp>
      <p:sp>
        <p:nvSpPr>
          <p:cNvPr id="58" name="TextBox 57">
            <a:extLst>
              <a:ext uri="{FF2B5EF4-FFF2-40B4-BE49-F238E27FC236}">
                <a16:creationId xmlns:a16="http://schemas.microsoft.com/office/drawing/2014/main" id="{EAFBCD77-FE71-994E-B3EE-F7A0D03E104D}"/>
              </a:ext>
            </a:extLst>
          </p:cNvPr>
          <p:cNvSpPr txBox="1"/>
          <p:nvPr/>
        </p:nvSpPr>
        <p:spPr>
          <a:xfrm>
            <a:off x="409163" y="5667204"/>
            <a:ext cx="1507144" cy="523220"/>
          </a:xfrm>
          <a:prstGeom prst="rect">
            <a:avLst/>
          </a:prstGeom>
          <a:noFill/>
        </p:spPr>
        <p:txBody>
          <a:bodyPr wrap="none" rtlCol="0">
            <a:spAutoFit/>
          </a:bodyPr>
          <a:lstStyle/>
          <a:p>
            <a:r>
              <a:rPr lang="en-US" sz="2800" dirty="0"/>
              <a:t>balanced</a:t>
            </a:r>
          </a:p>
        </p:txBody>
      </p: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D765132A-F610-0C4B-97DD-033A2B7EB312}"/>
                  </a:ext>
                </a:extLst>
              </p:cNvPr>
              <p:cNvSpPr/>
              <p:nvPr/>
            </p:nvSpPr>
            <p:spPr>
              <a:xfrm>
                <a:off x="2836018" y="1092102"/>
                <a:ext cx="14309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𝑓</m:t>
                      </m:r>
                      <m:d>
                        <m:dPr>
                          <m:ctrlPr>
                            <a:rPr lang="sr-Latn-RS" sz="2400" i="1">
                              <a:latin typeface="Cambria Math" panose="02040503050406030204" pitchFamily="18" charset="0"/>
                            </a:rPr>
                          </m:ctrlPr>
                        </m:dPr>
                        <m:e>
                          <m:r>
                            <a:rPr lang="sr-Latn-RS" sz="2400" b="0" i="1" smtClean="0">
                              <a:latin typeface="Cambria Math" panose="02040503050406030204" pitchFamily="18" charset="0"/>
                            </a:rPr>
                            <m:t>𝑥</m:t>
                          </m:r>
                        </m:e>
                      </m:d>
                      <m:r>
                        <a:rPr lang="sr-Latn-RS" sz="2400" b="0" i="1" smtClean="0">
                          <a:latin typeface="Cambria Math" panose="02040503050406030204" pitchFamily="18" charset="0"/>
                        </a:rPr>
                        <m:t>=0</m:t>
                      </m:r>
                    </m:oMath>
                  </m:oMathPara>
                </a14:m>
                <a:endParaRPr lang="en-US" sz="2400" dirty="0"/>
              </a:p>
            </p:txBody>
          </p:sp>
        </mc:Choice>
        <mc:Fallback xmlns="">
          <p:sp>
            <p:nvSpPr>
              <p:cNvPr id="59" name="Rectangle 58">
                <a:extLst>
                  <a:ext uri="{FF2B5EF4-FFF2-40B4-BE49-F238E27FC236}">
                    <a16:creationId xmlns:a16="http://schemas.microsoft.com/office/drawing/2014/main" id="{D765132A-F610-0C4B-97DD-033A2B7EB312}"/>
                  </a:ext>
                </a:extLst>
              </p:cNvPr>
              <p:cNvSpPr>
                <a:spLocks noRot="1" noChangeAspect="1" noMove="1" noResize="1" noEditPoints="1" noAdjustHandles="1" noChangeArrowheads="1" noChangeShapeType="1" noTextEdit="1"/>
              </p:cNvSpPr>
              <p:nvPr/>
            </p:nvSpPr>
            <p:spPr>
              <a:xfrm>
                <a:off x="2836018" y="1092102"/>
                <a:ext cx="1430905" cy="461665"/>
              </a:xfrm>
              <a:prstGeom prst="rect">
                <a:avLst/>
              </a:prstGeom>
              <a:blipFill>
                <a:blip r:embed="rId16"/>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DF4BB7E0-5F94-B24A-ABA6-DD5A69B541CD}"/>
                  </a:ext>
                </a:extLst>
              </p:cNvPr>
              <p:cNvSpPr/>
              <p:nvPr/>
            </p:nvSpPr>
            <p:spPr>
              <a:xfrm>
                <a:off x="2806239" y="2592557"/>
                <a:ext cx="143090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𝑓</m:t>
                      </m:r>
                      <m:d>
                        <m:dPr>
                          <m:ctrlPr>
                            <a:rPr lang="sr-Latn-RS" sz="2400" i="1">
                              <a:latin typeface="Cambria Math" panose="02040503050406030204" pitchFamily="18" charset="0"/>
                            </a:rPr>
                          </m:ctrlPr>
                        </m:dPr>
                        <m:e>
                          <m:r>
                            <a:rPr lang="sr-Latn-RS" sz="2400" b="0" i="1" smtClean="0">
                              <a:latin typeface="Cambria Math" panose="02040503050406030204" pitchFamily="18" charset="0"/>
                            </a:rPr>
                            <m:t>𝑥</m:t>
                          </m:r>
                        </m:e>
                      </m:d>
                      <m:r>
                        <a:rPr lang="sr-Latn-RS" sz="2400" b="0" i="1" smtClean="0">
                          <a:latin typeface="Cambria Math" panose="02040503050406030204" pitchFamily="18" charset="0"/>
                        </a:rPr>
                        <m:t>=1</m:t>
                      </m:r>
                    </m:oMath>
                  </m:oMathPara>
                </a14:m>
                <a:endParaRPr lang="en-US" sz="2400" dirty="0"/>
              </a:p>
            </p:txBody>
          </p:sp>
        </mc:Choice>
        <mc:Fallback xmlns="">
          <p:sp>
            <p:nvSpPr>
              <p:cNvPr id="60" name="Rectangle 59">
                <a:extLst>
                  <a:ext uri="{FF2B5EF4-FFF2-40B4-BE49-F238E27FC236}">
                    <a16:creationId xmlns:a16="http://schemas.microsoft.com/office/drawing/2014/main" id="{DF4BB7E0-5F94-B24A-ABA6-DD5A69B541CD}"/>
                  </a:ext>
                </a:extLst>
              </p:cNvPr>
              <p:cNvSpPr>
                <a:spLocks noRot="1" noChangeAspect="1" noMove="1" noResize="1" noEditPoints="1" noAdjustHandles="1" noChangeArrowheads="1" noChangeShapeType="1" noTextEdit="1"/>
              </p:cNvSpPr>
              <p:nvPr/>
            </p:nvSpPr>
            <p:spPr>
              <a:xfrm>
                <a:off x="2806239" y="2592557"/>
                <a:ext cx="1430905" cy="461665"/>
              </a:xfrm>
              <a:prstGeom prst="rect">
                <a:avLst/>
              </a:prstGeom>
              <a:blipFill>
                <a:blip r:embed="rId17"/>
                <a:stretch>
                  <a:fillRect b="-19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A1458708-9FA1-FB4F-9326-1D5818C09F25}"/>
                  </a:ext>
                </a:extLst>
              </p:cNvPr>
              <p:cNvSpPr/>
              <p:nvPr/>
            </p:nvSpPr>
            <p:spPr>
              <a:xfrm>
                <a:off x="2833445" y="4142737"/>
                <a:ext cx="143379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𝑓</m:t>
                      </m:r>
                      <m:d>
                        <m:dPr>
                          <m:ctrlPr>
                            <a:rPr lang="sr-Latn-RS" sz="2400" i="1">
                              <a:latin typeface="Cambria Math" panose="02040503050406030204" pitchFamily="18" charset="0"/>
                            </a:rPr>
                          </m:ctrlPr>
                        </m:dPr>
                        <m:e>
                          <m:r>
                            <a:rPr lang="sr-Latn-RS" sz="2400" b="0" i="1" smtClean="0">
                              <a:latin typeface="Cambria Math" panose="02040503050406030204" pitchFamily="18" charset="0"/>
                            </a:rPr>
                            <m:t>𝑥</m:t>
                          </m:r>
                        </m:e>
                      </m:d>
                      <m:r>
                        <a:rPr lang="sr-Latn-RS" sz="2400" b="0" i="1" smtClean="0">
                          <a:latin typeface="Cambria Math" panose="02040503050406030204" pitchFamily="18" charset="0"/>
                        </a:rPr>
                        <m:t>=</m:t>
                      </m:r>
                      <m:r>
                        <a:rPr lang="sr-Latn-RS" sz="2400" b="0" i="1" smtClean="0">
                          <a:latin typeface="Cambria Math" panose="02040503050406030204" pitchFamily="18" charset="0"/>
                        </a:rPr>
                        <m:t>𝑥</m:t>
                      </m:r>
                    </m:oMath>
                  </m:oMathPara>
                </a14:m>
                <a:endParaRPr lang="en-US" sz="2400" dirty="0"/>
              </a:p>
            </p:txBody>
          </p:sp>
        </mc:Choice>
        <mc:Fallback xmlns="">
          <p:sp>
            <p:nvSpPr>
              <p:cNvPr id="61" name="Rectangle 60">
                <a:extLst>
                  <a:ext uri="{FF2B5EF4-FFF2-40B4-BE49-F238E27FC236}">
                    <a16:creationId xmlns:a16="http://schemas.microsoft.com/office/drawing/2014/main" id="{A1458708-9FA1-FB4F-9326-1D5818C09F25}"/>
                  </a:ext>
                </a:extLst>
              </p:cNvPr>
              <p:cNvSpPr>
                <a:spLocks noRot="1" noChangeAspect="1" noMove="1" noResize="1" noEditPoints="1" noAdjustHandles="1" noChangeArrowheads="1" noChangeShapeType="1" noTextEdit="1"/>
              </p:cNvSpPr>
              <p:nvPr/>
            </p:nvSpPr>
            <p:spPr>
              <a:xfrm>
                <a:off x="2833445" y="4142737"/>
                <a:ext cx="1433790" cy="461665"/>
              </a:xfrm>
              <a:prstGeom prst="rect">
                <a:avLst/>
              </a:prstGeom>
              <a:blipFill>
                <a:blip r:embed="rId18"/>
                <a:stretch>
                  <a:fillRect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18FD53E7-B931-164B-8F47-0F08B1BA00A0}"/>
                  </a:ext>
                </a:extLst>
              </p:cNvPr>
              <p:cNvSpPr/>
              <p:nvPr/>
            </p:nvSpPr>
            <p:spPr>
              <a:xfrm>
                <a:off x="2833444" y="5689217"/>
                <a:ext cx="1788054" cy="461665"/>
              </a:xfrm>
              <a:prstGeom prst="rect">
                <a:avLst/>
              </a:prstGeom>
            </p:spPr>
            <p:txBody>
              <a:bodyPr wrap="none">
                <a:spAutoFit/>
              </a:bodyPr>
              <a:lstStyle/>
              <a:p>
                <a14:m>
                  <m:oMath xmlns:m="http://schemas.openxmlformats.org/officeDocument/2006/math">
                    <m:r>
                      <a:rPr lang="sr-Latn-RS" sz="2400" b="0" i="1" smtClean="0">
                        <a:latin typeface="Cambria Math" panose="02040503050406030204" pitchFamily="18" charset="0"/>
                      </a:rPr>
                      <m:t>𝑓</m:t>
                    </m:r>
                    <m:d>
                      <m:dPr>
                        <m:ctrlPr>
                          <a:rPr lang="sr-Latn-RS" sz="2400" i="1">
                            <a:latin typeface="Cambria Math" panose="02040503050406030204" pitchFamily="18" charset="0"/>
                          </a:rPr>
                        </m:ctrlPr>
                      </m:dPr>
                      <m:e>
                        <m:r>
                          <a:rPr lang="sr-Latn-RS" sz="2400" b="0" i="1" smtClean="0">
                            <a:latin typeface="Cambria Math" panose="02040503050406030204" pitchFamily="18" charset="0"/>
                          </a:rPr>
                          <m:t>𝑥</m:t>
                        </m:r>
                      </m:e>
                    </m:d>
                    <m:r>
                      <a:rPr lang="sr-Latn-RS" sz="2400" b="0" i="1" smtClean="0">
                        <a:latin typeface="Cambria Math" panose="02040503050406030204" pitchFamily="18" charset="0"/>
                      </a:rPr>
                      <m:t>=</m:t>
                    </m:r>
                    <m:r>
                      <a:rPr lang="sr-Latn-RS" sz="2400" b="0" i="1" smtClean="0">
                        <a:latin typeface="Cambria Math" panose="02040503050406030204" pitchFamily="18" charset="0"/>
                      </a:rPr>
                      <m:t>𝑥</m:t>
                    </m:r>
                    <m:r>
                      <a:rPr lang="sr-Latn-RS" sz="2400" i="1">
                        <a:latin typeface="Cambria Math" panose="02040503050406030204" pitchFamily="18" charset="0"/>
                      </a:rPr>
                      <m:t>⨁</m:t>
                    </m:r>
                  </m:oMath>
                </a14:m>
                <a:r>
                  <a:rPr lang="en-US" sz="2400" dirty="0"/>
                  <a:t>1</a:t>
                </a:r>
              </a:p>
            </p:txBody>
          </p:sp>
        </mc:Choice>
        <mc:Fallback xmlns="">
          <p:sp>
            <p:nvSpPr>
              <p:cNvPr id="62" name="Rectangle 61">
                <a:extLst>
                  <a:ext uri="{FF2B5EF4-FFF2-40B4-BE49-F238E27FC236}">
                    <a16:creationId xmlns:a16="http://schemas.microsoft.com/office/drawing/2014/main" id="{18FD53E7-B931-164B-8F47-0F08B1BA00A0}"/>
                  </a:ext>
                </a:extLst>
              </p:cNvPr>
              <p:cNvSpPr>
                <a:spLocks noRot="1" noChangeAspect="1" noMove="1" noResize="1" noEditPoints="1" noAdjustHandles="1" noChangeArrowheads="1" noChangeShapeType="1" noTextEdit="1"/>
              </p:cNvSpPr>
              <p:nvPr/>
            </p:nvSpPr>
            <p:spPr>
              <a:xfrm>
                <a:off x="2833444" y="5689217"/>
                <a:ext cx="1788054" cy="461665"/>
              </a:xfrm>
              <a:prstGeom prst="rect">
                <a:avLst/>
              </a:prstGeom>
              <a:blipFill>
                <a:blip r:embed="rId19"/>
                <a:stretch>
                  <a:fillRect l="-2817" t="-8108" r="-4225" b="-29730"/>
                </a:stretch>
              </a:blipFill>
            </p:spPr>
            <p:txBody>
              <a:bodyPr/>
              <a:lstStyle/>
              <a:p>
                <a:r>
                  <a:rPr lang="en-US">
                    <a:noFill/>
                  </a:rPr>
                  <a:t> </a:t>
                </a:r>
              </a:p>
            </p:txBody>
          </p:sp>
        </mc:Fallback>
      </mc:AlternateContent>
      <p:grpSp>
        <p:nvGrpSpPr>
          <p:cNvPr id="69" name="Group 68">
            <a:extLst>
              <a:ext uri="{FF2B5EF4-FFF2-40B4-BE49-F238E27FC236}">
                <a16:creationId xmlns:a16="http://schemas.microsoft.com/office/drawing/2014/main" id="{D2F13357-2264-EB4A-A987-FB5596684C68}"/>
              </a:ext>
            </a:extLst>
          </p:cNvPr>
          <p:cNvGrpSpPr/>
          <p:nvPr/>
        </p:nvGrpSpPr>
        <p:grpSpPr>
          <a:xfrm>
            <a:off x="5195389" y="614126"/>
            <a:ext cx="1341393" cy="1133324"/>
            <a:chOff x="5418956" y="1004707"/>
            <a:chExt cx="1341393" cy="1133324"/>
          </a:xfrm>
        </p:grpSpPr>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9BE27F6B-9467-CA46-AE1C-4EE36D76CA9B}"/>
                    </a:ext>
                  </a:extLst>
                </p:cNvPr>
                <p:cNvSpPr/>
                <p:nvPr/>
              </p:nvSpPr>
              <p:spPr>
                <a:xfrm>
                  <a:off x="5418956" y="1004707"/>
                  <a:ext cx="1341393" cy="11333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sr-Latn-RS" sz="2400" b="0" i="1" smtClean="0">
                                <a:latin typeface="Cambria Math" panose="02040503050406030204" pitchFamily="18" charset="0"/>
                              </a:rPr>
                            </m:ctrlPr>
                          </m:mPr>
                          <m:mr>
                            <m:e>
                              <m:r>
                                <m:rPr>
                                  <m:brk m:alnAt="7"/>
                                </m:rPr>
                                <a:rPr lang="sr-Latn-RS" sz="2400" b="0" i="1" smtClean="0">
                                  <a:latin typeface="Cambria Math" panose="02040503050406030204" pitchFamily="18" charset="0"/>
                                </a:rPr>
                                <m:t>𝑥</m:t>
                              </m:r>
                            </m:e>
                            <m:e>
                              <m:r>
                                <a:rPr lang="sr-Latn-RS" sz="2400" i="1">
                                  <a:latin typeface="Cambria Math" panose="02040503050406030204" pitchFamily="18" charset="0"/>
                                </a:rPr>
                                <m:t>𝑓</m:t>
                              </m:r>
                              <m:d>
                                <m:dPr>
                                  <m:ctrlPr>
                                    <a:rPr lang="sr-Latn-RS" sz="2400" i="1">
                                      <a:latin typeface="Cambria Math" panose="02040503050406030204" pitchFamily="18" charset="0"/>
                                    </a:rPr>
                                  </m:ctrlPr>
                                </m:dPr>
                                <m:e>
                                  <m:r>
                                    <a:rPr lang="sr-Latn-RS" sz="2400" i="1">
                                      <a:latin typeface="Cambria Math" panose="02040503050406030204" pitchFamily="18" charset="0"/>
                                    </a:rPr>
                                    <m:t>𝑥</m:t>
                                  </m:r>
                                </m:e>
                              </m:d>
                            </m:e>
                          </m:mr>
                          <m:mr>
                            <m:e>
                              <m:r>
                                <a:rPr lang="sr-Latn-RS" sz="2400" b="0" i="1" smtClean="0">
                                  <a:latin typeface="Cambria Math" panose="02040503050406030204" pitchFamily="18" charset="0"/>
                                </a:rPr>
                                <m:t>0</m:t>
                              </m:r>
                            </m:e>
                            <m:e>
                              <m:r>
                                <a:rPr lang="sr-Latn-RS" sz="2400" b="0" i="1" smtClean="0">
                                  <a:latin typeface="Cambria Math" panose="02040503050406030204" pitchFamily="18" charset="0"/>
                                </a:rPr>
                                <m:t>0</m:t>
                              </m:r>
                            </m:e>
                          </m:mr>
                          <m:mr>
                            <m:e>
                              <m:r>
                                <a:rPr lang="sr-Latn-RS" sz="2400" b="0" i="1" smtClean="0">
                                  <a:latin typeface="Cambria Math" panose="02040503050406030204" pitchFamily="18" charset="0"/>
                                </a:rPr>
                                <m:t>1</m:t>
                              </m:r>
                            </m:e>
                            <m:e>
                              <m:r>
                                <a:rPr lang="sr-Latn-RS" sz="2400" b="0" i="1" smtClean="0">
                                  <a:latin typeface="Cambria Math" panose="02040503050406030204" pitchFamily="18" charset="0"/>
                                </a:rPr>
                                <m:t>0</m:t>
                              </m:r>
                            </m:e>
                          </m:mr>
                        </m:m>
                      </m:oMath>
                    </m:oMathPara>
                  </a14:m>
                  <a:endParaRPr lang="en-US" sz="2400" dirty="0"/>
                </a:p>
              </p:txBody>
            </p:sp>
          </mc:Choice>
          <mc:Fallback xmlns="">
            <p:sp>
              <p:nvSpPr>
                <p:cNvPr id="63" name="Rectangle 62">
                  <a:extLst>
                    <a:ext uri="{FF2B5EF4-FFF2-40B4-BE49-F238E27FC236}">
                      <a16:creationId xmlns:a16="http://schemas.microsoft.com/office/drawing/2014/main" id="{9BE27F6B-9467-CA46-AE1C-4EE36D76CA9B}"/>
                    </a:ext>
                  </a:extLst>
                </p:cNvPr>
                <p:cNvSpPr>
                  <a:spLocks noRot="1" noChangeAspect="1" noMove="1" noResize="1" noEditPoints="1" noAdjustHandles="1" noChangeArrowheads="1" noChangeShapeType="1" noTextEdit="1"/>
                </p:cNvSpPr>
                <p:nvPr/>
              </p:nvSpPr>
              <p:spPr>
                <a:xfrm>
                  <a:off x="5418956" y="1004707"/>
                  <a:ext cx="1341393" cy="1133324"/>
                </a:xfrm>
                <a:prstGeom prst="rect">
                  <a:avLst/>
                </a:prstGeom>
                <a:blipFill>
                  <a:blip r:embed="rId20"/>
                  <a:stretch>
                    <a:fillRect b="-2222"/>
                  </a:stretch>
                </a:blipFill>
              </p:spPr>
              <p:txBody>
                <a:bodyPr/>
                <a:lstStyle/>
                <a:p>
                  <a:r>
                    <a:rPr lang="en-US">
                      <a:noFill/>
                    </a:rPr>
                    <a:t> </a:t>
                  </a:r>
                </a:p>
              </p:txBody>
            </p:sp>
          </mc:Fallback>
        </mc:AlternateContent>
        <p:cxnSp>
          <p:nvCxnSpPr>
            <p:cNvPr id="66" name="Straight Connector 65">
              <a:extLst>
                <a:ext uri="{FF2B5EF4-FFF2-40B4-BE49-F238E27FC236}">
                  <a16:creationId xmlns:a16="http://schemas.microsoft.com/office/drawing/2014/main" id="{115A68D8-DD3D-C340-A67C-77D7436FB757}"/>
                </a:ext>
              </a:extLst>
            </p:cNvPr>
            <p:cNvCxnSpPr>
              <a:cxnSpLocks/>
            </p:cNvCxnSpPr>
            <p:nvPr/>
          </p:nvCxnSpPr>
          <p:spPr>
            <a:xfrm flipV="1">
              <a:off x="5459127" y="1422660"/>
              <a:ext cx="12610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0" name="Group 69">
            <a:extLst>
              <a:ext uri="{FF2B5EF4-FFF2-40B4-BE49-F238E27FC236}">
                <a16:creationId xmlns:a16="http://schemas.microsoft.com/office/drawing/2014/main" id="{688A8632-CD35-5146-9FCB-ADAC855F6A54}"/>
              </a:ext>
            </a:extLst>
          </p:cNvPr>
          <p:cNvGrpSpPr/>
          <p:nvPr/>
        </p:nvGrpSpPr>
        <p:grpSpPr>
          <a:xfrm>
            <a:off x="5180420" y="2149451"/>
            <a:ext cx="1341393" cy="1133324"/>
            <a:chOff x="5418956" y="1004707"/>
            <a:chExt cx="1341393" cy="1133324"/>
          </a:xfrm>
        </p:grpSpPr>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F01FE9F5-275E-A14A-861B-DF399353B9F1}"/>
                    </a:ext>
                  </a:extLst>
                </p:cNvPr>
                <p:cNvSpPr/>
                <p:nvPr/>
              </p:nvSpPr>
              <p:spPr>
                <a:xfrm>
                  <a:off x="5418956" y="1004707"/>
                  <a:ext cx="1341393" cy="11333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sr-Latn-RS" sz="2400" b="0" i="1" smtClean="0">
                                <a:latin typeface="Cambria Math" panose="02040503050406030204" pitchFamily="18" charset="0"/>
                              </a:rPr>
                            </m:ctrlPr>
                          </m:mPr>
                          <m:mr>
                            <m:e>
                              <m:r>
                                <m:rPr>
                                  <m:brk m:alnAt="7"/>
                                </m:rPr>
                                <a:rPr lang="sr-Latn-RS" sz="2400" b="0" i="1" smtClean="0">
                                  <a:latin typeface="Cambria Math" panose="02040503050406030204" pitchFamily="18" charset="0"/>
                                </a:rPr>
                                <m:t>𝑥</m:t>
                              </m:r>
                            </m:e>
                            <m:e>
                              <m:r>
                                <a:rPr lang="sr-Latn-RS" sz="2400" i="1">
                                  <a:latin typeface="Cambria Math" panose="02040503050406030204" pitchFamily="18" charset="0"/>
                                </a:rPr>
                                <m:t>𝑓</m:t>
                              </m:r>
                              <m:d>
                                <m:dPr>
                                  <m:ctrlPr>
                                    <a:rPr lang="sr-Latn-RS" sz="2400" i="1">
                                      <a:latin typeface="Cambria Math" panose="02040503050406030204" pitchFamily="18" charset="0"/>
                                    </a:rPr>
                                  </m:ctrlPr>
                                </m:dPr>
                                <m:e>
                                  <m:r>
                                    <a:rPr lang="sr-Latn-RS" sz="2400" i="1">
                                      <a:latin typeface="Cambria Math" panose="02040503050406030204" pitchFamily="18" charset="0"/>
                                    </a:rPr>
                                    <m:t>𝑥</m:t>
                                  </m:r>
                                </m:e>
                              </m:d>
                            </m:e>
                          </m:mr>
                          <m:mr>
                            <m:e>
                              <m:r>
                                <a:rPr lang="sr-Latn-RS" sz="2400" b="0" i="1" smtClean="0">
                                  <a:latin typeface="Cambria Math" panose="02040503050406030204" pitchFamily="18" charset="0"/>
                                </a:rPr>
                                <m:t>0</m:t>
                              </m:r>
                            </m:e>
                            <m:e>
                              <m:r>
                                <a:rPr lang="sr-Latn-RS" sz="2400" b="0" i="1" smtClean="0">
                                  <a:latin typeface="Cambria Math" panose="02040503050406030204" pitchFamily="18" charset="0"/>
                                </a:rPr>
                                <m:t>1</m:t>
                              </m:r>
                            </m:e>
                          </m:mr>
                          <m:mr>
                            <m:e>
                              <m:r>
                                <a:rPr lang="sr-Latn-RS" sz="2400" b="0" i="1" smtClean="0">
                                  <a:latin typeface="Cambria Math" panose="02040503050406030204" pitchFamily="18" charset="0"/>
                                </a:rPr>
                                <m:t>1</m:t>
                              </m:r>
                            </m:e>
                            <m:e>
                              <m:r>
                                <a:rPr lang="sr-Latn-RS" sz="2400" b="0" i="1" smtClean="0">
                                  <a:latin typeface="Cambria Math" panose="02040503050406030204" pitchFamily="18" charset="0"/>
                                </a:rPr>
                                <m:t>1</m:t>
                              </m:r>
                            </m:e>
                          </m:mr>
                        </m:m>
                      </m:oMath>
                    </m:oMathPara>
                  </a14:m>
                  <a:endParaRPr lang="en-US" sz="2400" dirty="0"/>
                </a:p>
              </p:txBody>
            </p:sp>
          </mc:Choice>
          <mc:Fallback xmlns="">
            <p:sp>
              <p:nvSpPr>
                <p:cNvPr id="71" name="Rectangle 70">
                  <a:extLst>
                    <a:ext uri="{FF2B5EF4-FFF2-40B4-BE49-F238E27FC236}">
                      <a16:creationId xmlns:a16="http://schemas.microsoft.com/office/drawing/2014/main" id="{F01FE9F5-275E-A14A-861B-DF399353B9F1}"/>
                    </a:ext>
                  </a:extLst>
                </p:cNvPr>
                <p:cNvSpPr>
                  <a:spLocks noRot="1" noChangeAspect="1" noMove="1" noResize="1" noEditPoints="1" noAdjustHandles="1" noChangeArrowheads="1" noChangeShapeType="1" noTextEdit="1"/>
                </p:cNvSpPr>
                <p:nvPr/>
              </p:nvSpPr>
              <p:spPr>
                <a:xfrm>
                  <a:off x="5418956" y="1004707"/>
                  <a:ext cx="1341393" cy="1133324"/>
                </a:xfrm>
                <a:prstGeom prst="rect">
                  <a:avLst/>
                </a:prstGeom>
                <a:blipFill>
                  <a:blip r:embed="rId21"/>
                  <a:stretch>
                    <a:fillRect b="-1111"/>
                  </a:stretch>
                </a:blipFill>
              </p:spPr>
              <p:txBody>
                <a:bodyPr/>
                <a:lstStyle/>
                <a:p>
                  <a:r>
                    <a:rPr lang="en-US">
                      <a:noFill/>
                    </a:rPr>
                    <a:t> </a:t>
                  </a:r>
                </a:p>
              </p:txBody>
            </p:sp>
          </mc:Fallback>
        </mc:AlternateContent>
        <p:cxnSp>
          <p:nvCxnSpPr>
            <p:cNvPr id="72" name="Straight Connector 71">
              <a:extLst>
                <a:ext uri="{FF2B5EF4-FFF2-40B4-BE49-F238E27FC236}">
                  <a16:creationId xmlns:a16="http://schemas.microsoft.com/office/drawing/2014/main" id="{69DB06A0-6BB3-4145-908C-43E2E51DCCF8}"/>
                </a:ext>
              </a:extLst>
            </p:cNvPr>
            <p:cNvCxnSpPr>
              <a:cxnSpLocks/>
            </p:cNvCxnSpPr>
            <p:nvPr/>
          </p:nvCxnSpPr>
          <p:spPr>
            <a:xfrm flipV="1">
              <a:off x="5459127" y="1422660"/>
              <a:ext cx="12610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3" name="Group 72">
            <a:extLst>
              <a:ext uri="{FF2B5EF4-FFF2-40B4-BE49-F238E27FC236}">
                <a16:creationId xmlns:a16="http://schemas.microsoft.com/office/drawing/2014/main" id="{ADB6A2F5-92CE-1D4F-8F15-9B3523B9EBFA}"/>
              </a:ext>
            </a:extLst>
          </p:cNvPr>
          <p:cNvGrpSpPr/>
          <p:nvPr/>
        </p:nvGrpSpPr>
        <p:grpSpPr>
          <a:xfrm>
            <a:off x="5187996" y="3732681"/>
            <a:ext cx="1341393" cy="1133324"/>
            <a:chOff x="5418956" y="1004707"/>
            <a:chExt cx="1341393" cy="1133324"/>
          </a:xfrm>
        </p:grpSpPr>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EF2DF3E3-E487-B94F-B61E-57468FCF395F}"/>
                    </a:ext>
                  </a:extLst>
                </p:cNvPr>
                <p:cNvSpPr/>
                <p:nvPr/>
              </p:nvSpPr>
              <p:spPr>
                <a:xfrm>
                  <a:off x="5418956" y="1004707"/>
                  <a:ext cx="1341393" cy="11333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sr-Latn-RS" sz="2400" b="0" i="1" smtClean="0">
                                <a:latin typeface="Cambria Math" panose="02040503050406030204" pitchFamily="18" charset="0"/>
                              </a:rPr>
                            </m:ctrlPr>
                          </m:mPr>
                          <m:mr>
                            <m:e>
                              <m:r>
                                <m:rPr>
                                  <m:brk m:alnAt="7"/>
                                </m:rPr>
                                <a:rPr lang="sr-Latn-RS" sz="2400" b="0" i="1" smtClean="0">
                                  <a:latin typeface="Cambria Math" panose="02040503050406030204" pitchFamily="18" charset="0"/>
                                </a:rPr>
                                <m:t>𝑥</m:t>
                              </m:r>
                            </m:e>
                            <m:e>
                              <m:r>
                                <a:rPr lang="sr-Latn-RS" sz="2400" i="1">
                                  <a:latin typeface="Cambria Math" panose="02040503050406030204" pitchFamily="18" charset="0"/>
                                </a:rPr>
                                <m:t>𝑓</m:t>
                              </m:r>
                              <m:d>
                                <m:dPr>
                                  <m:ctrlPr>
                                    <a:rPr lang="sr-Latn-RS" sz="2400" i="1">
                                      <a:latin typeface="Cambria Math" panose="02040503050406030204" pitchFamily="18" charset="0"/>
                                    </a:rPr>
                                  </m:ctrlPr>
                                </m:dPr>
                                <m:e>
                                  <m:r>
                                    <a:rPr lang="sr-Latn-RS" sz="2400" i="1">
                                      <a:latin typeface="Cambria Math" panose="02040503050406030204" pitchFamily="18" charset="0"/>
                                    </a:rPr>
                                    <m:t>𝑥</m:t>
                                  </m:r>
                                </m:e>
                              </m:d>
                            </m:e>
                          </m:mr>
                          <m:mr>
                            <m:e>
                              <m:r>
                                <a:rPr lang="sr-Latn-RS" sz="2400" b="0" i="1" smtClean="0">
                                  <a:latin typeface="Cambria Math" panose="02040503050406030204" pitchFamily="18" charset="0"/>
                                </a:rPr>
                                <m:t>0</m:t>
                              </m:r>
                            </m:e>
                            <m:e>
                              <m:r>
                                <a:rPr lang="sr-Latn-RS" sz="2400" b="0" i="1" smtClean="0">
                                  <a:latin typeface="Cambria Math" panose="02040503050406030204" pitchFamily="18" charset="0"/>
                                </a:rPr>
                                <m:t>0</m:t>
                              </m:r>
                            </m:e>
                          </m:mr>
                          <m:mr>
                            <m:e>
                              <m:r>
                                <a:rPr lang="sr-Latn-RS" sz="2400" b="0" i="1" smtClean="0">
                                  <a:latin typeface="Cambria Math" panose="02040503050406030204" pitchFamily="18" charset="0"/>
                                </a:rPr>
                                <m:t>1</m:t>
                              </m:r>
                            </m:e>
                            <m:e>
                              <m:r>
                                <a:rPr lang="sr-Latn-RS" sz="2400" b="0" i="1" smtClean="0">
                                  <a:latin typeface="Cambria Math" panose="02040503050406030204" pitchFamily="18" charset="0"/>
                                </a:rPr>
                                <m:t>1</m:t>
                              </m:r>
                            </m:e>
                          </m:mr>
                        </m:m>
                      </m:oMath>
                    </m:oMathPara>
                  </a14:m>
                  <a:endParaRPr lang="en-US" sz="2400" dirty="0"/>
                </a:p>
              </p:txBody>
            </p:sp>
          </mc:Choice>
          <mc:Fallback xmlns="">
            <p:sp>
              <p:nvSpPr>
                <p:cNvPr id="74" name="Rectangle 73">
                  <a:extLst>
                    <a:ext uri="{FF2B5EF4-FFF2-40B4-BE49-F238E27FC236}">
                      <a16:creationId xmlns:a16="http://schemas.microsoft.com/office/drawing/2014/main" id="{EF2DF3E3-E487-B94F-B61E-57468FCF395F}"/>
                    </a:ext>
                  </a:extLst>
                </p:cNvPr>
                <p:cNvSpPr>
                  <a:spLocks noRot="1" noChangeAspect="1" noMove="1" noResize="1" noEditPoints="1" noAdjustHandles="1" noChangeArrowheads="1" noChangeShapeType="1" noTextEdit="1"/>
                </p:cNvSpPr>
                <p:nvPr/>
              </p:nvSpPr>
              <p:spPr>
                <a:xfrm>
                  <a:off x="5418956" y="1004707"/>
                  <a:ext cx="1341393" cy="1133324"/>
                </a:xfrm>
                <a:prstGeom prst="rect">
                  <a:avLst/>
                </a:prstGeom>
                <a:blipFill>
                  <a:blip r:embed="rId22"/>
                  <a:stretch>
                    <a:fillRect b="-1111"/>
                  </a:stretch>
                </a:blipFill>
              </p:spPr>
              <p:txBody>
                <a:bodyPr/>
                <a:lstStyle/>
                <a:p>
                  <a:r>
                    <a:rPr lang="en-US">
                      <a:noFill/>
                    </a:rPr>
                    <a:t> </a:t>
                  </a:r>
                </a:p>
              </p:txBody>
            </p:sp>
          </mc:Fallback>
        </mc:AlternateContent>
        <p:cxnSp>
          <p:nvCxnSpPr>
            <p:cNvPr id="75" name="Straight Connector 74">
              <a:extLst>
                <a:ext uri="{FF2B5EF4-FFF2-40B4-BE49-F238E27FC236}">
                  <a16:creationId xmlns:a16="http://schemas.microsoft.com/office/drawing/2014/main" id="{8568844C-7A89-E640-B018-E348858E50E5}"/>
                </a:ext>
              </a:extLst>
            </p:cNvPr>
            <p:cNvCxnSpPr>
              <a:cxnSpLocks/>
            </p:cNvCxnSpPr>
            <p:nvPr/>
          </p:nvCxnSpPr>
          <p:spPr>
            <a:xfrm flipV="1">
              <a:off x="5459127" y="1422660"/>
              <a:ext cx="12610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Group 75">
            <a:extLst>
              <a:ext uri="{FF2B5EF4-FFF2-40B4-BE49-F238E27FC236}">
                <a16:creationId xmlns:a16="http://schemas.microsoft.com/office/drawing/2014/main" id="{95B8DE2E-350D-2B49-ABF0-7D426511D4C4}"/>
              </a:ext>
            </a:extLst>
          </p:cNvPr>
          <p:cNvGrpSpPr/>
          <p:nvPr/>
        </p:nvGrpSpPr>
        <p:grpSpPr>
          <a:xfrm>
            <a:off x="5195389" y="5276527"/>
            <a:ext cx="1341393" cy="1133324"/>
            <a:chOff x="5418956" y="1004707"/>
            <a:chExt cx="1341393" cy="1133324"/>
          </a:xfrm>
        </p:grpSpPr>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255858FF-F949-BC40-A710-D54D7170EE54}"/>
                    </a:ext>
                  </a:extLst>
                </p:cNvPr>
                <p:cNvSpPr/>
                <p:nvPr/>
              </p:nvSpPr>
              <p:spPr>
                <a:xfrm>
                  <a:off x="5418956" y="1004707"/>
                  <a:ext cx="1341393" cy="11333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sr-Latn-RS" sz="2400" b="0" i="1" smtClean="0">
                                <a:latin typeface="Cambria Math" panose="02040503050406030204" pitchFamily="18" charset="0"/>
                              </a:rPr>
                            </m:ctrlPr>
                          </m:mPr>
                          <m:mr>
                            <m:e>
                              <m:r>
                                <m:rPr>
                                  <m:brk m:alnAt="7"/>
                                </m:rPr>
                                <a:rPr lang="sr-Latn-RS" sz="2400" b="0" i="1" smtClean="0">
                                  <a:latin typeface="Cambria Math" panose="02040503050406030204" pitchFamily="18" charset="0"/>
                                </a:rPr>
                                <m:t>𝑥</m:t>
                              </m:r>
                            </m:e>
                            <m:e>
                              <m:r>
                                <a:rPr lang="sr-Latn-RS" sz="2400" i="1">
                                  <a:latin typeface="Cambria Math" panose="02040503050406030204" pitchFamily="18" charset="0"/>
                                </a:rPr>
                                <m:t>𝑓</m:t>
                              </m:r>
                              <m:d>
                                <m:dPr>
                                  <m:ctrlPr>
                                    <a:rPr lang="sr-Latn-RS" sz="2400" i="1">
                                      <a:latin typeface="Cambria Math" panose="02040503050406030204" pitchFamily="18" charset="0"/>
                                    </a:rPr>
                                  </m:ctrlPr>
                                </m:dPr>
                                <m:e>
                                  <m:r>
                                    <a:rPr lang="sr-Latn-RS" sz="2400" i="1">
                                      <a:latin typeface="Cambria Math" panose="02040503050406030204" pitchFamily="18" charset="0"/>
                                    </a:rPr>
                                    <m:t>𝑥</m:t>
                                  </m:r>
                                </m:e>
                              </m:d>
                            </m:e>
                          </m:mr>
                          <m:mr>
                            <m:e>
                              <m:r>
                                <a:rPr lang="sr-Latn-RS" sz="2400" b="0" i="1" smtClean="0">
                                  <a:latin typeface="Cambria Math" panose="02040503050406030204" pitchFamily="18" charset="0"/>
                                </a:rPr>
                                <m:t>0</m:t>
                              </m:r>
                            </m:e>
                            <m:e>
                              <m:r>
                                <a:rPr lang="sr-Latn-RS" sz="2400" b="0" i="1" smtClean="0">
                                  <a:latin typeface="Cambria Math" panose="02040503050406030204" pitchFamily="18" charset="0"/>
                                </a:rPr>
                                <m:t>1</m:t>
                              </m:r>
                            </m:e>
                          </m:mr>
                          <m:mr>
                            <m:e>
                              <m:r>
                                <a:rPr lang="sr-Latn-RS" sz="2400" b="0" i="1" smtClean="0">
                                  <a:latin typeface="Cambria Math" panose="02040503050406030204" pitchFamily="18" charset="0"/>
                                </a:rPr>
                                <m:t>1</m:t>
                              </m:r>
                            </m:e>
                            <m:e>
                              <m:r>
                                <a:rPr lang="sr-Latn-RS" sz="2400" b="0" i="1" smtClean="0">
                                  <a:latin typeface="Cambria Math" panose="02040503050406030204" pitchFamily="18" charset="0"/>
                                </a:rPr>
                                <m:t>0</m:t>
                              </m:r>
                            </m:e>
                          </m:mr>
                        </m:m>
                      </m:oMath>
                    </m:oMathPara>
                  </a14:m>
                  <a:endParaRPr lang="en-US" sz="2400" dirty="0"/>
                </a:p>
              </p:txBody>
            </p:sp>
          </mc:Choice>
          <mc:Fallback xmlns="">
            <p:sp>
              <p:nvSpPr>
                <p:cNvPr id="77" name="Rectangle 76">
                  <a:extLst>
                    <a:ext uri="{FF2B5EF4-FFF2-40B4-BE49-F238E27FC236}">
                      <a16:creationId xmlns:a16="http://schemas.microsoft.com/office/drawing/2014/main" id="{255858FF-F949-BC40-A710-D54D7170EE54}"/>
                    </a:ext>
                  </a:extLst>
                </p:cNvPr>
                <p:cNvSpPr>
                  <a:spLocks noRot="1" noChangeAspect="1" noMove="1" noResize="1" noEditPoints="1" noAdjustHandles="1" noChangeArrowheads="1" noChangeShapeType="1" noTextEdit="1"/>
                </p:cNvSpPr>
                <p:nvPr/>
              </p:nvSpPr>
              <p:spPr>
                <a:xfrm>
                  <a:off x="5418956" y="1004707"/>
                  <a:ext cx="1341393" cy="1133324"/>
                </a:xfrm>
                <a:prstGeom prst="rect">
                  <a:avLst/>
                </a:prstGeom>
                <a:blipFill>
                  <a:blip r:embed="rId23"/>
                  <a:stretch>
                    <a:fillRect b="-2198"/>
                  </a:stretch>
                </a:blipFill>
              </p:spPr>
              <p:txBody>
                <a:bodyPr/>
                <a:lstStyle/>
                <a:p>
                  <a:r>
                    <a:rPr lang="en-US">
                      <a:noFill/>
                    </a:rPr>
                    <a:t> </a:t>
                  </a:r>
                </a:p>
              </p:txBody>
            </p:sp>
          </mc:Fallback>
        </mc:AlternateContent>
        <p:cxnSp>
          <p:nvCxnSpPr>
            <p:cNvPr id="78" name="Straight Connector 77">
              <a:extLst>
                <a:ext uri="{FF2B5EF4-FFF2-40B4-BE49-F238E27FC236}">
                  <a16:creationId xmlns:a16="http://schemas.microsoft.com/office/drawing/2014/main" id="{50C41133-D32F-1540-818F-8D47C5297438}"/>
                </a:ext>
              </a:extLst>
            </p:cNvPr>
            <p:cNvCxnSpPr>
              <a:cxnSpLocks/>
            </p:cNvCxnSpPr>
            <p:nvPr/>
          </p:nvCxnSpPr>
          <p:spPr>
            <a:xfrm flipV="1">
              <a:off x="5459127" y="1422660"/>
              <a:ext cx="12610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62333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A0EC26-90BB-1445-9C08-4D25D1DA9447}"/>
              </a:ext>
            </a:extLst>
          </p:cNvPr>
          <p:cNvSpPr txBox="1"/>
          <p:nvPr/>
        </p:nvSpPr>
        <p:spPr>
          <a:xfrm>
            <a:off x="3118889" y="4455882"/>
            <a:ext cx="6207148" cy="1323439"/>
          </a:xfrm>
          <a:prstGeom prst="rect">
            <a:avLst/>
          </a:prstGeom>
          <a:noFill/>
        </p:spPr>
        <p:txBody>
          <a:bodyPr wrap="none" rtlCol="0">
            <a:spAutoFit/>
          </a:bodyPr>
          <a:lstStyle/>
          <a:p>
            <a:r>
              <a:rPr lang="en-US" sz="4000" dirty="0">
                <a:latin typeface="Comic Sans MS" panose="030F0902030302020204" pitchFamily="66" charset="0"/>
              </a:rPr>
              <a:t>Deutsch–</a:t>
            </a:r>
            <a:r>
              <a:rPr lang="en-US" sz="4000" dirty="0" err="1">
                <a:latin typeface="Comic Sans MS" panose="030F0902030302020204" pitchFamily="66" charset="0"/>
              </a:rPr>
              <a:t>Jozsa</a:t>
            </a:r>
            <a:r>
              <a:rPr lang="en-US" sz="4000" dirty="0">
                <a:latin typeface="Comic Sans MS" panose="030F0902030302020204" pitchFamily="66" charset="0"/>
              </a:rPr>
              <a:t> algorithm</a:t>
            </a:r>
          </a:p>
          <a:p>
            <a:pPr algn="ctr"/>
            <a:r>
              <a:rPr lang="en-US" sz="4000" dirty="0">
                <a:latin typeface="Comic Sans MS" panose="030F0902030302020204" pitchFamily="66" charset="0"/>
              </a:rPr>
              <a:t>(1992)</a:t>
            </a:r>
          </a:p>
        </p:txBody>
      </p:sp>
      <p:sp>
        <p:nvSpPr>
          <p:cNvPr id="7" name="TextBox 6">
            <a:extLst>
              <a:ext uri="{FF2B5EF4-FFF2-40B4-BE49-F238E27FC236}">
                <a16:creationId xmlns:a16="http://schemas.microsoft.com/office/drawing/2014/main" id="{D7D985D0-71E5-FA4A-B888-53A25D5971AC}"/>
              </a:ext>
            </a:extLst>
          </p:cNvPr>
          <p:cNvSpPr txBox="1"/>
          <p:nvPr/>
        </p:nvSpPr>
        <p:spPr>
          <a:xfrm>
            <a:off x="709393" y="3756473"/>
            <a:ext cx="3584315" cy="461665"/>
          </a:xfrm>
          <a:prstGeom prst="rect">
            <a:avLst/>
          </a:prstGeom>
          <a:noFill/>
        </p:spPr>
        <p:txBody>
          <a:bodyPr wrap="none" rtlCol="0">
            <a:spAutoFit/>
          </a:bodyPr>
          <a:lstStyle/>
          <a:p>
            <a:r>
              <a:rPr lang="en-US" sz="2400" dirty="0"/>
              <a:t>David Deutsch  (born 1953)</a:t>
            </a:r>
          </a:p>
        </p:txBody>
      </p:sp>
      <p:sp>
        <p:nvSpPr>
          <p:cNvPr id="11" name="TextBox 10">
            <a:extLst>
              <a:ext uri="{FF2B5EF4-FFF2-40B4-BE49-F238E27FC236}">
                <a16:creationId xmlns:a16="http://schemas.microsoft.com/office/drawing/2014/main" id="{5758159F-C4D5-374C-BD1D-CC9093137A70}"/>
              </a:ext>
            </a:extLst>
          </p:cNvPr>
          <p:cNvSpPr txBox="1"/>
          <p:nvPr/>
        </p:nvSpPr>
        <p:spPr>
          <a:xfrm>
            <a:off x="7759403" y="3592830"/>
            <a:ext cx="3416320" cy="461665"/>
          </a:xfrm>
          <a:prstGeom prst="rect">
            <a:avLst/>
          </a:prstGeom>
          <a:noFill/>
        </p:spPr>
        <p:txBody>
          <a:bodyPr wrap="none" rtlCol="0">
            <a:spAutoFit/>
          </a:bodyPr>
          <a:lstStyle/>
          <a:p>
            <a:r>
              <a:rPr lang="en-ZA" sz="2400" dirty="0"/>
              <a:t>Richard </a:t>
            </a:r>
            <a:r>
              <a:rPr lang="en-ZA" sz="2400" dirty="0" err="1"/>
              <a:t>Jozsa</a:t>
            </a:r>
            <a:r>
              <a:rPr lang="en-ZA" sz="2400" dirty="0"/>
              <a:t> </a:t>
            </a:r>
            <a:r>
              <a:rPr lang="en-US" sz="2400" dirty="0"/>
              <a:t>(born 1953)</a:t>
            </a:r>
          </a:p>
        </p:txBody>
      </p:sp>
      <p:pic>
        <p:nvPicPr>
          <p:cNvPr id="8" name="Picture 7">
            <a:extLst>
              <a:ext uri="{FF2B5EF4-FFF2-40B4-BE49-F238E27FC236}">
                <a16:creationId xmlns:a16="http://schemas.microsoft.com/office/drawing/2014/main" id="{4D753985-5D92-E94A-BD32-89B9B8BC6CB5}"/>
              </a:ext>
            </a:extLst>
          </p:cNvPr>
          <p:cNvPicPr>
            <a:picLocks noChangeAspect="1"/>
          </p:cNvPicPr>
          <p:nvPr/>
        </p:nvPicPr>
        <p:blipFill>
          <a:blip r:embed="rId3"/>
          <a:stretch>
            <a:fillRect/>
          </a:stretch>
        </p:blipFill>
        <p:spPr>
          <a:xfrm>
            <a:off x="1324266" y="836229"/>
            <a:ext cx="1882589" cy="2823884"/>
          </a:xfrm>
          <a:prstGeom prst="rect">
            <a:avLst/>
          </a:prstGeom>
        </p:spPr>
      </p:pic>
      <p:pic>
        <p:nvPicPr>
          <p:cNvPr id="9" name="Picture 8">
            <a:extLst>
              <a:ext uri="{FF2B5EF4-FFF2-40B4-BE49-F238E27FC236}">
                <a16:creationId xmlns:a16="http://schemas.microsoft.com/office/drawing/2014/main" id="{6C3F8570-D508-DB4B-9CB5-B3FDDFFA8C0D}"/>
              </a:ext>
            </a:extLst>
          </p:cNvPr>
          <p:cNvPicPr>
            <a:picLocks noChangeAspect="1"/>
          </p:cNvPicPr>
          <p:nvPr/>
        </p:nvPicPr>
        <p:blipFill>
          <a:blip r:embed="rId4"/>
          <a:stretch>
            <a:fillRect/>
          </a:stretch>
        </p:blipFill>
        <p:spPr>
          <a:xfrm>
            <a:off x="8342118" y="978759"/>
            <a:ext cx="2250889" cy="2532250"/>
          </a:xfrm>
          <a:prstGeom prst="rect">
            <a:avLst/>
          </a:prstGeom>
        </p:spPr>
      </p:pic>
      <p:sp>
        <p:nvSpPr>
          <p:cNvPr id="10" name="Slide Number Placeholder 2">
            <a:extLst>
              <a:ext uri="{FF2B5EF4-FFF2-40B4-BE49-F238E27FC236}">
                <a16:creationId xmlns:a16="http://schemas.microsoft.com/office/drawing/2014/main" id="{68A693DC-090D-5747-80F7-6077EE290B72}"/>
              </a:ext>
            </a:extLst>
          </p:cNvPr>
          <p:cNvSpPr>
            <a:spLocks noGrp="1"/>
          </p:cNvSpPr>
          <p:nvPr>
            <p:ph type="sldNum" sz="quarter" idx="12"/>
          </p:nvPr>
        </p:nvSpPr>
        <p:spPr>
          <a:xfrm>
            <a:off x="0" y="6492875"/>
            <a:ext cx="1012371" cy="365125"/>
          </a:xfrm>
        </p:spPr>
        <p:txBody>
          <a:bodyPr/>
          <a:lstStyle/>
          <a:p>
            <a:fld id="{591A223C-FA10-BC46-A853-03BA373D023C}" type="slidenum">
              <a:rPr lang="en-US" smtClean="0"/>
              <a:t>17</a:t>
            </a:fld>
            <a:endParaRPr lang="en-US"/>
          </a:p>
        </p:txBody>
      </p:sp>
    </p:spTree>
    <p:extLst>
      <p:ext uri="{BB962C8B-B14F-4D97-AF65-F5344CB8AC3E}">
        <p14:creationId xmlns:p14="http://schemas.microsoft.com/office/powerpoint/2010/main" val="73783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0215D0-A637-0340-AA30-531E62D8E359}"/>
              </a:ext>
            </a:extLst>
          </p:cNvPr>
          <p:cNvSpPr>
            <a:spLocks noGrp="1"/>
          </p:cNvSpPr>
          <p:nvPr>
            <p:ph type="title"/>
          </p:nvPr>
        </p:nvSpPr>
        <p:spPr/>
        <p:txBody>
          <a:bodyPr/>
          <a:lstStyle/>
          <a:p>
            <a:r>
              <a:rPr lang="en-ZA" dirty="0"/>
              <a:t>The Deutsch–</a:t>
            </a:r>
            <a:r>
              <a:rPr lang="en-ZA" dirty="0" err="1"/>
              <a:t>Jozsa</a:t>
            </a:r>
            <a:r>
              <a:rPr lang="en-ZA" dirty="0"/>
              <a:t> Problem</a:t>
            </a:r>
            <a:endParaRPr lang="en-US" dirty="0"/>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63010D5-6AAB-9D4E-B3CD-41F1ADC1C18B}"/>
                  </a:ext>
                </a:extLst>
              </p:cNvPr>
              <p:cNvSpPr/>
              <p:nvPr/>
            </p:nvSpPr>
            <p:spPr>
              <a:xfrm>
                <a:off x="322729" y="3265301"/>
                <a:ext cx="11546541" cy="3247043"/>
              </a:xfrm>
              <a:prstGeom prst="rect">
                <a:avLst/>
              </a:prstGeom>
            </p:spPr>
            <p:txBody>
              <a:bodyPr wrap="square">
                <a:spAutoFit/>
              </a:bodyPr>
              <a:lstStyle/>
              <a:p>
                <a:pPr algn="ctr">
                  <a:spcAft>
                    <a:spcPts val="1200"/>
                  </a:spcAft>
                </a:pPr>
                <a:r>
                  <a:rPr lang="en-ZA" sz="2800" dirty="0"/>
                  <a:t>Let </a:t>
                </a:r>
                <a14:m>
                  <m:oMath xmlns:m="http://schemas.openxmlformats.org/officeDocument/2006/math">
                    <m:r>
                      <a:rPr lang="sr-Latn-RS" sz="2800" b="0" i="1">
                        <a:latin typeface="Cambria Math" panose="02040503050406030204" pitchFamily="18" charset="0"/>
                        <a:ea typeface="Times New Roman" panose="02020603050405020304" pitchFamily="18" charset="0"/>
                        <a:cs typeface="Times New Roman" panose="02020603050405020304" pitchFamily="18" charset="0"/>
                      </a:rPr>
                      <m:t>𝑓</m:t>
                    </m:r>
                  </m:oMath>
                </a14:m>
                <a:r>
                  <a:rPr lang="en-ZA" sz="2800" dirty="0"/>
                  <a:t> be a function that maps an </a:t>
                </a:r>
                <a14:m>
                  <m:oMath xmlns:m="http://schemas.openxmlformats.org/officeDocument/2006/math">
                    <m:r>
                      <a:rPr lang="en-US" sz="2800" b="0" i="1">
                        <a:latin typeface="Cambria Math" panose="02040503050406030204" pitchFamily="18" charset="0"/>
                        <a:ea typeface="Times New Roman" panose="02020603050405020304" pitchFamily="18" charset="0"/>
                        <a:cs typeface="Times New Roman" panose="02020603050405020304" pitchFamily="18" charset="0"/>
                      </a:rPr>
                      <m:t>𝑛</m:t>
                    </m:r>
                  </m:oMath>
                </a14:m>
                <a:r>
                  <a:rPr lang="en-ZA" sz="2800" dirty="0"/>
                  <a:t>-bit input to a single-bit output, i.e.</a:t>
                </a:r>
                <a:r>
                  <a:rPr lang="sr-Latn-RS" sz="25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500" b="0" i="1">
                        <a:latin typeface="Cambria Math" panose="02040503050406030204" pitchFamily="18" charset="0"/>
                        <a:ea typeface="Times New Roman" panose="02020603050405020304" pitchFamily="18" charset="0"/>
                        <a:cs typeface="Times New Roman" panose="02020603050405020304" pitchFamily="18" charset="0"/>
                      </a:rPr>
                      <m:t>𝑓</m:t>
                    </m:r>
                    <m:r>
                      <a:rPr lang="sr-Latn-RS" sz="2500" b="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2500" i="1">
                            <a:latin typeface="Cambria Math" panose="02040503050406030204" pitchFamily="18" charset="0"/>
                            <a:ea typeface="Times New Roman" panose="02020603050405020304" pitchFamily="18" charset="0"/>
                            <a:cs typeface="Times New Roman" panose="02020603050405020304" pitchFamily="18" charset="0"/>
                          </a:rPr>
                        </m:ctrlPr>
                      </m:sSupPr>
                      <m:e>
                        <m:d>
                          <m:dPr>
                            <m:begChr m:val="{"/>
                            <m:endChr m:val="}"/>
                            <m:ctrlPr>
                              <a:rPr lang="en-ZA" sz="25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500" b="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2500" b="0" i="1">
                            <a:latin typeface="Cambria Math" panose="02040503050406030204" pitchFamily="18" charset="0"/>
                            <a:ea typeface="Times New Roman" panose="02020603050405020304" pitchFamily="18" charset="0"/>
                            <a:cs typeface="Times New Roman" panose="02020603050405020304" pitchFamily="18" charset="0"/>
                          </a:rPr>
                          <m:t>𝑛</m:t>
                        </m:r>
                      </m:sup>
                    </m:sSup>
                    <m:r>
                      <a:rPr lang="sr-Latn-RS" sz="2500" b="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25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500" b="0" i="1">
                            <a:latin typeface="Cambria Math" panose="02040503050406030204" pitchFamily="18" charset="0"/>
                            <a:ea typeface="Times New Roman" panose="02020603050405020304" pitchFamily="18" charset="0"/>
                            <a:cs typeface="Times New Roman" panose="02020603050405020304" pitchFamily="18" charset="0"/>
                          </a:rPr>
                          <m:t>0,1</m:t>
                        </m:r>
                      </m:e>
                    </m:d>
                  </m:oMath>
                </a14:m>
                <a:r>
                  <a:rPr lang="sr-Latn-RS" sz="2500" dirty="0">
                    <a:latin typeface="Cambria" panose="02040503050406030204" pitchFamily="18" charset="0"/>
                    <a:ea typeface="Times New Roman" panose="02020603050405020304" pitchFamily="18" charset="0"/>
                    <a:cs typeface="Times New Roman" panose="02020603050405020304" pitchFamily="18" charset="0"/>
                  </a:rPr>
                  <a:t> </a:t>
                </a:r>
              </a:p>
              <a:p>
                <a:pPr algn="ctr">
                  <a:spcAft>
                    <a:spcPts val="1200"/>
                  </a:spcAft>
                </a:pPr>
                <a:r>
                  <a:rPr lang="en-ZA" sz="2800" dirty="0"/>
                  <a:t>It is promised that the function </a:t>
                </a:r>
                <a14:m>
                  <m:oMath xmlns:m="http://schemas.openxmlformats.org/officeDocument/2006/math">
                    <m:r>
                      <a:rPr lang="sr-Latn-RS" sz="2800" b="0" i="1">
                        <a:latin typeface="Cambria Math" panose="02040503050406030204" pitchFamily="18" charset="0"/>
                        <a:ea typeface="Times New Roman" panose="02020603050405020304" pitchFamily="18" charset="0"/>
                        <a:cs typeface="Times New Roman" panose="02020603050405020304" pitchFamily="18" charset="0"/>
                      </a:rPr>
                      <m:t>𝑓</m:t>
                    </m:r>
                  </m:oMath>
                </a14:m>
                <a:r>
                  <a:rPr lang="en-ZA" sz="2800" dirty="0"/>
                  <a:t> is either</a:t>
                </a:r>
                <a:r>
                  <a:rPr lang="sr-Latn-RS" sz="2500" dirty="0">
                    <a:cs typeface="Times New Roman" panose="02020603050405020304" pitchFamily="18" charset="0"/>
                  </a:rPr>
                  <a:t>:</a:t>
                </a:r>
                <a:endParaRPr lang="sr-Latn-RS" sz="2500" dirty="0">
                  <a:ea typeface="Times New Roman" panose="02020603050405020304" pitchFamily="18" charset="0"/>
                  <a:cs typeface="Times New Roman" panose="02020603050405020304" pitchFamily="18" charset="0"/>
                </a:endParaRPr>
              </a:p>
              <a:p>
                <a:pPr marL="914400" lvl="1" indent="-457200">
                  <a:spcAft>
                    <a:spcPts val="1200"/>
                  </a:spcAft>
                  <a:buFont typeface="Arial" panose="020B0604020202020204" pitchFamily="34" charset="0"/>
                  <a:buChar char="•"/>
                </a:pPr>
                <a:r>
                  <a:rPr lang="en-ZA" sz="2800" dirty="0"/>
                  <a:t>Constant: All outputs are the same — either all 0s or all 1s</a:t>
                </a:r>
                <a:r>
                  <a:rPr lang="sr-Latn-RS" sz="2500" dirty="0">
                    <a:ea typeface="Times New Roman" panose="02020603050405020304" pitchFamily="18" charset="0"/>
                    <a:cs typeface="Times New Roman" panose="02020603050405020304" pitchFamily="18" charset="0"/>
                  </a:rPr>
                  <a:t>. </a:t>
                </a:r>
              </a:p>
              <a:p>
                <a:pPr marL="914400" lvl="1" indent="-457200">
                  <a:spcAft>
                    <a:spcPts val="1200"/>
                  </a:spcAft>
                  <a:buFont typeface="Arial" panose="020B0604020202020204" pitchFamily="34" charset="0"/>
                  <a:buChar char="•"/>
                </a:pPr>
                <a:r>
                  <a:rPr lang="en-ZA" sz="2800" dirty="0"/>
                  <a:t>Balanced: Half of the inputs map to 0, and the other half to 1</a:t>
                </a:r>
                <a:r>
                  <a:rPr lang="sr-Latn-RS" sz="2500" dirty="0">
                    <a:ea typeface="Times New Roman" panose="02020603050405020304" pitchFamily="18" charset="0"/>
                    <a:cs typeface="Times New Roman" panose="02020603050405020304" pitchFamily="18" charset="0"/>
                  </a:rPr>
                  <a:t>.</a:t>
                </a:r>
              </a:p>
              <a:p>
                <a:r>
                  <a:rPr lang="en-ZA" sz="2800" dirty="0"/>
                  <a:t>The goal is to determine whether the function </a:t>
                </a:r>
                <a14:m>
                  <m:oMath xmlns:m="http://schemas.openxmlformats.org/officeDocument/2006/math">
                    <m:r>
                      <a:rPr lang="sr-Latn-RS" sz="2800" i="1">
                        <a:latin typeface="Cambria Math" panose="02040503050406030204" pitchFamily="18" charset="0"/>
                        <a:ea typeface="Times New Roman" panose="02020603050405020304" pitchFamily="18" charset="0"/>
                        <a:cs typeface="Times New Roman" panose="02020603050405020304" pitchFamily="18" charset="0"/>
                      </a:rPr>
                      <m:t>𝑓</m:t>
                    </m:r>
                  </m:oMath>
                </a14:m>
                <a:r>
                  <a:rPr lang="en-ZA" sz="2800" dirty="0"/>
                  <a:t> is constant or balanced.</a:t>
                </a:r>
              </a:p>
            </p:txBody>
          </p:sp>
        </mc:Choice>
        <mc:Fallback xmlns="">
          <p:sp>
            <p:nvSpPr>
              <p:cNvPr id="11" name="Rectangle 10">
                <a:extLst>
                  <a:ext uri="{FF2B5EF4-FFF2-40B4-BE49-F238E27FC236}">
                    <a16:creationId xmlns:a16="http://schemas.microsoft.com/office/drawing/2014/main" id="{C63010D5-6AAB-9D4E-B3CD-41F1ADC1C18B}"/>
                  </a:ext>
                </a:extLst>
              </p:cNvPr>
              <p:cNvSpPr>
                <a:spLocks noRot="1" noChangeAspect="1" noMove="1" noResize="1" noEditPoints="1" noAdjustHandles="1" noChangeArrowheads="1" noChangeShapeType="1" noTextEdit="1"/>
              </p:cNvSpPr>
              <p:nvPr/>
            </p:nvSpPr>
            <p:spPr>
              <a:xfrm>
                <a:off x="322729" y="3265301"/>
                <a:ext cx="11546541" cy="3247043"/>
              </a:xfrm>
              <a:prstGeom prst="rect">
                <a:avLst/>
              </a:prstGeom>
              <a:blipFill>
                <a:blip r:embed="rId3"/>
                <a:stretch>
                  <a:fillRect l="-988" t="-1556" b="-4280"/>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11D7071F-001E-E64C-BADD-0E8CA8F854AF}"/>
              </a:ext>
            </a:extLst>
          </p:cNvPr>
          <p:cNvPicPr>
            <a:picLocks noChangeAspect="1"/>
          </p:cNvPicPr>
          <p:nvPr/>
        </p:nvPicPr>
        <p:blipFill>
          <a:blip r:embed="rId4"/>
          <a:stretch>
            <a:fillRect/>
          </a:stretch>
        </p:blipFill>
        <p:spPr>
          <a:xfrm>
            <a:off x="4864607" y="928688"/>
            <a:ext cx="2046547" cy="2178582"/>
          </a:xfrm>
          <a:prstGeom prst="rect">
            <a:avLst/>
          </a:prstGeom>
        </p:spPr>
      </p:pic>
    </p:spTree>
    <p:extLst>
      <p:ext uri="{BB962C8B-B14F-4D97-AF65-F5344CB8AC3E}">
        <p14:creationId xmlns:p14="http://schemas.microsoft.com/office/powerpoint/2010/main" val="21604570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81E49-5E20-A04B-8728-B228DA2D48F5}"/>
              </a:ext>
            </a:extLst>
          </p:cNvPr>
          <p:cNvSpPr>
            <a:spLocks noGrp="1"/>
          </p:cNvSpPr>
          <p:nvPr>
            <p:ph type="title"/>
          </p:nvPr>
        </p:nvSpPr>
        <p:spPr/>
        <p:txBody>
          <a:bodyPr/>
          <a:lstStyle/>
          <a:p>
            <a:r>
              <a:rPr lang="en-ZA" dirty="0"/>
              <a:t>Deutsch–</a:t>
            </a:r>
            <a:r>
              <a:rPr lang="en-ZA" dirty="0" err="1"/>
              <a:t>Jozsa</a:t>
            </a:r>
            <a:r>
              <a:rPr lang="en-ZA" dirty="0"/>
              <a:t> Quantum Circuit</a:t>
            </a:r>
            <a:endParaRPr lang="en-US" dirty="0"/>
          </a:p>
        </p:txBody>
      </p:sp>
      <p:sp>
        <p:nvSpPr>
          <p:cNvPr id="3" name="Slide Number Placeholder 2">
            <a:extLst>
              <a:ext uri="{FF2B5EF4-FFF2-40B4-BE49-F238E27FC236}">
                <a16:creationId xmlns:a16="http://schemas.microsoft.com/office/drawing/2014/main" id="{8C981923-9FED-A343-8C02-88D74380422A}"/>
              </a:ext>
            </a:extLst>
          </p:cNvPr>
          <p:cNvSpPr>
            <a:spLocks noGrp="1"/>
          </p:cNvSpPr>
          <p:nvPr>
            <p:ph type="sldNum" sz="quarter" idx="12"/>
          </p:nvPr>
        </p:nvSpPr>
        <p:spPr/>
        <p:txBody>
          <a:bodyPr/>
          <a:lstStyle/>
          <a:p>
            <a:fld id="{591A223C-FA10-BC46-A853-03BA373D023C}" type="slidenum">
              <a:rPr lang="en-US" smtClean="0"/>
              <a:t>19</a:t>
            </a:fld>
            <a:endParaRPr lang="en-US"/>
          </a:p>
        </p:txBody>
      </p:sp>
      <p:cxnSp>
        <p:nvCxnSpPr>
          <p:cNvPr id="4" name="Straight Connector 3">
            <a:extLst>
              <a:ext uri="{FF2B5EF4-FFF2-40B4-BE49-F238E27FC236}">
                <a16:creationId xmlns:a16="http://schemas.microsoft.com/office/drawing/2014/main" id="{3E2FBB9A-CD56-0447-8315-C7B4C34C843C}"/>
              </a:ext>
            </a:extLst>
          </p:cNvPr>
          <p:cNvCxnSpPr>
            <a:cxnSpLocks/>
          </p:cNvCxnSpPr>
          <p:nvPr/>
        </p:nvCxnSpPr>
        <p:spPr>
          <a:xfrm>
            <a:off x="776132" y="3200489"/>
            <a:ext cx="8749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FCC1A953-EBC5-B743-8C96-7E351E0EC22F}"/>
              </a:ext>
            </a:extLst>
          </p:cNvPr>
          <p:cNvCxnSpPr>
            <a:cxnSpLocks/>
          </p:cNvCxnSpPr>
          <p:nvPr/>
        </p:nvCxnSpPr>
        <p:spPr>
          <a:xfrm>
            <a:off x="776132" y="4323101"/>
            <a:ext cx="66048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AE891D95-1306-6948-AC71-32578A1AD6CD}"/>
              </a:ext>
            </a:extLst>
          </p:cNvPr>
          <p:cNvGrpSpPr/>
          <p:nvPr/>
        </p:nvGrpSpPr>
        <p:grpSpPr>
          <a:xfrm>
            <a:off x="5897502" y="1076331"/>
            <a:ext cx="3473580" cy="1302164"/>
            <a:chOff x="4332681" y="927194"/>
            <a:chExt cx="3473580" cy="1302164"/>
          </a:xfrm>
        </p:grpSpPr>
        <p:sp>
          <p:nvSpPr>
            <p:cNvPr id="10" name="Line Callout 1 9">
              <a:extLst>
                <a:ext uri="{FF2B5EF4-FFF2-40B4-BE49-F238E27FC236}">
                  <a16:creationId xmlns:a16="http://schemas.microsoft.com/office/drawing/2014/main" id="{1806D47B-96C5-1642-881C-D0DE4FCA4C83}"/>
                </a:ext>
              </a:extLst>
            </p:cNvPr>
            <p:cNvSpPr/>
            <p:nvPr/>
          </p:nvSpPr>
          <p:spPr>
            <a:xfrm>
              <a:off x="4332681" y="927194"/>
              <a:ext cx="3473580" cy="1302164"/>
            </a:xfrm>
            <a:prstGeom prst="borderCallout1">
              <a:avLst>
                <a:gd name="adj1" fmla="val 102779"/>
                <a:gd name="adj2" fmla="val 22357"/>
                <a:gd name="adj3" fmla="val 268645"/>
                <a:gd name="adj4" fmla="val 22285"/>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4E9E1AF-8A60-2541-8316-E1BC3EB9F6EE}"/>
                    </a:ext>
                  </a:extLst>
                </p:cNvPr>
                <p:cNvSpPr/>
                <p:nvPr/>
              </p:nvSpPr>
              <p:spPr>
                <a:xfrm>
                  <a:off x="4332681" y="1012790"/>
                  <a:ext cx="3473580" cy="11658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e>
                            </m:rad>
                          </m:den>
                        </m:f>
                        <m:nary>
                          <m:naryPr>
                            <m:chr m:val="∑"/>
                            <m:ctrlPr>
                              <a:rPr lang="en-US" sz="2400" i="1">
                                <a:latin typeface="Cambria Math" panose="02040503050406030204" pitchFamily="18" charset="0"/>
                              </a:rPr>
                            </m:ctrlPr>
                          </m:naryPr>
                          <m:sub>
                            <m:r>
                              <m:rPr>
                                <m:brk m:alnAt="23"/>
                              </m:rPr>
                              <a:rPr lang="sr-Latn-RS" sz="2400" i="1">
                                <a:latin typeface="Cambria Math" panose="02040503050406030204" pitchFamily="18" charset="0"/>
                              </a:rPr>
                              <m:t>𝑥</m:t>
                            </m:r>
                            <m:r>
                              <a:rPr lang="sr-Latn-RS" sz="2400" i="1">
                                <a:latin typeface="Cambria Math" panose="02040503050406030204" pitchFamily="18" charset="0"/>
                              </a:rPr>
                              <m:t>=0</m:t>
                            </m:r>
                          </m:sub>
                          <m:sup>
                            <m:sSup>
                              <m:sSupPr>
                                <m:ctrlPr>
                                  <a:rPr lang="en-US"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r>
                              <a:rPr lang="sr-Latn-RS" sz="2400" i="1">
                                <a:latin typeface="Cambria Math" panose="02040503050406030204" pitchFamily="18" charset="0"/>
                              </a:rPr>
                              <m:t>−1</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𝑥</m:t>
                                    </m:r>
                                  </m:e>
                                </m:d>
                              </m:sup>
                            </m:sSup>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𝑥</m:t>
                                </m:r>
                              </m:e>
                            </m:d>
                          </m:e>
                        </m:nary>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m:t>
                            </m:r>
                          </m:e>
                        </m:d>
                      </m:oMath>
                    </m:oMathPara>
                  </a14:m>
                  <a:endParaRPr lang="en-US" sz="2400" dirty="0"/>
                </a:p>
              </p:txBody>
            </p:sp>
          </mc:Choice>
          <mc:Fallback xmlns="">
            <p:sp>
              <p:nvSpPr>
                <p:cNvPr id="11" name="Rectangle 10">
                  <a:extLst>
                    <a:ext uri="{FF2B5EF4-FFF2-40B4-BE49-F238E27FC236}">
                      <a16:creationId xmlns:a16="http://schemas.microsoft.com/office/drawing/2014/main" id="{14E9E1AF-8A60-2541-8316-E1BC3EB9F6EE}"/>
                    </a:ext>
                  </a:extLst>
                </p:cNvPr>
                <p:cNvSpPr>
                  <a:spLocks noRot="1" noChangeAspect="1" noMove="1" noResize="1" noEditPoints="1" noAdjustHandles="1" noChangeArrowheads="1" noChangeShapeType="1" noTextEdit="1"/>
                </p:cNvSpPr>
                <p:nvPr/>
              </p:nvSpPr>
              <p:spPr>
                <a:xfrm>
                  <a:off x="4332681" y="1012790"/>
                  <a:ext cx="3473580" cy="1165897"/>
                </a:xfrm>
                <a:prstGeom prst="rect">
                  <a:avLst/>
                </a:prstGeom>
                <a:blipFill>
                  <a:blip r:embed="rId3"/>
                  <a:stretch>
                    <a:fillRect l="-10545" t="-94624" r="-8727" b="-152688"/>
                  </a:stretch>
                </a:blipFill>
              </p:spPr>
              <p:txBody>
                <a:bodyPr/>
                <a:lstStyle/>
                <a:p>
                  <a:r>
                    <a:rPr lang="en-US">
                      <a:noFill/>
                    </a:rPr>
                    <a:t> </a:t>
                  </a:r>
                </a:p>
              </p:txBody>
            </p:sp>
          </mc:Fallback>
        </mc:AlternateContent>
      </p:grpSp>
      <p:sp>
        <p:nvSpPr>
          <p:cNvPr id="12" name="Rectangle 11">
            <a:extLst>
              <a:ext uri="{FF2B5EF4-FFF2-40B4-BE49-F238E27FC236}">
                <a16:creationId xmlns:a16="http://schemas.microsoft.com/office/drawing/2014/main" id="{DED38459-55A9-C040-B3DA-90CA0BF4C65F}"/>
              </a:ext>
            </a:extLst>
          </p:cNvPr>
          <p:cNvSpPr/>
          <p:nvPr/>
        </p:nvSpPr>
        <p:spPr>
          <a:xfrm>
            <a:off x="2240783" y="3957349"/>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13" name="Group 12">
            <a:extLst>
              <a:ext uri="{FF2B5EF4-FFF2-40B4-BE49-F238E27FC236}">
                <a16:creationId xmlns:a16="http://schemas.microsoft.com/office/drawing/2014/main" id="{1AD32FE4-E058-F949-8AAC-72E3C8CD295C}"/>
              </a:ext>
            </a:extLst>
          </p:cNvPr>
          <p:cNvGrpSpPr/>
          <p:nvPr/>
        </p:nvGrpSpPr>
        <p:grpSpPr>
          <a:xfrm>
            <a:off x="8619072" y="2840489"/>
            <a:ext cx="720000" cy="796546"/>
            <a:chOff x="3031963" y="4808040"/>
            <a:chExt cx="720000" cy="796546"/>
          </a:xfrm>
        </p:grpSpPr>
        <p:sp>
          <p:nvSpPr>
            <p:cNvPr id="14" name="Rectangle 13">
              <a:extLst>
                <a:ext uri="{FF2B5EF4-FFF2-40B4-BE49-F238E27FC236}">
                  <a16:creationId xmlns:a16="http://schemas.microsoft.com/office/drawing/2014/main" id="{25FFE2F9-D73F-6B42-866C-FE9A18D275FA}"/>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5" name="Arc 14">
              <a:extLst>
                <a:ext uri="{FF2B5EF4-FFF2-40B4-BE49-F238E27FC236}">
                  <a16:creationId xmlns:a16="http://schemas.microsoft.com/office/drawing/2014/main" id="{57C85C1D-745E-EA42-8FD2-D576909EE6D6}"/>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7DEE1A78-96A4-5246-BE64-2852F62FA2EE}"/>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7" name="Rectangle 16">
            <a:extLst>
              <a:ext uri="{FF2B5EF4-FFF2-40B4-BE49-F238E27FC236}">
                <a16:creationId xmlns:a16="http://schemas.microsoft.com/office/drawing/2014/main" id="{2BA9ADCD-6C2E-E349-8AB5-BF3F23686600}"/>
              </a:ext>
            </a:extLst>
          </p:cNvPr>
          <p:cNvSpPr/>
          <p:nvPr/>
        </p:nvSpPr>
        <p:spPr>
          <a:xfrm>
            <a:off x="1383104" y="2853125"/>
            <a:ext cx="1271493"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latin typeface="Times" pitchFamily="2" charset="0"/>
              </a:rPr>
              <a:t>H</a:t>
            </a:r>
            <a:r>
              <a:rPr lang="en-US" sz="4000" baseline="30000" dirty="0" err="1">
                <a:latin typeface="Times" pitchFamily="2" charset="0"/>
              </a:rPr>
              <a:t>⨂</a:t>
            </a:r>
            <a:r>
              <a:rPr lang="en-US" sz="4000" i="1" baseline="30000" dirty="0" err="1">
                <a:latin typeface="Times" pitchFamily="2" charset="0"/>
              </a:rPr>
              <a:t>n</a:t>
            </a:r>
            <a:endParaRPr lang="en-US" sz="4000" i="1" baseline="30000" dirty="0">
              <a:latin typeface="Times" pitchFamily="2" charset="0"/>
            </a:endParaRPr>
          </a:p>
        </p:txBody>
      </p:sp>
      <p:sp>
        <p:nvSpPr>
          <p:cNvPr id="18" name="Rounded Rectangle 17">
            <a:extLst>
              <a:ext uri="{FF2B5EF4-FFF2-40B4-BE49-F238E27FC236}">
                <a16:creationId xmlns:a16="http://schemas.microsoft.com/office/drawing/2014/main" id="{F4E06377-C608-1B48-A52A-5F24AF0EC497}"/>
              </a:ext>
            </a:extLst>
          </p:cNvPr>
          <p:cNvSpPr/>
          <p:nvPr/>
        </p:nvSpPr>
        <p:spPr>
          <a:xfrm>
            <a:off x="3315168" y="2811515"/>
            <a:ext cx="3111500" cy="1819986"/>
          </a:xfrm>
          <a:prstGeom prst="roundRect">
            <a:avLst>
              <a:gd name="adj" fmla="val 4804"/>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549D55A-257E-4C44-94FB-6704C8E538CD}"/>
                  </a:ext>
                </a:extLst>
              </p:cNvPr>
              <p:cNvSpPr/>
              <p:nvPr/>
            </p:nvSpPr>
            <p:spPr>
              <a:xfrm>
                <a:off x="3315168" y="2969657"/>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20" name="Rectangle 19">
                <a:extLst>
                  <a:ext uri="{FF2B5EF4-FFF2-40B4-BE49-F238E27FC236}">
                    <a16:creationId xmlns:a16="http://schemas.microsoft.com/office/drawing/2014/main" id="{5549D55A-257E-4C44-94FB-6704C8E538CD}"/>
                  </a:ext>
                </a:extLst>
              </p:cNvPr>
              <p:cNvSpPr>
                <a:spLocks noRot="1" noChangeAspect="1" noMove="1" noResize="1" noEditPoints="1" noAdjustHandles="1" noChangeArrowheads="1" noChangeShapeType="1" noTextEdit="1"/>
              </p:cNvSpPr>
              <p:nvPr/>
            </p:nvSpPr>
            <p:spPr>
              <a:xfrm>
                <a:off x="3315168" y="2969657"/>
                <a:ext cx="634789" cy="461665"/>
              </a:xfrm>
              <a:prstGeom prst="rect">
                <a:avLst/>
              </a:prstGeom>
              <a:blipFill>
                <a:blip r:embed="rId4"/>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DDA89C2F-D68A-2D46-AE2B-CDA44D0FE665}"/>
                  </a:ext>
                </a:extLst>
              </p:cNvPr>
              <p:cNvSpPr/>
              <p:nvPr/>
            </p:nvSpPr>
            <p:spPr>
              <a:xfrm>
                <a:off x="3315168" y="4061051"/>
                <a:ext cx="7596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en-US" sz="2400" b="0" i="1" smtClean="0">
                              <a:latin typeface="Cambria Math" panose="02040503050406030204" pitchFamily="18" charset="0"/>
                            </a:rPr>
                            <m:t>−</m:t>
                          </m:r>
                        </m:e>
                      </m:d>
                    </m:oMath>
                  </m:oMathPara>
                </a14:m>
                <a:endParaRPr lang="en-US" sz="2400" dirty="0"/>
              </a:p>
            </p:txBody>
          </p:sp>
        </mc:Choice>
        <mc:Fallback xmlns="">
          <p:sp>
            <p:nvSpPr>
              <p:cNvPr id="22" name="Rectangle 21">
                <a:extLst>
                  <a:ext uri="{FF2B5EF4-FFF2-40B4-BE49-F238E27FC236}">
                    <a16:creationId xmlns:a16="http://schemas.microsoft.com/office/drawing/2014/main" id="{DDA89C2F-D68A-2D46-AE2B-CDA44D0FE665}"/>
                  </a:ext>
                </a:extLst>
              </p:cNvPr>
              <p:cNvSpPr>
                <a:spLocks noRot="1" noChangeAspect="1" noMove="1" noResize="1" noEditPoints="1" noAdjustHandles="1" noChangeArrowheads="1" noChangeShapeType="1" noTextEdit="1"/>
              </p:cNvSpPr>
              <p:nvPr/>
            </p:nvSpPr>
            <p:spPr>
              <a:xfrm>
                <a:off x="3315168" y="4061051"/>
                <a:ext cx="759632" cy="461665"/>
              </a:xfrm>
              <a:prstGeom prst="rect">
                <a:avLst/>
              </a:prstGeom>
              <a:blipFill>
                <a:blip r:embed="rId7"/>
                <a:stretch>
                  <a:fillRect l="-4918" t="-124324" r="-40984" b="-191892"/>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EEA88051-8294-E647-A263-0C7B08F4839D}"/>
              </a:ext>
            </a:extLst>
          </p:cNvPr>
          <p:cNvSpPr/>
          <p:nvPr/>
        </p:nvSpPr>
        <p:spPr>
          <a:xfrm>
            <a:off x="6871562" y="2840489"/>
            <a:ext cx="1271493"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latin typeface="Times" pitchFamily="2" charset="0"/>
              </a:rPr>
              <a:t>H</a:t>
            </a:r>
            <a:r>
              <a:rPr lang="en-US" sz="4000" baseline="30000" dirty="0" err="1">
                <a:latin typeface="Times" pitchFamily="2" charset="0"/>
              </a:rPr>
              <a:t>⨂</a:t>
            </a:r>
            <a:r>
              <a:rPr lang="en-US" sz="4000" i="1" baseline="30000" dirty="0" err="1">
                <a:latin typeface="Times" pitchFamily="2" charset="0"/>
              </a:rPr>
              <a:t>n</a:t>
            </a:r>
            <a:endParaRPr lang="en-US" sz="4000" i="1" baseline="30000" dirty="0">
              <a:latin typeface="Times" pitchFamily="2" charset="0"/>
            </a:endParaRPr>
          </a:p>
        </p:txBody>
      </p:sp>
      <p:sp>
        <p:nvSpPr>
          <p:cNvPr id="24" name="Oval 23">
            <a:extLst>
              <a:ext uri="{FF2B5EF4-FFF2-40B4-BE49-F238E27FC236}">
                <a16:creationId xmlns:a16="http://schemas.microsoft.com/office/drawing/2014/main" id="{92DDAB4C-65F2-5249-94AC-B56358DD3819}"/>
              </a:ext>
            </a:extLst>
          </p:cNvPr>
          <p:cNvSpPr/>
          <p:nvPr/>
        </p:nvSpPr>
        <p:spPr>
          <a:xfrm>
            <a:off x="1343591" y="3938006"/>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sp>
        <p:nvSpPr>
          <p:cNvPr id="25" name="TextBox 24">
            <a:extLst>
              <a:ext uri="{FF2B5EF4-FFF2-40B4-BE49-F238E27FC236}">
                <a16:creationId xmlns:a16="http://schemas.microsoft.com/office/drawing/2014/main" id="{60DA052E-BAED-E141-9A28-723B9558DCD7}"/>
              </a:ext>
            </a:extLst>
          </p:cNvPr>
          <p:cNvSpPr txBox="1"/>
          <p:nvPr/>
        </p:nvSpPr>
        <p:spPr>
          <a:xfrm>
            <a:off x="4566050" y="3252314"/>
            <a:ext cx="591829" cy="769441"/>
          </a:xfrm>
          <a:prstGeom prst="rect">
            <a:avLst/>
          </a:prstGeom>
          <a:noFill/>
        </p:spPr>
        <p:txBody>
          <a:bodyPr wrap="none" rtlCol="0">
            <a:spAutoFit/>
          </a:bodyPr>
          <a:lstStyle/>
          <a:p>
            <a:r>
              <a:rPr lang="en-US" sz="4400" i="1" dirty="0">
                <a:latin typeface="Times New Roman" panose="02020603050405020304" pitchFamily="18" charset="0"/>
                <a:cs typeface="Times New Roman" panose="02020603050405020304" pitchFamily="18" charset="0"/>
              </a:rPr>
              <a:t>O</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BD554F3C-5906-9C4F-A6E2-D04120193B34}"/>
                  </a:ext>
                </a:extLst>
              </p:cNvPr>
              <p:cNvSpPr/>
              <p:nvPr/>
            </p:nvSpPr>
            <p:spPr>
              <a:xfrm>
                <a:off x="209094" y="2961787"/>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26" name="Rectangle 25">
                <a:extLst>
                  <a:ext uri="{FF2B5EF4-FFF2-40B4-BE49-F238E27FC236}">
                    <a16:creationId xmlns:a16="http://schemas.microsoft.com/office/drawing/2014/main" id="{BD554F3C-5906-9C4F-A6E2-D04120193B34}"/>
                  </a:ext>
                </a:extLst>
              </p:cNvPr>
              <p:cNvSpPr>
                <a:spLocks noRot="1" noChangeAspect="1" noMove="1" noResize="1" noEditPoints="1" noAdjustHandles="1" noChangeArrowheads="1" noChangeShapeType="1" noTextEdit="1"/>
              </p:cNvSpPr>
              <p:nvPr/>
            </p:nvSpPr>
            <p:spPr>
              <a:xfrm>
                <a:off x="209094" y="2961787"/>
                <a:ext cx="631904" cy="461665"/>
              </a:xfrm>
              <a:prstGeom prst="rect">
                <a:avLst/>
              </a:prstGeom>
              <a:blipFill>
                <a:blip r:embed="rId8"/>
                <a:stretch>
                  <a:fillRect l="-23529" t="-121053" r="-4902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B0029F88-7BFA-2E45-9DE4-99F5A0071F93}"/>
                  </a:ext>
                </a:extLst>
              </p:cNvPr>
              <p:cNvSpPr/>
              <p:nvPr/>
            </p:nvSpPr>
            <p:spPr>
              <a:xfrm>
                <a:off x="209094" y="4086516"/>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27" name="Rectangle 26">
                <a:extLst>
                  <a:ext uri="{FF2B5EF4-FFF2-40B4-BE49-F238E27FC236}">
                    <a16:creationId xmlns:a16="http://schemas.microsoft.com/office/drawing/2014/main" id="{B0029F88-7BFA-2E45-9DE4-99F5A0071F93}"/>
                  </a:ext>
                </a:extLst>
              </p:cNvPr>
              <p:cNvSpPr>
                <a:spLocks noRot="1" noChangeAspect="1" noMove="1" noResize="1" noEditPoints="1" noAdjustHandles="1" noChangeArrowheads="1" noChangeShapeType="1" noTextEdit="1"/>
              </p:cNvSpPr>
              <p:nvPr/>
            </p:nvSpPr>
            <p:spPr>
              <a:xfrm>
                <a:off x="209094" y="4086516"/>
                <a:ext cx="631904" cy="461665"/>
              </a:xfrm>
              <a:prstGeom prst="rect">
                <a:avLst/>
              </a:prstGeom>
              <a:blipFill>
                <a:blip r:embed="rId9"/>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56B5E6D0-4494-7949-8E13-314871E9BBB8}"/>
                  </a:ext>
                </a:extLst>
              </p:cNvPr>
              <p:cNvSpPr/>
              <p:nvPr/>
            </p:nvSpPr>
            <p:spPr>
              <a:xfrm>
                <a:off x="6526571" y="4247575"/>
                <a:ext cx="1071126" cy="12198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3"/>
                                <m:mcJc m:val="center"/>
                              </m:mcPr>
                            </m:mc>
                          </m:mcs>
                          <m:ctrlPr>
                            <a:rPr lang="en-US" sz="2400" i="1">
                              <a:latin typeface="Cambria Math" panose="02040503050406030204" pitchFamily="18" charset="0"/>
                            </a:rPr>
                          </m:ctrlPr>
                        </m:mPr>
                        <m:mr>
                          <m:e/>
                          <m:e/>
                          <m:e/>
                        </m:mr>
                        <m:mr>
                          <m:e/>
                          <m:e/>
                          <m:e/>
                        </m:mr>
                        <m:mr>
                          <m:e/>
                          <m:e/>
                          <m:e/>
                        </m:mr>
                        <m:mr>
                          <m:e/>
                          <m:e/>
                          <m:e/>
                        </m:mr>
                      </m:m>
                    </m:oMath>
                  </m:oMathPara>
                </a14:m>
                <a:endParaRPr lang="en-US" sz="2400" dirty="0"/>
              </a:p>
            </p:txBody>
          </p:sp>
        </mc:Choice>
        <mc:Fallback xmlns="">
          <p:sp>
            <p:nvSpPr>
              <p:cNvPr id="28" name="Rectangle 27">
                <a:extLst>
                  <a:ext uri="{FF2B5EF4-FFF2-40B4-BE49-F238E27FC236}">
                    <a16:creationId xmlns:a16="http://schemas.microsoft.com/office/drawing/2014/main" id="{56B5E6D0-4494-7949-8E13-314871E9BBB8}"/>
                  </a:ext>
                </a:extLst>
              </p:cNvPr>
              <p:cNvSpPr>
                <a:spLocks noRot="1" noChangeAspect="1" noMove="1" noResize="1" noEditPoints="1" noAdjustHandles="1" noChangeArrowheads="1" noChangeShapeType="1" noTextEdit="1"/>
              </p:cNvSpPr>
              <p:nvPr/>
            </p:nvSpPr>
            <p:spPr>
              <a:xfrm>
                <a:off x="6526571" y="4247575"/>
                <a:ext cx="1071126" cy="1219821"/>
              </a:xfrm>
              <a:prstGeom prst="rect">
                <a:avLst/>
              </a:prstGeom>
              <a:blipFill>
                <a:blip r:embed="rId10"/>
                <a:stretch>
                  <a:fillRect l="-1176" t="-16327" r="-2353" b="-13265"/>
                </a:stretch>
              </a:blipFill>
            </p:spPr>
            <p:txBody>
              <a:bodyPr/>
              <a:lstStyle/>
              <a:p>
                <a:r>
                  <a:rPr lang="en-US">
                    <a:noFill/>
                  </a:rPr>
                  <a:t> </a:t>
                </a:r>
              </a:p>
            </p:txBody>
          </p:sp>
        </mc:Fallback>
      </mc:AlternateContent>
      <p:grpSp>
        <p:nvGrpSpPr>
          <p:cNvPr id="41" name="Group 40">
            <a:extLst>
              <a:ext uri="{FF2B5EF4-FFF2-40B4-BE49-F238E27FC236}">
                <a16:creationId xmlns:a16="http://schemas.microsoft.com/office/drawing/2014/main" id="{7DFBB71C-5511-8346-A025-CF342C0E35CB}"/>
              </a:ext>
            </a:extLst>
          </p:cNvPr>
          <p:cNvGrpSpPr/>
          <p:nvPr/>
        </p:nvGrpSpPr>
        <p:grpSpPr>
          <a:xfrm>
            <a:off x="-68637" y="1377769"/>
            <a:ext cx="4727191" cy="1221889"/>
            <a:chOff x="-68637" y="1377769"/>
            <a:chExt cx="4727191" cy="1221889"/>
          </a:xfrm>
        </p:grpSpPr>
        <p:sp>
          <p:nvSpPr>
            <p:cNvPr id="7" name="Line Callout 1 6">
              <a:extLst>
                <a:ext uri="{FF2B5EF4-FFF2-40B4-BE49-F238E27FC236}">
                  <a16:creationId xmlns:a16="http://schemas.microsoft.com/office/drawing/2014/main" id="{CCDA4FF7-F7DB-144A-9F04-C89BD5AF9C6D}"/>
                </a:ext>
              </a:extLst>
            </p:cNvPr>
            <p:cNvSpPr/>
            <p:nvPr/>
          </p:nvSpPr>
          <p:spPr>
            <a:xfrm>
              <a:off x="50799" y="1377769"/>
              <a:ext cx="4607755" cy="1221889"/>
            </a:xfrm>
            <a:prstGeom prst="borderCallout1">
              <a:avLst>
                <a:gd name="adj1" fmla="val 102064"/>
                <a:gd name="adj2" fmla="val 66157"/>
                <a:gd name="adj3" fmla="val 273120"/>
                <a:gd name="adj4" fmla="val 66926"/>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A3C5FDC0-AA9E-6045-8752-2B0675901C53}"/>
                    </a:ext>
                  </a:extLst>
                </p:cNvPr>
                <p:cNvSpPr/>
                <p:nvPr/>
              </p:nvSpPr>
              <p:spPr>
                <a:xfrm>
                  <a:off x="-68637" y="1385176"/>
                  <a:ext cx="4110548" cy="11658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m:t>
                                </m:r>
                              </m:e>
                            </m:d>
                          </m:e>
                          <m:sup>
                            <m:r>
                              <a:rPr lang="en-US" sz="2400" i="1">
                                <a:latin typeface="Cambria Math" panose="02040503050406030204" pitchFamily="18" charset="0"/>
                              </a:rPr>
                              <m:t>⨂</m:t>
                            </m:r>
                            <m:r>
                              <a:rPr lang="sr-Latn-RS" sz="2400" b="0" i="1" smtClean="0">
                                <a:latin typeface="Cambria Math" panose="02040503050406030204" pitchFamily="18" charset="0"/>
                              </a:rPr>
                              <m:t>𝑛</m:t>
                            </m:r>
                          </m:sup>
                        </m:sSup>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m:t>
                            </m:r>
                          </m:e>
                        </m:d>
                        <m:r>
                          <a:rPr lang="en-US" sz="2400" b="0" i="0" smtClean="0">
                            <a:latin typeface="Cambria Math" panose="02040503050406030204" pitchFamily="18" charset="0"/>
                          </a:rPr>
                          <m:t>=</m:t>
                        </m:r>
                        <m:f>
                          <m:fPr>
                            <m:ctrlPr>
                              <a:rPr lang="en-US" sz="2400" b="0" i="1" smtClean="0">
                                <a:latin typeface="Cambria Math" panose="02040503050406030204" pitchFamily="18" charset="0"/>
                              </a:rPr>
                            </m:ctrlPr>
                          </m:fPr>
                          <m:num>
                            <m:r>
                              <a:rPr lang="sr-Latn-RS" sz="2400" b="0" i="1" smtClean="0">
                                <a:latin typeface="Cambria Math" panose="02040503050406030204" pitchFamily="18" charset="0"/>
                              </a:rPr>
                              <m:t>1</m:t>
                            </m:r>
                          </m:num>
                          <m:den>
                            <m:rad>
                              <m:radPr>
                                <m:degHide m:val="on"/>
                                <m:ctrlPr>
                                  <a:rPr lang="en-US" sz="2400" b="0" i="1" smtClean="0">
                                    <a:latin typeface="Cambria Math" panose="02040503050406030204" pitchFamily="18" charset="0"/>
                                  </a:rPr>
                                </m:ctrlPr>
                              </m:radPr>
                              <m:deg/>
                              <m:e>
                                <m:sSup>
                                  <m:sSupPr>
                                    <m:ctrlPr>
                                      <a:rPr lang="en-US" sz="2400" b="0" i="1" smtClean="0">
                                        <a:latin typeface="Cambria Math" panose="02040503050406030204" pitchFamily="18" charset="0"/>
                                      </a:rPr>
                                    </m:ctrlPr>
                                  </m:sSupPr>
                                  <m:e>
                                    <m:r>
                                      <a:rPr lang="sr-Latn-RS" sz="2400" b="0" i="1" smtClean="0">
                                        <a:latin typeface="Cambria Math" panose="02040503050406030204" pitchFamily="18" charset="0"/>
                                      </a:rPr>
                                      <m:t>2</m:t>
                                    </m:r>
                                  </m:e>
                                  <m:sup>
                                    <m:r>
                                      <a:rPr lang="sr-Latn-RS" sz="2400" b="0" i="1" smtClean="0">
                                        <a:latin typeface="Cambria Math" panose="02040503050406030204" pitchFamily="18" charset="0"/>
                                      </a:rPr>
                                      <m:t>𝑛</m:t>
                                    </m:r>
                                  </m:sup>
                                </m:sSup>
                              </m:e>
                            </m:rad>
                          </m:den>
                        </m:f>
                        <m:nary>
                          <m:naryPr>
                            <m:chr m:val="∑"/>
                            <m:ctrlPr>
                              <a:rPr lang="en-US" sz="2400" b="0" i="1" smtClean="0">
                                <a:latin typeface="Cambria Math" panose="02040503050406030204" pitchFamily="18" charset="0"/>
                              </a:rPr>
                            </m:ctrlPr>
                          </m:naryPr>
                          <m:sub>
                            <m:r>
                              <m:rPr>
                                <m:brk m:alnAt="23"/>
                              </m:rPr>
                              <a:rPr lang="sr-Latn-RS" sz="2400" b="0" i="1" smtClean="0">
                                <a:latin typeface="Cambria Math" panose="02040503050406030204" pitchFamily="18" charset="0"/>
                              </a:rPr>
                              <m:t>𝑥</m:t>
                            </m:r>
                            <m:r>
                              <a:rPr lang="sr-Latn-RS" sz="2400" b="0" i="1" smtClean="0">
                                <a:latin typeface="Cambria Math" panose="02040503050406030204" pitchFamily="18" charset="0"/>
                              </a:rPr>
                              <m:t>=0</m:t>
                            </m:r>
                          </m:sub>
                          <m:sup>
                            <m:sSup>
                              <m:sSupPr>
                                <m:ctrlPr>
                                  <a:rPr lang="en-US" sz="2400" b="0" i="1" smtClean="0">
                                    <a:latin typeface="Cambria Math" panose="02040503050406030204" pitchFamily="18" charset="0"/>
                                  </a:rPr>
                                </m:ctrlPr>
                              </m:sSupPr>
                              <m:e>
                                <m:r>
                                  <a:rPr lang="sr-Latn-RS" sz="2400" b="0" i="1" smtClean="0">
                                    <a:latin typeface="Cambria Math" panose="02040503050406030204" pitchFamily="18" charset="0"/>
                                  </a:rPr>
                                  <m:t>2</m:t>
                                </m:r>
                              </m:e>
                              <m:sup>
                                <m:r>
                                  <a:rPr lang="sr-Latn-RS" sz="2400" b="0" i="1" smtClean="0">
                                    <a:latin typeface="Cambria Math" panose="02040503050406030204" pitchFamily="18" charset="0"/>
                                  </a:rPr>
                                  <m:t>𝑛</m:t>
                                </m:r>
                              </m:sup>
                            </m:sSup>
                            <m:r>
                              <a:rPr lang="sr-Latn-RS" sz="2400" b="0" i="1" smtClean="0">
                                <a:latin typeface="Cambria Math" panose="02040503050406030204" pitchFamily="18" charset="0"/>
                              </a:rPr>
                              <m:t>−1</m:t>
                            </m:r>
                          </m:sup>
                          <m:e>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𝑥</m:t>
                                </m:r>
                              </m:e>
                            </m:d>
                          </m:e>
                        </m:nary>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m:t>
                            </m:r>
                          </m:e>
                        </m:d>
                      </m:oMath>
                    </m:oMathPara>
                  </a14:m>
                  <a:endParaRPr lang="en-US" sz="2400" dirty="0"/>
                </a:p>
              </p:txBody>
            </p:sp>
          </mc:Choice>
          <mc:Fallback xmlns="">
            <p:sp>
              <p:nvSpPr>
                <p:cNvPr id="38" name="Rectangle 37">
                  <a:extLst>
                    <a:ext uri="{FF2B5EF4-FFF2-40B4-BE49-F238E27FC236}">
                      <a16:creationId xmlns:a16="http://schemas.microsoft.com/office/drawing/2014/main" id="{A3C5FDC0-AA9E-6045-8752-2B0675901C53}"/>
                    </a:ext>
                  </a:extLst>
                </p:cNvPr>
                <p:cNvSpPr>
                  <a:spLocks noRot="1" noChangeAspect="1" noMove="1" noResize="1" noEditPoints="1" noAdjustHandles="1" noChangeArrowheads="1" noChangeShapeType="1" noTextEdit="1"/>
                </p:cNvSpPr>
                <p:nvPr/>
              </p:nvSpPr>
              <p:spPr>
                <a:xfrm>
                  <a:off x="-68637" y="1385176"/>
                  <a:ext cx="4110548" cy="1165897"/>
                </a:xfrm>
                <a:prstGeom prst="rect">
                  <a:avLst/>
                </a:prstGeom>
                <a:blipFill>
                  <a:blip r:embed="rId11"/>
                  <a:stretch>
                    <a:fillRect l="-619" t="-94624" r="-7430" b="-151613"/>
                  </a:stretch>
                </a:blipFill>
              </p:spPr>
              <p:txBody>
                <a:bodyPr/>
                <a:lstStyle/>
                <a:p>
                  <a:r>
                    <a:rPr lang="en-US">
                      <a:noFill/>
                    </a:rPr>
                    <a:t> </a:t>
                  </a:r>
                </a:p>
              </p:txBody>
            </p:sp>
          </mc:Fallback>
        </mc:AlternateContent>
      </p:grpSp>
      <p:cxnSp>
        <p:nvCxnSpPr>
          <p:cNvPr id="39" name="Straight Connector 38">
            <a:extLst>
              <a:ext uri="{FF2B5EF4-FFF2-40B4-BE49-F238E27FC236}">
                <a16:creationId xmlns:a16="http://schemas.microsoft.com/office/drawing/2014/main" id="{E7965444-B5DB-6B49-87A3-82F119AEAB49}"/>
              </a:ext>
            </a:extLst>
          </p:cNvPr>
          <p:cNvCxnSpPr>
            <a:cxnSpLocks/>
          </p:cNvCxnSpPr>
          <p:nvPr/>
        </p:nvCxnSpPr>
        <p:spPr>
          <a:xfrm flipV="1">
            <a:off x="1093219" y="3093831"/>
            <a:ext cx="130174" cy="263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7EDE66E3-6676-D146-B5ED-2E469CBDAB64}"/>
                  </a:ext>
                </a:extLst>
              </p:cNvPr>
              <p:cNvSpPr/>
              <p:nvPr/>
            </p:nvSpPr>
            <p:spPr>
              <a:xfrm>
                <a:off x="861223" y="2843238"/>
                <a:ext cx="37459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i="1">
                          <a:latin typeface="Cambria Math" panose="02040503050406030204" pitchFamily="18" charset="0"/>
                        </a:rPr>
                        <m:t>𝑛</m:t>
                      </m:r>
                    </m:oMath>
                  </m:oMathPara>
                </a14:m>
                <a:endParaRPr lang="en-US" dirty="0"/>
              </a:p>
            </p:txBody>
          </p:sp>
        </mc:Choice>
        <mc:Fallback xmlns="">
          <p:sp>
            <p:nvSpPr>
              <p:cNvPr id="40" name="Rectangle 39">
                <a:extLst>
                  <a:ext uri="{FF2B5EF4-FFF2-40B4-BE49-F238E27FC236}">
                    <a16:creationId xmlns:a16="http://schemas.microsoft.com/office/drawing/2014/main" id="{7EDE66E3-6676-D146-B5ED-2E469CBDAB64}"/>
                  </a:ext>
                </a:extLst>
              </p:cNvPr>
              <p:cNvSpPr>
                <a:spLocks noRot="1" noChangeAspect="1" noMove="1" noResize="1" noEditPoints="1" noAdjustHandles="1" noChangeArrowheads="1" noChangeShapeType="1" noTextEdit="1"/>
              </p:cNvSpPr>
              <p:nvPr/>
            </p:nvSpPr>
            <p:spPr>
              <a:xfrm>
                <a:off x="861223" y="2843238"/>
                <a:ext cx="374590" cy="369332"/>
              </a:xfrm>
              <a:prstGeom prst="rect">
                <a:avLst/>
              </a:prstGeom>
              <a:blipFill>
                <a:blip r:embed="rId12"/>
                <a:stretch>
                  <a:fillRect/>
                </a:stretch>
              </a:blipFill>
            </p:spPr>
            <p:txBody>
              <a:bodyPr/>
              <a:lstStyle/>
              <a:p>
                <a:r>
                  <a:rPr lang="en-US">
                    <a:noFill/>
                  </a:rPr>
                  <a:t> </a:t>
                </a:r>
              </a:p>
            </p:txBody>
          </p:sp>
        </mc:Fallback>
      </mc:AlternateContent>
      <p:grpSp>
        <p:nvGrpSpPr>
          <p:cNvPr id="43" name="Group 42">
            <a:extLst>
              <a:ext uri="{FF2B5EF4-FFF2-40B4-BE49-F238E27FC236}">
                <a16:creationId xmlns:a16="http://schemas.microsoft.com/office/drawing/2014/main" id="{250E5D32-499F-3047-9718-4DD4C5DDA16E}"/>
              </a:ext>
            </a:extLst>
          </p:cNvPr>
          <p:cNvGrpSpPr/>
          <p:nvPr/>
        </p:nvGrpSpPr>
        <p:grpSpPr>
          <a:xfrm>
            <a:off x="3252138" y="4742333"/>
            <a:ext cx="8917891" cy="1882747"/>
            <a:chOff x="3252138" y="4742333"/>
            <a:chExt cx="8917891" cy="1882747"/>
          </a:xfrm>
        </p:grpSpPr>
        <p:grpSp>
          <p:nvGrpSpPr>
            <p:cNvPr id="30" name="Group 29">
              <a:extLst>
                <a:ext uri="{FF2B5EF4-FFF2-40B4-BE49-F238E27FC236}">
                  <a16:creationId xmlns:a16="http://schemas.microsoft.com/office/drawing/2014/main" id="{426C0881-64A6-7440-9400-98B3255083B1}"/>
                </a:ext>
              </a:extLst>
            </p:cNvPr>
            <p:cNvGrpSpPr/>
            <p:nvPr/>
          </p:nvGrpSpPr>
          <p:grpSpPr>
            <a:xfrm>
              <a:off x="3252138" y="4742333"/>
              <a:ext cx="8917891" cy="1440993"/>
              <a:chOff x="3361866" y="4851116"/>
              <a:chExt cx="8917891" cy="1440993"/>
            </a:xfrm>
          </p:grpSpPr>
          <p:sp>
            <p:nvSpPr>
              <p:cNvPr id="31" name="Line Callout 1 30">
                <a:extLst>
                  <a:ext uri="{FF2B5EF4-FFF2-40B4-BE49-F238E27FC236}">
                    <a16:creationId xmlns:a16="http://schemas.microsoft.com/office/drawing/2014/main" id="{509D3BAC-B031-084F-8A0F-5C3EEF1D0836}"/>
                  </a:ext>
                </a:extLst>
              </p:cNvPr>
              <p:cNvSpPr/>
              <p:nvPr/>
            </p:nvSpPr>
            <p:spPr>
              <a:xfrm>
                <a:off x="3361866" y="4851116"/>
                <a:ext cx="8764307" cy="1440993"/>
              </a:xfrm>
              <a:prstGeom prst="borderCallout1">
                <a:avLst>
                  <a:gd name="adj1" fmla="val -4469"/>
                  <a:gd name="adj2" fmla="val 59497"/>
                  <a:gd name="adj3" fmla="val -152782"/>
                  <a:gd name="adj4" fmla="val 59375"/>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986494DE-1958-9143-9F8D-312FAFFA05E6}"/>
                      </a:ext>
                    </a:extLst>
                  </p:cNvPr>
                  <p:cNvSpPr/>
                  <p:nvPr/>
                </p:nvSpPr>
                <p:spPr>
                  <a:xfrm>
                    <a:off x="3361866" y="4964151"/>
                    <a:ext cx="8917891" cy="120680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e>
                              </m:rad>
                            </m:den>
                          </m:f>
                          <m:nary>
                            <m:naryPr>
                              <m:chr m:val="∑"/>
                              <m:ctrlPr>
                                <a:rPr lang="en-US" sz="2400" i="1">
                                  <a:latin typeface="Cambria Math" panose="02040503050406030204" pitchFamily="18" charset="0"/>
                                </a:rPr>
                              </m:ctrlPr>
                            </m:naryPr>
                            <m:sub>
                              <m:r>
                                <m:rPr>
                                  <m:brk m:alnAt="23"/>
                                </m:rPr>
                                <a:rPr lang="sr-Latn-RS" sz="2400" i="1">
                                  <a:latin typeface="Cambria Math" panose="02040503050406030204" pitchFamily="18" charset="0"/>
                                </a:rPr>
                                <m:t>𝑥</m:t>
                              </m:r>
                              <m:r>
                                <a:rPr lang="sr-Latn-RS" sz="2400" i="1">
                                  <a:latin typeface="Cambria Math" panose="02040503050406030204" pitchFamily="18" charset="0"/>
                                </a:rPr>
                                <m:t>=0</m:t>
                              </m:r>
                            </m:sub>
                            <m:sup>
                              <m:sSup>
                                <m:sSupPr>
                                  <m:ctrlPr>
                                    <a:rPr lang="en-US"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r>
                                <a:rPr lang="sr-Latn-RS" sz="2400" i="1">
                                  <a:latin typeface="Cambria Math" panose="02040503050406030204" pitchFamily="18" charset="0"/>
                                </a:rPr>
                                <m:t>−1</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𝑥</m:t>
                                      </m:r>
                                    </m:e>
                                  </m:d>
                                </m:sup>
                              </m:sSup>
                              <m:sSup>
                                <m:sSupPr>
                                  <m:ctrlPr>
                                    <a:rPr lang="en-US" sz="2400" i="1" smtClean="0">
                                      <a:latin typeface="Cambria Math" panose="02040503050406030204" pitchFamily="18" charset="0"/>
                                    </a:rPr>
                                  </m:ctrlPr>
                                </m:sSupPr>
                                <m:e>
                                  <m:r>
                                    <a:rPr lang="sr-Latn-RS" sz="2400" b="0" i="1" smtClean="0">
                                      <a:latin typeface="Cambria Math" panose="02040503050406030204" pitchFamily="18" charset="0"/>
                                    </a:rPr>
                                    <m:t>𝐻</m:t>
                                  </m:r>
                                </m:e>
                                <m:sup>
                                  <m:r>
                                    <a:rPr lang="en-US" sz="2400" i="1">
                                      <a:latin typeface="Cambria Math" panose="02040503050406030204" pitchFamily="18" charset="0"/>
                                    </a:rPr>
                                    <m:t>⨂</m:t>
                                  </m:r>
                                  <m:r>
                                    <a:rPr lang="sr-Latn-RS" sz="2400" i="1">
                                      <a:latin typeface="Cambria Math" panose="02040503050406030204" pitchFamily="18" charset="0"/>
                                    </a:rPr>
                                    <m:t>𝑛</m:t>
                                  </m:r>
                                </m:sup>
                              </m:sSup>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𝑥</m:t>
                                  </m:r>
                                </m:e>
                              </m:d>
                              <m:r>
                                <a:rPr lang="sr-Latn-RS" sz="2400" b="0" i="1" smtClean="0">
                                  <a:latin typeface="Cambria Math" panose="02040503050406030204" pitchFamily="18" charset="0"/>
                                </a:rPr>
                                <m:t>=</m:t>
                              </m:r>
                              <m:f>
                                <m:fPr>
                                  <m:ctrlPr>
                                    <a:rPr lang="en-US" sz="2400" i="1">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e>
                                  </m:rad>
                                </m:den>
                              </m:f>
                              <m:nary>
                                <m:naryPr>
                                  <m:chr m:val="∑"/>
                                  <m:ctrlPr>
                                    <a:rPr lang="en-US" sz="2400" i="1">
                                      <a:latin typeface="Cambria Math" panose="02040503050406030204" pitchFamily="18" charset="0"/>
                                    </a:rPr>
                                  </m:ctrlPr>
                                </m:naryPr>
                                <m:sub>
                                  <m:r>
                                    <m:rPr>
                                      <m:brk m:alnAt="23"/>
                                    </m:rPr>
                                    <a:rPr lang="sr-Latn-RS" sz="2400" i="1">
                                      <a:latin typeface="Cambria Math" panose="02040503050406030204" pitchFamily="18" charset="0"/>
                                    </a:rPr>
                                    <m:t>𝑥</m:t>
                                  </m:r>
                                  <m:r>
                                    <a:rPr lang="sr-Latn-RS" sz="2400" i="1">
                                      <a:latin typeface="Cambria Math" panose="02040503050406030204" pitchFamily="18" charset="0"/>
                                    </a:rPr>
                                    <m:t>=0</m:t>
                                  </m:r>
                                </m:sub>
                                <m:sup>
                                  <m:sSup>
                                    <m:sSupPr>
                                      <m:ctrlPr>
                                        <a:rPr lang="en-US"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r>
                                    <a:rPr lang="sr-Latn-RS" sz="2400" i="1">
                                      <a:latin typeface="Cambria Math" panose="02040503050406030204" pitchFamily="18" charset="0"/>
                                    </a:rPr>
                                    <m:t>−1</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𝑥</m:t>
                                          </m:r>
                                        </m:e>
                                      </m:d>
                                    </m:sup>
                                  </m:sSup>
                                </m:e>
                              </m:nary>
                              <m:f>
                                <m:fPr>
                                  <m:ctrlPr>
                                    <a:rPr lang="en-US" sz="2400" i="1">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e>
                                  </m:rad>
                                </m:den>
                              </m:f>
                              <m:nary>
                                <m:naryPr>
                                  <m:chr m:val="∑"/>
                                  <m:ctrlPr>
                                    <a:rPr lang="en-US" sz="2400" i="1">
                                      <a:latin typeface="Cambria Math" panose="02040503050406030204" pitchFamily="18" charset="0"/>
                                    </a:rPr>
                                  </m:ctrlPr>
                                </m:naryPr>
                                <m:sub>
                                  <m:r>
                                    <a:rPr lang="sr-Latn-RS" sz="2400" b="0" i="1" smtClean="0">
                                      <a:latin typeface="Cambria Math" panose="02040503050406030204" pitchFamily="18" charset="0"/>
                                    </a:rPr>
                                    <m:t>𝑘</m:t>
                                  </m:r>
                                  <m:r>
                                    <a:rPr lang="sr-Latn-RS" sz="2400" i="1">
                                      <a:latin typeface="Cambria Math" panose="02040503050406030204" pitchFamily="18" charset="0"/>
                                    </a:rPr>
                                    <m:t>=0</m:t>
                                  </m:r>
                                </m:sub>
                                <m:sup>
                                  <m:sSup>
                                    <m:sSupPr>
                                      <m:ctrlPr>
                                        <a:rPr lang="en-US"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r>
                                    <a:rPr lang="sr-Latn-RS" sz="2400" i="1">
                                      <a:latin typeface="Cambria Math" panose="02040503050406030204" pitchFamily="18" charset="0"/>
                                    </a:rPr>
                                    <m:t>−1</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r>
                                        <a:rPr lang="sr-Latn-RS" sz="2400" b="0" i="1" smtClean="0">
                                          <a:latin typeface="Cambria Math" panose="02040503050406030204" pitchFamily="18" charset="0"/>
                                        </a:rPr>
                                        <m:t>𝑥</m:t>
                                      </m:r>
                                      <m:r>
                                        <a:rPr lang="sr-Latn-RS" sz="2400" b="0" i="1" smtClean="0">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𝑘</m:t>
                                      </m:r>
                                    </m:sup>
                                  </m:sSup>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𝑘</m:t>
                                      </m:r>
                                    </m:e>
                                  </m:d>
                                </m:e>
                              </m:nary>
                            </m:e>
                          </m:nary>
                        </m:oMath>
                      </m:oMathPara>
                    </a14:m>
                    <a:endParaRPr lang="en-US" sz="2400" dirty="0"/>
                  </a:p>
                </p:txBody>
              </p:sp>
            </mc:Choice>
            <mc:Fallback xmlns="">
              <p:sp>
                <p:nvSpPr>
                  <p:cNvPr id="32" name="Rectangle 31">
                    <a:extLst>
                      <a:ext uri="{FF2B5EF4-FFF2-40B4-BE49-F238E27FC236}">
                        <a16:creationId xmlns:a16="http://schemas.microsoft.com/office/drawing/2014/main" id="{986494DE-1958-9143-9F8D-312FAFFA05E6}"/>
                      </a:ext>
                    </a:extLst>
                  </p:cNvPr>
                  <p:cNvSpPr>
                    <a:spLocks noRot="1" noChangeAspect="1" noMove="1" noResize="1" noEditPoints="1" noAdjustHandles="1" noChangeArrowheads="1" noChangeShapeType="1" noTextEdit="1"/>
                  </p:cNvSpPr>
                  <p:nvPr/>
                </p:nvSpPr>
                <p:spPr>
                  <a:xfrm>
                    <a:off x="3361866" y="4964151"/>
                    <a:ext cx="8917891" cy="1206805"/>
                  </a:xfrm>
                  <a:prstGeom prst="rect">
                    <a:avLst/>
                  </a:prstGeom>
                  <a:blipFill>
                    <a:blip r:embed="rId13"/>
                    <a:stretch>
                      <a:fillRect l="-3129" t="-91667" r="-2418" b="-14479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51BE36B9-4841-E44A-AED4-346C6DFFEE33}"/>
                    </a:ext>
                  </a:extLst>
                </p:cNvPr>
                <p:cNvSpPr/>
                <p:nvPr/>
              </p:nvSpPr>
              <p:spPr>
                <a:xfrm>
                  <a:off x="8429819" y="6163415"/>
                  <a:ext cx="317901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i="1" smtClean="0">
                            <a:latin typeface="Cambria Math" panose="02040503050406030204" pitchFamily="18" charset="0"/>
                          </a:rPr>
                          <m:t>𝑥</m:t>
                        </m:r>
                        <m:r>
                          <a:rPr lang="sr-Latn-RS" sz="2400" i="1">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𝑘</m:t>
                        </m:r>
                        <m:r>
                          <a:rPr lang="sr-Latn-RS" sz="2400" b="0" i="1" smtClean="0">
                            <a:latin typeface="Cambria Math" panose="02040503050406030204" pitchFamily="18" charset="0"/>
                          </a:rPr>
                          <m:t>=</m:t>
                        </m:r>
                        <m:sSub>
                          <m:sSubPr>
                            <m:ctrlPr>
                              <a:rPr lang="sr-Latn-RS" sz="2400" b="0" i="1" smtClean="0">
                                <a:latin typeface="Cambria Math" panose="02040503050406030204" pitchFamily="18" charset="0"/>
                              </a:rPr>
                            </m:ctrlPr>
                          </m:sSubPr>
                          <m:e>
                            <m:r>
                              <a:rPr lang="sr-Latn-RS" sz="2400" b="0" i="1" smtClean="0">
                                <a:latin typeface="Cambria Math" panose="02040503050406030204" pitchFamily="18" charset="0"/>
                              </a:rPr>
                              <m:t>𝑥</m:t>
                            </m:r>
                          </m:e>
                          <m:sub>
                            <m:r>
                              <a:rPr lang="sr-Latn-RS" sz="2400" b="0" i="1" smtClean="0">
                                <a:latin typeface="Cambria Math" panose="02040503050406030204" pitchFamily="18" charset="0"/>
                              </a:rPr>
                              <m:t>0</m:t>
                            </m:r>
                          </m:sub>
                        </m:sSub>
                        <m:sSub>
                          <m:sSubPr>
                            <m:ctrlPr>
                              <a:rPr lang="sr-Latn-RS" sz="2400" i="1">
                                <a:latin typeface="Cambria Math" panose="02040503050406030204" pitchFamily="18" charset="0"/>
                              </a:rPr>
                            </m:ctrlPr>
                          </m:sSubPr>
                          <m:e>
                            <m:r>
                              <a:rPr lang="sr-Latn-RS" sz="2400" b="0" i="1" smtClean="0">
                                <a:latin typeface="Cambria Math" panose="02040503050406030204" pitchFamily="18" charset="0"/>
                              </a:rPr>
                              <m:t>𝑘</m:t>
                            </m:r>
                          </m:e>
                          <m:sub>
                            <m:r>
                              <a:rPr lang="sr-Latn-RS" sz="2400" i="1">
                                <a:latin typeface="Cambria Math" panose="02040503050406030204" pitchFamily="18" charset="0"/>
                              </a:rPr>
                              <m:t>0</m:t>
                            </m:r>
                          </m:sub>
                        </m:sSub>
                        <m:r>
                          <a:rPr lang="sr-Latn-RS" sz="2400" b="0" i="1" smtClean="0">
                            <a:latin typeface="Cambria Math" panose="02040503050406030204" pitchFamily="18" charset="0"/>
                          </a:rPr>
                          <m:t> </m:t>
                        </m:r>
                        <m:sSub>
                          <m:sSubPr>
                            <m:ctrlPr>
                              <a:rPr lang="sr-Latn-RS" sz="2400" i="1">
                                <a:latin typeface="Cambria Math" panose="02040503050406030204" pitchFamily="18" charset="0"/>
                              </a:rPr>
                            </m:ctrlPr>
                          </m:sSubPr>
                          <m:e>
                            <m:r>
                              <a:rPr lang="en-US" sz="2400" i="1">
                                <a:latin typeface="Cambria Math" panose="02040503050406030204" pitchFamily="18" charset="0"/>
                              </a:rPr>
                              <m:t>⨁</m:t>
                            </m:r>
                            <m:r>
                              <a:rPr lang="sr-Latn-RS" sz="2400" i="1">
                                <a:latin typeface="Cambria Math" panose="02040503050406030204" pitchFamily="18" charset="0"/>
                              </a:rPr>
                              <m:t>𝑥</m:t>
                            </m:r>
                          </m:e>
                          <m:sub>
                            <m:r>
                              <a:rPr lang="sr-Latn-RS" sz="2400" b="0" i="1" smtClean="0">
                                <a:latin typeface="Cambria Math" panose="02040503050406030204" pitchFamily="18" charset="0"/>
                              </a:rPr>
                              <m:t>1</m:t>
                            </m:r>
                          </m:sub>
                        </m:sSub>
                        <m:sSub>
                          <m:sSubPr>
                            <m:ctrlPr>
                              <a:rPr lang="sr-Latn-RS" sz="2400" i="1">
                                <a:latin typeface="Cambria Math" panose="02040503050406030204" pitchFamily="18" charset="0"/>
                              </a:rPr>
                            </m:ctrlPr>
                          </m:sSubPr>
                          <m:e>
                            <m:r>
                              <a:rPr lang="sr-Latn-RS" sz="2400" b="0" i="1" smtClean="0">
                                <a:latin typeface="Cambria Math" panose="02040503050406030204" pitchFamily="18" charset="0"/>
                              </a:rPr>
                              <m:t>𝑘</m:t>
                            </m:r>
                          </m:e>
                          <m:sub>
                            <m:r>
                              <a:rPr lang="sr-Latn-RS" sz="2400" b="0" i="1" smtClean="0">
                                <a:latin typeface="Cambria Math" panose="02040503050406030204" pitchFamily="18" charset="0"/>
                              </a:rPr>
                              <m:t>1</m:t>
                            </m:r>
                          </m:sub>
                        </m:sSub>
                        <m:r>
                          <a:rPr lang="sr-Latn-R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42" name="Rectangle 41">
                  <a:extLst>
                    <a:ext uri="{FF2B5EF4-FFF2-40B4-BE49-F238E27FC236}">
                      <a16:creationId xmlns:a16="http://schemas.microsoft.com/office/drawing/2014/main" id="{51BE36B9-4841-E44A-AED4-346C6DFFEE33}"/>
                    </a:ext>
                  </a:extLst>
                </p:cNvPr>
                <p:cNvSpPr>
                  <a:spLocks noRot="1" noChangeAspect="1" noMove="1" noResize="1" noEditPoints="1" noAdjustHandles="1" noChangeArrowheads="1" noChangeShapeType="1" noTextEdit="1"/>
                </p:cNvSpPr>
                <p:nvPr/>
              </p:nvSpPr>
              <p:spPr>
                <a:xfrm>
                  <a:off x="8429819" y="6163415"/>
                  <a:ext cx="3179012" cy="461665"/>
                </a:xfrm>
                <a:prstGeom prst="rect">
                  <a:avLst/>
                </a:prstGeom>
                <a:blipFill>
                  <a:blip r:embed="rId14"/>
                  <a:stretch>
                    <a:fillRect b="-1842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96775D7C-7DFA-AE42-8905-927225B156DD}"/>
                  </a:ext>
                </a:extLst>
              </p:cNvPr>
              <p:cNvSpPr/>
              <p:nvPr/>
            </p:nvSpPr>
            <p:spPr>
              <a:xfrm>
                <a:off x="4522438" y="2960237"/>
                <a:ext cx="1905971" cy="5146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𝑥</m:t>
                                  </m:r>
                                </m:e>
                              </m:d>
                            </m:sup>
                          </m:sSup>
                          <m:r>
                            <m:rPr>
                              <m:nor/>
                            </m:rPr>
                            <a:rPr lang="en-US" sz="2400" dirty="0"/>
                            <m:t>  </m:t>
                          </m:r>
                          <m:r>
                            <a:rPr lang="en-US" sz="240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36" name="Rectangle 35">
                <a:extLst>
                  <a:ext uri="{FF2B5EF4-FFF2-40B4-BE49-F238E27FC236}">
                    <a16:creationId xmlns:a16="http://schemas.microsoft.com/office/drawing/2014/main" id="{96775D7C-7DFA-AE42-8905-927225B156DD}"/>
                  </a:ext>
                </a:extLst>
              </p:cNvPr>
              <p:cNvSpPr>
                <a:spLocks noRot="1" noChangeAspect="1" noMove="1" noResize="1" noEditPoints="1" noAdjustHandles="1" noChangeArrowheads="1" noChangeShapeType="1" noTextEdit="1"/>
              </p:cNvSpPr>
              <p:nvPr/>
            </p:nvSpPr>
            <p:spPr>
              <a:xfrm>
                <a:off x="4522438" y="2960237"/>
                <a:ext cx="1905971" cy="514628"/>
              </a:xfrm>
              <a:prstGeom prst="rect">
                <a:avLst/>
              </a:prstGeom>
              <a:blipFill>
                <a:blip r:embed="rId15"/>
                <a:stretch>
                  <a:fillRect t="-152381" r="-25828" b="-2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F81A5364-33F3-FF4B-B788-2461F625A616}"/>
                  </a:ext>
                </a:extLst>
              </p:cNvPr>
              <p:cNvSpPr/>
              <p:nvPr/>
            </p:nvSpPr>
            <p:spPr>
              <a:xfrm>
                <a:off x="7281952" y="4080798"/>
                <a:ext cx="7596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en-US" sz="2400" b="0" i="1" smtClean="0">
                              <a:latin typeface="Cambria Math" panose="02040503050406030204" pitchFamily="18" charset="0"/>
                            </a:rPr>
                            <m:t>−</m:t>
                          </m:r>
                        </m:e>
                      </m:d>
                    </m:oMath>
                  </m:oMathPara>
                </a14:m>
                <a:endParaRPr lang="en-US" sz="2400" dirty="0"/>
              </a:p>
            </p:txBody>
          </p:sp>
        </mc:Choice>
        <mc:Fallback xmlns="">
          <p:sp>
            <p:nvSpPr>
              <p:cNvPr id="37" name="Rectangle 36">
                <a:extLst>
                  <a:ext uri="{FF2B5EF4-FFF2-40B4-BE49-F238E27FC236}">
                    <a16:creationId xmlns:a16="http://schemas.microsoft.com/office/drawing/2014/main" id="{F81A5364-33F3-FF4B-B788-2461F625A616}"/>
                  </a:ext>
                </a:extLst>
              </p:cNvPr>
              <p:cNvSpPr>
                <a:spLocks noRot="1" noChangeAspect="1" noMove="1" noResize="1" noEditPoints="1" noAdjustHandles="1" noChangeArrowheads="1" noChangeShapeType="1" noTextEdit="1"/>
              </p:cNvSpPr>
              <p:nvPr/>
            </p:nvSpPr>
            <p:spPr>
              <a:xfrm>
                <a:off x="7281952" y="4080798"/>
                <a:ext cx="759632" cy="461665"/>
              </a:xfrm>
              <a:prstGeom prst="rect">
                <a:avLst/>
              </a:prstGeom>
              <a:blipFill>
                <a:blip r:embed="rId16"/>
                <a:stretch>
                  <a:fillRect l="-3279" t="-121053" r="-40984" b="-186842"/>
                </a:stretch>
              </a:blipFill>
            </p:spPr>
            <p:txBody>
              <a:bodyPr/>
              <a:lstStyle/>
              <a:p>
                <a:r>
                  <a:rPr lang="en-US">
                    <a:noFill/>
                  </a:rPr>
                  <a:t> </a:t>
                </a:r>
              </a:p>
            </p:txBody>
          </p:sp>
        </mc:Fallback>
      </mc:AlternateContent>
    </p:spTree>
    <p:extLst>
      <p:ext uri="{BB962C8B-B14F-4D97-AF65-F5344CB8AC3E}">
        <p14:creationId xmlns:p14="http://schemas.microsoft.com/office/powerpoint/2010/main" val="2547976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dissolve">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E1B9F-870F-9540-8B10-5DA7C700701C}"/>
              </a:ext>
            </a:extLst>
          </p:cNvPr>
          <p:cNvSpPr>
            <a:spLocks noGrp="1"/>
          </p:cNvSpPr>
          <p:nvPr>
            <p:ph type="title"/>
          </p:nvPr>
        </p:nvSpPr>
        <p:spPr/>
        <p:txBody>
          <a:bodyPr/>
          <a:lstStyle/>
          <a:p>
            <a:r>
              <a:rPr lang="en-ZA" dirty="0"/>
              <a:t>Deutsch–</a:t>
            </a:r>
            <a:r>
              <a:rPr lang="en-ZA" dirty="0" err="1"/>
              <a:t>Jozsa</a:t>
            </a:r>
            <a:r>
              <a:rPr lang="en-ZA" dirty="0"/>
              <a:t> Algorithm: Constant Function</a:t>
            </a:r>
            <a:endParaRPr lang="en-US" dirty="0"/>
          </a:p>
        </p:txBody>
      </p:sp>
      <p:sp>
        <p:nvSpPr>
          <p:cNvPr id="3" name="Slide Number Placeholder 2">
            <a:extLst>
              <a:ext uri="{FF2B5EF4-FFF2-40B4-BE49-F238E27FC236}">
                <a16:creationId xmlns:a16="http://schemas.microsoft.com/office/drawing/2014/main" id="{20F698E4-B436-4642-80A3-1E57DE4ECACC}"/>
              </a:ext>
            </a:extLst>
          </p:cNvPr>
          <p:cNvSpPr>
            <a:spLocks noGrp="1"/>
          </p:cNvSpPr>
          <p:nvPr>
            <p:ph type="sldNum" sz="quarter" idx="12"/>
          </p:nvPr>
        </p:nvSpPr>
        <p:spPr/>
        <p:txBody>
          <a:bodyPr/>
          <a:lstStyle/>
          <a:p>
            <a:fld id="{591A223C-FA10-BC46-A853-03BA373D023C}" type="slidenum">
              <a:rPr lang="en-US" smtClean="0"/>
              <a:t>20</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E87C777-AF13-5146-B1AE-C1AF852BE8FE}"/>
                  </a:ext>
                </a:extLst>
              </p:cNvPr>
              <p:cNvSpPr/>
              <p:nvPr/>
            </p:nvSpPr>
            <p:spPr>
              <a:xfrm>
                <a:off x="-60816" y="1041118"/>
                <a:ext cx="10438627" cy="11658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𝑆</m:t>
                          </m:r>
                        </m:e>
                      </m:d>
                      <m:r>
                        <a:rPr lang="sr-Latn-RS" sz="2400" b="0" i="1" smtClean="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sr-Latn-RS" sz="2400" i="1">
                              <a:solidFill>
                                <a:schemeClr val="tx1"/>
                              </a:solidFill>
                              <a:latin typeface="Cambria Math" panose="02040503050406030204" pitchFamily="18" charset="0"/>
                            </a:rPr>
                            <m:t>1</m:t>
                          </m:r>
                        </m:num>
                        <m:den>
                          <m:rad>
                            <m:radPr>
                              <m:degHide m:val="on"/>
                              <m:ctrlPr>
                                <a:rPr lang="en-US" sz="2400" i="1">
                                  <a:solidFill>
                                    <a:schemeClr val="tx1"/>
                                  </a:solidFill>
                                  <a:latin typeface="Cambria Math" panose="02040503050406030204" pitchFamily="18" charset="0"/>
                                </a:rPr>
                              </m:ctrlPr>
                            </m:radPr>
                            <m:deg/>
                            <m:e>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e>
                          </m:rad>
                        </m:den>
                      </m:f>
                      <m:nary>
                        <m:naryPr>
                          <m:chr m:val="∑"/>
                          <m:ctrlPr>
                            <a:rPr lang="en-US" sz="2400" i="1">
                              <a:solidFill>
                                <a:schemeClr val="tx1"/>
                              </a:solidFill>
                              <a:latin typeface="Cambria Math" panose="02040503050406030204" pitchFamily="18" charset="0"/>
                            </a:rPr>
                          </m:ctrlPr>
                        </m:naryPr>
                        <m:sub>
                          <m:r>
                            <m:rPr>
                              <m:brk m:alnAt="23"/>
                            </m:rPr>
                            <a:rPr lang="sr-Latn-RS" sz="2400" i="1">
                              <a:solidFill>
                                <a:schemeClr val="tx1"/>
                              </a:solidFill>
                              <a:latin typeface="Cambria Math" panose="02040503050406030204" pitchFamily="18" charset="0"/>
                            </a:rPr>
                            <m:t>𝑥</m:t>
                          </m:r>
                          <m:r>
                            <a:rPr lang="sr-Latn-RS" sz="2400" i="1">
                              <a:solidFill>
                                <a:schemeClr val="tx1"/>
                              </a:solidFill>
                              <a:latin typeface="Cambria Math" panose="02040503050406030204" pitchFamily="18" charset="0"/>
                            </a:rPr>
                            <m:t>=0</m:t>
                          </m:r>
                        </m:sub>
                        <m:sup>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r>
                            <a:rPr lang="sr-Latn-RS" sz="2400" i="1">
                              <a:solidFill>
                                <a:schemeClr val="tx1"/>
                              </a:solidFill>
                              <a:latin typeface="Cambria Math" panose="02040503050406030204" pitchFamily="18" charset="0"/>
                            </a:rPr>
                            <m:t>−1</m:t>
                          </m:r>
                        </m:sup>
                        <m:e>
                          <m:sSup>
                            <m:sSupPr>
                              <m:ctrlPr>
                                <a:rPr lang="en-US" sz="2400" i="1">
                                  <a:solidFill>
                                    <a:schemeClr val="tx1"/>
                                  </a:solidFill>
                                  <a:latin typeface="Cambria Math" panose="02040503050406030204" pitchFamily="18" charset="0"/>
                                </a:rPr>
                              </m:ctrlPr>
                            </m:sSupPr>
                            <m:e>
                              <m:d>
                                <m:dPr>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sup>
                              <m:d>
                                <m:dPr>
                                  <m:beg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𝑓</m:t>
                                  </m:r>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𝑥</m:t>
                                  </m:r>
                                </m:e>
                              </m:d>
                            </m:sup>
                          </m:sSup>
                        </m:e>
                      </m:nary>
                      <m:f>
                        <m:fPr>
                          <m:ctrlPr>
                            <a:rPr lang="en-US" sz="2400" i="1">
                              <a:solidFill>
                                <a:schemeClr val="tx1"/>
                              </a:solidFill>
                              <a:latin typeface="Cambria Math" panose="02040503050406030204" pitchFamily="18" charset="0"/>
                            </a:rPr>
                          </m:ctrlPr>
                        </m:fPr>
                        <m:num>
                          <m:r>
                            <a:rPr lang="sr-Latn-RS" sz="2400" i="1">
                              <a:solidFill>
                                <a:schemeClr val="tx1"/>
                              </a:solidFill>
                              <a:latin typeface="Cambria Math" panose="02040503050406030204" pitchFamily="18" charset="0"/>
                            </a:rPr>
                            <m:t>1</m:t>
                          </m:r>
                        </m:num>
                        <m:den>
                          <m:rad>
                            <m:radPr>
                              <m:degHide m:val="on"/>
                              <m:ctrlPr>
                                <a:rPr lang="en-US" sz="2400" i="1">
                                  <a:solidFill>
                                    <a:schemeClr val="tx1"/>
                                  </a:solidFill>
                                  <a:latin typeface="Cambria Math" panose="02040503050406030204" pitchFamily="18" charset="0"/>
                                </a:rPr>
                              </m:ctrlPr>
                            </m:radPr>
                            <m:deg/>
                            <m:e>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e>
                          </m:rad>
                        </m:den>
                      </m:f>
                      <m:nary>
                        <m:naryPr>
                          <m:chr m:val="∑"/>
                          <m:ctrlPr>
                            <a:rPr lang="en-US" sz="2400" i="1">
                              <a:solidFill>
                                <a:schemeClr val="tx1"/>
                              </a:solidFill>
                              <a:latin typeface="Cambria Math" panose="02040503050406030204" pitchFamily="18" charset="0"/>
                            </a:rPr>
                          </m:ctrlPr>
                        </m:naryPr>
                        <m:sub>
                          <m:r>
                            <a:rPr lang="sr-Latn-RS" sz="2400" b="0" i="1" smtClean="0">
                              <a:solidFill>
                                <a:schemeClr val="tx1"/>
                              </a:solidFill>
                              <a:latin typeface="Cambria Math" panose="02040503050406030204" pitchFamily="18" charset="0"/>
                            </a:rPr>
                            <m:t>𝑘</m:t>
                          </m:r>
                          <m:r>
                            <a:rPr lang="sr-Latn-RS" sz="2400" i="1">
                              <a:solidFill>
                                <a:schemeClr val="tx1"/>
                              </a:solidFill>
                              <a:latin typeface="Cambria Math" panose="02040503050406030204" pitchFamily="18" charset="0"/>
                            </a:rPr>
                            <m:t>=0</m:t>
                          </m:r>
                        </m:sub>
                        <m:sup>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r>
                            <a:rPr lang="sr-Latn-RS" sz="2400" i="1">
                              <a:solidFill>
                                <a:schemeClr val="tx1"/>
                              </a:solidFill>
                              <a:latin typeface="Cambria Math" panose="02040503050406030204" pitchFamily="18" charset="0"/>
                            </a:rPr>
                            <m:t>−1</m:t>
                          </m:r>
                        </m:sup>
                        <m:e>
                          <m:sSup>
                            <m:sSupPr>
                              <m:ctrlPr>
                                <a:rPr lang="en-US" sz="2400" i="1">
                                  <a:solidFill>
                                    <a:schemeClr val="tx1"/>
                                  </a:solidFill>
                                  <a:latin typeface="Cambria Math" panose="02040503050406030204" pitchFamily="18" charset="0"/>
                                </a:rPr>
                              </m:ctrlPr>
                            </m:sSupPr>
                            <m:e>
                              <m:d>
                                <m:dPr>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sup>
                              <m:r>
                                <a:rPr lang="sr-Latn-RS" sz="2400" i="1">
                                  <a:solidFill>
                                    <a:schemeClr val="tx1"/>
                                  </a:solidFill>
                                  <a:latin typeface="Cambria Math" panose="02040503050406030204" pitchFamily="18" charset="0"/>
                                </a:rPr>
                                <m:t>𝑥</m:t>
                              </m:r>
                              <m:r>
                                <a:rPr lang="sr-Latn-RS" sz="2400" i="1">
                                  <a:solidFill>
                                    <a:schemeClr val="tx1"/>
                                  </a:solidFill>
                                  <a:latin typeface="Cambria Math" panose="02040503050406030204" pitchFamily="18" charset="0"/>
                                  <a:ea typeface="Cambria Math" panose="02040503050406030204" pitchFamily="18" charset="0"/>
                                </a:rPr>
                                <m:t>∙</m:t>
                              </m:r>
                              <m:r>
                                <a:rPr lang="sr-Latn-RS" sz="2400" b="0" i="1" smtClean="0">
                                  <a:solidFill>
                                    <a:schemeClr val="tx1"/>
                                  </a:solidFill>
                                  <a:latin typeface="Cambria Math" panose="02040503050406030204" pitchFamily="18" charset="0"/>
                                  <a:ea typeface="Cambria Math" panose="02040503050406030204" pitchFamily="18" charset="0"/>
                                </a:rPr>
                                <m:t>𝑘</m:t>
                              </m:r>
                            </m:sup>
                          </m:sSup>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𝑘</m:t>
                              </m:r>
                            </m:e>
                          </m:d>
                          <m:r>
                            <a:rPr lang="sr-Latn-RS" sz="2400" b="0" i="1" smtClean="0">
                              <a:solidFill>
                                <a:schemeClr val="tx1"/>
                              </a:solidFill>
                              <a:latin typeface="Cambria Math" panose="02040503050406030204" pitchFamily="18" charset="0"/>
                            </a:rPr>
                            <m:t>=</m:t>
                          </m:r>
                        </m:e>
                      </m:nary>
                      <m:f>
                        <m:fPr>
                          <m:ctrlPr>
                            <a:rPr lang="sr-Latn-RS" sz="2400" i="1" smtClean="0">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1</m:t>
                          </m:r>
                        </m:num>
                        <m:den>
                          <m:sSup>
                            <m:sSupPr>
                              <m:ctrlPr>
                                <a:rPr lang="sr-Latn-R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2</m:t>
                              </m:r>
                            </m:e>
                            <m:sup>
                              <m:r>
                                <a:rPr lang="en-US" sz="2400" i="1">
                                  <a:solidFill>
                                    <a:schemeClr val="tx1"/>
                                  </a:solidFill>
                                  <a:latin typeface="Cambria Math" panose="02040503050406030204" pitchFamily="18" charset="0"/>
                                </a:rPr>
                                <m:t>𝑛</m:t>
                              </m:r>
                            </m:sup>
                          </m:sSup>
                        </m:den>
                      </m:f>
                      <m:nary>
                        <m:naryPr>
                          <m:chr m:val="∑"/>
                          <m:ctrlPr>
                            <a:rPr lang="sr-Latn-RS" sz="2400" i="1">
                              <a:solidFill>
                                <a:schemeClr val="tx1"/>
                              </a:solidFill>
                              <a:latin typeface="Cambria Math" panose="02040503050406030204" pitchFamily="18" charset="0"/>
                            </a:rPr>
                          </m:ctrlPr>
                        </m:naryPr>
                        <m:sub>
                          <m:r>
                            <a:rPr lang="sr-Latn-RS" sz="2400" b="0" i="1" smtClean="0">
                              <a:solidFill>
                                <a:schemeClr val="tx1"/>
                              </a:solidFill>
                              <a:latin typeface="Cambria Math" panose="02040503050406030204" pitchFamily="18" charset="0"/>
                            </a:rPr>
                            <m:t>𝑥</m:t>
                          </m:r>
                          <m:r>
                            <a:rPr lang="sr-Latn-RS" sz="2400" i="1">
                              <a:solidFill>
                                <a:schemeClr val="tx1"/>
                              </a:solidFill>
                              <a:latin typeface="Cambria Math" panose="02040503050406030204" pitchFamily="18" charset="0"/>
                            </a:rPr>
                            <m:t>=0</m:t>
                          </m:r>
                        </m:sub>
                        <m:sup>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r>
                            <a:rPr lang="sr-Latn-RS" sz="2400" i="1">
                              <a:solidFill>
                                <a:schemeClr val="tx1"/>
                              </a:solidFill>
                              <a:latin typeface="Cambria Math" panose="02040503050406030204" pitchFamily="18" charset="0"/>
                            </a:rPr>
                            <m:t>−1</m:t>
                          </m:r>
                        </m:sup>
                        <m:e>
                          <m:nary>
                            <m:naryPr>
                              <m:chr m:val="∑"/>
                              <m:ctrlPr>
                                <a:rPr lang="sr-Latn-RS" sz="2400" i="1">
                                  <a:solidFill>
                                    <a:schemeClr val="tx1"/>
                                  </a:solidFill>
                                  <a:latin typeface="Cambria Math" panose="02040503050406030204" pitchFamily="18" charset="0"/>
                                </a:rPr>
                              </m:ctrlPr>
                            </m:naryPr>
                            <m:sub>
                              <m:r>
                                <a:rPr lang="sr-Latn-RS" sz="2400" b="0" i="1" smtClean="0">
                                  <a:solidFill>
                                    <a:schemeClr val="tx1"/>
                                  </a:solidFill>
                                  <a:latin typeface="Cambria Math" panose="02040503050406030204" pitchFamily="18" charset="0"/>
                                </a:rPr>
                                <m:t>𝑘</m:t>
                              </m:r>
                              <m:r>
                                <a:rPr lang="sr-Latn-RS" sz="2400" b="0" i="1" smtClean="0">
                                  <a:solidFill>
                                    <a:schemeClr val="tx1"/>
                                  </a:solidFill>
                                  <a:latin typeface="Cambria Math" panose="02040503050406030204" pitchFamily="18" charset="0"/>
                                </a:rPr>
                                <m:t>=0</m:t>
                              </m:r>
                            </m:sub>
                            <m:sup>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r>
                                <a:rPr lang="sr-Latn-RS" sz="2400" i="1">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1</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𝑥</m:t>
                                      </m:r>
                                    </m:e>
                                  </m:d>
                                </m:sup>
                              </m:sSup>
                            </m:e>
                          </m:nary>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r>
                                <a:rPr lang="sr-Latn-RS" sz="2400" i="1">
                                  <a:latin typeface="Cambria Math" panose="02040503050406030204" pitchFamily="18" charset="0"/>
                                </a:rPr>
                                <m:t>𝑥</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𝑘</m:t>
                              </m:r>
                            </m:sup>
                          </m:sSup>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𝑘</m:t>
                              </m:r>
                            </m:e>
                          </m:d>
                        </m:e>
                      </m:nary>
                    </m:oMath>
                  </m:oMathPara>
                </a14:m>
                <a:endParaRPr lang="en-US" sz="2400" dirty="0">
                  <a:solidFill>
                    <a:schemeClr val="tx1"/>
                  </a:solidFill>
                </a:endParaRPr>
              </a:p>
            </p:txBody>
          </p:sp>
        </mc:Choice>
        <mc:Fallback xmlns="">
          <p:sp>
            <p:nvSpPr>
              <p:cNvPr id="4" name="Rectangle 3">
                <a:extLst>
                  <a:ext uri="{FF2B5EF4-FFF2-40B4-BE49-F238E27FC236}">
                    <a16:creationId xmlns:a16="http://schemas.microsoft.com/office/drawing/2014/main" id="{AE87C777-AF13-5146-B1AE-C1AF852BE8FE}"/>
                  </a:ext>
                </a:extLst>
              </p:cNvPr>
              <p:cNvSpPr>
                <a:spLocks noRot="1" noChangeAspect="1" noMove="1" noResize="1" noEditPoints="1" noAdjustHandles="1" noChangeArrowheads="1" noChangeShapeType="1" noTextEdit="1"/>
              </p:cNvSpPr>
              <p:nvPr/>
            </p:nvSpPr>
            <p:spPr>
              <a:xfrm>
                <a:off x="-60816" y="1041118"/>
                <a:ext cx="10438627" cy="1165897"/>
              </a:xfrm>
              <a:prstGeom prst="rect">
                <a:avLst/>
              </a:prstGeom>
              <a:blipFill>
                <a:blip r:embed="rId3"/>
                <a:stretch>
                  <a:fillRect l="-1095" t="-93548" r="-2676" b="-151613"/>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B435D005-6742-5945-B66E-440BFDA2527D}"/>
              </a:ext>
            </a:extLst>
          </p:cNvPr>
          <p:cNvCxnSpPr>
            <a:cxnSpLocks/>
          </p:cNvCxnSpPr>
          <p:nvPr/>
        </p:nvCxnSpPr>
        <p:spPr>
          <a:xfrm>
            <a:off x="10318281" y="1614735"/>
            <a:ext cx="147481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7FB6DC78-901F-FE4C-B0D0-B3C62D621C88}"/>
              </a:ext>
            </a:extLst>
          </p:cNvPr>
          <p:cNvGrpSpPr/>
          <p:nvPr/>
        </p:nvGrpSpPr>
        <p:grpSpPr>
          <a:xfrm>
            <a:off x="10886532" y="1254735"/>
            <a:ext cx="720000" cy="796546"/>
            <a:chOff x="3031963" y="4808040"/>
            <a:chExt cx="720000" cy="796546"/>
          </a:xfrm>
        </p:grpSpPr>
        <p:sp>
          <p:nvSpPr>
            <p:cNvPr id="7" name="Rectangle 6">
              <a:extLst>
                <a:ext uri="{FF2B5EF4-FFF2-40B4-BE49-F238E27FC236}">
                  <a16:creationId xmlns:a16="http://schemas.microsoft.com/office/drawing/2014/main" id="{47CC655A-2C5D-3C42-93C8-00F2F4993CD6}"/>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8" name="Arc 7">
              <a:extLst>
                <a:ext uri="{FF2B5EF4-FFF2-40B4-BE49-F238E27FC236}">
                  <a16:creationId xmlns:a16="http://schemas.microsoft.com/office/drawing/2014/main" id="{9AA78BDC-D636-7545-AC9D-8ADCBB27A37E}"/>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10A4952-D621-8044-9E9C-3D14DAECB11C}"/>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4A653BAB-119C-5A40-B89B-1682AE003F42}"/>
              </a:ext>
            </a:extLst>
          </p:cNvPr>
          <p:cNvCxnSpPr>
            <a:cxnSpLocks/>
          </p:cNvCxnSpPr>
          <p:nvPr/>
        </p:nvCxnSpPr>
        <p:spPr>
          <a:xfrm flipV="1">
            <a:off x="10605218" y="1482897"/>
            <a:ext cx="130174" cy="263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467782D4-E69D-7F46-AC51-62275BA46F49}"/>
                  </a:ext>
                </a:extLst>
              </p:cNvPr>
              <p:cNvSpPr/>
              <p:nvPr/>
            </p:nvSpPr>
            <p:spPr>
              <a:xfrm>
                <a:off x="10336099" y="1254735"/>
                <a:ext cx="37459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i="1">
                          <a:latin typeface="Cambria Math" panose="02040503050406030204" pitchFamily="18" charset="0"/>
                        </a:rPr>
                        <m:t>𝑛</m:t>
                      </m:r>
                    </m:oMath>
                  </m:oMathPara>
                </a14:m>
                <a:endParaRPr lang="en-US" dirty="0"/>
              </a:p>
            </p:txBody>
          </p:sp>
        </mc:Choice>
        <mc:Fallback xmlns="">
          <p:sp>
            <p:nvSpPr>
              <p:cNvPr id="14" name="Rectangle 13">
                <a:extLst>
                  <a:ext uri="{FF2B5EF4-FFF2-40B4-BE49-F238E27FC236}">
                    <a16:creationId xmlns:a16="http://schemas.microsoft.com/office/drawing/2014/main" id="{467782D4-E69D-7F46-AC51-62275BA46F49}"/>
                  </a:ext>
                </a:extLst>
              </p:cNvPr>
              <p:cNvSpPr>
                <a:spLocks noRot="1" noChangeAspect="1" noMove="1" noResize="1" noEditPoints="1" noAdjustHandles="1" noChangeArrowheads="1" noChangeShapeType="1" noTextEdit="1"/>
              </p:cNvSpPr>
              <p:nvPr/>
            </p:nvSpPr>
            <p:spPr>
              <a:xfrm>
                <a:off x="10336099" y="1254735"/>
                <a:ext cx="374590" cy="369332"/>
              </a:xfrm>
              <a:prstGeom prst="rect">
                <a:avLst/>
              </a:prstGeom>
              <a:blipFill>
                <a:blip r:embed="rId4"/>
                <a:stretch>
                  <a:fillRect/>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A93C0F30-E67D-854D-956C-D350A5D121D6}"/>
              </a:ext>
            </a:extLst>
          </p:cNvPr>
          <p:cNvGrpSpPr/>
          <p:nvPr/>
        </p:nvGrpSpPr>
        <p:grpSpPr>
          <a:xfrm>
            <a:off x="470784" y="2545517"/>
            <a:ext cx="11193280" cy="3607807"/>
            <a:chOff x="470784" y="2545517"/>
            <a:chExt cx="11193280" cy="3607807"/>
          </a:xfrm>
        </p:grpSpPr>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F925C5F-BB25-6141-8971-6F8A0EAC66D2}"/>
                    </a:ext>
                  </a:extLst>
                </p:cNvPr>
                <p:cNvSpPr/>
                <p:nvPr/>
              </p:nvSpPr>
              <p:spPr>
                <a:xfrm>
                  <a:off x="470784" y="3411312"/>
                  <a:ext cx="8449172" cy="11658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𝑆</m:t>
                            </m:r>
                          </m:e>
                        </m:d>
                        <m:r>
                          <a:rPr lang="en-US" sz="2400" i="1">
                            <a:solidFill>
                              <a:schemeClr val="tx1"/>
                            </a:solidFill>
                            <a:latin typeface="Cambria Math" panose="02040503050406030204" pitchFamily="18" charset="0"/>
                          </a:rPr>
                          <m:t>=</m:t>
                        </m:r>
                        <m:f>
                          <m:fPr>
                            <m:ctrlPr>
                              <a:rPr lang="en-ZA" sz="2400" i="1">
                                <a:latin typeface="Cambria Math" panose="02040503050406030204" pitchFamily="18" charset="0"/>
                              </a:rPr>
                            </m:ctrlPr>
                          </m:fPr>
                          <m:num>
                            <m:r>
                              <a:rPr lang="sr-Latn-RS" sz="2400" i="1">
                                <a:latin typeface="Cambria Math" panose="02040503050406030204" pitchFamily="18" charset="0"/>
                              </a:rPr>
                              <m:t>1</m:t>
                            </m:r>
                          </m:num>
                          <m:den>
                            <m:sSup>
                              <m:sSupPr>
                                <m:ctrlPr>
                                  <a:rPr lang="en-ZA"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den>
                        </m:f>
                        <m:nary>
                          <m:naryPr>
                            <m:chr m:val="∑"/>
                            <m:limLoc m:val="undOvr"/>
                            <m:ctrlPr>
                              <a:rPr lang="en-ZA" sz="2400" i="1">
                                <a:latin typeface="Cambria Math" panose="02040503050406030204" pitchFamily="18" charset="0"/>
                              </a:rPr>
                            </m:ctrlPr>
                          </m:naryPr>
                          <m:sub>
                            <m:r>
                              <a:rPr lang="sr-Latn-RS" sz="2400" i="1">
                                <a:latin typeface="Cambria Math" panose="02040503050406030204" pitchFamily="18" charset="0"/>
                              </a:rPr>
                              <m:t>𝑥</m:t>
                            </m:r>
                            <m:r>
                              <a:rPr lang="sr-Latn-RS" sz="2400" i="1">
                                <a:latin typeface="Cambria Math" panose="02040503050406030204" pitchFamily="18" charset="0"/>
                              </a:rPr>
                              <m:t>=0</m:t>
                            </m:r>
                          </m:sub>
                          <m:sup>
                            <m:sSup>
                              <m:sSupPr>
                                <m:ctrlPr>
                                  <a:rPr lang="en-ZA"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r>
                              <a:rPr lang="sr-Latn-RS" sz="2400" i="1">
                                <a:latin typeface="Cambria Math" panose="02040503050406030204" pitchFamily="18" charset="0"/>
                              </a:rPr>
                              <m:t>−1</m:t>
                            </m:r>
                          </m:sup>
                          <m:e>
                            <m:sSup>
                              <m:sSupPr>
                                <m:ctrlPr>
                                  <a:rPr lang="en-ZA" sz="2400" i="1">
                                    <a:latin typeface="Cambria Math" panose="02040503050406030204" pitchFamily="18" charset="0"/>
                                  </a:rPr>
                                </m:ctrlPr>
                              </m:sSupPr>
                              <m:e>
                                <m:sSup>
                                  <m:sSupPr>
                                    <m:ctrlPr>
                                      <a:rPr lang="en-ZA"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m:t>
                                    </m:r>
                                    <m:r>
                                      <a:rPr lang="sr-Latn-RS" sz="2400" i="1">
                                        <a:latin typeface="Cambria Math" panose="02040503050406030204" pitchFamily="18" charset="0"/>
                                      </a:rPr>
                                      <m:t>𝑥</m:t>
                                    </m:r>
                                    <m:r>
                                      <a:rPr lang="sr-Latn-RS" sz="2400" i="1">
                                        <a:latin typeface="Cambria Math" panose="02040503050406030204" pitchFamily="18" charset="0"/>
                                      </a:rPr>
                                      <m:t>)</m:t>
                                    </m:r>
                                  </m:sup>
                                </m:sSup>
                                <m:r>
                                  <a:rPr lang="sr-Latn-RS" sz="2400" i="1">
                                    <a:latin typeface="Cambria Math" panose="02040503050406030204" pitchFamily="18" charset="0"/>
                                  </a:rPr>
                                  <m:t>(−1)</m:t>
                                </m:r>
                              </m:e>
                              <m:sup>
                                <m:r>
                                  <a:rPr lang="sr-Latn-RS" sz="2400" i="1">
                                    <a:latin typeface="Cambria Math" panose="02040503050406030204" pitchFamily="18" charset="0"/>
                                  </a:rPr>
                                  <m:t>𝑥</m:t>
                                </m:r>
                                <m:r>
                                  <a:rPr lang="sr-Latn-RS" sz="2400" i="1">
                                    <a:latin typeface="Cambria Math" panose="02040503050406030204" pitchFamily="18" charset="0"/>
                                  </a:rPr>
                                  <m:t>∙0</m:t>
                                </m:r>
                              </m:sup>
                            </m:sSup>
                          </m:e>
                        </m:nary>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0⋯0</m:t>
                            </m:r>
                          </m:e>
                        </m:d>
                        <m:r>
                          <a:rPr lang="en-US" sz="2400" b="0" i="1" smtClean="0">
                            <a:latin typeface="Cambria Math" panose="02040503050406030204" pitchFamily="18" charset="0"/>
                          </a:rPr>
                          <m:t>=</m:t>
                        </m:r>
                        <m:f>
                          <m:fPr>
                            <m:ctrlPr>
                              <a:rPr lang="en-ZA" sz="2400" i="1">
                                <a:latin typeface="Cambria Math" panose="02040503050406030204" pitchFamily="18" charset="0"/>
                              </a:rPr>
                            </m:ctrlPr>
                          </m:fPr>
                          <m:num>
                            <m:r>
                              <a:rPr lang="sr-Latn-RS" sz="2400" i="1">
                                <a:latin typeface="Cambria Math" panose="02040503050406030204" pitchFamily="18" charset="0"/>
                              </a:rPr>
                              <m:t>1</m:t>
                            </m:r>
                          </m:num>
                          <m:den>
                            <m:sSup>
                              <m:sSupPr>
                                <m:ctrlPr>
                                  <a:rPr lang="en-ZA"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den>
                        </m:f>
                        <m:nary>
                          <m:naryPr>
                            <m:chr m:val="∑"/>
                            <m:limLoc m:val="undOvr"/>
                            <m:ctrlPr>
                              <a:rPr lang="en-ZA" sz="2400" i="1">
                                <a:latin typeface="Cambria Math" panose="02040503050406030204" pitchFamily="18" charset="0"/>
                              </a:rPr>
                            </m:ctrlPr>
                          </m:naryPr>
                          <m:sub>
                            <m:r>
                              <a:rPr lang="sr-Latn-RS" sz="2400" i="1">
                                <a:latin typeface="Cambria Math" panose="02040503050406030204" pitchFamily="18" charset="0"/>
                              </a:rPr>
                              <m:t>𝑥</m:t>
                            </m:r>
                            <m:r>
                              <a:rPr lang="sr-Latn-RS" sz="2400" i="1">
                                <a:latin typeface="Cambria Math" panose="02040503050406030204" pitchFamily="18" charset="0"/>
                              </a:rPr>
                              <m:t>=0</m:t>
                            </m:r>
                          </m:sub>
                          <m:sup>
                            <m:sSup>
                              <m:sSupPr>
                                <m:ctrlPr>
                                  <a:rPr lang="en-ZA"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r>
                              <a:rPr lang="sr-Latn-RS" sz="2400" i="1">
                                <a:latin typeface="Cambria Math" panose="02040503050406030204" pitchFamily="18" charset="0"/>
                              </a:rPr>
                              <m:t>−1</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𝑥</m:t>
                                    </m:r>
                                  </m:e>
                                </m:d>
                              </m:sup>
                            </m:sSup>
                          </m:e>
                        </m:nary>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0⋯0</m:t>
                            </m:r>
                          </m:e>
                        </m:d>
                      </m:oMath>
                    </m:oMathPara>
                  </a14:m>
                  <a:endParaRPr lang="en-US" sz="2400" dirty="0">
                    <a:solidFill>
                      <a:schemeClr val="tx1"/>
                    </a:solidFill>
                  </a:endParaRPr>
                </a:p>
              </p:txBody>
            </p:sp>
          </mc:Choice>
          <mc:Fallback xmlns="">
            <p:sp>
              <p:nvSpPr>
                <p:cNvPr id="18" name="Rectangle 17">
                  <a:extLst>
                    <a:ext uri="{FF2B5EF4-FFF2-40B4-BE49-F238E27FC236}">
                      <a16:creationId xmlns:a16="http://schemas.microsoft.com/office/drawing/2014/main" id="{EF925C5F-BB25-6141-8971-6F8A0EAC66D2}"/>
                    </a:ext>
                  </a:extLst>
                </p:cNvPr>
                <p:cNvSpPr>
                  <a:spLocks noRot="1" noChangeAspect="1" noMove="1" noResize="1" noEditPoints="1" noAdjustHandles="1" noChangeArrowheads="1" noChangeShapeType="1" noTextEdit="1"/>
                </p:cNvSpPr>
                <p:nvPr/>
              </p:nvSpPr>
              <p:spPr>
                <a:xfrm>
                  <a:off x="470784" y="3411312"/>
                  <a:ext cx="8449172" cy="1165897"/>
                </a:xfrm>
                <a:prstGeom prst="rect">
                  <a:avLst/>
                </a:prstGeom>
                <a:blipFill>
                  <a:blip r:embed="rId5"/>
                  <a:stretch>
                    <a:fillRect l="-1952" t="-95652" b="-15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B39FE96B-171C-CB49-842F-4583A799BB96}"/>
                    </a:ext>
                  </a:extLst>
                </p:cNvPr>
                <p:cNvSpPr/>
                <p:nvPr/>
              </p:nvSpPr>
              <p:spPr>
                <a:xfrm>
                  <a:off x="527936" y="4814175"/>
                  <a:ext cx="5441361" cy="13391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sr-Latn-R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sr-Latn-RS" sz="2400" b="0" i="1" smtClean="0">
                                <a:latin typeface="Cambria Math" panose="02040503050406030204" pitchFamily="18" charset="0"/>
                              </a:rPr>
                              <m:t>0</m:t>
                            </m:r>
                          </m:sub>
                        </m:sSub>
                        <m:r>
                          <a:rPr lang="en-US" sz="2400" i="1">
                            <a:latin typeface="Cambria Math" panose="02040503050406030204" pitchFamily="18" charset="0"/>
                          </a:rPr>
                          <m:t>=</m:t>
                        </m:r>
                        <m:sSup>
                          <m:sSupPr>
                            <m:ctrlPr>
                              <a:rPr lang="en-US" sz="2400" i="1" smtClean="0">
                                <a:latin typeface="Cambria Math" panose="02040503050406030204" pitchFamily="18" charset="0"/>
                              </a:rPr>
                            </m:ctrlPr>
                          </m:sSupPr>
                          <m:e>
                            <m:d>
                              <m:dPr>
                                <m:begChr m:val="|"/>
                                <m:endChr m:val="|"/>
                                <m:ctrlPr>
                                  <a:rPr lang="en-US" sz="2400" i="1" smtClean="0">
                                    <a:latin typeface="Cambria Math" panose="02040503050406030204" pitchFamily="18" charset="0"/>
                                  </a:rPr>
                                </m:ctrlPr>
                              </m:dPr>
                              <m:e>
                                <m:f>
                                  <m:fPr>
                                    <m:ctrlPr>
                                      <a:rPr lang="sr-Latn-RS" sz="2400" i="1">
                                        <a:latin typeface="Cambria Math" panose="02040503050406030204" pitchFamily="18" charset="0"/>
                                      </a:rPr>
                                    </m:ctrlPr>
                                  </m:fPr>
                                  <m:num>
                                    <m:r>
                                      <a:rPr lang="en-US" sz="2400" i="1">
                                        <a:latin typeface="Cambria Math" panose="02040503050406030204" pitchFamily="18" charset="0"/>
                                      </a:rPr>
                                      <m:t>1</m:t>
                                    </m:r>
                                  </m:num>
                                  <m:den>
                                    <m:sSup>
                                      <m:sSupPr>
                                        <m:ctrlPr>
                                          <a:rPr lang="sr-Latn-R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𝑛</m:t>
                                        </m:r>
                                      </m:sup>
                                    </m:sSup>
                                  </m:den>
                                </m:f>
                                <m:nary>
                                  <m:naryPr>
                                    <m:chr m:val="∑"/>
                                    <m:ctrlPr>
                                      <a:rPr lang="sr-Latn-RS" sz="2400" i="1">
                                        <a:latin typeface="Cambria Math" panose="02040503050406030204" pitchFamily="18" charset="0"/>
                                      </a:rPr>
                                    </m:ctrlPr>
                                  </m:naryPr>
                                  <m:sub>
                                    <m:r>
                                      <m:rPr>
                                        <m:brk m:alnAt="23"/>
                                      </m:rPr>
                                      <a:rPr lang="en-US" sz="2400" i="1">
                                        <a:latin typeface="Cambria Math" panose="02040503050406030204" pitchFamily="18" charset="0"/>
                                      </a:rPr>
                                      <m:t>𝑥</m:t>
                                    </m:r>
                                    <m:r>
                                      <a:rPr lang="sr-Latn-RS" sz="2400" i="1">
                                        <a:latin typeface="Cambria Math" panose="02040503050406030204" pitchFamily="18" charset="0"/>
                                      </a:rPr>
                                      <m:t>=</m:t>
                                    </m:r>
                                    <m:r>
                                      <a:rPr lang="en-US" sz="2400" i="1">
                                        <a:latin typeface="Cambria Math" panose="02040503050406030204" pitchFamily="18" charset="0"/>
                                      </a:rPr>
                                      <m:t>0</m:t>
                                    </m:r>
                                  </m:sub>
                                  <m:sup>
                                    <m:sSup>
                                      <m:sSupPr>
                                        <m:ctrlPr>
                                          <a:rPr lang="en-US"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r>
                                      <a:rPr lang="sr-Latn-RS" sz="2400" i="1">
                                        <a:latin typeface="Cambria Math" panose="02040503050406030204" pitchFamily="18" charset="0"/>
                                      </a:rPr>
                                      <m:t>−1</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r>
                                          <a:rPr lang="en-US" sz="2400" b="0" i="1" smtClean="0">
                                            <a:latin typeface="Cambria Math" panose="02040503050406030204" pitchFamily="18" charset="0"/>
                                          </a:rPr>
                                          <m:t>𝑓</m:t>
                                        </m:r>
                                        <m:r>
                                          <a:rPr lang="en-US" sz="2400" b="0" i="1" smtClean="0">
                                            <a:latin typeface="Cambria Math" panose="02040503050406030204" pitchFamily="18" charset="0"/>
                                          </a:rPr>
                                          <m:t>(</m:t>
                                        </m:r>
                                        <m:r>
                                          <a:rPr lang="sr-Latn-RS" sz="2400" i="1">
                                            <a:latin typeface="Cambria Math" panose="02040503050406030204" pitchFamily="18" charset="0"/>
                                          </a:rPr>
                                          <m:t>𝑥</m:t>
                                        </m:r>
                                        <m:r>
                                          <a:rPr lang="en-US" sz="2400" b="0" i="1" smtClean="0">
                                            <a:latin typeface="Cambria Math" panose="02040503050406030204" pitchFamily="18" charset="0"/>
                                          </a:rPr>
                                          <m:t>)</m:t>
                                        </m:r>
                                        <m:r>
                                          <a:rPr lang="sr-Latn-RS" sz="2400" i="1" smtClean="0">
                                            <a:latin typeface="Cambria Math" panose="02040503050406030204" pitchFamily="18" charset="0"/>
                                            <a:ea typeface="Cambria Math" panose="02040503050406030204" pitchFamily="18" charset="0"/>
                                          </a:rPr>
                                          <m:t> </m:t>
                                        </m:r>
                                      </m:sup>
                                    </m:sSup>
                                  </m:e>
                                </m:nary>
                              </m:e>
                            </m:d>
                          </m:e>
                          <m:sup>
                            <m:r>
                              <a:rPr lang="sr-Latn-RS" sz="2400" b="0" i="1" smtClean="0">
                                <a:latin typeface="Cambria Math" panose="02040503050406030204" pitchFamily="18" charset="0"/>
                              </a:rPr>
                              <m:t>2</m:t>
                            </m:r>
                          </m:sup>
                        </m:sSup>
                        <m:r>
                          <a:rPr lang="sr-Latn-RS" sz="2400" b="0" i="1" smtClean="0">
                            <a:latin typeface="Cambria Math" panose="02040503050406030204" pitchFamily="18" charset="0"/>
                          </a:rPr>
                          <m:t>=</m:t>
                        </m:r>
                        <m:sSup>
                          <m:sSupPr>
                            <m:ctrlPr>
                              <a:rPr lang="sr-Latn-RS" sz="2400" b="0" i="1" smtClean="0">
                                <a:latin typeface="Cambria Math" panose="02040503050406030204" pitchFamily="18" charset="0"/>
                              </a:rPr>
                            </m:ctrlPr>
                          </m:sSupPr>
                          <m:e>
                            <m:d>
                              <m:dPr>
                                <m:begChr m:val="|"/>
                                <m:endChr m:val="|"/>
                                <m:ctrlPr>
                                  <a:rPr lang="sr-Latn-RS" sz="2400" b="0" i="1" smtClean="0">
                                    <a:latin typeface="Cambria Math" panose="02040503050406030204" pitchFamily="18" charset="0"/>
                                  </a:rPr>
                                </m:ctrlPr>
                              </m:dPr>
                              <m:e>
                                <m:f>
                                  <m:fPr>
                                    <m:ctrlPr>
                                      <a:rPr lang="sr-Latn-RS" sz="2400" i="1">
                                        <a:latin typeface="Cambria Math" panose="02040503050406030204" pitchFamily="18" charset="0"/>
                                      </a:rPr>
                                    </m:ctrlPr>
                                  </m:fPr>
                                  <m:num>
                                    <m:sSup>
                                      <m:sSupPr>
                                        <m:ctrlPr>
                                          <a:rPr lang="sr-Latn-RS" sz="2400" i="1">
                                            <a:latin typeface="Cambria Math" panose="02040503050406030204" pitchFamily="18" charset="0"/>
                                          </a:rPr>
                                        </m:ctrlPr>
                                      </m:sSupPr>
                                      <m:e>
                                        <m:r>
                                          <a:rPr lang="sr-Latn-R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2</m:t>
                                        </m:r>
                                      </m:e>
                                      <m:sup>
                                        <m:r>
                                          <a:rPr lang="en-US" sz="2400" i="1">
                                            <a:latin typeface="Cambria Math" panose="02040503050406030204" pitchFamily="18" charset="0"/>
                                          </a:rPr>
                                          <m:t>𝑛</m:t>
                                        </m:r>
                                      </m:sup>
                                    </m:sSup>
                                  </m:num>
                                  <m:den>
                                    <m:sSup>
                                      <m:sSupPr>
                                        <m:ctrlPr>
                                          <a:rPr lang="sr-Latn-RS" sz="2400" i="1">
                                            <a:latin typeface="Cambria Math" panose="02040503050406030204" pitchFamily="18" charset="0"/>
                                          </a:rPr>
                                        </m:ctrlPr>
                                      </m:sSupPr>
                                      <m:e>
                                        <m:r>
                                          <a:rPr lang="en-US" sz="2400" i="1">
                                            <a:latin typeface="Cambria Math" panose="02040503050406030204" pitchFamily="18" charset="0"/>
                                          </a:rPr>
                                          <m:t>2</m:t>
                                        </m:r>
                                      </m:e>
                                      <m:sup>
                                        <m:r>
                                          <a:rPr lang="en-US" sz="2400" i="1">
                                            <a:latin typeface="Cambria Math" panose="02040503050406030204" pitchFamily="18" charset="0"/>
                                          </a:rPr>
                                          <m:t>𝑛</m:t>
                                        </m:r>
                                      </m:sup>
                                    </m:sSup>
                                  </m:den>
                                </m:f>
                              </m:e>
                            </m:d>
                          </m:e>
                          <m:sup>
                            <m:r>
                              <a:rPr lang="sr-Latn-RS" sz="2400" b="0" i="1" smtClean="0">
                                <a:latin typeface="Cambria Math" panose="02040503050406030204" pitchFamily="18" charset="0"/>
                              </a:rPr>
                              <m:t>2</m:t>
                            </m:r>
                          </m:sup>
                        </m:sSup>
                        <m:r>
                          <a:rPr lang="sr-Latn-RS" sz="2400" b="0" i="1" smtClean="0">
                            <a:latin typeface="Cambria Math" panose="02040503050406030204" pitchFamily="18" charset="0"/>
                          </a:rPr>
                          <m:t>=1</m:t>
                        </m:r>
                      </m:oMath>
                    </m:oMathPara>
                  </a14:m>
                  <a:endParaRPr lang="en-US" sz="2400" dirty="0"/>
                </a:p>
              </p:txBody>
            </p:sp>
          </mc:Choice>
          <mc:Fallback xmlns="">
            <p:sp>
              <p:nvSpPr>
                <p:cNvPr id="19" name="Rectangle 18">
                  <a:extLst>
                    <a:ext uri="{FF2B5EF4-FFF2-40B4-BE49-F238E27FC236}">
                      <a16:creationId xmlns:a16="http://schemas.microsoft.com/office/drawing/2014/main" id="{B39FE96B-171C-CB49-842F-4583A799BB96}"/>
                    </a:ext>
                  </a:extLst>
                </p:cNvPr>
                <p:cNvSpPr>
                  <a:spLocks noRot="1" noChangeAspect="1" noMove="1" noResize="1" noEditPoints="1" noAdjustHandles="1" noChangeArrowheads="1" noChangeShapeType="1" noTextEdit="1"/>
                </p:cNvSpPr>
                <p:nvPr/>
              </p:nvSpPr>
              <p:spPr>
                <a:xfrm>
                  <a:off x="527936" y="4814175"/>
                  <a:ext cx="5441361" cy="1339149"/>
                </a:xfrm>
                <a:prstGeom prst="rect">
                  <a:avLst/>
                </a:prstGeom>
                <a:blipFill>
                  <a:blip r:embed="rId6"/>
                  <a:stretch>
                    <a:fillRect t="-75701" b="-1252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46558FD-90F0-CC4F-8D7D-8BA451CAEE23}"/>
                    </a:ext>
                  </a:extLst>
                </p:cNvPr>
                <p:cNvSpPr txBox="1"/>
                <p:nvPr/>
              </p:nvSpPr>
              <p:spPr>
                <a:xfrm>
                  <a:off x="5065280" y="2545517"/>
                  <a:ext cx="1834220" cy="461665"/>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0</m:t>
                            </m:r>
                            <m:r>
                              <a:rPr lang="en-US" sz="2400" b="0" i="1" smtClean="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B46558FD-90F0-CC4F-8D7D-8BA451CAEE23}"/>
                    </a:ext>
                  </a:extLst>
                </p:cNvPr>
                <p:cNvSpPr txBox="1">
                  <a:spLocks noRot="1" noChangeAspect="1" noMove="1" noResize="1" noEditPoints="1" noAdjustHandles="1" noChangeArrowheads="1" noChangeShapeType="1" noTextEdit="1"/>
                </p:cNvSpPr>
                <p:nvPr/>
              </p:nvSpPr>
              <p:spPr>
                <a:xfrm>
                  <a:off x="5065280" y="2545517"/>
                  <a:ext cx="1834220" cy="461665"/>
                </a:xfrm>
                <a:prstGeom prst="rect">
                  <a:avLst/>
                </a:prstGeom>
                <a:blipFill>
                  <a:blip r:embed="rId7"/>
                  <a:stretch>
                    <a:fillRect b="-7895"/>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FB9859A6-B0E7-F640-A91C-02A38BAF3EA1}"/>
                </a:ext>
              </a:extLst>
            </p:cNvPr>
            <p:cNvCxnSpPr>
              <a:cxnSpLocks/>
            </p:cNvCxnSpPr>
            <p:nvPr/>
          </p:nvCxnSpPr>
          <p:spPr>
            <a:xfrm>
              <a:off x="527936" y="3138637"/>
              <a:ext cx="11136128"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0430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E1B9F-870F-9540-8B10-5DA7C700701C}"/>
              </a:ext>
            </a:extLst>
          </p:cNvPr>
          <p:cNvSpPr>
            <a:spLocks noGrp="1"/>
          </p:cNvSpPr>
          <p:nvPr>
            <p:ph type="title"/>
          </p:nvPr>
        </p:nvSpPr>
        <p:spPr/>
        <p:txBody>
          <a:bodyPr/>
          <a:lstStyle/>
          <a:p>
            <a:r>
              <a:rPr lang="en-ZA" dirty="0"/>
              <a:t>Deutsch–</a:t>
            </a:r>
            <a:r>
              <a:rPr lang="en-ZA" dirty="0" err="1"/>
              <a:t>Jozsa</a:t>
            </a:r>
            <a:r>
              <a:rPr lang="en-ZA" dirty="0"/>
              <a:t> Algorithm: Balanced Function</a:t>
            </a:r>
            <a:endParaRPr lang="en-US" dirty="0"/>
          </a:p>
        </p:txBody>
      </p:sp>
      <p:sp>
        <p:nvSpPr>
          <p:cNvPr id="3" name="Slide Number Placeholder 2">
            <a:extLst>
              <a:ext uri="{FF2B5EF4-FFF2-40B4-BE49-F238E27FC236}">
                <a16:creationId xmlns:a16="http://schemas.microsoft.com/office/drawing/2014/main" id="{20F698E4-B436-4642-80A3-1E57DE4ECACC}"/>
              </a:ext>
            </a:extLst>
          </p:cNvPr>
          <p:cNvSpPr>
            <a:spLocks noGrp="1"/>
          </p:cNvSpPr>
          <p:nvPr>
            <p:ph type="sldNum" sz="quarter" idx="12"/>
          </p:nvPr>
        </p:nvSpPr>
        <p:spPr/>
        <p:txBody>
          <a:bodyPr/>
          <a:lstStyle/>
          <a:p>
            <a:fld id="{591A223C-FA10-BC46-A853-03BA373D023C}" type="slidenum">
              <a:rPr lang="en-US" smtClean="0"/>
              <a:t>21</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E87C777-AF13-5146-B1AE-C1AF852BE8FE}"/>
                  </a:ext>
                </a:extLst>
              </p:cNvPr>
              <p:cNvSpPr/>
              <p:nvPr/>
            </p:nvSpPr>
            <p:spPr>
              <a:xfrm>
                <a:off x="-60816" y="1041118"/>
                <a:ext cx="10438627" cy="11658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𝑆</m:t>
                          </m:r>
                        </m:e>
                      </m:d>
                      <m:r>
                        <a:rPr lang="sr-Latn-RS" sz="2400" b="0" i="1" smtClean="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a:rPr lang="sr-Latn-RS" sz="2400" i="1">
                              <a:solidFill>
                                <a:schemeClr val="tx1"/>
                              </a:solidFill>
                              <a:latin typeface="Cambria Math" panose="02040503050406030204" pitchFamily="18" charset="0"/>
                            </a:rPr>
                            <m:t>1</m:t>
                          </m:r>
                        </m:num>
                        <m:den>
                          <m:rad>
                            <m:radPr>
                              <m:degHide m:val="on"/>
                              <m:ctrlPr>
                                <a:rPr lang="en-US" sz="2400" i="1">
                                  <a:solidFill>
                                    <a:schemeClr val="tx1"/>
                                  </a:solidFill>
                                  <a:latin typeface="Cambria Math" panose="02040503050406030204" pitchFamily="18" charset="0"/>
                                </a:rPr>
                              </m:ctrlPr>
                            </m:radPr>
                            <m:deg/>
                            <m:e>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e>
                          </m:rad>
                        </m:den>
                      </m:f>
                      <m:nary>
                        <m:naryPr>
                          <m:chr m:val="∑"/>
                          <m:ctrlPr>
                            <a:rPr lang="en-US" sz="2400" i="1">
                              <a:solidFill>
                                <a:schemeClr val="tx1"/>
                              </a:solidFill>
                              <a:latin typeface="Cambria Math" panose="02040503050406030204" pitchFamily="18" charset="0"/>
                            </a:rPr>
                          </m:ctrlPr>
                        </m:naryPr>
                        <m:sub>
                          <m:r>
                            <m:rPr>
                              <m:brk m:alnAt="23"/>
                            </m:rPr>
                            <a:rPr lang="sr-Latn-RS" sz="2400" i="1">
                              <a:solidFill>
                                <a:schemeClr val="tx1"/>
                              </a:solidFill>
                              <a:latin typeface="Cambria Math" panose="02040503050406030204" pitchFamily="18" charset="0"/>
                            </a:rPr>
                            <m:t>𝑥</m:t>
                          </m:r>
                          <m:r>
                            <a:rPr lang="sr-Latn-RS" sz="2400" i="1">
                              <a:solidFill>
                                <a:schemeClr val="tx1"/>
                              </a:solidFill>
                              <a:latin typeface="Cambria Math" panose="02040503050406030204" pitchFamily="18" charset="0"/>
                            </a:rPr>
                            <m:t>=0</m:t>
                          </m:r>
                        </m:sub>
                        <m:sup>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r>
                            <a:rPr lang="sr-Latn-RS" sz="2400" i="1">
                              <a:solidFill>
                                <a:schemeClr val="tx1"/>
                              </a:solidFill>
                              <a:latin typeface="Cambria Math" panose="02040503050406030204" pitchFamily="18" charset="0"/>
                            </a:rPr>
                            <m:t>−1</m:t>
                          </m:r>
                        </m:sup>
                        <m:e>
                          <m:sSup>
                            <m:sSupPr>
                              <m:ctrlPr>
                                <a:rPr lang="en-US" sz="2400" i="1">
                                  <a:solidFill>
                                    <a:schemeClr val="tx1"/>
                                  </a:solidFill>
                                  <a:latin typeface="Cambria Math" panose="02040503050406030204" pitchFamily="18" charset="0"/>
                                </a:rPr>
                              </m:ctrlPr>
                            </m:sSupPr>
                            <m:e>
                              <m:d>
                                <m:dPr>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sup>
                              <m:d>
                                <m:dPr>
                                  <m:begChr m:val=""/>
                                  <m:ctrlPr>
                                    <a:rPr lang="en-US" sz="2400" i="1">
                                      <a:solidFill>
                                        <a:schemeClr val="tx1"/>
                                      </a:solidFill>
                                      <a:latin typeface="Cambria Math" panose="02040503050406030204" pitchFamily="18" charset="0"/>
                                    </a:rPr>
                                  </m:ctrlPr>
                                </m:dPr>
                                <m:e>
                                  <m:r>
                                    <a:rPr lang="en-US" sz="2400" i="1">
                                      <a:solidFill>
                                        <a:schemeClr val="tx1"/>
                                      </a:solidFill>
                                      <a:latin typeface="Cambria Math" panose="02040503050406030204" pitchFamily="18" charset="0"/>
                                    </a:rPr>
                                    <m:t>𝑓</m:t>
                                  </m:r>
                                  <m:r>
                                    <a:rPr lang="en-US" sz="240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𝑥</m:t>
                                  </m:r>
                                </m:e>
                              </m:d>
                            </m:sup>
                          </m:sSup>
                        </m:e>
                      </m:nary>
                      <m:f>
                        <m:fPr>
                          <m:ctrlPr>
                            <a:rPr lang="en-US" sz="2400" i="1">
                              <a:solidFill>
                                <a:schemeClr val="tx1"/>
                              </a:solidFill>
                              <a:latin typeface="Cambria Math" panose="02040503050406030204" pitchFamily="18" charset="0"/>
                            </a:rPr>
                          </m:ctrlPr>
                        </m:fPr>
                        <m:num>
                          <m:r>
                            <a:rPr lang="sr-Latn-RS" sz="2400" i="1">
                              <a:solidFill>
                                <a:schemeClr val="tx1"/>
                              </a:solidFill>
                              <a:latin typeface="Cambria Math" panose="02040503050406030204" pitchFamily="18" charset="0"/>
                            </a:rPr>
                            <m:t>1</m:t>
                          </m:r>
                        </m:num>
                        <m:den>
                          <m:rad>
                            <m:radPr>
                              <m:degHide m:val="on"/>
                              <m:ctrlPr>
                                <a:rPr lang="en-US" sz="2400" i="1">
                                  <a:solidFill>
                                    <a:schemeClr val="tx1"/>
                                  </a:solidFill>
                                  <a:latin typeface="Cambria Math" panose="02040503050406030204" pitchFamily="18" charset="0"/>
                                </a:rPr>
                              </m:ctrlPr>
                            </m:radPr>
                            <m:deg/>
                            <m:e>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e>
                          </m:rad>
                        </m:den>
                      </m:f>
                      <m:nary>
                        <m:naryPr>
                          <m:chr m:val="∑"/>
                          <m:ctrlPr>
                            <a:rPr lang="en-US" sz="2400" i="1">
                              <a:solidFill>
                                <a:schemeClr val="tx1"/>
                              </a:solidFill>
                              <a:latin typeface="Cambria Math" panose="02040503050406030204" pitchFamily="18" charset="0"/>
                            </a:rPr>
                          </m:ctrlPr>
                        </m:naryPr>
                        <m:sub>
                          <m:r>
                            <a:rPr lang="sr-Latn-RS" sz="2400" b="0" i="1" smtClean="0">
                              <a:solidFill>
                                <a:schemeClr val="tx1"/>
                              </a:solidFill>
                              <a:latin typeface="Cambria Math" panose="02040503050406030204" pitchFamily="18" charset="0"/>
                            </a:rPr>
                            <m:t>𝑘</m:t>
                          </m:r>
                          <m:r>
                            <a:rPr lang="sr-Latn-RS" sz="2400" i="1">
                              <a:solidFill>
                                <a:schemeClr val="tx1"/>
                              </a:solidFill>
                              <a:latin typeface="Cambria Math" panose="02040503050406030204" pitchFamily="18" charset="0"/>
                            </a:rPr>
                            <m:t>=0</m:t>
                          </m:r>
                        </m:sub>
                        <m:sup>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r>
                            <a:rPr lang="sr-Latn-RS" sz="2400" i="1">
                              <a:solidFill>
                                <a:schemeClr val="tx1"/>
                              </a:solidFill>
                              <a:latin typeface="Cambria Math" panose="02040503050406030204" pitchFamily="18" charset="0"/>
                            </a:rPr>
                            <m:t>−1</m:t>
                          </m:r>
                        </m:sup>
                        <m:e>
                          <m:sSup>
                            <m:sSupPr>
                              <m:ctrlPr>
                                <a:rPr lang="en-US" sz="2400" i="1">
                                  <a:solidFill>
                                    <a:schemeClr val="tx1"/>
                                  </a:solidFill>
                                  <a:latin typeface="Cambria Math" panose="02040503050406030204" pitchFamily="18" charset="0"/>
                                </a:rPr>
                              </m:ctrlPr>
                            </m:sSupPr>
                            <m:e>
                              <m:d>
                                <m:dPr>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−1</m:t>
                                  </m:r>
                                </m:e>
                              </m:d>
                            </m:e>
                            <m:sup>
                              <m:r>
                                <a:rPr lang="sr-Latn-RS" sz="2400" i="1">
                                  <a:solidFill>
                                    <a:schemeClr val="tx1"/>
                                  </a:solidFill>
                                  <a:latin typeface="Cambria Math" panose="02040503050406030204" pitchFamily="18" charset="0"/>
                                </a:rPr>
                                <m:t>𝑥</m:t>
                              </m:r>
                              <m:r>
                                <a:rPr lang="sr-Latn-RS" sz="2400" i="1">
                                  <a:solidFill>
                                    <a:schemeClr val="tx1"/>
                                  </a:solidFill>
                                  <a:latin typeface="Cambria Math" panose="02040503050406030204" pitchFamily="18" charset="0"/>
                                  <a:ea typeface="Cambria Math" panose="02040503050406030204" pitchFamily="18" charset="0"/>
                                </a:rPr>
                                <m:t>∙</m:t>
                              </m:r>
                              <m:r>
                                <a:rPr lang="sr-Latn-RS" sz="2400" b="0" i="1" smtClean="0">
                                  <a:solidFill>
                                    <a:schemeClr val="tx1"/>
                                  </a:solidFill>
                                  <a:latin typeface="Cambria Math" panose="02040503050406030204" pitchFamily="18" charset="0"/>
                                  <a:ea typeface="Cambria Math" panose="02040503050406030204" pitchFamily="18" charset="0"/>
                                </a:rPr>
                                <m:t>𝑘</m:t>
                              </m:r>
                            </m:sup>
                          </m:sSup>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𝑘</m:t>
                              </m:r>
                            </m:e>
                          </m:d>
                          <m:r>
                            <a:rPr lang="sr-Latn-RS" sz="2400" b="0" i="1" smtClean="0">
                              <a:solidFill>
                                <a:schemeClr val="tx1"/>
                              </a:solidFill>
                              <a:latin typeface="Cambria Math" panose="02040503050406030204" pitchFamily="18" charset="0"/>
                            </a:rPr>
                            <m:t>=</m:t>
                          </m:r>
                        </m:e>
                      </m:nary>
                      <m:f>
                        <m:fPr>
                          <m:ctrlPr>
                            <a:rPr lang="sr-Latn-RS" sz="2400" i="1" smtClean="0">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rPr>
                            <m:t>1</m:t>
                          </m:r>
                        </m:num>
                        <m:den>
                          <m:sSup>
                            <m:sSupPr>
                              <m:ctrlPr>
                                <a:rPr lang="sr-Latn-RS" sz="2400" i="1">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2</m:t>
                              </m:r>
                            </m:e>
                            <m:sup>
                              <m:r>
                                <a:rPr lang="en-US" sz="2400" i="1">
                                  <a:solidFill>
                                    <a:schemeClr val="tx1"/>
                                  </a:solidFill>
                                  <a:latin typeface="Cambria Math" panose="02040503050406030204" pitchFamily="18" charset="0"/>
                                </a:rPr>
                                <m:t>𝑛</m:t>
                              </m:r>
                            </m:sup>
                          </m:sSup>
                        </m:den>
                      </m:f>
                      <m:nary>
                        <m:naryPr>
                          <m:chr m:val="∑"/>
                          <m:ctrlPr>
                            <a:rPr lang="sr-Latn-RS" sz="2400" i="1">
                              <a:solidFill>
                                <a:schemeClr val="tx1"/>
                              </a:solidFill>
                              <a:latin typeface="Cambria Math" panose="02040503050406030204" pitchFamily="18" charset="0"/>
                            </a:rPr>
                          </m:ctrlPr>
                        </m:naryPr>
                        <m:sub>
                          <m:r>
                            <a:rPr lang="sr-Latn-RS" sz="2400" b="0" i="1" smtClean="0">
                              <a:solidFill>
                                <a:schemeClr val="tx1"/>
                              </a:solidFill>
                              <a:latin typeface="Cambria Math" panose="02040503050406030204" pitchFamily="18" charset="0"/>
                            </a:rPr>
                            <m:t>𝑥</m:t>
                          </m:r>
                          <m:r>
                            <a:rPr lang="sr-Latn-RS" sz="2400" i="1">
                              <a:solidFill>
                                <a:schemeClr val="tx1"/>
                              </a:solidFill>
                              <a:latin typeface="Cambria Math" panose="02040503050406030204" pitchFamily="18" charset="0"/>
                            </a:rPr>
                            <m:t>=0</m:t>
                          </m:r>
                        </m:sub>
                        <m:sup>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r>
                            <a:rPr lang="sr-Latn-RS" sz="2400" i="1">
                              <a:solidFill>
                                <a:schemeClr val="tx1"/>
                              </a:solidFill>
                              <a:latin typeface="Cambria Math" panose="02040503050406030204" pitchFamily="18" charset="0"/>
                            </a:rPr>
                            <m:t>−1</m:t>
                          </m:r>
                        </m:sup>
                        <m:e>
                          <m:nary>
                            <m:naryPr>
                              <m:chr m:val="∑"/>
                              <m:ctrlPr>
                                <a:rPr lang="sr-Latn-RS" sz="2400" i="1">
                                  <a:solidFill>
                                    <a:schemeClr val="tx1"/>
                                  </a:solidFill>
                                  <a:latin typeface="Cambria Math" panose="02040503050406030204" pitchFamily="18" charset="0"/>
                                </a:rPr>
                              </m:ctrlPr>
                            </m:naryPr>
                            <m:sub>
                              <m:r>
                                <a:rPr lang="sr-Latn-RS" sz="2400" b="0" i="1" smtClean="0">
                                  <a:solidFill>
                                    <a:schemeClr val="tx1"/>
                                  </a:solidFill>
                                  <a:latin typeface="Cambria Math" panose="02040503050406030204" pitchFamily="18" charset="0"/>
                                </a:rPr>
                                <m:t>𝑘</m:t>
                              </m:r>
                              <m:r>
                                <a:rPr lang="sr-Latn-RS" sz="2400" b="0" i="1" smtClean="0">
                                  <a:solidFill>
                                    <a:schemeClr val="tx1"/>
                                  </a:solidFill>
                                  <a:latin typeface="Cambria Math" panose="02040503050406030204" pitchFamily="18" charset="0"/>
                                </a:rPr>
                                <m:t>=0</m:t>
                              </m:r>
                            </m:sub>
                            <m:sup>
                              <m:sSup>
                                <m:sSupPr>
                                  <m:ctrlPr>
                                    <a:rPr lang="en-US" sz="2400" i="1">
                                      <a:solidFill>
                                        <a:schemeClr val="tx1"/>
                                      </a:solidFill>
                                      <a:latin typeface="Cambria Math" panose="02040503050406030204" pitchFamily="18" charset="0"/>
                                    </a:rPr>
                                  </m:ctrlPr>
                                </m:sSupPr>
                                <m:e>
                                  <m:r>
                                    <a:rPr lang="sr-Latn-RS" sz="2400" i="1">
                                      <a:solidFill>
                                        <a:schemeClr val="tx1"/>
                                      </a:solidFill>
                                      <a:latin typeface="Cambria Math" panose="02040503050406030204" pitchFamily="18" charset="0"/>
                                    </a:rPr>
                                    <m:t>2</m:t>
                                  </m:r>
                                </m:e>
                                <m:sup>
                                  <m:r>
                                    <a:rPr lang="sr-Latn-RS" sz="2400" i="1">
                                      <a:solidFill>
                                        <a:schemeClr val="tx1"/>
                                      </a:solidFill>
                                      <a:latin typeface="Cambria Math" panose="02040503050406030204" pitchFamily="18" charset="0"/>
                                    </a:rPr>
                                    <m:t>𝑛</m:t>
                                  </m:r>
                                </m:sup>
                              </m:sSup>
                              <m:r>
                                <a:rPr lang="sr-Latn-RS" sz="2400" i="1">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1</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a:latin typeface="Cambria Math" panose="02040503050406030204" pitchFamily="18" charset="0"/>
                                        </a:rPr>
                                        <m:t>(</m:t>
                                      </m:r>
                                      <m:r>
                                        <a:rPr lang="en-US" sz="2400" i="1">
                                          <a:latin typeface="Cambria Math" panose="02040503050406030204" pitchFamily="18" charset="0"/>
                                        </a:rPr>
                                        <m:t>𝑥</m:t>
                                      </m:r>
                                    </m:e>
                                  </m:d>
                                </m:sup>
                              </m:sSup>
                            </m:e>
                          </m:nary>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r>
                                <a:rPr lang="sr-Latn-RS" sz="2400" i="1">
                                  <a:latin typeface="Cambria Math" panose="02040503050406030204" pitchFamily="18" charset="0"/>
                                </a:rPr>
                                <m:t>𝑥</m:t>
                              </m:r>
                              <m:r>
                                <a:rPr lang="sr-Latn-RS" sz="2400" i="1">
                                  <a:latin typeface="Cambria Math" panose="02040503050406030204" pitchFamily="18" charset="0"/>
                                  <a:ea typeface="Cambria Math" panose="02040503050406030204" pitchFamily="18" charset="0"/>
                                </a:rPr>
                                <m:t>∙</m:t>
                              </m:r>
                              <m:r>
                                <a:rPr lang="sr-Latn-RS" sz="2400" i="1">
                                  <a:latin typeface="Cambria Math" panose="02040503050406030204" pitchFamily="18" charset="0"/>
                                  <a:ea typeface="Cambria Math" panose="02040503050406030204" pitchFamily="18" charset="0"/>
                                </a:rPr>
                                <m:t>𝑘</m:t>
                              </m:r>
                            </m:sup>
                          </m:sSup>
                          <m:d>
                            <m:dPr>
                              <m:begChr m:val=""/>
                              <m:endChr m:val="⟩"/>
                              <m:ctrlPr>
                                <a:rPr lang="en-US" sz="2400" i="1">
                                  <a:solidFill>
                                    <a:schemeClr val="tx1"/>
                                  </a:solidFill>
                                  <a:latin typeface="Cambria Math" panose="02040503050406030204" pitchFamily="18" charset="0"/>
                                </a:rPr>
                              </m:ctrlPr>
                            </m:dPr>
                            <m:e>
                              <m:r>
                                <a:rPr lang="en-US" sz="2400">
                                  <a:solidFill>
                                    <a:schemeClr val="tx1"/>
                                  </a:solidFill>
                                  <a:latin typeface="Cambria Math" panose="02040503050406030204" pitchFamily="18" charset="0"/>
                                </a:rPr>
                                <m:t>|</m:t>
                              </m:r>
                              <m:r>
                                <a:rPr lang="sr-Latn-RS" sz="2400" b="0" i="1" smtClean="0">
                                  <a:solidFill>
                                    <a:schemeClr val="tx1"/>
                                  </a:solidFill>
                                  <a:latin typeface="Cambria Math" panose="02040503050406030204" pitchFamily="18" charset="0"/>
                                </a:rPr>
                                <m:t>𝑘</m:t>
                              </m:r>
                            </m:e>
                          </m:d>
                        </m:e>
                      </m:nary>
                    </m:oMath>
                  </m:oMathPara>
                </a14:m>
                <a:endParaRPr lang="en-US" sz="2400" dirty="0">
                  <a:solidFill>
                    <a:schemeClr val="tx1"/>
                  </a:solidFill>
                </a:endParaRPr>
              </a:p>
            </p:txBody>
          </p:sp>
        </mc:Choice>
        <mc:Fallback xmlns="">
          <p:sp>
            <p:nvSpPr>
              <p:cNvPr id="4" name="Rectangle 3">
                <a:extLst>
                  <a:ext uri="{FF2B5EF4-FFF2-40B4-BE49-F238E27FC236}">
                    <a16:creationId xmlns:a16="http://schemas.microsoft.com/office/drawing/2014/main" id="{AE87C777-AF13-5146-B1AE-C1AF852BE8FE}"/>
                  </a:ext>
                </a:extLst>
              </p:cNvPr>
              <p:cNvSpPr>
                <a:spLocks noRot="1" noChangeAspect="1" noMove="1" noResize="1" noEditPoints="1" noAdjustHandles="1" noChangeArrowheads="1" noChangeShapeType="1" noTextEdit="1"/>
              </p:cNvSpPr>
              <p:nvPr/>
            </p:nvSpPr>
            <p:spPr>
              <a:xfrm>
                <a:off x="-60816" y="1041118"/>
                <a:ext cx="10438627" cy="1165897"/>
              </a:xfrm>
              <a:prstGeom prst="rect">
                <a:avLst/>
              </a:prstGeom>
              <a:blipFill>
                <a:blip r:embed="rId3"/>
                <a:stretch>
                  <a:fillRect l="-1095" t="-93548" r="-2676" b="-151613"/>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B435D005-6742-5945-B66E-440BFDA2527D}"/>
              </a:ext>
            </a:extLst>
          </p:cNvPr>
          <p:cNvCxnSpPr>
            <a:cxnSpLocks/>
          </p:cNvCxnSpPr>
          <p:nvPr/>
        </p:nvCxnSpPr>
        <p:spPr>
          <a:xfrm>
            <a:off x="10318281" y="1614735"/>
            <a:ext cx="147481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7FB6DC78-901F-FE4C-B0D0-B3C62D621C88}"/>
              </a:ext>
            </a:extLst>
          </p:cNvPr>
          <p:cNvGrpSpPr/>
          <p:nvPr/>
        </p:nvGrpSpPr>
        <p:grpSpPr>
          <a:xfrm>
            <a:off x="10886532" y="1254735"/>
            <a:ext cx="720000" cy="796546"/>
            <a:chOff x="3031963" y="4808040"/>
            <a:chExt cx="720000" cy="796546"/>
          </a:xfrm>
        </p:grpSpPr>
        <p:sp>
          <p:nvSpPr>
            <p:cNvPr id="7" name="Rectangle 6">
              <a:extLst>
                <a:ext uri="{FF2B5EF4-FFF2-40B4-BE49-F238E27FC236}">
                  <a16:creationId xmlns:a16="http://schemas.microsoft.com/office/drawing/2014/main" id="{47CC655A-2C5D-3C42-93C8-00F2F4993CD6}"/>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8" name="Arc 7">
              <a:extLst>
                <a:ext uri="{FF2B5EF4-FFF2-40B4-BE49-F238E27FC236}">
                  <a16:creationId xmlns:a16="http://schemas.microsoft.com/office/drawing/2014/main" id="{9AA78BDC-D636-7545-AC9D-8ADCBB27A37E}"/>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10A4952-D621-8044-9E9C-3D14DAECB11C}"/>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4A653BAB-119C-5A40-B89B-1682AE003F42}"/>
              </a:ext>
            </a:extLst>
          </p:cNvPr>
          <p:cNvCxnSpPr>
            <a:cxnSpLocks/>
          </p:cNvCxnSpPr>
          <p:nvPr/>
        </p:nvCxnSpPr>
        <p:spPr>
          <a:xfrm flipV="1">
            <a:off x="10605218" y="1482897"/>
            <a:ext cx="130174" cy="263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467782D4-E69D-7F46-AC51-62275BA46F49}"/>
                  </a:ext>
                </a:extLst>
              </p:cNvPr>
              <p:cNvSpPr/>
              <p:nvPr/>
            </p:nvSpPr>
            <p:spPr>
              <a:xfrm>
                <a:off x="10336099" y="1254735"/>
                <a:ext cx="37459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i="1">
                          <a:latin typeface="Cambria Math" panose="02040503050406030204" pitchFamily="18" charset="0"/>
                        </a:rPr>
                        <m:t>𝑛</m:t>
                      </m:r>
                    </m:oMath>
                  </m:oMathPara>
                </a14:m>
                <a:endParaRPr lang="en-US" dirty="0"/>
              </a:p>
            </p:txBody>
          </p:sp>
        </mc:Choice>
        <mc:Fallback xmlns="">
          <p:sp>
            <p:nvSpPr>
              <p:cNvPr id="14" name="Rectangle 13">
                <a:extLst>
                  <a:ext uri="{FF2B5EF4-FFF2-40B4-BE49-F238E27FC236}">
                    <a16:creationId xmlns:a16="http://schemas.microsoft.com/office/drawing/2014/main" id="{467782D4-E69D-7F46-AC51-62275BA46F49}"/>
                  </a:ext>
                </a:extLst>
              </p:cNvPr>
              <p:cNvSpPr>
                <a:spLocks noRot="1" noChangeAspect="1" noMove="1" noResize="1" noEditPoints="1" noAdjustHandles="1" noChangeArrowheads="1" noChangeShapeType="1" noTextEdit="1"/>
              </p:cNvSpPr>
              <p:nvPr/>
            </p:nvSpPr>
            <p:spPr>
              <a:xfrm>
                <a:off x="10336099" y="1254735"/>
                <a:ext cx="374590" cy="369332"/>
              </a:xfrm>
              <a:prstGeom prst="rect">
                <a:avLst/>
              </a:prstGeom>
              <a:blipFill>
                <a:blip r:embed="rId4"/>
                <a:stretch>
                  <a:fillRect/>
                </a:stretch>
              </a:blipFill>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ED6E6601-F418-FB40-A2D9-7CBE534054EB}"/>
              </a:ext>
            </a:extLst>
          </p:cNvPr>
          <p:cNvCxnSpPr>
            <a:cxnSpLocks/>
          </p:cNvCxnSpPr>
          <p:nvPr/>
        </p:nvCxnSpPr>
        <p:spPr>
          <a:xfrm>
            <a:off x="527936" y="3138637"/>
            <a:ext cx="11136128"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46558FD-90F0-CC4F-8D7D-8BA451CAEE23}"/>
                  </a:ext>
                </a:extLst>
              </p:cNvPr>
              <p:cNvSpPr txBox="1"/>
              <p:nvPr/>
            </p:nvSpPr>
            <p:spPr>
              <a:xfrm>
                <a:off x="4836680" y="2316601"/>
                <a:ext cx="1834220" cy="461665"/>
              </a:xfrm>
              <a:prstGeom prst="rect">
                <a:avLst/>
              </a:prstGeom>
              <a:solidFill>
                <a:schemeClr val="accent4">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0</m:t>
                          </m:r>
                          <m:r>
                            <a:rPr lang="en-US" sz="2400" b="0" i="1" smtClean="0">
                              <a:latin typeface="Cambria Math" panose="02040503050406030204" pitchFamily="18" charset="0"/>
                              <a:ea typeface="Cambria Math" panose="02040503050406030204" pitchFamily="18" charset="0"/>
                            </a:rPr>
                            <m:t>⋯0</m:t>
                          </m:r>
                        </m:e>
                      </m:d>
                      <m:r>
                        <a:rPr lang="en-US" sz="2400" b="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10" name="TextBox 9">
                <a:extLst>
                  <a:ext uri="{FF2B5EF4-FFF2-40B4-BE49-F238E27FC236}">
                    <a16:creationId xmlns:a16="http://schemas.microsoft.com/office/drawing/2014/main" id="{B46558FD-90F0-CC4F-8D7D-8BA451CAEE23}"/>
                  </a:ext>
                </a:extLst>
              </p:cNvPr>
              <p:cNvSpPr txBox="1">
                <a:spLocks noRot="1" noChangeAspect="1" noMove="1" noResize="1" noEditPoints="1" noAdjustHandles="1" noChangeArrowheads="1" noChangeShapeType="1" noTextEdit="1"/>
              </p:cNvSpPr>
              <p:nvPr/>
            </p:nvSpPr>
            <p:spPr>
              <a:xfrm>
                <a:off x="4836680" y="2316601"/>
                <a:ext cx="1834220" cy="461665"/>
              </a:xfrm>
              <a:prstGeom prst="rect">
                <a:avLst/>
              </a:prstGeom>
              <a:blipFill>
                <a:blip r:embed="rId5"/>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F06B353-564E-3B48-9F2C-13C4C113960C}"/>
                  </a:ext>
                </a:extLst>
              </p:cNvPr>
              <p:cNvSpPr txBox="1"/>
              <p:nvPr/>
            </p:nvSpPr>
            <p:spPr>
              <a:xfrm>
                <a:off x="797661" y="3381977"/>
                <a:ext cx="3853555" cy="846322"/>
              </a:xfrm>
              <a:prstGeom prst="rect">
                <a:avLst/>
              </a:prstGeom>
              <a:noFill/>
            </p:spPr>
            <p:txBody>
              <a:bodyPr wrap="none" rtlCol="0">
                <a:spAutoFit/>
              </a:bodyPr>
              <a:lstStyle/>
              <a:p>
                <a:r>
                  <a:rPr lang="en-US" sz="2400" dirty="0"/>
                  <a:t>one half of the inputs:</a:t>
                </a:r>
              </a:p>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𝑓</m:t>
                      </m:r>
                      <m:d>
                        <m:dPr>
                          <m:ctrlPr>
                            <a:rPr lang="en-ZA" sz="2400" i="1">
                              <a:latin typeface="Cambria Math" panose="02040503050406030204" pitchFamily="18" charset="0"/>
                            </a:rPr>
                          </m:ctrlPr>
                        </m:dPr>
                        <m:e>
                          <m:r>
                            <a:rPr lang="sr-Latn-RS" sz="2400" i="1">
                              <a:latin typeface="Cambria Math" panose="02040503050406030204" pitchFamily="18" charset="0"/>
                            </a:rPr>
                            <m:t>𝑥</m:t>
                          </m:r>
                        </m:e>
                      </m:d>
                      <m:r>
                        <a:rPr lang="sr-Latn-RS" sz="2400" i="1">
                          <a:latin typeface="Cambria Math" panose="02040503050406030204" pitchFamily="18" charset="0"/>
                        </a:rPr>
                        <m:t>=0</m:t>
                      </m:r>
                      <m:r>
                        <a:rPr lang="sr-Latn-RS" sz="2400" i="1" smtClean="0">
                          <a:latin typeface="Cambria Math" panose="02040503050406030204" pitchFamily="18" charset="0"/>
                          <a:ea typeface="Cambria Math" panose="02040503050406030204" pitchFamily="18" charset="0"/>
                        </a:rPr>
                        <m:t>⇒</m:t>
                      </m:r>
                      <m:sSup>
                        <m:sSupPr>
                          <m:ctrlPr>
                            <a:rPr lang="en-ZA"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m:t>
                          </m:r>
                          <m:r>
                            <a:rPr lang="sr-Latn-RS" sz="2400" i="1">
                              <a:latin typeface="Cambria Math" panose="02040503050406030204" pitchFamily="18" charset="0"/>
                            </a:rPr>
                            <m:t>𝑥</m:t>
                          </m:r>
                          <m:r>
                            <a:rPr lang="sr-Latn-RS" sz="2400" i="1">
                              <a:latin typeface="Cambria Math" panose="02040503050406030204" pitchFamily="18" charset="0"/>
                            </a:rPr>
                            <m:t>)</m:t>
                          </m:r>
                        </m:sup>
                      </m:sSup>
                      <m:r>
                        <a:rPr lang="sr-Latn-RS" sz="2400" i="1">
                          <a:latin typeface="Cambria Math" panose="02040503050406030204" pitchFamily="18" charset="0"/>
                        </a:rPr>
                        <m:t>=1</m:t>
                      </m:r>
                    </m:oMath>
                  </m:oMathPara>
                </a14:m>
                <a:endParaRPr lang="en-US" sz="2400" dirty="0"/>
              </a:p>
            </p:txBody>
          </p:sp>
        </mc:Choice>
        <mc:Fallback xmlns="">
          <p:sp>
            <p:nvSpPr>
              <p:cNvPr id="11" name="TextBox 10">
                <a:extLst>
                  <a:ext uri="{FF2B5EF4-FFF2-40B4-BE49-F238E27FC236}">
                    <a16:creationId xmlns:a16="http://schemas.microsoft.com/office/drawing/2014/main" id="{0F06B353-564E-3B48-9F2C-13C4C113960C}"/>
                  </a:ext>
                </a:extLst>
              </p:cNvPr>
              <p:cNvSpPr txBox="1">
                <a:spLocks noRot="1" noChangeAspect="1" noMove="1" noResize="1" noEditPoints="1" noAdjustHandles="1" noChangeArrowheads="1" noChangeShapeType="1" noTextEdit="1"/>
              </p:cNvSpPr>
              <p:nvPr/>
            </p:nvSpPr>
            <p:spPr>
              <a:xfrm>
                <a:off x="797661" y="3381977"/>
                <a:ext cx="3853555" cy="846322"/>
              </a:xfrm>
              <a:prstGeom prst="rect">
                <a:avLst/>
              </a:prstGeom>
              <a:blipFill>
                <a:blip r:embed="rId6"/>
                <a:stretch>
                  <a:fillRect l="-2303" t="-4412" b="-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6691AA6-C8D2-D342-B984-152D44DA36FF}"/>
                  </a:ext>
                </a:extLst>
              </p:cNvPr>
              <p:cNvSpPr txBox="1"/>
              <p:nvPr/>
            </p:nvSpPr>
            <p:spPr>
              <a:xfrm>
                <a:off x="6970469" y="3376601"/>
                <a:ext cx="4085221" cy="846322"/>
              </a:xfrm>
              <a:prstGeom prst="rect">
                <a:avLst/>
              </a:prstGeom>
              <a:noFill/>
            </p:spPr>
            <p:txBody>
              <a:bodyPr wrap="none" rtlCol="0">
                <a:spAutoFit/>
              </a:bodyPr>
              <a:lstStyle/>
              <a:p>
                <a:r>
                  <a:rPr lang="en-US" sz="2400" dirty="0"/>
                  <a:t>the other half of the inputs:</a:t>
                </a:r>
              </a:p>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𝑓</m:t>
                      </m:r>
                      <m:d>
                        <m:dPr>
                          <m:ctrlPr>
                            <a:rPr lang="en-ZA" sz="2400" i="1">
                              <a:latin typeface="Cambria Math" panose="02040503050406030204" pitchFamily="18" charset="0"/>
                            </a:rPr>
                          </m:ctrlPr>
                        </m:dPr>
                        <m:e>
                          <m:r>
                            <a:rPr lang="sr-Latn-RS" sz="2400" i="1">
                              <a:latin typeface="Cambria Math" panose="02040503050406030204" pitchFamily="18" charset="0"/>
                            </a:rPr>
                            <m:t>𝑥</m:t>
                          </m:r>
                        </m:e>
                      </m:d>
                      <m:r>
                        <a:rPr lang="sr-Latn-RS" sz="2400" i="1">
                          <a:latin typeface="Cambria Math" panose="02040503050406030204" pitchFamily="18" charset="0"/>
                        </a:rPr>
                        <m:t>=</m:t>
                      </m:r>
                      <m:r>
                        <a:rPr lang="en-US" sz="2400" b="0" i="1" smtClean="0">
                          <a:latin typeface="Cambria Math" panose="02040503050406030204" pitchFamily="18" charset="0"/>
                        </a:rPr>
                        <m:t>1</m:t>
                      </m:r>
                      <m:r>
                        <a:rPr lang="sr-Latn-RS" sz="2400" i="1" smtClean="0">
                          <a:latin typeface="Cambria Math" panose="02040503050406030204" pitchFamily="18" charset="0"/>
                          <a:ea typeface="Cambria Math" panose="02040503050406030204" pitchFamily="18" charset="0"/>
                        </a:rPr>
                        <m:t>⇒</m:t>
                      </m:r>
                      <m:sSup>
                        <m:sSupPr>
                          <m:ctrlPr>
                            <a:rPr lang="en-ZA" sz="2400" i="1">
                              <a:latin typeface="Cambria Math" panose="02040503050406030204" pitchFamily="18" charset="0"/>
                            </a:rPr>
                          </m:ctrlPr>
                        </m:sSupPr>
                        <m:e>
                          <m:r>
                            <a:rPr lang="sr-Latn-RS" sz="2400" i="1">
                              <a:latin typeface="Cambria Math" panose="02040503050406030204" pitchFamily="18" charset="0"/>
                            </a:rPr>
                            <m:t>(−1)</m:t>
                          </m:r>
                        </m:e>
                        <m:sup>
                          <m:r>
                            <a:rPr lang="sr-Latn-RS" sz="2400" i="1">
                              <a:latin typeface="Cambria Math" panose="02040503050406030204" pitchFamily="18" charset="0"/>
                            </a:rPr>
                            <m:t>𝑓</m:t>
                          </m:r>
                          <m:r>
                            <a:rPr lang="sr-Latn-RS" sz="2400" i="1">
                              <a:latin typeface="Cambria Math" panose="02040503050406030204" pitchFamily="18" charset="0"/>
                            </a:rPr>
                            <m:t>(</m:t>
                          </m:r>
                          <m:r>
                            <a:rPr lang="sr-Latn-RS" sz="2400" i="1">
                              <a:latin typeface="Cambria Math" panose="02040503050406030204" pitchFamily="18" charset="0"/>
                            </a:rPr>
                            <m:t>𝑥</m:t>
                          </m:r>
                          <m:r>
                            <a:rPr lang="sr-Latn-RS" sz="2400" i="1">
                              <a:latin typeface="Cambria Math" panose="02040503050406030204" pitchFamily="18" charset="0"/>
                            </a:rPr>
                            <m:t>)</m:t>
                          </m:r>
                        </m:sup>
                      </m:sSup>
                      <m:r>
                        <a:rPr lang="sr-Latn-RS" sz="2400" i="1">
                          <a:latin typeface="Cambria Math" panose="02040503050406030204" pitchFamily="18" charset="0"/>
                        </a:rPr>
                        <m:t>=</m:t>
                      </m:r>
                      <m:r>
                        <a:rPr lang="en-US" sz="2400" b="0" i="1" smtClean="0">
                          <a:latin typeface="Cambria Math" panose="02040503050406030204" pitchFamily="18" charset="0"/>
                        </a:rPr>
                        <m:t>−</m:t>
                      </m:r>
                      <m:r>
                        <a:rPr lang="sr-Latn-RS" sz="2400" i="1">
                          <a:latin typeface="Cambria Math" panose="02040503050406030204" pitchFamily="18" charset="0"/>
                        </a:rPr>
                        <m:t>1</m:t>
                      </m:r>
                    </m:oMath>
                  </m:oMathPara>
                </a14:m>
                <a:endParaRPr lang="en-US" sz="2400" dirty="0"/>
              </a:p>
            </p:txBody>
          </p:sp>
        </mc:Choice>
        <mc:Fallback xmlns="">
          <p:sp>
            <p:nvSpPr>
              <p:cNvPr id="24" name="TextBox 23">
                <a:extLst>
                  <a:ext uri="{FF2B5EF4-FFF2-40B4-BE49-F238E27FC236}">
                    <a16:creationId xmlns:a16="http://schemas.microsoft.com/office/drawing/2014/main" id="{36691AA6-C8D2-D342-B984-152D44DA36FF}"/>
                  </a:ext>
                </a:extLst>
              </p:cNvPr>
              <p:cNvSpPr txBox="1">
                <a:spLocks noRot="1" noChangeAspect="1" noMove="1" noResize="1" noEditPoints="1" noAdjustHandles="1" noChangeArrowheads="1" noChangeShapeType="1" noTextEdit="1"/>
              </p:cNvSpPr>
              <p:nvPr/>
            </p:nvSpPr>
            <p:spPr>
              <a:xfrm>
                <a:off x="6970469" y="3376601"/>
                <a:ext cx="4085221" cy="846322"/>
              </a:xfrm>
              <a:prstGeom prst="rect">
                <a:avLst/>
              </a:prstGeom>
              <a:blipFill>
                <a:blip r:embed="rId7"/>
                <a:stretch>
                  <a:fillRect l="-2167" t="-4412" b="-7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15B02C86-A2CB-B84E-8ED7-13F7006056BB}"/>
                  </a:ext>
                </a:extLst>
              </p:cNvPr>
              <p:cNvSpPr/>
              <p:nvPr/>
            </p:nvSpPr>
            <p:spPr>
              <a:xfrm>
                <a:off x="383502" y="4884992"/>
                <a:ext cx="10995623" cy="133914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𝑝</m:t>
                          </m:r>
                        </m:e>
                        <m:sub>
                          <m:r>
                            <a:rPr lang="en-US" sz="2400" i="0">
                              <a:latin typeface="Cambria Math" panose="02040503050406030204" pitchFamily="18" charset="0"/>
                            </a:rPr>
                            <m:t>0</m:t>
                          </m:r>
                        </m:sub>
                      </m:sSub>
                      <m:r>
                        <a:rPr lang="en-US" sz="2400" i="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0">
                                      <a:latin typeface="Cambria Math" panose="02040503050406030204" pitchFamily="18" charset="0"/>
                                    </a:rPr>
                                    <m:t>1</m:t>
                                  </m:r>
                                </m:num>
                                <m:den>
                                  <m:sSup>
                                    <m:sSupPr>
                                      <m:ctrlPr>
                                        <a:rPr lang="en-US" sz="2400" i="1">
                                          <a:latin typeface="Cambria Math" panose="02040503050406030204" pitchFamily="18" charset="0"/>
                                        </a:rPr>
                                      </m:ctrlPr>
                                    </m:sSupPr>
                                    <m:e>
                                      <m:r>
                                        <a:rPr lang="en-US" sz="2400" i="0">
                                          <a:latin typeface="Cambria Math" panose="02040503050406030204" pitchFamily="18" charset="0"/>
                                        </a:rPr>
                                        <m:t>2</m:t>
                                      </m:r>
                                    </m:e>
                                    <m:sup>
                                      <m:r>
                                        <a:rPr lang="en-US" sz="2400" i="1">
                                          <a:latin typeface="Cambria Math" panose="02040503050406030204" pitchFamily="18" charset="0"/>
                                        </a:rPr>
                                        <m:t>𝑛</m:t>
                                      </m:r>
                                    </m:sup>
                                  </m:sSup>
                                </m:den>
                              </m:f>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𝑥</m:t>
                                  </m:r>
                                  <m:r>
                                    <a:rPr lang="en-US" sz="2400" i="0">
                                      <a:latin typeface="Cambria Math" panose="02040503050406030204" pitchFamily="18" charset="0"/>
                                    </a:rPr>
                                    <m:t>=0</m:t>
                                  </m:r>
                                </m:sub>
                                <m:sup>
                                  <m:sSup>
                                    <m:sSupPr>
                                      <m:ctrlPr>
                                        <a:rPr lang="en-US" sz="2400" i="1">
                                          <a:latin typeface="Cambria Math" panose="02040503050406030204" pitchFamily="18" charset="0"/>
                                        </a:rPr>
                                      </m:ctrlPr>
                                    </m:sSupPr>
                                    <m:e>
                                      <m:r>
                                        <a:rPr lang="en-US" sz="2400" i="0">
                                          <a:latin typeface="Cambria Math" panose="02040503050406030204" pitchFamily="18" charset="0"/>
                                        </a:rPr>
                                        <m:t>2</m:t>
                                      </m:r>
                                    </m:e>
                                    <m:sup>
                                      <m:r>
                                        <a:rPr lang="en-US" sz="2400" i="1">
                                          <a:latin typeface="Cambria Math" panose="02040503050406030204" pitchFamily="18" charset="0"/>
                                        </a:rPr>
                                        <m:t>𝑛</m:t>
                                      </m:r>
                                    </m:sup>
                                  </m:sSup>
                                  <m:r>
                                    <a:rPr lang="en-US" sz="2400" i="0">
                                      <a:latin typeface="Cambria Math" panose="02040503050406030204" pitchFamily="18" charset="0"/>
                                    </a:rPr>
                                    <m:t>−1</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i="0">
                                              <a:latin typeface="Cambria Math" panose="02040503050406030204" pitchFamily="18" charset="0"/>
                                            </a:rPr>
                                            <m:t>(</m:t>
                                          </m:r>
                                          <m:r>
                                            <a:rPr lang="en-US" sz="2400" i="1">
                                              <a:latin typeface="Cambria Math" panose="02040503050406030204" pitchFamily="18" charset="0"/>
                                            </a:rPr>
                                            <m:t>𝑥</m:t>
                                          </m:r>
                                        </m:e>
                                      </m:d>
                                    </m:sup>
                                  </m:sSup>
                                </m:e>
                              </m:nary>
                            </m:e>
                          </m:d>
                        </m:e>
                        <m:sup>
                          <m:r>
                            <a:rPr lang="en-US" sz="2400" i="0">
                              <a:latin typeface="Cambria Math" panose="02040503050406030204" pitchFamily="18" charset="0"/>
                            </a:rPr>
                            <m:t>2</m:t>
                          </m:r>
                        </m:sup>
                      </m:sSup>
                      <m:r>
                        <a:rPr lang="en-US" sz="2400" i="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0">
                                      <a:latin typeface="Cambria Math" panose="02040503050406030204" pitchFamily="18" charset="0"/>
                                    </a:rPr>
                                    <m:t>1</m:t>
                                  </m:r>
                                </m:num>
                                <m:den>
                                  <m:sSup>
                                    <m:sSupPr>
                                      <m:ctrlPr>
                                        <a:rPr lang="en-US" sz="2400" i="1">
                                          <a:latin typeface="Cambria Math" panose="02040503050406030204" pitchFamily="18" charset="0"/>
                                        </a:rPr>
                                      </m:ctrlPr>
                                    </m:sSupPr>
                                    <m:e>
                                      <m:r>
                                        <a:rPr lang="en-US" sz="2400" i="0">
                                          <a:latin typeface="Cambria Math" panose="02040503050406030204" pitchFamily="18" charset="0"/>
                                        </a:rPr>
                                        <m:t>2</m:t>
                                      </m:r>
                                    </m:e>
                                    <m:sup>
                                      <m:r>
                                        <a:rPr lang="en-US" sz="2400" i="1">
                                          <a:latin typeface="Cambria Math" panose="02040503050406030204" pitchFamily="18" charset="0"/>
                                        </a:rPr>
                                        <m:t>𝑛</m:t>
                                      </m:r>
                                    </m:sup>
                                  </m:sSup>
                                </m:den>
                              </m:f>
                              <m:d>
                                <m:dPr>
                                  <m:ctrlPr>
                                    <a:rPr lang="en-US" sz="2400" i="1">
                                      <a:latin typeface="Cambria Math" panose="02040503050406030204" pitchFamily="18" charset="0"/>
                                    </a:rPr>
                                  </m:ctrlPr>
                                </m:dPr>
                                <m:e>
                                  <m:r>
                                    <a:rPr lang="en-US" sz="2400" i="0">
                                      <a:latin typeface="Cambria Math" panose="02040503050406030204" pitchFamily="18" charset="0"/>
                                    </a:rPr>
                                    <m:t>1+⋯+1</m:t>
                                  </m:r>
                                </m:e>
                              </m:d>
                              <m:r>
                                <a:rPr lang="en-US" sz="2400" i="0">
                                  <a:latin typeface="Cambria Math" panose="02040503050406030204" pitchFamily="18" charset="0"/>
                                </a:rPr>
                                <m:t>+</m:t>
                              </m:r>
                              <m:d>
                                <m:dPr>
                                  <m:ctrlPr>
                                    <a:rPr lang="en-US" sz="2400" i="1">
                                      <a:latin typeface="Cambria Math" panose="02040503050406030204" pitchFamily="18" charset="0"/>
                                    </a:rPr>
                                  </m:ctrlPr>
                                </m:dPr>
                                <m:e>
                                  <m:r>
                                    <a:rPr lang="en-US" sz="2400" i="0">
                                      <a:latin typeface="Cambria Math" panose="02040503050406030204" pitchFamily="18" charset="0"/>
                                    </a:rPr>
                                    <m:t>−1</m:t>
                                  </m:r>
                                  <m:r>
                                    <a:rPr lang="en-US" sz="2400" b="0" i="0" smtClean="0">
                                      <a:latin typeface="Cambria Math" panose="02040503050406030204" pitchFamily="18" charset="0"/>
                                    </a:rPr>
                                    <m:t>−</m:t>
                                  </m:r>
                                  <m:r>
                                    <a:rPr lang="en-US" sz="2400" i="0">
                                      <a:latin typeface="Cambria Math" panose="02040503050406030204" pitchFamily="18" charset="0"/>
                                    </a:rPr>
                                    <m:t>⋯−1</m:t>
                                  </m:r>
                                </m:e>
                              </m:d>
                            </m:e>
                          </m:d>
                        </m:e>
                        <m:sup>
                          <m:r>
                            <a:rPr lang="en-US" sz="2400" i="0">
                              <a:latin typeface="Cambria Math" panose="02040503050406030204" pitchFamily="18" charset="0"/>
                            </a:rPr>
                            <m:t>2</m:t>
                          </m:r>
                        </m:sup>
                      </m:sSup>
                      <m:r>
                        <a:rPr lang="en-US" sz="2400" i="0">
                          <a:latin typeface="Cambria Math" panose="02040503050406030204" pitchFamily="18" charset="0"/>
                        </a:rPr>
                        <m:t>=</m:t>
                      </m:r>
                      <m:sSup>
                        <m:sSupPr>
                          <m:ctrlPr>
                            <a:rPr lang="en-US" sz="2400" i="1">
                              <a:latin typeface="Cambria Math" panose="02040503050406030204" pitchFamily="18" charset="0"/>
                            </a:rPr>
                          </m:ctrlPr>
                        </m:sSupPr>
                        <m:e>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0">
                                      <a:latin typeface="Cambria Math" panose="02040503050406030204" pitchFamily="18" charset="0"/>
                                    </a:rPr>
                                    <m:t>0</m:t>
                                  </m:r>
                                </m:num>
                                <m:den>
                                  <m:sSup>
                                    <m:sSupPr>
                                      <m:ctrlPr>
                                        <a:rPr lang="en-US" sz="2400" i="1">
                                          <a:latin typeface="Cambria Math" panose="02040503050406030204" pitchFamily="18" charset="0"/>
                                        </a:rPr>
                                      </m:ctrlPr>
                                    </m:sSupPr>
                                    <m:e>
                                      <m:r>
                                        <a:rPr lang="en-US" sz="2400" i="0">
                                          <a:latin typeface="Cambria Math" panose="02040503050406030204" pitchFamily="18" charset="0"/>
                                        </a:rPr>
                                        <m:t>2</m:t>
                                      </m:r>
                                    </m:e>
                                    <m:sup>
                                      <m:r>
                                        <a:rPr lang="en-US" sz="2400" i="1">
                                          <a:latin typeface="Cambria Math" panose="02040503050406030204" pitchFamily="18" charset="0"/>
                                        </a:rPr>
                                        <m:t>𝑛</m:t>
                                      </m:r>
                                    </m:sup>
                                  </m:sSup>
                                </m:den>
                              </m:f>
                            </m:e>
                          </m:d>
                        </m:e>
                        <m:sup>
                          <m:r>
                            <a:rPr lang="en-US" sz="2400" i="0">
                              <a:latin typeface="Cambria Math" panose="02040503050406030204" pitchFamily="18" charset="0"/>
                            </a:rPr>
                            <m:t>2</m:t>
                          </m:r>
                        </m:sup>
                      </m:sSup>
                      <m:r>
                        <a:rPr lang="en-US" sz="2400" i="0">
                          <a:latin typeface="Cambria Math" panose="02040503050406030204" pitchFamily="18" charset="0"/>
                        </a:rPr>
                        <m:t>=0</m:t>
                      </m:r>
                    </m:oMath>
                  </m:oMathPara>
                </a14:m>
                <a:endParaRPr lang="en-US" sz="2400" dirty="0"/>
              </a:p>
            </p:txBody>
          </p:sp>
        </mc:Choice>
        <mc:Fallback xmlns="">
          <p:sp>
            <p:nvSpPr>
              <p:cNvPr id="12" name="Rectangle 11">
                <a:extLst>
                  <a:ext uri="{FF2B5EF4-FFF2-40B4-BE49-F238E27FC236}">
                    <a16:creationId xmlns:a16="http://schemas.microsoft.com/office/drawing/2014/main" id="{15B02C86-A2CB-B84E-8ED7-13F7006056BB}"/>
                  </a:ext>
                </a:extLst>
              </p:cNvPr>
              <p:cNvSpPr>
                <a:spLocks noRot="1" noChangeAspect="1" noMove="1" noResize="1" noEditPoints="1" noAdjustHandles="1" noChangeArrowheads="1" noChangeShapeType="1" noTextEdit="1"/>
              </p:cNvSpPr>
              <p:nvPr/>
            </p:nvSpPr>
            <p:spPr>
              <a:xfrm>
                <a:off x="383502" y="4884992"/>
                <a:ext cx="10995623" cy="1339149"/>
              </a:xfrm>
              <a:prstGeom prst="rect">
                <a:avLst/>
              </a:prstGeom>
              <a:blipFill>
                <a:blip r:embed="rId8"/>
                <a:stretch>
                  <a:fillRect t="-77358" b="-127358"/>
                </a:stretch>
              </a:blipFill>
            </p:spPr>
            <p:txBody>
              <a:bodyPr/>
              <a:lstStyle/>
              <a:p>
                <a:r>
                  <a:rPr lang="en-US">
                    <a:noFill/>
                  </a:rPr>
                  <a:t> </a:t>
                </a:r>
              </a:p>
            </p:txBody>
          </p:sp>
        </mc:Fallback>
      </mc:AlternateContent>
      <p:sp>
        <p:nvSpPr>
          <p:cNvPr id="15" name="Left Brace 14">
            <a:extLst>
              <a:ext uri="{FF2B5EF4-FFF2-40B4-BE49-F238E27FC236}">
                <a16:creationId xmlns:a16="http://schemas.microsoft.com/office/drawing/2014/main" id="{8A652BC9-4AFC-6E4D-A4FC-8628A98DDC26}"/>
              </a:ext>
            </a:extLst>
          </p:cNvPr>
          <p:cNvSpPr/>
          <p:nvPr/>
        </p:nvSpPr>
        <p:spPr>
          <a:xfrm rot="16200000">
            <a:off x="5631695" y="-1147259"/>
            <a:ext cx="780208" cy="10987723"/>
          </a:xfrm>
          <a:prstGeom prst="leftBrace">
            <a:avLst>
              <a:gd name="adj1" fmla="val 4813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002382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6E50F-C821-D54E-B5B3-66DF8D2793C2}"/>
              </a:ext>
            </a:extLst>
          </p:cNvPr>
          <p:cNvSpPr>
            <a:spLocks noGrp="1"/>
          </p:cNvSpPr>
          <p:nvPr>
            <p:ph type="title"/>
          </p:nvPr>
        </p:nvSpPr>
        <p:spPr/>
        <p:txBody>
          <a:bodyPr>
            <a:normAutofit/>
          </a:bodyPr>
          <a:lstStyle/>
          <a:p>
            <a:r>
              <a:rPr lang="en-ZA" dirty="0"/>
              <a:t>Experimental circuit for verifying the Deutsch–</a:t>
            </a:r>
            <a:r>
              <a:rPr lang="en-ZA" dirty="0" err="1"/>
              <a:t>Jozsa</a:t>
            </a:r>
            <a:r>
              <a:rPr lang="en-ZA" dirty="0"/>
              <a:t> algorithm (n = 3)</a:t>
            </a:r>
            <a:endParaRPr lang="en-US" dirty="0"/>
          </a:p>
        </p:txBody>
      </p:sp>
      <p:sp>
        <p:nvSpPr>
          <p:cNvPr id="3" name="Slide Number Placeholder 2">
            <a:extLst>
              <a:ext uri="{FF2B5EF4-FFF2-40B4-BE49-F238E27FC236}">
                <a16:creationId xmlns:a16="http://schemas.microsoft.com/office/drawing/2014/main" id="{C0E8533A-EBA0-BA45-BEAC-FAE624D84B4F}"/>
              </a:ext>
            </a:extLst>
          </p:cNvPr>
          <p:cNvSpPr>
            <a:spLocks noGrp="1"/>
          </p:cNvSpPr>
          <p:nvPr>
            <p:ph type="sldNum" sz="quarter" idx="12"/>
          </p:nvPr>
        </p:nvSpPr>
        <p:spPr/>
        <p:txBody>
          <a:bodyPr/>
          <a:lstStyle/>
          <a:p>
            <a:fld id="{591A223C-FA10-BC46-A853-03BA373D023C}" type="slidenum">
              <a:rPr lang="en-US" smtClean="0"/>
              <a:t>22</a:t>
            </a:fld>
            <a:endParaRPr lang="en-US"/>
          </a:p>
        </p:txBody>
      </p:sp>
      <p:pic>
        <p:nvPicPr>
          <p:cNvPr id="6" name="Picture 5">
            <a:extLst>
              <a:ext uri="{FF2B5EF4-FFF2-40B4-BE49-F238E27FC236}">
                <a16:creationId xmlns:a16="http://schemas.microsoft.com/office/drawing/2014/main" id="{051CAE6F-E1ED-A544-8A3F-890F2D0F60CC}"/>
              </a:ext>
            </a:extLst>
          </p:cNvPr>
          <p:cNvPicPr>
            <a:picLocks noChangeAspect="1"/>
          </p:cNvPicPr>
          <p:nvPr/>
        </p:nvPicPr>
        <p:blipFill>
          <a:blip r:embed="rId3"/>
          <a:stretch>
            <a:fillRect/>
          </a:stretch>
        </p:blipFill>
        <p:spPr>
          <a:xfrm>
            <a:off x="199069" y="1175305"/>
            <a:ext cx="7747000" cy="2908300"/>
          </a:xfrm>
          <a:prstGeom prst="rect">
            <a:avLst/>
          </a:prstGeom>
        </p:spPr>
      </p:pic>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56AC8C9B-C2BD-5440-9BDB-343D481173CB}"/>
                  </a:ext>
                </a:extLst>
              </p:cNvPr>
              <p:cNvGraphicFramePr>
                <a:graphicFrameLocks noGrp="1"/>
              </p:cNvGraphicFramePr>
              <p:nvPr>
                <p:extLst/>
              </p:nvPr>
            </p:nvGraphicFramePr>
            <p:xfrm>
              <a:off x="10398083" y="804357"/>
              <a:ext cx="1380272" cy="3337560"/>
            </p:xfrm>
            <a:graphic>
              <a:graphicData uri="http://schemas.openxmlformats.org/drawingml/2006/table">
                <a:tbl>
                  <a:tblPr firstRow="1" bandRow="1">
                    <a:tableStyleId>{5C22544A-7EE6-4342-B048-85BDC9FD1C3A}</a:tableStyleId>
                  </a:tblPr>
                  <a:tblGrid>
                    <a:gridCol w="825870">
                      <a:extLst>
                        <a:ext uri="{9D8B030D-6E8A-4147-A177-3AD203B41FA5}">
                          <a16:colId xmlns:a16="http://schemas.microsoft.com/office/drawing/2014/main" val="2736460248"/>
                        </a:ext>
                      </a:extLst>
                    </a:gridCol>
                    <a:gridCol w="554402">
                      <a:extLst>
                        <a:ext uri="{9D8B030D-6E8A-4147-A177-3AD203B41FA5}">
                          <a16:colId xmlns:a16="http://schemas.microsoft.com/office/drawing/2014/main" val="328587783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𝑥</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𝒇</m:t>
                                </m:r>
                                <m:r>
                                  <a:rPr lang="en-US" b="1" i="1" smtClean="0">
                                    <a:latin typeface="Cambria Math" panose="02040503050406030204" pitchFamily="18" charset="0"/>
                                  </a:rPr>
                                  <m:t>(</m:t>
                                </m:r>
                                <m:r>
                                  <a:rPr lang="en-US" i="1" smtClean="0">
                                    <a:latin typeface="Cambria Math" panose="02040503050406030204" pitchFamily="18" charset="0"/>
                                  </a:rPr>
                                  <m:t>𝑥</m:t>
                                </m:r>
                                <m:r>
                                  <a:rPr lang="en-US" b="1"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438452201"/>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406442287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extLst>
                      <a:ext uri="{0D108BD9-81ED-4DB2-BD59-A6C34878D82A}">
                        <a16:rowId xmlns:a16="http://schemas.microsoft.com/office/drawing/2014/main" val="3586058140"/>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extLst>
                      <a:ext uri="{0D108BD9-81ED-4DB2-BD59-A6C34878D82A}">
                        <a16:rowId xmlns:a16="http://schemas.microsoft.com/office/drawing/2014/main" val="1290583134"/>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011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585569694"/>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100</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extLst>
                      <a:ext uri="{0D108BD9-81ED-4DB2-BD59-A6C34878D82A}">
                        <a16:rowId xmlns:a16="http://schemas.microsoft.com/office/drawing/2014/main" val="3129335591"/>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101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141182778"/>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110</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451726079"/>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111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extLst>
                      <a:ext uri="{0D108BD9-81ED-4DB2-BD59-A6C34878D82A}">
                        <a16:rowId xmlns:a16="http://schemas.microsoft.com/office/drawing/2014/main" val="4259229786"/>
                      </a:ext>
                    </a:extLst>
                  </a:tr>
                </a:tbl>
              </a:graphicData>
            </a:graphic>
          </p:graphicFrame>
        </mc:Choice>
        <mc:Fallback xmlns="">
          <p:graphicFrame>
            <p:nvGraphicFramePr>
              <p:cNvPr id="17" name="Table 16">
                <a:extLst>
                  <a:ext uri="{FF2B5EF4-FFF2-40B4-BE49-F238E27FC236}">
                    <a16:creationId xmlns:a16="http://schemas.microsoft.com/office/drawing/2014/main" id="{56AC8C9B-C2BD-5440-9BDB-343D481173CB}"/>
                  </a:ext>
                </a:extLst>
              </p:cNvPr>
              <p:cNvGraphicFramePr>
                <a:graphicFrameLocks noGrp="1"/>
              </p:cNvGraphicFramePr>
              <p:nvPr>
                <p:extLst>
                  <p:ext uri="{D42A27DB-BD31-4B8C-83A1-F6EECF244321}">
                    <p14:modId xmlns:p14="http://schemas.microsoft.com/office/powerpoint/2010/main" val="2446763152"/>
                  </p:ext>
                </p:extLst>
              </p:nvPr>
            </p:nvGraphicFramePr>
            <p:xfrm>
              <a:off x="10398083" y="804357"/>
              <a:ext cx="1380272" cy="3337560"/>
            </p:xfrm>
            <a:graphic>
              <a:graphicData uri="http://schemas.openxmlformats.org/drawingml/2006/table">
                <a:tbl>
                  <a:tblPr firstRow="1" bandRow="1">
                    <a:tableStyleId>{5C22544A-7EE6-4342-B048-85BDC9FD1C3A}</a:tableStyleId>
                  </a:tblPr>
                  <a:tblGrid>
                    <a:gridCol w="825870">
                      <a:extLst>
                        <a:ext uri="{9D8B030D-6E8A-4147-A177-3AD203B41FA5}">
                          <a16:colId xmlns:a16="http://schemas.microsoft.com/office/drawing/2014/main" val="2736460248"/>
                        </a:ext>
                      </a:extLst>
                    </a:gridCol>
                    <a:gridCol w="554402">
                      <a:extLst>
                        <a:ext uri="{9D8B030D-6E8A-4147-A177-3AD203B41FA5}">
                          <a16:colId xmlns:a16="http://schemas.microsoft.com/office/drawing/2014/main" val="3285877832"/>
                        </a:ext>
                      </a:extLst>
                    </a:gridCol>
                  </a:tblGrid>
                  <a:tr h="370840">
                    <a:tc>
                      <a:txBody>
                        <a:bodyPr/>
                        <a:lstStyle/>
                        <a:p>
                          <a:endParaRPr lang="en-US"/>
                        </a:p>
                      </a:txBody>
                      <a:tcPr>
                        <a:blipFill>
                          <a:blip r:embed="rId4"/>
                          <a:stretch>
                            <a:fillRect l="-1515" t="-3448" r="-68182" b="-810345"/>
                          </a:stretch>
                        </a:blipFill>
                      </a:tcPr>
                    </a:tc>
                    <a:tc>
                      <a:txBody>
                        <a:bodyPr/>
                        <a:lstStyle/>
                        <a:p>
                          <a:endParaRPr lang="en-US"/>
                        </a:p>
                      </a:txBody>
                      <a:tcPr>
                        <a:blipFill>
                          <a:blip r:embed="rId4"/>
                          <a:stretch>
                            <a:fillRect l="-152273" t="-3448" r="-2273" b="-810345"/>
                          </a:stretch>
                        </a:blipFill>
                      </a:tcPr>
                    </a:tc>
                    <a:extLst>
                      <a:ext uri="{0D108BD9-81ED-4DB2-BD59-A6C34878D82A}">
                        <a16:rowId xmlns:a16="http://schemas.microsoft.com/office/drawing/2014/main" val="438452201"/>
                      </a:ext>
                    </a:extLst>
                  </a:tr>
                  <a:tr h="370840">
                    <a:tc>
                      <a:txBody>
                        <a:bodyPr/>
                        <a:lstStyle/>
                        <a:p>
                          <a:endParaRPr lang="en-US"/>
                        </a:p>
                      </a:txBody>
                      <a:tcPr>
                        <a:blipFill>
                          <a:blip r:embed="rId4"/>
                          <a:stretch>
                            <a:fillRect l="-1515" t="-100000" r="-68182" b="-683333"/>
                          </a:stretch>
                        </a:blipFill>
                      </a:tcPr>
                    </a:tc>
                    <a:tc>
                      <a:txBody>
                        <a:bodyPr/>
                        <a:lstStyle/>
                        <a:p>
                          <a:endParaRPr lang="en-US"/>
                        </a:p>
                      </a:txBody>
                      <a:tcPr>
                        <a:blipFill>
                          <a:blip r:embed="rId4"/>
                          <a:stretch>
                            <a:fillRect l="-152273" t="-100000" r="-2273" b="-683333"/>
                          </a:stretch>
                        </a:blipFill>
                      </a:tcPr>
                    </a:tc>
                    <a:extLst>
                      <a:ext uri="{0D108BD9-81ED-4DB2-BD59-A6C34878D82A}">
                        <a16:rowId xmlns:a16="http://schemas.microsoft.com/office/drawing/2014/main" val="4064422872"/>
                      </a:ext>
                    </a:extLst>
                  </a:tr>
                  <a:tr h="370840">
                    <a:tc>
                      <a:txBody>
                        <a:bodyPr/>
                        <a:lstStyle/>
                        <a:p>
                          <a:endParaRPr lang="en-US"/>
                        </a:p>
                      </a:txBody>
                      <a:tcPr>
                        <a:blipFill>
                          <a:blip r:embed="rId4"/>
                          <a:stretch>
                            <a:fillRect l="-1515" t="-206897" r="-68182" b="-606897"/>
                          </a:stretch>
                        </a:blipFill>
                      </a:tcPr>
                    </a:tc>
                    <a:tc>
                      <a:txBody>
                        <a:bodyPr/>
                        <a:lstStyle/>
                        <a:p>
                          <a:endParaRPr lang="en-US"/>
                        </a:p>
                      </a:txBody>
                      <a:tcPr>
                        <a:blipFill>
                          <a:blip r:embed="rId4"/>
                          <a:stretch>
                            <a:fillRect l="-152273" t="-206897" r="-2273" b="-606897"/>
                          </a:stretch>
                        </a:blipFill>
                      </a:tcPr>
                    </a:tc>
                    <a:extLst>
                      <a:ext uri="{0D108BD9-81ED-4DB2-BD59-A6C34878D82A}">
                        <a16:rowId xmlns:a16="http://schemas.microsoft.com/office/drawing/2014/main" val="3586058140"/>
                      </a:ext>
                    </a:extLst>
                  </a:tr>
                  <a:tr h="370840">
                    <a:tc>
                      <a:txBody>
                        <a:bodyPr/>
                        <a:lstStyle/>
                        <a:p>
                          <a:endParaRPr lang="en-US"/>
                        </a:p>
                      </a:txBody>
                      <a:tcPr>
                        <a:blipFill>
                          <a:blip r:embed="rId4"/>
                          <a:stretch>
                            <a:fillRect l="-1515" t="-306897" r="-68182" b="-506897"/>
                          </a:stretch>
                        </a:blipFill>
                      </a:tcPr>
                    </a:tc>
                    <a:tc>
                      <a:txBody>
                        <a:bodyPr/>
                        <a:lstStyle/>
                        <a:p>
                          <a:endParaRPr lang="en-US"/>
                        </a:p>
                      </a:txBody>
                      <a:tcPr>
                        <a:blipFill>
                          <a:blip r:embed="rId4"/>
                          <a:stretch>
                            <a:fillRect l="-152273" t="-306897" r="-2273" b="-506897"/>
                          </a:stretch>
                        </a:blipFill>
                      </a:tcPr>
                    </a:tc>
                    <a:extLst>
                      <a:ext uri="{0D108BD9-81ED-4DB2-BD59-A6C34878D82A}">
                        <a16:rowId xmlns:a16="http://schemas.microsoft.com/office/drawing/2014/main" val="1290583134"/>
                      </a:ext>
                    </a:extLst>
                  </a:tr>
                  <a:tr h="370840">
                    <a:tc>
                      <a:txBody>
                        <a:bodyPr/>
                        <a:lstStyle/>
                        <a:p>
                          <a:endParaRPr lang="en-US"/>
                        </a:p>
                      </a:txBody>
                      <a:tcPr>
                        <a:blipFill>
                          <a:blip r:embed="rId4"/>
                          <a:stretch>
                            <a:fillRect l="-1515" t="-393333" r="-68182" b="-390000"/>
                          </a:stretch>
                        </a:blipFill>
                      </a:tcPr>
                    </a:tc>
                    <a:tc>
                      <a:txBody>
                        <a:bodyPr/>
                        <a:lstStyle/>
                        <a:p>
                          <a:endParaRPr lang="en-US"/>
                        </a:p>
                      </a:txBody>
                      <a:tcPr>
                        <a:blipFill>
                          <a:blip r:embed="rId4"/>
                          <a:stretch>
                            <a:fillRect l="-152273" t="-393333" r="-2273" b="-390000"/>
                          </a:stretch>
                        </a:blipFill>
                      </a:tcPr>
                    </a:tc>
                    <a:extLst>
                      <a:ext uri="{0D108BD9-81ED-4DB2-BD59-A6C34878D82A}">
                        <a16:rowId xmlns:a16="http://schemas.microsoft.com/office/drawing/2014/main" val="585569694"/>
                      </a:ext>
                    </a:extLst>
                  </a:tr>
                  <a:tr h="370840">
                    <a:tc>
                      <a:txBody>
                        <a:bodyPr/>
                        <a:lstStyle/>
                        <a:p>
                          <a:endParaRPr lang="en-US"/>
                        </a:p>
                      </a:txBody>
                      <a:tcPr>
                        <a:blipFill>
                          <a:blip r:embed="rId4"/>
                          <a:stretch>
                            <a:fillRect l="-1515" t="-510345" r="-68182" b="-303448"/>
                          </a:stretch>
                        </a:blipFill>
                      </a:tcPr>
                    </a:tc>
                    <a:tc>
                      <a:txBody>
                        <a:bodyPr/>
                        <a:lstStyle/>
                        <a:p>
                          <a:endParaRPr lang="en-US"/>
                        </a:p>
                      </a:txBody>
                      <a:tcPr>
                        <a:blipFill>
                          <a:blip r:embed="rId4"/>
                          <a:stretch>
                            <a:fillRect l="-152273" t="-510345" r="-2273" b="-303448"/>
                          </a:stretch>
                        </a:blipFill>
                      </a:tcPr>
                    </a:tc>
                    <a:extLst>
                      <a:ext uri="{0D108BD9-81ED-4DB2-BD59-A6C34878D82A}">
                        <a16:rowId xmlns:a16="http://schemas.microsoft.com/office/drawing/2014/main" val="3129335591"/>
                      </a:ext>
                    </a:extLst>
                  </a:tr>
                  <a:tr h="370840">
                    <a:tc>
                      <a:txBody>
                        <a:bodyPr/>
                        <a:lstStyle/>
                        <a:p>
                          <a:endParaRPr lang="en-US"/>
                        </a:p>
                      </a:txBody>
                      <a:tcPr>
                        <a:blipFill>
                          <a:blip r:embed="rId4"/>
                          <a:stretch>
                            <a:fillRect l="-1515" t="-610345" r="-68182" b="-203448"/>
                          </a:stretch>
                        </a:blipFill>
                      </a:tcPr>
                    </a:tc>
                    <a:tc>
                      <a:txBody>
                        <a:bodyPr/>
                        <a:lstStyle/>
                        <a:p>
                          <a:endParaRPr lang="en-US"/>
                        </a:p>
                      </a:txBody>
                      <a:tcPr>
                        <a:blipFill>
                          <a:blip r:embed="rId4"/>
                          <a:stretch>
                            <a:fillRect l="-152273" t="-610345" r="-2273" b="-203448"/>
                          </a:stretch>
                        </a:blipFill>
                      </a:tcPr>
                    </a:tc>
                    <a:extLst>
                      <a:ext uri="{0D108BD9-81ED-4DB2-BD59-A6C34878D82A}">
                        <a16:rowId xmlns:a16="http://schemas.microsoft.com/office/drawing/2014/main" val="1141182778"/>
                      </a:ext>
                    </a:extLst>
                  </a:tr>
                  <a:tr h="370840">
                    <a:tc>
                      <a:txBody>
                        <a:bodyPr/>
                        <a:lstStyle/>
                        <a:p>
                          <a:endParaRPr lang="en-US"/>
                        </a:p>
                      </a:txBody>
                      <a:tcPr>
                        <a:blipFill>
                          <a:blip r:embed="rId4"/>
                          <a:stretch>
                            <a:fillRect l="-1515" t="-686667" r="-68182" b="-96667"/>
                          </a:stretch>
                        </a:blipFill>
                      </a:tcPr>
                    </a:tc>
                    <a:tc>
                      <a:txBody>
                        <a:bodyPr/>
                        <a:lstStyle/>
                        <a:p>
                          <a:endParaRPr lang="en-US"/>
                        </a:p>
                      </a:txBody>
                      <a:tcPr>
                        <a:blipFill>
                          <a:blip r:embed="rId4"/>
                          <a:stretch>
                            <a:fillRect l="-152273" t="-686667" r="-2273" b="-96667"/>
                          </a:stretch>
                        </a:blipFill>
                      </a:tcPr>
                    </a:tc>
                    <a:extLst>
                      <a:ext uri="{0D108BD9-81ED-4DB2-BD59-A6C34878D82A}">
                        <a16:rowId xmlns:a16="http://schemas.microsoft.com/office/drawing/2014/main" val="1451726079"/>
                      </a:ext>
                    </a:extLst>
                  </a:tr>
                  <a:tr h="370840">
                    <a:tc>
                      <a:txBody>
                        <a:bodyPr/>
                        <a:lstStyle/>
                        <a:p>
                          <a:endParaRPr lang="en-US"/>
                        </a:p>
                      </a:txBody>
                      <a:tcPr>
                        <a:blipFill>
                          <a:blip r:embed="rId4"/>
                          <a:stretch>
                            <a:fillRect l="-1515" t="-813793" r="-68182"/>
                          </a:stretch>
                        </a:blipFill>
                      </a:tcPr>
                    </a:tc>
                    <a:tc>
                      <a:txBody>
                        <a:bodyPr/>
                        <a:lstStyle/>
                        <a:p>
                          <a:endParaRPr lang="en-US"/>
                        </a:p>
                      </a:txBody>
                      <a:tcPr>
                        <a:blipFill>
                          <a:blip r:embed="rId4"/>
                          <a:stretch>
                            <a:fillRect l="-152273" t="-813793" r="-2273"/>
                          </a:stretch>
                        </a:blipFill>
                      </a:tcPr>
                    </a:tc>
                    <a:extLst>
                      <a:ext uri="{0D108BD9-81ED-4DB2-BD59-A6C34878D82A}">
                        <a16:rowId xmlns:a16="http://schemas.microsoft.com/office/drawing/2014/main" val="4259229786"/>
                      </a:ext>
                    </a:extLst>
                  </a:tr>
                </a:tbl>
              </a:graphicData>
            </a:graphic>
          </p:graphicFrame>
        </mc:Fallback>
      </mc:AlternateContent>
      <p:pic>
        <p:nvPicPr>
          <p:cNvPr id="5" name="Picture 4">
            <a:extLst>
              <a:ext uri="{FF2B5EF4-FFF2-40B4-BE49-F238E27FC236}">
                <a16:creationId xmlns:a16="http://schemas.microsoft.com/office/drawing/2014/main" id="{5F0E2E08-300B-2E42-AAC8-17E993D5BAB4}"/>
              </a:ext>
            </a:extLst>
          </p:cNvPr>
          <p:cNvPicPr>
            <a:picLocks noChangeAspect="1"/>
          </p:cNvPicPr>
          <p:nvPr/>
        </p:nvPicPr>
        <p:blipFill>
          <a:blip r:embed="rId5"/>
          <a:stretch>
            <a:fillRect/>
          </a:stretch>
        </p:blipFill>
        <p:spPr>
          <a:xfrm>
            <a:off x="1651787" y="4141917"/>
            <a:ext cx="4841564" cy="2665081"/>
          </a:xfrm>
          <a:prstGeom prst="rect">
            <a:avLst/>
          </a:prstGeom>
        </p:spPr>
      </p:pic>
    </p:spTree>
    <p:extLst>
      <p:ext uri="{BB962C8B-B14F-4D97-AF65-F5344CB8AC3E}">
        <p14:creationId xmlns:p14="http://schemas.microsoft.com/office/powerpoint/2010/main" val="3091043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A0EC26-90BB-1445-9C08-4D25D1DA9447}"/>
              </a:ext>
            </a:extLst>
          </p:cNvPr>
          <p:cNvSpPr txBox="1"/>
          <p:nvPr/>
        </p:nvSpPr>
        <p:spPr>
          <a:xfrm>
            <a:off x="472965" y="3023615"/>
            <a:ext cx="7393371" cy="1323439"/>
          </a:xfrm>
          <a:prstGeom prst="rect">
            <a:avLst/>
          </a:prstGeom>
          <a:noFill/>
        </p:spPr>
        <p:txBody>
          <a:bodyPr wrap="none" rtlCol="0">
            <a:spAutoFit/>
          </a:bodyPr>
          <a:lstStyle/>
          <a:p>
            <a:r>
              <a:rPr lang="en-ZA" sz="4000" dirty="0">
                <a:latin typeface="Comic Sans MS" panose="030F0902030302020204" pitchFamily="66" charset="0"/>
              </a:rPr>
              <a:t>Bernstein</a:t>
            </a:r>
            <a:r>
              <a:rPr lang="en-US" sz="4000" dirty="0">
                <a:latin typeface="Comic Sans MS" panose="030F0902030302020204" pitchFamily="66" charset="0"/>
              </a:rPr>
              <a:t> – </a:t>
            </a:r>
            <a:r>
              <a:rPr lang="en-ZA" sz="4000" dirty="0" err="1">
                <a:latin typeface="Comic Sans MS" panose="030F0902030302020204" pitchFamily="66" charset="0"/>
              </a:rPr>
              <a:t>Vazirani</a:t>
            </a:r>
            <a:r>
              <a:rPr lang="en-US" sz="4000" dirty="0">
                <a:latin typeface="Comic Sans MS" panose="030F0902030302020204" pitchFamily="66" charset="0"/>
              </a:rPr>
              <a:t> </a:t>
            </a:r>
            <a:r>
              <a:rPr lang="en-ZA" sz="4000" dirty="0">
                <a:latin typeface="Comic Sans MS" panose="030F0902030302020204" pitchFamily="66" charset="0"/>
              </a:rPr>
              <a:t>algorithm</a:t>
            </a:r>
            <a:endParaRPr lang="en-US" sz="4000" dirty="0">
              <a:latin typeface="Comic Sans MS" panose="030F0902030302020204" pitchFamily="66" charset="0"/>
            </a:endParaRPr>
          </a:p>
          <a:p>
            <a:pPr algn="ctr"/>
            <a:r>
              <a:rPr lang="en-US" sz="4000" dirty="0">
                <a:latin typeface="Comic Sans MS" panose="030F0902030302020204" pitchFamily="66" charset="0"/>
              </a:rPr>
              <a:t>(1993)</a:t>
            </a:r>
          </a:p>
        </p:txBody>
      </p:sp>
      <p:sp>
        <p:nvSpPr>
          <p:cNvPr id="7" name="TextBox 6">
            <a:extLst>
              <a:ext uri="{FF2B5EF4-FFF2-40B4-BE49-F238E27FC236}">
                <a16:creationId xmlns:a16="http://schemas.microsoft.com/office/drawing/2014/main" id="{D7D985D0-71E5-FA4A-B888-53A25D5971AC}"/>
              </a:ext>
            </a:extLst>
          </p:cNvPr>
          <p:cNvSpPr txBox="1"/>
          <p:nvPr/>
        </p:nvSpPr>
        <p:spPr>
          <a:xfrm>
            <a:off x="8610600" y="5525353"/>
            <a:ext cx="2110514" cy="830997"/>
          </a:xfrm>
          <a:prstGeom prst="rect">
            <a:avLst/>
          </a:prstGeom>
          <a:noFill/>
        </p:spPr>
        <p:txBody>
          <a:bodyPr wrap="none" rtlCol="0">
            <a:spAutoFit/>
          </a:bodyPr>
          <a:lstStyle/>
          <a:p>
            <a:pPr algn="ctr"/>
            <a:r>
              <a:rPr lang="en-ZA" sz="2400" dirty="0"/>
              <a:t>Umesh </a:t>
            </a:r>
            <a:r>
              <a:rPr lang="en-ZA" sz="2400" dirty="0" err="1"/>
              <a:t>Vazirani</a:t>
            </a:r>
            <a:endParaRPr lang="en-US" sz="2400" dirty="0"/>
          </a:p>
          <a:p>
            <a:pPr algn="ctr"/>
            <a:r>
              <a:rPr lang="en-US" sz="2400" dirty="0"/>
              <a:t>(born 1959)</a:t>
            </a:r>
          </a:p>
        </p:txBody>
      </p:sp>
      <p:pic>
        <p:nvPicPr>
          <p:cNvPr id="2" name="Picture 1">
            <a:extLst>
              <a:ext uri="{FF2B5EF4-FFF2-40B4-BE49-F238E27FC236}">
                <a16:creationId xmlns:a16="http://schemas.microsoft.com/office/drawing/2014/main" id="{3C12B6DA-643E-2943-89D5-633E30E5946E}"/>
              </a:ext>
            </a:extLst>
          </p:cNvPr>
          <p:cNvPicPr>
            <a:picLocks noChangeAspect="1"/>
          </p:cNvPicPr>
          <p:nvPr/>
        </p:nvPicPr>
        <p:blipFill>
          <a:blip r:embed="rId3"/>
          <a:stretch>
            <a:fillRect/>
          </a:stretch>
        </p:blipFill>
        <p:spPr>
          <a:xfrm>
            <a:off x="7866336" y="593216"/>
            <a:ext cx="3591238" cy="4860797"/>
          </a:xfrm>
          <a:prstGeom prst="rect">
            <a:avLst/>
          </a:prstGeom>
        </p:spPr>
      </p:pic>
      <p:sp>
        <p:nvSpPr>
          <p:cNvPr id="6" name="Slide Number Placeholder 2">
            <a:extLst>
              <a:ext uri="{FF2B5EF4-FFF2-40B4-BE49-F238E27FC236}">
                <a16:creationId xmlns:a16="http://schemas.microsoft.com/office/drawing/2014/main" id="{3C3C3BF0-4C18-DF44-A453-9E582A69C638}"/>
              </a:ext>
            </a:extLst>
          </p:cNvPr>
          <p:cNvSpPr>
            <a:spLocks noGrp="1"/>
          </p:cNvSpPr>
          <p:nvPr>
            <p:ph type="sldNum" sz="quarter" idx="12"/>
          </p:nvPr>
        </p:nvSpPr>
        <p:spPr>
          <a:xfrm>
            <a:off x="0" y="6492875"/>
            <a:ext cx="1012371" cy="365125"/>
          </a:xfrm>
        </p:spPr>
        <p:txBody>
          <a:bodyPr/>
          <a:lstStyle/>
          <a:p>
            <a:fld id="{591A223C-FA10-BC46-A853-03BA373D023C}" type="slidenum">
              <a:rPr lang="en-US" smtClean="0"/>
              <a:t>23</a:t>
            </a:fld>
            <a:endParaRPr lang="en-US"/>
          </a:p>
        </p:txBody>
      </p:sp>
    </p:spTree>
    <p:extLst>
      <p:ext uri="{BB962C8B-B14F-4D97-AF65-F5344CB8AC3E}">
        <p14:creationId xmlns:p14="http://schemas.microsoft.com/office/powerpoint/2010/main" val="2789482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al Callout 10">
            <a:extLst>
              <a:ext uri="{FF2B5EF4-FFF2-40B4-BE49-F238E27FC236}">
                <a16:creationId xmlns:a16="http://schemas.microsoft.com/office/drawing/2014/main" id="{C3C9EE82-D736-1547-83CE-9A1ED026885E}"/>
              </a:ext>
            </a:extLst>
          </p:cNvPr>
          <p:cNvSpPr/>
          <p:nvPr/>
        </p:nvSpPr>
        <p:spPr>
          <a:xfrm>
            <a:off x="5946680" y="729301"/>
            <a:ext cx="2270234" cy="1183281"/>
          </a:xfrm>
          <a:prstGeom prst="wedgeEllipseCallout">
            <a:avLst>
              <a:gd name="adj1" fmla="val -62500"/>
              <a:gd name="adj2" fmla="val 70494"/>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3711964-8EA5-E24A-889C-6A775A8C8E4F}"/>
              </a:ext>
            </a:extLst>
          </p:cNvPr>
          <p:cNvSpPr>
            <a:spLocks noGrp="1"/>
          </p:cNvSpPr>
          <p:nvPr>
            <p:ph type="title"/>
          </p:nvPr>
        </p:nvSpPr>
        <p:spPr/>
        <p:txBody>
          <a:bodyPr/>
          <a:lstStyle/>
          <a:p>
            <a:r>
              <a:rPr lang="en-ZA" dirty="0"/>
              <a:t>Bernstein–</a:t>
            </a:r>
            <a:r>
              <a:rPr lang="en-ZA" dirty="0" err="1"/>
              <a:t>Vazirani</a:t>
            </a:r>
            <a:r>
              <a:rPr lang="en-ZA" dirty="0"/>
              <a:t>: The Hidden String Problem</a:t>
            </a:r>
            <a:endParaRPr lang="en-US" dirty="0"/>
          </a:p>
        </p:txBody>
      </p:sp>
      <p:sp>
        <p:nvSpPr>
          <p:cNvPr id="3" name="Slide Number Placeholder 2">
            <a:extLst>
              <a:ext uri="{FF2B5EF4-FFF2-40B4-BE49-F238E27FC236}">
                <a16:creationId xmlns:a16="http://schemas.microsoft.com/office/drawing/2014/main" id="{F61FE32F-0F8B-024B-A54E-CAF39A3E95D7}"/>
              </a:ext>
            </a:extLst>
          </p:cNvPr>
          <p:cNvSpPr>
            <a:spLocks noGrp="1"/>
          </p:cNvSpPr>
          <p:nvPr>
            <p:ph type="sldNum" sz="quarter" idx="12"/>
          </p:nvPr>
        </p:nvSpPr>
        <p:spPr/>
        <p:txBody>
          <a:bodyPr/>
          <a:lstStyle/>
          <a:p>
            <a:fld id="{591A223C-FA10-BC46-A853-03BA373D023C}" type="slidenum">
              <a:rPr lang="en-US" smtClean="0"/>
              <a:t>24</a:t>
            </a:fld>
            <a:endParaRPr lang="en-US"/>
          </a:p>
        </p:txBody>
      </p:sp>
      <p:pic>
        <p:nvPicPr>
          <p:cNvPr id="9" name="Graphic 8">
            <a:extLst>
              <a:ext uri="{FF2B5EF4-FFF2-40B4-BE49-F238E27FC236}">
                <a16:creationId xmlns:a16="http://schemas.microsoft.com/office/drawing/2014/main" id="{72ECA8BB-7BB3-EA47-957B-590AA23B35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70466" y="1847191"/>
            <a:ext cx="1115083" cy="1757100"/>
          </a:xfrm>
          <a:prstGeom prst="rect">
            <a:avLst/>
          </a:prstGeom>
        </p:spPr>
      </p:pic>
      <p:sp>
        <p:nvSpPr>
          <p:cNvPr id="10" name="TextBox 9">
            <a:extLst>
              <a:ext uri="{FF2B5EF4-FFF2-40B4-BE49-F238E27FC236}">
                <a16:creationId xmlns:a16="http://schemas.microsoft.com/office/drawing/2014/main" id="{F637F498-4118-F64A-89BF-CC64C80F1EE8}"/>
              </a:ext>
            </a:extLst>
          </p:cNvPr>
          <p:cNvSpPr txBox="1"/>
          <p:nvPr/>
        </p:nvSpPr>
        <p:spPr>
          <a:xfrm>
            <a:off x="6365367" y="962752"/>
            <a:ext cx="1189749" cy="830997"/>
          </a:xfrm>
          <a:prstGeom prst="rect">
            <a:avLst/>
          </a:prstGeom>
          <a:noFill/>
        </p:spPr>
        <p:txBody>
          <a:bodyPr wrap="none" rtlCol="0">
            <a:spAutoFit/>
          </a:bodyPr>
          <a:lstStyle/>
          <a:p>
            <a:r>
              <a:rPr lang="en-US" sz="2400" dirty="0">
                <a:latin typeface="Comic Sans MS" panose="030F0902030302020204" pitchFamily="66" charset="0"/>
              </a:rPr>
              <a:t>0,1,2,3</a:t>
            </a:r>
          </a:p>
          <a:p>
            <a:r>
              <a:rPr lang="en-US" sz="2400" dirty="0">
                <a:latin typeface="Comic Sans MS" panose="030F0902030302020204" pitchFamily="66" charset="0"/>
              </a:rPr>
              <a:t>4,5,6,7</a:t>
            </a:r>
          </a:p>
        </p:txBody>
      </p:sp>
      <p:sp>
        <p:nvSpPr>
          <p:cNvPr id="12" name="TextBox 11">
            <a:extLst>
              <a:ext uri="{FF2B5EF4-FFF2-40B4-BE49-F238E27FC236}">
                <a16:creationId xmlns:a16="http://schemas.microsoft.com/office/drawing/2014/main" id="{274315ED-C893-124C-9231-73AF81A5055A}"/>
              </a:ext>
            </a:extLst>
          </p:cNvPr>
          <p:cNvSpPr txBox="1"/>
          <p:nvPr/>
        </p:nvSpPr>
        <p:spPr>
          <a:xfrm>
            <a:off x="7523166" y="919358"/>
            <a:ext cx="453970" cy="707886"/>
          </a:xfrm>
          <a:prstGeom prst="rect">
            <a:avLst/>
          </a:prstGeom>
          <a:noFill/>
        </p:spPr>
        <p:txBody>
          <a:bodyPr wrap="none" rtlCol="0">
            <a:spAutoFit/>
          </a:bodyPr>
          <a:lstStyle/>
          <a:p>
            <a:r>
              <a:rPr lang="en-US" sz="4000" dirty="0">
                <a:latin typeface="Comic Sans MS" panose="030F0902030302020204" pitchFamily="66" charset="0"/>
              </a:rPr>
              <a:t>?</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D3B7FEA-FAD5-454C-A03F-6F34D9F9F355}"/>
                  </a:ext>
                </a:extLst>
              </p:cNvPr>
              <p:cNvSpPr/>
              <p:nvPr/>
            </p:nvSpPr>
            <p:spPr>
              <a:xfrm>
                <a:off x="2870199" y="6065007"/>
                <a:ext cx="6507744" cy="523220"/>
              </a:xfrm>
              <a:prstGeom prst="rect">
                <a:avLst/>
              </a:prstGeom>
              <a:solidFill>
                <a:schemeClr val="accent4">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𝑦</m:t>
                      </m:r>
                      <m:r>
                        <a:rPr lang="en-US" sz="2800" i="0">
                          <a:latin typeface="Cambria Math" panose="02040503050406030204" pitchFamily="18" charset="0"/>
                        </a:rPr>
                        <m:t>=</m:t>
                      </m:r>
                      <m:r>
                        <a:rPr lang="en-US" sz="2800" i="1">
                          <a:latin typeface="Cambria Math" panose="02040503050406030204" pitchFamily="18" charset="0"/>
                        </a:rPr>
                        <m:t>𝑓</m:t>
                      </m:r>
                      <m:r>
                        <a:rPr lang="en-US" sz="2800" i="0">
                          <a:latin typeface="Cambria Math" panose="02040503050406030204" pitchFamily="18" charset="0"/>
                        </a:rPr>
                        <m:t>(</m:t>
                      </m:r>
                      <m:r>
                        <a:rPr lang="en-US" sz="2800" i="1">
                          <a:latin typeface="Cambria Math" panose="02040503050406030204" pitchFamily="18" charset="0"/>
                        </a:rPr>
                        <m:t>𝑥</m:t>
                      </m:r>
                      <m:r>
                        <a:rPr lang="en-US" sz="2800" i="0">
                          <a:latin typeface="Cambria Math" panose="02040503050406030204" pitchFamily="18" charset="0"/>
                        </a:rPr>
                        <m:t>)=</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0">
                                  <a:latin typeface="Cambria Math" panose="02040503050406030204" pitchFamily="18" charset="0"/>
                                </a:rPr>
                                <m:t> </m:t>
                              </m:r>
                              <m:r>
                                <a:rPr lang="en-US" sz="2800" i="1">
                                  <a:latin typeface="Cambria Math" panose="02040503050406030204" pitchFamily="18" charset="0"/>
                                </a:rPr>
                                <m:t>𝑥</m:t>
                              </m:r>
                            </m:e>
                            <m:sub>
                              <m:r>
                                <a:rPr lang="en-US" sz="2800" i="0">
                                  <a:latin typeface="Cambria Math" panose="02040503050406030204" pitchFamily="18" charset="0"/>
                                </a:rPr>
                                <m:t>0</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en-US" sz="2800" i="0">
                                  <a:latin typeface="Cambria Math" panose="02040503050406030204" pitchFamily="18" charset="0"/>
                                </a:rPr>
                                <m:t>0</m:t>
                              </m:r>
                            </m:sub>
                          </m:sSub>
                        </m:e>
                      </m:d>
                      <m:r>
                        <a:rPr lang="en-US" sz="2800" i="0" smtClean="0">
                          <a:latin typeface="Cambria Math" panose="02040503050406030204" pitchFamily="18" charset="0"/>
                        </a:rPr>
                        <m:t> </m:t>
                      </m:r>
                      <m:r>
                        <a:rPr lang="en-US" sz="2800" i="1" smtClean="0">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0">
                                  <a:latin typeface="Cambria Math" panose="02040503050406030204" pitchFamily="18" charset="0"/>
                                </a:rPr>
                                <m:t> </m:t>
                              </m:r>
                              <m:r>
                                <a:rPr lang="en-US" sz="2800" i="1">
                                  <a:latin typeface="Cambria Math" panose="02040503050406030204" pitchFamily="18" charset="0"/>
                                </a:rPr>
                                <m:t>𝑥</m:t>
                              </m:r>
                            </m:e>
                            <m:sub>
                              <m:r>
                                <a:rPr lang="en-US" sz="2800" i="0">
                                  <a:latin typeface="Cambria Math" panose="02040503050406030204" pitchFamily="18" charset="0"/>
                                </a:rPr>
                                <m:t>1</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en-US" sz="2800" i="0">
                                  <a:latin typeface="Cambria Math" panose="02040503050406030204" pitchFamily="18" charset="0"/>
                                </a:rPr>
                                <m:t>1</m:t>
                              </m:r>
                            </m:sub>
                          </m:sSub>
                        </m:e>
                      </m:d>
                      <m:r>
                        <a:rPr lang="en-US" sz="2800" i="1">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0">
                                  <a:latin typeface="Cambria Math" panose="02040503050406030204" pitchFamily="18" charset="0"/>
                                </a:rPr>
                                <m:t> </m:t>
                              </m:r>
                              <m:r>
                                <a:rPr lang="en-US" sz="2800" i="1">
                                  <a:latin typeface="Cambria Math" panose="02040503050406030204" pitchFamily="18" charset="0"/>
                                </a:rPr>
                                <m:t>𝑥</m:t>
                              </m:r>
                            </m:e>
                            <m:sub>
                              <m:r>
                                <a:rPr lang="en-US" sz="2800" i="0">
                                  <a:latin typeface="Cambria Math" panose="02040503050406030204" pitchFamily="18" charset="0"/>
                                </a:rPr>
                                <m:t>2</m:t>
                              </m:r>
                            </m:sub>
                          </m:sSub>
                          <m:r>
                            <a:rPr lang="en-US" sz="2800" i="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en-US" sz="2800" i="0">
                                  <a:latin typeface="Cambria Math" panose="02040503050406030204" pitchFamily="18" charset="0"/>
                                </a:rPr>
                                <m:t>2</m:t>
                              </m:r>
                            </m:sub>
                          </m:sSub>
                        </m:e>
                      </m:d>
                    </m:oMath>
                  </m:oMathPara>
                </a14:m>
                <a:endParaRPr lang="en-US" sz="2800" dirty="0"/>
              </a:p>
            </p:txBody>
          </p:sp>
        </mc:Choice>
        <mc:Fallback xmlns="">
          <p:sp>
            <p:nvSpPr>
              <p:cNvPr id="14" name="Rectangle 13">
                <a:extLst>
                  <a:ext uri="{FF2B5EF4-FFF2-40B4-BE49-F238E27FC236}">
                    <a16:creationId xmlns:a16="http://schemas.microsoft.com/office/drawing/2014/main" id="{DD3B7FEA-FAD5-454C-A03F-6F34D9F9F355}"/>
                  </a:ext>
                </a:extLst>
              </p:cNvPr>
              <p:cNvSpPr>
                <a:spLocks noRot="1" noChangeAspect="1" noMove="1" noResize="1" noEditPoints="1" noAdjustHandles="1" noChangeArrowheads="1" noChangeShapeType="1" noTextEdit="1"/>
              </p:cNvSpPr>
              <p:nvPr/>
            </p:nvSpPr>
            <p:spPr>
              <a:xfrm>
                <a:off x="2870199" y="6065007"/>
                <a:ext cx="6507744" cy="523220"/>
              </a:xfrm>
              <a:prstGeom prst="rect">
                <a:avLst/>
              </a:prstGeom>
              <a:blipFill>
                <a:blip r:embed="rId5"/>
                <a:stretch>
                  <a:fillRect b="-19048"/>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2A9BA544-FEBE-F64B-A028-4340B7FFB241}"/>
              </a:ext>
            </a:extLst>
          </p:cNvPr>
          <p:cNvGrpSpPr/>
          <p:nvPr/>
        </p:nvGrpSpPr>
        <p:grpSpPr>
          <a:xfrm>
            <a:off x="1391524" y="1391465"/>
            <a:ext cx="2376000" cy="4501591"/>
            <a:chOff x="1385762" y="1659385"/>
            <a:chExt cx="2376000" cy="4501591"/>
          </a:xfrm>
        </p:grpSpPr>
        <p:sp>
          <p:nvSpPr>
            <p:cNvPr id="21" name="Rounded Rectangle 20">
              <a:extLst>
                <a:ext uri="{FF2B5EF4-FFF2-40B4-BE49-F238E27FC236}">
                  <a16:creationId xmlns:a16="http://schemas.microsoft.com/office/drawing/2014/main" id="{0DF4E837-2113-B144-8EC5-5FC3F236B21A}"/>
                </a:ext>
              </a:extLst>
            </p:cNvPr>
            <p:cNvSpPr/>
            <p:nvPr/>
          </p:nvSpPr>
          <p:spPr>
            <a:xfrm>
              <a:off x="1385762" y="1659385"/>
              <a:ext cx="2376000" cy="4501591"/>
            </a:xfrm>
            <a:prstGeom prst="roundRect">
              <a:avLst>
                <a:gd name="adj" fmla="val 11969"/>
              </a:avLst>
            </a:prstGeom>
            <a:solidFill>
              <a:srgbClr val="FFD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D8DEC7FB-1353-184C-ABBB-771C7592A285}"/>
                </a:ext>
              </a:extLst>
            </p:cNvPr>
            <p:cNvSpPr/>
            <p:nvPr/>
          </p:nvSpPr>
          <p:spPr>
            <a:xfrm>
              <a:off x="1549832" y="2046591"/>
              <a:ext cx="2074324" cy="3639209"/>
            </a:xfrm>
            <a:prstGeom prst="rect">
              <a:avLst/>
            </a:pr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AE21E7BA-A545-C64A-AA06-5F37B6DD2ADE}"/>
              </a:ext>
            </a:extLst>
          </p:cNvPr>
          <p:cNvPicPr>
            <a:picLocks noChangeAspect="1"/>
          </p:cNvPicPr>
          <p:nvPr/>
        </p:nvPicPr>
        <p:blipFill>
          <a:blip r:embed="rId6"/>
          <a:stretch>
            <a:fillRect/>
          </a:stretch>
        </p:blipFill>
        <p:spPr>
          <a:xfrm>
            <a:off x="441434" y="1459986"/>
            <a:ext cx="4857531" cy="4501591"/>
          </a:xfrm>
          <a:prstGeom prst="rect">
            <a:avLst/>
          </a:prstGeom>
        </p:spPr>
      </p:pic>
      <p:grpSp>
        <p:nvGrpSpPr>
          <p:cNvPr id="25" name="Group 24">
            <a:extLst>
              <a:ext uri="{FF2B5EF4-FFF2-40B4-BE49-F238E27FC236}">
                <a16:creationId xmlns:a16="http://schemas.microsoft.com/office/drawing/2014/main" id="{23B95DD8-7288-FB48-B6EC-13D36578D0B9}"/>
              </a:ext>
            </a:extLst>
          </p:cNvPr>
          <p:cNvGrpSpPr/>
          <p:nvPr/>
        </p:nvGrpSpPr>
        <p:grpSpPr>
          <a:xfrm>
            <a:off x="5501627" y="2584055"/>
            <a:ext cx="6338595" cy="2740947"/>
            <a:chOff x="5501627" y="2584055"/>
            <a:chExt cx="6338595" cy="2740947"/>
          </a:xfrm>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2E705A9C-03DC-8149-82B7-6E1DDB1E4A4B}"/>
                    </a:ext>
                  </a:extLst>
                </p:cNvPr>
                <p:cNvSpPr/>
                <p:nvPr/>
              </p:nvSpPr>
              <p:spPr>
                <a:xfrm>
                  <a:off x="6569620" y="3435238"/>
                  <a:ext cx="3901324" cy="13666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800" i="1" smtClean="0">
                                <a:latin typeface="Cambria Math" panose="02040503050406030204" pitchFamily="18" charset="0"/>
                              </a:rPr>
                            </m:ctrlPr>
                          </m:mPr>
                          <m:mr>
                            <m:e>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𝑥</m:t>
                                  </m:r>
                                </m:e>
                                <m:sub>
                                  <m:r>
                                    <a:rPr lang="en-US" sz="2800">
                                      <a:latin typeface="Cambria Math" panose="02040503050406030204" pitchFamily="18" charset="0"/>
                                    </a:rPr>
                                    <m:t>0</m:t>
                                  </m:r>
                                </m:sub>
                              </m:sSub>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𝑥</m:t>
                                  </m:r>
                                </m:e>
                                <m:sub>
                                  <m:r>
                                    <a:rPr lang="sr-Latn-RS" sz="2800" i="1">
                                      <a:latin typeface="Cambria Math" panose="02040503050406030204" pitchFamily="18" charset="0"/>
                                    </a:rPr>
                                    <m:t>1</m:t>
                                  </m:r>
                                </m:sub>
                              </m:sSub>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𝑥</m:t>
                                  </m:r>
                                </m:e>
                                <m:sub>
                                  <m:r>
                                    <a:rPr lang="sr-Latn-RS" sz="2800" i="1">
                                      <a:latin typeface="Cambria Math" panose="02040503050406030204" pitchFamily="18" charset="0"/>
                                    </a:rPr>
                                    <m:t>2</m:t>
                                  </m:r>
                                </m:sub>
                              </m:sSub>
                              <m:r>
                                <a:rPr lang="en-US" sz="2800" i="0">
                                  <a:latin typeface="Cambria Math" panose="02040503050406030204" pitchFamily="18" charset="0"/>
                                </a:rPr>
                                <m:t>=100→</m:t>
                              </m:r>
                              <m:r>
                                <a:rPr lang="en-US" sz="2800" i="1">
                                  <a:latin typeface="Cambria Math" panose="02040503050406030204" pitchFamily="18" charset="0"/>
                                </a:rPr>
                                <m:t>𝑦</m:t>
                              </m:r>
                              <m:r>
                                <a:rPr lang="en-US" sz="2800" i="0">
                                  <a:latin typeface="Cambria Math" panose="02040503050406030204" pitchFamily="18" charset="0"/>
                                </a:rPr>
                                <m:t>=1</m:t>
                              </m:r>
                            </m:e>
                          </m:mr>
                          <m:mr>
                            <m:e>
                              <m:sSub>
                                <m:sSubPr>
                                  <m:ctrlPr>
                                    <a:rPr lang="en-US" sz="2800" i="1">
                                      <a:latin typeface="Cambria Math" panose="02040503050406030204" pitchFamily="18" charset="0"/>
                                    </a:rPr>
                                  </m:ctrlPr>
                                </m:sSubPr>
                                <m:e>
                                  <m:r>
                                    <a:rPr lang="sr-Latn-RS" sz="2800" i="1">
                                      <a:latin typeface="Cambria Math" panose="02040503050406030204" pitchFamily="18" charset="0"/>
                                    </a:rPr>
                                    <m:t>𝑥</m:t>
                                  </m:r>
                                </m:e>
                                <m:sub>
                                  <m:r>
                                    <a:rPr lang="en-US" sz="2800">
                                      <a:latin typeface="Cambria Math" panose="02040503050406030204" pitchFamily="18" charset="0"/>
                                    </a:rPr>
                                    <m:t>0</m:t>
                                  </m:r>
                                </m:sub>
                              </m:sSub>
                              <m:sSub>
                                <m:sSubPr>
                                  <m:ctrlPr>
                                    <a:rPr lang="en-US" sz="2800" i="1">
                                      <a:latin typeface="Cambria Math" panose="02040503050406030204" pitchFamily="18" charset="0"/>
                                    </a:rPr>
                                  </m:ctrlPr>
                                </m:sSubPr>
                                <m:e>
                                  <m:r>
                                    <a:rPr lang="sr-Latn-RS" sz="2800" i="1">
                                      <a:latin typeface="Cambria Math" panose="02040503050406030204" pitchFamily="18" charset="0"/>
                                    </a:rPr>
                                    <m:t>𝑥</m:t>
                                  </m:r>
                                </m:e>
                                <m:sub>
                                  <m:r>
                                    <a:rPr lang="sr-Latn-RS" sz="2800" i="1">
                                      <a:latin typeface="Cambria Math" panose="02040503050406030204" pitchFamily="18" charset="0"/>
                                    </a:rPr>
                                    <m:t>1</m:t>
                                  </m:r>
                                </m:sub>
                              </m:sSub>
                              <m:sSub>
                                <m:sSubPr>
                                  <m:ctrlPr>
                                    <a:rPr lang="en-US" sz="2800" i="1">
                                      <a:latin typeface="Cambria Math" panose="02040503050406030204" pitchFamily="18" charset="0"/>
                                    </a:rPr>
                                  </m:ctrlPr>
                                </m:sSubPr>
                                <m:e>
                                  <m:r>
                                    <a:rPr lang="sr-Latn-RS" sz="2800" i="1">
                                      <a:latin typeface="Cambria Math" panose="02040503050406030204" pitchFamily="18" charset="0"/>
                                    </a:rPr>
                                    <m:t>𝑥</m:t>
                                  </m:r>
                                </m:e>
                                <m:sub>
                                  <m:r>
                                    <a:rPr lang="sr-Latn-RS" sz="2800" i="1">
                                      <a:latin typeface="Cambria Math" panose="02040503050406030204" pitchFamily="18" charset="0"/>
                                    </a:rPr>
                                    <m:t>2</m:t>
                                  </m:r>
                                </m:sub>
                              </m:sSub>
                              <m:r>
                                <a:rPr lang="en-US" sz="2800" i="0">
                                  <a:latin typeface="Cambria Math" panose="02040503050406030204" pitchFamily="18" charset="0"/>
                                </a:rPr>
                                <m:t>=010→</m:t>
                              </m:r>
                              <m:r>
                                <a:rPr lang="en-US" sz="2800" i="1">
                                  <a:latin typeface="Cambria Math" panose="02040503050406030204" pitchFamily="18" charset="0"/>
                                </a:rPr>
                                <m:t>𝑦</m:t>
                              </m:r>
                              <m:r>
                                <a:rPr lang="en-US" sz="2800" i="0">
                                  <a:latin typeface="Cambria Math" panose="02040503050406030204" pitchFamily="18" charset="0"/>
                                </a:rPr>
                                <m:t>=0</m:t>
                              </m:r>
                            </m:e>
                          </m:mr>
                          <m:mr>
                            <m:e>
                              <m:sSub>
                                <m:sSubPr>
                                  <m:ctrlPr>
                                    <a:rPr lang="en-US" sz="2800" i="1">
                                      <a:latin typeface="Cambria Math" panose="02040503050406030204" pitchFamily="18" charset="0"/>
                                    </a:rPr>
                                  </m:ctrlPr>
                                </m:sSubPr>
                                <m:e>
                                  <m:r>
                                    <a:rPr lang="sr-Latn-RS" sz="2800" i="1">
                                      <a:latin typeface="Cambria Math" panose="02040503050406030204" pitchFamily="18" charset="0"/>
                                    </a:rPr>
                                    <m:t>𝑥</m:t>
                                  </m:r>
                                </m:e>
                                <m:sub>
                                  <m:r>
                                    <a:rPr lang="en-US" sz="2800">
                                      <a:latin typeface="Cambria Math" panose="02040503050406030204" pitchFamily="18" charset="0"/>
                                    </a:rPr>
                                    <m:t>0</m:t>
                                  </m:r>
                                </m:sub>
                              </m:sSub>
                              <m:sSub>
                                <m:sSubPr>
                                  <m:ctrlPr>
                                    <a:rPr lang="en-US" sz="2800" i="1">
                                      <a:latin typeface="Cambria Math" panose="02040503050406030204" pitchFamily="18" charset="0"/>
                                    </a:rPr>
                                  </m:ctrlPr>
                                </m:sSubPr>
                                <m:e>
                                  <m:r>
                                    <a:rPr lang="sr-Latn-RS" sz="2800" i="1">
                                      <a:latin typeface="Cambria Math" panose="02040503050406030204" pitchFamily="18" charset="0"/>
                                    </a:rPr>
                                    <m:t>𝑥</m:t>
                                  </m:r>
                                </m:e>
                                <m:sub>
                                  <m:r>
                                    <a:rPr lang="sr-Latn-RS" sz="2800" i="1">
                                      <a:latin typeface="Cambria Math" panose="02040503050406030204" pitchFamily="18" charset="0"/>
                                    </a:rPr>
                                    <m:t>1</m:t>
                                  </m:r>
                                </m:sub>
                              </m:sSub>
                              <m:sSub>
                                <m:sSubPr>
                                  <m:ctrlPr>
                                    <a:rPr lang="en-US" sz="2800" i="1">
                                      <a:latin typeface="Cambria Math" panose="02040503050406030204" pitchFamily="18" charset="0"/>
                                    </a:rPr>
                                  </m:ctrlPr>
                                </m:sSubPr>
                                <m:e>
                                  <m:r>
                                    <a:rPr lang="sr-Latn-RS" sz="2800" i="1">
                                      <a:latin typeface="Cambria Math" panose="02040503050406030204" pitchFamily="18" charset="0"/>
                                    </a:rPr>
                                    <m:t>𝑥</m:t>
                                  </m:r>
                                </m:e>
                                <m:sub>
                                  <m:r>
                                    <a:rPr lang="sr-Latn-RS" sz="2800" i="1">
                                      <a:latin typeface="Cambria Math" panose="02040503050406030204" pitchFamily="18" charset="0"/>
                                    </a:rPr>
                                    <m:t>2</m:t>
                                  </m:r>
                                </m:sub>
                              </m:sSub>
                              <m:r>
                                <a:rPr lang="en-US" sz="2800" i="0">
                                  <a:latin typeface="Cambria Math" panose="02040503050406030204" pitchFamily="18" charset="0"/>
                                </a:rPr>
                                <m:t>=001→</m:t>
                              </m:r>
                              <m:r>
                                <a:rPr lang="en-US" sz="2800" i="1">
                                  <a:latin typeface="Cambria Math" panose="02040503050406030204" pitchFamily="18" charset="0"/>
                                </a:rPr>
                                <m:t>𝑦</m:t>
                              </m:r>
                              <m:r>
                                <a:rPr lang="en-US" sz="2800" i="0">
                                  <a:latin typeface="Cambria Math" panose="02040503050406030204" pitchFamily="18" charset="0"/>
                                </a:rPr>
                                <m:t>=1</m:t>
                              </m:r>
                            </m:e>
                          </m:mr>
                        </m:m>
                      </m:oMath>
                    </m:oMathPara>
                  </a14:m>
                  <a:endParaRPr lang="en-US" sz="2800" dirty="0"/>
                </a:p>
              </p:txBody>
            </p:sp>
          </mc:Choice>
          <mc:Fallback xmlns="">
            <p:sp>
              <p:nvSpPr>
                <p:cNvPr id="13" name="Rectangle 12">
                  <a:extLst>
                    <a:ext uri="{FF2B5EF4-FFF2-40B4-BE49-F238E27FC236}">
                      <a16:creationId xmlns:a16="http://schemas.microsoft.com/office/drawing/2014/main" id="{2E705A9C-03DC-8149-82B7-6E1DDB1E4A4B}"/>
                    </a:ext>
                  </a:extLst>
                </p:cNvPr>
                <p:cNvSpPr>
                  <a:spLocks noRot="1" noChangeAspect="1" noMove="1" noResize="1" noEditPoints="1" noAdjustHandles="1" noChangeArrowheads="1" noChangeShapeType="1" noTextEdit="1"/>
                </p:cNvSpPr>
                <p:nvPr/>
              </p:nvSpPr>
              <p:spPr>
                <a:xfrm>
                  <a:off x="6569620" y="3435238"/>
                  <a:ext cx="3901324" cy="1366656"/>
                </a:xfrm>
                <a:prstGeom prst="rect">
                  <a:avLst/>
                </a:prstGeom>
                <a:blipFill>
                  <a:blip r:embed="rId7"/>
                  <a:stretch>
                    <a:fillRect b="-18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F863934-7087-7143-BF67-6242636C7239}"/>
                    </a:ext>
                  </a:extLst>
                </p:cNvPr>
                <p:cNvSpPr txBox="1"/>
                <p:nvPr/>
              </p:nvSpPr>
              <p:spPr>
                <a:xfrm>
                  <a:off x="5501627" y="2584055"/>
                  <a:ext cx="6115328" cy="523220"/>
                </a:xfrm>
                <a:prstGeom prst="rect">
                  <a:avLst/>
                </a:prstGeom>
                <a:solidFill>
                  <a:schemeClr val="bg1">
                    <a:lumMod val="95000"/>
                  </a:schemeClr>
                </a:solidFill>
              </p:spPr>
              <p:txBody>
                <a:bodyPr wrap="none" rtlCol="0">
                  <a:spAutoFit/>
                </a:bodyPr>
                <a:lstStyle/>
                <a:p>
                  <a:r>
                    <a:rPr lang="en-US" sz="2800" dirty="0"/>
                    <a:t>Forgotten password: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en-US" sz="2800">
                              <a:latin typeface="Cambria Math" panose="02040503050406030204" pitchFamily="18" charset="0"/>
                            </a:rPr>
                            <m:t>0</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sr-Latn-RS" sz="2800" b="0" i="1" smtClean="0">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𝑠</m:t>
                          </m:r>
                        </m:e>
                        <m:sub>
                          <m:r>
                            <a:rPr lang="sr-Latn-RS" sz="2800" b="0" i="1" smtClean="0">
                              <a:latin typeface="Cambria Math" panose="02040503050406030204" pitchFamily="18" charset="0"/>
                            </a:rPr>
                            <m:t>2</m:t>
                          </m:r>
                        </m:sub>
                      </m:sSub>
                      <m:r>
                        <a:rPr lang="sr-Latn-RS" sz="2800" b="0" i="1" smtClean="0">
                          <a:latin typeface="Cambria Math" panose="02040503050406030204" pitchFamily="18" charset="0"/>
                        </a:rPr>
                        <m:t>=101=5</m:t>
                      </m:r>
                    </m:oMath>
                  </a14:m>
                  <a:r>
                    <a:rPr lang="en-US" sz="2800" dirty="0"/>
                    <a:t>  </a:t>
                  </a:r>
                </a:p>
              </p:txBody>
            </p:sp>
          </mc:Choice>
          <mc:Fallback xmlns="">
            <p:sp>
              <p:nvSpPr>
                <p:cNvPr id="15" name="TextBox 14">
                  <a:extLst>
                    <a:ext uri="{FF2B5EF4-FFF2-40B4-BE49-F238E27FC236}">
                      <a16:creationId xmlns:a16="http://schemas.microsoft.com/office/drawing/2014/main" id="{9F863934-7087-7143-BF67-6242636C7239}"/>
                    </a:ext>
                  </a:extLst>
                </p:cNvPr>
                <p:cNvSpPr txBox="1">
                  <a:spLocks noRot="1" noChangeAspect="1" noMove="1" noResize="1" noEditPoints="1" noAdjustHandles="1" noChangeArrowheads="1" noChangeShapeType="1" noTextEdit="1"/>
                </p:cNvSpPr>
                <p:nvPr/>
              </p:nvSpPr>
              <p:spPr>
                <a:xfrm>
                  <a:off x="5501627" y="2584055"/>
                  <a:ext cx="6115328" cy="523220"/>
                </a:xfrm>
                <a:prstGeom prst="rect">
                  <a:avLst/>
                </a:prstGeom>
                <a:blipFill>
                  <a:blip r:embed="rId8"/>
                  <a:stretch>
                    <a:fillRect l="-1863" t="-9302" b="-27907"/>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2F48F2DD-9E66-DE4D-B8B1-E7ADD7D35CA7}"/>
                </a:ext>
              </a:extLst>
            </p:cNvPr>
            <p:cNvCxnSpPr>
              <a:cxnSpLocks/>
            </p:cNvCxnSpPr>
            <p:nvPr/>
          </p:nvCxnSpPr>
          <p:spPr>
            <a:xfrm>
              <a:off x="10470944" y="3472315"/>
              <a:ext cx="36576" cy="1172837"/>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0A80DC06-D3EC-6B4C-85BC-97436B383D3E}"/>
                    </a:ext>
                  </a:extLst>
                </p:cNvPr>
                <p:cNvSpPr/>
                <p:nvPr/>
              </p:nvSpPr>
              <p:spPr>
                <a:xfrm>
                  <a:off x="10311470" y="4801782"/>
                  <a:ext cx="1528752" cy="523220"/>
                </a:xfrm>
                <a:prstGeom prst="rect">
                  <a:avLst/>
                </a:prstGeom>
                <a:solidFill>
                  <a:schemeClr val="accent5">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i="1">
                            <a:latin typeface="Cambria Math" panose="02040503050406030204" pitchFamily="18" charset="0"/>
                          </a:rPr>
                          <m:t>101=5</m:t>
                        </m:r>
                      </m:oMath>
                    </m:oMathPara>
                  </a14:m>
                  <a:endParaRPr lang="en-US" sz="2800" dirty="0"/>
                </a:p>
              </p:txBody>
            </p:sp>
          </mc:Choice>
          <mc:Fallback xmlns="">
            <p:sp>
              <p:nvSpPr>
                <p:cNvPr id="24" name="Rectangle 23">
                  <a:extLst>
                    <a:ext uri="{FF2B5EF4-FFF2-40B4-BE49-F238E27FC236}">
                      <a16:creationId xmlns:a16="http://schemas.microsoft.com/office/drawing/2014/main" id="{0A80DC06-D3EC-6B4C-85BC-97436B383D3E}"/>
                    </a:ext>
                  </a:extLst>
                </p:cNvPr>
                <p:cNvSpPr>
                  <a:spLocks noRot="1" noChangeAspect="1" noMove="1" noResize="1" noEditPoints="1" noAdjustHandles="1" noChangeArrowheads="1" noChangeShapeType="1" noTextEdit="1"/>
                </p:cNvSpPr>
                <p:nvPr/>
              </p:nvSpPr>
              <p:spPr>
                <a:xfrm>
                  <a:off x="10311470" y="4801782"/>
                  <a:ext cx="1528752" cy="523220"/>
                </a:xfrm>
                <a:prstGeom prst="rect">
                  <a:avLst/>
                </a:prstGeom>
                <a:blipFill>
                  <a:blip r:embed="rId9"/>
                  <a:stretch>
                    <a:fillRect/>
                  </a:stretch>
                </a:blipFill>
              </p:spPr>
              <p:txBody>
                <a:bodyPr/>
                <a:lstStyle/>
                <a:p>
                  <a:r>
                    <a:rPr lang="en-US">
                      <a:noFill/>
                    </a:rPr>
                    <a:t> </a:t>
                  </a:r>
                </a:p>
              </p:txBody>
            </p:sp>
          </mc:Fallback>
        </mc:AlternateContent>
      </p:grpSp>
      <p:pic>
        <p:nvPicPr>
          <p:cNvPr id="5" name="Picture 4">
            <a:extLst>
              <a:ext uri="{FF2B5EF4-FFF2-40B4-BE49-F238E27FC236}">
                <a16:creationId xmlns:a16="http://schemas.microsoft.com/office/drawing/2014/main" id="{27BCBC22-93F9-0349-924D-55AF5FC55704}"/>
              </a:ext>
            </a:extLst>
          </p:cNvPr>
          <p:cNvPicPr>
            <a:picLocks noChangeAspect="1"/>
          </p:cNvPicPr>
          <p:nvPr/>
        </p:nvPicPr>
        <p:blipFill>
          <a:blip r:embed="rId10"/>
          <a:stretch>
            <a:fillRect/>
          </a:stretch>
        </p:blipFill>
        <p:spPr>
          <a:xfrm>
            <a:off x="3951455" y="1459986"/>
            <a:ext cx="1448841" cy="2231772"/>
          </a:xfrm>
          <a:prstGeom prst="rect">
            <a:avLst/>
          </a:prstGeom>
        </p:spPr>
      </p:pic>
    </p:spTree>
    <p:extLst>
      <p:ext uri="{BB962C8B-B14F-4D97-AF65-F5344CB8AC3E}">
        <p14:creationId xmlns:p14="http://schemas.microsoft.com/office/powerpoint/2010/main" val="264289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dissolv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3474D-9E79-D24F-BD6F-AD46CDB9C5DD}"/>
              </a:ext>
            </a:extLst>
          </p:cNvPr>
          <p:cNvSpPr>
            <a:spLocks noGrp="1"/>
          </p:cNvSpPr>
          <p:nvPr>
            <p:ph type="title"/>
          </p:nvPr>
        </p:nvSpPr>
        <p:spPr/>
        <p:txBody>
          <a:bodyPr/>
          <a:lstStyle/>
          <a:p>
            <a:r>
              <a:rPr lang="en-ZA" dirty="0"/>
              <a:t>The Bernstein–</a:t>
            </a:r>
            <a:r>
              <a:rPr lang="en-ZA" dirty="0" err="1"/>
              <a:t>Vazirani</a:t>
            </a:r>
            <a:r>
              <a:rPr lang="en-ZA" dirty="0"/>
              <a:t> Problem</a:t>
            </a:r>
            <a:endParaRPr lang="en-US" dirty="0"/>
          </a:p>
        </p:txBody>
      </p:sp>
      <p:sp>
        <p:nvSpPr>
          <p:cNvPr id="3" name="Slide Number Placeholder 2">
            <a:extLst>
              <a:ext uri="{FF2B5EF4-FFF2-40B4-BE49-F238E27FC236}">
                <a16:creationId xmlns:a16="http://schemas.microsoft.com/office/drawing/2014/main" id="{9C445608-EF0F-7B4E-8FCC-0288A3035AAE}"/>
              </a:ext>
            </a:extLst>
          </p:cNvPr>
          <p:cNvSpPr>
            <a:spLocks noGrp="1"/>
          </p:cNvSpPr>
          <p:nvPr>
            <p:ph type="sldNum" sz="quarter" idx="12"/>
          </p:nvPr>
        </p:nvSpPr>
        <p:spPr/>
        <p:txBody>
          <a:bodyPr/>
          <a:lstStyle/>
          <a:p>
            <a:fld id="{591A223C-FA10-BC46-A853-03BA373D023C}" type="slidenum">
              <a:rPr lang="en-US" smtClean="0"/>
              <a:t>25</a:t>
            </a:fld>
            <a:endParaRPr lang="en-US"/>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87830F66-2BFB-6C4F-851C-E17CA71F327A}"/>
                  </a:ext>
                </a:extLst>
              </p:cNvPr>
              <p:cNvSpPr/>
              <p:nvPr/>
            </p:nvSpPr>
            <p:spPr>
              <a:xfrm>
                <a:off x="546666" y="3307927"/>
                <a:ext cx="11398469" cy="2031325"/>
              </a:xfrm>
              <a:prstGeom prst="rect">
                <a:avLst/>
              </a:prstGeom>
            </p:spPr>
            <p:txBody>
              <a:bodyPr wrap="square">
                <a:spAutoFit/>
              </a:bodyPr>
              <a:lstStyle/>
              <a:p>
                <a:pPr algn="ctr">
                  <a:spcAft>
                    <a:spcPts val="1200"/>
                  </a:spcAft>
                </a:pPr>
                <a:r>
                  <a:rPr lang="sr-Latn-RS" sz="2400" dirty="0">
                    <a:latin typeface="Cambria" panose="02040503050406030204" pitchFamily="18" charset="0"/>
                    <a:ea typeface="Times New Roman" panose="02020603050405020304" pitchFamily="18" charset="0"/>
                    <a:cs typeface="Times New Roman" panose="02020603050405020304" pitchFamily="18" charset="0"/>
                  </a:rPr>
                  <a:t>Let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𝑓</m:t>
                    </m:r>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pPr>
                      <m:e>
                        <m:d>
                          <m:dPr>
                            <m:begChr m:val="{"/>
                            <m:endChr m:val="}"/>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2400" i="1">
                            <a:latin typeface="Cambria Math" panose="02040503050406030204" pitchFamily="18" charset="0"/>
                            <a:ea typeface="Times New Roman" panose="02020603050405020304" pitchFamily="18" charset="0"/>
                            <a:cs typeface="Times New Roman" panose="02020603050405020304" pitchFamily="18" charset="0"/>
                          </a:rPr>
                          <m:t>𝑛</m:t>
                        </m:r>
                      </m:sup>
                    </m:sSup>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0,1</m:t>
                        </m:r>
                      </m:e>
                    </m:d>
                  </m:oMath>
                </a14:m>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r>
                  <a:rPr lang="en-ZA" sz="2400" dirty="0"/>
                  <a:t>be a function that maps an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𝑛</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ZA" sz="2400" dirty="0"/>
                  <a:t>-bit input string</a:t>
                </a:r>
                <a:r>
                  <a:rPr lang="sr-Latn-RS" sz="2400" dirty="0">
                    <a:latin typeface="Cambria" panose="02040503050406030204" pitchFamily="18" charset="0"/>
                    <a:cs typeface="Times New Roman" panose="02020603050405020304" pitchFamily="18" charset="0"/>
                  </a:rPr>
                  <a:t>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0</m:t>
                        </m:r>
                      </m:sub>
                    </m:sSub>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e>
                      <m:sub>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𝑛</m:t>
                        </m:r>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−1</m:t>
                        </m:r>
                      </m:sub>
                    </m:sSub>
                  </m:oMath>
                </a14:m>
                <a:endParaRPr lang="sr-Latn-RS" sz="24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200"/>
                  </a:spcAft>
                </a:pPr>
                <a:r>
                  <a:rPr lang="en-ZA" sz="2400" dirty="0"/>
                  <a:t>to a single-bit output, defined as the bitwise inner product modulo 2</a:t>
                </a:r>
                <a:endParaRPr lang="en-ZA" sz="24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200"/>
                  </a:spcAft>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𝑓</m:t>
                      </m:r>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e>
                      </m:d>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𝑠</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𝑚𝑜𝑑</m:t>
                      </m:r>
                      <m:r>
                        <a:rPr lang="sr-Latn-RS" sz="2400" i="1">
                          <a:latin typeface="Cambria Math" panose="02040503050406030204" pitchFamily="18" charset="0"/>
                          <a:ea typeface="Times New Roman" panose="02020603050405020304" pitchFamily="18" charset="0"/>
                          <a:cs typeface="Times New Roman" panose="02020603050405020304" pitchFamily="18" charset="0"/>
                        </a:rPr>
                        <m:t> 2)=</m:t>
                      </m:r>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0</m:t>
                              </m:r>
                            </m:sub>
                          </m:sSub>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0</m:t>
                              </m:r>
                            </m:sub>
                          </m:sSub>
                        </m:e>
                      </m:d>
                      <m:r>
                        <a:rPr lang="sr-Latn-RS" sz="2400" i="1">
                          <a:latin typeface="Cambria Math" panose="02040503050406030204" pitchFamily="18" charset="0"/>
                          <a:ea typeface="Times New Roman" panose="02020603050405020304" pitchFamily="18" charset="0"/>
                          <a:cs typeface="Times New Roman" panose="02020603050405020304" pitchFamily="18" charset="0"/>
                        </a:rPr>
                        <m:t> ⨁ </m:t>
                      </m:r>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1</m:t>
                              </m:r>
                            </m:sub>
                          </m:sSub>
                        </m:e>
                      </m:d>
                      <m:r>
                        <a:rPr lang="sr-Latn-RS" sz="2400" i="1">
                          <a:latin typeface="Cambria Math" panose="02040503050406030204" pitchFamily="18" charset="0"/>
                          <a:ea typeface="Times New Roman" panose="02020603050405020304" pitchFamily="18" charset="0"/>
                          <a:cs typeface="Times New Roman" panose="02020603050405020304" pitchFamily="18" charset="0"/>
                        </a:rPr>
                        <m:t> ⨁ ⋯ ⨁ </m:t>
                      </m:r>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𝑛</m:t>
                              </m:r>
                              <m:r>
                                <a:rPr lang="sr-Latn-RS" sz="24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2400" i="1">
                                  <a:latin typeface="Cambria Math" panose="02040503050406030204" pitchFamily="18" charset="0"/>
                                  <a:ea typeface="Times New Roman" panose="02020603050405020304" pitchFamily="18" charset="0"/>
                                  <a:cs typeface="Times New Roman" panose="02020603050405020304" pitchFamily="18" charset="0"/>
                                </a:rPr>
                                <m:t>𝑛</m:t>
                              </m:r>
                              <m:r>
                                <a:rPr lang="sr-Latn-RS" sz="2400" i="1">
                                  <a:latin typeface="Cambria Math" panose="02040503050406030204" pitchFamily="18" charset="0"/>
                                  <a:ea typeface="Times New Roman" panose="02020603050405020304" pitchFamily="18" charset="0"/>
                                  <a:cs typeface="Times New Roman" panose="02020603050405020304" pitchFamily="18" charset="0"/>
                                </a:rPr>
                                <m:t>−1</m:t>
                              </m:r>
                            </m:sub>
                          </m:sSub>
                        </m:e>
                      </m:d>
                    </m:oMath>
                  </m:oMathPara>
                </a14:m>
                <a:endParaRPr lang="en-ZA" sz="2400" dirty="0">
                  <a:latin typeface="Cambria" panose="02040503050406030204" pitchFamily="18" charset="0"/>
                  <a:ea typeface="Times New Roman" panose="02020603050405020304" pitchFamily="18" charset="0"/>
                  <a:cs typeface="Times New Roman" panose="02020603050405020304" pitchFamily="18" charset="0"/>
                </a:endParaRPr>
              </a:p>
              <a:p>
                <a:pPr algn="ctr">
                  <a:spcAft>
                    <a:spcPts val="1200"/>
                  </a:spcAft>
                </a:pPr>
                <a:r>
                  <a:rPr lang="en-ZA" sz="2400" dirty="0"/>
                  <a:t>The task is to determine the unknown </a:t>
                </a:r>
                <a:r>
                  <a:rPr lang="en-ZA" sz="2400" dirty="0" err="1"/>
                  <a:t>bitstring</a:t>
                </a:r>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𝑠</m:t>
                    </m:r>
                    <m:r>
                      <m:rPr>
                        <m:nor/>
                      </m:rPr>
                      <a:rPr lang="en-US" sz="2400" b="0" i="0" smtClean="0">
                        <a:latin typeface="Cambria Math" panose="02040503050406030204" pitchFamily="18" charset="0"/>
                        <a:ea typeface="Times New Roman" panose="02020603050405020304" pitchFamily="18" charset="0"/>
                        <a:cs typeface="Times New Roman" panose="02020603050405020304" pitchFamily="18" charset="0"/>
                      </a:rPr>
                      <m:t> </m:t>
                    </m:r>
                    <m:r>
                      <m:rPr>
                        <m:nor/>
                      </m:rPr>
                      <a:rPr lang="en-ZA" sz="2400" dirty="0"/>
                      <m:t>using</m:t>
                    </m:r>
                    <m:r>
                      <m:rPr>
                        <m:nor/>
                      </m:rPr>
                      <a:rPr lang="en-ZA" sz="2400" dirty="0"/>
                      <m:t> </m:t>
                    </m:r>
                    <m:r>
                      <m:rPr>
                        <m:nor/>
                      </m:rPr>
                      <a:rPr lang="en-ZA" sz="2400" dirty="0"/>
                      <m:t>as</m:t>
                    </m:r>
                    <m:r>
                      <m:rPr>
                        <m:nor/>
                      </m:rPr>
                      <a:rPr lang="en-ZA" sz="2400" dirty="0"/>
                      <m:t> </m:t>
                    </m:r>
                    <m:r>
                      <m:rPr>
                        <m:nor/>
                      </m:rPr>
                      <a:rPr lang="en-ZA" sz="2400" dirty="0"/>
                      <m:t>few</m:t>
                    </m:r>
                    <m:r>
                      <m:rPr>
                        <m:nor/>
                      </m:rPr>
                      <a:rPr lang="en-ZA" sz="2400" dirty="0"/>
                      <m:t> </m:t>
                    </m:r>
                    <m:r>
                      <m:rPr>
                        <m:nor/>
                      </m:rPr>
                      <a:rPr lang="en-ZA" sz="2400" dirty="0"/>
                      <m:t>queries</m:t>
                    </m:r>
                    <m:r>
                      <m:rPr>
                        <m:nor/>
                      </m:rPr>
                      <a:rPr lang="en-ZA" sz="2400" dirty="0"/>
                      <m:t> </m:t>
                    </m:r>
                    <m:r>
                      <m:rPr>
                        <m:nor/>
                      </m:rPr>
                      <a:rPr lang="en-ZA" sz="2400" dirty="0"/>
                      <m:t>to</m:t>
                    </m:r>
                    <m:r>
                      <m:rPr>
                        <m:nor/>
                      </m:rPr>
                      <a:rPr lang="en-US" sz="2400" b="0" i="0" dirty="0" smtClean="0"/>
                      <m:t>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𝑓</m:t>
                    </m:r>
                  </m:oMath>
                </a14:m>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r>
                  <a:rPr lang="en-ZA" sz="2400" dirty="0"/>
                  <a:t>as possible</a:t>
                </a:r>
                <a:r>
                  <a:rPr lang="sr-Latn-RS" sz="2400" dirty="0">
                    <a:latin typeface="Cambria" panose="02040503050406030204" pitchFamily="18" charset="0"/>
                    <a:ea typeface="Times New Roman" panose="02020603050405020304" pitchFamily="18" charset="0"/>
                    <a:cs typeface="Times New Roman" panose="02020603050405020304" pitchFamily="18" charset="0"/>
                  </a:rPr>
                  <a:t>.</a:t>
                </a:r>
                <a:endParaRPr lang="en-ZA"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6" name="Rectangle 5">
                <a:extLst>
                  <a:ext uri="{FF2B5EF4-FFF2-40B4-BE49-F238E27FC236}">
                    <a16:creationId xmlns:a16="http://schemas.microsoft.com/office/drawing/2014/main" id="{87830F66-2BFB-6C4F-851C-E17CA71F327A}"/>
                  </a:ext>
                </a:extLst>
              </p:cNvPr>
              <p:cNvSpPr>
                <a:spLocks noRot="1" noChangeAspect="1" noMove="1" noResize="1" noEditPoints="1" noAdjustHandles="1" noChangeArrowheads="1" noChangeShapeType="1" noTextEdit="1"/>
              </p:cNvSpPr>
              <p:nvPr/>
            </p:nvSpPr>
            <p:spPr>
              <a:xfrm>
                <a:off x="546666" y="3307927"/>
                <a:ext cx="11398469" cy="2031325"/>
              </a:xfrm>
              <a:prstGeom prst="rect">
                <a:avLst/>
              </a:prstGeom>
              <a:blipFill>
                <a:blip r:embed="rId3"/>
                <a:stretch>
                  <a:fillRect t="-1242" b="-559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958176D4-C42D-5F49-BDF0-B9D47B655975}"/>
              </a:ext>
            </a:extLst>
          </p:cNvPr>
          <p:cNvPicPr>
            <a:picLocks noChangeAspect="1"/>
          </p:cNvPicPr>
          <p:nvPr/>
        </p:nvPicPr>
        <p:blipFill>
          <a:blip r:embed="rId4"/>
          <a:stretch>
            <a:fillRect/>
          </a:stretch>
        </p:blipFill>
        <p:spPr>
          <a:xfrm>
            <a:off x="411757" y="801540"/>
            <a:ext cx="1851760" cy="2506387"/>
          </a:xfrm>
          <a:prstGeom prst="rect">
            <a:avLst/>
          </a:prstGeom>
        </p:spPr>
      </p:pic>
    </p:spTree>
    <p:extLst>
      <p:ext uri="{BB962C8B-B14F-4D97-AF65-F5344CB8AC3E}">
        <p14:creationId xmlns:p14="http://schemas.microsoft.com/office/powerpoint/2010/main" val="35639274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21A0F-5226-DF47-A417-E3B2331A28D3}"/>
              </a:ext>
            </a:extLst>
          </p:cNvPr>
          <p:cNvSpPr>
            <a:spLocks noGrp="1"/>
          </p:cNvSpPr>
          <p:nvPr>
            <p:ph type="title"/>
          </p:nvPr>
        </p:nvSpPr>
        <p:spPr/>
        <p:txBody>
          <a:bodyPr/>
          <a:lstStyle/>
          <a:p>
            <a:r>
              <a:rPr lang="en-ZA" dirty="0"/>
              <a:t>Bernstein–</a:t>
            </a:r>
            <a:r>
              <a:rPr lang="en-ZA" dirty="0" err="1"/>
              <a:t>Vazirani</a:t>
            </a:r>
            <a:r>
              <a:rPr lang="en-ZA" dirty="0"/>
              <a:t> Quantum Circuit</a:t>
            </a:r>
            <a:endParaRPr lang="en-US" dirty="0"/>
          </a:p>
        </p:txBody>
      </p:sp>
      <p:sp>
        <p:nvSpPr>
          <p:cNvPr id="3" name="Slide Number Placeholder 2">
            <a:extLst>
              <a:ext uri="{FF2B5EF4-FFF2-40B4-BE49-F238E27FC236}">
                <a16:creationId xmlns:a16="http://schemas.microsoft.com/office/drawing/2014/main" id="{C5DA4136-1579-F241-947B-6DCB6406D78C}"/>
              </a:ext>
            </a:extLst>
          </p:cNvPr>
          <p:cNvSpPr>
            <a:spLocks noGrp="1"/>
          </p:cNvSpPr>
          <p:nvPr>
            <p:ph type="sldNum" sz="quarter" idx="12"/>
          </p:nvPr>
        </p:nvSpPr>
        <p:spPr/>
        <p:txBody>
          <a:bodyPr/>
          <a:lstStyle/>
          <a:p>
            <a:fld id="{591A223C-FA10-BC46-A853-03BA373D023C}" type="slidenum">
              <a:rPr lang="en-US" smtClean="0"/>
              <a:t>26</a:t>
            </a:fld>
            <a:endParaRPr lang="en-US"/>
          </a:p>
        </p:txBody>
      </p:sp>
      <p:pic>
        <p:nvPicPr>
          <p:cNvPr id="5" name="Picture 4">
            <a:extLst>
              <a:ext uri="{FF2B5EF4-FFF2-40B4-BE49-F238E27FC236}">
                <a16:creationId xmlns:a16="http://schemas.microsoft.com/office/drawing/2014/main" id="{BDCF3939-4D9E-5148-B772-2AC5381B90CC}"/>
              </a:ext>
            </a:extLst>
          </p:cNvPr>
          <p:cNvPicPr>
            <a:picLocks noChangeAspect="1"/>
          </p:cNvPicPr>
          <p:nvPr/>
        </p:nvPicPr>
        <p:blipFill>
          <a:blip r:embed="rId3"/>
          <a:stretch>
            <a:fillRect/>
          </a:stretch>
        </p:blipFill>
        <p:spPr>
          <a:xfrm>
            <a:off x="1996965" y="1417982"/>
            <a:ext cx="8198068" cy="4925878"/>
          </a:xfrm>
          <a:prstGeom prst="rect">
            <a:avLst/>
          </a:prstGeom>
        </p:spPr>
      </p:pic>
    </p:spTree>
    <p:extLst>
      <p:ext uri="{BB962C8B-B14F-4D97-AF65-F5344CB8AC3E}">
        <p14:creationId xmlns:p14="http://schemas.microsoft.com/office/powerpoint/2010/main" val="2427370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21A0F-5226-DF47-A417-E3B2331A28D3}"/>
              </a:ext>
            </a:extLst>
          </p:cNvPr>
          <p:cNvSpPr>
            <a:spLocks noGrp="1"/>
          </p:cNvSpPr>
          <p:nvPr>
            <p:ph type="title"/>
          </p:nvPr>
        </p:nvSpPr>
        <p:spPr/>
        <p:txBody>
          <a:bodyPr/>
          <a:lstStyle/>
          <a:p>
            <a:r>
              <a:rPr lang="en-ZA" dirty="0"/>
              <a:t>Bernstein–</a:t>
            </a:r>
            <a:r>
              <a:rPr lang="en-ZA" dirty="0" err="1"/>
              <a:t>Vazirani</a:t>
            </a:r>
            <a:r>
              <a:rPr lang="en-ZA" dirty="0"/>
              <a:t>: the quantum approach</a:t>
            </a:r>
            <a:endParaRPr lang="en-US" dirty="0"/>
          </a:p>
        </p:txBody>
      </p:sp>
      <p:sp>
        <p:nvSpPr>
          <p:cNvPr id="3" name="Slide Number Placeholder 2">
            <a:extLst>
              <a:ext uri="{FF2B5EF4-FFF2-40B4-BE49-F238E27FC236}">
                <a16:creationId xmlns:a16="http://schemas.microsoft.com/office/drawing/2014/main" id="{C5DA4136-1579-F241-947B-6DCB6406D78C}"/>
              </a:ext>
            </a:extLst>
          </p:cNvPr>
          <p:cNvSpPr>
            <a:spLocks noGrp="1"/>
          </p:cNvSpPr>
          <p:nvPr>
            <p:ph type="sldNum" sz="quarter" idx="12"/>
          </p:nvPr>
        </p:nvSpPr>
        <p:spPr/>
        <p:txBody>
          <a:bodyPr/>
          <a:lstStyle/>
          <a:p>
            <a:fld id="{591A223C-FA10-BC46-A853-03BA373D023C}" type="slidenum">
              <a:rPr lang="en-US" smtClean="0"/>
              <a:t>27</a:t>
            </a:fld>
            <a:endParaRPr lang="en-US"/>
          </a:p>
        </p:txBody>
      </p:sp>
      <p:pic>
        <p:nvPicPr>
          <p:cNvPr id="5" name="Picture 4">
            <a:extLst>
              <a:ext uri="{FF2B5EF4-FFF2-40B4-BE49-F238E27FC236}">
                <a16:creationId xmlns:a16="http://schemas.microsoft.com/office/drawing/2014/main" id="{BDCF3939-4D9E-5148-B772-2AC5381B90CC}"/>
              </a:ext>
            </a:extLst>
          </p:cNvPr>
          <p:cNvPicPr>
            <a:picLocks noChangeAspect="1"/>
          </p:cNvPicPr>
          <p:nvPr/>
        </p:nvPicPr>
        <p:blipFill>
          <a:blip r:embed="rId3"/>
          <a:stretch>
            <a:fillRect/>
          </a:stretch>
        </p:blipFill>
        <p:spPr>
          <a:xfrm>
            <a:off x="3293103" y="950901"/>
            <a:ext cx="5449300" cy="3274258"/>
          </a:xfrm>
          <a:prstGeom prst="rect">
            <a:avLst/>
          </a:prstGeom>
        </p:spPr>
      </p:pic>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3764B6B-CDA0-4C46-812D-75F3CE6550E8}"/>
                  </a:ext>
                </a:extLst>
              </p:cNvPr>
              <p:cNvSpPr/>
              <p:nvPr/>
            </p:nvSpPr>
            <p:spPr>
              <a:xfrm>
                <a:off x="1420661" y="4304647"/>
                <a:ext cx="9194184" cy="21882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sr-Latn-RS" sz="2500" i="1" smtClean="0">
                              <a:latin typeface="Cambria Math" panose="02040503050406030204" pitchFamily="18" charset="0"/>
                            </a:rPr>
                          </m:ctrlPr>
                        </m:sSubPr>
                        <m:e>
                          <m:r>
                            <a:rPr lang="sr-Latn-RS" sz="2500" b="0" i="1" smtClean="0">
                              <a:latin typeface="Cambria Math" panose="02040503050406030204" pitchFamily="18" charset="0"/>
                            </a:rPr>
                            <m:t>𝑥</m:t>
                          </m:r>
                        </m:e>
                        <m:sub>
                          <m:r>
                            <a:rPr lang="sr-Latn-RS" sz="2500" b="0" i="1" smtClean="0">
                              <a:latin typeface="Cambria Math" panose="02040503050406030204" pitchFamily="18" charset="0"/>
                            </a:rPr>
                            <m:t>0</m:t>
                          </m:r>
                        </m:sub>
                      </m:sSub>
                      <m:r>
                        <a:rPr lang="sr-Latn-RS" sz="2500" b="0" i="1" smtClean="0">
                          <a:latin typeface="Cambria Math" panose="02040503050406030204" pitchFamily="18" charset="0"/>
                        </a:rPr>
                        <m:t>𝑦</m:t>
                      </m:r>
                      <m:r>
                        <a:rPr lang="sr-Latn-RS" sz="2500" b="0" i="0" smtClean="0">
                          <a:latin typeface="Cambria Math" panose="02040503050406030204" pitchFamily="18" charset="0"/>
                        </a:rPr>
                        <m:t>:     </m:t>
                      </m:r>
                      <m:m>
                        <m:mPr>
                          <m:plcHide m:val="on"/>
                          <m:mcs>
                            <m:mc>
                              <m:mcPr>
                                <m:count m:val="2"/>
                                <m:mcJc m:val="center"/>
                              </m:mcPr>
                            </m:mc>
                          </m:mcs>
                          <m:ctrlPr>
                            <a:rPr lang="en-US" sz="2500" i="1">
                              <a:latin typeface="Cambria Math" panose="02040503050406030204" pitchFamily="18" charset="0"/>
                            </a:rPr>
                          </m:ctrlPr>
                        </m:mPr>
                        <m:mr>
                          <m:e>
                            <m:d>
                              <m:dPr>
                                <m:begChr m:val=""/>
                                <m:endChr m:val="⟩"/>
                                <m:ctrlPr>
                                  <a:rPr lang="en-US" sz="2500" i="1">
                                    <a:latin typeface="Cambria Math" panose="02040503050406030204" pitchFamily="18" charset="0"/>
                                  </a:rPr>
                                </m:ctrlPr>
                              </m:dPr>
                              <m:e>
                                <m:r>
                                  <a:rPr lang="en-US" sz="2500">
                                    <a:latin typeface="Cambria Math" panose="02040503050406030204" pitchFamily="18" charset="0"/>
                                  </a:rPr>
                                  <m:t>|</m:t>
                                </m:r>
                                <m:r>
                                  <a:rPr lang="en-US" sz="2500" i="0">
                                    <a:latin typeface="Cambria Math" panose="02040503050406030204" pitchFamily="18" charset="0"/>
                                  </a:rPr>
                                  <m:t>+</m:t>
                                </m:r>
                              </m:e>
                            </m:d>
                            <m:d>
                              <m:dPr>
                                <m:begChr m:val=""/>
                                <m:endChr m:val="⟩"/>
                                <m:ctrlPr>
                                  <a:rPr lang="en-US" sz="2500" i="1">
                                    <a:latin typeface="Cambria Math" panose="02040503050406030204" pitchFamily="18" charset="0"/>
                                  </a:rPr>
                                </m:ctrlPr>
                              </m:dPr>
                              <m:e>
                                <m:r>
                                  <a:rPr lang="en-US" sz="2500" i="0">
                                    <a:latin typeface="Cambria Math" panose="02040503050406030204" pitchFamily="18" charset="0"/>
                                  </a:rPr>
                                  <m:t>|−</m:t>
                                </m:r>
                              </m:e>
                            </m:d>
                            <m:r>
                              <a:rPr lang="en-US" sz="2500" i="0">
                                <a:latin typeface="Cambria Math" panose="02040503050406030204" pitchFamily="18" charset="0"/>
                              </a:rPr>
                              <m:t>=</m:t>
                            </m:r>
                          </m:e>
                          <m:e>
                            <m:f>
                              <m:fPr>
                                <m:ctrlPr>
                                  <a:rPr lang="en-US" sz="2500" i="1">
                                    <a:latin typeface="Cambria Math" panose="02040503050406030204" pitchFamily="18" charset="0"/>
                                  </a:rPr>
                                </m:ctrlPr>
                              </m:fPr>
                              <m:num>
                                <m:d>
                                  <m:dPr>
                                    <m:begChr m:val="|"/>
                                    <m:endChr m:val="⟩"/>
                                    <m:ctrlPr>
                                      <a:rPr lang="en-US" sz="2500" i="1">
                                        <a:latin typeface="Cambria Math" panose="02040503050406030204" pitchFamily="18" charset="0"/>
                                      </a:rPr>
                                    </m:ctrlPr>
                                  </m:dPr>
                                  <m:e>
                                    <m:r>
                                      <a:rPr lang="en-US" sz="2500" i="0">
                                        <a:latin typeface="Cambria Math" panose="02040503050406030204" pitchFamily="18" charset="0"/>
                                      </a:rPr>
                                      <m:t>0</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1</m:t>
                                    </m:r>
                                  </m:e>
                                </m:d>
                              </m:num>
                              <m:den>
                                <m:rad>
                                  <m:radPr>
                                    <m:degHide m:val="on"/>
                                    <m:ctrlPr>
                                      <a:rPr lang="en-US" sz="2500" i="1">
                                        <a:latin typeface="Cambria Math" panose="02040503050406030204" pitchFamily="18" charset="0"/>
                                      </a:rPr>
                                    </m:ctrlPr>
                                  </m:radPr>
                                  <m:deg/>
                                  <m:e>
                                    <m:r>
                                      <a:rPr lang="en-US" sz="2500" i="0">
                                        <a:latin typeface="Cambria Math" panose="02040503050406030204" pitchFamily="18" charset="0"/>
                                      </a:rPr>
                                      <m:t>2</m:t>
                                    </m:r>
                                  </m:e>
                                </m:rad>
                              </m:den>
                            </m:f>
                            <m:f>
                              <m:fPr>
                                <m:ctrlPr>
                                  <a:rPr lang="en-US" sz="2500" i="1">
                                    <a:latin typeface="Cambria Math" panose="02040503050406030204" pitchFamily="18" charset="0"/>
                                  </a:rPr>
                                </m:ctrlPr>
                              </m:fPr>
                              <m:num>
                                <m:d>
                                  <m:dPr>
                                    <m:begChr m:val="|"/>
                                    <m:endChr m:val="⟩"/>
                                    <m:ctrlPr>
                                      <a:rPr lang="en-US" sz="2500" i="1">
                                        <a:latin typeface="Cambria Math" panose="02040503050406030204" pitchFamily="18" charset="0"/>
                                      </a:rPr>
                                    </m:ctrlPr>
                                  </m:dPr>
                                  <m:e>
                                    <m:r>
                                      <a:rPr lang="en-US" sz="2500" i="0">
                                        <a:latin typeface="Cambria Math" panose="02040503050406030204" pitchFamily="18" charset="0"/>
                                      </a:rPr>
                                      <m:t>0</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1</m:t>
                                    </m:r>
                                  </m:e>
                                </m:d>
                              </m:num>
                              <m:den>
                                <m:rad>
                                  <m:radPr>
                                    <m:degHide m:val="on"/>
                                    <m:ctrlPr>
                                      <a:rPr lang="en-US" sz="2500" i="1">
                                        <a:latin typeface="Cambria Math" panose="02040503050406030204" pitchFamily="18" charset="0"/>
                                      </a:rPr>
                                    </m:ctrlPr>
                                  </m:radPr>
                                  <m:deg/>
                                  <m:e>
                                    <m:r>
                                      <a:rPr lang="en-US" sz="2500" i="0">
                                        <a:latin typeface="Cambria Math" panose="02040503050406030204" pitchFamily="18" charset="0"/>
                                      </a:rPr>
                                      <m:t>2</m:t>
                                    </m:r>
                                  </m:e>
                                </m:rad>
                              </m:den>
                            </m:f>
                            <m:r>
                              <a:rPr lang="en-US" sz="2500" i="0">
                                <a:latin typeface="Cambria Math" panose="02040503050406030204" pitchFamily="18" charset="0"/>
                              </a:rPr>
                              <m:t>=</m:t>
                            </m:r>
                            <m:f>
                              <m:fPr>
                                <m:ctrlPr>
                                  <a:rPr lang="en-US" sz="2500" i="1">
                                    <a:latin typeface="Cambria Math" panose="02040503050406030204" pitchFamily="18" charset="0"/>
                                  </a:rPr>
                                </m:ctrlPr>
                              </m:fPr>
                              <m:num>
                                <m:d>
                                  <m:dPr>
                                    <m:begChr m:val="|"/>
                                    <m:endChr m:val="⟩"/>
                                    <m:ctrlPr>
                                      <a:rPr lang="en-US" sz="2500" i="1">
                                        <a:latin typeface="Cambria Math" panose="02040503050406030204" pitchFamily="18" charset="0"/>
                                      </a:rPr>
                                    </m:ctrlPr>
                                  </m:dPr>
                                  <m:e>
                                    <m:r>
                                      <a:rPr lang="en-US" sz="2500" i="0">
                                        <a:latin typeface="Cambria Math" panose="02040503050406030204" pitchFamily="18" charset="0"/>
                                      </a:rPr>
                                      <m:t>00</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01</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10</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11</m:t>
                                    </m:r>
                                  </m:e>
                                </m:d>
                              </m:num>
                              <m:den>
                                <m:r>
                                  <a:rPr lang="en-US" sz="2500" b="0" i="1" smtClean="0">
                                    <a:latin typeface="Cambria Math" panose="02040503050406030204" pitchFamily="18" charset="0"/>
                                  </a:rPr>
                                  <m:t>2</m:t>
                                </m:r>
                              </m:den>
                            </m:f>
                          </m:e>
                        </m:mr>
                        <m:mr>
                          <m:e>
                            <m:groupChr>
                              <m:groupChrPr>
                                <m:chr m:val="→"/>
                                <m:vertJc m:val="bot"/>
                                <m:ctrlPr>
                                  <a:rPr lang="en-US" sz="2500" i="1">
                                    <a:latin typeface="Cambria Math" panose="02040503050406030204" pitchFamily="18" charset="0"/>
                                  </a:rPr>
                                </m:ctrlPr>
                              </m:groupChrPr>
                              <m:e>
                                <m:r>
                                  <a:rPr lang="en-US" sz="2500" i="1">
                                    <a:latin typeface="Cambria Math" panose="02040503050406030204" pitchFamily="18" charset="0"/>
                                  </a:rPr>
                                  <m:t>𝑐𝑋</m:t>
                                </m:r>
                              </m:e>
                            </m:groupChr>
                          </m:e>
                          <m:e>
                            <m:f>
                              <m:fPr>
                                <m:ctrlPr>
                                  <a:rPr lang="en-US" sz="2500" i="1">
                                    <a:latin typeface="Cambria Math" panose="02040503050406030204" pitchFamily="18" charset="0"/>
                                  </a:rPr>
                                </m:ctrlPr>
                              </m:fPr>
                              <m:num>
                                <m:d>
                                  <m:dPr>
                                    <m:begChr m:val="|"/>
                                    <m:endChr m:val="⟩"/>
                                    <m:ctrlPr>
                                      <a:rPr lang="en-US" sz="2500" i="1">
                                        <a:latin typeface="Cambria Math" panose="02040503050406030204" pitchFamily="18" charset="0"/>
                                      </a:rPr>
                                    </m:ctrlPr>
                                  </m:dPr>
                                  <m:e>
                                    <m:r>
                                      <a:rPr lang="en-US" sz="2500" i="0">
                                        <a:latin typeface="Cambria Math" panose="02040503050406030204" pitchFamily="18" charset="0"/>
                                      </a:rPr>
                                      <m:t>00</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01</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11</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10</m:t>
                                    </m:r>
                                  </m:e>
                                </m:d>
                              </m:num>
                              <m:den>
                                <m:r>
                                  <a:rPr lang="en-US" sz="2500" b="0" i="1" smtClean="0">
                                    <a:latin typeface="Cambria Math" panose="02040503050406030204" pitchFamily="18" charset="0"/>
                                  </a:rPr>
                                  <m:t>2</m:t>
                                </m:r>
                              </m:den>
                            </m:f>
                            <m:r>
                              <a:rPr lang="en-US" sz="2500" i="0">
                                <a:latin typeface="Cambria Math" panose="02040503050406030204" pitchFamily="18" charset="0"/>
                              </a:rPr>
                              <m:t>=</m:t>
                            </m:r>
                            <m:f>
                              <m:fPr>
                                <m:ctrlPr>
                                  <a:rPr lang="en-US" sz="2500" i="1">
                                    <a:latin typeface="Cambria Math" panose="02040503050406030204" pitchFamily="18" charset="0"/>
                                  </a:rPr>
                                </m:ctrlPr>
                              </m:fPr>
                              <m:num>
                                <m:d>
                                  <m:dPr>
                                    <m:begChr m:val="|"/>
                                    <m:endChr m:val="⟩"/>
                                    <m:ctrlPr>
                                      <a:rPr lang="en-US" sz="2500" i="1">
                                        <a:latin typeface="Cambria Math" panose="02040503050406030204" pitchFamily="18" charset="0"/>
                                      </a:rPr>
                                    </m:ctrlPr>
                                  </m:dPr>
                                  <m:e>
                                    <m:r>
                                      <a:rPr lang="en-US" sz="2500" i="0">
                                        <a:latin typeface="Cambria Math" panose="02040503050406030204" pitchFamily="18" charset="0"/>
                                      </a:rPr>
                                      <m:t>0</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1</m:t>
                                    </m:r>
                                  </m:e>
                                </m:d>
                              </m:num>
                              <m:den>
                                <m:rad>
                                  <m:radPr>
                                    <m:degHide m:val="on"/>
                                    <m:ctrlPr>
                                      <a:rPr lang="en-US" sz="2500" i="1">
                                        <a:latin typeface="Cambria Math" panose="02040503050406030204" pitchFamily="18" charset="0"/>
                                      </a:rPr>
                                    </m:ctrlPr>
                                  </m:radPr>
                                  <m:deg/>
                                  <m:e>
                                    <m:r>
                                      <a:rPr lang="en-US" sz="2500" i="0">
                                        <a:latin typeface="Cambria Math" panose="02040503050406030204" pitchFamily="18" charset="0"/>
                                      </a:rPr>
                                      <m:t>2</m:t>
                                    </m:r>
                                  </m:e>
                                </m:rad>
                              </m:den>
                            </m:f>
                            <m:f>
                              <m:fPr>
                                <m:ctrlPr>
                                  <a:rPr lang="en-US" sz="2500" i="1">
                                    <a:latin typeface="Cambria Math" panose="02040503050406030204" pitchFamily="18" charset="0"/>
                                  </a:rPr>
                                </m:ctrlPr>
                              </m:fPr>
                              <m:num>
                                <m:d>
                                  <m:dPr>
                                    <m:begChr m:val="|"/>
                                    <m:endChr m:val="⟩"/>
                                    <m:ctrlPr>
                                      <a:rPr lang="en-US" sz="2500" i="1">
                                        <a:latin typeface="Cambria Math" panose="02040503050406030204" pitchFamily="18" charset="0"/>
                                      </a:rPr>
                                    </m:ctrlPr>
                                  </m:dPr>
                                  <m:e>
                                    <m:r>
                                      <a:rPr lang="en-US" sz="2500" i="0">
                                        <a:latin typeface="Cambria Math" panose="02040503050406030204" pitchFamily="18" charset="0"/>
                                      </a:rPr>
                                      <m:t>0</m:t>
                                    </m:r>
                                  </m:e>
                                </m:d>
                                <m:r>
                                  <a:rPr lang="en-US" sz="2500" i="0">
                                    <a:latin typeface="Cambria Math" panose="02040503050406030204" pitchFamily="18" charset="0"/>
                                  </a:rPr>
                                  <m:t>−</m:t>
                                </m:r>
                                <m:d>
                                  <m:dPr>
                                    <m:begChr m:val="|"/>
                                    <m:endChr m:val="⟩"/>
                                    <m:ctrlPr>
                                      <a:rPr lang="en-US" sz="2500" i="1">
                                        <a:latin typeface="Cambria Math" panose="02040503050406030204" pitchFamily="18" charset="0"/>
                                      </a:rPr>
                                    </m:ctrlPr>
                                  </m:dPr>
                                  <m:e>
                                    <m:r>
                                      <a:rPr lang="en-US" sz="2500" i="0">
                                        <a:latin typeface="Cambria Math" panose="02040503050406030204" pitchFamily="18" charset="0"/>
                                      </a:rPr>
                                      <m:t>1</m:t>
                                    </m:r>
                                  </m:e>
                                </m:d>
                              </m:num>
                              <m:den>
                                <m:rad>
                                  <m:radPr>
                                    <m:degHide m:val="on"/>
                                    <m:ctrlPr>
                                      <a:rPr lang="en-US" sz="2500" i="1">
                                        <a:latin typeface="Cambria Math" panose="02040503050406030204" pitchFamily="18" charset="0"/>
                                      </a:rPr>
                                    </m:ctrlPr>
                                  </m:radPr>
                                  <m:deg/>
                                  <m:e>
                                    <m:r>
                                      <a:rPr lang="en-US" sz="2500" i="0">
                                        <a:latin typeface="Cambria Math" panose="02040503050406030204" pitchFamily="18" charset="0"/>
                                      </a:rPr>
                                      <m:t>2</m:t>
                                    </m:r>
                                  </m:e>
                                </m:rad>
                              </m:den>
                            </m:f>
                          </m:e>
                        </m:mr>
                        <m:mr>
                          <m:e>
                            <m:r>
                              <a:rPr lang="en-US" sz="2500" i="0">
                                <a:latin typeface="Cambria Math" panose="02040503050406030204" pitchFamily="18" charset="0"/>
                              </a:rPr>
                              <m:t>=</m:t>
                            </m:r>
                          </m:e>
                          <m:e>
                            <m:d>
                              <m:dPr>
                                <m:begChr m:val=""/>
                                <m:endChr m:val="⟩"/>
                                <m:ctrlPr>
                                  <a:rPr lang="en-US" sz="2500" i="1">
                                    <a:latin typeface="Cambria Math" panose="02040503050406030204" pitchFamily="18" charset="0"/>
                                  </a:rPr>
                                </m:ctrlPr>
                              </m:dPr>
                              <m:e>
                                <m:r>
                                  <a:rPr lang="en-US" sz="2500" i="0">
                                    <a:latin typeface="Cambria Math" panose="02040503050406030204" pitchFamily="18" charset="0"/>
                                  </a:rPr>
                                  <m:t>|−</m:t>
                                </m:r>
                              </m:e>
                            </m:d>
                            <m:d>
                              <m:dPr>
                                <m:begChr m:val=""/>
                                <m:endChr m:val="⟩"/>
                                <m:ctrlPr>
                                  <a:rPr lang="en-US" sz="2500" i="1">
                                    <a:latin typeface="Cambria Math" panose="02040503050406030204" pitchFamily="18" charset="0"/>
                                  </a:rPr>
                                </m:ctrlPr>
                              </m:dPr>
                              <m:e>
                                <m:r>
                                  <a:rPr lang="en-US" sz="2500" i="0">
                                    <a:latin typeface="Cambria Math" panose="02040503050406030204" pitchFamily="18" charset="0"/>
                                  </a:rPr>
                                  <m:t>|−</m:t>
                                </m:r>
                              </m:e>
                            </m:d>
                          </m:e>
                        </m:mr>
                      </m:m>
                    </m:oMath>
                  </m:oMathPara>
                </a14:m>
                <a:endParaRPr lang="en-US" sz="2500" dirty="0"/>
              </a:p>
            </p:txBody>
          </p:sp>
        </mc:Choice>
        <mc:Fallback xmlns="">
          <p:sp>
            <p:nvSpPr>
              <p:cNvPr id="4" name="Rectangle 3">
                <a:extLst>
                  <a:ext uri="{FF2B5EF4-FFF2-40B4-BE49-F238E27FC236}">
                    <a16:creationId xmlns:a16="http://schemas.microsoft.com/office/drawing/2014/main" id="{73764B6B-CDA0-4C46-812D-75F3CE6550E8}"/>
                  </a:ext>
                </a:extLst>
              </p:cNvPr>
              <p:cNvSpPr>
                <a:spLocks noRot="1" noChangeAspect="1" noMove="1" noResize="1" noEditPoints="1" noAdjustHandles="1" noChangeArrowheads="1" noChangeShapeType="1" noTextEdit="1"/>
              </p:cNvSpPr>
              <p:nvPr/>
            </p:nvSpPr>
            <p:spPr>
              <a:xfrm>
                <a:off x="1420661" y="4304647"/>
                <a:ext cx="9194184" cy="2188228"/>
              </a:xfrm>
              <a:prstGeom prst="rect">
                <a:avLst/>
              </a:prstGeom>
              <a:blipFill>
                <a:blip r:embed="rId4"/>
                <a:stretch>
                  <a:fillRect t="-17919" b="-43353"/>
                </a:stretch>
              </a:blipFill>
            </p:spPr>
            <p:txBody>
              <a:bodyPr/>
              <a:lstStyle/>
              <a:p>
                <a:r>
                  <a:rPr lang="sr-Latn-RS">
                    <a:noFill/>
                  </a:rPr>
                  <a:t> </a:t>
                </a:r>
              </a:p>
            </p:txBody>
          </p:sp>
        </mc:Fallback>
      </mc:AlternateContent>
    </p:spTree>
    <p:extLst>
      <p:ext uri="{BB962C8B-B14F-4D97-AF65-F5344CB8AC3E}">
        <p14:creationId xmlns:p14="http://schemas.microsoft.com/office/powerpoint/2010/main" val="1003322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86388B73-2C66-BC44-B68C-1678D53E8689}"/>
              </a:ext>
            </a:extLst>
          </p:cNvPr>
          <p:cNvCxnSpPr>
            <a:cxnSpLocks/>
          </p:cNvCxnSpPr>
          <p:nvPr/>
        </p:nvCxnSpPr>
        <p:spPr>
          <a:xfrm>
            <a:off x="885860" y="2816441"/>
            <a:ext cx="8749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A08DBC5-B1D1-9445-A14E-0C03662E2E90}"/>
              </a:ext>
            </a:extLst>
          </p:cNvPr>
          <p:cNvCxnSpPr>
            <a:cxnSpLocks/>
          </p:cNvCxnSpPr>
          <p:nvPr/>
        </p:nvCxnSpPr>
        <p:spPr>
          <a:xfrm>
            <a:off x="885860" y="3939053"/>
            <a:ext cx="660488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833474D-9E79-D24F-BD6F-AD46CDB9C5DD}"/>
              </a:ext>
            </a:extLst>
          </p:cNvPr>
          <p:cNvSpPr>
            <a:spLocks noGrp="1"/>
          </p:cNvSpPr>
          <p:nvPr>
            <p:ph type="title"/>
          </p:nvPr>
        </p:nvSpPr>
        <p:spPr/>
        <p:txBody>
          <a:bodyPr/>
          <a:lstStyle/>
          <a:p>
            <a:r>
              <a:rPr lang="en-ZA" dirty="0"/>
              <a:t>Bernstein–</a:t>
            </a:r>
            <a:r>
              <a:rPr lang="en-ZA" dirty="0" err="1"/>
              <a:t>Vazirani</a:t>
            </a:r>
            <a:r>
              <a:rPr lang="en-ZA" dirty="0"/>
              <a:t> Algorithm: General Circuit</a:t>
            </a:r>
            <a:endParaRPr lang="en-US" dirty="0"/>
          </a:p>
        </p:txBody>
      </p:sp>
      <p:sp>
        <p:nvSpPr>
          <p:cNvPr id="3" name="Slide Number Placeholder 2">
            <a:extLst>
              <a:ext uri="{FF2B5EF4-FFF2-40B4-BE49-F238E27FC236}">
                <a16:creationId xmlns:a16="http://schemas.microsoft.com/office/drawing/2014/main" id="{9C445608-EF0F-7B4E-8FCC-0288A3035AAE}"/>
              </a:ext>
            </a:extLst>
          </p:cNvPr>
          <p:cNvSpPr>
            <a:spLocks noGrp="1"/>
          </p:cNvSpPr>
          <p:nvPr>
            <p:ph type="sldNum" sz="quarter" idx="12"/>
          </p:nvPr>
        </p:nvSpPr>
        <p:spPr/>
        <p:txBody>
          <a:bodyPr/>
          <a:lstStyle/>
          <a:p>
            <a:fld id="{591A223C-FA10-BC46-A853-03BA373D023C}" type="slidenum">
              <a:rPr lang="en-US" smtClean="0"/>
              <a:t>28</a:t>
            </a:fld>
            <a:endParaRPr lang="en-US" dirty="0"/>
          </a:p>
        </p:txBody>
      </p:sp>
      <p:grpSp>
        <p:nvGrpSpPr>
          <p:cNvPr id="47" name="Group 46">
            <a:extLst>
              <a:ext uri="{FF2B5EF4-FFF2-40B4-BE49-F238E27FC236}">
                <a16:creationId xmlns:a16="http://schemas.microsoft.com/office/drawing/2014/main" id="{7F484FDB-AD58-0548-BCB1-14AB8D09AFBD}"/>
              </a:ext>
            </a:extLst>
          </p:cNvPr>
          <p:cNvGrpSpPr/>
          <p:nvPr/>
        </p:nvGrpSpPr>
        <p:grpSpPr>
          <a:xfrm>
            <a:off x="1130260" y="913446"/>
            <a:ext cx="2249633" cy="1302164"/>
            <a:chOff x="1149502" y="1049202"/>
            <a:chExt cx="2249633" cy="1302164"/>
          </a:xfrm>
        </p:grpSpPr>
        <p:sp>
          <p:nvSpPr>
            <p:cNvPr id="41" name="Line Callout 1 40">
              <a:extLst>
                <a:ext uri="{FF2B5EF4-FFF2-40B4-BE49-F238E27FC236}">
                  <a16:creationId xmlns:a16="http://schemas.microsoft.com/office/drawing/2014/main" id="{70CE0FDF-0A9E-8A4A-8C4A-CE56828D1410}"/>
                </a:ext>
              </a:extLst>
            </p:cNvPr>
            <p:cNvSpPr/>
            <p:nvPr/>
          </p:nvSpPr>
          <p:spPr>
            <a:xfrm>
              <a:off x="1149502" y="1049202"/>
              <a:ext cx="2249633" cy="1302164"/>
            </a:xfrm>
            <a:prstGeom prst="borderCallout1">
              <a:avLst>
                <a:gd name="adj1" fmla="val 111969"/>
                <a:gd name="adj2" fmla="val 94410"/>
                <a:gd name="adj3" fmla="val 267749"/>
                <a:gd name="adj4" fmla="val 93946"/>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7489D41-871C-4F49-9A4F-AFBBD4EC7CF4}"/>
                    </a:ext>
                  </a:extLst>
                </p:cNvPr>
                <p:cNvSpPr/>
                <p:nvPr/>
              </p:nvSpPr>
              <p:spPr>
                <a:xfrm>
                  <a:off x="1220576" y="1277882"/>
                  <a:ext cx="2134623" cy="986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en-US" sz="2400" i="0">
                                        <a:latin typeface="Cambria Math" panose="02040503050406030204" pitchFamily="18" charset="0"/>
                                      </a:rPr>
                                      <m:t>2</m:t>
                                    </m:r>
                                  </m:e>
                                  <m:sup>
                                    <m:r>
                                      <a:rPr lang="en-US" sz="2400" i="1">
                                        <a:latin typeface="Cambria Math" panose="02040503050406030204" pitchFamily="18" charset="0"/>
                                      </a:rPr>
                                      <m:t>𝑛</m:t>
                                    </m:r>
                                  </m:sup>
                                </m:sSup>
                              </m:e>
                            </m:rad>
                          </m:den>
                        </m:f>
                        <m:nary>
                          <m:naryPr>
                            <m:chr m:val="∑"/>
                            <m:limLoc m:val="undOvr"/>
                            <m:subHide m:val="on"/>
                            <m:supHide m:val="on"/>
                            <m:ctrlPr>
                              <a:rPr lang="en-US" sz="2400" i="1">
                                <a:latin typeface="Cambria Math" panose="02040503050406030204" pitchFamily="18" charset="0"/>
                              </a:rPr>
                            </m:ctrlPr>
                          </m:naryPr>
                          <m:sub/>
                          <m:sup/>
                          <m:e>
                            <m:d>
                              <m:dPr>
                                <m:begChr m:val=""/>
                                <m:endChr m:val="⟩"/>
                                <m:ctrlPr>
                                  <a:rPr lang="en-US" sz="2400" i="1">
                                    <a:latin typeface="Cambria Math" panose="02040503050406030204" pitchFamily="18" charset="0"/>
                                  </a:rPr>
                                </m:ctrlPr>
                              </m:dPr>
                              <m:e>
                                <m:r>
                                  <a:rPr lang="en-US" sz="2400" i="0">
                                    <a:latin typeface="Cambria Math" panose="02040503050406030204" pitchFamily="18" charset="0"/>
                                  </a:rPr>
                                  <m:t>|</m:t>
                                </m:r>
                                <m:r>
                                  <a:rPr lang="en-US" sz="2400" i="1">
                                    <a:latin typeface="Cambria Math" panose="02040503050406030204" pitchFamily="18" charset="0"/>
                                  </a:rPr>
                                  <m:t>𝑥</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m:t>
                                </m:r>
                              </m:e>
                            </m:d>
                          </m:e>
                        </m:nary>
                      </m:oMath>
                    </m:oMathPara>
                  </a14:m>
                  <a:endParaRPr lang="en-US" sz="2400" dirty="0"/>
                </a:p>
              </p:txBody>
            </p:sp>
          </mc:Choice>
          <mc:Fallback xmlns="">
            <p:sp>
              <p:nvSpPr>
                <p:cNvPr id="4" name="Rectangle 3">
                  <a:extLst>
                    <a:ext uri="{FF2B5EF4-FFF2-40B4-BE49-F238E27FC236}">
                      <a16:creationId xmlns:a16="http://schemas.microsoft.com/office/drawing/2014/main" id="{97489D41-871C-4F49-9A4F-AFBBD4EC7CF4}"/>
                    </a:ext>
                  </a:extLst>
                </p:cNvPr>
                <p:cNvSpPr>
                  <a:spLocks noRot="1" noChangeAspect="1" noMove="1" noResize="1" noEditPoints="1" noAdjustHandles="1" noChangeArrowheads="1" noChangeShapeType="1" noTextEdit="1"/>
                </p:cNvSpPr>
                <p:nvPr/>
              </p:nvSpPr>
              <p:spPr>
                <a:xfrm>
                  <a:off x="1220576" y="1277882"/>
                  <a:ext cx="2134623" cy="986552"/>
                </a:xfrm>
                <a:prstGeom prst="rect">
                  <a:avLst/>
                </a:prstGeom>
                <a:blipFill>
                  <a:blip r:embed="rId3"/>
                  <a:stretch>
                    <a:fillRect l="-21302" t="-127848" r="-14201" b="-178481"/>
                  </a:stretch>
                </a:blipFill>
              </p:spPr>
              <p:txBody>
                <a:bodyPr/>
                <a:lstStyle/>
                <a:p>
                  <a:r>
                    <a:rPr lang="en-US">
                      <a:noFill/>
                    </a:rPr>
                    <a:t> </a:t>
                  </a:r>
                </a:p>
              </p:txBody>
            </p:sp>
          </mc:Fallback>
        </mc:AlternateContent>
      </p:grpSp>
      <p:grpSp>
        <p:nvGrpSpPr>
          <p:cNvPr id="48" name="Group 47">
            <a:extLst>
              <a:ext uri="{FF2B5EF4-FFF2-40B4-BE49-F238E27FC236}">
                <a16:creationId xmlns:a16="http://schemas.microsoft.com/office/drawing/2014/main" id="{A4BBE3D8-61E0-DA4D-A143-90C0DD1C2856}"/>
              </a:ext>
            </a:extLst>
          </p:cNvPr>
          <p:cNvGrpSpPr/>
          <p:nvPr/>
        </p:nvGrpSpPr>
        <p:grpSpPr>
          <a:xfrm>
            <a:off x="4212628" y="923346"/>
            <a:ext cx="6607772" cy="1302164"/>
            <a:chOff x="4332680" y="927194"/>
            <a:chExt cx="6607772" cy="1302164"/>
          </a:xfrm>
        </p:grpSpPr>
        <p:sp>
          <p:nvSpPr>
            <p:cNvPr id="43" name="Line Callout 1 42">
              <a:extLst>
                <a:ext uri="{FF2B5EF4-FFF2-40B4-BE49-F238E27FC236}">
                  <a16:creationId xmlns:a16="http://schemas.microsoft.com/office/drawing/2014/main" id="{6614B1DF-9776-D84A-8E94-AF05E23BF9F7}"/>
                </a:ext>
              </a:extLst>
            </p:cNvPr>
            <p:cNvSpPr/>
            <p:nvPr/>
          </p:nvSpPr>
          <p:spPr>
            <a:xfrm>
              <a:off x="4332680" y="927194"/>
              <a:ext cx="6607771" cy="1302164"/>
            </a:xfrm>
            <a:prstGeom prst="borderCallout1">
              <a:avLst>
                <a:gd name="adj1" fmla="val 104183"/>
                <a:gd name="adj2" fmla="val 39392"/>
                <a:gd name="adj3" fmla="val 248292"/>
                <a:gd name="adj4" fmla="val 39372"/>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89B3E4F-B2A4-6048-AD32-C1F521DE6F5C}"/>
                    </a:ext>
                  </a:extLst>
                </p:cNvPr>
                <p:cNvSpPr/>
                <p:nvPr/>
              </p:nvSpPr>
              <p:spPr>
                <a:xfrm>
                  <a:off x="4332681" y="1104230"/>
                  <a:ext cx="6607771" cy="986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en-US" sz="2400" i="0">
                                        <a:latin typeface="Cambria Math" panose="02040503050406030204" pitchFamily="18" charset="0"/>
                                      </a:rPr>
                                      <m:t>2</m:t>
                                    </m:r>
                                  </m:e>
                                  <m:sup>
                                    <m:r>
                                      <a:rPr lang="en-US" sz="2400" i="1">
                                        <a:latin typeface="Cambria Math" panose="02040503050406030204" pitchFamily="18" charset="0"/>
                                      </a:rPr>
                                      <m:t>𝑛</m:t>
                                    </m:r>
                                  </m:sup>
                                </m:sSup>
                              </m:e>
                            </m:rad>
                          </m:den>
                        </m:f>
                        <m:nary>
                          <m:naryPr>
                            <m:chr m:val="∑"/>
                            <m:limLoc m:val="undOvr"/>
                            <m:subHide m:val="on"/>
                            <m:supHide m:val="on"/>
                            <m:ctrlPr>
                              <a:rPr lang="en-US" sz="2400" i="1">
                                <a:latin typeface="Cambria Math" panose="02040503050406030204" pitchFamily="18" charset="0"/>
                              </a:rPr>
                            </m:ctrlPr>
                          </m:naryPr>
                          <m:sub/>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i="0">
                                        <a:latin typeface="Cambria Math" panose="02040503050406030204" pitchFamily="18" charset="0"/>
                                      </a:rPr>
                                      <m:t>(</m:t>
                                    </m:r>
                                    <m:r>
                                      <a:rPr lang="en-US" sz="2400" i="1">
                                        <a:latin typeface="Cambria Math" panose="02040503050406030204" pitchFamily="18" charset="0"/>
                                      </a:rPr>
                                      <m:t>𝑥</m:t>
                                    </m:r>
                                  </m:e>
                                </m:d>
                              </m:sup>
                            </m:sSup>
                            <m:r>
                              <a:rPr lang="en-US" sz="2400" i="0">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m:t>
                                </m:r>
                                <m:r>
                                  <a:rPr lang="en-US" sz="2400" i="1">
                                    <a:latin typeface="Cambria Math" panose="02040503050406030204" pitchFamily="18" charset="0"/>
                                  </a:rPr>
                                  <m:t>𝑥</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m:t>
                                </m:r>
                              </m:e>
                            </m:d>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i="1">
                                            <a:latin typeface="Cambria Math" panose="02040503050406030204" pitchFamily="18" charset="0"/>
                                          </a:rPr>
                                          <m:t>𝑛</m:t>
                                        </m:r>
                                      </m:sup>
                                    </m:sSup>
                                  </m:e>
                                </m:rad>
                              </m:den>
                            </m:f>
                            <m:nary>
                              <m:naryPr>
                                <m:chr m:val="∑"/>
                                <m:limLoc m:val="undOvr"/>
                                <m:subHide m:val="on"/>
                                <m:supHide m:val="on"/>
                                <m:ctrlPr>
                                  <a:rPr lang="en-US" sz="2400" i="1">
                                    <a:latin typeface="Cambria Math" panose="02040503050406030204" pitchFamily="18" charset="0"/>
                                  </a:rPr>
                                </m:ctrlPr>
                              </m:naryPr>
                              <m:sub/>
                              <m:sup/>
                              <m:e>
                                <m:d>
                                  <m:dPr>
                                    <m:begChr m:val=""/>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0">
                                                <a:latin typeface="Cambria Math" panose="02040503050406030204" pitchFamily="18" charset="0"/>
                                              </a:rPr>
                                              <m:t>−1</m:t>
                                            </m:r>
                                          </m:e>
                                        </m:d>
                                      </m:e>
                                      <m:sup>
                                        <m:r>
                                          <a:rPr lang="en-US" sz="2400" i="1">
                                            <a:latin typeface="Cambria Math" panose="02040503050406030204" pitchFamily="18" charset="0"/>
                                          </a:rPr>
                                          <m:t>𝑥</m:t>
                                        </m:r>
                                        <m:r>
                                          <a:rPr lang="en-US" sz="2400" i="0">
                                            <a:latin typeface="Cambria Math" panose="02040503050406030204" pitchFamily="18" charset="0"/>
                                          </a:rPr>
                                          <m:t>∙</m:t>
                                        </m:r>
                                        <m:r>
                                          <a:rPr lang="en-US" sz="2400" i="1">
                                            <a:latin typeface="Cambria Math" panose="02040503050406030204" pitchFamily="18" charset="0"/>
                                          </a:rPr>
                                          <m:t>𝑠</m:t>
                                        </m:r>
                                      </m:sup>
                                    </m:sSup>
                                    <m:r>
                                      <a:rPr lang="en-US" sz="2400" i="0">
                                        <a:latin typeface="Cambria Math" panose="02040503050406030204" pitchFamily="18" charset="0"/>
                                      </a:rPr>
                                      <m:t>|</m:t>
                                    </m:r>
                                    <m:r>
                                      <a:rPr lang="en-US" sz="2400" i="1">
                                        <a:latin typeface="Cambria Math" panose="02040503050406030204" pitchFamily="18" charset="0"/>
                                      </a:rPr>
                                      <m:t>𝑥</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b="0" i="1" smtClean="0">
                                        <a:latin typeface="Cambria Math" panose="02040503050406030204" pitchFamily="18" charset="0"/>
                                      </a:rPr>
                                      <m:t>−</m:t>
                                    </m:r>
                                  </m:e>
                                </m:d>
                              </m:e>
                            </m:nary>
                          </m:e>
                        </m:nary>
                      </m:oMath>
                    </m:oMathPara>
                  </a14:m>
                  <a:endParaRPr lang="en-US" sz="2400" dirty="0"/>
                </a:p>
              </p:txBody>
            </p:sp>
          </mc:Choice>
          <mc:Fallback xmlns="">
            <p:sp>
              <p:nvSpPr>
                <p:cNvPr id="8" name="Rectangle 7">
                  <a:extLst>
                    <a:ext uri="{FF2B5EF4-FFF2-40B4-BE49-F238E27FC236}">
                      <a16:creationId xmlns:a16="http://schemas.microsoft.com/office/drawing/2014/main" id="{589B3E4F-B2A4-6048-AD32-C1F521DE6F5C}"/>
                    </a:ext>
                  </a:extLst>
                </p:cNvPr>
                <p:cNvSpPr>
                  <a:spLocks noRot="1" noChangeAspect="1" noMove="1" noResize="1" noEditPoints="1" noAdjustHandles="1" noChangeArrowheads="1" noChangeShapeType="1" noTextEdit="1"/>
                </p:cNvSpPr>
                <p:nvPr/>
              </p:nvSpPr>
              <p:spPr>
                <a:xfrm>
                  <a:off x="4332681" y="1104230"/>
                  <a:ext cx="6607771" cy="986552"/>
                </a:xfrm>
                <a:prstGeom prst="rect">
                  <a:avLst/>
                </a:prstGeom>
                <a:blipFill>
                  <a:blip r:embed="rId4"/>
                  <a:stretch>
                    <a:fillRect l="-6526" t="-129487" r="-4415" b="-182051"/>
                  </a:stretch>
                </a:blipFill>
              </p:spPr>
              <p:txBody>
                <a:bodyPr/>
                <a:lstStyle/>
                <a:p>
                  <a:r>
                    <a:rPr lang="en-US">
                      <a:noFill/>
                    </a:rPr>
                    <a:t> </a:t>
                  </a:r>
                </a:p>
              </p:txBody>
            </p:sp>
          </mc:Fallback>
        </mc:AlternateContent>
      </p:grpSp>
      <p:sp>
        <p:nvSpPr>
          <p:cNvPr id="9" name="Rectangle 8">
            <a:extLst>
              <a:ext uri="{FF2B5EF4-FFF2-40B4-BE49-F238E27FC236}">
                <a16:creationId xmlns:a16="http://schemas.microsoft.com/office/drawing/2014/main" id="{D3522152-D916-5741-AF48-CB508F4952C4}"/>
              </a:ext>
            </a:extLst>
          </p:cNvPr>
          <p:cNvSpPr/>
          <p:nvPr/>
        </p:nvSpPr>
        <p:spPr>
          <a:xfrm>
            <a:off x="2350511" y="3573301"/>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H</a:t>
            </a:r>
          </a:p>
        </p:txBody>
      </p:sp>
      <p:grpSp>
        <p:nvGrpSpPr>
          <p:cNvPr id="16" name="Group 15">
            <a:extLst>
              <a:ext uri="{FF2B5EF4-FFF2-40B4-BE49-F238E27FC236}">
                <a16:creationId xmlns:a16="http://schemas.microsoft.com/office/drawing/2014/main" id="{88FC7ACD-8080-1549-9D9A-C7BDF48668B3}"/>
              </a:ext>
            </a:extLst>
          </p:cNvPr>
          <p:cNvGrpSpPr/>
          <p:nvPr/>
        </p:nvGrpSpPr>
        <p:grpSpPr>
          <a:xfrm>
            <a:off x="8728800" y="2456441"/>
            <a:ext cx="720000" cy="796546"/>
            <a:chOff x="3031963" y="4808040"/>
            <a:chExt cx="720000" cy="796546"/>
          </a:xfrm>
        </p:grpSpPr>
        <p:sp>
          <p:nvSpPr>
            <p:cNvPr id="11" name="Rectangle 10">
              <a:extLst>
                <a:ext uri="{FF2B5EF4-FFF2-40B4-BE49-F238E27FC236}">
                  <a16:creationId xmlns:a16="http://schemas.microsoft.com/office/drawing/2014/main" id="{75984391-5D9E-6A4E-94A7-94977D717624}"/>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2" name="Arc 11">
              <a:extLst>
                <a:ext uri="{FF2B5EF4-FFF2-40B4-BE49-F238E27FC236}">
                  <a16:creationId xmlns:a16="http://schemas.microsoft.com/office/drawing/2014/main" id="{C30D3ED5-8085-D648-9853-1E50DCFE96C2}"/>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00F7998-40F1-A240-B4FB-1201470FF160}"/>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7FDAD472-6A67-7441-AF04-D718E5D20FE2}"/>
              </a:ext>
            </a:extLst>
          </p:cNvPr>
          <p:cNvSpPr/>
          <p:nvPr/>
        </p:nvSpPr>
        <p:spPr>
          <a:xfrm>
            <a:off x="1492832" y="2469077"/>
            <a:ext cx="1271493"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latin typeface="Times" pitchFamily="2" charset="0"/>
              </a:rPr>
              <a:t>H</a:t>
            </a:r>
            <a:r>
              <a:rPr lang="en-US" sz="4000" baseline="30000" dirty="0" err="1">
                <a:latin typeface="Times" pitchFamily="2" charset="0"/>
              </a:rPr>
              <a:t>⨂</a:t>
            </a:r>
            <a:r>
              <a:rPr lang="en-US" sz="4000" i="1" baseline="30000" dirty="0" err="1">
                <a:latin typeface="Times" pitchFamily="2" charset="0"/>
              </a:rPr>
              <a:t>n</a:t>
            </a:r>
            <a:endParaRPr lang="en-US" sz="4000" i="1" baseline="30000" dirty="0">
              <a:latin typeface="Times" pitchFamily="2" charset="0"/>
            </a:endParaRPr>
          </a:p>
        </p:txBody>
      </p:sp>
      <p:sp>
        <p:nvSpPr>
          <p:cNvPr id="17" name="Rounded Rectangle 16">
            <a:extLst>
              <a:ext uri="{FF2B5EF4-FFF2-40B4-BE49-F238E27FC236}">
                <a16:creationId xmlns:a16="http://schemas.microsoft.com/office/drawing/2014/main" id="{F74807BA-7B49-A64D-A7A9-ABCCACB1A275}"/>
              </a:ext>
            </a:extLst>
          </p:cNvPr>
          <p:cNvSpPr/>
          <p:nvPr/>
        </p:nvSpPr>
        <p:spPr>
          <a:xfrm>
            <a:off x="3424896" y="2427467"/>
            <a:ext cx="3111500" cy="1819986"/>
          </a:xfrm>
          <a:prstGeom prst="roundRect">
            <a:avLst>
              <a:gd name="adj" fmla="val 4804"/>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5B55692A-C476-0744-A72D-1E724A1CBF23}"/>
                  </a:ext>
                </a:extLst>
              </p:cNvPr>
              <p:cNvSpPr/>
              <p:nvPr/>
            </p:nvSpPr>
            <p:spPr>
              <a:xfrm>
                <a:off x="3424896" y="3677003"/>
                <a:ext cx="7596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en-US" sz="2400" b="0" i="1" smtClean="0">
                              <a:latin typeface="Cambria Math" panose="02040503050406030204" pitchFamily="18" charset="0"/>
                            </a:rPr>
                            <m:t>−</m:t>
                          </m:r>
                        </m:e>
                      </m:d>
                    </m:oMath>
                  </m:oMathPara>
                </a14:m>
                <a:endParaRPr lang="en-US" sz="2400" dirty="0"/>
              </a:p>
            </p:txBody>
          </p:sp>
        </mc:Choice>
        <mc:Fallback xmlns="">
          <p:sp>
            <p:nvSpPr>
              <p:cNvPr id="21" name="Rectangle 20">
                <a:extLst>
                  <a:ext uri="{FF2B5EF4-FFF2-40B4-BE49-F238E27FC236}">
                    <a16:creationId xmlns:a16="http://schemas.microsoft.com/office/drawing/2014/main" id="{5B55692A-C476-0744-A72D-1E724A1CBF23}"/>
                  </a:ext>
                </a:extLst>
              </p:cNvPr>
              <p:cNvSpPr>
                <a:spLocks noRot="1" noChangeAspect="1" noMove="1" noResize="1" noEditPoints="1" noAdjustHandles="1" noChangeArrowheads="1" noChangeShapeType="1" noTextEdit="1"/>
              </p:cNvSpPr>
              <p:nvPr/>
            </p:nvSpPr>
            <p:spPr>
              <a:xfrm>
                <a:off x="3424896" y="3677003"/>
                <a:ext cx="759632" cy="461665"/>
              </a:xfrm>
              <a:prstGeom prst="rect">
                <a:avLst/>
              </a:prstGeom>
              <a:blipFill>
                <a:blip r:embed="rId8"/>
                <a:stretch>
                  <a:fillRect l="-5000" t="-127027" r="-43333" b="-191892"/>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10233F2B-CF1B-8748-93A4-324B81397FA7}"/>
              </a:ext>
            </a:extLst>
          </p:cNvPr>
          <p:cNvSpPr/>
          <p:nvPr/>
        </p:nvSpPr>
        <p:spPr>
          <a:xfrm>
            <a:off x="6981290" y="2456441"/>
            <a:ext cx="1271493"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latin typeface="Times" pitchFamily="2" charset="0"/>
              </a:rPr>
              <a:t>H</a:t>
            </a:r>
            <a:r>
              <a:rPr lang="en-US" sz="4000" baseline="30000" dirty="0" err="1">
                <a:latin typeface="Times" pitchFamily="2" charset="0"/>
              </a:rPr>
              <a:t>⨂</a:t>
            </a:r>
            <a:r>
              <a:rPr lang="en-US" sz="4000" i="1" baseline="30000" dirty="0" err="1">
                <a:latin typeface="Times" pitchFamily="2" charset="0"/>
              </a:rPr>
              <a:t>n</a:t>
            </a:r>
            <a:endParaRPr lang="en-US" sz="4000" i="1" baseline="30000" dirty="0">
              <a:latin typeface="Times" pitchFamily="2" charset="0"/>
            </a:endParaRPr>
          </a:p>
        </p:txBody>
      </p:sp>
      <p:sp>
        <p:nvSpPr>
          <p:cNvPr id="23" name="Oval 22">
            <a:extLst>
              <a:ext uri="{FF2B5EF4-FFF2-40B4-BE49-F238E27FC236}">
                <a16:creationId xmlns:a16="http://schemas.microsoft.com/office/drawing/2014/main" id="{EAF9DA22-98DD-7043-8AA4-027DF8B39686}"/>
              </a:ext>
            </a:extLst>
          </p:cNvPr>
          <p:cNvSpPr/>
          <p:nvPr/>
        </p:nvSpPr>
        <p:spPr>
          <a:xfrm>
            <a:off x="1453319" y="3553958"/>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Times" pitchFamily="2" charset="0"/>
              </a:rPr>
              <a:t>+</a:t>
            </a:r>
          </a:p>
        </p:txBody>
      </p:sp>
      <p:sp>
        <p:nvSpPr>
          <p:cNvPr id="24" name="TextBox 23">
            <a:extLst>
              <a:ext uri="{FF2B5EF4-FFF2-40B4-BE49-F238E27FC236}">
                <a16:creationId xmlns:a16="http://schemas.microsoft.com/office/drawing/2014/main" id="{87D8134D-C9AF-F043-BBD4-816F829C15CC}"/>
              </a:ext>
            </a:extLst>
          </p:cNvPr>
          <p:cNvSpPr txBox="1"/>
          <p:nvPr/>
        </p:nvSpPr>
        <p:spPr>
          <a:xfrm>
            <a:off x="4605393" y="2986083"/>
            <a:ext cx="591829" cy="769441"/>
          </a:xfrm>
          <a:prstGeom prst="rect">
            <a:avLst/>
          </a:prstGeom>
          <a:noFill/>
        </p:spPr>
        <p:txBody>
          <a:bodyPr wrap="none" rtlCol="0">
            <a:spAutoFit/>
          </a:bodyPr>
          <a:lstStyle/>
          <a:p>
            <a:r>
              <a:rPr lang="en-US" sz="4400" i="1" dirty="0">
                <a:latin typeface="Times New Roman" panose="02020603050405020304" pitchFamily="18" charset="0"/>
                <a:cs typeface="Times New Roman" panose="02020603050405020304" pitchFamily="18" charset="0"/>
              </a:rPr>
              <a:t>O</a:t>
            </a: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DE8BDC1F-6CBE-2E43-AAD0-519A9D215E2F}"/>
                  </a:ext>
                </a:extLst>
              </p:cNvPr>
              <p:cNvSpPr/>
              <p:nvPr/>
            </p:nvSpPr>
            <p:spPr>
              <a:xfrm>
                <a:off x="318822" y="2577739"/>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32" name="Rectangle 31">
                <a:extLst>
                  <a:ext uri="{FF2B5EF4-FFF2-40B4-BE49-F238E27FC236}">
                    <a16:creationId xmlns:a16="http://schemas.microsoft.com/office/drawing/2014/main" id="{DE8BDC1F-6CBE-2E43-AAD0-519A9D215E2F}"/>
                  </a:ext>
                </a:extLst>
              </p:cNvPr>
              <p:cNvSpPr>
                <a:spLocks noRot="1" noChangeAspect="1" noMove="1" noResize="1" noEditPoints="1" noAdjustHandles="1" noChangeArrowheads="1" noChangeShapeType="1" noTextEdit="1"/>
              </p:cNvSpPr>
              <p:nvPr/>
            </p:nvSpPr>
            <p:spPr>
              <a:xfrm>
                <a:off x="318822" y="2577739"/>
                <a:ext cx="631904" cy="461665"/>
              </a:xfrm>
              <a:prstGeom prst="rect">
                <a:avLst/>
              </a:prstGeom>
              <a:blipFill>
                <a:blip r:embed="rId9"/>
                <a:stretch>
                  <a:fillRect l="-23529" t="-124324" r="-49020" b="-194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34076D6F-F96E-E147-86E6-C1DFF4C94710}"/>
                  </a:ext>
                </a:extLst>
              </p:cNvPr>
              <p:cNvSpPr/>
              <p:nvPr/>
            </p:nvSpPr>
            <p:spPr>
              <a:xfrm>
                <a:off x="318822" y="3702468"/>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33" name="Rectangle 32">
                <a:extLst>
                  <a:ext uri="{FF2B5EF4-FFF2-40B4-BE49-F238E27FC236}">
                    <a16:creationId xmlns:a16="http://schemas.microsoft.com/office/drawing/2014/main" id="{34076D6F-F96E-E147-86E6-C1DFF4C94710}"/>
                  </a:ext>
                </a:extLst>
              </p:cNvPr>
              <p:cNvSpPr>
                <a:spLocks noRot="1" noChangeAspect="1" noMove="1" noResize="1" noEditPoints="1" noAdjustHandles="1" noChangeArrowheads="1" noChangeShapeType="1" noTextEdit="1"/>
              </p:cNvSpPr>
              <p:nvPr/>
            </p:nvSpPr>
            <p:spPr>
              <a:xfrm>
                <a:off x="318822" y="3702468"/>
                <a:ext cx="631904" cy="461665"/>
              </a:xfrm>
              <a:prstGeom prst="rect">
                <a:avLst/>
              </a:prstGeom>
              <a:blipFill>
                <a:blip r:embed="rId10"/>
                <a:stretch>
                  <a:fillRect l="-23529" t="-127027" r="-49020" b="-191892"/>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1880F3A4-08FE-624F-AF42-4F6CF497B8A0}"/>
              </a:ext>
            </a:extLst>
          </p:cNvPr>
          <p:cNvCxnSpPr>
            <a:cxnSpLocks/>
          </p:cNvCxnSpPr>
          <p:nvPr/>
        </p:nvCxnSpPr>
        <p:spPr>
          <a:xfrm flipV="1">
            <a:off x="1056290" y="2671055"/>
            <a:ext cx="71628" cy="2888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D6407D1B-B3E9-614C-AD38-0A5CE6B80E8B}"/>
              </a:ext>
            </a:extLst>
          </p:cNvPr>
          <p:cNvGrpSpPr/>
          <p:nvPr/>
        </p:nvGrpSpPr>
        <p:grpSpPr>
          <a:xfrm>
            <a:off x="3239424" y="4430982"/>
            <a:ext cx="8819466" cy="1440993"/>
            <a:chOff x="3803829" y="4909925"/>
            <a:chExt cx="8819466" cy="1440993"/>
          </a:xfrm>
        </p:grpSpPr>
        <p:sp>
          <p:nvSpPr>
            <p:cNvPr id="40" name="Line Callout 1 39">
              <a:extLst>
                <a:ext uri="{FF2B5EF4-FFF2-40B4-BE49-F238E27FC236}">
                  <a16:creationId xmlns:a16="http://schemas.microsoft.com/office/drawing/2014/main" id="{FB265501-E850-E04C-9809-76F9B40DA9C9}"/>
                </a:ext>
              </a:extLst>
            </p:cNvPr>
            <p:cNvSpPr/>
            <p:nvPr/>
          </p:nvSpPr>
          <p:spPr>
            <a:xfrm>
              <a:off x="3803829" y="4909925"/>
              <a:ext cx="8755224" cy="1440993"/>
            </a:xfrm>
            <a:prstGeom prst="borderCallout1">
              <a:avLst>
                <a:gd name="adj1" fmla="val -12401"/>
                <a:gd name="adj2" fmla="val 59604"/>
                <a:gd name="adj3" fmla="val -131585"/>
                <a:gd name="adj4" fmla="val 59614"/>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7" name="Rectangle 36">
                  <a:extLst>
                    <a:ext uri="{FF2B5EF4-FFF2-40B4-BE49-F238E27FC236}">
                      <a16:creationId xmlns:a16="http://schemas.microsoft.com/office/drawing/2014/main" id="{E1B0B0B5-C0F6-1148-A8BF-A4E78AD97A69}"/>
                    </a:ext>
                  </a:extLst>
                </p:cNvPr>
                <p:cNvSpPr/>
                <p:nvPr/>
              </p:nvSpPr>
              <p:spPr>
                <a:xfrm>
                  <a:off x="3803829" y="5089054"/>
                  <a:ext cx="8819466" cy="10742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i="1">
                                        <a:latin typeface="Cambria Math" panose="02040503050406030204" pitchFamily="18" charset="0"/>
                                      </a:rPr>
                                      <m:t>𝑛</m:t>
                                    </m:r>
                                  </m:sup>
                                </m:sSup>
                              </m:e>
                            </m:rad>
                          </m:den>
                        </m:f>
                        <m:nary>
                          <m:naryPr>
                            <m:chr m:val="∑"/>
                            <m:supHide m:val="on"/>
                            <m:ctrlPr>
                              <a:rPr lang="en-US" sz="2400" i="1" smtClean="0">
                                <a:latin typeface="Cambria Math" panose="02040503050406030204" pitchFamily="18" charset="0"/>
                              </a:rPr>
                            </m:ctrlPr>
                          </m:naryPr>
                          <m:sub>
                            <m:r>
                              <m:rPr>
                                <m:brk m:alnAt="7"/>
                              </m:rPr>
                              <a:rPr lang="en-US" sz="2400" b="0" i="1" smtClean="0">
                                <a:latin typeface="Cambria Math" panose="02040503050406030204" pitchFamily="18" charset="0"/>
                              </a:rPr>
                              <m:t>𝑥</m:t>
                            </m:r>
                          </m:sub>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r>
                                  <a:rPr lang="en-US" sz="2400" i="1">
                                    <a:latin typeface="Cambria Math" panose="02040503050406030204" pitchFamily="18" charset="0"/>
                                  </a:rPr>
                                  <m:t>𝑥</m:t>
                                </m:r>
                                <m:r>
                                  <a:rPr lang="en-US" sz="2400">
                                    <a:latin typeface="Cambria Math" panose="02040503050406030204" pitchFamily="18" charset="0"/>
                                  </a:rPr>
                                  <m:t>∙</m:t>
                                </m:r>
                                <m:r>
                                  <a:rPr lang="en-US" sz="2400" b="0" i="1" smtClean="0">
                                    <a:latin typeface="Cambria Math" panose="02040503050406030204" pitchFamily="18" charset="0"/>
                                  </a:rPr>
                                  <m:t>𝑠</m:t>
                                </m:r>
                              </m:sup>
                            </m:sSup>
                          </m:e>
                        </m:nary>
                        <m:f>
                          <m:fPr>
                            <m:ctrlPr>
                              <a:rPr lang="en-US" sz="2400" i="1">
                                <a:latin typeface="Cambria Math" panose="02040503050406030204" pitchFamily="18" charset="0"/>
                              </a:rPr>
                            </m:ctrlPr>
                          </m:fPr>
                          <m:num>
                            <m: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i="1">
                                        <a:latin typeface="Cambria Math" panose="02040503050406030204" pitchFamily="18" charset="0"/>
                                      </a:rPr>
                                      <m:t>𝑛</m:t>
                                    </m:r>
                                  </m:sup>
                                </m:sSup>
                              </m:e>
                            </m:rad>
                          </m:den>
                        </m:f>
                        <m:nary>
                          <m:naryPr>
                            <m:chr m:val="∑"/>
                            <m:supHide m:val="on"/>
                            <m:ctrlPr>
                              <a:rPr lang="en-US" sz="2400" i="1">
                                <a:latin typeface="Cambria Math" panose="02040503050406030204" pitchFamily="18" charset="0"/>
                              </a:rPr>
                            </m:ctrlPr>
                          </m:naryPr>
                          <m:sub>
                            <m:r>
                              <a:rPr lang="en-US" sz="2400" b="0" i="1" smtClean="0">
                                <a:latin typeface="Cambria Math" panose="02040503050406030204" pitchFamily="18" charset="0"/>
                              </a:rPr>
                              <m:t>𝑘</m:t>
                            </m:r>
                          </m:sub>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r>
                                  <a:rPr lang="en-US" sz="2400" i="1">
                                    <a:latin typeface="Cambria Math" panose="02040503050406030204" pitchFamily="18" charset="0"/>
                                  </a:rPr>
                                  <m:t>𝑥</m:t>
                                </m:r>
                                <m:r>
                                  <a:rPr lang="en-US" sz="2400">
                                    <a:latin typeface="Cambria Math" panose="02040503050406030204" pitchFamily="18" charset="0"/>
                                  </a:rPr>
                                  <m:t>∙</m:t>
                                </m:r>
                                <m:r>
                                  <a:rPr lang="en-US" sz="2400" b="0" i="1" smtClean="0">
                                    <a:latin typeface="Cambria Math" panose="02040503050406030204" pitchFamily="18" charset="0"/>
                                  </a:rPr>
                                  <m:t>𝑘</m:t>
                                </m:r>
                              </m:sup>
                            </m:sSup>
                          </m:e>
                        </m:nary>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𝑘</m:t>
                            </m:r>
                          </m:e>
                        </m:d>
                        <m:r>
                          <a:rPr lang="en-US" sz="2400" b="0" i="0" smtClean="0">
                            <a:latin typeface="Cambria Math" panose="02040503050406030204" pitchFamily="18" charset="0"/>
                          </a:rPr>
                          <m:t>=</m:t>
                        </m:r>
                        <m:f>
                          <m:fPr>
                            <m:ctrlPr>
                              <a:rPr lang="en-US" sz="2400" i="1" smtClean="0">
                                <a:latin typeface="Cambria Math" panose="02040503050406030204" pitchFamily="18" charset="0"/>
                              </a:rPr>
                            </m:ctrlPr>
                          </m:fPr>
                          <m:num>
                            <m:r>
                              <a:rPr lang="en-US" sz="2400">
                                <a:latin typeface="Cambria Math" panose="02040503050406030204" pitchFamily="18" charset="0"/>
                              </a:rPr>
                              <m:t>1</m:t>
                            </m:r>
                          </m:num>
                          <m:den>
                            <m:sSup>
                              <m:sSupPr>
                                <m:ctrlPr>
                                  <a:rPr lang="en-US" sz="2400" i="1">
                                    <a:latin typeface="Cambria Math" panose="02040503050406030204" pitchFamily="18" charset="0"/>
                                  </a:rPr>
                                </m:ctrlPr>
                              </m:sSupPr>
                              <m:e>
                                <m:r>
                                  <a:rPr lang="en-US" sz="2400">
                                    <a:latin typeface="Cambria Math" panose="02040503050406030204" pitchFamily="18" charset="0"/>
                                  </a:rPr>
                                  <m:t>2</m:t>
                                </m:r>
                              </m:e>
                              <m:sup>
                                <m:r>
                                  <a:rPr lang="en-US" sz="2400" i="1">
                                    <a:latin typeface="Cambria Math" panose="02040503050406030204" pitchFamily="18" charset="0"/>
                                  </a:rPr>
                                  <m:t>𝑛</m:t>
                                </m:r>
                              </m:sup>
                            </m:sSup>
                          </m:den>
                        </m:f>
                        <m:nary>
                          <m:naryPr>
                            <m:chr m:val="∑"/>
                            <m:limLoc m:val="undOvr"/>
                            <m:subHide m:val="on"/>
                            <m:supHide m:val="on"/>
                            <m:ctrlPr>
                              <a:rPr lang="en-US" sz="2400" i="1">
                                <a:latin typeface="Cambria Math" panose="02040503050406030204" pitchFamily="18" charset="0"/>
                              </a:rPr>
                            </m:ctrlPr>
                          </m:naryPr>
                          <m:sub/>
                          <m:sup/>
                          <m:e>
                            <m:d>
                              <m:dPr>
                                <m:ctrlPr>
                                  <a:rPr lang="en-US" sz="2400" i="1">
                                    <a:latin typeface="Cambria Math" panose="02040503050406030204" pitchFamily="18" charset="0"/>
                                  </a:rPr>
                                </m:ctrlPr>
                              </m:dPr>
                              <m:e>
                                <m:nary>
                                  <m:naryPr>
                                    <m:chr m:val="∑"/>
                                    <m:limLoc m:val="undOvr"/>
                                    <m:subHide m:val="on"/>
                                    <m:supHide m:val="on"/>
                                    <m:ctrlPr>
                                      <a:rPr lang="en-US" sz="2400" i="1">
                                        <a:latin typeface="Cambria Math" panose="02040503050406030204" pitchFamily="18" charset="0"/>
                                      </a:rPr>
                                    </m:ctrlPr>
                                  </m:naryPr>
                                  <m:sub/>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−1</m:t>
                                            </m:r>
                                          </m:e>
                                        </m:d>
                                      </m:e>
                                      <m:sup>
                                        <m:d>
                                          <m:dPr>
                                            <m:ctrlPr>
                                              <a:rPr lang="en-US" sz="2400" i="1">
                                                <a:latin typeface="Cambria Math" panose="02040503050406030204" pitchFamily="18" charset="0"/>
                                              </a:rPr>
                                            </m:ctrlPr>
                                          </m:dPr>
                                          <m:e>
                                            <m:r>
                                              <a:rPr lang="en-US" sz="2400" i="1">
                                                <a:latin typeface="Cambria Math" panose="02040503050406030204" pitchFamily="18" charset="0"/>
                                              </a:rPr>
                                              <m:t>𝑠</m:t>
                                            </m:r>
                                            <m:nary>
                                              <m:naryPr>
                                                <m:chr m:val="⨁"/>
                                                <m:subHide m:val="on"/>
                                                <m:supHide m:val="on"/>
                                                <m:ctrlPr>
                                                  <a:rPr lang="en-US" sz="2400" i="1">
                                                    <a:latin typeface="Cambria Math" panose="02040503050406030204" pitchFamily="18" charset="0"/>
                                                  </a:rPr>
                                                </m:ctrlPr>
                                              </m:naryPr>
                                              <m:sub/>
                                              <m:sup/>
                                              <m:e>
                                                <m:r>
                                                  <a:rPr lang="en-US" sz="2400" b="0" i="1" smtClean="0">
                                                    <a:latin typeface="Cambria Math" panose="02040503050406030204" pitchFamily="18" charset="0"/>
                                                  </a:rPr>
                                                  <m:t>𝑘</m:t>
                                                </m:r>
                                              </m:e>
                                            </m:nary>
                                          </m:e>
                                        </m:d>
                                        <m:r>
                                          <a:rPr lang="en-US" sz="2400">
                                            <a:latin typeface="Cambria Math" panose="02040503050406030204" pitchFamily="18" charset="0"/>
                                          </a:rPr>
                                          <m:t>∙</m:t>
                                        </m:r>
                                        <m:r>
                                          <a:rPr lang="en-US" sz="2400" i="1">
                                            <a:latin typeface="Cambria Math" panose="02040503050406030204" pitchFamily="18" charset="0"/>
                                          </a:rPr>
                                          <m:t>𝑥</m:t>
                                        </m:r>
                                      </m:sup>
                                    </m:sSup>
                                  </m:e>
                                </m:nary>
                              </m:e>
                            </m:d>
                          </m:e>
                        </m:nary>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𝑘</m:t>
                            </m:r>
                          </m:e>
                        </m:d>
                      </m:oMath>
                    </m:oMathPara>
                  </a14:m>
                  <a:endParaRPr lang="en-US" sz="2400" dirty="0"/>
                </a:p>
              </p:txBody>
            </p:sp>
          </mc:Choice>
          <mc:Fallback>
            <p:sp>
              <p:nvSpPr>
                <p:cNvPr id="37" name="Rectangle 36">
                  <a:extLst>
                    <a:ext uri="{FF2B5EF4-FFF2-40B4-BE49-F238E27FC236}">
                      <a16:creationId xmlns:a16="http://schemas.microsoft.com/office/drawing/2014/main" id="{E1B0B0B5-C0F6-1148-A8BF-A4E78AD97A69}"/>
                    </a:ext>
                  </a:extLst>
                </p:cNvPr>
                <p:cNvSpPr>
                  <a:spLocks noRot="1" noChangeAspect="1" noMove="1" noResize="1" noEditPoints="1" noAdjustHandles="1" noChangeArrowheads="1" noChangeShapeType="1" noTextEdit="1"/>
                </p:cNvSpPr>
                <p:nvPr/>
              </p:nvSpPr>
              <p:spPr>
                <a:xfrm>
                  <a:off x="3803829" y="5089054"/>
                  <a:ext cx="8819466" cy="1074268"/>
                </a:xfrm>
                <a:prstGeom prst="rect">
                  <a:avLst/>
                </a:prstGeom>
                <a:blipFill>
                  <a:blip r:embed="rId11"/>
                  <a:stretch>
                    <a:fillRect l="-4741" t="-110465" r="-3161" b="-1639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Rectangle 48">
                  <a:extLst>
                    <a:ext uri="{FF2B5EF4-FFF2-40B4-BE49-F238E27FC236}">
                      <a16:creationId xmlns:a16="http://schemas.microsoft.com/office/drawing/2014/main" id="{6EC533DA-DFCB-8C41-B45E-A440338EB34C}"/>
                    </a:ext>
                  </a:extLst>
                </p:cNvPr>
                <p:cNvSpPr/>
                <p:nvPr/>
              </p:nvSpPr>
              <p:spPr>
                <a:xfrm>
                  <a:off x="9227714" y="5836538"/>
                  <a:ext cx="36798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𝑘</m:t>
                        </m:r>
                      </m:oMath>
                    </m:oMathPara>
                  </a14:m>
                  <a:endParaRPr lang="en-US" dirty="0"/>
                </a:p>
              </p:txBody>
            </p:sp>
          </mc:Choice>
          <mc:Fallback>
            <p:sp>
              <p:nvSpPr>
                <p:cNvPr id="49" name="Rectangle 48">
                  <a:extLst>
                    <a:ext uri="{FF2B5EF4-FFF2-40B4-BE49-F238E27FC236}">
                      <a16:creationId xmlns:a16="http://schemas.microsoft.com/office/drawing/2014/main" id="{6EC533DA-DFCB-8C41-B45E-A440338EB34C}"/>
                    </a:ext>
                  </a:extLst>
                </p:cNvPr>
                <p:cNvSpPr>
                  <a:spLocks noRot="1" noChangeAspect="1" noMove="1" noResize="1" noEditPoints="1" noAdjustHandles="1" noChangeArrowheads="1" noChangeShapeType="1" noTextEdit="1"/>
                </p:cNvSpPr>
                <p:nvPr/>
              </p:nvSpPr>
              <p:spPr>
                <a:xfrm>
                  <a:off x="9227714" y="5836538"/>
                  <a:ext cx="367985" cy="369332"/>
                </a:xfrm>
                <a:prstGeom prst="rect">
                  <a:avLst/>
                </a:prstGeom>
                <a:blipFill>
                  <a:blip r:embed="rId12"/>
                  <a:stretch>
                    <a:fillRect/>
                  </a:stretch>
                </a:blipFill>
              </p:spPr>
              <p:txBody>
                <a:bodyPr/>
                <a:lstStyle/>
                <a:p>
                  <a:r>
                    <a:rPr lang="en-US">
                      <a:noFill/>
                    </a:rPr>
                    <a:t> </a:t>
                  </a:r>
                </a:p>
              </p:txBody>
            </p:sp>
          </mc:Fallback>
        </mc:AlternateContent>
        <p:sp>
          <p:nvSpPr>
            <p:cNvPr id="50" name="Rectangle 49">
              <a:extLst>
                <a:ext uri="{FF2B5EF4-FFF2-40B4-BE49-F238E27FC236}">
                  <a16:creationId xmlns:a16="http://schemas.microsoft.com/office/drawing/2014/main" id="{430B5A3B-1A12-6B4A-AEE8-D337D5106FA4}"/>
                </a:ext>
              </a:extLst>
            </p:cNvPr>
            <p:cNvSpPr/>
            <p:nvPr/>
          </p:nvSpPr>
          <p:spPr>
            <a:xfrm>
              <a:off x="9910911" y="5822341"/>
              <a:ext cx="288862" cy="369332"/>
            </a:xfrm>
            <a:prstGeom prst="rect">
              <a:avLst/>
            </a:prstGeom>
          </p:spPr>
          <p:txBody>
            <a:bodyPr wrap="none">
              <a:spAutoFit/>
            </a:bodyPr>
            <a:lstStyle/>
            <a:p>
              <a:r>
                <a:rPr lang="en-US" i="1" dirty="0"/>
                <a:t>x</a:t>
              </a:r>
            </a:p>
          </p:txBody>
        </p:sp>
      </p:gr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DA265E7-DA3E-A44D-815A-386C279FDBF8}"/>
                  </a:ext>
                </a:extLst>
              </p:cNvPr>
              <p:cNvSpPr txBox="1"/>
              <p:nvPr/>
            </p:nvSpPr>
            <p:spPr>
              <a:xfrm>
                <a:off x="6262666" y="5965407"/>
                <a:ext cx="5917454" cy="461665"/>
              </a:xfrm>
              <a:prstGeom prst="rect">
                <a:avLst/>
              </a:prstGeom>
              <a:noFill/>
            </p:spPr>
            <p:txBody>
              <a:bodyPr wrap="none" rtlCol="0">
                <a:spAutoFit/>
              </a:bodyPr>
              <a:lstStyle/>
              <a:p>
                <a:r>
                  <a:rPr lang="en-US" sz="2400" dirty="0"/>
                  <a:t>for </a:t>
                </a:r>
                <a14:m>
                  <m:oMath xmlns:m="http://schemas.openxmlformats.org/officeDocument/2006/math">
                    <m:r>
                      <a:rPr lang="en-US" sz="2400" b="0" i="1" smtClean="0">
                        <a:latin typeface="Cambria Math" panose="02040503050406030204" pitchFamily="18" charset="0"/>
                      </a:rPr>
                      <m:t>𝑘</m:t>
                    </m:r>
                    <m:r>
                      <a:rPr lang="sr-Latn-RS" sz="2400" b="0" i="1" smtClean="0">
                        <a:latin typeface="Cambria Math" panose="02040503050406030204" pitchFamily="18" charset="0"/>
                      </a:rPr>
                      <m:t>=</m:t>
                    </m:r>
                    <m:r>
                      <a:rPr lang="sr-Latn-RS" sz="2400" i="1">
                        <a:latin typeface="Cambria Math" panose="02040503050406030204" pitchFamily="18" charset="0"/>
                      </a:rPr>
                      <m:t>𝑠</m:t>
                    </m:r>
                  </m:oMath>
                </a14:m>
                <a:r>
                  <a:rPr lang="en-US" sz="2400" dirty="0"/>
                  <a:t> probability of measuring </a:t>
                </a:r>
                <a14:m>
                  <m:oMath xmlns:m="http://schemas.openxmlformats.org/officeDocument/2006/math">
                    <m:r>
                      <a:rPr lang="en-US" sz="2400" i="1">
                        <a:latin typeface="Cambria Math" panose="02040503050406030204" pitchFamily="18" charset="0"/>
                      </a:rPr>
                      <m:t>𝑘</m:t>
                    </m:r>
                    <m:r>
                      <a:rPr lang="sr-Latn-RS" sz="2400" i="1">
                        <a:latin typeface="Cambria Math" panose="02040503050406030204" pitchFamily="18" charset="0"/>
                      </a:rPr>
                      <m:t>=</m:t>
                    </m:r>
                    <m:r>
                      <a:rPr lang="sr-Latn-RS" sz="2400" i="1">
                        <a:latin typeface="Cambria Math" panose="02040503050406030204" pitchFamily="18" charset="0"/>
                      </a:rPr>
                      <m:t>𝑠</m:t>
                    </m:r>
                  </m:oMath>
                </a14:m>
                <a:r>
                  <a:rPr lang="en-US" sz="2400" dirty="0"/>
                  <a:t> is 1! </a:t>
                </a:r>
              </a:p>
            </p:txBody>
          </p:sp>
        </mc:Choice>
        <mc:Fallback xmlns="">
          <p:sp>
            <p:nvSpPr>
              <p:cNvPr id="52" name="TextBox 51">
                <a:extLst>
                  <a:ext uri="{FF2B5EF4-FFF2-40B4-BE49-F238E27FC236}">
                    <a16:creationId xmlns:a16="http://schemas.microsoft.com/office/drawing/2014/main" id="{2DA265E7-DA3E-A44D-815A-386C279FDBF8}"/>
                  </a:ext>
                </a:extLst>
              </p:cNvPr>
              <p:cNvSpPr txBox="1">
                <a:spLocks noRot="1" noChangeAspect="1" noMove="1" noResize="1" noEditPoints="1" noAdjustHandles="1" noChangeArrowheads="1" noChangeShapeType="1" noTextEdit="1"/>
              </p:cNvSpPr>
              <p:nvPr/>
            </p:nvSpPr>
            <p:spPr>
              <a:xfrm>
                <a:off x="6262666" y="5965407"/>
                <a:ext cx="5917454" cy="461665"/>
              </a:xfrm>
              <a:prstGeom prst="rect">
                <a:avLst/>
              </a:prstGeom>
              <a:blipFill>
                <a:blip r:embed="rId13"/>
                <a:stretch>
                  <a:fillRect l="-1499" t="-5405" r="-428"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CD9D31B1-CE54-1743-B5B0-7C15FD983984}"/>
                  </a:ext>
                </a:extLst>
              </p:cNvPr>
              <p:cNvSpPr/>
              <p:nvPr/>
            </p:nvSpPr>
            <p:spPr>
              <a:xfrm>
                <a:off x="5716184" y="3679960"/>
                <a:ext cx="7596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en-US" sz="2400" b="0" i="1" smtClean="0">
                              <a:latin typeface="Cambria Math" panose="02040503050406030204" pitchFamily="18" charset="0"/>
                            </a:rPr>
                            <m:t>−</m:t>
                          </m:r>
                        </m:e>
                      </m:d>
                    </m:oMath>
                  </m:oMathPara>
                </a14:m>
                <a:endParaRPr lang="en-US" sz="2400" dirty="0"/>
              </a:p>
            </p:txBody>
          </p:sp>
        </mc:Choice>
        <mc:Fallback xmlns="">
          <p:sp>
            <p:nvSpPr>
              <p:cNvPr id="35" name="Rectangle 34">
                <a:extLst>
                  <a:ext uri="{FF2B5EF4-FFF2-40B4-BE49-F238E27FC236}">
                    <a16:creationId xmlns:a16="http://schemas.microsoft.com/office/drawing/2014/main" id="{CD9D31B1-CE54-1743-B5B0-7C15FD983984}"/>
                  </a:ext>
                </a:extLst>
              </p:cNvPr>
              <p:cNvSpPr>
                <a:spLocks noRot="1" noChangeAspect="1" noMove="1" noResize="1" noEditPoints="1" noAdjustHandles="1" noChangeArrowheads="1" noChangeShapeType="1" noTextEdit="1"/>
              </p:cNvSpPr>
              <p:nvPr/>
            </p:nvSpPr>
            <p:spPr>
              <a:xfrm>
                <a:off x="5716184" y="3679960"/>
                <a:ext cx="759632" cy="461665"/>
              </a:xfrm>
              <a:prstGeom prst="rect">
                <a:avLst/>
              </a:prstGeom>
              <a:blipFill>
                <a:blip r:embed="rId14"/>
                <a:stretch>
                  <a:fillRect l="-4918" t="-124324" r="-40984"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8773B492-594E-5F40-970E-21F18081B106}"/>
                  </a:ext>
                </a:extLst>
              </p:cNvPr>
              <p:cNvSpPr/>
              <p:nvPr/>
            </p:nvSpPr>
            <p:spPr>
              <a:xfrm>
                <a:off x="3413142" y="2577738"/>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sr-Latn-RS" sz="2400" b="0" i="1" smtClean="0">
                              <a:latin typeface="Cambria Math" panose="02040503050406030204" pitchFamily="18" charset="0"/>
                            </a:rPr>
                            <m:t>𝑥</m:t>
                          </m:r>
                        </m:e>
                      </m:d>
                    </m:oMath>
                  </m:oMathPara>
                </a14:m>
                <a:endParaRPr lang="en-US" sz="2400" dirty="0"/>
              </a:p>
            </p:txBody>
          </p:sp>
        </mc:Choice>
        <mc:Fallback xmlns="">
          <p:sp>
            <p:nvSpPr>
              <p:cNvPr id="36" name="Rectangle 35">
                <a:extLst>
                  <a:ext uri="{FF2B5EF4-FFF2-40B4-BE49-F238E27FC236}">
                    <a16:creationId xmlns:a16="http://schemas.microsoft.com/office/drawing/2014/main" id="{8773B492-594E-5F40-970E-21F18081B106}"/>
                  </a:ext>
                </a:extLst>
              </p:cNvPr>
              <p:cNvSpPr>
                <a:spLocks noRot="1" noChangeAspect="1" noMove="1" noResize="1" noEditPoints="1" noAdjustHandles="1" noChangeArrowheads="1" noChangeShapeType="1" noTextEdit="1"/>
              </p:cNvSpPr>
              <p:nvPr/>
            </p:nvSpPr>
            <p:spPr>
              <a:xfrm>
                <a:off x="3413142" y="2577738"/>
                <a:ext cx="634789" cy="461665"/>
              </a:xfrm>
              <a:prstGeom prst="rect">
                <a:avLst/>
              </a:prstGeom>
              <a:blipFill>
                <a:blip r:embed="rId15"/>
                <a:stretch>
                  <a:fillRect l="-25490" t="-124324" r="-49020" b="-194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900A760A-4191-DF4B-BE65-F40BFE63579F}"/>
                  </a:ext>
                </a:extLst>
              </p:cNvPr>
              <p:cNvSpPr/>
              <p:nvPr/>
            </p:nvSpPr>
            <p:spPr>
              <a:xfrm>
                <a:off x="4750376" y="2561291"/>
                <a:ext cx="1768113" cy="4866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d>
                            <m:dPr>
                              <m:ctrlPr>
                                <a:rPr lang="en-US" sz="2400" i="1">
                                  <a:latin typeface="Cambria Math" panose="02040503050406030204" pitchFamily="18" charset="0"/>
                                </a:rPr>
                              </m:ctrlPr>
                            </m:dPr>
                            <m:e>
                              <m:r>
                                <a:rPr lang="en-US" sz="2400">
                                  <a:latin typeface="Cambria Math" panose="02040503050406030204" pitchFamily="18" charset="0"/>
                                </a:rPr>
                                <m:t>−</m:t>
                              </m:r>
                              <m:r>
                                <a:rPr lang="en-US" sz="2400" i="0">
                                  <a:latin typeface="Cambria Math" panose="02040503050406030204" pitchFamily="18" charset="0"/>
                                </a:rPr>
                                <m:t>1</m:t>
                              </m:r>
                            </m:e>
                          </m:d>
                        </m:e>
                        <m:sup>
                          <m:d>
                            <m:dPr>
                              <m:begChr m:val=""/>
                              <m:ctrlPr>
                                <a:rPr lang="en-US" sz="2400" i="1">
                                  <a:latin typeface="Cambria Math" panose="02040503050406030204" pitchFamily="18" charset="0"/>
                                </a:rPr>
                              </m:ctrlPr>
                            </m:dPr>
                            <m:e>
                              <m:r>
                                <a:rPr lang="en-US" sz="2400" i="1">
                                  <a:latin typeface="Cambria Math" panose="02040503050406030204" pitchFamily="18" charset="0"/>
                                </a:rPr>
                                <m:t>𝑓</m:t>
                              </m:r>
                              <m:r>
                                <a:rPr lang="en-US" sz="2400" i="0">
                                  <a:latin typeface="Cambria Math" panose="02040503050406030204" pitchFamily="18" charset="0"/>
                                </a:rPr>
                                <m:t>(</m:t>
                              </m:r>
                              <m:r>
                                <a:rPr lang="en-US" sz="2400" i="1">
                                  <a:latin typeface="Cambria Math" panose="02040503050406030204" pitchFamily="18" charset="0"/>
                                </a:rPr>
                                <m:t>𝑥</m:t>
                              </m:r>
                            </m:e>
                          </m:d>
                        </m:sup>
                      </m:sSup>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sr-Latn-RS" sz="2400" i="1">
                              <a:latin typeface="Cambria Math" panose="02040503050406030204" pitchFamily="18" charset="0"/>
                            </a:rPr>
                            <m:t>𝑥</m:t>
                          </m:r>
                        </m:e>
                      </m:d>
                    </m:oMath>
                  </m:oMathPara>
                </a14:m>
                <a:endParaRPr lang="en-US" sz="2400" dirty="0"/>
              </a:p>
            </p:txBody>
          </p:sp>
        </mc:Choice>
        <mc:Fallback xmlns="">
          <p:sp>
            <p:nvSpPr>
              <p:cNvPr id="38" name="Rectangle 37">
                <a:extLst>
                  <a:ext uri="{FF2B5EF4-FFF2-40B4-BE49-F238E27FC236}">
                    <a16:creationId xmlns:a16="http://schemas.microsoft.com/office/drawing/2014/main" id="{900A760A-4191-DF4B-BE65-F40BFE63579F}"/>
                  </a:ext>
                </a:extLst>
              </p:cNvPr>
              <p:cNvSpPr>
                <a:spLocks noRot="1" noChangeAspect="1" noMove="1" noResize="1" noEditPoints="1" noAdjustHandles="1" noChangeArrowheads="1" noChangeShapeType="1" noTextEdit="1"/>
              </p:cNvSpPr>
              <p:nvPr/>
            </p:nvSpPr>
            <p:spPr>
              <a:xfrm>
                <a:off x="4750376" y="2561291"/>
                <a:ext cx="1768113" cy="486672"/>
              </a:xfrm>
              <a:prstGeom prst="rect">
                <a:avLst/>
              </a:prstGeom>
              <a:blipFill>
                <a:blip r:embed="rId16"/>
                <a:stretch>
                  <a:fillRect t="-115385" r="-17857" b="-182051"/>
                </a:stretch>
              </a:blipFill>
            </p:spPr>
            <p:txBody>
              <a:bodyPr/>
              <a:lstStyle/>
              <a:p>
                <a:r>
                  <a:rPr lang="en-US">
                    <a:noFill/>
                  </a:rPr>
                  <a:t> </a:t>
                </a:r>
              </a:p>
            </p:txBody>
          </p:sp>
        </mc:Fallback>
      </mc:AlternateContent>
    </p:spTree>
    <p:extLst>
      <p:ext uri="{BB962C8B-B14F-4D97-AF65-F5344CB8AC3E}">
        <p14:creationId xmlns:p14="http://schemas.microsoft.com/office/powerpoint/2010/main" val="1397298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dissolv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dissolv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dissolve">
                                      <p:cBhvr>
                                        <p:cTn id="2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FF206-D0A8-7642-B81F-032A9B35F470}"/>
              </a:ext>
            </a:extLst>
          </p:cNvPr>
          <p:cNvSpPr>
            <a:spLocks noGrp="1"/>
          </p:cNvSpPr>
          <p:nvPr>
            <p:ph type="title"/>
          </p:nvPr>
        </p:nvSpPr>
        <p:spPr/>
        <p:txBody>
          <a:bodyPr/>
          <a:lstStyle/>
          <a:p>
            <a:r>
              <a:rPr lang="en-ZA" dirty="0"/>
              <a:t>Practical implementation of the Bernstein–</a:t>
            </a:r>
            <a:r>
              <a:rPr lang="en-ZA" dirty="0" err="1"/>
              <a:t>Vazirani</a:t>
            </a:r>
            <a:r>
              <a:rPr lang="en-ZA" dirty="0"/>
              <a:t> algorithm</a:t>
            </a:r>
            <a:endParaRPr lang="en-US" dirty="0"/>
          </a:p>
        </p:txBody>
      </p:sp>
      <p:sp>
        <p:nvSpPr>
          <p:cNvPr id="3" name="Slide Number Placeholder 2">
            <a:extLst>
              <a:ext uri="{FF2B5EF4-FFF2-40B4-BE49-F238E27FC236}">
                <a16:creationId xmlns:a16="http://schemas.microsoft.com/office/drawing/2014/main" id="{4919420A-9468-7D4B-9D5C-31AB9837DD41}"/>
              </a:ext>
            </a:extLst>
          </p:cNvPr>
          <p:cNvSpPr>
            <a:spLocks noGrp="1"/>
          </p:cNvSpPr>
          <p:nvPr>
            <p:ph type="sldNum" sz="quarter" idx="12"/>
          </p:nvPr>
        </p:nvSpPr>
        <p:spPr/>
        <p:txBody>
          <a:bodyPr/>
          <a:lstStyle/>
          <a:p>
            <a:fld id="{591A223C-FA10-BC46-A853-03BA373D023C}" type="slidenum">
              <a:rPr lang="en-US" smtClean="0"/>
              <a:t>29</a:t>
            </a:fld>
            <a:endParaRPr lang="en-US"/>
          </a:p>
        </p:txBody>
      </p:sp>
      <p:pic>
        <p:nvPicPr>
          <p:cNvPr id="5" name="Picture 4">
            <a:extLst>
              <a:ext uri="{FF2B5EF4-FFF2-40B4-BE49-F238E27FC236}">
                <a16:creationId xmlns:a16="http://schemas.microsoft.com/office/drawing/2014/main" id="{6A82F41E-3521-3140-B65A-6012552C00BE}"/>
              </a:ext>
            </a:extLst>
          </p:cNvPr>
          <p:cNvPicPr>
            <a:picLocks noChangeAspect="1"/>
          </p:cNvPicPr>
          <p:nvPr/>
        </p:nvPicPr>
        <p:blipFill>
          <a:blip r:embed="rId3"/>
          <a:stretch>
            <a:fillRect/>
          </a:stretch>
        </p:blipFill>
        <p:spPr>
          <a:xfrm>
            <a:off x="76200" y="1589218"/>
            <a:ext cx="12010585" cy="3249482"/>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65C7056-E99B-CE48-AA13-035CB2EFF93A}"/>
                  </a:ext>
                </a:extLst>
              </p:cNvPr>
              <p:cNvSpPr/>
              <p:nvPr/>
            </p:nvSpPr>
            <p:spPr>
              <a:xfrm>
                <a:off x="2224004" y="4583235"/>
                <a:ext cx="150246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i="1" smtClean="0">
                          <a:latin typeface="Cambria Math" panose="02040503050406030204" pitchFamily="18" charset="0"/>
                        </a:rPr>
                        <m:t>𝑠</m:t>
                      </m:r>
                      <m:r>
                        <a:rPr lang="en-US" sz="2800" b="0" i="1" smtClean="0">
                          <a:latin typeface="Cambria Math" panose="02040503050406030204" pitchFamily="18" charset="0"/>
                        </a:rPr>
                        <m:t>=110</m:t>
                      </m:r>
                    </m:oMath>
                  </m:oMathPara>
                </a14:m>
                <a:endParaRPr lang="en-US" sz="2800" dirty="0"/>
              </a:p>
            </p:txBody>
          </p:sp>
        </mc:Choice>
        <mc:Fallback xmlns="">
          <p:sp>
            <p:nvSpPr>
              <p:cNvPr id="6" name="Rectangle 5">
                <a:extLst>
                  <a:ext uri="{FF2B5EF4-FFF2-40B4-BE49-F238E27FC236}">
                    <a16:creationId xmlns:a16="http://schemas.microsoft.com/office/drawing/2014/main" id="{E65C7056-E99B-CE48-AA13-035CB2EFF93A}"/>
                  </a:ext>
                </a:extLst>
              </p:cNvPr>
              <p:cNvSpPr>
                <a:spLocks noRot="1" noChangeAspect="1" noMove="1" noResize="1" noEditPoints="1" noAdjustHandles="1" noChangeArrowheads="1" noChangeShapeType="1" noTextEdit="1"/>
              </p:cNvSpPr>
              <p:nvPr/>
            </p:nvSpPr>
            <p:spPr>
              <a:xfrm>
                <a:off x="2224004" y="4583235"/>
                <a:ext cx="1502463"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8CAC312-A847-A14B-997E-71B157CFC191}"/>
                  </a:ext>
                </a:extLst>
              </p:cNvPr>
              <p:cNvSpPr/>
              <p:nvPr/>
            </p:nvSpPr>
            <p:spPr>
              <a:xfrm>
                <a:off x="1984238" y="5142567"/>
                <a:ext cx="232781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i="1" smtClean="0">
                          <a:latin typeface="Cambria Math" panose="02040503050406030204" pitchFamily="18" charset="0"/>
                        </a:rPr>
                        <m:t>𝑥</m:t>
                      </m:r>
                      <m:r>
                        <a:rPr lang="sr-Latn-RS" sz="2800" i="1" smtClean="0">
                          <a:latin typeface="Cambria Math" panose="02040503050406030204" pitchFamily="18" charset="0"/>
                        </a:rPr>
                        <m:t>∙</m:t>
                      </m:r>
                      <m:r>
                        <a:rPr lang="sr-Latn-RS" sz="2800" i="1" smtClean="0">
                          <a:latin typeface="Cambria Math" panose="02040503050406030204" pitchFamily="18" charset="0"/>
                        </a:rPr>
                        <m:t>𝑠</m:t>
                      </m:r>
                      <m:r>
                        <a:rPr lang="sr-Latn-RS" sz="2800" i="1" smtClean="0">
                          <a:latin typeface="Cambria Math" panose="02040503050406030204" pitchFamily="18" charset="0"/>
                        </a:rPr>
                        <m:t> </m:t>
                      </m:r>
                      <m:d>
                        <m:dPr>
                          <m:ctrlPr>
                            <a:rPr lang="sr-Latn-RS" sz="2800" i="1">
                              <a:latin typeface="Cambria Math" panose="02040503050406030204" pitchFamily="18" charset="0"/>
                            </a:rPr>
                          </m:ctrlPr>
                        </m:dPr>
                        <m:e>
                          <m:r>
                            <a:rPr lang="sr-Latn-RS" sz="2800" i="1">
                              <a:latin typeface="Cambria Math" panose="02040503050406030204" pitchFamily="18" charset="0"/>
                            </a:rPr>
                            <m:t>𝑚𝑜𝑑</m:t>
                          </m:r>
                          <m:r>
                            <a:rPr lang="sr-Latn-RS" sz="2800" i="1">
                              <a:latin typeface="Cambria Math" panose="02040503050406030204" pitchFamily="18" charset="0"/>
                            </a:rPr>
                            <m:t> 2</m:t>
                          </m:r>
                        </m:e>
                      </m:d>
                    </m:oMath>
                  </m:oMathPara>
                </a14:m>
                <a:endParaRPr lang="en-US" sz="2800" dirty="0"/>
              </a:p>
            </p:txBody>
          </p:sp>
        </mc:Choice>
        <mc:Fallback xmlns="">
          <p:sp>
            <p:nvSpPr>
              <p:cNvPr id="7" name="Rectangle 6">
                <a:extLst>
                  <a:ext uri="{FF2B5EF4-FFF2-40B4-BE49-F238E27FC236}">
                    <a16:creationId xmlns:a16="http://schemas.microsoft.com/office/drawing/2014/main" id="{08CAC312-A847-A14B-997E-71B157CFC191}"/>
                  </a:ext>
                </a:extLst>
              </p:cNvPr>
              <p:cNvSpPr>
                <a:spLocks noRot="1" noChangeAspect="1" noMove="1" noResize="1" noEditPoints="1" noAdjustHandles="1" noChangeArrowheads="1" noChangeShapeType="1" noTextEdit="1"/>
              </p:cNvSpPr>
              <p:nvPr/>
            </p:nvSpPr>
            <p:spPr>
              <a:xfrm>
                <a:off x="1984238" y="5142567"/>
                <a:ext cx="2327817" cy="523220"/>
              </a:xfrm>
              <a:prstGeom prst="rect">
                <a:avLst/>
              </a:prstGeom>
              <a:blipFill>
                <a:blip r:embed="rId5"/>
                <a:stretch>
                  <a:fillRect b="-21429"/>
                </a:stretch>
              </a:blipFill>
            </p:spPr>
            <p:txBody>
              <a:bodyPr/>
              <a:lstStyle/>
              <a:p>
                <a:r>
                  <a:rPr lang="en-US">
                    <a:noFill/>
                  </a:rPr>
                  <a:t> </a:t>
                </a:r>
              </a:p>
            </p:txBody>
          </p:sp>
        </mc:Fallback>
      </mc:AlternateContent>
    </p:spTree>
    <p:extLst>
      <p:ext uri="{BB962C8B-B14F-4D97-AF65-F5344CB8AC3E}">
        <p14:creationId xmlns:p14="http://schemas.microsoft.com/office/powerpoint/2010/main" val="7406740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A0EC26-90BB-1445-9C08-4D25D1DA9447}"/>
              </a:ext>
            </a:extLst>
          </p:cNvPr>
          <p:cNvSpPr txBox="1"/>
          <p:nvPr/>
        </p:nvSpPr>
        <p:spPr>
          <a:xfrm>
            <a:off x="1276744" y="2991892"/>
            <a:ext cx="4394152" cy="1323439"/>
          </a:xfrm>
          <a:prstGeom prst="rect">
            <a:avLst/>
          </a:prstGeom>
          <a:noFill/>
        </p:spPr>
        <p:txBody>
          <a:bodyPr wrap="none" rtlCol="0">
            <a:spAutoFit/>
          </a:bodyPr>
          <a:lstStyle/>
          <a:p>
            <a:r>
              <a:rPr lang="en-ZA" sz="4000" dirty="0">
                <a:latin typeface="Comic Sans MS" panose="030F0902030302020204" pitchFamily="66" charset="0"/>
              </a:rPr>
              <a:t>Simon’s algorithm</a:t>
            </a:r>
            <a:endParaRPr lang="en-US" sz="4000" dirty="0">
              <a:latin typeface="Comic Sans MS" panose="030F0902030302020204" pitchFamily="66" charset="0"/>
            </a:endParaRPr>
          </a:p>
          <a:p>
            <a:pPr algn="ctr"/>
            <a:r>
              <a:rPr lang="en-US" sz="4000" dirty="0">
                <a:latin typeface="Comic Sans MS" panose="030F0902030302020204" pitchFamily="66" charset="0"/>
              </a:rPr>
              <a:t>(1993)</a:t>
            </a:r>
          </a:p>
        </p:txBody>
      </p:sp>
      <p:sp>
        <p:nvSpPr>
          <p:cNvPr id="7" name="TextBox 6">
            <a:extLst>
              <a:ext uri="{FF2B5EF4-FFF2-40B4-BE49-F238E27FC236}">
                <a16:creationId xmlns:a16="http://schemas.microsoft.com/office/drawing/2014/main" id="{D7D985D0-71E5-FA4A-B888-53A25D5971AC}"/>
              </a:ext>
            </a:extLst>
          </p:cNvPr>
          <p:cNvSpPr txBox="1"/>
          <p:nvPr/>
        </p:nvSpPr>
        <p:spPr>
          <a:xfrm>
            <a:off x="8565143" y="5471188"/>
            <a:ext cx="2101857" cy="523220"/>
          </a:xfrm>
          <a:prstGeom prst="rect">
            <a:avLst/>
          </a:prstGeom>
          <a:noFill/>
        </p:spPr>
        <p:txBody>
          <a:bodyPr wrap="none" rtlCol="0">
            <a:spAutoFit/>
          </a:bodyPr>
          <a:lstStyle/>
          <a:p>
            <a:r>
              <a:rPr lang="en-ZA" sz="2800" dirty="0"/>
              <a:t>Daniel Simon</a:t>
            </a:r>
            <a:endParaRPr lang="en-US" sz="2800" dirty="0"/>
          </a:p>
        </p:txBody>
      </p:sp>
      <p:pic>
        <p:nvPicPr>
          <p:cNvPr id="4" name="Picture 3">
            <a:extLst>
              <a:ext uri="{FF2B5EF4-FFF2-40B4-BE49-F238E27FC236}">
                <a16:creationId xmlns:a16="http://schemas.microsoft.com/office/drawing/2014/main" id="{1EDDCF15-83D9-0D41-A0B9-F4A42439F9DB}"/>
              </a:ext>
            </a:extLst>
          </p:cNvPr>
          <p:cNvPicPr>
            <a:picLocks noChangeAspect="1"/>
          </p:cNvPicPr>
          <p:nvPr/>
        </p:nvPicPr>
        <p:blipFill>
          <a:blip r:embed="rId3"/>
          <a:stretch>
            <a:fillRect/>
          </a:stretch>
        </p:blipFill>
        <p:spPr>
          <a:xfrm>
            <a:off x="8104095" y="2116785"/>
            <a:ext cx="3047999" cy="3191361"/>
          </a:xfrm>
          <a:prstGeom prst="rect">
            <a:avLst/>
          </a:prstGeom>
        </p:spPr>
      </p:pic>
      <p:sp>
        <p:nvSpPr>
          <p:cNvPr id="6" name="Slide Number Placeholder 2">
            <a:extLst>
              <a:ext uri="{FF2B5EF4-FFF2-40B4-BE49-F238E27FC236}">
                <a16:creationId xmlns:a16="http://schemas.microsoft.com/office/drawing/2014/main" id="{021DB4B1-8705-A34C-8947-7233420DE7AC}"/>
              </a:ext>
            </a:extLst>
          </p:cNvPr>
          <p:cNvSpPr>
            <a:spLocks noGrp="1"/>
          </p:cNvSpPr>
          <p:nvPr>
            <p:ph type="sldNum" sz="quarter" idx="12"/>
          </p:nvPr>
        </p:nvSpPr>
        <p:spPr>
          <a:xfrm>
            <a:off x="0" y="6492875"/>
            <a:ext cx="1012371" cy="365125"/>
          </a:xfrm>
        </p:spPr>
        <p:txBody>
          <a:bodyPr/>
          <a:lstStyle/>
          <a:p>
            <a:fld id="{591A223C-FA10-BC46-A853-03BA373D023C}" type="slidenum">
              <a:rPr lang="en-US" smtClean="0"/>
              <a:t>30</a:t>
            </a:fld>
            <a:endParaRPr lang="en-US"/>
          </a:p>
        </p:txBody>
      </p:sp>
    </p:spTree>
    <p:extLst>
      <p:ext uri="{BB962C8B-B14F-4D97-AF65-F5344CB8AC3E}">
        <p14:creationId xmlns:p14="http://schemas.microsoft.com/office/powerpoint/2010/main" val="4015197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A248C8-5F79-2D45-9633-43DD6C8D2DD4}"/>
              </a:ext>
            </a:extLst>
          </p:cNvPr>
          <p:cNvSpPr>
            <a:spLocks noGrp="1"/>
          </p:cNvSpPr>
          <p:nvPr>
            <p:ph type="title"/>
          </p:nvPr>
        </p:nvSpPr>
        <p:spPr/>
        <p:txBody>
          <a:bodyPr/>
          <a:lstStyle/>
          <a:p>
            <a:r>
              <a:rPr lang="en-ZA" dirty="0"/>
              <a:t>Simon’s Algorithm: Informal Problem Description</a:t>
            </a:r>
            <a:endParaRPr lang="en-US" dirty="0"/>
          </a:p>
        </p:txBody>
      </p:sp>
      <p:sp>
        <p:nvSpPr>
          <p:cNvPr id="3" name="Slide Number Placeholder 2">
            <a:extLst>
              <a:ext uri="{FF2B5EF4-FFF2-40B4-BE49-F238E27FC236}">
                <a16:creationId xmlns:a16="http://schemas.microsoft.com/office/drawing/2014/main" id="{B6A9761A-5368-AE48-B407-1CC1E9094EBC}"/>
              </a:ext>
            </a:extLst>
          </p:cNvPr>
          <p:cNvSpPr>
            <a:spLocks noGrp="1"/>
          </p:cNvSpPr>
          <p:nvPr>
            <p:ph type="sldNum" sz="quarter" idx="12"/>
          </p:nvPr>
        </p:nvSpPr>
        <p:spPr/>
        <p:txBody>
          <a:bodyPr/>
          <a:lstStyle/>
          <a:p>
            <a:fld id="{591A223C-FA10-BC46-A853-03BA373D023C}" type="slidenum">
              <a:rPr lang="en-US" smtClean="0"/>
              <a:t>31</a:t>
            </a:fld>
            <a:endParaRPr lang="en-US"/>
          </a:p>
        </p:txBody>
      </p:sp>
      <p:sp>
        <p:nvSpPr>
          <p:cNvPr id="14" name="Rectangle 13">
            <a:extLst>
              <a:ext uri="{FF2B5EF4-FFF2-40B4-BE49-F238E27FC236}">
                <a16:creationId xmlns:a16="http://schemas.microsoft.com/office/drawing/2014/main" id="{8DF2594C-6A35-A549-9D47-70696073DC06}"/>
              </a:ext>
            </a:extLst>
          </p:cNvPr>
          <p:cNvSpPr/>
          <p:nvPr/>
        </p:nvSpPr>
        <p:spPr>
          <a:xfrm>
            <a:off x="3494314" y="2909542"/>
            <a:ext cx="3142791" cy="12095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i="1" dirty="0">
                <a:solidFill>
                  <a:schemeClr val="bg1">
                    <a:lumMod val="95000"/>
                  </a:schemeClr>
                </a:solidFill>
                <a:latin typeface="Times New Roman" panose="02020603050405020304" pitchFamily="18" charset="0"/>
                <a:cs typeface="Times New Roman" panose="02020603050405020304" pitchFamily="18" charset="0"/>
              </a:rPr>
              <a:t>f(x) = f(</a:t>
            </a:r>
            <a:r>
              <a:rPr lang="en-US" sz="4000" b="1" i="1" dirty="0" err="1">
                <a:solidFill>
                  <a:schemeClr val="bg1">
                    <a:lumMod val="95000"/>
                  </a:schemeClr>
                </a:solidFill>
                <a:latin typeface="Times New Roman" panose="02020603050405020304" pitchFamily="18" charset="0"/>
                <a:cs typeface="Times New Roman" panose="02020603050405020304" pitchFamily="18" charset="0"/>
              </a:rPr>
              <a:t>x</a:t>
            </a:r>
            <a:r>
              <a:rPr lang="en-US" sz="4000" b="1" dirty="0" err="1">
                <a:solidFill>
                  <a:schemeClr val="bg1">
                    <a:lumMod val="95000"/>
                  </a:schemeClr>
                </a:solidFill>
                <a:latin typeface="Times New Roman" panose="02020603050405020304" pitchFamily="18" charset="0"/>
                <a:cs typeface="Times New Roman" panose="02020603050405020304" pitchFamily="18" charset="0"/>
              </a:rPr>
              <a:t>⨁</a:t>
            </a:r>
            <a:r>
              <a:rPr lang="en-US" sz="4000" b="1" i="1" dirty="0" err="1">
                <a:solidFill>
                  <a:schemeClr val="bg1">
                    <a:lumMod val="95000"/>
                  </a:schemeClr>
                </a:solidFill>
                <a:latin typeface="Times New Roman" panose="02020603050405020304" pitchFamily="18" charset="0"/>
                <a:cs typeface="Times New Roman" panose="02020603050405020304" pitchFamily="18" charset="0"/>
              </a:rPr>
              <a:t>s</a:t>
            </a:r>
            <a:r>
              <a:rPr lang="en-US" sz="4000" b="1" i="1" dirty="0">
                <a:solidFill>
                  <a:schemeClr val="bg1">
                    <a:lumMod val="95000"/>
                  </a:schemeClr>
                </a:solidFill>
                <a:latin typeface="Times New Roman" panose="02020603050405020304" pitchFamily="18" charset="0"/>
                <a:cs typeface="Times New Roman" panose="02020603050405020304" pitchFamily="18" charset="0"/>
              </a:rPr>
              <a:t>)</a:t>
            </a:r>
          </a:p>
        </p:txBody>
      </p:sp>
      <p:grpSp>
        <p:nvGrpSpPr>
          <p:cNvPr id="2" name="Group 1">
            <a:extLst>
              <a:ext uri="{FF2B5EF4-FFF2-40B4-BE49-F238E27FC236}">
                <a16:creationId xmlns:a16="http://schemas.microsoft.com/office/drawing/2014/main" id="{92F88819-A6B0-8C40-9DF5-6F2839B93845}"/>
              </a:ext>
            </a:extLst>
          </p:cNvPr>
          <p:cNvGrpSpPr/>
          <p:nvPr/>
        </p:nvGrpSpPr>
        <p:grpSpPr>
          <a:xfrm>
            <a:off x="297887" y="1325280"/>
            <a:ext cx="11242513" cy="5307727"/>
            <a:chOff x="297887" y="1325280"/>
            <a:chExt cx="11242513" cy="5307727"/>
          </a:xfrm>
        </p:grpSpPr>
        <p:sp>
          <p:nvSpPr>
            <p:cNvPr id="6" name="Oval 5">
              <a:extLst>
                <a:ext uri="{FF2B5EF4-FFF2-40B4-BE49-F238E27FC236}">
                  <a16:creationId xmlns:a16="http://schemas.microsoft.com/office/drawing/2014/main" id="{7782116C-A6D8-8C40-836B-F6DDB4547AEC}"/>
                </a:ext>
              </a:extLst>
            </p:cNvPr>
            <p:cNvSpPr/>
            <p:nvPr/>
          </p:nvSpPr>
          <p:spPr>
            <a:xfrm>
              <a:off x="4142358" y="1685280"/>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0</a:t>
              </a:r>
            </a:p>
          </p:txBody>
        </p:sp>
        <p:sp>
          <p:nvSpPr>
            <p:cNvPr id="7" name="Oval 6">
              <a:extLst>
                <a:ext uri="{FF2B5EF4-FFF2-40B4-BE49-F238E27FC236}">
                  <a16:creationId xmlns:a16="http://schemas.microsoft.com/office/drawing/2014/main" id="{38D7A21D-8DD5-F34A-8955-3F430AB4C37F}"/>
                </a:ext>
              </a:extLst>
            </p:cNvPr>
            <p:cNvSpPr/>
            <p:nvPr/>
          </p:nvSpPr>
          <p:spPr>
            <a:xfrm>
              <a:off x="7785034" y="3486588"/>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2</a:t>
              </a:r>
            </a:p>
          </p:txBody>
        </p:sp>
        <p:sp>
          <p:nvSpPr>
            <p:cNvPr id="8" name="Oval 7">
              <a:extLst>
                <a:ext uri="{FF2B5EF4-FFF2-40B4-BE49-F238E27FC236}">
                  <a16:creationId xmlns:a16="http://schemas.microsoft.com/office/drawing/2014/main" id="{4032FF18-8499-DE40-8E13-8777ADEE1A96}"/>
                </a:ext>
              </a:extLst>
            </p:cNvPr>
            <p:cNvSpPr/>
            <p:nvPr/>
          </p:nvSpPr>
          <p:spPr>
            <a:xfrm>
              <a:off x="8368800" y="3870620"/>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0</a:t>
              </a:r>
            </a:p>
          </p:txBody>
        </p:sp>
        <p:sp>
          <p:nvSpPr>
            <p:cNvPr id="9" name="Oval 8">
              <a:extLst>
                <a:ext uri="{FF2B5EF4-FFF2-40B4-BE49-F238E27FC236}">
                  <a16:creationId xmlns:a16="http://schemas.microsoft.com/office/drawing/2014/main" id="{B26D2FA4-9C99-9F42-AD71-E805D6BF59BE}"/>
                </a:ext>
              </a:extLst>
            </p:cNvPr>
            <p:cNvSpPr/>
            <p:nvPr/>
          </p:nvSpPr>
          <p:spPr>
            <a:xfrm>
              <a:off x="8626331" y="4462006"/>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6</a:t>
              </a:r>
            </a:p>
          </p:txBody>
        </p:sp>
        <p:sp>
          <p:nvSpPr>
            <p:cNvPr id="10" name="Oval 9">
              <a:extLst>
                <a:ext uri="{FF2B5EF4-FFF2-40B4-BE49-F238E27FC236}">
                  <a16:creationId xmlns:a16="http://schemas.microsoft.com/office/drawing/2014/main" id="{2AFB869C-2255-EC4E-A4A2-6DEC34489332}"/>
                </a:ext>
              </a:extLst>
            </p:cNvPr>
            <p:cNvSpPr/>
            <p:nvPr/>
          </p:nvSpPr>
          <p:spPr>
            <a:xfrm>
              <a:off x="9088800" y="4737623"/>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0</a:t>
              </a:r>
            </a:p>
          </p:txBody>
        </p:sp>
        <p:sp>
          <p:nvSpPr>
            <p:cNvPr id="11" name="Oval 10">
              <a:extLst>
                <a:ext uri="{FF2B5EF4-FFF2-40B4-BE49-F238E27FC236}">
                  <a16:creationId xmlns:a16="http://schemas.microsoft.com/office/drawing/2014/main" id="{F635578E-E589-8F4F-B571-A58955474923}"/>
                </a:ext>
              </a:extLst>
            </p:cNvPr>
            <p:cNvSpPr/>
            <p:nvPr/>
          </p:nvSpPr>
          <p:spPr>
            <a:xfrm>
              <a:off x="9600565" y="5182006"/>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6</a:t>
              </a:r>
            </a:p>
          </p:txBody>
        </p:sp>
        <p:sp>
          <p:nvSpPr>
            <p:cNvPr id="12" name="Oval 11">
              <a:extLst>
                <a:ext uri="{FF2B5EF4-FFF2-40B4-BE49-F238E27FC236}">
                  <a16:creationId xmlns:a16="http://schemas.microsoft.com/office/drawing/2014/main" id="{5E489DF9-5500-A441-9544-F79A045D8275}"/>
                </a:ext>
              </a:extLst>
            </p:cNvPr>
            <p:cNvSpPr/>
            <p:nvPr/>
          </p:nvSpPr>
          <p:spPr>
            <a:xfrm>
              <a:off x="10112330" y="5553007"/>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5</a:t>
              </a:r>
            </a:p>
          </p:txBody>
        </p:sp>
        <p:sp>
          <p:nvSpPr>
            <p:cNvPr id="13" name="Oval 12">
              <a:extLst>
                <a:ext uri="{FF2B5EF4-FFF2-40B4-BE49-F238E27FC236}">
                  <a16:creationId xmlns:a16="http://schemas.microsoft.com/office/drawing/2014/main" id="{6F2F5333-0594-A045-8564-231B40FF8E8A}"/>
                </a:ext>
              </a:extLst>
            </p:cNvPr>
            <p:cNvSpPr/>
            <p:nvPr/>
          </p:nvSpPr>
          <p:spPr>
            <a:xfrm>
              <a:off x="10820400" y="5913007"/>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2</a:t>
              </a:r>
            </a:p>
          </p:txBody>
        </p:sp>
        <p:sp>
          <p:nvSpPr>
            <p:cNvPr id="15" name="Trapezoid 14">
              <a:extLst>
                <a:ext uri="{FF2B5EF4-FFF2-40B4-BE49-F238E27FC236}">
                  <a16:creationId xmlns:a16="http://schemas.microsoft.com/office/drawing/2014/main" id="{FF799BD0-E5A8-D24B-BDDE-FAF05EE73933}"/>
                </a:ext>
              </a:extLst>
            </p:cNvPr>
            <p:cNvSpPr/>
            <p:nvPr/>
          </p:nvSpPr>
          <p:spPr>
            <a:xfrm rot="10800000">
              <a:off x="3989402" y="2207405"/>
              <a:ext cx="1025912" cy="702197"/>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19F92AC-E1E0-AC40-AF45-352CA6D6D3FB}"/>
                </a:ext>
              </a:extLst>
            </p:cNvPr>
            <p:cNvSpPr/>
            <p:nvPr/>
          </p:nvSpPr>
          <p:spPr>
            <a:xfrm>
              <a:off x="7223975" y="3126588"/>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5</a:t>
              </a:r>
            </a:p>
          </p:txBody>
        </p:sp>
        <p:sp>
          <p:nvSpPr>
            <p:cNvPr id="18" name="Oval 17">
              <a:extLst>
                <a:ext uri="{FF2B5EF4-FFF2-40B4-BE49-F238E27FC236}">
                  <a16:creationId xmlns:a16="http://schemas.microsoft.com/office/drawing/2014/main" id="{AE897A52-9A0E-9845-8995-AEA2090D1934}"/>
                </a:ext>
              </a:extLst>
            </p:cNvPr>
            <p:cNvSpPr/>
            <p:nvPr/>
          </p:nvSpPr>
          <p:spPr>
            <a:xfrm>
              <a:off x="3241725" y="1406622"/>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1</a:t>
              </a:r>
            </a:p>
          </p:txBody>
        </p:sp>
        <p:sp>
          <p:nvSpPr>
            <p:cNvPr id="19" name="Oval 18">
              <a:extLst>
                <a:ext uri="{FF2B5EF4-FFF2-40B4-BE49-F238E27FC236}">
                  <a16:creationId xmlns:a16="http://schemas.microsoft.com/office/drawing/2014/main" id="{E16F30E1-8F6E-DA45-B6A4-E36B5E298E59}"/>
                </a:ext>
              </a:extLst>
            </p:cNvPr>
            <p:cNvSpPr/>
            <p:nvPr/>
          </p:nvSpPr>
          <p:spPr>
            <a:xfrm>
              <a:off x="2219467" y="1325280"/>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2</a:t>
              </a:r>
            </a:p>
          </p:txBody>
        </p:sp>
        <p:sp>
          <p:nvSpPr>
            <p:cNvPr id="20" name="Oval 19">
              <a:extLst>
                <a:ext uri="{FF2B5EF4-FFF2-40B4-BE49-F238E27FC236}">
                  <a16:creationId xmlns:a16="http://schemas.microsoft.com/office/drawing/2014/main" id="{D7043637-ABEF-F547-ABE7-41A5B1E57089}"/>
                </a:ext>
              </a:extLst>
            </p:cNvPr>
            <p:cNvSpPr/>
            <p:nvPr/>
          </p:nvSpPr>
          <p:spPr>
            <a:xfrm>
              <a:off x="1220336" y="1685280"/>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3</a:t>
              </a:r>
            </a:p>
          </p:txBody>
        </p:sp>
        <p:sp>
          <p:nvSpPr>
            <p:cNvPr id="21" name="Oval 20">
              <a:extLst>
                <a:ext uri="{FF2B5EF4-FFF2-40B4-BE49-F238E27FC236}">
                  <a16:creationId xmlns:a16="http://schemas.microsoft.com/office/drawing/2014/main" id="{EFEDE3D0-0217-0C46-A70D-BCD7A800501F}"/>
                </a:ext>
              </a:extLst>
            </p:cNvPr>
            <p:cNvSpPr/>
            <p:nvPr/>
          </p:nvSpPr>
          <p:spPr>
            <a:xfrm>
              <a:off x="393707" y="2167513"/>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4</a:t>
              </a:r>
            </a:p>
          </p:txBody>
        </p:sp>
        <p:sp>
          <p:nvSpPr>
            <p:cNvPr id="22" name="Oval 21">
              <a:extLst>
                <a:ext uri="{FF2B5EF4-FFF2-40B4-BE49-F238E27FC236}">
                  <a16:creationId xmlns:a16="http://schemas.microsoft.com/office/drawing/2014/main" id="{A0B0F9F6-2096-BC44-8044-5962EC516CA9}"/>
                </a:ext>
              </a:extLst>
            </p:cNvPr>
            <p:cNvSpPr/>
            <p:nvPr/>
          </p:nvSpPr>
          <p:spPr>
            <a:xfrm>
              <a:off x="297887" y="3148724"/>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5</a:t>
              </a:r>
            </a:p>
          </p:txBody>
        </p:sp>
        <p:sp>
          <p:nvSpPr>
            <p:cNvPr id="23" name="Oval 22">
              <a:extLst>
                <a:ext uri="{FF2B5EF4-FFF2-40B4-BE49-F238E27FC236}">
                  <a16:creationId xmlns:a16="http://schemas.microsoft.com/office/drawing/2014/main" id="{CFB798B5-D54A-1B49-A9EA-692E8D73A56A}"/>
                </a:ext>
              </a:extLst>
            </p:cNvPr>
            <p:cNvSpPr/>
            <p:nvPr/>
          </p:nvSpPr>
          <p:spPr>
            <a:xfrm>
              <a:off x="657887" y="4126339"/>
              <a:ext cx="720000" cy="720000"/>
            </a:xfrm>
            <a:prstGeom prst="ellipse">
              <a:avLst/>
            </a:prstGeom>
            <a:solidFill>
              <a:schemeClr val="accent4">
                <a:lumMod val="20000"/>
                <a:lumOff val="80000"/>
              </a:schemeClr>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6</a:t>
              </a:r>
            </a:p>
          </p:txBody>
        </p:sp>
      </p:grpSp>
      <p:sp>
        <p:nvSpPr>
          <p:cNvPr id="16" name="Trapezoid 15">
            <a:extLst>
              <a:ext uri="{FF2B5EF4-FFF2-40B4-BE49-F238E27FC236}">
                <a16:creationId xmlns:a16="http://schemas.microsoft.com/office/drawing/2014/main" id="{129CF43C-4E4B-CC40-B67C-441EFC4CD044}"/>
              </a:ext>
            </a:extLst>
          </p:cNvPr>
          <p:cNvSpPr/>
          <p:nvPr/>
        </p:nvSpPr>
        <p:spPr>
          <a:xfrm rot="16200000">
            <a:off x="6506909" y="3157626"/>
            <a:ext cx="1025912" cy="702197"/>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41009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346ED-3359-6B4B-A0B5-5EE0E770D160}"/>
              </a:ext>
            </a:extLst>
          </p:cNvPr>
          <p:cNvSpPr>
            <a:spLocks noGrp="1"/>
          </p:cNvSpPr>
          <p:nvPr>
            <p:ph type="title"/>
          </p:nvPr>
        </p:nvSpPr>
        <p:spPr/>
        <p:txBody>
          <a:bodyPr/>
          <a:lstStyle/>
          <a:p>
            <a:r>
              <a:rPr lang="en-ZA" dirty="0"/>
              <a:t>Simon’s Algorithm: Formal Problem Definition</a:t>
            </a:r>
            <a:endParaRPr lang="en-US" dirty="0"/>
          </a:p>
        </p:txBody>
      </p:sp>
      <p:sp>
        <p:nvSpPr>
          <p:cNvPr id="3" name="Slide Number Placeholder 2">
            <a:extLst>
              <a:ext uri="{FF2B5EF4-FFF2-40B4-BE49-F238E27FC236}">
                <a16:creationId xmlns:a16="http://schemas.microsoft.com/office/drawing/2014/main" id="{1E48C623-6655-A649-859F-C5EED88BD5F7}"/>
              </a:ext>
            </a:extLst>
          </p:cNvPr>
          <p:cNvSpPr>
            <a:spLocks noGrp="1"/>
          </p:cNvSpPr>
          <p:nvPr>
            <p:ph type="sldNum" sz="quarter" idx="12"/>
          </p:nvPr>
        </p:nvSpPr>
        <p:spPr/>
        <p:txBody>
          <a:bodyPr/>
          <a:lstStyle/>
          <a:p>
            <a:fld id="{591A223C-FA10-BC46-A853-03BA373D023C}" type="slidenum">
              <a:rPr lang="en-US" smtClean="0"/>
              <a:t>32</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C72AE196-EAA5-A848-8E47-913E7E5F6DDE}"/>
                  </a:ext>
                </a:extLst>
              </p:cNvPr>
              <p:cNvSpPr/>
              <p:nvPr/>
            </p:nvSpPr>
            <p:spPr>
              <a:xfrm>
                <a:off x="0" y="4764272"/>
                <a:ext cx="12192000" cy="1446550"/>
              </a:xfrm>
              <a:prstGeom prst="rect">
                <a:avLst/>
              </a:prstGeom>
            </p:spPr>
            <p:txBody>
              <a:bodyPr wrap="square">
                <a:spAutoFit/>
              </a:bodyPr>
              <a:lstStyle/>
              <a:p>
                <a:pPr algn="ctr"/>
                <a:r>
                  <a:rPr lang="en-ZA" sz="2400" dirty="0"/>
                  <a:t>Given a function </a:t>
                </a:r>
                <a14:m>
                  <m:oMath xmlns:m="http://schemas.openxmlformats.org/officeDocument/2006/math">
                    <m:r>
                      <a:rPr lang="sr-Latn-RS" sz="2400" b="1" i="1">
                        <a:latin typeface="Cambria Math" panose="02040503050406030204" pitchFamily="18" charset="0"/>
                        <a:ea typeface="Times New Roman" panose="02020603050405020304" pitchFamily="18" charset="0"/>
                        <a:cs typeface="Times New Roman" panose="02020603050405020304" pitchFamily="18" charset="0"/>
                      </a:rPr>
                      <m:t>𝒇</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2400" b="1" i="1">
                            <a:effectLst/>
                            <a:latin typeface="Cambria Math" panose="02040503050406030204" pitchFamily="18" charset="0"/>
                          </a:rPr>
                        </m:ctrlPr>
                      </m:sSupPr>
                      <m:e>
                        <m:d>
                          <m:dPr>
                            <m:begChr m:val="{"/>
                            <m:endChr m:val="}"/>
                            <m:ctrlPr>
                              <a:rPr lang="en-ZA" sz="2400" b="1" i="1">
                                <a:effectLst/>
                                <a:latin typeface="Cambria Math" panose="02040503050406030204" pitchFamily="18" charset="0"/>
                              </a:rPr>
                            </m:ctrlPr>
                          </m:dPr>
                          <m:e>
                            <m:r>
                              <a:rPr lang="sr-Latn-RS" sz="2400" b="1" i="1">
                                <a:latin typeface="Cambria Math" panose="02040503050406030204" pitchFamily="18" charset="0"/>
                                <a:ea typeface="Times New Roman" panose="02020603050405020304" pitchFamily="18" charset="0"/>
                                <a:cs typeface="Times New Roman" panose="02020603050405020304" pitchFamily="18" charset="0"/>
                              </a:rPr>
                              <m:t>𝟎</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𝟏</m:t>
                            </m:r>
                          </m:e>
                        </m:d>
                      </m:e>
                      <m:sup>
                        <m:r>
                          <a:rPr lang="sr-Latn-RS" sz="2400" b="1" i="1">
                            <a:latin typeface="Cambria Math" panose="02040503050406030204" pitchFamily="18" charset="0"/>
                            <a:ea typeface="Times New Roman" panose="02020603050405020304" pitchFamily="18" charset="0"/>
                            <a:cs typeface="Times New Roman" panose="02020603050405020304" pitchFamily="18" charset="0"/>
                          </a:rPr>
                          <m:t>𝒏</m:t>
                        </m:r>
                      </m:sup>
                    </m:sSup>
                    <m:r>
                      <a:rPr lang="sr-Latn-RS" sz="2400" b="1"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2400" b="1" i="1">
                            <a:effectLst/>
                            <a:latin typeface="Cambria Math" panose="02040503050406030204" pitchFamily="18" charset="0"/>
                          </a:rPr>
                        </m:ctrlPr>
                      </m:sSupPr>
                      <m:e>
                        <m:d>
                          <m:dPr>
                            <m:begChr m:val="{"/>
                            <m:endChr m:val="}"/>
                            <m:ctrlPr>
                              <a:rPr lang="en-ZA" sz="2400" b="1" i="1">
                                <a:effectLst/>
                                <a:latin typeface="Cambria Math" panose="02040503050406030204" pitchFamily="18" charset="0"/>
                              </a:rPr>
                            </m:ctrlPr>
                          </m:dPr>
                          <m:e>
                            <m:r>
                              <a:rPr lang="sr-Latn-RS" sz="2400" b="1" i="1">
                                <a:latin typeface="Cambria Math" panose="02040503050406030204" pitchFamily="18" charset="0"/>
                                <a:ea typeface="Times New Roman" panose="02020603050405020304" pitchFamily="18" charset="0"/>
                                <a:cs typeface="Times New Roman" panose="02020603050405020304" pitchFamily="18" charset="0"/>
                              </a:rPr>
                              <m:t>𝟎</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𝟏</m:t>
                            </m:r>
                          </m:e>
                        </m:d>
                      </m:e>
                      <m:sup>
                        <m:r>
                          <a:rPr lang="sr-Latn-RS" sz="2400" b="1" i="1">
                            <a:latin typeface="Cambria Math" panose="02040503050406030204" pitchFamily="18" charset="0"/>
                            <a:ea typeface="Times New Roman" panose="02020603050405020304" pitchFamily="18" charset="0"/>
                            <a:cs typeface="Times New Roman" panose="02020603050405020304" pitchFamily="18" charset="0"/>
                          </a:rPr>
                          <m:t>𝒏</m:t>
                        </m:r>
                      </m:sup>
                    </m:sSup>
                  </m:oMath>
                </a14:m>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br>
                  <a:rPr lang="sr-Latn-RS" sz="2400" dirty="0">
                    <a:latin typeface="Cambria" panose="02040503050406030204" pitchFamily="18" charset="0"/>
                    <a:ea typeface="Times New Roman" panose="02020603050405020304" pitchFamily="18" charset="0"/>
                    <a:cs typeface="Times New Roman" panose="02020603050405020304" pitchFamily="18" charset="0"/>
                  </a:rPr>
                </a:br>
                <a:endParaRPr lang="sr-Latn-RS" sz="800" dirty="0">
                  <a:latin typeface="Cambria" panose="02040503050406030204" pitchFamily="18" charset="0"/>
                  <a:ea typeface="Times New Roman" panose="02020603050405020304" pitchFamily="18" charset="0"/>
                  <a:cs typeface="Times New Roman" panose="02020603050405020304" pitchFamily="18" charset="0"/>
                </a:endParaRPr>
              </a:p>
              <a:p>
                <a:pPr algn="ctr"/>
                <a:r>
                  <a:rPr lang="en-ZA" sz="2400" dirty="0"/>
                  <a:t>that maps an </a:t>
                </a:r>
                <a14:m>
                  <m:oMath xmlns:m="http://schemas.openxmlformats.org/officeDocument/2006/math">
                    <m:r>
                      <a:rPr lang="sr-Latn-RS" sz="2400" b="1" i="1">
                        <a:latin typeface="Cambria Math" panose="02040503050406030204" pitchFamily="18" charset="0"/>
                        <a:ea typeface="Times New Roman" panose="02020603050405020304" pitchFamily="18" charset="0"/>
                        <a:cs typeface="Times New Roman" panose="02020603050405020304" pitchFamily="18" charset="0"/>
                      </a:rPr>
                      <m:t>𝒏</m:t>
                    </m:r>
                  </m:oMath>
                </a14:m>
                <a:r>
                  <a:rPr lang="en-ZA" sz="2400" dirty="0"/>
                  <a:t>-bit input to an </a:t>
                </a:r>
                <a14:m>
                  <m:oMath xmlns:m="http://schemas.openxmlformats.org/officeDocument/2006/math">
                    <m:r>
                      <a:rPr lang="sr-Latn-RS" sz="2400" b="1" i="1">
                        <a:latin typeface="Cambria Math" panose="02040503050406030204" pitchFamily="18" charset="0"/>
                        <a:ea typeface="Times New Roman" panose="02020603050405020304" pitchFamily="18" charset="0"/>
                        <a:cs typeface="Times New Roman" panose="02020603050405020304" pitchFamily="18" charset="0"/>
                      </a:rPr>
                      <m:t>𝒏</m:t>
                    </m:r>
                  </m:oMath>
                </a14:m>
                <a:r>
                  <a:rPr lang="en-ZA" sz="2400" dirty="0"/>
                  <a:t>-bit output, find a string</a:t>
                </a:r>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𝑠</m:t>
                    </m:r>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2400" i="1">
                            <a:effectLst/>
                            <a:latin typeface="Cambria Math" panose="02040503050406030204" pitchFamily="18" charset="0"/>
                          </a:rPr>
                        </m:ctrlPr>
                      </m:sSupPr>
                      <m:e>
                        <m:d>
                          <m:dPr>
                            <m:begChr m:val="{"/>
                            <m:endChr m:val="}"/>
                            <m:ctrlPr>
                              <a:rPr lang="en-ZA" sz="2400" i="1">
                                <a:effectLst/>
                                <a:latin typeface="Cambria Math" panose="020405030504060302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2400" i="1">
                            <a:latin typeface="Cambria Math" panose="02040503050406030204" pitchFamily="18" charset="0"/>
                            <a:ea typeface="Times New Roman" panose="02020603050405020304" pitchFamily="18" charset="0"/>
                            <a:cs typeface="Times New Roman" panose="02020603050405020304" pitchFamily="18" charset="0"/>
                          </a:rPr>
                          <m:t>𝑛</m:t>
                        </m:r>
                      </m:sup>
                    </m:sSup>
                  </m:oMath>
                </a14:m>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r>
                  <a:rPr lang="en-ZA" sz="2400" dirty="0"/>
                  <a:t>such that</a:t>
                </a:r>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br>
                  <a:rPr lang="sr-Latn-RS" sz="2400" dirty="0">
                    <a:latin typeface="Cambria" panose="02040503050406030204" pitchFamily="18" charset="0"/>
                    <a:ea typeface="Times New Roman" panose="02020603050405020304" pitchFamily="18" charset="0"/>
                    <a:cs typeface="Times New Roman" panose="02020603050405020304" pitchFamily="18" charset="0"/>
                  </a:rPr>
                </a:br>
                <a:endParaRPr lang="sr-Latn-RS" sz="800" dirty="0">
                  <a:latin typeface="Cambria" panose="02040503050406030204" pitchFamily="18" charset="0"/>
                  <a:ea typeface="Times New Roman" panose="02020603050405020304" pitchFamily="18" charset="0"/>
                  <a:cs typeface="Times New Roman" panose="02020603050405020304" pitchFamily="18" charset="0"/>
                </a:endParaRPr>
              </a:p>
              <a:p>
                <a:pPr algn="ctr"/>
                <a14:m>
                  <m:oMath xmlns:m="http://schemas.openxmlformats.org/officeDocument/2006/math">
                    <m:r>
                      <a:rPr lang="sr-Latn-RS" sz="2400" b="1" i="1">
                        <a:latin typeface="Cambria Math" panose="02040503050406030204" pitchFamily="18" charset="0"/>
                        <a:ea typeface="Times New Roman" panose="02020603050405020304" pitchFamily="18" charset="0"/>
                        <a:cs typeface="Times New Roman" panose="02020603050405020304" pitchFamily="18" charset="0"/>
                      </a:rPr>
                      <m:t>𝒇</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𝒙</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𝒇</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𝒙</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 ⨁ </m:t>
                    </m:r>
                    <m:r>
                      <a:rPr lang="sr-Latn-RS" sz="2400" b="1" i="1">
                        <a:latin typeface="Cambria Math" panose="02040503050406030204" pitchFamily="18" charset="0"/>
                        <a:ea typeface="Times New Roman" panose="02020603050405020304" pitchFamily="18" charset="0"/>
                        <a:cs typeface="Times New Roman" panose="02020603050405020304" pitchFamily="18" charset="0"/>
                      </a:rPr>
                      <m:t>𝒔</m:t>
                    </m:r>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oMath>
                </a14:m>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r>
                  <a:rPr lang="en-ZA" sz="2400" dirty="0"/>
                  <a:t>for all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0,1</m:t>
                            </m:r>
                          </m:e>
                        </m:d>
                      </m:e>
                      <m:sup>
                        <m:r>
                          <a:rPr lang="sr-Latn-RS" sz="2400" i="1">
                            <a:latin typeface="Cambria Math" panose="02040503050406030204" pitchFamily="18" charset="0"/>
                            <a:ea typeface="Times New Roman" panose="02020603050405020304" pitchFamily="18" charset="0"/>
                            <a:cs typeface="Times New Roman" panose="02020603050405020304" pitchFamily="18" charset="0"/>
                          </a:rPr>
                          <m:t>𝑛</m:t>
                        </m:r>
                      </m:sup>
                    </m:sSup>
                  </m:oMath>
                </a14:m>
                <a:endParaRPr lang="sr-Latn-RS"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C72AE196-EAA5-A848-8E47-913E7E5F6DDE}"/>
                  </a:ext>
                </a:extLst>
              </p:cNvPr>
              <p:cNvSpPr>
                <a:spLocks noRot="1" noChangeAspect="1" noMove="1" noResize="1" noEditPoints="1" noAdjustHandles="1" noChangeArrowheads="1" noChangeShapeType="1" noTextEdit="1"/>
              </p:cNvSpPr>
              <p:nvPr/>
            </p:nvSpPr>
            <p:spPr>
              <a:xfrm>
                <a:off x="0" y="4764272"/>
                <a:ext cx="12192000" cy="1446550"/>
              </a:xfrm>
              <a:prstGeom prst="rect">
                <a:avLst/>
              </a:prstGeom>
              <a:blipFill>
                <a:blip r:embed="rId3"/>
                <a:stretch>
                  <a:fillRect t="-1739" b="-7826"/>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E2676983-CF04-494C-8F1F-97459416C7B5}"/>
              </a:ext>
            </a:extLst>
          </p:cNvPr>
          <p:cNvPicPr>
            <a:picLocks noChangeAspect="1"/>
          </p:cNvPicPr>
          <p:nvPr/>
        </p:nvPicPr>
        <p:blipFill>
          <a:blip r:embed="rId4"/>
          <a:stretch>
            <a:fillRect/>
          </a:stretch>
        </p:blipFill>
        <p:spPr>
          <a:xfrm>
            <a:off x="2946400" y="989719"/>
            <a:ext cx="6502400" cy="3492500"/>
          </a:xfrm>
          <a:prstGeom prst="rect">
            <a:avLst/>
          </a:prstGeom>
        </p:spPr>
      </p:pic>
    </p:spTree>
    <p:extLst>
      <p:ext uri="{BB962C8B-B14F-4D97-AF65-F5344CB8AC3E}">
        <p14:creationId xmlns:p14="http://schemas.microsoft.com/office/powerpoint/2010/main" val="11765938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A248C8-5F79-2D45-9633-43DD6C8D2DD4}"/>
              </a:ext>
            </a:extLst>
          </p:cNvPr>
          <p:cNvSpPr>
            <a:spLocks noGrp="1"/>
          </p:cNvSpPr>
          <p:nvPr>
            <p:ph type="title"/>
          </p:nvPr>
        </p:nvSpPr>
        <p:spPr/>
        <p:txBody>
          <a:bodyPr/>
          <a:lstStyle/>
          <a:p>
            <a:r>
              <a:rPr lang="en-ZA" dirty="0"/>
              <a:t>Simon’s Algorithm: Classical Solution</a:t>
            </a:r>
            <a:endParaRPr lang="en-US" dirty="0"/>
          </a:p>
        </p:txBody>
      </p:sp>
      <p:sp>
        <p:nvSpPr>
          <p:cNvPr id="3" name="Slide Number Placeholder 2">
            <a:extLst>
              <a:ext uri="{FF2B5EF4-FFF2-40B4-BE49-F238E27FC236}">
                <a16:creationId xmlns:a16="http://schemas.microsoft.com/office/drawing/2014/main" id="{B6A9761A-5368-AE48-B407-1CC1E9094EBC}"/>
              </a:ext>
            </a:extLst>
          </p:cNvPr>
          <p:cNvSpPr>
            <a:spLocks noGrp="1"/>
          </p:cNvSpPr>
          <p:nvPr>
            <p:ph type="sldNum" sz="quarter" idx="12"/>
          </p:nvPr>
        </p:nvSpPr>
        <p:spPr/>
        <p:txBody>
          <a:bodyPr/>
          <a:lstStyle/>
          <a:p>
            <a:fld id="{591A223C-FA10-BC46-A853-03BA373D023C}" type="slidenum">
              <a:rPr lang="en-US" smtClean="0"/>
              <a:t>33</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5B78EA1A-5BC7-E74E-9844-9678F10E6CE4}"/>
                  </a:ext>
                </a:extLst>
              </p:cNvPr>
              <p:cNvGraphicFramePr>
                <a:graphicFrameLocks noGrp="1"/>
              </p:cNvGraphicFramePr>
              <p:nvPr>
                <p:extLst>
                  <p:ext uri="{D42A27DB-BD31-4B8C-83A1-F6EECF244321}">
                    <p14:modId xmlns:p14="http://schemas.microsoft.com/office/powerpoint/2010/main" val="1343252719"/>
                  </p:ext>
                </p:extLst>
              </p:nvPr>
            </p:nvGraphicFramePr>
            <p:xfrm>
              <a:off x="379143" y="1184720"/>
              <a:ext cx="3443049" cy="441452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388773">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𝒙</m:t>
                                </m:r>
                              </m:oMath>
                            </m:oMathPara>
                          </a14:m>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𝒇</m:t>
                                </m:r>
                                <m:r>
                                  <a:rPr lang="sr-Latn-RS" sz="3200">
                                    <a:effectLst/>
                                    <a:latin typeface="Cambria Math" panose="02040503050406030204" pitchFamily="18" charset="0"/>
                                  </a:rPr>
                                  <m:t>(</m:t>
                                </m:r>
                                <m:r>
                                  <a:rPr lang="sr-Latn-RS" sz="3200">
                                    <a:effectLst/>
                                    <a:latin typeface="Cambria Math" panose="02040503050406030204" pitchFamily="18" charset="0"/>
                                  </a:rPr>
                                  <m:t>𝒙</m:t>
                                </m:r>
                                <m:r>
                                  <a:rPr lang="sr-Latn-RS" sz="3200">
                                    <a:effectLst/>
                                    <a:latin typeface="Cambria Math" panose="02040503050406030204" pitchFamily="18" charset="0"/>
                                  </a:rPr>
                                  <m:t>)</m:t>
                                </m:r>
                              </m:oMath>
                            </m:oMathPara>
                          </a14:m>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50607844"/>
                      </a:ext>
                    </a:extLst>
                  </a:tr>
                  <a:tr h="341362">
                    <a:tc>
                      <a:txBody>
                        <a:bodyPr/>
                        <a:lstStyle/>
                        <a:p>
                          <a:pPr algn="ctr">
                            <a:spcBef>
                              <a:spcPts val="200"/>
                            </a:spcBef>
                            <a:spcAft>
                              <a:spcPts val="200"/>
                            </a:spcAft>
                          </a:pPr>
                          <a:r>
                            <a:rPr lang="sr-Latn-RS" sz="3200" dirty="0">
                              <a:effectLst/>
                            </a:rPr>
                            <a:t>000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rPr>
                            <a:t>101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341362">
                    <a:tc>
                      <a:txBody>
                        <a:bodyPr/>
                        <a:lstStyle/>
                        <a:p>
                          <a:pPr algn="ctr">
                            <a:spcBef>
                              <a:spcPts val="200"/>
                            </a:spcBef>
                            <a:spcAft>
                              <a:spcPts val="200"/>
                            </a:spcAft>
                          </a:pPr>
                          <a:r>
                            <a:rPr lang="sr-Latn-RS" sz="3200">
                              <a:effectLst/>
                            </a:rPr>
                            <a:t>001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solidFill>
                                <a:srgbClr val="FF0000"/>
                              </a:solidFill>
                              <a:effectLst/>
                            </a:rPr>
                            <a:t>010</a:t>
                          </a:r>
                          <a:endParaRPr lang="en-ZA" sz="32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68419380"/>
                      </a:ext>
                    </a:extLst>
                  </a:tr>
                  <a:tr h="341362">
                    <a:tc>
                      <a:txBody>
                        <a:bodyPr/>
                        <a:lstStyle/>
                        <a:p>
                          <a:pPr algn="ctr">
                            <a:spcBef>
                              <a:spcPts val="200"/>
                            </a:spcBef>
                            <a:spcAft>
                              <a:spcPts val="200"/>
                            </a:spcAft>
                          </a:pPr>
                          <a:r>
                            <a:rPr lang="sr-Latn-RS" sz="3200">
                              <a:effectLst/>
                            </a:rPr>
                            <a:t>010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000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05092418"/>
                      </a:ext>
                    </a:extLst>
                  </a:tr>
                  <a:tr h="341362">
                    <a:tc>
                      <a:txBody>
                        <a:bodyPr/>
                        <a:lstStyle/>
                        <a:p>
                          <a:pPr algn="ctr">
                            <a:spcBef>
                              <a:spcPts val="200"/>
                            </a:spcBef>
                            <a:spcAft>
                              <a:spcPts val="200"/>
                            </a:spcAft>
                          </a:pPr>
                          <a:r>
                            <a:rPr lang="sr-Latn-RS" sz="3200">
                              <a:effectLst/>
                            </a:rPr>
                            <a:t>011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110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19374950"/>
                      </a:ext>
                    </a:extLst>
                  </a:tr>
                  <a:tr h="341362">
                    <a:tc>
                      <a:txBody>
                        <a:bodyPr/>
                        <a:lstStyle/>
                        <a:p>
                          <a:pPr algn="ctr">
                            <a:spcBef>
                              <a:spcPts val="200"/>
                            </a:spcBef>
                            <a:spcAft>
                              <a:spcPts val="200"/>
                            </a:spcAft>
                          </a:pPr>
                          <a:r>
                            <a:rPr lang="sr-Latn-RS" sz="3200">
                              <a:effectLst/>
                            </a:rPr>
                            <a:t>100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000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04006210"/>
                      </a:ext>
                    </a:extLst>
                  </a:tr>
                  <a:tr h="341362">
                    <a:tc>
                      <a:txBody>
                        <a:bodyPr/>
                        <a:lstStyle/>
                        <a:p>
                          <a:pPr algn="ctr">
                            <a:spcBef>
                              <a:spcPts val="200"/>
                            </a:spcBef>
                            <a:spcAft>
                              <a:spcPts val="200"/>
                            </a:spcAft>
                          </a:pPr>
                          <a:r>
                            <a:rPr lang="sr-Latn-RS" sz="3200">
                              <a:effectLst/>
                            </a:rPr>
                            <a:t>101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110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56770210"/>
                      </a:ext>
                    </a:extLst>
                  </a:tr>
                  <a:tr h="341362">
                    <a:tc>
                      <a:txBody>
                        <a:bodyPr/>
                        <a:lstStyle/>
                        <a:p>
                          <a:pPr algn="ctr">
                            <a:spcBef>
                              <a:spcPts val="200"/>
                            </a:spcBef>
                            <a:spcAft>
                              <a:spcPts val="200"/>
                            </a:spcAft>
                          </a:pPr>
                          <a:r>
                            <a:rPr lang="sr-Latn-RS" sz="3200">
                              <a:effectLst/>
                            </a:rPr>
                            <a:t>110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101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48399451"/>
                      </a:ext>
                    </a:extLst>
                  </a:tr>
                  <a:tr h="341362">
                    <a:tc>
                      <a:txBody>
                        <a:bodyPr/>
                        <a:lstStyle/>
                        <a:p>
                          <a:pPr algn="ctr">
                            <a:spcBef>
                              <a:spcPts val="200"/>
                            </a:spcBef>
                            <a:spcAft>
                              <a:spcPts val="200"/>
                            </a:spcAft>
                          </a:pPr>
                          <a:r>
                            <a:rPr lang="sr-Latn-RS" sz="3200">
                              <a:effectLst/>
                            </a:rPr>
                            <a:t>111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solidFill>
                                <a:srgbClr val="FF0000"/>
                              </a:solidFill>
                              <a:effectLst/>
                            </a:rPr>
                            <a:t>010</a:t>
                          </a:r>
                          <a:endParaRPr lang="en-ZA" sz="32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5332128"/>
                      </a:ext>
                    </a:extLst>
                  </a:tr>
                </a:tbl>
              </a:graphicData>
            </a:graphic>
          </p:graphicFrame>
        </mc:Choice>
        <mc:Fallback xmlns="">
          <p:graphicFrame>
            <p:nvGraphicFramePr>
              <p:cNvPr id="5" name="Table 4">
                <a:extLst>
                  <a:ext uri="{FF2B5EF4-FFF2-40B4-BE49-F238E27FC236}">
                    <a16:creationId xmlns:a16="http://schemas.microsoft.com/office/drawing/2014/main" id="{5B78EA1A-5BC7-E74E-9844-9678F10E6CE4}"/>
                  </a:ext>
                </a:extLst>
              </p:cNvPr>
              <p:cNvGraphicFramePr>
                <a:graphicFrameLocks noGrp="1"/>
              </p:cNvGraphicFramePr>
              <p:nvPr>
                <p:extLst>
                  <p:ext uri="{D42A27DB-BD31-4B8C-83A1-F6EECF244321}">
                    <p14:modId xmlns:p14="http://schemas.microsoft.com/office/powerpoint/2010/main" val="1343252719"/>
                  </p:ext>
                </p:extLst>
              </p:nvPr>
            </p:nvGraphicFramePr>
            <p:xfrm>
              <a:off x="379143" y="1184720"/>
              <a:ext cx="3443049" cy="4414520"/>
            </p:xfrm>
            <a:graphic>
              <a:graphicData uri="http://schemas.openxmlformats.org/drawingml/2006/table">
                <a:tbl>
                  <a:tblPr firstRow="1" firstCol="1" bandRow="1">
                    <a:tableStyleId>{5C22544A-7EE6-4342-B048-85BDC9FD1C3A}</a:tableStyleId>
                  </a:tblPr>
                  <a:tblGrid>
                    <a:gridCol w="1243396">
                      <a:extLst>
                        <a:ext uri="{9D8B030D-6E8A-4147-A177-3AD203B41FA5}">
                          <a16:colId xmlns:a16="http://schemas.microsoft.com/office/drawing/2014/main" val="1280071837"/>
                        </a:ext>
                      </a:extLst>
                    </a:gridCol>
                    <a:gridCol w="2199653">
                      <a:extLst>
                        <a:ext uri="{9D8B030D-6E8A-4147-A177-3AD203B41FA5}">
                          <a16:colId xmlns:a16="http://schemas.microsoft.com/office/drawing/2014/main" val="1375469438"/>
                        </a:ext>
                      </a:extLst>
                    </a:gridCol>
                  </a:tblGrid>
                  <a:tr h="513080">
                    <a:tc>
                      <a:txBody>
                        <a:bodyPr/>
                        <a:lstStyle/>
                        <a:p>
                          <a:endParaRPr lang="en-US"/>
                        </a:p>
                      </a:txBody>
                      <a:tcPr marL="68580" marR="68580" marT="0" marB="0">
                        <a:blipFill>
                          <a:blip r:embed="rId3"/>
                          <a:stretch>
                            <a:fillRect t="-2500" r="-179592" b="-815000"/>
                          </a:stretch>
                        </a:blipFill>
                      </a:tcPr>
                    </a:tc>
                    <a:tc>
                      <a:txBody>
                        <a:bodyPr/>
                        <a:lstStyle/>
                        <a:p>
                          <a:endParaRPr lang="en-US"/>
                        </a:p>
                      </a:txBody>
                      <a:tcPr marL="68580" marR="68580" marT="0" marB="0">
                        <a:blipFill>
                          <a:blip r:embed="rId3"/>
                          <a:stretch>
                            <a:fillRect l="-56322" t="-2500" r="-1149" b="-815000"/>
                          </a:stretch>
                        </a:blipFill>
                      </a:tcPr>
                    </a:tc>
                    <a:extLst>
                      <a:ext uri="{0D108BD9-81ED-4DB2-BD59-A6C34878D82A}">
                        <a16:rowId xmlns:a16="http://schemas.microsoft.com/office/drawing/2014/main" val="1650607844"/>
                      </a:ext>
                    </a:extLst>
                  </a:tr>
                  <a:tr h="487680">
                    <a:tc>
                      <a:txBody>
                        <a:bodyPr/>
                        <a:lstStyle/>
                        <a:p>
                          <a:pPr algn="ctr">
                            <a:spcBef>
                              <a:spcPts val="200"/>
                            </a:spcBef>
                            <a:spcAft>
                              <a:spcPts val="200"/>
                            </a:spcAft>
                          </a:pPr>
                          <a:r>
                            <a:rPr lang="sr-Latn-RS" sz="3200" dirty="0">
                              <a:effectLst/>
                            </a:rPr>
                            <a:t>000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effectLst/>
                            </a:rPr>
                            <a:t>101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24946975"/>
                      </a:ext>
                    </a:extLst>
                  </a:tr>
                  <a:tr h="487680">
                    <a:tc>
                      <a:txBody>
                        <a:bodyPr/>
                        <a:lstStyle/>
                        <a:p>
                          <a:pPr algn="ctr">
                            <a:spcBef>
                              <a:spcPts val="200"/>
                            </a:spcBef>
                            <a:spcAft>
                              <a:spcPts val="200"/>
                            </a:spcAft>
                          </a:pPr>
                          <a:r>
                            <a:rPr lang="sr-Latn-RS" sz="3200">
                              <a:effectLst/>
                            </a:rPr>
                            <a:t>001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solidFill>
                                <a:srgbClr val="FF0000"/>
                              </a:solidFill>
                              <a:effectLst/>
                            </a:rPr>
                            <a:t>010</a:t>
                          </a:r>
                          <a:endParaRPr lang="en-ZA" sz="32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68419380"/>
                      </a:ext>
                    </a:extLst>
                  </a:tr>
                  <a:tr h="487680">
                    <a:tc>
                      <a:txBody>
                        <a:bodyPr/>
                        <a:lstStyle/>
                        <a:p>
                          <a:pPr algn="ctr">
                            <a:spcBef>
                              <a:spcPts val="200"/>
                            </a:spcBef>
                            <a:spcAft>
                              <a:spcPts val="200"/>
                            </a:spcAft>
                          </a:pPr>
                          <a:r>
                            <a:rPr lang="sr-Latn-RS" sz="3200">
                              <a:effectLst/>
                            </a:rPr>
                            <a:t>010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000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05092418"/>
                      </a:ext>
                    </a:extLst>
                  </a:tr>
                  <a:tr h="487680">
                    <a:tc>
                      <a:txBody>
                        <a:bodyPr/>
                        <a:lstStyle/>
                        <a:p>
                          <a:pPr algn="ctr">
                            <a:spcBef>
                              <a:spcPts val="200"/>
                            </a:spcBef>
                            <a:spcAft>
                              <a:spcPts val="200"/>
                            </a:spcAft>
                          </a:pPr>
                          <a:r>
                            <a:rPr lang="sr-Latn-RS" sz="3200">
                              <a:effectLst/>
                            </a:rPr>
                            <a:t>011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110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19374950"/>
                      </a:ext>
                    </a:extLst>
                  </a:tr>
                  <a:tr h="487680">
                    <a:tc>
                      <a:txBody>
                        <a:bodyPr/>
                        <a:lstStyle/>
                        <a:p>
                          <a:pPr algn="ctr">
                            <a:spcBef>
                              <a:spcPts val="200"/>
                            </a:spcBef>
                            <a:spcAft>
                              <a:spcPts val="200"/>
                            </a:spcAft>
                          </a:pPr>
                          <a:r>
                            <a:rPr lang="sr-Latn-RS" sz="3200">
                              <a:effectLst/>
                            </a:rPr>
                            <a:t>100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000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04006210"/>
                      </a:ext>
                    </a:extLst>
                  </a:tr>
                  <a:tr h="487680">
                    <a:tc>
                      <a:txBody>
                        <a:bodyPr/>
                        <a:lstStyle/>
                        <a:p>
                          <a:pPr algn="ctr">
                            <a:spcBef>
                              <a:spcPts val="200"/>
                            </a:spcBef>
                            <a:spcAft>
                              <a:spcPts val="200"/>
                            </a:spcAft>
                          </a:pPr>
                          <a:r>
                            <a:rPr lang="sr-Latn-RS" sz="3200">
                              <a:effectLst/>
                            </a:rPr>
                            <a:t>101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110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56770210"/>
                      </a:ext>
                    </a:extLst>
                  </a:tr>
                  <a:tr h="487680">
                    <a:tc>
                      <a:txBody>
                        <a:bodyPr/>
                        <a:lstStyle/>
                        <a:p>
                          <a:pPr algn="ctr">
                            <a:spcBef>
                              <a:spcPts val="200"/>
                            </a:spcBef>
                            <a:spcAft>
                              <a:spcPts val="200"/>
                            </a:spcAft>
                          </a:pPr>
                          <a:r>
                            <a:rPr lang="sr-Latn-RS" sz="3200">
                              <a:effectLst/>
                            </a:rPr>
                            <a:t>110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a:effectLst/>
                            </a:rPr>
                            <a:t>101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48399451"/>
                      </a:ext>
                    </a:extLst>
                  </a:tr>
                  <a:tr h="487680">
                    <a:tc>
                      <a:txBody>
                        <a:bodyPr/>
                        <a:lstStyle/>
                        <a:p>
                          <a:pPr algn="ctr">
                            <a:spcBef>
                              <a:spcPts val="200"/>
                            </a:spcBef>
                            <a:spcAft>
                              <a:spcPts val="200"/>
                            </a:spcAft>
                          </a:pPr>
                          <a:r>
                            <a:rPr lang="sr-Latn-RS" sz="3200">
                              <a:effectLst/>
                            </a:rPr>
                            <a:t>111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pPr>
                          <a:r>
                            <a:rPr lang="sr-Latn-RS" sz="3200" dirty="0">
                              <a:solidFill>
                                <a:srgbClr val="FF0000"/>
                              </a:solidFill>
                              <a:effectLst/>
                            </a:rPr>
                            <a:t>010</a:t>
                          </a:r>
                          <a:endParaRPr lang="en-ZA" sz="32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5332128"/>
                      </a:ext>
                    </a:extLst>
                  </a:tr>
                </a:tbl>
              </a:graphicData>
            </a:graphic>
          </p:graphicFrame>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74BFF82-9C82-C24D-AF77-54330A663D9E}"/>
                  </a:ext>
                </a:extLst>
              </p:cNvPr>
              <p:cNvSpPr/>
              <p:nvPr/>
            </p:nvSpPr>
            <p:spPr>
              <a:xfrm>
                <a:off x="4752257" y="1532719"/>
                <a:ext cx="5371086" cy="20587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sz="3600" i="1">
                              <a:latin typeface="Cambria Math" panose="02040503050406030204" pitchFamily="18" charset="0"/>
                            </a:rPr>
                          </m:ctrlPr>
                        </m:dPr>
                        <m:e>
                          <m:r>
                            <a:rPr lang="en-US" sz="3600" i="1">
                              <a:latin typeface="Cambria Math" panose="02040503050406030204" pitchFamily="18" charset="0"/>
                            </a:rPr>
                            <m:t>𝑓</m:t>
                          </m:r>
                          <m:r>
                            <a:rPr lang="en-US" sz="3600" i="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m:t>
                              </m:r>
                            </m:sub>
                          </m:sSub>
                          <m:r>
                            <a:rPr lang="en-US" sz="3600" i="0">
                              <a:latin typeface="Cambria Math" panose="02040503050406030204" pitchFamily="18" charset="0"/>
                            </a:rPr>
                            <m:t>)=</m:t>
                          </m:r>
                          <m:r>
                            <a:rPr lang="en-US" sz="3600" i="1">
                              <a:latin typeface="Cambria Math" panose="02040503050406030204" pitchFamily="18" charset="0"/>
                            </a:rPr>
                            <m:t>𝑓</m:t>
                          </m:r>
                          <m:r>
                            <a:rPr lang="en-US" sz="3600" i="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𝑗</m:t>
                              </m:r>
                            </m:sub>
                          </m:sSub>
                          <m:r>
                            <a:rPr lang="en-US" sz="3600" i="0">
                              <a:latin typeface="Cambria Math" panose="02040503050406030204" pitchFamily="18" charset="0"/>
                            </a:rPr>
                            <m:t>)=</m:t>
                          </m:r>
                          <m:r>
                            <a:rPr lang="en-US" sz="3600" i="1">
                              <a:latin typeface="Cambria Math" panose="02040503050406030204" pitchFamily="18" charset="0"/>
                            </a:rPr>
                            <m:t>𝑓</m:t>
                          </m:r>
                          <m:r>
                            <a:rPr lang="en-US" sz="3600" i="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m:t>
                              </m:r>
                            </m:sub>
                          </m:sSub>
                          <m:r>
                            <a:rPr lang="en-US" sz="3600" i="1">
                              <a:latin typeface="Cambria Math" panose="02040503050406030204" pitchFamily="18" charset="0"/>
                            </a:rPr>
                            <m:t>⨁</m:t>
                          </m:r>
                          <m:r>
                            <a:rPr lang="en-US" sz="3600" i="1">
                              <a:latin typeface="Cambria Math" panose="02040503050406030204" pitchFamily="18" charset="0"/>
                            </a:rPr>
                            <m:t>𝑠</m:t>
                          </m:r>
                        </m:e>
                      </m:d>
                    </m:oMath>
                  </m:oMathPara>
                </a14:m>
                <a:endParaRPr lang="en-US" sz="3600" dirty="0"/>
              </a:p>
              <a:p>
                <a:pPr/>
                <a14:m>
                  <m:oMathPara xmlns:m="http://schemas.openxmlformats.org/officeDocument/2006/math">
                    <m:oMathParaPr>
                      <m:jc m:val="centerGroup"/>
                    </m:oMathParaPr>
                    <m:oMath xmlns:m="http://schemas.openxmlformats.org/officeDocument/2006/math">
                      <m:sSub>
                        <m:sSubPr>
                          <m:ctrlPr>
                            <a:rPr lang="en-ZA" sz="3600" i="1">
                              <a:latin typeface="Cambria Math" panose="02040503050406030204" pitchFamily="18" charset="0"/>
                            </a:rPr>
                          </m:ctrlPr>
                        </m:sSubPr>
                        <m:e>
                          <m:r>
                            <a:rPr lang="sr-Latn-RS" sz="3600" i="1">
                              <a:latin typeface="Cambria Math" panose="02040503050406030204" pitchFamily="18" charset="0"/>
                            </a:rPr>
                            <m:t>𝑥</m:t>
                          </m:r>
                        </m:e>
                        <m:sub>
                          <m:r>
                            <a:rPr lang="sr-Latn-RS" sz="3600" i="1">
                              <a:latin typeface="Cambria Math" panose="02040503050406030204" pitchFamily="18" charset="0"/>
                            </a:rPr>
                            <m:t>𝑗</m:t>
                          </m:r>
                        </m:sub>
                      </m:sSub>
                      <m:r>
                        <a:rPr lang="sr-Latn-RS" sz="3600" i="1">
                          <a:latin typeface="Cambria Math" panose="02040503050406030204" pitchFamily="18" charset="0"/>
                        </a:rPr>
                        <m:t>=</m:t>
                      </m:r>
                      <m:sSub>
                        <m:sSubPr>
                          <m:ctrlPr>
                            <a:rPr lang="en-ZA" sz="3600" i="1">
                              <a:latin typeface="Cambria Math" panose="02040503050406030204" pitchFamily="18" charset="0"/>
                            </a:rPr>
                          </m:ctrlPr>
                        </m:sSubPr>
                        <m:e>
                          <m:r>
                            <a:rPr lang="sr-Latn-RS" sz="3600" i="1">
                              <a:latin typeface="Cambria Math" panose="02040503050406030204" pitchFamily="18" charset="0"/>
                            </a:rPr>
                            <m:t>𝑥</m:t>
                          </m:r>
                        </m:e>
                        <m:sub>
                          <m:r>
                            <a:rPr lang="sr-Latn-RS" sz="3600" i="1">
                              <a:latin typeface="Cambria Math" panose="02040503050406030204" pitchFamily="18" charset="0"/>
                            </a:rPr>
                            <m:t>𝑖</m:t>
                          </m:r>
                        </m:sub>
                      </m:sSub>
                      <m:r>
                        <a:rPr lang="sr-Latn-RS" sz="3600" i="1">
                          <a:latin typeface="Cambria Math" panose="02040503050406030204" pitchFamily="18" charset="0"/>
                        </a:rPr>
                        <m:t>⨁ </m:t>
                      </m:r>
                      <m:r>
                        <a:rPr lang="sr-Latn-RS" sz="3600" i="1">
                          <a:latin typeface="Cambria Math" panose="02040503050406030204" pitchFamily="18" charset="0"/>
                        </a:rPr>
                        <m:t>𝑠</m:t>
                      </m:r>
                    </m:oMath>
                  </m:oMathPara>
                </a14:m>
                <a:endParaRPr lang="en-US" sz="3600" dirty="0"/>
              </a:p>
              <a:p>
                <a:endParaRPr lang="en-US" sz="800" dirty="0"/>
              </a:p>
              <a:p>
                <a:pPr/>
                <a14:m>
                  <m:oMathPara xmlns:m="http://schemas.openxmlformats.org/officeDocument/2006/math">
                    <m:oMathParaPr>
                      <m:jc m:val="centerGroup"/>
                    </m:oMathParaPr>
                    <m:oMath xmlns:m="http://schemas.openxmlformats.org/officeDocument/2006/math">
                      <m:sSub>
                        <m:sSubPr>
                          <m:ctrlPr>
                            <a:rPr lang="en-ZA" sz="3600" i="1">
                              <a:latin typeface="Cambria Math" panose="02040503050406030204" pitchFamily="18" charset="0"/>
                            </a:rPr>
                          </m:ctrlPr>
                        </m:sSubPr>
                        <m:e>
                          <m:sSub>
                            <m:sSubPr>
                              <m:ctrlPr>
                                <a:rPr lang="en-ZA" sz="3600" i="1">
                                  <a:latin typeface="Cambria Math" panose="02040503050406030204" pitchFamily="18" charset="0"/>
                                </a:rPr>
                              </m:ctrlPr>
                            </m:sSubPr>
                            <m:e>
                              <m:r>
                                <a:rPr lang="sr-Latn-RS" sz="3600" i="1">
                                  <a:latin typeface="Cambria Math" panose="02040503050406030204" pitchFamily="18" charset="0"/>
                                </a:rPr>
                                <m:t>𝑥</m:t>
                              </m:r>
                            </m:e>
                            <m:sub>
                              <m:r>
                                <a:rPr lang="sr-Latn-RS" sz="3600" i="1">
                                  <a:latin typeface="Cambria Math" panose="02040503050406030204" pitchFamily="18" charset="0"/>
                                </a:rPr>
                                <m:t>𝑖</m:t>
                              </m:r>
                            </m:sub>
                          </m:sSub>
                          <m:r>
                            <a:rPr lang="sr-Latn-RS" sz="3600" i="1">
                              <a:latin typeface="Cambria Math" panose="02040503050406030204" pitchFamily="18" charset="0"/>
                            </a:rPr>
                            <m:t>⨁</m:t>
                          </m:r>
                          <m:r>
                            <a:rPr lang="sr-Latn-RS" sz="3600" i="1">
                              <a:latin typeface="Cambria Math" panose="02040503050406030204" pitchFamily="18" charset="0"/>
                            </a:rPr>
                            <m:t>𝑥</m:t>
                          </m:r>
                        </m:e>
                        <m:sub>
                          <m:r>
                            <a:rPr lang="sr-Latn-RS" sz="3600" i="1">
                              <a:latin typeface="Cambria Math" panose="02040503050406030204" pitchFamily="18" charset="0"/>
                            </a:rPr>
                            <m:t>𝑗</m:t>
                          </m:r>
                        </m:sub>
                      </m:sSub>
                      <m:r>
                        <a:rPr lang="sr-Latn-RS" sz="3600" i="1">
                          <a:latin typeface="Cambria Math" panose="02040503050406030204" pitchFamily="18" charset="0"/>
                        </a:rPr>
                        <m:t>=</m:t>
                      </m:r>
                      <m:sSub>
                        <m:sSubPr>
                          <m:ctrlPr>
                            <a:rPr lang="en-ZA" sz="3600" i="1">
                              <a:latin typeface="Cambria Math" panose="02040503050406030204" pitchFamily="18" charset="0"/>
                            </a:rPr>
                          </m:ctrlPr>
                        </m:sSubPr>
                        <m:e>
                          <m:sSub>
                            <m:sSubPr>
                              <m:ctrlPr>
                                <a:rPr lang="en-ZA" sz="3600" i="1">
                                  <a:latin typeface="Cambria Math" panose="02040503050406030204" pitchFamily="18" charset="0"/>
                                </a:rPr>
                              </m:ctrlPr>
                            </m:sSubPr>
                            <m:e>
                              <m:r>
                                <a:rPr lang="sr-Latn-RS" sz="3600" i="1">
                                  <a:latin typeface="Cambria Math" panose="02040503050406030204" pitchFamily="18" charset="0"/>
                                </a:rPr>
                                <m:t>𝑥</m:t>
                              </m:r>
                            </m:e>
                            <m:sub>
                              <m:r>
                                <a:rPr lang="sr-Latn-RS" sz="3600" i="1">
                                  <a:latin typeface="Cambria Math" panose="02040503050406030204" pitchFamily="18" charset="0"/>
                                </a:rPr>
                                <m:t>𝑖</m:t>
                              </m:r>
                            </m:sub>
                          </m:sSub>
                          <m:r>
                            <a:rPr lang="sr-Latn-RS" sz="3600" i="1">
                              <a:latin typeface="Cambria Math" panose="02040503050406030204" pitchFamily="18" charset="0"/>
                            </a:rPr>
                            <m:t>⨁</m:t>
                          </m:r>
                          <m:r>
                            <a:rPr lang="sr-Latn-RS" sz="3600" i="1">
                              <a:latin typeface="Cambria Math" panose="02040503050406030204" pitchFamily="18" charset="0"/>
                            </a:rPr>
                            <m:t>𝑥</m:t>
                          </m:r>
                        </m:e>
                        <m:sub>
                          <m:r>
                            <a:rPr lang="sr-Latn-RS" sz="3600" i="1">
                              <a:latin typeface="Cambria Math" panose="02040503050406030204" pitchFamily="18" charset="0"/>
                            </a:rPr>
                            <m:t>𝑖</m:t>
                          </m:r>
                        </m:sub>
                      </m:sSub>
                      <m:r>
                        <a:rPr lang="sr-Latn-RS" sz="3600" i="1">
                          <a:latin typeface="Cambria Math" panose="02040503050406030204" pitchFamily="18" charset="0"/>
                        </a:rPr>
                        <m:t>⨁ </m:t>
                      </m:r>
                      <m:r>
                        <a:rPr lang="sr-Latn-RS" sz="3600" i="1">
                          <a:latin typeface="Cambria Math" panose="02040503050406030204" pitchFamily="18" charset="0"/>
                        </a:rPr>
                        <m:t>𝑠</m:t>
                      </m:r>
                      <m:r>
                        <a:rPr lang="sr-Latn-RS" sz="3600" i="1">
                          <a:latin typeface="Cambria Math" panose="02040503050406030204" pitchFamily="18" charset="0"/>
                        </a:rPr>
                        <m:t>=</m:t>
                      </m:r>
                      <m:r>
                        <a:rPr lang="sr-Latn-RS" sz="3600" i="1">
                          <a:latin typeface="Cambria Math" panose="02040503050406030204" pitchFamily="18" charset="0"/>
                        </a:rPr>
                        <m:t>𝑠</m:t>
                      </m:r>
                    </m:oMath>
                  </m:oMathPara>
                </a14:m>
                <a:endParaRPr lang="en-US" sz="3600" dirty="0"/>
              </a:p>
            </p:txBody>
          </p:sp>
        </mc:Choice>
        <mc:Fallback xmlns="">
          <p:sp>
            <p:nvSpPr>
              <p:cNvPr id="2" name="Rectangle 1">
                <a:extLst>
                  <a:ext uri="{FF2B5EF4-FFF2-40B4-BE49-F238E27FC236}">
                    <a16:creationId xmlns:a16="http://schemas.microsoft.com/office/drawing/2014/main" id="{374BFF82-9C82-C24D-AF77-54330A663D9E}"/>
                  </a:ext>
                </a:extLst>
              </p:cNvPr>
              <p:cNvSpPr>
                <a:spLocks noRot="1" noChangeAspect="1" noMove="1" noResize="1" noEditPoints="1" noAdjustHandles="1" noChangeArrowheads="1" noChangeShapeType="1" noTextEdit="1"/>
              </p:cNvSpPr>
              <p:nvPr/>
            </p:nvSpPr>
            <p:spPr>
              <a:xfrm>
                <a:off x="4752257" y="1532719"/>
                <a:ext cx="5371086" cy="2058769"/>
              </a:xfrm>
              <a:prstGeom prst="rect">
                <a:avLst/>
              </a:prstGeom>
              <a:blipFill>
                <a:blip r:embed="rId4"/>
                <a:stretch>
                  <a:fillRect t="-60123" r="-12264" b="-245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3392FD1C-FA39-5E4E-9F04-D2BDF39C92EB}"/>
                  </a:ext>
                </a:extLst>
              </p:cNvPr>
              <p:cNvSpPr/>
              <p:nvPr/>
            </p:nvSpPr>
            <p:spPr>
              <a:xfrm>
                <a:off x="4456989" y="4351286"/>
                <a:ext cx="6394571" cy="6908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𝑠</m:t>
                      </m:r>
                      <m:r>
                        <a:rPr lang="en-US" sz="3600" i="0">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𝑖</m:t>
                          </m:r>
                        </m:sub>
                      </m:sSub>
                      <m:r>
                        <a:rPr lang="sr-Latn-RS" sz="3600" i="1">
                          <a:latin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𝑥</m:t>
                          </m:r>
                        </m:e>
                        <m:sub>
                          <m:r>
                            <a:rPr lang="en-US" sz="3600" i="1">
                              <a:latin typeface="Cambria Math" panose="02040503050406030204" pitchFamily="18" charset="0"/>
                            </a:rPr>
                            <m:t>𝑗</m:t>
                          </m:r>
                        </m:sub>
                      </m:sSub>
                      <m:r>
                        <a:rPr lang="sr-Latn-RS" sz="3600" b="0" i="1" smtClean="0">
                          <a:latin typeface="Cambria Math" panose="02040503050406030204" pitchFamily="18" charset="0"/>
                        </a:rPr>
                        <m:t>=</m:t>
                      </m:r>
                      <m:r>
                        <a:rPr lang="sr-Latn-RS" sz="3600" i="1">
                          <a:latin typeface="Cambria Math" panose="02040503050406030204" pitchFamily="18" charset="0"/>
                        </a:rPr>
                        <m:t>001 ⨁ 111=110</m:t>
                      </m:r>
                    </m:oMath>
                  </m:oMathPara>
                </a14:m>
                <a:endParaRPr lang="en-US" sz="3600" dirty="0"/>
              </a:p>
            </p:txBody>
          </p:sp>
        </mc:Choice>
        <mc:Fallback xmlns="">
          <p:sp>
            <p:nvSpPr>
              <p:cNvPr id="15" name="Rectangle 14">
                <a:extLst>
                  <a:ext uri="{FF2B5EF4-FFF2-40B4-BE49-F238E27FC236}">
                    <a16:creationId xmlns:a16="http://schemas.microsoft.com/office/drawing/2014/main" id="{3392FD1C-FA39-5E4E-9F04-D2BDF39C92EB}"/>
                  </a:ext>
                </a:extLst>
              </p:cNvPr>
              <p:cNvSpPr>
                <a:spLocks noRot="1" noChangeAspect="1" noMove="1" noResize="1" noEditPoints="1" noAdjustHandles="1" noChangeArrowheads="1" noChangeShapeType="1" noTextEdit="1"/>
              </p:cNvSpPr>
              <p:nvPr/>
            </p:nvSpPr>
            <p:spPr>
              <a:xfrm>
                <a:off x="4456989" y="4351286"/>
                <a:ext cx="6394571" cy="690895"/>
              </a:xfrm>
              <a:prstGeom prst="rect">
                <a:avLst/>
              </a:prstGeom>
              <a:blipFill>
                <a:blip r:embed="rId5"/>
                <a:stretch>
                  <a:fillRect b="-16364"/>
                </a:stretch>
              </a:blipFill>
            </p:spPr>
            <p:txBody>
              <a:bodyPr/>
              <a:lstStyle/>
              <a:p>
                <a:r>
                  <a:rPr lang="en-US">
                    <a:noFill/>
                  </a:rPr>
                  <a:t> </a:t>
                </a:r>
              </a:p>
            </p:txBody>
          </p:sp>
        </mc:Fallback>
      </mc:AlternateContent>
    </p:spTree>
    <p:extLst>
      <p:ext uri="{BB962C8B-B14F-4D97-AF65-F5344CB8AC3E}">
        <p14:creationId xmlns:p14="http://schemas.microsoft.com/office/powerpoint/2010/main" val="210860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E187A6E-D6D5-834F-8C7A-1BADD1A08B62}"/>
              </a:ext>
            </a:extLst>
          </p:cNvPr>
          <p:cNvSpPr/>
          <p:nvPr/>
        </p:nvSpPr>
        <p:spPr>
          <a:xfrm>
            <a:off x="618479" y="2092985"/>
            <a:ext cx="2048256" cy="3931920"/>
          </a:xfrm>
          <a:prstGeom prst="ellipse">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FD6ED49-D3AC-1844-A9F3-275E8185FD81}"/>
              </a:ext>
            </a:extLst>
          </p:cNvPr>
          <p:cNvSpPr/>
          <p:nvPr/>
        </p:nvSpPr>
        <p:spPr>
          <a:xfrm>
            <a:off x="3203183" y="2092985"/>
            <a:ext cx="2048256" cy="3931920"/>
          </a:xfrm>
          <a:prstGeom prst="ellipse">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8F12829-FFA8-DA4F-9260-7FCAA55DA791}"/>
              </a:ext>
            </a:extLst>
          </p:cNvPr>
          <p:cNvSpPr/>
          <p:nvPr/>
        </p:nvSpPr>
        <p:spPr>
          <a:xfrm rot="20647196">
            <a:off x="540558" y="2312126"/>
            <a:ext cx="4252354" cy="1922113"/>
          </a:xfrm>
          <a:prstGeom prst="ellipse">
            <a:avLst/>
          </a:prstGeom>
          <a:solidFill>
            <a:schemeClr val="accent4">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792C86-3721-7442-B441-EBFB667227A3}"/>
              </a:ext>
            </a:extLst>
          </p:cNvPr>
          <p:cNvSpPr>
            <a:spLocks noGrp="1"/>
          </p:cNvSpPr>
          <p:nvPr>
            <p:ph type="title"/>
          </p:nvPr>
        </p:nvSpPr>
        <p:spPr/>
        <p:txBody>
          <a:bodyPr/>
          <a:lstStyle/>
          <a:p>
            <a:r>
              <a:rPr lang="en-ZA" dirty="0"/>
              <a:t>Complexity analysis of the classical approach</a:t>
            </a:r>
            <a:endParaRPr lang="en-US" dirty="0"/>
          </a:p>
        </p:txBody>
      </p:sp>
      <p:sp>
        <p:nvSpPr>
          <p:cNvPr id="3" name="Slide Number Placeholder 2">
            <a:extLst>
              <a:ext uri="{FF2B5EF4-FFF2-40B4-BE49-F238E27FC236}">
                <a16:creationId xmlns:a16="http://schemas.microsoft.com/office/drawing/2014/main" id="{DDC19903-A8D4-304C-AD3F-5FB91625B9C6}"/>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34</a:t>
            </a:fld>
            <a:endParaRPr lang="en-US"/>
          </a:p>
        </p:txBody>
      </p:sp>
      <p:grpSp>
        <p:nvGrpSpPr>
          <p:cNvPr id="10" name="Group 9">
            <a:extLst>
              <a:ext uri="{FF2B5EF4-FFF2-40B4-BE49-F238E27FC236}">
                <a16:creationId xmlns:a16="http://schemas.microsoft.com/office/drawing/2014/main" id="{2D1FFAF2-CF14-9C42-8FD1-22E36D41FCEB}"/>
              </a:ext>
            </a:extLst>
          </p:cNvPr>
          <p:cNvGrpSpPr/>
          <p:nvPr/>
        </p:nvGrpSpPr>
        <p:grpSpPr>
          <a:xfrm>
            <a:off x="1628682" y="4561708"/>
            <a:ext cx="2706624" cy="1027662"/>
            <a:chOff x="1664208" y="2158857"/>
            <a:chExt cx="2706624" cy="1027662"/>
          </a:xfrm>
        </p:grpSpPr>
        <p:sp>
          <p:nvSpPr>
            <p:cNvPr id="6" name="Freeform 5">
              <a:extLst>
                <a:ext uri="{FF2B5EF4-FFF2-40B4-BE49-F238E27FC236}">
                  <a16:creationId xmlns:a16="http://schemas.microsoft.com/office/drawing/2014/main" id="{BFD0B69E-69C4-7D44-B7CB-25010D77FE09}"/>
                </a:ext>
              </a:extLst>
            </p:cNvPr>
            <p:cNvSpPr/>
            <p:nvPr/>
          </p:nvSpPr>
          <p:spPr>
            <a:xfrm>
              <a:off x="1664208" y="2193195"/>
              <a:ext cx="2706624" cy="495141"/>
            </a:xfrm>
            <a:custGeom>
              <a:avLst/>
              <a:gdLst>
                <a:gd name="connsiteX0" fmla="*/ 0 w 2706624"/>
                <a:gd name="connsiteY0" fmla="*/ 495141 h 495141"/>
                <a:gd name="connsiteX1" fmla="*/ 969264 w 2706624"/>
                <a:gd name="connsiteY1" fmla="*/ 56229 h 495141"/>
                <a:gd name="connsiteX2" fmla="*/ 2706624 w 2706624"/>
                <a:gd name="connsiteY2" fmla="*/ 19653 h 495141"/>
              </a:gdLst>
              <a:ahLst/>
              <a:cxnLst>
                <a:cxn ang="0">
                  <a:pos x="connsiteX0" y="connsiteY0"/>
                </a:cxn>
                <a:cxn ang="0">
                  <a:pos x="connsiteX1" y="connsiteY1"/>
                </a:cxn>
                <a:cxn ang="0">
                  <a:pos x="connsiteX2" y="connsiteY2"/>
                </a:cxn>
              </a:cxnLst>
              <a:rect l="l" t="t" r="r" b="b"/>
              <a:pathLst>
                <a:path w="2706624" h="495141">
                  <a:moveTo>
                    <a:pt x="0" y="495141"/>
                  </a:moveTo>
                  <a:cubicBezTo>
                    <a:pt x="259080" y="315309"/>
                    <a:pt x="518160" y="135477"/>
                    <a:pt x="969264" y="56229"/>
                  </a:cubicBezTo>
                  <a:cubicBezTo>
                    <a:pt x="1420368" y="-23019"/>
                    <a:pt x="2063496" y="-1683"/>
                    <a:pt x="2706624" y="19653"/>
                  </a:cubicBezTo>
                </a:path>
              </a:pathLst>
            </a:custGeom>
            <a:noFill/>
            <a:ln w="25400">
              <a:headEnd type="oval"/>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1995D843-A0E5-9647-9757-DFE6EE363E60}"/>
                </a:ext>
              </a:extLst>
            </p:cNvPr>
            <p:cNvSpPr/>
            <p:nvPr/>
          </p:nvSpPr>
          <p:spPr>
            <a:xfrm rot="19172650" flipV="1">
              <a:off x="1703950" y="2158857"/>
              <a:ext cx="2646527" cy="1027662"/>
            </a:xfrm>
            <a:custGeom>
              <a:avLst/>
              <a:gdLst>
                <a:gd name="connsiteX0" fmla="*/ 0 w 2706624"/>
                <a:gd name="connsiteY0" fmla="*/ 495141 h 495141"/>
                <a:gd name="connsiteX1" fmla="*/ 969264 w 2706624"/>
                <a:gd name="connsiteY1" fmla="*/ 56229 h 495141"/>
                <a:gd name="connsiteX2" fmla="*/ 2706624 w 2706624"/>
                <a:gd name="connsiteY2" fmla="*/ 19653 h 495141"/>
                <a:gd name="connsiteX0" fmla="*/ 0 w 2646527"/>
                <a:gd name="connsiteY0" fmla="*/ 1081439 h 1081439"/>
                <a:gd name="connsiteX1" fmla="*/ 909167 w 2646527"/>
                <a:gd name="connsiteY1" fmla="*/ 92912 h 1081439"/>
                <a:gd name="connsiteX2" fmla="*/ 2646527 w 2646527"/>
                <a:gd name="connsiteY2" fmla="*/ 56336 h 1081439"/>
                <a:gd name="connsiteX0" fmla="*/ 0 w 2646527"/>
                <a:gd name="connsiteY0" fmla="*/ 1027662 h 1027662"/>
                <a:gd name="connsiteX1" fmla="*/ 1319200 w 2646527"/>
                <a:gd name="connsiteY1" fmla="*/ 266309 h 1027662"/>
                <a:gd name="connsiteX2" fmla="*/ 2646527 w 2646527"/>
                <a:gd name="connsiteY2" fmla="*/ 2559 h 1027662"/>
              </a:gdLst>
              <a:ahLst/>
              <a:cxnLst>
                <a:cxn ang="0">
                  <a:pos x="connsiteX0" y="connsiteY0"/>
                </a:cxn>
                <a:cxn ang="0">
                  <a:pos x="connsiteX1" y="connsiteY1"/>
                </a:cxn>
                <a:cxn ang="0">
                  <a:pos x="connsiteX2" y="connsiteY2"/>
                </a:cxn>
              </a:cxnLst>
              <a:rect l="l" t="t" r="r" b="b"/>
              <a:pathLst>
                <a:path w="2646527" h="1027662">
                  <a:moveTo>
                    <a:pt x="0" y="1027662"/>
                  </a:moveTo>
                  <a:cubicBezTo>
                    <a:pt x="259080" y="847830"/>
                    <a:pt x="878112" y="437159"/>
                    <a:pt x="1319200" y="266309"/>
                  </a:cubicBezTo>
                  <a:cubicBezTo>
                    <a:pt x="1760288" y="95459"/>
                    <a:pt x="2003399" y="-18777"/>
                    <a:pt x="2646527" y="2559"/>
                  </a:cubicBezTo>
                </a:path>
              </a:pathLst>
            </a:custGeom>
            <a:noFill/>
            <a:ln w="25400">
              <a:headEnd type="oval"/>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Freeform 16">
            <a:extLst>
              <a:ext uri="{FF2B5EF4-FFF2-40B4-BE49-F238E27FC236}">
                <a16:creationId xmlns:a16="http://schemas.microsoft.com/office/drawing/2014/main" id="{4C7217E9-942F-6D40-B53D-6C6B7FB245DC}"/>
              </a:ext>
            </a:extLst>
          </p:cNvPr>
          <p:cNvSpPr/>
          <p:nvPr/>
        </p:nvSpPr>
        <p:spPr>
          <a:xfrm>
            <a:off x="1393688" y="2721693"/>
            <a:ext cx="3187265" cy="681506"/>
          </a:xfrm>
          <a:custGeom>
            <a:avLst/>
            <a:gdLst>
              <a:gd name="connsiteX0" fmla="*/ 0 w 3187265"/>
              <a:gd name="connsiteY0" fmla="*/ 422426 h 681506"/>
              <a:gd name="connsiteX1" fmla="*/ 1584960 w 3187265"/>
              <a:gd name="connsiteY1" fmla="*/ 102386 h 681506"/>
              <a:gd name="connsiteX2" fmla="*/ 3154680 w 3187265"/>
              <a:gd name="connsiteY2" fmla="*/ 41426 h 681506"/>
              <a:gd name="connsiteX3" fmla="*/ 60960 w 3187265"/>
              <a:gd name="connsiteY3" fmla="*/ 681506 h 681506"/>
            </a:gdLst>
            <a:ahLst/>
            <a:cxnLst>
              <a:cxn ang="0">
                <a:pos x="connsiteX0" y="connsiteY0"/>
              </a:cxn>
              <a:cxn ang="0">
                <a:pos x="connsiteX1" y="connsiteY1"/>
              </a:cxn>
              <a:cxn ang="0">
                <a:pos x="connsiteX2" y="connsiteY2"/>
              </a:cxn>
              <a:cxn ang="0">
                <a:pos x="connsiteX3" y="connsiteY3"/>
              </a:cxn>
            </a:cxnLst>
            <a:rect l="l" t="t" r="r" b="b"/>
            <a:pathLst>
              <a:path w="3187265" h="681506">
                <a:moveTo>
                  <a:pt x="0" y="422426"/>
                </a:moveTo>
                <a:cubicBezTo>
                  <a:pt x="529590" y="294156"/>
                  <a:pt x="1059180" y="165886"/>
                  <a:pt x="1584960" y="102386"/>
                </a:cubicBezTo>
                <a:cubicBezTo>
                  <a:pt x="2110740" y="38886"/>
                  <a:pt x="3408680" y="-55094"/>
                  <a:pt x="3154680" y="41426"/>
                </a:cubicBezTo>
                <a:cubicBezTo>
                  <a:pt x="2900680" y="137946"/>
                  <a:pt x="1480820" y="409726"/>
                  <a:pt x="60960" y="681506"/>
                </a:cubicBezTo>
              </a:path>
            </a:pathLst>
          </a:custGeom>
          <a:noFill/>
          <a:ln w="25400">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FE58841C-E1C1-D34D-B564-AEE7E7F13907}"/>
              </a:ext>
            </a:extLst>
          </p:cNvPr>
          <p:cNvSpPr/>
          <p:nvPr/>
        </p:nvSpPr>
        <p:spPr>
          <a:xfrm>
            <a:off x="1096034" y="3486800"/>
            <a:ext cx="3154681" cy="645869"/>
          </a:xfrm>
          <a:custGeom>
            <a:avLst/>
            <a:gdLst>
              <a:gd name="connsiteX0" fmla="*/ 0 w 3187265"/>
              <a:gd name="connsiteY0" fmla="*/ 422426 h 681506"/>
              <a:gd name="connsiteX1" fmla="*/ 1584960 w 3187265"/>
              <a:gd name="connsiteY1" fmla="*/ 102386 h 681506"/>
              <a:gd name="connsiteX2" fmla="*/ 3154680 w 3187265"/>
              <a:gd name="connsiteY2" fmla="*/ 41426 h 681506"/>
              <a:gd name="connsiteX3" fmla="*/ 60960 w 3187265"/>
              <a:gd name="connsiteY3" fmla="*/ 681506 h 681506"/>
              <a:gd name="connsiteX0" fmla="*/ 0 w 3154681"/>
              <a:gd name="connsiteY0" fmla="*/ 413556 h 672636"/>
              <a:gd name="connsiteX1" fmla="*/ 1584960 w 3154681"/>
              <a:gd name="connsiteY1" fmla="*/ 93516 h 672636"/>
              <a:gd name="connsiteX2" fmla="*/ 3154680 w 3154681"/>
              <a:gd name="connsiteY2" fmla="*/ 32556 h 672636"/>
              <a:gd name="connsiteX3" fmla="*/ 1576758 w 3154681"/>
              <a:gd name="connsiteY3" fmla="*/ 552262 h 672636"/>
              <a:gd name="connsiteX4" fmla="*/ 60960 w 3154681"/>
              <a:gd name="connsiteY4" fmla="*/ 672636 h 672636"/>
              <a:gd name="connsiteX0" fmla="*/ 0 w 3154681"/>
              <a:gd name="connsiteY0" fmla="*/ 387116 h 646196"/>
              <a:gd name="connsiteX1" fmla="*/ 1584960 w 3154681"/>
              <a:gd name="connsiteY1" fmla="*/ 249956 h 646196"/>
              <a:gd name="connsiteX2" fmla="*/ 3154680 w 3154681"/>
              <a:gd name="connsiteY2" fmla="*/ 6116 h 646196"/>
              <a:gd name="connsiteX3" fmla="*/ 1576758 w 3154681"/>
              <a:gd name="connsiteY3" fmla="*/ 525822 h 646196"/>
              <a:gd name="connsiteX4" fmla="*/ 60960 w 3154681"/>
              <a:gd name="connsiteY4" fmla="*/ 646196 h 646196"/>
              <a:gd name="connsiteX0" fmla="*/ 0 w 3154681"/>
              <a:gd name="connsiteY0" fmla="*/ 386789 h 645869"/>
              <a:gd name="connsiteX1" fmla="*/ 1584960 w 3154681"/>
              <a:gd name="connsiteY1" fmla="*/ 249629 h 645869"/>
              <a:gd name="connsiteX2" fmla="*/ 3154680 w 3154681"/>
              <a:gd name="connsiteY2" fmla="*/ 5789 h 645869"/>
              <a:gd name="connsiteX3" fmla="*/ 1576758 w 3154681"/>
              <a:gd name="connsiteY3" fmla="*/ 525495 h 645869"/>
              <a:gd name="connsiteX4" fmla="*/ 60960 w 3154681"/>
              <a:gd name="connsiteY4" fmla="*/ 645869 h 645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4681" h="645869">
                <a:moveTo>
                  <a:pt x="0" y="386789"/>
                </a:moveTo>
                <a:cubicBezTo>
                  <a:pt x="529590" y="258519"/>
                  <a:pt x="998220" y="297889"/>
                  <a:pt x="1584960" y="249629"/>
                </a:cubicBezTo>
                <a:cubicBezTo>
                  <a:pt x="2171700" y="201369"/>
                  <a:pt x="3156047" y="-40189"/>
                  <a:pt x="3154680" y="5789"/>
                </a:cubicBezTo>
                <a:cubicBezTo>
                  <a:pt x="3153313" y="51767"/>
                  <a:pt x="2092378" y="418815"/>
                  <a:pt x="1576758" y="525495"/>
                </a:cubicBezTo>
                <a:cubicBezTo>
                  <a:pt x="1061138" y="632175"/>
                  <a:pt x="313593" y="595327"/>
                  <a:pt x="60960" y="645869"/>
                </a:cubicBezTo>
              </a:path>
            </a:pathLst>
          </a:custGeom>
          <a:noFill/>
          <a:ln w="25400">
            <a:headEnd type="oval" w="lg" len="lg"/>
            <a:tailEnd type="oval"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7451E0F-BFD5-B443-9D1E-4CD48AFE1ADA}"/>
                  </a:ext>
                </a:extLst>
              </p:cNvPr>
              <p:cNvSpPr txBox="1"/>
              <p:nvPr/>
            </p:nvSpPr>
            <p:spPr>
              <a:xfrm>
                <a:off x="916345" y="3421344"/>
                <a:ext cx="51693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𝑚</m:t>
                      </m:r>
                    </m:oMath>
                  </m:oMathPara>
                </a14:m>
                <a:endParaRPr lang="en-US" sz="2400" dirty="0"/>
              </a:p>
            </p:txBody>
          </p:sp>
        </mc:Choice>
        <mc:Fallback xmlns="">
          <p:sp>
            <p:nvSpPr>
              <p:cNvPr id="20" name="TextBox 19">
                <a:extLst>
                  <a:ext uri="{FF2B5EF4-FFF2-40B4-BE49-F238E27FC236}">
                    <a16:creationId xmlns:a16="http://schemas.microsoft.com/office/drawing/2014/main" id="{97451E0F-BFD5-B443-9D1E-4CD48AFE1ADA}"/>
                  </a:ext>
                </a:extLst>
              </p:cNvPr>
              <p:cNvSpPr txBox="1">
                <a:spLocks noRot="1" noChangeAspect="1" noMove="1" noResize="1" noEditPoints="1" noAdjustHandles="1" noChangeArrowheads="1" noChangeShapeType="1" noTextEdit="1"/>
              </p:cNvSpPr>
              <p:nvPr/>
            </p:nvSpPr>
            <p:spPr>
              <a:xfrm>
                <a:off x="916345" y="3421344"/>
                <a:ext cx="516936"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3E3E5FC5-85E8-294D-8BF7-AD8CCAEB616C}"/>
                  </a:ext>
                </a:extLst>
              </p:cNvPr>
              <p:cNvSpPr/>
              <p:nvPr/>
            </p:nvSpPr>
            <p:spPr>
              <a:xfrm>
                <a:off x="7328194" y="774238"/>
                <a:ext cx="2374624" cy="83106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sr-Latn-RS" sz="2400" i="1" smtClean="0">
                              <a:latin typeface="Cambria Math" panose="02040503050406030204" pitchFamily="18" charset="0"/>
                            </a:rPr>
                          </m:ctrlPr>
                        </m:fPr>
                        <m:num>
                          <m:r>
                            <a:rPr lang="sr-Latn-RS" sz="2400" i="1">
                              <a:latin typeface="Cambria Math" panose="02040503050406030204" pitchFamily="18" charset="0"/>
                            </a:rPr>
                            <m:t>𝑚</m:t>
                          </m:r>
                          <m:d>
                            <m:dPr>
                              <m:ctrlPr>
                                <a:rPr lang="en-ZA" sz="2400" i="1">
                                  <a:latin typeface="Cambria Math" panose="02040503050406030204" pitchFamily="18" charset="0"/>
                                </a:rPr>
                              </m:ctrlPr>
                            </m:dPr>
                            <m:e>
                              <m:r>
                                <a:rPr lang="sr-Latn-RS" sz="2400" i="1">
                                  <a:latin typeface="Cambria Math" panose="02040503050406030204" pitchFamily="18" charset="0"/>
                                </a:rPr>
                                <m:t>𝑚</m:t>
                              </m:r>
                              <m:r>
                                <a:rPr lang="sr-Latn-RS" sz="2400" i="1">
                                  <a:latin typeface="Cambria Math" panose="02040503050406030204" pitchFamily="18" charset="0"/>
                                </a:rPr>
                                <m:t>−1</m:t>
                              </m:r>
                            </m:e>
                          </m:d>
                        </m:num>
                        <m:den>
                          <m:r>
                            <a:rPr lang="sr-Latn-RS" sz="2400" b="0" i="1" smtClean="0">
                              <a:latin typeface="Cambria Math" panose="02040503050406030204" pitchFamily="18" charset="0"/>
                            </a:rPr>
                            <m:t>2</m:t>
                          </m:r>
                        </m:den>
                      </m:f>
                      <m:r>
                        <a:rPr lang="sr-Latn-RS" sz="2400" i="1" smtClean="0">
                          <a:latin typeface="Cambria Math" panose="02040503050406030204" pitchFamily="18" charset="0"/>
                        </a:rPr>
                        <m:t>≈</m:t>
                      </m:r>
                      <m:f>
                        <m:fPr>
                          <m:ctrlPr>
                            <a:rPr lang="sr-Latn-RS" sz="2400" i="1" smtClean="0">
                              <a:latin typeface="Cambria Math" panose="02040503050406030204" pitchFamily="18" charset="0"/>
                            </a:rPr>
                          </m:ctrlPr>
                        </m:fPr>
                        <m:num>
                          <m:sSup>
                            <m:sSupPr>
                              <m:ctrlPr>
                                <a:rPr lang="en-ZA" sz="2400" i="1">
                                  <a:latin typeface="Cambria Math" panose="02040503050406030204" pitchFamily="18" charset="0"/>
                                </a:rPr>
                              </m:ctrlPr>
                            </m:sSupPr>
                            <m:e>
                              <m:r>
                                <a:rPr lang="sr-Latn-RS" sz="2400" i="1">
                                  <a:latin typeface="Cambria Math" panose="02040503050406030204" pitchFamily="18" charset="0"/>
                                </a:rPr>
                                <m:t>𝑚</m:t>
                              </m:r>
                            </m:e>
                            <m:sup>
                              <m:r>
                                <a:rPr lang="sr-Latn-RS" sz="2400" i="1">
                                  <a:latin typeface="Cambria Math" panose="02040503050406030204" pitchFamily="18" charset="0"/>
                                </a:rPr>
                                <m:t>2</m:t>
                              </m:r>
                            </m:sup>
                          </m:sSup>
                        </m:num>
                        <m:den>
                          <m:r>
                            <a:rPr lang="en-US" sz="2400" b="0" i="1" smtClean="0">
                              <a:latin typeface="Cambria Math" panose="02040503050406030204" pitchFamily="18" charset="0"/>
                            </a:rPr>
                            <m:t>2</m:t>
                          </m:r>
                        </m:den>
                      </m:f>
                    </m:oMath>
                  </m:oMathPara>
                </a14:m>
                <a:endParaRPr lang="en-US" sz="2400" dirty="0"/>
              </a:p>
            </p:txBody>
          </p:sp>
        </mc:Choice>
        <mc:Fallback xmlns="">
          <p:sp>
            <p:nvSpPr>
              <p:cNvPr id="22" name="Rectangle 21">
                <a:extLst>
                  <a:ext uri="{FF2B5EF4-FFF2-40B4-BE49-F238E27FC236}">
                    <a16:creationId xmlns:a16="http://schemas.microsoft.com/office/drawing/2014/main" id="{3E3E5FC5-85E8-294D-8BF7-AD8CCAEB616C}"/>
                  </a:ext>
                </a:extLst>
              </p:cNvPr>
              <p:cNvSpPr>
                <a:spLocks noRot="1" noChangeAspect="1" noMove="1" noResize="1" noEditPoints="1" noAdjustHandles="1" noChangeArrowheads="1" noChangeShapeType="1" noTextEdit="1"/>
              </p:cNvSpPr>
              <p:nvPr/>
            </p:nvSpPr>
            <p:spPr>
              <a:xfrm>
                <a:off x="7328194" y="774238"/>
                <a:ext cx="2374624" cy="831061"/>
              </a:xfrm>
              <a:prstGeom prst="rect">
                <a:avLst/>
              </a:prstGeom>
              <a:blipFill>
                <a:blip r:embed="rId4"/>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F4164F2-F2CB-4D41-9F4D-24492E9587E1}"/>
                  </a:ext>
                </a:extLst>
              </p:cNvPr>
              <p:cNvSpPr txBox="1"/>
              <p:nvPr/>
            </p:nvSpPr>
            <p:spPr>
              <a:xfrm>
                <a:off x="1415483" y="5581698"/>
                <a:ext cx="42639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𝑥</m:t>
                      </m:r>
                    </m:oMath>
                  </m:oMathPara>
                </a14:m>
                <a:endParaRPr lang="en-US" sz="2400" dirty="0"/>
              </a:p>
            </p:txBody>
          </p:sp>
        </mc:Choice>
        <mc:Fallback xmlns="">
          <p:sp>
            <p:nvSpPr>
              <p:cNvPr id="23" name="TextBox 22">
                <a:extLst>
                  <a:ext uri="{FF2B5EF4-FFF2-40B4-BE49-F238E27FC236}">
                    <a16:creationId xmlns:a16="http://schemas.microsoft.com/office/drawing/2014/main" id="{7F4164F2-F2CB-4D41-9F4D-24492E9587E1}"/>
                  </a:ext>
                </a:extLst>
              </p:cNvPr>
              <p:cNvSpPr txBox="1">
                <a:spLocks noRot="1" noChangeAspect="1" noMove="1" noResize="1" noEditPoints="1" noAdjustHandles="1" noChangeArrowheads="1" noChangeShapeType="1" noTextEdit="1"/>
              </p:cNvSpPr>
              <p:nvPr/>
            </p:nvSpPr>
            <p:spPr>
              <a:xfrm>
                <a:off x="1415483" y="5581698"/>
                <a:ext cx="426399"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E3BFD1D-31EB-7942-B884-E385508AA8FE}"/>
                  </a:ext>
                </a:extLst>
              </p:cNvPr>
              <p:cNvSpPr txBox="1"/>
              <p:nvPr/>
            </p:nvSpPr>
            <p:spPr>
              <a:xfrm>
                <a:off x="3819795" y="5481511"/>
                <a:ext cx="86183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𝑓</m:t>
                      </m:r>
                      <m:r>
                        <a:rPr lang="sr-Latn-RS" sz="2400" b="0" i="1" smtClean="0">
                          <a:latin typeface="Cambria Math" panose="02040503050406030204" pitchFamily="18" charset="0"/>
                        </a:rPr>
                        <m:t>(</m:t>
                      </m:r>
                      <m:r>
                        <a:rPr lang="sr-Latn-RS" sz="2400" b="0" i="1" smtClean="0">
                          <a:latin typeface="Cambria Math" panose="02040503050406030204" pitchFamily="18" charset="0"/>
                        </a:rPr>
                        <m:t>𝑥</m:t>
                      </m:r>
                      <m:r>
                        <a:rPr lang="sr-Latn-RS" sz="2400" b="0" i="1" smtClean="0">
                          <a:latin typeface="Cambria Math" panose="02040503050406030204" pitchFamily="18" charset="0"/>
                        </a:rPr>
                        <m:t>)</m:t>
                      </m:r>
                    </m:oMath>
                  </m:oMathPara>
                </a14:m>
                <a:endParaRPr lang="en-US" sz="2400" dirty="0"/>
              </a:p>
            </p:txBody>
          </p:sp>
        </mc:Choice>
        <mc:Fallback xmlns="">
          <p:sp>
            <p:nvSpPr>
              <p:cNvPr id="24" name="TextBox 23">
                <a:extLst>
                  <a:ext uri="{FF2B5EF4-FFF2-40B4-BE49-F238E27FC236}">
                    <a16:creationId xmlns:a16="http://schemas.microsoft.com/office/drawing/2014/main" id="{9E3BFD1D-31EB-7942-B884-E385508AA8FE}"/>
                  </a:ext>
                </a:extLst>
              </p:cNvPr>
              <p:cNvSpPr txBox="1">
                <a:spLocks noRot="1" noChangeAspect="1" noMove="1" noResize="1" noEditPoints="1" noAdjustHandles="1" noChangeArrowheads="1" noChangeShapeType="1" noTextEdit="1"/>
              </p:cNvSpPr>
              <p:nvPr/>
            </p:nvSpPr>
            <p:spPr>
              <a:xfrm>
                <a:off x="3819795" y="5481511"/>
                <a:ext cx="861839" cy="461665"/>
              </a:xfrm>
              <a:prstGeom prst="rect">
                <a:avLst/>
              </a:prstGeom>
              <a:blipFill>
                <a:blip r:embed="rId6"/>
                <a:stretch>
                  <a:fillRect l="-1449" b="-16667"/>
                </a:stretch>
              </a:blipFill>
            </p:spPr>
            <p:txBody>
              <a:bodyPr/>
              <a:lstStyle/>
              <a:p>
                <a:r>
                  <a:rPr lang="en-US">
                    <a:noFill/>
                  </a:rPr>
                  <a:t> </a:t>
                </a:r>
              </a:p>
            </p:txBody>
          </p:sp>
        </mc:Fallback>
      </mc:AlternateContent>
      <p:sp>
        <p:nvSpPr>
          <p:cNvPr id="25" name="Rectangle 24">
            <a:extLst>
              <a:ext uri="{FF2B5EF4-FFF2-40B4-BE49-F238E27FC236}">
                <a16:creationId xmlns:a16="http://schemas.microsoft.com/office/drawing/2014/main" id="{EAE0207F-09A9-5547-A46B-B026E3976D75}"/>
              </a:ext>
            </a:extLst>
          </p:cNvPr>
          <p:cNvSpPr/>
          <p:nvPr/>
        </p:nvSpPr>
        <p:spPr>
          <a:xfrm>
            <a:off x="9871071" y="948797"/>
            <a:ext cx="1727909" cy="461665"/>
          </a:xfrm>
          <a:prstGeom prst="rect">
            <a:avLst/>
          </a:prstGeom>
        </p:spPr>
        <p:txBody>
          <a:bodyPr wrap="none">
            <a:spAutoFit/>
          </a:bodyPr>
          <a:lstStyle/>
          <a:p>
            <a:r>
              <a:rPr lang="sr-Latn-RS" sz="2400" dirty="0" err="1"/>
              <a:t>unique</a:t>
            </a:r>
            <a:r>
              <a:rPr lang="sr-Latn-RS" sz="2400" dirty="0"/>
              <a:t> </a:t>
            </a:r>
            <a:r>
              <a:rPr lang="sr-Latn-RS" sz="2400" dirty="0" err="1"/>
              <a:t>pairs</a:t>
            </a:r>
            <a:endParaRPr lang="en-US" sz="2400"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9AD00CB-50F0-8940-8CDB-3AB7FAE2C306}"/>
                  </a:ext>
                </a:extLst>
              </p:cNvPr>
              <p:cNvSpPr txBox="1"/>
              <p:nvPr/>
            </p:nvSpPr>
            <p:spPr>
              <a:xfrm>
                <a:off x="7876068" y="2942946"/>
                <a:ext cx="127887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400" i="1">
                              <a:latin typeface="Cambria Math" panose="02040503050406030204" pitchFamily="18" charset="0"/>
                            </a:rPr>
                          </m:ctrlPr>
                        </m:sSupPr>
                        <m:e>
                          <m:r>
                            <a:rPr lang="sr-Latn-RS" sz="2400" i="1">
                              <a:latin typeface="Cambria Math" panose="02040503050406030204" pitchFamily="18" charset="0"/>
                            </a:rPr>
                            <m:t>𝑚</m:t>
                          </m:r>
                        </m:e>
                        <m:sup>
                          <m:r>
                            <a:rPr lang="sr-Latn-RS" sz="2400" i="1">
                              <a:latin typeface="Cambria Math" panose="02040503050406030204" pitchFamily="18" charset="0"/>
                            </a:rPr>
                            <m:t>2</m:t>
                          </m:r>
                        </m:sup>
                      </m:sSup>
                      <m:r>
                        <a:rPr lang="sr-Latn-RS" sz="2400" i="1">
                          <a:latin typeface="Cambria Math" panose="02040503050406030204" pitchFamily="18" charset="0"/>
                        </a:rPr>
                        <m:t> </m:t>
                      </m:r>
                      <m:r>
                        <a:rPr lang="sr-Latn-RS" sz="2400" i="1">
                          <a:latin typeface="Cambria Math" panose="02040503050406030204" pitchFamily="18" charset="0"/>
                          <a:ea typeface="Cambria Math" panose="02040503050406030204" pitchFamily="18" charset="0"/>
                        </a:rPr>
                        <m:t>~</m:t>
                      </m:r>
                      <m:sSup>
                        <m:sSupPr>
                          <m:ctrlPr>
                            <a:rPr lang="en-ZA"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oMath>
                  </m:oMathPara>
                </a14:m>
                <a:endParaRPr lang="en-US" sz="2400" dirty="0"/>
              </a:p>
            </p:txBody>
          </p:sp>
        </mc:Choice>
        <mc:Fallback xmlns="">
          <p:sp>
            <p:nvSpPr>
              <p:cNvPr id="26" name="TextBox 25">
                <a:extLst>
                  <a:ext uri="{FF2B5EF4-FFF2-40B4-BE49-F238E27FC236}">
                    <a16:creationId xmlns:a16="http://schemas.microsoft.com/office/drawing/2014/main" id="{49AD00CB-50F0-8940-8CDB-3AB7FAE2C306}"/>
                  </a:ext>
                </a:extLst>
              </p:cNvPr>
              <p:cNvSpPr txBox="1">
                <a:spLocks noRot="1" noChangeAspect="1" noMove="1" noResize="1" noEditPoints="1" noAdjustHandles="1" noChangeArrowheads="1" noChangeShapeType="1" noTextEdit="1"/>
              </p:cNvSpPr>
              <p:nvPr/>
            </p:nvSpPr>
            <p:spPr>
              <a:xfrm>
                <a:off x="7876068" y="2942946"/>
                <a:ext cx="1278876" cy="461665"/>
              </a:xfrm>
              <a:prstGeom prst="rect">
                <a:avLst/>
              </a:prstGeom>
              <a:blipFill>
                <a:blip r:embed="rId7"/>
                <a:stretch>
                  <a:fillRect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4697687-0156-2148-9E51-1CD205370A6E}"/>
                  </a:ext>
                </a:extLst>
              </p:cNvPr>
              <p:cNvSpPr/>
              <p:nvPr/>
            </p:nvSpPr>
            <p:spPr>
              <a:xfrm>
                <a:off x="7812654" y="4372926"/>
                <a:ext cx="1405705" cy="5052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𝑚</m:t>
                      </m:r>
                      <m:r>
                        <a:rPr lang="en-US" sz="2400" b="0" i="1" smtClean="0">
                          <a:latin typeface="Cambria Math" panose="02040503050406030204" pitchFamily="18" charset="0"/>
                          <a:ea typeface="Cambria Math" panose="02040503050406030204" pitchFamily="18" charset="0"/>
                        </a:rPr>
                        <m:t> </m:t>
                      </m:r>
                      <m:r>
                        <a:rPr lang="sr-Latn-R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 </m:t>
                      </m:r>
                      <m:rad>
                        <m:radPr>
                          <m:degHide m:val="on"/>
                          <m:ctrlPr>
                            <a:rPr lang="en-ZA" sz="2400" i="1">
                              <a:latin typeface="Cambria Math" panose="02040503050406030204" pitchFamily="18" charset="0"/>
                            </a:rPr>
                          </m:ctrlPr>
                        </m:radPr>
                        <m:deg/>
                        <m:e>
                          <m:sSup>
                            <m:sSupPr>
                              <m:ctrlPr>
                                <a:rPr lang="en-ZA"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e>
                      </m:rad>
                    </m:oMath>
                  </m:oMathPara>
                </a14:m>
                <a:endParaRPr lang="en-US" sz="2400" dirty="0"/>
              </a:p>
            </p:txBody>
          </p:sp>
        </mc:Choice>
        <mc:Fallback xmlns="">
          <p:sp>
            <p:nvSpPr>
              <p:cNvPr id="27" name="Rectangle 26">
                <a:extLst>
                  <a:ext uri="{FF2B5EF4-FFF2-40B4-BE49-F238E27FC236}">
                    <a16:creationId xmlns:a16="http://schemas.microsoft.com/office/drawing/2014/main" id="{C4697687-0156-2148-9E51-1CD205370A6E}"/>
                  </a:ext>
                </a:extLst>
              </p:cNvPr>
              <p:cNvSpPr>
                <a:spLocks noRot="1" noChangeAspect="1" noMove="1" noResize="1" noEditPoints="1" noAdjustHandles="1" noChangeArrowheads="1" noChangeShapeType="1" noTextEdit="1"/>
              </p:cNvSpPr>
              <p:nvPr/>
            </p:nvSpPr>
            <p:spPr>
              <a:xfrm>
                <a:off x="7812654" y="4372926"/>
                <a:ext cx="1405705" cy="505203"/>
              </a:xfrm>
              <a:prstGeom prst="rect">
                <a:avLst/>
              </a:prstGeom>
              <a:blipFill>
                <a:blip r:embed="rId8"/>
                <a:stretch>
                  <a:fillRect b="-170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EE81127B-69A2-FA46-93A9-305C44473B82}"/>
                  </a:ext>
                </a:extLst>
              </p:cNvPr>
              <p:cNvSpPr/>
              <p:nvPr/>
            </p:nvSpPr>
            <p:spPr>
              <a:xfrm>
                <a:off x="6949935" y="5943176"/>
                <a:ext cx="3148619" cy="6085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i="1" smtClean="0">
                          <a:latin typeface="Cambria Math" panose="02040503050406030204" pitchFamily="18" charset="0"/>
                        </a:rPr>
                        <m:t>𝑂</m:t>
                      </m:r>
                      <m:d>
                        <m:dPr>
                          <m:ctrlPr>
                            <a:rPr lang="sr-Latn-RS" sz="2800" i="1">
                              <a:latin typeface="Cambria Math" panose="02040503050406030204" pitchFamily="18" charset="0"/>
                            </a:rPr>
                          </m:ctrlPr>
                        </m:dPr>
                        <m:e>
                          <m:rad>
                            <m:radPr>
                              <m:degHide m:val="on"/>
                              <m:ctrlPr>
                                <a:rPr lang="en-ZA" sz="2800" i="1">
                                  <a:latin typeface="Cambria Math" panose="02040503050406030204" pitchFamily="18" charset="0"/>
                                </a:rPr>
                              </m:ctrlPr>
                            </m:radPr>
                            <m:deg/>
                            <m:e>
                              <m:sSup>
                                <m:sSupPr>
                                  <m:ctrlPr>
                                    <a:rPr lang="en-ZA" sz="2800" i="1">
                                      <a:latin typeface="Cambria Math" panose="02040503050406030204" pitchFamily="18" charset="0"/>
                                    </a:rPr>
                                  </m:ctrlPr>
                                </m:sSupPr>
                                <m:e>
                                  <m:r>
                                    <a:rPr lang="sr-Latn-RS" sz="2800" i="1">
                                      <a:latin typeface="Cambria Math" panose="02040503050406030204" pitchFamily="18" charset="0"/>
                                    </a:rPr>
                                    <m:t>2</m:t>
                                  </m:r>
                                </m:e>
                                <m:sup>
                                  <m:r>
                                    <a:rPr lang="sr-Latn-RS" sz="2800" i="1">
                                      <a:latin typeface="Cambria Math" panose="02040503050406030204" pitchFamily="18" charset="0"/>
                                    </a:rPr>
                                    <m:t>𝑛</m:t>
                                  </m:r>
                                </m:sup>
                              </m:sSup>
                            </m:e>
                          </m:rad>
                        </m:e>
                      </m:d>
                      <m:r>
                        <a:rPr lang="en-US" sz="2800" b="0" i="1" smtClean="0">
                          <a:latin typeface="Cambria Math" panose="02040503050406030204" pitchFamily="18" charset="0"/>
                        </a:rPr>
                        <m:t>=</m:t>
                      </m:r>
                      <m:r>
                        <a:rPr lang="sr-Latn-RS" sz="2800" i="1">
                          <a:latin typeface="Cambria Math" panose="02040503050406030204" pitchFamily="18" charset="0"/>
                        </a:rPr>
                        <m:t>𝑂</m:t>
                      </m:r>
                      <m:r>
                        <a:rPr lang="sr-Latn-RS" sz="2800" i="1">
                          <a:latin typeface="Cambria Math" panose="02040503050406030204" pitchFamily="18" charset="0"/>
                        </a:rPr>
                        <m:t>(</m:t>
                      </m:r>
                      <m:sSup>
                        <m:sSupPr>
                          <m:ctrlPr>
                            <a:rPr lang="en-ZA" sz="2800" i="1">
                              <a:latin typeface="Cambria Math" panose="02040503050406030204" pitchFamily="18" charset="0"/>
                            </a:rPr>
                          </m:ctrlPr>
                        </m:sSupPr>
                        <m:e>
                          <m:r>
                            <a:rPr lang="sr-Latn-RS" sz="2800" i="1">
                              <a:latin typeface="Cambria Math" panose="02040503050406030204" pitchFamily="18" charset="0"/>
                            </a:rPr>
                            <m:t>2</m:t>
                          </m:r>
                        </m:e>
                        <m:sup>
                          <m:r>
                            <a:rPr lang="sr-Latn-RS" sz="2800" i="1">
                              <a:latin typeface="Cambria Math" panose="02040503050406030204" pitchFamily="18" charset="0"/>
                            </a:rPr>
                            <m:t>𝑛</m:t>
                          </m:r>
                          <m:r>
                            <a:rPr lang="en-US" sz="2800" b="0" i="1" smtClean="0">
                              <a:latin typeface="Cambria Math" panose="02040503050406030204" pitchFamily="18" charset="0"/>
                            </a:rPr>
                            <m:t>/2</m:t>
                          </m:r>
                        </m:sup>
                      </m:sSup>
                      <m:r>
                        <a:rPr lang="sr-Latn-RS" sz="2800" i="1">
                          <a:latin typeface="Cambria Math" panose="02040503050406030204" pitchFamily="18" charset="0"/>
                        </a:rPr>
                        <m:t>)</m:t>
                      </m:r>
                    </m:oMath>
                  </m:oMathPara>
                </a14:m>
                <a:endParaRPr lang="en-US" sz="2800" dirty="0"/>
              </a:p>
            </p:txBody>
          </p:sp>
        </mc:Choice>
        <mc:Fallback xmlns="">
          <p:sp>
            <p:nvSpPr>
              <p:cNvPr id="30" name="Rectangle 29">
                <a:extLst>
                  <a:ext uri="{FF2B5EF4-FFF2-40B4-BE49-F238E27FC236}">
                    <a16:creationId xmlns:a16="http://schemas.microsoft.com/office/drawing/2014/main" id="{EE81127B-69A2-FA46-93A9-305C44473B82}"/>
                  </a:ext>
                </a:extLst>
              </p:cNvPr>
              <p:cNvSpPr>
                <a:spLocks noRot="1" noChangeAspect="1" noMove="1" noResize="1" noEditPoints="1" noAdjustHandles="1" noChangeArrowheads="1" noChangeShapeType="1" noTextEdit="1"/>
              </p:cNvSpPr>
              <p:nvPr/>
            </p:nvSpPr>
            <p:spPr>
              <a:xfrm>
                <a:off x="6949935" y="5943176"/>
                <a:ext cx="3148619" cy="608500"/>
              </a:xfrm>
              <a:prstGeom prst="rect">
                <a:avLst/>
              </a:prstGeom>
              <a:blipFill>
                <a:blip r:embed="rId9"/>
                <a:stretch>
                  <a:fillRect r="-402" b="-10417"/>
                </a:stretch>
              </a:blipFill>
            </p:spPr>
            <p:txBody>
              <a:bodyPr/>
              <a:lstStyle/>
              <a:p>
                <a:r>
                  <a:rPr lang="en-US">
                    <a:noFill/>
                  </a:rPr>
                  <a:t> </a:t>
                </a:r>
              </a:p>
            </p:txBody>
          </p:sp>
        </mc:Fallback>
      </mc:AlternateContent>
      <p:sp>
        <p:nvSpPr>
          <p:cNvPr id="31" name="Down Arrow 30">
            <a:extLst>
              <a:ext uri="{FF2B5EF4-FFF2-40B4-BE49-F238E27FC236}">
                <a16:creationId xmlns:a16="http://schemas.microsoft.com/office/drawing/2014/main" id="{3E7DC7F6-ED35-4E48-AF49-826C07D38395}"/>
              </a:ext>
            </a:extLst>
          </p:cNvPr>
          <p:cNvSpPr/>
          <p:nvPr/>
        </p:nvSpPr>
        <p:spPr>
          <a:xfrm>
            <a:off x="8250463" y="5131454"/>
            <a:ext cx="530087" cy="612207"/>
          </a:xfrm>
          <a:prstGeom prst="downArrow">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FB766A4-8BAB-5843-981C-1AC0ABF58EAF}"/>
                  </a:ext>
                </a:extLst>
              </p:cNvPr>
              <p:cNvSpPr txBox="1"/>
              <p:nvPr/>
            </p:nvSpPr>
            <p:spPr>
              <a:xfrm>
                <a:off x="2417027" y="1016561"/>
                <a:ext cx="4295791" cy="461665"/>
              </a:xfrm>
              <a:prstGeom prst="rect">
                <a:avLst/>
              </a:prstGeom>
              <a:noFill/>
            </p:spPr>
            <p:txBody>
              <a:bodyPr wrap="none" rtlCol="0">
                <a:spAutoFit/>
              </a:bodyPr>
              <a:lstStyle/>
              <a:p>
                <a:r>
                  <a:rPr lang="en-ZA" sz="2400" b="1" dirty="0"/>
                  <a:t>1.</a:t>
                </a:r>
                <a:r>
                  <a:rPr lang="en-ZA" sz="2400" dirty="0"/>
                  <a:t> Select </a:t>
                </a:r>
                <a14:m>
                  <m:oMath xmlns:m="http://schemas.openxmlformats.org/officeDocument/2006/math">
                    <m:r>
                      <a:rPr lang="sr-Latn-RS" sz="2400" i="1">
                        <a:latin typeface="Cambria Math" panose="02040503050406030204" pitchFamily="18" charset="0"/>
                      </a:rPr>
                      <m:t>𝑚</m:t>
                    </m:r>
                  </m:oMath>
                </a14:m>
                <a:r>
                  <a:rPr lang="en-ZA" sz="2400" dirty="0"/>
                  <a:t> random </a:t>
                </a:r>
                <a14:m>
                  <m:oMath xmlns:m="http://schemas.openxmlformats.org/officeDocument/2006/math">
                    <m:r>
                      <a:rPr lang="en-US" sz="2400" b="0" i="1" smtClean="0">
                        <a:latin typeface="Cambria Math" panose="02040503050406030204" pitchFamily="18" charset="0"/>
                      </a:rPr>
                      <m:t>𝑛</m:t>
                    </m:r>
                  </m:oMath>
                </a14:m>
                <a:r>
                  <a:rPr lang="en-ZA" sz="2400" dirty="0"/>
                  <a:t>-bit inputs</a:t>
                </a:r>
                <a:endParaRPr lang="en-US" sz="2400" dirty="0"/>
              </a:p>
            </p:txBody>
          </p:sp>
        </mc:Choice>
        <mc:Fallback xmlns="">
          <p:sp>
            <p:nvSpPr>
              <p:cNvPr id="8" name="TextBox 7">
                <a:extLst>
                  <a:ext uri="{FF2B5EF4-FFF2-40B4-BE49-F238E27FC236}">
                    <a16:creationId xmlns:a16="http://schemas.microsoft.com/office/drawing/2014/main" id="{9FB766A4-8BAB-5843-981C-1AC0ABF58EAF}"/>
                  </a:ext>
                </a:extLst>
              </p:cNvPr>
              <p:cNvSpPr txBox="1">
                <a:spLocks noRot="1" noChangeAspect="1" noMove="1" noResize="1" noEditPoints="1" noAdjustHandles="1" noChangeArrowheads="1" noChangeShapeType="1" noTextEdit="1"/>
              </p:cNvSpPr>
              <p:nvPr/>
            </p:nvSpPr>
            <p:spPr>
              <a:xfrm>
                <a:off x="2417027" y="1016561"/>
                <a:ext cx="4295791" cy="461665"/>
              </a:xfrm>
              <a:prstGeom prst="rect">
                <a:avLst/>
              </a:prstGeom>
              <a:blipFill>
                <a:blip r:embed="rId10"/>
                <a:stretch>
                  <a:fillRect l="-2059" t="-5405" b="-29730"/>
                </a:stretch>
              </a:blipFill>
            </p:spPr>
            <p:txBody>
              <a:bodyPr/>
              <a:lstStyle/>
              <a:p>
                <a:r>
                  <a:rPr lang="en-US">
                    <a:noFill/>
                  </a:rPr>
                  <a:t> </a:t>
                </a:r>
              </a:p>
            </p:txBody>
          </p:sp>
        </mc:Fallback>
      </mc:AlternateContent>
      <p:sp>
        <p:nvSpPr>
          <p:cNvPr id="9" name="Right Arrow 8">
            <a:extLst>
              <a:ext uri="{FF2B5EF4-FFF2-40B4-BE49-F238E27FC236}">
                <a16:creationId xmlns:a16="http://schemas.microsoft.com/office/drawing/2014/main" id="{6C131A96-0FE9-6645-B602-F3FC293157D8}"/>
              </a:ext>
            </a:extLst>
          </p:cNvPr>
          <p:cNvSpPr/>
          <p:nvPr/>
        </p:nvSpPr>
        <p:spPr>
          <a:xfrm>
            <a:off x="6593072" y="1119885"/>
            <a:ext cx="598346" cy="29296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34C3B40-E934-C440-8223-32D50A6B9CB0}"/>
              </a:ext>
            </a:extLst>
          </p:cNvPr>
          <p:cNvSpPr txBox="1"/>
          <p:nvPr/>
        </p:nvSpPr>
        <p:spPr>
          <a:xfrm>
            <a:off x="5037375" y="1858624"/>
            <a:ext cx="6956263" cy="830997"/>
          </a:xfrm>
          <a:prstGeom prst="rect">
            <a:avLst/>
          </a:prstGeom>
          <a:noFill/>
        </p:spPr>
        <p:txBody>
          <a:bodyPr wrap="none" rtlCol="0">
            <a:spAutoFit/>
          </a:bodyPr>
          <a:lstStyle/>
          <a:p>
            <a:r>
              <a:rPr lang="en-ZA" sz="2400" b="1" dirty="0"/>
              <a:t>2.</a:t>
            </a:r>
            <a:r>
              <a:rPr lang="en-ZA" sz="2400" dirty="0"/>
              <a:t> A collision becomes likely when the number of pairs</a:t>
            </a:r>
          </a:p>
          <a:p>
            <a:r>
              <a:rPr lang="en-ZA" sz="2400" dirty="0"/>
              <a:t>     is comparable to the size of the input space</a:t>
            </a:r>
            <a:endParaRPr lang="en-US" sz="2400" dirty="0"/>
          </a:p>
        </p:txBody>
      </p:sp>
      <p:sp>
        <p:nvSpPr>
          <p:cNvPr id="12" name="TextBox 11">
            <a:extLst>
              <a:ext uri="{FF2B5EF4-FFF2-40B4-BE49-F238E27FC236}">
                <a16:creationId xmlns:a16="http://schemas.microsoft.com/office/drawing/2014/main" id="{05560747-A71B-8343-993E-61F2BFB0B378}"/>
              </a:ext>
            </a:extLst>
          </p:cNvPr>
          <p:cNvSpPr txBox="1"/>
          <p:nvPr/>
        </p:nvSpPr>
        <p:spPr>
          <a:xfrm>
            <a:off x="7570312" y="3657936"/>
            <a:ext cx="1890389" cy="461665"/>
          </a:xfrm>
          <a:prstGeom prst="rect">
            <a:avLst/>
          </a:prstGeom>
          <a:noFill/>
        </p:spPr>
        <p:txBody>
          <a:bodyPr wrap="none" rtlCol="0">
            <a:spAutoFit/>
          </a:bodyPr>
          <a:lstStyle/>
          <a:p>
            <a:r>
              <a:rPr lang="en-ZA" sz="2400" b="1" dirty="0"/>
              <a:t>3.</a:t>
            </a:r>
            <a:r>
              <a:rPr lang="en-ZA" sz="2400" dirty="0"/>
              <a:t> Solve for m</a:t>
            </a:r>
            <a:endParaRPr lang="en-US" sz="2400" dirty="0"/>
          </a:p>
        </p:txBody>
      </p:sp>
      <p:sp>
        <p:nvSpPr>
          <p:cNvPr id="13" name="TextBox 12">
            <a:extLst>
              <a:ext uri="{FF2B5EF4-FFF2-40B4-BE49-F238E27FC236}">
                <a16:creationId xmlns:a16="http://schemas.microsoft.com/office/drawing/2014/main" id="{923B16D8-513E-F542-A0BA-4DDC820A64D8}"/>
              </a:ext>
            </a:extLst>
          </p:cNvPr>
          <p:cNvSpPr txBox="1"/>
          <p:nvPr/>
        </p:nvSpPr>
        <p:spPr>
          <a:xfrm>
            <a:off x="3477849" y="6090011"/>
            <a:ext cx="3414396" cy="461665"/>
          </a:xfrm>
          <a:prstGeom prst="rect">
            <a:avLst/>
          </a:prstGeom>
          <a:noFill/>
        </p:spPr>
        <p:txBody>
          <a:bodyPr wrap="none" rtlCol="0">
            <a:spAutoFit/>
          </a:bodyPr>
          <a:lstStyle/>
          <a:p>
            <a:r>
              <a:rPr lang="en-US" sz="2400" dirty="0"/>
              <a:t>classical query complexity</a:t>
            </a:r>
          </a:p>
        </p:txBody>
      </p:sp>
    </p:spTree>
    <p:extLst>
      <p:ext uri="{BB962C8B-B14F-4D97-AF65-F5344CB8AC3E}">
        <p14:creationId xmlns:p14="http://schemas.microsoft.com/office/powerpoint/2010/main" val="290051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86388B73-2C66-BC44-B68C-1678D53E8689}"/>
              </a:ext>
            </a:extLst>
          </p:cNvPr>
          <p:cNvCxnSpPr>
            <a:cxnSpLocks/>
          </p:cNvCxnSpPr>
          <p:nvPr/>
        </p:nvCxnSpPr>
        <p:spPr>
          <a:xfrm flipV="1">
            <a:off x="1861220" y="3191693"/>
            <a:ext cx="9124821"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A08DBC5-B1D1-9445-A14E-0C03662E2E90}"/>
              </a:ext>
            </a:extLst>
          </p:cNvPr>
          <p:cNvCxnSpPr>
            <a:cxnSpLocks/>
          </p:cNvCxnSpPr>
          <p:nvPr/>
        </p:nvCxnSpPr>
        <p:spPr>
          <a:xfrm>
            <a:off x="1861220" y="4314305"/>
            <a:ext cx="833553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833474D-9E79-D24F-BD6F-AD46CDB9C5DD}"/>
              </a:ext>
            </a:extLst>
          </p:cNvPr>
          <p:cNvSpPr>
            <a:spLocks noGrp="1"/>
          </p:cNvSpPr>
          <p:nvPr>
            <p:ph type="title"/>
          </p:nvPr>
        </p:nvSpPr>
        <p:spPr/>
        <p:txBody>
          <a:bodyPr/>
          <a:lstStyle/>
          <a:p>
            <a:r>
              <a:rPr lang="en-ZA" dirty="0"/>
              <a:t>Simon’s Algorithm: Quantum Part (1)</a:t>
            </a:r>
            <a:endParaRPr lang="en-US" dirty="0"/>
          </a:p>
        </p:txBody>
      </p:sp>
      <p:sp>
        <p:nvSpPr>
          <p:cNvPr id="3" name="Slide Number Placeholder 2">
            <a:extLst>
              <a:ext uri="{FF2B5EF4-FFF2-40B4-BE49-F238E27FC236}">
                <a16:creationId xmlns:a16="http://schemas.microsoft.com/office/drawing/2014/main" id="{9C445608-EF0F-7B4E-8FCC-0288A3035AAE}"/>
              </a:ext>
            </a:extLst>
          </p:cNvPr>
          <p:cNvSpPr>
            <a:spLocks noGrp="1"/>
          </p:cNvSpPr>
          <p:nvPr>
            <p:ph type="sldNum" sz="quarter" idx="12"/>
          </p:nvPr>
        </p:nvSpPr>
        <p:spPr/>
        <p:txBody>
          <a:bodyPr/>
          <a:lstStyle/>
          <a:p>
            <a:fld id="{591A223C-FA10-BC46-A853-03BA373D023C}" type="slidenum">
              <a:rPr lang="en-US" smtClean="0"/>
              <a:t>35</a:t>
            </a:fld>
            <a:endParaRPr lang="en-US" dirty="0"/>
          </a:p>
        </p:txBody>
      </p:sp>
      <p:grpSp>
        <p:nvGrpSpPr>
          <p:cNvPr id="47" name="Group 46">
            <a:extLst>
              <a:ext uri="{FF2B5EF4-FFF2-40B4-BE49-F238E27FC236}">
                <a16:creationId xmlns:a16="http://schemas.microsoft.com/office/drawing/2014/main" id="{7F484FDB-AD58-0548-BCB1-14AB8D09AFBD}"/>
              </a:ext>
            </a:extLst>
          </p:cNvPr>
          <p:cNvGrpSpPr/>
          <p:nvPr/>
        </p:nvGrpSpPr>
        <p:grpSpPr>
          <a:xfrm>
            <a:off x="1088848" y="1369155"/>
            <a:ext cx="2453770" cy="1302164"/>
            <a:chOff x="132730" y="1129659"/>
            <a:chExt cx="2453770" cy="1302164"/>
          </a:xfrm>
        </p:grpSpPr>
        <p:sp>
          <p:nvSpPr>
            <p:cNvPr id="41" name="Line Callout 1 40">
              <a:extLst>
                <a:ext uri="{FF2B5EF4-FFF2-40B4-BE49-F238E27FC236}">
                  <a16:creationId xmlns:a16="http://schemas.microsoft.com/office/drawing/2014/main" id="{70CE0FDF-0A9E-8A4A-8C4A-CE56828D1410}"/>
                </a:ext>
              </a:extLst>
            </p:cNvPr>
            <p:cNvSpPr/>
            <p:nvPr/>
          </p:nvSpPr>
          <p:spPr>
            <a:xfrm>
              <a:off x="132730" y="1129659"/>
              <a:ext cx="2453769" cy="1302164"/>
            </a:xfrm>
            <a:prstGeom prst="borderCallout1">
              <a:avLst>
                <a:gd name="adj1" fmla="val 58410"/>
                <a:gd name="adj2" fmla="val 107500"/>
                <a:gd name="adj3" fmla="val 127538"/>
                <a:gd name="adj4" fmla="val 123640"/>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7489D41-871C-4F49-9A4F-AFBBD4EC7CF4}"/>
                    </a:ext>
                  </a:extLst>
                </p:cNvPr>
                <p:cNvSpPr/>
                <p:nvPr/>
              </p:nvSpPr>
              <p:spPr>
                <a:xfrm>
                  <a:off x="194307" y="1292377"/>
                  <a:ext cx="2392193" cy="986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a:latin typeface="Cambria Math" panose="02040503050406030204" pitchFamily="18" charset="0"/>
                              </a:rPr>
                              <m:t>1</m:t>
                            </m:r>
                          </m:num>
                          <m:den>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en-US" sz="2400" i="0">
                                        <a:latin typeface="Cambria Math" panose="02040503050406030204" pitchFamily="18" charset="0"/>
                                      </a:rPr>
                                      <m:t>2</m:t>
                                    </m:r>
                                  </m:e>
                                  <m:sup>
                                    <m:r>
                                      <a:rPr lang="en-US" sz="2400" i="1">
                                        <a:latin typeface="Cambria Math" panose="02040503050406030204" pitchFamily="18" charset="0"/>
                                      </a:rPr>
                                      <m:t>𝑛</m:t>
                                    </m:r>
                                  </m:sup>
                                </m:sSup>
                              </m:e>
                            </m:rad>
                          </m:den>
                        </m:f>
                        <m:nary>
                          <m:naryPr>
                            <m:chr m:val="∑"/>
                            <m:limLoc m:val="undOvr"/>
                            <m:subHide m:val="on"/>
                            <m:supHide m:val="on"/>
                            <m:ctrlPr>
                              <a:rPr lang="en-US" sz="2400" i="1">
                                <a:latin typeface="Cambria Math" panose="02040503050406030204" pitchFamily="18" charset="0"/>
                              </a:rPr>
                            </m:ctrlPr>
                          </m:naryPr>
                          <m:sub/>
                          <m:sup/>
                          <m:e>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𝑥</m:t>
                                        </m:r>
                                      </m:e>
                                    </m:d>
                                    <m:r>
                                      <a:rPr lang="sr-Latn-RS" sz="2400" i="1">
                                        <a:latin typeface="Cambria Math" panose="02040503050406030204" pitchFamily="18" charset="0"/>
                                      </a:rPr>
                                      <m:t>|0</m:t>
                                    </m:r>
                                  </m:e>
                                </m:d>
                              </m:e>
                              <m:sup>
                                <m:r>
                                  <a:rPr lang="sr-Latn-RS" sz="2400" i="1">
                                    <a:latin typeface="Cambria Math" panose="02040503050406030204" pitchFamily="18" charset="0"/>
                                  </a:rPr>
                                  <m:t>⊗</m:t>
                                </m:r>
                                <m:r>
                                  <a:rPr lang="sr-Latn-RS" sz="2400" i="1">
                                    <a:latin typeface="Cambria Math" panose="02040503050406030204" pitchFamily="18" charset="0"/>
                                  </a:rPr>
                                  <m:t>𝑛</m:t>
                                </m:r>
                              </m:sup>
                            </m:sSup>
                          </m:e>
                        </m:nary>
                      </m:oMath>
                    </m:oMathPara>
                  </a14:m>
                  <a:endParaRPr lang="en-US" sz="2400" dirty="0"/>
                </a:p>
              </p:txBody>
            </p:sp>
          </mc:Choice>
          <mc:Fallback xmlns="">
            <p:sp>
              <p:nvSpPr>
                <p:cNvPr id="4" name="Rectangle 3">
                  <a:extLst>
                    <a:ext uri="{FF2B5EF4-FFF2-40B4-BE49-F238E27FC236}">
                      <a16:creationId xmlns:a16="http://schemas.microsoft.com/office/drawing/2014/main" id="{97489D41-871C-4F49-9A4F-AFBBD4EC7CF4}"/>
                    </a:ext>
                  </a:extLst>
                </p:cNvPr>
                <p:cNvSpPr>
                  <a:spLocks noRot="1" noChangeAspect="1" noMove="1" noResize="1" noEditPoints="1" noAdjustHandles="1" noChangeArrowheads="1" noChangeShapeType="1" noTextEdit="1"/>
                </p:cNvSpPr>
                <p:nvPr/>
              </p:nvSpPr>
              <p:spPr>
                <a:xfrm>
                  <a:off x="194307" y="1292377"/>
                  <a:ext cx="2392193" cy="986552"/>
                </a:xfrm>
                <a:prstGeom prst="rect">
                  <a:avLst/>
                </a:prstGeom>
                <a:blipFill>
                  <a:blip r:embed="rId3"/>
                  <a:stretch>
                    <a:fillRect l="-19048" t="-132051" r="-4762" b="-182051"/>
                  </a:stretch>
                </a:blipFill>
              </p:spPr>
              <p:txBody>
                <a:bodyPr/>
                <a:lstStyle/>
                <a:p>
                  <a:r>
                    <a:rPr lang="en-US">
                      <a:noFill/>
                    </a:rPr>
                    <a:t> </a:t>
                  </a:r>
                </a:p>
              </p:txBody>
            </p:sp>
          </mc:Fallback>
        </mc:AlternateContent>
      </p:grpSp>
      <p:grpSp>
        <p:nvGrpSpPr>
          <p:cNvPr id="48" name="Group 47">
            <a:extLst>
              <a:ext uri="{FF2B5EF4-FFF2-40B4-BE49-F238E27FC236}">
                <a16:creationId xmlns:a16="http://schemas.microsoft.com/office/drawing/2014/main" id="{A4BBE3D8-61E0-DA4D-A143-90C0DD1C2856}"/>
              </a:ext>
            </a:extLst>
          </p:cNvPr>
          <p:cNvGrpSpPr/>
          <p:nvPr/>
        </p:nvGrpSpPr>
        <p:grpSpPr>
          <a:xfrm>
            <a:off x="5323389" y="1219504"/>
            <a:ext cx="2427588" cy="1302164"/>
            <a:chOff x="4332681" y="927194"/>
            <a:chExt cx="2427588" cy="1302164"/>
          </a:xfrm>
        </p:grpSpPr>
        <p:sp>
          <p:nvSpPr>
            <p:cNvPr id="43" name="Line Callout 1 42">
              <a:extLst>
                <a:ext uri="{FF2B5EF4-FFF2-40B4-BE49-F238E27FC236}">
                  <a16:creationId xmlns:a16="http://schemas.microsoft.com/office/drawing/2014/main" id="{6614B1DF-9776-D84A-8E94-AF05E23BF9F7}"/>
                </a:ext>
              </a:extLst>
            </p:cNvPr>
            <p:cNvSpPr/>
            <p:nvPr/>
          </p:nvSpPr>
          <p:spPr>
            <a:xfrm>
              <a:off x="4332681" y="927194"/>
              <a:ext cx="2427588" cy="1302164"/>
            </a:xfrm>
            <a:prstGeom prst="borderCallout1">
              <a:avLst>
                <a:gd name="adj1" fmla="val 101918"/>
                <a:gd name="adj2" fmla="val 91370"/>
                <a:gd name="adj3" fmla="val 132599"/>
                <a:gd name="adj4" fmla="val 95619"/>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89B3E4F-B2A4-6048-AD32-C1F521DE6F5C}"/>
                    </a:ext>
                  </a:extLst>
                </p:cNvPr>
                <p:cNvSpPr/>
                <p:nvPr/>
              </p:nvSpPr>
              <p:spPr>
                <a:xfrm>
                  <a:off x="4332681" y="1104230"/>
                  <a:ext cx="2427588" cy="986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ZA" sz="2400" i="1">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en-ZA" sz="2400" i="1">
                                    <a:latin typeface="Cambria Math" panose="02040503050406030204" pitchFamily="18" charset="0"/>
                                  </a:rPr>
                                </m:ctrlPr>
                              </m:radPr>
                              <m:deg/>
                              <m:e>
                                <m:sSup>
                                  <m:sSupPr>
                                    <m:ctrlPr>
                                      <a:rPr lang="en-ZA"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sup>
                                </m:sSup>
                              </m:e>
                            </m:rad>
                          </m:den>
                        </m:f>
                        <m:nary>
                          <m:naryPr>
                            <m:chr m:val="∑"/>
                            <m:limLoc m:val="undOvr"/>
                            <m:subHide m:val="on"/>
                            <m:supHide m:val="on"/>
                            <m:ctrlPr>
                              <a:rPr lang="en-ZA" sz="2400" i="1">
                                <a:latin typeface="Cambria Math" panose="02040503050406030204" pitchFamily="18" charset="0"/>
                              </a:rPr>
                            </m:ctrlPr>
                          </m:naryPr>
                          <m:sub/>
                          <m:sup/>
                          <m:e>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m:t>
                                </m:r>
                                <m:r>
                                  <a:rPr lang="sr-Latn-RS" sz="2400" i="1">
                                    <a:latin typeface="Cambria Math" panose="02040503050406030204" pitchFamily="18" charset="0"/>
                                  </a:rPr>
                                  <m:t>𝑥</m:t>
                                </m:r>
                              </m:e>
                            </m:d>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m:t>
                                </m:r>
                                <m:r>
                                  <a:rPr lang="sr-Latn-RS" sz="2400" i="1">
                                    <a:latin typeface="Cambria Math" panose="02040503050406030204" pitchFamily="18" charset="0"/>
                                  </a:rPr>
                                  <m:t>𝑓</m:t>
                                </m:r>
                                <m:r>
                                  <a:rPr lang="sr-Latn-RS" sz="2400" i="1">
                                    <a:latin typeface="Cambria Math" panose="02040503050406030204" pitchFamily="18" charset="0"/>
                                  </a:rPr>
                                  <m:t>(</m:t>
                                </m:r>
                                <m:r>
                                  <a:rPr lang="sr-Latn-RS" sz="2400" i="1">
                                    <a:latin typeface="Cambria Math" panose="02040503050406030204" pitchFamily="18" charset="0"/>
                                  </a:rPr>
                                  <m:t>𝑥</m:t>
                                </m:r>
                                <m:r>
                                  <a:rPr lang="sr-Latn-RS" sz="2400" i="1">
                                    <a:latin typeface="Cambria Math" panose="02040503050406030204" pitchFamily="18" charset="0"/>
                                  </a:rPr>
                                  <m:t>)</m:t>
                                </m:r>
                              </m:e>
                            </m:d>
                          </m:e>
                        </m:nary>
                      </m:oMath>
                    </m:oMathPara>
                  </a14:m>
                  <a:endParaRPr lang="en-US" sz="2400" dirty="0"/>
                </a:p>
              </p:txBody>
            </p:sp>
          </mc:Choice>
          <mc:Fallback xmlns="">
            <p:sp>
              <p:nvSpPr>
                <p:cNvPr id="8" name="Rectangle 7">
                  <a:extLst>
                    <a:ext uri="{FF2B5EF4-FFF2-40B4-BE49-F238E27FC236}">
                      <a16:creationId xmlns:a16="http://schemas.microsoft.com/office/drawing/2014/main" id="{589B3E4F-B2A4-6048-AD32-C1F521DE6F5C}"/>
                    </a:ext>
                  </a:extLst>
                </p:cNvPr>
                <p:cNvSpPr>
                  <a:spLocks noRot="1" noChangeAspect="1" noMove="1" noResize="1" noEditPoints="1" noAdjustHandles="1" noChangeArrowheads="1" noChangeShapeType="1" noTextEdit="1"/>
                </p:cNvSpPr>
                <p:nvPr/>
              </p:nvSpPr>
              <p:spPr>
                <a:xfrm>
                  <a:off x="4332681" y="1104230"/>
                  <a:ext cx="2427588" cy="986552"/>
                </a:xfrm>
                <a:prstGeom prst="rect">
                  <a:avLst/>
                </a:prstGeom>
                <a:blipFill>
                  <a:blip r:embed="rId4"/>
                  <a:stretch>
                    <a:fillRect l="-18750" t="-129114" r="-13021" b="-178481"/>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88FC7ACD-8080-1549-9D9A-C7BDF48668B3}"/>
              </a:ext>
            </a:extLst>
          </p:cNvPr>
          <p:cNvGrpSpPr/>
          <p:nvPr/>
        </p:nvGrpSpPr>
        <p:grpSpPr>
          <a:xfrm>
            <a:off x="10634354" y="2831693"/>
            <a:ext cx="720000" cy="796546"/>
            <a:chOff x="3031963" y="4808040"/>
            <a:chExt cx="720000" cy="796546"/>
          </a:xfrm>
        </p:grpSpPr>
        <p:sp>
          <p:nvSpPr>
            <p:cNvPr id="11" name="Rectangle 10">
              <a:extLst>
                <a:ext uri="{FF2B5EF4-FFF2-40B4-BE49-F238E27FC236}">
                  <a16:creationId xmlns:a16="http://schemas.microsoft.com/office/drawing/2014/main" id="{75984391-5D9E-6A4E-94A7-94977D717624}"/>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2" name="Arc 11">
              <a:extLst>
                <a:ext uri="{FF2B5EF4-FFF2-40B4-BE49-F238E27FC236}">
                  <a16:creationId xmlns:a16="http://schemas.microsoft.com/office/drawing/2014/main" id="{C30D3ED5-8085-D648-9853-1E50DCFE96C2}"/>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00F7998-40F1-A240-B4FB-1201470FF160}"/>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7FDAD472-6A67-7441-AF04-D718E5D20FE2}"/>
              </a:ext>
            </a:extLst>
          </p:cNvPr>
          <p:cNvSpPr/>
          <p:nvPr/>
        </p:nvSpPr>
        <p:spPr>
          <a:xfrm>
            <a:off x="2468192" y="2844329"/>
            <a:ext cx="1271493"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latin typeface="Times" pitchFamily="2" charset="0"/>
              </a:rPr>
              <a:t>H</a:t>
            </a:r>
            <a:r>
              <a:rPr lang="en-US" sz="4000" baseline="30000" dirty="0" err="1">
                <a:latin typeface="Times" pitchFamily="2" charset="0"/>
              </a:rPr>
              <a:t>⨂</a:t>
            </a:r>
            <a:r>
              <a:rPr lang="en-US" sz="4000" i="1" baseline="30000" dirty="0" err="1">
                <a:latin typeface="Times" pitchFamily="2" charset="0"/>
              </a:rPr>
              <a:t>n</a:t>
            </a:r>
            <a:endParaRPr lang="en-US" sz="4000" i="1" baseline="30000" dirty="0">
              <a:latin typeface="Times" pitchFamily="2" charset="0"/>
            </a:endParaRPr>
          </a:p>
        </p:txBody>
      </p:sp>
      <p:sp>
        <p:nvSpPr>
          <p:cNvPr id="17" name="Rounded Rectangle 16">
            <a:extLst>
              <a:ext uri="{FF2B5EF4-FFF2-40B4-BE49-F238E27FC236}">
                <a16:creationId xmlns:a16="http://schemas.microsoft.com/office/drawing/2014/main" id="{F74807BA-7B49-A64D-A7A9-ABCCACB1A275}"/>
              </a:ext>
            </a:extLst>
          </p:cNvPr>
          <p:cNvSpPr/>
          <p:nvPr/>
        </p:nvSpPr>
        <p:spPr>
          <a:xfrm>
            <a:off x="4400256" y="2802719"/>
            <a:ext cx="3111500" cy="1819986"/>
          </a:xfrm>
          <a:prstGeom prst="roundRect">
            <a:avLst>
              <a:gd name="adj" fmla="val 4804"/>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BFF2D682-DCDA-5F4B-8A8A-340C48523241}"/>
                  </a:ext>
                </a:extLst>
              </p:cNvPr>
              <p:cNvSpPr/>
              <p:nvPr/>
            </p:nvSpPr>
            <p:spPr>
              <a:xfrm>
                <a:off x="6533649" y="4076484"/>
                <a:ext cx="107022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𝑓</m:t>
                          </m:r>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e>
                      </m:d>
                    </m:oMath>
                  </m:oMathPara>
                </a14:m>
                <a:endParaRPr lang="en-US" sz="2400" dirty="0"/>
              </a:p>
            </p:txBody>
          </p:sp>
        </mc:Choice>
        <mc:Fallback xmlns="">
          <p:sp>
            <p:nvSpPr>
              <p:cNvPr id="18" name="Rectangle 17">
                <a:extLst>
                  <a:ext uri="{FF2B5EF4-FFF2-40B4-BE49-F238E27FC236}">
                    <a16:creationId xmlns:a16="http://schemas.microsoft.com/office/drawing/2014/main" id="{BFF2D682-DCDA-5F4B-8A8A-340C48523241}"/>
                  </a:ext>
                </a:extLst>
              </p:cNvPr>
              <p:cNvSpPr>
                <a:spLocks noRot="1" noChangeAspect="1" noMove="1" noResize="1" noEditPoints="1" noAdjustHandles="1" noChangeArrowheads="1" noChangeShapeType="1" noTextEdit="1"/>
              </p:cNvSpPr>
              <p:nvPr/>
            </p:nvSpPr>
            <p:spPr>
              <a:xfrm>
                <a:off x="6533649" y="4076484"/>
                <a:ext cx="1070229" cy="461665"/>
              </a:xfrm>
              <a:prstGeom prst="rect">
                <a:avLst/>
              </a:prstGeom>
              <a:blipFill>
                <a:blip r:embed="rId5"/>
                <a:stretch>
                  <a:fillRect t="-124324" r="-2907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E7F99AA7-9721-F24C-998C-E7FF034A1DD0}"/>
                  </a:ext>
                </a:extLst>
              </p:cNvPr>
              <p:cNvSpPr/>
              <p:nvPr/>
            </p:nvSpPr>
            <p:spPr>
              <a:xfrm>
                <a:off x="4400256" y="2960861"/>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𝑥</m:t>
                          </m:r>
                        </m:e>
                      </m:d>
                    </m:oMath>
                  </m:oMathPara>
                </a14:m>
                <a:endParaRPr lang="en-US" sz="2400" dirty="0"/>
              </a:p>
            </p:txBody>
          </p:sp>
        </mc:Choice>
        <mc:Fallback xmlns="">
          <p:sp>
            <p:nvSpPr>
              <p:cNvPr id="19" name="Rectangle 18">
                <a:extLst>
                  <a:ext uri="{FF2B5EF4-FFF2-40B4-BE49-F238E27FC236}">
                    <a16:creationId xmlns:a16="http://schemas.microsoft.com/office/drawing/2014/main" id="{E7F99AA7-9721-F24C-998C-E7FF034A1DD0}"/>
                  </a:ext>
                </a:extLst>
              </p:cNvPr>
              <p:cNvSpPr>
                <a:spLocks noRot="1" noChangeAspect="1" noMove="1" noResize="1" noEditPoints="1" noAdjustHandles="1" noChangeArrowheads="1" noChangeShapeType="1" noTextEdit="1"/>
              </p:cNvSpPr>
              <p:nvPr/>
            </p:nvSpPr>
            <p:spPr>
              <a:xfrm>
                <a:off x="4400256" y="2960861"/>
                <a:ext cx="634789" cy="461665"/>
              </a:xfrm>
              <a:prstGeom prst="rect">
                <a:avLst/>
              </a:prstGeom>
              <a:blipFill>
                <a:blip r:embed="rId6"/>
                <a:stretch>
                  <a:fillRect l="-23529" t="-124324"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E63D1074-DB5A-9247-A572-2CEC4738120C}"/>
                  </a:ext>
                </a:extLst>
              </p:cNvPr>
              <p:cNvSpPr/>
              <p:nvPr/>
            </p:nvSpPr>
            <p:spPr>
              <a:xfrm>
                <a:off x="6876967" y="2913397"/>
                <a:ext cx="63478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a:latin typeface="Cambria Math" panose="02040503050406030204" pitchFamily="18" charset="0"/>
                            </a:rPr>
                            <m:t>|</m:t>
                          </m:r>
                          <m:r>
                            <a:rPr lang="en-US" sz="2400" b="0" i="1" smtClean="0">
                              <a:latin typeface="Cambria Math" panose="02040503050406030204" pitchFamily="18" charset="0"/>
                            </a:rPr>
                            <m:t>𝑥</m:t>
                          </m:r>
                        </m:e>
                      </m:d>
                    </m:oMath>
                  </m:oMathPara>
                </a14:m>
                <a:endParaRPr lang="en-US" sz="2400" dirty="0"/>
              </a:p>
            </p:txBody>
          </p:sp>
        </mc:Choice>
        <mc:Fallback xmlns="">
          <p:sp>
            <p:nvSpPr>
              <p:cNvPr id="20" name="Rectangle 19">
                <a:extLst>
                  <a:ext uri="{FF2B5EF4-FFF2-40B4-BE49-F238E27FC236}">
                    <a16:creationId xmlns:a16="http://schemas.microsoft.com/office/drawing/2014/main" id="{E63D1074-DB5A-9247-A572-2CEC4738120C}"/>
                  </a:ext>
                </a:extLst>
              </p:cNvPr>
              <p:cNvSpPr>
                <a:spLocks noRot="1" noChangeAspect="1" noMove="1" noResize="1" noEditPoints="1" noAdjustHandles="1" noChangeArrowheads="1" noChangeShapeType="1" noTextEdit="1"/>
              </p:cNvSpPr>
              <p:nvPr/>
            </p:nvSpPr>
            <p:spPr>
              <a:xfrm>
                <a:off x="6876967" y="2913397"/>
                <a:ext cx="634789" cy="461665"/>
              </a:xfrm>
              <a:prstGeom prst="rect">
                <a:avLst/>
              </a:prstGeom>
              <a:blipFill>
                <a:blip r:embed="rId7"/>
                <a:stretch>
                  <a:fillRect l="-23529" t="-121053" r="-49020" b="-186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5B55692A-C476-0744-A72D-1E724A1CBF23}"/>
                  </a:ext>
                </a:extLst>
              </p:cNvPr>
              <p:cNvSpPr/>
              <p:nvPr/>
            </p:nvSpPr>
            <p:spPr>
              <a:xfrm>
                <a:off x="4400256" y="4052255"/>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smtClean="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21" name="Rectangle 20">
                <a:extLst>
                  <a:ext uri="{FF2B5EF4-FFF2-40B4-BE49-F238E27FC236}">
                    <a16:creationId xmlns:a16="http://schemas.microsoft.com/office/drawing/2014/main" id="{5B55692A-C476-0744-A72D-1E724A1CBF23}"/>
                  </a:ext>
                </a:extLst>
              </p:cNvPr>
              <p:cNvSpPr>
                <a:spLocks noRot="1" noChangeAspect="1" noMove="1" noResize="1" noEditPoints="1" noAdjustHandles="1" noChangeArrowheads="1" noChangeShapeType="1" noTextEdit="1"/>
              </p:cNvSpPr>
              <p:nvPr/>
            </p:nvSpPr>
            <p:spPr>
              <a:xfrm>
                <a:off x="4400256" y="4052255"/>
                <a:ext cx="631904" cy="461665"/>
              </a:xfrm>
              <a:prstGeom prst="rect">
                <a:avLst/>
              </a:prstGeom>
              <a:blipFill>
                <a:blip r:embed="rId8"/>
                <a:stretch>
                  <a:fillRect l="-23529" t="-124324" r="-49020" b="-191892"/>
                </a:stretch>
              </a:blipFill>
            </p:spPr>
            <p:txBody>
              <a:bodyPr/>
              <a:lstStyle/>
              <a:p>
                <a:r>
                  <a:rPr lang="en-US">
                    <a:noFill/>
                  </a:rPr>
                  <a:t> </a:t>
                </a:r>
              </a:p>
            </p:txBody>
          </p:sp>
        </mc:Fallback>
      </mc:AlternateContent>
      <p:sp>
        <p:nvSpPr>
          <p:cNvPr id="22" name="Rectangle 21">
            <a:extLst>
              <a:ext uri="{FF2B5EF4-FFF2-40B4-BE49-F238E27FC236}">
                <a16:creationId xmlns:a16="http://schemas.microsoft.com/office/drawing/2014/main" id="{10233F2B-CF1B-8748-93A4-324B81397FA7}"/>
              </a:ext>
            </a:extLst>
          </p:cNvPr>
          <p:cNvSpPr/>
          <p:nvPr/>
        </p:nvSpPr>
        <p:spPr>
          <a:xfrm>
            <a:off x="8886844" y="2831693"/>
            <a:ext cx="1271493"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latin typeface="Times" pitchFamily="2" charset="0"/>
              </a:rPr>
              <a:t>H</a:t>
            </a:r>
            <a:r>
              <a:rPr lang="en-US" sz="4000" baseline="30000" dirty="0" err="1">
                <a:latin typeface="Times" pitchFamily="2" charset="0"/>
              </a:rPr>
              <a:t>⨂</a:t>
            </a:r>
            <a:r>
              <a:rPr lang="en-US" sz="4000" i="1" baseline="30000" dirty="0" err="1">
                <a:latin typeface="Times" pitchFamily="2" charset="0"/>
              </a:rPr>
              <a:t>n</a:t>
            </a:r>
            <a:endParaRPr lang="en-US" sz="4000" i="1" baseline="30000" dirty="0">
              <a:latin typeface="Times" pitchFamily="2" charset="0"/>
            </a:endParaRPr>
          </a:p>
        </p:txBody>
      </p:sp>
      <p:sp>
        <p:nvSpPr>
          <p:cNvPr id="24" name="TextBox 23">
            <a:extLst>
              <a:ext uri="{FF2B5EF4-FFF2-40B4-BE49-F238E27FC236}">
                <a16:creationId xmlns:a16="http://schemas.microsoft.com/office/drawing/2014/main" id="{87D8134D-C9AF-F043-BBD4-816F829C15CC}"/>
              </a:ext>
            </a:extLst>
          </p:cNvPr>
          <p:cNvSpPr txBox="1"/>
          <p:nvPr/>
        </p:nvSpPr>
        <p:spPr>
          <a:xfrm>
            <a:off x="5651138" y="3243518"/>
            <a:ext cx="591829" cy="769441"/>
          </a:xfrm>
          <a:prstGeom prst="rect">
            <a:avLst/>
          </a:prstGeom>
          <a:noFill/>
        </p:spPr>
        <p:txBody>
          <a:bodyPr wrap="none" rtlCol="0">
            <a:spAutoFit/>
          </a:bodyPr>
          <a:lstStyle/>
          <a:p>
            <a:r>
              <a:rPr lang="en-US" sz="4400" i="1" dirty="0">
                <a:latin typeface="Times New Roman" panose="02020603050405020304" pitchFamily="18" charset="0"/>
                <a:cs typeface="Times New Roman" panose="02020603050405020304" pitchFamily="18" charset="0"/>
              </a:rPr>
              <a:t>O</a:t>
            </a: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DE8BDC1F-6CBE-2E43-AAD0-519A9D215E2F}"/>
                  </a:ext>
                </a:extLst>
              </p:cNvPr>
              <p:cNvSpPr/>
              <p:nvPr/>
            </p:nvSpPr>
            <p:spPr>
              <a:xfrm>
                <a:off x="1294182" y="2952991"/>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32" name="Rectangle 31">
                <a:extLst>
                  <a:ext uri="{FF2B5EF4-FFF2-40B4-BE49-F238E27FC236}">
                    <a16:creationId xmlns:a16="http://schemas.microsoft.com/office/drawing/2014/main" id="{DE8BDC1F-6CBE-2E43-AAD0-519A9D215E2F}"/>
                  </a:ext>
                </a:extLst>
              </p:cNvPr>
              <p:cNvSpPr>
                <a:spLocks noRot="1" noChangeAspect="1" noMove="1" noResize="1" noEditPoints="1" noAdjustHandles="1" noChangeArrowheads="1" noChangeShapeType="1" noTextEdit="1"/>
              </p:cNvSpPr>
              <p:nvPr/>
            </p:nvSpPr>
            <p:spPr>
              <a:xfrm>
                <a:off x="1294182" y="2952991"/>
                <a:ext cx="631904" cy="461665"/>
              </a:xfrm>
              <a:prstGeom prst="rect">
                <a:avLst/>
              </a:prstGeom>
              <a:blipFill>
                <a:blip r:embed="rId9"/>
                <a:stretch>
                  <a:fillRect l="-25490" t="-127027" r="-49020" b="-1918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34076D6F-F96E-E147-86E6-C1DFF4C94710}"/>
                  </a:ext>
                </a:extLst>
              </p:cNvPr>
              <p:cNvSpPr/>
              <p:nvPr/>
            </p:nvSpPr>
            <p:spPr>
              <a:xfrm>
                <a:off x="1294182" y="4077720"/>
                <a:ext cx="63190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0">
                              <a:latin typeface="Cambria Math" panose="02040503050406030204" pitchFamily="18" charset="0"/>
                            </a:rPr>
                            <m:t>|</m:t>
                          </m:r>
                          <m:r>
                            <a:rPr lang="en-US" sz="2400" b="0" i="1" smtClean="0">
                              <a:latin typeface="Cambria Math" panose="02040503050406030204" pitchFamily="18" charset="0"/>
                            </a:rPr>
                            <m:t>0</m:t>
                          </m:r>
                        </m:e>
                      </m:d>
                    </m:oMath>
                  </m:oMathPara>
                </a14:m>
                <a:endParaRPr lang="en-US" sz="2400" dirty="0"/>
              </a:p>
            </p:txBody>
          </p:sp>
        </mc:Choice>
        <mc:Fallback xmlns="">
          <p:sp>
            <p:nvSpPr>
              <p:cNvPr id="33" name="Rectangle 32">
                <a:extLst>
                  <a:ext uri="{FF2B5EF4-FFF2-40B4-BE49-F238E27FC236}">
                    <a16:creationId xmlns:a16="http://schemas.microsoft.com/office/drawing/2014/main" id="{34076D6F-F96E-E147-86E6-C1DFF4C94710}"/>
                  </a:ext>
                </a:extLst>
              </p:cNvPr>
              <p:cNvSpPr>
                <a:spLocks noRot="1" noChangeAspect="1" noMove="1" noResize="1" noEditPoints="1" noAdjustHandles="1" noChangeArrowheads="1" noChangeShapeType="1" noTextEdit="1"/>
              </p:cNvSpPr>
              <p:nvPr/>
            </p:nvSpPr>
            <p:spPr>
              <a:xfrm>
                <a:off x="1294182" y="4077720"/>
                <a:ext cx="631904" cy="461665"/>
              </a:xfrm>
              <a:prstGeom prst="rect">
                <a:avLst/>
              </a:prstGeom>
              <a:blipFill>
                <a:blip r:embed="rId10"/>
                <a:stretch>
                  <a:fillRect l="-25490" t="-124324" r="-49020" b="-1945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049C4A2D-F3DF-9941-88C8-68D928B787E8}"/>
                  </a:ext>
                </a:extLst>
              </p:cNvPr>
              <p:cNvSpPr/>
              <p:nvPr/>
            </p:nvSpPr>
            <p:spPr>
              <a:xfrm>
                <a:off x="7611659" y="4238779"/>
                <a:ext cx="1071126" cy="12198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3"/>
                                <m:mcJc m:val="center"/>
                              </m:mcPr>
                            </m:mc>
                          </m:mcs>
                          <m:ctrlPr>
                            <a:rPr lang="en-US" sz="2400" i="1">
                              <a:latin typeface="Cambria Math" panose="02040503050406030204" pitchFamily="18" charset="0"/>
                            </a:rPr>
                          </m:ctrlPr>
                        </m:mPr>
                        <m:mr>
                          <m:e/>
                          <m:e/>
                          <m:e/>
                        </m:mr>
                        <m:mr>
                          <m:e/>
                          <m:e/>
                          <m:e/>
                        </m:mr>
                        <m:mr>
                          <m:e/>
                          <m:e/>
                          <m:e/>
                        </m:mr>
                        <m:mr>
                          <m:e/>
                          <m:e/>
                          <m:e/>
                        </m:mr>
                      </m:m>
                    </m:oMath>
                  </m:oMathPara>
                </a14:m>
                <a:endParaRPr lang="en-US" sz="2400" dirty="0"/>
              </a:p>
            </p:txBody>
          </p:sp>
        </mc:Choice>
        <mc:Fallback xmlns="">
          <p:sp>
            <p:nvSpPr>
              <p:cNvPr id="36" name="Rectangle 35">
                <a:extLst>
                  <a:ext uri="{FF2B5EF4-FFF2-40B4-BE49-F238E27FC236}">
                    <a16:creationId xmlns:a16="http://schemas.microsoft.com/office/drawing/2014/main" id="{049C4A2D-F3DF-9941-88C8-68D928B787E8}"/>
                  </a:ext>
                </a:extLst>
              </p:cNvPr>
              <p:cNvSpPr>
                <a:spLocks noRot="1" noChangeAspect="1" noMove="1" noResize="1" noEditPoints="1" noAdjustHandles="1" noChangeArrowheads="1" noChangeShapeType="1" noTextEdit="1"/>
              </p:cNvSpPr>
              <p:nvPr/>
            </p:nvSpPr>
            <p:spPr>
              <a:xfrm>
                <a:off x="7611659" y="4238779"/>
                <a:ext cx="1071126" cy="1219821"/>
              </a:xfrm>
              <a:prstGeom prst="rect">
                <a:avLst/>
              </a:prstGeom>
              <a:blipFill>
                <a:blip r:embed="rId11"/>
                <a:stretch>
                  <a:fillRect l="-1163" t="-17526" r="-1163" b="-13402"/>
                </a:stretch>
              </a:blipFill>
            </p:spPr>
            <p:txBody>
              <a:bodyPr/>
              <a:lstStyle/>
              <a:p>
                <a:r>
                  <a:rPr lang="en-US">
                    <a:noFill/>
                  </a:rPr>
                  <a:t> </a:t>
                </a:r>
              </a:p>
            </p:txBody>
          </p:sp>
        </mc:Fallback>
      </mc:AlternateContent>
      <p:cxnSp>
        <p:nvCxnSpPr>
          <p:cNvPr id="45" name="Straight Connector 44">
            <a:extLst>
              <a:ext uri="{FF2B5EF4-FFF2-40B4-BE49-F238E27FC236}">
                <a16:creationId xmlns:a16="http://schemas.microsoft.com/office/drawing/2014/main" id="{1880F3A4-08FE-624F-AF42-4F6CF497B8A0}"/>
              </a:ext>
            </a:extLst>
          </p:cNvPr>
          <p:cNvCxnSpPr>
            <a:cxnSpLocks/>
          </p:cNvCxnSpPr>
          <p:nvPr/>
        </p:nvCxnSpPr>
        <p:spPr>
          <a:xfrm flipV="1">
            <a:off x="2031650" y="3046307"/>
            <a:ext cx="71628" cy="2888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D6407D1B-B3E9-614C-AD38-0A5CE6B80E8B}"/>
              </a:ext>
            </a:extLst>
          </p:cNvPr>
          <p:cNvGrpSpPr/>
          <p:nvPr/>
        </p:nvGrpSpPr>
        <p:grpSpPr>
          <a:xfrm>
            <a:off x="7663927" y="5060161"/>
            <a:ext cx="3177728" cy="1141897"/>
            <a:chOff x="6688567" y="4519539"/>
            <a:chExt cx="3177728" cy="1141897"/>
          </a:xfrm>
        </p:grpSpPr>
        <p:sp>
          <p:nvSpPr>
            <p:cNvPr id="40" name="Line Callout 1 39">
              <a:extLst>
                <a:ext uri="{FF2B5EF4-FFF2-40B4-BE49-F238E27FC236}">
                  <a16:creationId xmlns:a16="http://schemas.microsoft.com/office/drawing/2014/main" id="{FB265501-E850-E04C-9809-76F9B40DA9C9}"/>
                </a:ext>
              </a:extLst>
            </p:cNvPr>
            <p:cNvSpPr/>
            <p:nvPr/>
          </p:nvSpPr>
          <p:spPr>
            <a:xfrm>
              <a:off x="6688567" y="4519539"/>
              <a:ext cx="3044673" cy="1141897"/>
            </a:xfrm>
            <a:prstGeom prst="borderCallout1">
              <a:avLst>
                <a:gd name="adj1" fmla="val -12401"/>
                <a:gd name="adj2" fmla="val 50658"/>
                <a:gd name="adj3" fmla="val -32229"/>
                <a:gd name="adj4" fmla="val 36358"/>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E1B0B0B5-C0F6-1148-A8BF-A4E78AD97A69}"/>
                    </a:ext>
                  </a:extLst>
                </p:cNvPr>
                <p:cNvSpPr/>
                <p:nvPr/>
              </p:nvSpPr>
              <p:spPr>
                <a:xfrm>
                  <a:off x="6688567" y="4640382"/>
                  <a:ext cx="3177728"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ZA" sz="2400" i="1">
                                <a:latin typeface="Cambria Math" panose="02040503050406030204" pitchFamily="18" charset="0"/>
                              </a:rPr>
                            </m:ctrlPr>
                          </m:fPr>
                          <m:num>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0</m:t>
                                    </m:r>
                                  </m:sub>
                                </m:sSub>
                              </m:e>
                            </m:d>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0</m:t>
                                    </m:r>
                                  </m:sub>
                                </m:sSub>
                                <m:r>
                                  <a:rPr lang="sr-Latn-RS" sz="2400" i="1">
                                    <a:latin typeface="Cambria Math" panose="02040503050406030204" pitchFamily="18" charset="0"/>
                                  </a:rPr>
                                  <m:t> ⨁ </m:t>
                                </m:r>
                                <m:r>
                                  <a:rPr lang="sr-Latn-RS" sz="2400" i="1">
                                    <a:latin typeface="Cambria Math" panose="02040503050406030204" pitchFamily="18" charset="0"/>
                                  </a:rPr>
                                  <m:t>𝑠</m:t>
                                </m:r>
                              </m:e>
                            </m:d>
                          </m:num>
                          <m:den>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2</m:t>
                                </m:r>
                              </m:e>
                            </m:rad>
                          </m:den>
                        </m:f>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𝑓</m:t>
                                </m:r>
                                <m:r>
                                  <a:rPr lang="sr-Latn-RS" sz="2400" i="1">
                                    <a:latin typeface="Cambria Math" panose="02040503050406030204" pitchFamily="18" charset="0"/>
                                  </a:rPr>
                                  <m:t>(</m:t>
                                </m:r>
                                <m:r>
                                  <a:rPr lang="sr-Latn-RS" sz="2400" i="1">
                                    <a:latin typeface="Cambria Math" panose="02040503050406030204" pitchFamily="18" charset="0"/>
                                  </a:rPr>
                                  <m:t>𝑥</m:t>
                                </m:r>
                              </m:e>
                              <m:sub>
                                <m:r>
                                  <a:rPr lang="sr-Latn-RS" sz="2400" i="1">
                                    <a:latin typeface="Cambria Math" panose="02040503050406030204" pitchFamily="18" charset="0"/>
                                  </a:rPr>
                                  <m:t>0</m:t>
                                </m:r>
                              </m:sub>
                            </m:sSub>
                            <m:r>
                              <a:rPr lang="sr-Latn-RS" sz="2400" i="1">
                                <a:latin typeface="Cambria Math" panose="02040503050406030204" pitchFamily="18" charset="0"/>
                              </a:rPr>
                              <m:t>)</m:t>
                            </m:r>
                          </m:e>
                        </m:d>
                      </m:oMath>
                    </m:oMathPara>
                  </a14:m>
                  <a:endParaRPr lang="en-US" sz="2400" dirty="0"/>
                </a:p>
              </p:txBody>
            </p:sp>
          </mc:Choice>
          <mc:Fallback xmlns="">
            <p:sp>
              <p:nvSpPr>
                <p:cNvPr id="37" name="Rectangle 36">
                  <a:extLst>
                    <a:ext uri="{FF2B5EF4-FFF2-40B4-BE49-F238E27FC236}">
                      <a16:creationId xmlns:a16="http://schemas.microsoft.com/office/drawing/2014/main" id="{E1B0B0B5-C0F6-1148-A8BF-A4E78AD97A69}"/>
                    </a:ext>
                  </a:extLst>
                </p:cNvPr>
                <p:cNvSpPr>
                  <a:spLocks noRot="1" noChangeAspect="1" noMove="1" noResize="1" noEditPoints="1" noAdjustHandles="1" noChangeArrowheads="1" noChangeShapeType="1" noTextEdit="1"/>
                </p:cNvSpPr>
                <p:nvPr/>
              </p:nvSpPr>
              <p:spPr>
                <a:xfrm>
                  <a:off x="6688567" y="4640382"/>
                  <a:ext cx="3177728" cy="876202"/>
                </a:xfrm>
                <a:prstGeom prst="rect">
                  <a:avLst/>
                </a:prstGeom>
                <a:blipFill>
                  <a:blip r:embed="rId12"/>
                  <a:stretch>
                    <a:fillRect l="-794" t="-71014" r="-9524" b="-7826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E93CD6D8-A41D-CB4F-966D-75B0453D6F2E}"/>
                  </a:ext>
                </a:extLst>
              </p:cNvPr>
              <p:cNvSpPr/>
              <p:nvPr/>
            </p:nvSpPr>
            <p:spPr>
              <a:xfrm>
                <a:off x="1737695" y="2705063"/>
                <a:ext cx="4351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en-US" sz="2400" dirty="0"/>
              </a:p>
            </p:txBody>
          </p:sp>
        </mc:Choice>
        <mc:Fallback xmlns="">
          <p:sp>
            <p:nvSpPr>
              <p:cNvPr id="38" name="Rectangle 37">
                <a:extLst>
                  <a:ext uri="{FF2B5EF4-FFF2-40B4-BE49-F238E27FC236}">
                    <a16:creationId xmlns:a16="http://schemas.microsoft.com/office/drawing/2014/main" id="{E93CD6D8-A41D-CB4F-966D-75B0453D6F2E}"/>
                  </a:ext>
                </a:extLst>
              </p:cNvPr>
              <p:cNvSpPr>
                <a:spLocks noRot="1" noChangeAspect="1" noMove="1" noResize="1" noEditPoints="1" noAdjustHandles="1" noChangeArrowheads="1" noChangeShapeType="1" noTextEdit="1"/>
              </p:cNvSpPr>
              <p:nvPr/>
            </p:nvSpPr>
            <p:spPr>
              <a:xfrm>
                <a:off x="1737695" y="2705063"/>
                <a:ext cx="435184" cy="461665"/>
              </a:xfrm>
              <a:prstGeom prst="rect">
                <a:avLst/>
              </a:prstGeom>
              <a:blipFill>
                <a:blip r:embed="rId13"/>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DC25AD0D-80C7-844A-B837-23F07443EE9A}"/>
              </a:ext>
            </a:extLst>
          </p:cNvPr>
          <p:cNvCxnSpPr>
            <a:cxnSpLocks/>
          </p:cNvCxnSpPr>
          <p:nvPr/>
        </p:nvCxnSpPr>
        <p:spPr>
          <a:xfrm flipV="1">
            <a:off x="2035508" y="4185489"/>
            <a:ext cx="71628" cy="28889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37FC7997-9D49-EA4D-BA1D-453B82760A37}"/>
                  </a:ext>
                </a:extLst>
              </p:cNvPr>
              <p:cNvSpPr/>
              <p:nvPr/>
            </p:nvSpPr>
            <p:spPr>
              <a:xfrm>
                <a:off x="1741553" y="3859613"/>
                <a:ext cx="4351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𝑛</m:t>
                      </m:r>
                    </m:oMath>
                  </m:oMathPara>
                </a14:m>
                <a:endParaRPr lang="en-US" sz="2400" dirty="0"/>
              </a:p>
            </p:txBody>
          </p:sp>
        </mc:Choice>
        <mc:Fallback xmlns="">
          <p:sp>
            <p:nvSpPr>
              <p:cNvPr id="42" name="Rectangle 41">
                <a:extLst>
                  <a:ext uri="{FF2B5EF4-FFF2-40B4-BE49-F238E27FC236}">
                    <a16:creationId xmlns:a16="http://schemas.microsoft.com/office/drawing/2014/main" id="{37FC7997-9D49-EA4D-BA1D-453B82760A37}"/>
                  </a:ext>
                </a:extLst>
              </p:cNvPr>
              <p:cNvSpPr>
                <a:spLocks noRot="1" noChangeAspect="1" noMove="1" noResize="1" noEditPoints="1" noAdjustHandles="1" noChangeArrowheads="1" noChangeShapeType="1" noTextEdit="1"/>
              </p:cNvSpPr>
              <p:nvPr/>
            </p:nvSpPr>
            <p:spPr>
              <a:xfrm>
                <a:off x="1741553" y="3859613"/>
                <a:ext cx="435184" cy="461665"/>
              </a:xfrm>
              <a:prstGeom prst="rect">
                <a:avLst/>
              </a:prstGeom>
              <a:blipFill>
                <a:blip r:embed="rId14"/>
                <a:stretch>
                  <a:fillRect/>
                </a:stretch>
              </a:blipFill>
            </p:spPr>
            <p:txBody>
              <a:bodyPr/>
              <a:lstStyle/>
              <a:p>
                <a:r>
                  <a:rPr lang="en-US">
                    <a:noFill/>
                  </a:rPr>
                  <a:t> </a:t>
                </a:r>
              </a:p>
            </p:txBody>
          </p:sp>
        </mc:Fallback>
      </mc:AlternateContent>
      <p:grpSp>
        <p:nvGrpSpPr>
          <p:cNvPr id="44" name="Group 43">
            <a:extLst>
              <a:ext uri="{FF2B5EF4-FFF2-40B4-BE49-F238E27FC236}">
                <a16:creationId xmlns:a16="http://schemas.microsoft.com/office/drawing/2014/main" id="{BF6C9808-163A-914B-AC8C-BA0A6E1825F5}"/>
              </a:ext>
            </a:extLst>
          </p:cNvPr>
          <p:cNvGrpSpPr/>
          <p:nvPr/>
        </p:nvGrpSpPr>
        <p:grpSpPr>
          <a:xfrm>
            <a:off x="7833519" y="3973682"/>
            <a:ext cx="720000" cy="738490"/>
            <a:chOff x="3031963" y="4866096"/>
            <a:chExt cx="720000" cy="738490"/>
          </a:xfrm>
        </p:grpSpPr>
        <p:sp>
          <p:nvSpPr>
            <p:cNvPr id="46" name="Rectangle 45">
              <a:extLst>
                <a:ext uri="{FF2B5EF4-FFF2-40B4-BE49-F238E27FC236}">
                  <a16:creationId xmlns:a16="http://schemas.microsoft.com/office/drawing/2014/main" id="{3B9E6409-7FEF-EC49-952F-4B108B0362D8}"/>
                </a:ext>
              </a:extLst>
            </p:cNvPr>
            <p:cNvSpPr/>
            <p:nvPr/>
          </p:nvSpPr>
          <p:spPr>
            <a:xfrm>
              <a:off x="3031963" y="4866096"/>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53" name="Arc 52">
              <a:extLst>
                <a:ext uri="{FF2B5EF4-FFF2-40B4-BE49-F238E27FC236}">
                  <a16:creationId xmlns:a16="http://schemas.microsoft.com/office/drawing/2014/main" id="{60FEB1D6-A776-6F43-8BA1-3B7468D2BECB}"/>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6AFF35A9-4E7D-1347-AECB-C7B943B20686}"/>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8536973C-05C9-4248-8ED2-4AF39CE9C02A}"/>
                  </a:ext>
                </a:extLst>
              </p:cNvPr>
              <p:cNvSpPr/>
              <p:nvPr/>
            </p:nvSpPr>
            <p:spPr>
              <a:xfrm>
                <a:off x="990875" y="2899252"/>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55" name="Rectangle 54">
                <a:extLst>
                  <a:ext uri="{FF2B5EF4-FFF2-40B4-BE49-F238E27FC236}">
                    <a16:creationId xmlns:a16="http://schemas.microsoft.com/office/drawing/2014/main" id="{8536973C-05C9-4248-8ED2-4AF39CE9C02A}"/>
                  </a:ext>
                </a:extLst>
              </p:cNvPr>
              <p:cNvSpPr>
                <a:spLocks noRot="1" noChangeAspect="1" noMove="1" noResize="1" noEditPoints="1" noAdjustHandles="1" noChangeArrowheads="1" noChangeShapeType="1" noTextEdit="1"/>
              </p:cNvSpPr>
              <p:nvPr/>
            </p:nvSpPr>
            <p:spPr>
              <a:xfrm>
                <a:off x="990875" y="2899252"/>
                <a:ext cx="426399" cy="461665"/>
              </a:xfrm>
              <a:prstGeom prst="rect">
                <a:avLst/>
              </a:prstGeom>
              <a:blipFill>
                <a:blip r:embed="rId15"/>
                <a:stretch>
                  <a:fillRect/>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BAE754E3-3ED9-E443-A165-6319840108D2}"/>
              </a:ext>
            </a:extLst>
          </p:cNvPr>
          <p:cNvCxnSpPr>
            <a:cxnSpLocks/>
          </p:cNvCxnSpPr>
          <p:nvPr/>
        </p:nvCxnSpPr>
        <p:spPr>
          <a:xfrm>
            <a:off x="4127692" y="3042226"/>
            <a:ext cx="8489" cy="1580479"/>
          </a:xfrm>
          <a:prstGeom prst="line">
            <a:avLst/>
          </a:prstGeom>
          <a:ln>
            <a:solidFill>
              <a:schemeClr val="accent4">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8B3DD81-2979-544A-9EB6-B9E09D8126A4}"/>
              </a:ext>
            </a:extLst>
          </p:cNvPr>
          <p:cNvCxnSpPr>
            <a:cxnSpLocks/>
          </p:cNvCxnSpPr>
          <p:nvPr/>
        </p:nvCxnSpPr>
        <p:spPr>
          <a:xfrm>
            <a:off x="7663927" y="3033859"/>
            <a:ext cx="8489" cy="1580479"/>
          </a:xfrm>
          <a:prstGeom prst="line">
            <a:avLst/>
          </a:prstGeom>
          <a:ln>
            <a:solidFill>
              <a:schemeClr val="accent4">
                <a:lumMod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3945B4C-7AA6-9C48-9C3F-E04851B039F3}"/>
              </a:ext>
            </a:extLst>
          </p:cNvPr>
          <p:cNvCxnSpPr>
            <a:cxnSpLocks/>
          </p:cNvCxnSpPr>
          <p:nvPr/>
        </p:nvCxnSpPr>
        <p:spPr>
          <a:xfrm>
            <a:off x="8750310" y="3035992"/>
            <a:ext cx="8489" cy="1580479"/>
          </a:xfrm>
          <a:prstGeom prst="line">
            <a:avLst/>
          </a:prstGeom>
          <a:ln>
            <a:solidFill>
              <a:schemeClr val="accent4">
                <a:lumMod val="50000"/>
              </a:schemeClr>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AC0CFC85-5211-E44B-B841-47BB9F96BD0E}"/>
                  </a:ext>
                </a:extLst>
              </p:cNvPr>
              <p:cNvSpPr/>
              <p:nvPr/>
            </p:nvSpPr>
            <p:spPr>
              <a:xfrm>
                <a:off x="994562" y="4052254"/>
                <a:ext cx="40793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𝑧</m:t>
                      </m:r>
                    </m:oMath>
                  </m:oMathPara>
                </a14:m>
                <a:endParaRPr lang="en-US" sz="2400" dirty="0"/>
              </a:p>
            </p:txBody>
          </p:sp>
        </mc:Choice>
        <mc:Fallback xmlns="">
          <p:sp>
            <p:nvSpPr>
              <p:cNvPr id="59" name="Rectangle 58">
                <a:extLst>
                  <a:ext uri="{FF2B5EF4-FFF2-40B4-BE49-F238E27FC236}">
                    <a16:creationId xmlns:a16="http://schemas.microsoft.com/office/drawing/2014/main" id="{AC0CFC85-5211-E44B-B841-47BB9F96BD0E}"/>
                  </a:ext>
                </a:extLst>
              </p:cNvPr>
              <p:cNvSpPr>
                <a:spLocks noRot="1" noChangeAspect="1" noMove="1" noResize="1" noEditPoints="1" noAdjustHandles="1" noChangeArrowheads="1" noChangeShapeType="1" noTextEdit="1"/>
              </p:cNvSpPr>
              <p:nvPr/>
            </p:nvSpPr>
            <p:spPr>
              <a:xfrm>
                <a:off x="994562" y="4052254"/>
                <a:ext cx="407932" cy="461665"/>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70627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dissolv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dissolve">
                                      <p:cBhvr>
                                        <p:cTn id="1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86388B73-2C66-BC44-B68C-1678D53E8689}"/>
              </a:ext>
            </a:extLst>
          </p:cNvPr>
          <p:cNvCxnSpPr>
            <a:cxnSpLocks/>
          </p:cNvCxnSpPr>
          <p:nvPr/>
        </p:nvCxnSpPr>
        <p:spPr>
          <a:xfrm>
            <a:off x="1430909" y="3240431"/>
            <a:ext cx="3179575"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833474D-9E79-D24F-BD6F-AD46CDB9C5DD}"/>
              </a:ext>
            </a:extLst>
          </p:cNvPr>
          <p:cNvSpPr>
            <a:spLocks noGrp="1"/>
          </p:cNvSpPr>
          <p:nvPr>
            <p:ph type="title"/>
          </p:nvPr>
        </p:nvSpPr>
        <p:spPr/>
        <p:txBody>
          <a:bodyPr/>
          <a:lstStyle/>
          <a:p>
            <a:r>
              <a:rPr lang="en-ZA" dirty="0"/>
              <a:t>Simon’s Algorithm: Quantum Part (2)</a:t>
            </a:r>
            <a:endParaRPr lang="en-US" dirty="0"/>
          </a:p>
        </p:txBody>
      </p:sp>
      <p:sp>
        <p:nvSpPr>
          <p:cNvPr id="3" name="Slide Number Placeholder 2">
            <a:extLst>
              <a:ext uri="{FF2B5EF4-FFF2-40B4-BE49-F238E27FC236}">
                <a16:creationId xmlns:a16="http://schemas.microsoft.com/office/drawing/2014/main" id="{9C445608-EF0F-7B4E-8FCC-0288A3035AAE}"/>
              </a:ext>
            </a:extLst>
          </p:cNvPr>
          <p:cNvSpPr>
            <a:spLocks noGrp="1"/>
          </p:cNvSpPr>
          <p:nvPr>
            <p:ph type="sldNum" sz="quarter" idx="12"/>
          </p:nvPr>
        </p:nvSpPr>
        <p:spPr/>
        <p:txBody>
          <a:bodyPr/>
          <a:lstStyle/>
          <a:p>
            <a:fld id="{591A223C-FA10-BC46-A853-03BA373D023C}" type="slidenum">
              <a:rPr lang="en-US" smtClean="0"/>
              <a:t>36</a:t>
            </a:fld>
            <a:endParaRPr lang="en-US" dirty="0"/>
          </a:p>
        </p:txBody>
      </p:sp>
      <p:grpSp>
        <p:nvGrpSpPr>
          <p:cNvPr id="16" name="Group 15">
            <a:extLst>
              <a:ext uri="{FF2B5EF4-FFF2-40B4-BE49-F238E27FC236}">
                <a16:creationId xmlns:a16="http://schemas.microsoft.com/office/drawing/2014/main" id="{88FC7ACD-8080-1549-9D9A-C7BDF48668B3}"/>
              </a:ext>
            </a:extLst>
          </p:cNvPr>
          <p:cNvGrpSpPr/>
          <p:nvPr/>
        </p:nvGrpSpPr>
        <p:grpSpPr>
          <a:xfrm>
            <a:off x="4258797" y="2880431"/>
            <a:ext cx="720000" cy="796546"/>
            <a:chOff x="3031963" y="4808040"/>
            <a:chExt cx="720000" cy="796546"/>
          </a:xfrm>
        </p:grpSpPr>
        <p:sp>
          <p:nvSpPr>
            <p:cNvPr id="11" name="Rectangle 10">
              <a:extLst>
                <a:ext uri="{FF2B5EF4-FFF2-40B4-BE49-F238E27FC236}">
                  <a16:creationId xmlns:a16="http://schemas.microsoft.com/office/drawing/2014/main" id="{75984391-5D9E-6A4E-94A7-94977D717624}"/>
                </a:ext>
              </a:extLst>
            </p:cNvPr>
            <p:cNvSpPr/>
            <p:nvPr/>
          </p:nvSpPr>
          <p:spPr>
            <a:xfrm>
              <a:off x="3031963" y="480804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2" name="Arc 11">
              <a:extLst>
                <a:ext uri="{FF2B5EF4-FFF2-40B4-BE49-F238E27FC236}">
                  <a16:creationId xmlns:a16="http://schemas.microsoft.com/office/drawing/2014/main" id="{C30D3ED5-8085-D648-9853-1E50DCFE96C2}"/>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300F7998-40F1-A240-B4FB-1201470FF160}"/>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10233F2B-CF1B-8748-93A4-324B81397FA7}"/>
              </a:ext>
            </a:extLst>
          </p:cNvPr>
          <p:cNvSpPr/>
          <p:nvPr/>
        </p:nvSpPr>
        <p:spPr>
          <a:xfrm>
            <a:off x="2511287" y="2880431"/>
            <a:ext cx="1271493"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err="1">
                <a:latin typeface="Times" pitchFamily="2" charset="0"/>
              </a:rPr>
              <a:t>H</a:t>
            </a:r>
            <a:r>
              <a:rPr lang="en-US" sz="4000" baseline="30000" dirty="0" err="1">
                <a:latin typeface="Times" pitchFamily="2" charset="0"/>
              </a:rPr>
              <a:t>⨂</a:t>
            </a:r>
            <a:r>
              <a:rPr lang="en-US" sz="4000" i="1" baseline="30000" dirty="0" err="1">
                <a:latin typeface="Times" pitchFamily="2" charset="0"/>
              </a:rPr>
              <a:t>n</a:t>
            </a:r>
            <a:endParaRPr lang="en-US" sz="4000" i="1" baseline="30000" dirty="0">
              <a:latin typeface="Times" pitchFamily="2" charset="0"/>
            </a:endParaRPr>
          </a:p>
        </p:txBody>
      </p: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049C4A2D-F3DF-9941-88C8-68D928B787E8}"/>
                  </a:ext>
                </a:extLst>
              </p:cNvPr>
              <p:cNvSpPr/>
              <p:nvPr/>
            </p:nvSpPr>
            <p:spPr>
              <a:xfrm>
                <a:off x="6636299" y="3863527"/>
                <a:ext cx="1071126" cy="12198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3"/>
                                <m:mcJc m:val="center"/>
                              </m:mcPr>
                            </m:mc>
                          </m:mcs>
                          <m:ctrlPr>
                            <a:rPr lang="en-US" sz="2400" i="1">
                              <a:latin typeface="Cambria Math" panose="02040503050406030204" pitchFamily="18" charset="0"/>
                            </a:rPr>
                          </m:ctrlPr>
                        </m:mPr>
                        <m:mr>
                          <m:e/>
                          <m:e/>
                          <m:e/>
                        </m:mr>
                        <m:mr>
                          <m:e/>
                          <m:e/>
                          <m:e/>
                        </m:mr>
                        <m:mr>
                          <m:e/>
                          <m:e/>
                          <m:e/>
                        </m:mr>
                        <m:mr>
                          <m:e/>
                          <m:e/>
                          <m:e/>
                        </m:mr>
                      </m:m>
                    </m:oMath>
                  </m:oMathPara>
                </a14:m>
                <a:endParaRPr lang="en-US" sz="2400" dirty="0"/>
              </a:p>
            </p:txBody>
          </p:sp>
        </mc:Choice>
        <mc:Fallback xmlns="">
          <p:sp>
            <p:nvSpPr>
              <p:cNvPr id="36" name="Rectangle 35">
                <a:extLst>
                  <a:ext uri="{FF2B5EF4-FFF2-40B4-BE49-F238E27FC236}">
                    <a16:creationId xmlns:a16="http://schemas.microsoft.com/office/drawing/2014/main" id="{049C4A2D-F3DF-9941-88C8-68D928B787E8}"/>
                  </a:ext>
                </a:extLst>
              </p:cNvPr>
              <p:cNvSpPr>
                <a:spLocks noRot="1" noChangeAspect="1" noMove="1" noResize="1" noEditPoints="1" noAdjustHandles="1" noChangeArrowheads="1" noChangeShapeType="1" noTextEdit="1"/>
              </p:cNvSpPr>
              <p:nvPr/>
            </p:nvSpPr>
            <p:spPr>
              <a:xfrm>
                <a:off x="6636299" y="3863527"/>
                <a:ext cx="1071126" cy="1219821"/>
              </a:xfrm>
              <a:prstGeom prst="rect">
                <a:avLst/>
              </a:prstGeom>
              <a:blipFill>
                <a:blip r:embed="rId3"/>
                <a:stretch>
                  <a:fillRect l="-2353" t="-16495" r="-1176" b="-13402"/>
                </a:stretch>
              </a:blipFill>
            </p:spPr>
            <p:txBody>
              <a:bodyPr/>
              <a:lstStyle/>
              <a:p>
                <a:r>
                  <a:rPr lang="en-US">
                    <a:noFill/>
                  </a:rPr>
                  <a:t> </a:t>
                </a:r>
              </a:p>
            </p:txBody>
          </p:sp>
        </mc:Fallback>
      </mc:AlternateContent>
      <p:grpSp>
        <p:nvGrpSpPr>
          <p:cNvPr id="51" name="Group 50">
            <a:extLst>
              <a:ext uri="{FF2B5EF4-FFF2-40B4-BE49-F238E27FC236}">
                <a16:creationId xmlns:a16="http://schemas.microsoft.com/office/drawing/2014/main" id="{D6407D1B-B3E9-614C-AD38-0A5CE6B80E8B}"/>
              </a:ext>
            </a:extLst>
          </p:cNvPr>
          <p:cNvGrpSpPr/>
          <p:nvPr/>
        </p:nvGrpSpPr>
        <p:grpSpPr>
          <a:xfrm>
            <a:off x="644223" y="1454893"/>
            <a:ext cx="2244588" cy="1141897"/>
            <a:chOff x="7045023" y="4531950"/>
            <a:chExt cx="2244588" cy="1141897"/>
          </a:xfrm>
        </p:grpSpPr>
        <p:sp>
          <p:nvSpPr>
            <p:cNvPr id="40" name="Line Callout 1 39">
              <a:extLst>
                <a:ext uri="{FF2B5EF4-FFF2-40B4-BE49-F238E27FC236}">
                  <a16:creationId xmlns:a16="http://schemas.microsoft.com/office/drawing/2014/main" id="{FB265501-E850-E04C-9809-76F9B40DA9C9}"/>
                </a:ext>
              </a:extLst>
            </p:cNvPr>
            <p:cNvSpPr/>
            <p:nvPr/>
          </p:nvSpPr>
          <p:spPr>
            <a:xfrm>
              <a:off x="7066091" y="4531950"/>
              <a:ext cx="2223520" cy="1141897"/>
            </a:xfrm>
            <a:prstGeom prst="borderCallout1">
              <a:avLst>
                <a:gd name="adj1" fmla="val 103165"/>
                <a:gd name="adj2" fmla="val 55436"/>
                <a:gd name="adj3" fmla="val 147035"/>
                <a:gd name="adj4" fmla="val 55128"/>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E1B0B0B5-C0F6-1148-A8BF-A4E78AD97A69}"/>
                    </a:ext>
                  </a:extLst>
                </p:cNvPr>
                <p:cNvSpPr/>
                <p:nvPr/>
              </p:nvSpPr>
              <p:spPr>
                <a:xfrm>
                  <a:off x="7045023" y="4640382"/>
                  <a:ext cx="2184316"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ZA" sz="2400" i="1">
                                <a:latin typeface="Cambria Math" panose="02040503050406030204" pitchFamily="18" charset="0"/>
                              </a:rPr>
                            </m:ctrlPr>
                          </m:fPr>
                          <m:num>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0</m:t>
                                    </m:r>
                                  </m:sub>
                                </m:sSub>
                              </m:e>
                            </m:d>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0</m:t>
                                    </m:r>
                                  </m:sub>
                                </m:sSub>
                                <m:r>
                                  <a:rPr lang="sr-Latn-RS" sz="2400" i="1">
                                    <a:latin typeface="Cambria Math" panose="02040503050406030204" pitchFamily="18" charset="0"/>
                                  </a:rPr>
                                  <m:t> ⨁ </m:t>
                                </m:r>
                                <m:r>
                                  <a:rPr lang="sr-Latn-RS" sz="2400" i="1">
                                    <a:latin typeface="Cambria Math" panose="02040503050406030204" pitchFamily="18" charset="0"/>
                                  </a:rPr>
                                  <m:t>𝑠</m:t>
                                </m:r>
                              </m:e>
                            </m:d>
                          </m:num>
                          <m:den>
                            <m:rad>
                              <m:radPr>
                                <m:degHide m:val="on"/>
                                <m:ctrlPr>
                                  <a:rPr lang="en-ZA" sz="2400" i="1">
                                    <a:latin typeface="Cambria Math" panose="02040503050406030204" pitchFamily="18" charset="0"/>
                                  </a:rPr>
                                </m:ctrlPr>
                              </m:radPr>
                              <m:deg/>
                              <m:e>
                                <m:r>
                                  <a:rPr lang="sr-Latn-RS" sz="2400" i="1">
                                    <a:latin typeface="Cambria Math" panose="02040503050406030204" pitchFamily="18" charset="0"/>
                                  </a:rPr>
                                  <m:t>2</m:t>
                                </m:r>
                              </m:e>
                            </m:rad>
                          </m:den>
                        </m:f>
                      </m:oMath>
                    </m:oMathPara>
                  </a14:m>
                  <a:endParaRPr lang="en-US" sz="2400" dirty="0"/>
                </a:p>
              </p:txBody>
            </p:sp>
          </mc:Choice>
          <mc:Fallback xmlns="">
            <p:sp>
              <p:nvSpPr>
                <p:cNvPr id="37" name="Rectangle 36">
                  <a:extLst>
                    <a:ext uri="{FF2B5EF4-FFF2-40B4-BE49-F238E27FC236}">
                      <a16:creationId xmlns:a16="http://schemas.microsoft.com/office/drawing/2014/main" id="{E1B0B0B5-C0F6-1148-A8BF-A4E78AD97A69}"/>
                    </a:ext>
                  </a:extLst>
                </p:cNvPr>
                <p:cNvSpPr>
                  <a:spLocks noRot="1" noChangeAspect="1" noMove="1" noResize="1" noEditPoints="1" noAdjustHandles="1" noChangeArrowheads="1" noChangeShapeType="1" noTextEdit="1"/>
                </p:cNvSpPr>
                <p:nvPr/>
              </p:nvSpPr>
              <p:spPr>
                <a:xfrm>
                  <a:off x="7045023" y="4640382"/>
                  <a:ext cx="2184316" cy="876202"/>
                </a:xfrm>
                <a:prstGeom prst="rect">
                  <a:avLst/>
                </a:prstGeom>
                <a:blipFill>
                  <a:blip r:embed="rId4"/>
                  <a:stretch>
                    <a:fillRect l="-1156" t="-68571" r="-13873" b="-51429"/>
                  </a:stretch>
                </a:blipFill>
              </p:spPr>
              <p:txBody>
                <a:bodyPr/>
                <a:lstStyle/>
                <a:p>
                  <a:r>
                    <a:rPr lang="en-US">
                      <a:noFill/>
                    </a:rPr>
                    <a:t> </a:t>
                  </a:r>
                </a:p>
              </p:txBody>
            </p:sp>
          </mc:Fallback>
        </mc:AlternateContent>
      </p:grpSp>
      <p:grpSp>
        <p:nvGrpSpPr>
          <p:cNvPr id="30" name="Group 29">
            <a:extLst>
              <a:ext uri="{FF2B5EF4-FFF2-40B4-BE49-F238E27FC236}">
                <a16:creationId xmlns:a16="http://schemas.microsoft.com/office/drawing/2014/main" id="{B9BF741E-F89B-4547-B643-E51A564C8151}"/>
              </a:ext>
            </a:extLst>
          </p:cNvPr>
          <p:cNvGrpSpPr/>
          <p:nvPr/>
        </p:nvGrpSpPr>
        <p:grpSpPr>
          <a:xfrm>
            <a:off x="5529059" y="1350728"/>
            <a:ext cx="6115650" cy="3065358"/>
            <a:chOff x="5529059" y="928688"/>
            <a:chExt cx="6115650" cy="3065358"/>
          </a:xfrm>
        </p:grpSpPr>
        <p:sp>
          <p:nvSpPr>
            <p:cNvPr id="27" name="Line Callout 1 26">
              <a:extLst>
                <a:ext uri="{FF2B5EF4-FFF2-40B4-BE49-F238E27FC236}">
                  <a16:creationId xmlns:a16="http://schemas.microsoft.com/office/drawing/2014/main" id="{67C02710-640B-BF4D-A40E-5E0CD022E245}"/>
                </a:ext>
              </a:extLst>
            </p:cNvPr>
            <p:cNvSpPr/>
            <p:nvPr/>
          </p:nvSpPr>
          <p:spPr>
            <a:xfrm>
              <a:off x="5529059" y="928688"/>
              <a:ext cx="6115649" cy="3065358"/>
            </a:xfrm>
            <a:prstGeom prst="borderCallout1">
              <a:avLst>
                <a:gd name="adj1" fmla="val 18750"/>
                <a:gd name="adj2" fmla="val -8333"/>
                <a:gd name="adj3" fmla="val 54175"/>
                <a:gd name="adj4" fmla="val -25448"/>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44A3588-F356-EC4A-81A6-3BEC5DABF1BD}"/>
                    </a:ext>
                  </a:extLst>
                </p:cNvPr>
                <p:cNvSpPr/>
                <p:nvPr/>
              </p:nvSpPr>
              <p:spPr>
                <a:xfrm>
                  <a:off x="5559843" y="1017438"/>
                  <a:ext cx="2966710" cy="87620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i="1">
                                <a:latin typeface="Cambria Math" panose="02040503050406030204" pitchFamily="18" charset="0"/>
                              </a:rPr>
                              <m:t>𝐻</m:t>
                            </m:r>
                          </m:e>
                          <m:sup>
                            <m:r>
                              <a:rPr lang="en-US" sz="2400" i="0">
                                <a:latin typeface="Cambria Math" panose="02040503050406030204" pitchFamily="18" charset="0"/>
                              </a:rPr>
                              <m:t>⊗</m:t>
                            </m:r>
                            <m:r>
                              <a:rPr lang="en-US" sz="2400" i="1">
                                <a:latin typeface="Cambria Math" panose="02040503050406030204" pitchFamily="18" charset="0"/>
                              </a:rPr>
                              <m:t>𝑛</m:t>
                            </m:r>
                          </m:sup>
                        </m:sSup>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0">
                                        <a:latin typeface="Cambria Math" panose="02040503050406030204" pitchFamily="18" charset="0"/>
                                      </a:rPr>
                                      <m:t>0</m:t>
                                    </m:r>
                                  </m:sub>
                                </m:sSub>
                              </m:e>
                            </m:d>
                            <m:r>
                              <a:rPr lang="en-US" sz="2400" i="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0">
                                        <a:latin typeface="Cambria Math" panose="02040503050406030204" pitchFamily="18" charset="0"/>
                                      </a:rPr>
                                      <m:t>0</m:t>
                                    </m:r>
                                  </m:sub>
                                </m:sSub>
                                <m:r>
                                  <a:rPr lang="en-US" sz="2400" i="0">
                                    <a:latin typeface="Cambria Math" panose="02040503050406030204" pitchFamily="18" charset="0"/>
                                  </a:rPr>
                                  <m:t> </m:t>
                                </m:r>
                                <m:nary>
                                  <m:naryPr>
                                    <m:chr m:val="⨁"/>
                                    <m:subHide m:val="on"/>
                                    <m:supHide m:val="on"/>
                                    <m:ctrlPr>
                                      <a:rPr lang="en-US" sz="2400" i="1">
                                        <a:latin typeface="Cambria Math" panose="02040503050406030204" pitchFamily="18" charset="0"/>
                                      </a:rPr>
                                    </m:ctrlPr>
                                  </m:naryPr>
                                  <m:sub/>
                                  <m:sup/>
                                  <m:e>
                                    <m:r>
                                      <a:rPr lang="en-US" sz="2400" i="0">
                                        <a:latin typeface="Cambria Math" panose="02040503050406030204" pitchFamily="18" charset="0"/>
                                      </a:rPr>
                                      <m:t> </m:t>
                                    </m:r>
                                  </m:e>
                                </m:nary>
                                <m:r>
                                  <a:rPr lang="en-US" sz="2400" i="1">
                                    <a:latin typeface="Cambria Math" panose="02040503050406030204" pitchFamily="18" charset="0"/>
                                  </a:rPr>
                                  <m:t>𝑠</m:t>
                                </m:r>
                              </m:e>
                            </m:d>
                          </m:num>
                          <m:den>
                            <m:rad>
                              <m:radPr>
                                <m:degHide m:val="on"/>
                                <m:ctrlPr>
                                  <a:rPr lang="en-US" sz="2400" i="1">
                                    <a:latin typeface="Cambria Math" panose="02040503050406030204" pitchFamily="18" charset="0"/>
                                  </a:rPr>
                                </m:ctrlPr>
                              </m:radPr>
                              <m:deg/>
                              <m:e>
                                <m:r>
                                  <a:rPr lang="en-US" sz="2400" i="0">
                                    <a:latin typeface="Cambria Math" panose="02040503050406030204" pitchFamily="18" charset="0"/>
                                  </a:rPr>
                                  <m:t>2</m:t>
                                </m:r>
                              </m:e>
                            </m:rad>
                          </m:den>
                        </m:f>
                      </m:oMath>
                    </m:oMathPara>
                  </a14:m>
                  <a:endParaRPr lang="en-US" sz="2400" dirty="0"/>
                </a:p>
              </p:txBody>
            </p:sp>
          </mc:Choice>
          <mc:Fallback xmlns="">
            <p:sp>
              <p:nvSpPr>
                <p:cNvPr id="10" name="Rectangle 9">
                  <a:extLst>
                    <a:ext uri="{FF2B5EF4-FFF2-40B4-BE49-F238E27FC236}">
                      <a16:creationId xmlns:a16="http://schemas.microsoft.com/office/drawing/2014/main" id="{544A3588-F356-EC4A-81A6-3BEC5DABF1BD}"/>
                    </a:ext>
                  </a:extLst>
                </p:cNvPr>
                <p:cNvSpPr>
                  <a:spLocks noRot="1" noChangeAspect="1" noMove="1" noResize="1" noEditPoints="1" noAdjustHandles="1" noChangeArrowheads="1" noChangeShapeType="1" noTextEdit="1"/>
                </p:cNvSpPr>
                <p:nvPr/>
              </p:nvSpPr>
              <p:spPr>
                <a:xfrm>
                  <a:off x="5559843" y="1017438"/>
                  <a:ext cx="2966710" cy="876202"/>
                </a:xfrm>
                <a:prstGeom prst="rect">
                  <a:avLst/>
                </a:prstGeom>
                <a:blipFill>
                  <a:blip r:embed="rId5"/>
                  <a:stretch>
                    <a:fillRect t="-68571" r="-10684" b="-5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FFA1B50-9BB6-C845-8484-D2667D705B29}"/>
                    </a:ext>
                  </a:extLst>
                </p:cNvPr>
                <p:cNvSpPr/>
                <p:nvPr/>
              </p:nvSpPr>
              <p:spPr>
                <a:xfrm>
                  <a:off x="5529060" y="1911701"/>
                  <a:ext cx="6115649" cy="10294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m:t>
                        </m:r>
                        <m:f>
                          <m:fPr>
                            <m:ctrlPr>
                              <a:rPr lang="en-ZA" sz="2400" i="1" smtClean="0">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en-ZA" sz="2400" i="1">
                                    <a:latin typeface="Cambria Math" panose="02040503050406030204" pitchFamily="18" charset="0"/>
                                  </a:rPr>
                                </m:ctrlPr>
                              </m:radPr>
                              <m:deg/>
                              <m:e>
                                <m:sSup>
                                  <m:sSupPr>
                                    <m:ctrlPr>
                                      <a:rPr lang="en-ZA"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r>
                                      <a:rPr lang="sr-Latn-RS" sz="2400" i="1">
                                        <a:latin typeface="Cambria Math" panose="02040503050406030204" pitchFamily="18" charset="0"/>
                                      </a:rPr>
                                      <m:t>+1</m:t>
                                    </m:r>
                                  </m:sup>
                                </m:sSup>
                              </m:e>
                            </m:rad>
                          </m:den>
                        </m:f>
                        <m:nary>
                          <m:naryPr>
                            <m:chr m:val="∑"/>
                            <m:limLoc m:val="undOvr"/>
                            <m:supHide m:val="on"/>
                            <m:ctrlPr>
                              <a:rPr lang="en-ZA" sz="2400" i="1">
                                <a:latin typeface="Cambria Math" panose="02040503050406030204" pitchFamily="18" charset="0"/>
                              </a:rPr>
                            </m:ctrlPr>
                          </m:naryPr>
                          <m:sub>
                            <m:r>
                              <m:rPr>
                                <m:brk/>
                              </m:rPr>
                              <a:rPr lang="en-US" sz="2400" b="0" i="1" smtClean="0">
                                <a:latin typeface="Cambria Math" panose="02040503050406030204" pitchFamily="18" charset="0"/>
                              </a:rPr>
                              <m:t>𝑦</m:t>
                            </m:r>
                            <m:r>
                              <a:rPr lang="sr-Latn-RS" sz="2400" i="1">
                                <a:latin typeface="Cambria Math" panose="02040503050406030204" pitchFamily="18" charset="0"/>
                              </a:rPr>
                              <m:t>∈</m:t>
                            </m:r>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0,1</m:t>
                                    </m:r>
                                  </m:e>
                                </m:d>
                              </m:e>
                              <m:sup>
                                <m:r>
                                  <a:rPr lang="sr-Latn-RS" sz="2400" i="1">
                                    <a:latin typeface="Cambria Math" panose="02040503050406030204" pitchFamily="18" charset="0"/>
                                  </a:rPr>
                                  <m:t>𝑛</m:t>
                                </m:r>
                              </m:sup>
                            </m:sSup>
                          </m:sub>
                          <m:sup/>
                          <m:e>
                            <m:d>
                              <m:dPr>
                                <m:begChr m:val="["/>
                                <m:endChr m:val="]"/>
                                <m:ctrlPr>
                                  <a:rPr lang="en-ZA" sz="2400" i="1">
                                    <a:latin typeface="Cambria Math" panose="02040503050406030204" pitchFamily="18" charset="0"/>
                                  </a:rPr>
                                </m:ctrlPr>
                              </m:dPr>
                              <m:e>
                                <m:sSup>
                                  <m:sSupPr>
                                    <m:ctrlPr>
                                      <a:rPr lang="en-ZA" sz="2400" i="1">
                                        <a:latin typeface="Cambria Math" panose="02040503050406030204" pitchFamily="18" charset="0"/>
                                      </a:rPr>
                                    </m:ctrlPr>
                                  </m:sSupPr>
                                  <m:e>
                                    <m:d>
                                      <m:dPr>
                                        <m:ctrlPr>
                                          <a:rPr lang="en-ZA" sz="2400" i="1">
                                            <a:latin typeface="Cambria Math" panose="02040503050406030204" pitchFamily="18" charset="0"/>
                                          </a:rPr>
                                        </m:ctrlPr>
                                      </m:dPr>
                                      <m:e>
                                        <m:r>
                                          <a:rPr lang="sr-Latn-RS" sz="2400" i="1">
                                            <a:latin typeface="Cambria Math" panose="02040503050406030204" pitchFamily="18" charset="0"/>
                                          </a:rPr>
                                          <m:t>−1</m:t>
                                        </m:r>
                                      </m:e>
                                    </m:d>
                                  </m:e>
                                  <m:sup>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0</m:t>
                                        </m:r>
                                      </m:sub>
                                    </m:sSub>
                                    <m:r>
                                      <a:rPr lang="sr-Latn-RS" sz="2400" i="1">
                                        <a:latin typeface="Cambria Math" panose="02040503050406030204" pitchFamily="18" charset="0"/>
                                      </a:rPr>
                                      <m:t>∙</m:t>
                                    </m:r>
                                    <m:r>
                                      <a:rPr lang="sr-Latn-RS" sz="2400" i="1" smtClean="0">
                                        <a:latin typeface="Cambria Math" panose="02040503050406030204" pitchFamily="18" charset="0"/>
                                      </a:rPr>
                                      <m:t>𝑦</m:t>
                                    </m:r>
                                  </m:sup>
                                </m:sSup>
                                <m:r>
                                  <a:rPr lang="sr-Latn-RS" sz="2400" i="1">
                                    <a:latin typeface="Cambria Math" panose="02040503050406030204" pitchFamily="18" charset="0"/>
                                  </a:rPr>
                                  <m:t>+</m:t>
                                </m:r>
                                <m:sSup>
                                  <m:sSupPr>
                                    <m:ctrlPr>
                                      <a:rPr lang="en-ZA" sz="2400" i="1">
                                        <a:latin typeface="Cambria Math" panose="02040503050406030204" pitchFamily="18" charset="0"/>
                                      </a:rPr>
                                    </m:ctrlPr>
                                  </m:sSupPr>
                                  <m:e>
                                    <m:d>
                                      <m:dPr>
                                        <m:ctrlPr>
                                          <a:rPr lang="en-ZA" sz="2400" i="1">
                                            <a:latin typeface="Cambria Math" panose="02040503050406030204" pitchFamily="18" charset="0"/>
                                          </a:rPr>
                                        </m:ctrlPr>
                                      </m:dPr>
                                      <m:e>
                                        <m:r>
                                          <a:rPr lang="sr-Latn-RS" sz="2400" i="1">
                                            <a:latin typeface="Cambria Math" panose="02040503050406030204" pitchFamily="18" charset="0"/>
                                          </a:rPr>
                                          <m:t>−1</m:t>
                                        </m:r>
                                      </m:e>
                                    </m:d>
                                  </m:e>
                                  <m:sup>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0</m:t>
                                        </m:r>
                                      </m:sub>
                                    </m:sSub>
                                    <m:r>
                                      <a:rPr lang="sr-Latn-RS" sz="2400" i="1">
                                        <a:latin typeface="Cambria Math" panose="02040503050406030204" pitchFamily="18" charset="0"/>
                                      </a:rPr>
                                      <m:t>⨁</m:t>
                                    </m:r>
                                    <m:r>
                                      <a:rPr lang="sr-Latn-RS" sz="2400" i="1">
                                        <a:latin typeface="Cambria Math" panose="02040503050406030204" pitchFamily="18" charset="0"/>
                                      </a:rPr>
                                      <m:t>𝑠</m:t>
                                    </m:r>
                                    <m:r>
                                      <a:rPr lang="sr-Latn-RS" sz="2400" i="1">
                                        <a:latin typeface="Cambria Math" panose="02040503050406030204" pitchFamily="18" charset="0"/>
                                      </a:rPr>
                                      <m:t>)∙</m:t>
                                    </m:r>
                                    <m:r>
                                      <a:rPr lang="sr-Latn-RS" sz="2400" i="1">
                                        <a:latin typeface="Cambria Math" panose="02040503050406030204" pitchFamily="18" charset="0"/>
                                      </a:rPr>
                                      <m:t>𝑦</m:t>
                                    </m:r>
                                  </m:sup>
                                </m:sSup>
                              </m:e>
                            </m:d>
                          </m:e>
                        </m:nary>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m:t>
                            </m:r>
                            <m:r>
                              <a:rPr lang="sr-Latn-RS" sz="2400" i="1">
                                <a:latin typeface="Cambria Math" panose="02040503050406030204" pitchFamily="18" charset="0"/>
                              </a:rPr>
                              <m:t>𝑦</m:t>
                            </m:r>
                          </m:e>
                        </m:d>
                      </m:oMath>
                    </m:oMathPara>
                  </a14:m>
                  <a:endParaRPr lang="en-US" sz="2400" dirty="0"/>
                </a:p>
              </p:txBody>
            </p:sp>
          </mc:Choice>
          <mc:Fallback xmlns="">
            <p:sp>
              <p:nvSpPr>
                <p:cNvPr id="15" name="Rectangle 14">
                  <a:extLst>
                    <a:ext uri="{FF2B5EF4-FFF2-40B4-BE49-F238E27FC236}">
                      <a16:creationId xmlns:a16="http://schemas.microsoft.com/office/drawing/2014/main" id="{7FFA1B50-9BB6-C845-8484-D2667D705B29}"/>
                    </a:ext>
                  </a:extLst>
                </p:cNvPr>
                <p:cNvSpPr>
                  <a:spLocks noRot="1" noChangeAspect="1" noMove="1" noResize="1" noEditPoints="1" noAdjustHandles="1" noChangeArrowheads="1" noChangeShapeType="1" noTextEdit="1"/>
                </p:cNvSpPr>
                <p:nvPr/>
              </p:nvSpPr>
              <p:spPr>
                <a:xfrm>
                  <a:off x="5529060" y="1911701"/>
                  <a:ext cx="6115649" cy="1029449"/>
                </a:xfrm>
                <a:prstGeom prst="rect">
                  <a:avLst/>
                </a:prstGeom>
                <a:blipFill>
                  <a:blip r:embed="rId6"/>
                  <a:stretch>
                    <a:fillRect t="-124390" r="-4969" b="-16829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059D3198-79A1-FC45-82FD-A143AD94A89A}"/>
                    </a:ext>
                  </a:extLst>
                </p:cNvPr>
                <p:cNvSpPr/>
                <p:nvPr/>
              </p:nvSpPr>
              <p:spPr>
                <a:xfrm>
                  <a:off x="5559843" y="2961904"/>
                  <a:ext cx="5680658" cy="10321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solidFill>
                              <a:schemeClr val="tx1"/>
                            </a:solidFill>
                            <a:latin typeface="Cambria Math" panose="02040503050406030204" pitchFamily="18" charset="0"/>
                          </a:rPr>
                          <m:t>=</m:t>
                        </m:r>
                        <m:f>
                          <m:fPr>
                            <m:ctrlPr>
                              <a:rPr lang="en-US" sz="2400" i="1" smtClean="0">
                                <a:solidFill>
                                  <a:schemeClr val="tx1"/>
                                </a:solidFill>
                                <a:latin typeface="Cambria Math" panose="02040503050406030204" pitchFamily="18" charset="0"/>
                              </a:rPr>
                            </m:ctrlPr>
                          </m:fPr>
                          <m:num>
                            <m:r>
                              <a:rPr lang="en-US" sz="2400">
                                <a:solidFill>
                                  <a:schemeClr val="tx1"/>
                                </a:solidFill>
                                <a:latin typeface="Cambria Math" panose="02040503050406030204" pitchFamily="18" charset="0"/>
                              </a:rPr>
                              <m:t>1</m:t>
                            </m:r>
                          </m:num>
                          <m:den>
                            <m:rad>
                              <m:radPr>
                                <m:degHide m:val="on"/>
                                <m:ctrlPr>
                                  <a:rPr lang="en-US" sz="2400" i="1">
                                    <a:solidFill>
                                      <a:schemeClr val="tx1"/>
                                    </a:solidFill>
                                    <a:latin typeface="Cambria Math" panose="02040503050406030204" pitchFamily="18" charset="0"/>
                                  </a:rPr>
                                </m:ctrlPr>
                              </m:radPr>
                              <m:deg/>
                              <m:e>
                                <m:sSup>
                                  <m:sSupPr>
                                    <m:ctrlPr>
                                      <a:rPr lang="en-US" sz="2400" i="1">
                                        <a:solidFill>
                                          <a:schemeClr val="tx1"/>
                                        </a:solidFill>
                                        <a:latin typeface="Cambria Math" panose="02040503050406030204" pitchFamily="18" charset="0"/>
                                      </a:rPr>
                                    </m:ctrlPr>
                                  </m:sSupPr>
                                  <m:e>
                                    <m:r>
                                      <a:rPr lang="en-US" sz="2400" i="0">
                                        <a:solidFill>
                                          <a:schemeClr val="tx1"/>
                                        </a:solidFill>
                                        <a:latin typeface="Cambria Math" panose="02040503050406030204" pitchFamily="18" charset="0"/>
                                      </a:rPr>
                                      <m:t>2</m:t>
                                    </m:r>
                                  </m:e>
                                  <m:sup>
                                    <m:r>
                                      <a:rPr lang="en-US" sz="2400" i="1">
                                        <a:solidFill>
                                          <a:schemeClr val="tx1"/>
                                        </a:solidFill>
                                        <a:latin typeface="Cambria Math" panose="02040503050406030204" pitchFamily="18" charset="0"/>
                                      </a:rPr>
                                      <m:t>𝑛</m:t>
                                    </m:r>
                                    <m:r>
                                      <a:rPr lang="en-US" sz="2400" i="0">
                                        <a:solidFill>
                                          <a:schemeClr val="tx1"/>
                                        </a:solidFill>
                                        <a:latin typeface="Cambria Math" panose="02040503050406030204" pitchFamily="18" charset="0"/>
                                      </a:rPr>
                                      <m:t>+1</m:t>
                                    </m:r>
                                  </m:sup>
                                </m:sSup>
                              </m:e>
                            </m:rad>
                          </m:den>
                        </m:f>
                        <m:nary>
                          <m:naryPr>
                            <m:chr m:val="∑"/>
                            <m:limLoc m:val="undOvr"/>
                            <m:supHide m:val="on"/>
                            <m:ctrlPr>
                              <a:rPr lang="en-US" sz="2400" i="1">
                                <a:solidFill>
                                  <a:schemeClr val="tx1"/>
                                </a:solidFill>
                                <a:latin typeface="Cambria Math" panose="02040503050406030204" pitchFamily="18" charset="0"/>
                              </a:rPr>
                            </m:ctrlPr>
                          </m:naryPr>
                          <m:sub>
                            <m:r>
                              <a:rPr lang="en-US" sz="2400" i="1">
                                <a:solidFill>
                                  <a:schemeClr val="tx1"/>
                                </a:solidFill>
                                <a:latin typeface="Cambria Math" panose="02040503050406030204" pitchFamily="18" charset="0"/>
                              </a:rPr>
                              <m:t>𝑦</m:t>
                            </m:r>
                            <m:r>
                              <a:rPr lang="en-US" sz="2400" i="0">
                                <a:solidFill>
                                  <a:schemeClr val="tx1"/>
                                </a:solidFill>
                                <a:latin typeface="Cambria Math" panose="02040503050406030204" pitchFamily="18" charset="0"/>
                              </a:rPr>
                              <m:t>∈</m:t>
                            </m:r>
                            <m:sSup>
                              <m:sSupPr>
                                <m:ctrlPr>
                                  <a:rPr lang="en-US" sz="2400" i="1">
                                    <a:solidFill>
                                      <a:schemeClr val="tx1"/>
                                    </a:solidFill>
                                    <a:latin typeface="Cambria Math" panose="02040503050406030204" pitchFamily="18" charset="0"/>
                                  </a:rPr>
                                </m:ctrlPr>
                              </m:sSupPr>
                              <m:e>
                                <m:d>
                                  <m:dPr>
                                    <m:begChr m:val="{"/>
                                    <m:endChr m:val="}"/>
                                    <m:ctrlPr>
                                      <a:rPr lang="en-US" sz="2400" i="1">
                                        <a:solidFill>
                                          <a:schemeClr val="tx1"/>
                                        </a:solidFill>
                                        <a:latin typeface="Cambria Math" panose="02040503050406030204" pitchFamily="18" charset="0"/>
                                      </a:rPr>
                                    </m:ctrlPr>
                                  </m:dPr>
                                  <m:e>
                                    <m:r>
                                      <a:rPr lang="en-US" sz="2400" i="0">
                                        <a:solidFill>
                                          <a:schemeClr val="tx1"/>
                                        </a:solidFill>
                                        <a:latin typeface="Cambria Math" panose="02040503050406030204" pitchFamily="18" charset="0"/>
                                      </a:rPr>
                                      <m:t>0,1</m:t>
                                    </m:r>
                                  </m:e>
                                </m:d>
                              </m:e>
                              <m:sup>
                                <m:r>
                                  <a:rPr lang="en-US" sz="2400" i="1">
                                    <a:solidFill>
                                      <a:schemeClr val="tx1"/>
                                    </a:solidFill>
                                    <a:latin typeface="Cambria Math" panose="02040503050406030204" pitchFamily="18" charset="0"/>
                                  </a:rPr>
                                  <m:t>𝑛</m:t>
                                </m:r>
                              </m:sup>
                            </m:sSup>
                          </m:sub>
                          <m:sup/>
                          <m:e>
                            <m:sSup>
                              <m:sSupPr>
                                <m:ctrlPr>
                                  <a:rPr lang="en-US" sz="2400" i="1">
                                    <a:solidFill>
                                      <a:schemeClr val="tx1"/>
                                    </a:solidFill>
                                    <a:latin typeface="Cambria Math" panose="02040503050406030204" pitchFamily="18" charset="0"/>
                                  </a:rPr>
                                </m:ctrlPr>
                              </m:sSupPr>
                              <m:e>
                                <m:d>
                                  <m:dPr>
                                    <m:ctrlPr>
                                      <a:rPr lang="en-US" sz="2400" i="1">
                                        <a:solidFill>
                                          <a:schemeClr val="tx1"/>
                                        </a:solidFill>
                                        <a:latin typeface="Cambria Math" panose="02040503050406030204" pitchFamily="18" charset="0"/>
                                      </a:rPr>
                                    </m:ctrlPr>
                                  </m:dPr>
                                  <m:e>
                                    <m:r>
                                      <a:rPr lang="en-US" sz="2400" i="0">
                                        <a:solidFill>
                                          <a:schemeClr val="tx1"/>
                                        </a:solidFill>
                                        <a:latin typeface="Cambria Math" panose="02040503050406030204" pitchFamily="18" charset="0"/>
                                      </a:rPr>
                                      <m:t>−1</m:t>
                                    </m:r>
                                  </m:e>
                                </m:d>
                              </m:e>
                              <m:sup>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𝑥</m:t>
                                    </m:r>
                                  </m:e>
                                  <m:sub>
                                    <m:r>
                                      <a:rPr lang="en-US" sz="2400" i="0">
                                        <a:solidFill>
                                          <a:schemeClr val="tx1"/>
                                        </a:solidFill>
                                        <a:latin typeface="Cambria Math" panose="02040503050406030204" pitchFamily="18" charset="0"/>
                                      </a:rPr>
                                      <m:t>0</m:t>
                                    </m:r>
                                  </m:sub>
                                </m:sSub>
                                <m:r>
                                  <a:rPr lang="en-US" sz="2400" i="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𝑦</m:t>
                                </m:r>
                              </m:sup>
                            </m:sSup>
                            <m:d>
                              <m:dPr>
                                <m:begChr m:val="["/>
                                <m:endChr m:val="]"/>
                                <m:ctrlPr>
                                  <a:rPr lang="en-US" sz="2400" i="1">
                                    <a:solidFill>
                                      <a:schemeClr val="tx1"/>
                                    </a:solidFill>
                                    <a:latin typeface="Cambria Math" panose="02040503050406030204" pitchFamily="18" charset="0"/>
                                  </a:rPr>
                                </m:ctrlPr>
                              </m:dPr>
                              <m:e>
                                <m:r>
                                  <a:rPr lang="en-US" sz="2400" i="0" smtClean="0">
                                    <a:solidFill>
                                      <a:schemeClr val="tx1"/>
                                    </a:solidFill>
                                    <a:latin typeface="Cambria Math" panose="02040503050406030204" pitchFamily="18" charset="0"/>
                                  </a:rPr>
                                  <m:t>1+</m:t>
                                </m:r>
                                <m:sSup>
                                  <m:sSupPr>
                                    <m:ctrlPr>
                                      <a:rPr lang="en-US" sz="2400" i="1">
                                        <a:solidFill>
                                          <a:schemeClr val="tx1"/>
                                        </a:solidFill>
                                        <a:latin typeface="Cambria Math" panose="02040503050406030204" pitchFamily="18" charset="0"/>
                                      </a:rPr>
                                    </m:ctrlPr>
                                  </m:sSupPr>
                                  <m:e>
                                    <m:d>
                                      <m:dPr>
                                        <m:ctrlPr>
                                          <a:rPr lang="en-US" sz="2400" i="1">
                                            <a:solidFill>
                                              <a:schemeClr val="tx1"/>
                                            </a:solidFill>
                                            <a:latin typeface="Cambria Math" panose="02040503050406030204" pitchFamily="18" charset="0"/>
                                          </a:rPr>
                                        </m:ctrlPr>
                                      </m:dPr>
                                      <m:e>
                                        <m:r>
                                          <a:rPr lang="en-US" sz="2400" i="0">
                                            <a:solidFill>
                                              <a:schemeClr val="tx1"/>
                                            </a:solidFill>
                                            <a:latin typeface="Cambria Math" panose="02040503050406030204" pitchFamily="18" charset="0"/>
                                          </a:rPr>
                                          <m:t>−1</m:t>
                                        </m:r>
                                      </m:e>
                                    </m:d>
                                  </m:e>
                                  <m:sup>
                                    <m:r>
                                      <a:rPr lang="en-US" sz="2400" i="1">
                                        <a:solidFill>
                                          <a:schemeClr val="tx1"/>
                                        </a:solidFill>
                                        <a:latin typeface="Cambria Math" panose="02040503050406030204" pitchFamily="18" charset="0"/>
                                      </a:rPr>
                                      <m:t>𝑠</m:t>
                                    </m:r>
                                    <m:r>
                                      <a:rPr lang="en-US" sz="2400" i="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𝑦</m:t>
                                    </m:r>
                                  </m:sup>
                                </m:sSup>
                              </m:e>
                            </m:d>
                          </m:e>
                        </m:nary>
                        <m:d>
                          <m:dPr>
                            <m:begChr m:val=""/>
                            <m:endChr m:val="⟩"/>
                            <m:ctrlPr>
                              <a:rPr lang="en-US" sz="2400" i="1">
                                <a:solidFill>
                                  <a:schemeClr val="tx1"/>
                                </a:solidFill>
                                <a:latin typeface="Cambria Math" panose="02040503050406030204" pitchFamily="18" charset="0"/>
                              </a:rPr>
                            </m:ctrlPr>
                          </m:dPr>
                          <m:e>
                            <m:r>
                              <a:rPr lang="en-US" sz="2400" i="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𝑦</m:t>
                            </m:r>
                          </m:e>
                        </m:d>
                      </m:oMath>
                    </m:oMathPara>
                  </a14:m>
                  <a:endParaRPr lang="en-US" sz="2400" dirty="0">
                    <a:solidFill>
                      <a:schemeClr val="tx1"/>
                    </a:solidFill>
                  </a:endParaRPr>
                </a:p>
              </p:txBody>
            </p:sp>
          </mc:Choice>
          <mc:Fallback xmlns="">
            <p:sp>
              <p:nvSpPr>
                <p:cNvPr id="23" name="Rectangle 22">
                  <a:extLst>
                    <a:ext uri="{FF2B5EF4-FFF2-40B4-BE49-F238E27FC236}">
                      <a16:creationId xmlns:a16="http://schemas.microsoft.com/office/drawing/2014/main" id="{059D3198-79A1-FC45-82FD-A143AD94A89A}"/>
                    </a:ext>
                  </a:extLst>
                </p:cNvPr>
                <p:cNvSpPr>
                  <a:spLocks noRot="1" noChangeAspect="1" noMove="1" noResize="1" noEditPoints="1" noAdjustHandles="1" noChangeArrowheads="1" noChangeShapeType="1" noTextEdit="1"/>
                </p:cNvSpPr>
                <p:nvPr/>
              </p:nvSpPr>
              <p:spPr>
                <a:xfrm>
                  <a:off x="5559843" y="2961904"/>
                  <a:ext cx="5680658" cy="1032142"/>
                </a:xfrm>
                <a:prstGeom prst="rect">
                  <a:avLst/>
                </a:prstGeom>
                <a:blipFill>
                  <a:blip r:embed="rId7"/>
                  <a:stretch>
                    <a:fillRect t="-122892" r="-5134" b="-16626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D0F23379-EDA5-8C4A-8E95-53E82C05C141}"/>
                  </a:ext>
                </a:extLst>
              </p:cNvPr>
              <p:cNvSpPr/>
              <p:nvPr/>
            </p:nvSpPr>
            <p:spPr>
              <a:xfrm>
                <a:off x="1430909" y="4627423"/>
                <a:ext cx="10356425" cy="20347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1</m:t>
                      </m:r>
                      <m:r>
                        <a:rPr lang="en-US" sz="2800" i="0">
                          <a:latin typeface="Cambria Math" panose="02040503050406030204" pitchFamily="18" charset="0"/>
                        </a:rPr>
                        <m:t>+</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0">
                                  <a:latin typeface="Cambria Math" panose="02040503050406030204" pitchFamily="18" charset="0"/>
                                </a:rPr>
                                <m:t>−1</m:t>
                              </m:r>
                            </m:e>
                          </m:d>
                        </m:e>
                        <m:sup>
                          <m:r>
                            <a:rPr lang="en-US" sz="2800" i="1">
                              <a:latin typeface="Cambria Math" panose="02040503050406030204" pitchFamily="18" charset="0"/>
                            </a:rPr>
                            <m:t>𝑠</m:t>
                          </m:r>
                          <m:r>
                            <a:rPr lang="en-US" sz="2800" i="0">
                              <a:latin typeface="Cambria Math" panose="02040503050406030204" pitchFamily="18" charset="0"/>
                            </a:rPr>
                            <m:t>∙</m:t>
                          </m:r>
                          <m:r>
                            <a:rPr lang="en-US" sz="2800" i="1" smtClean="0">
                              <a:latin typeface="Cambria Math" panose="02040503050406030204" pitchFamily="18" charset="0"/>
                            </a:rPr>
                            <m:t>𝑦</m:t>
                          </m:r>
                        </m:sup>
                      </m:sSup>
                      <m:r>
                        <a:rPr lang="en-US" sz="2800" i="0">
                          <a:latin typeface="Cambria Math" panose="02040503050406030204" pitchFamily="18" charset="0"/>
                        </a:rPr>
                        <m:t>=</m:t>
                      </m:r>
                      <m:d>
                        <m:dPr>
                          <m:begChr m:val="{"/>
                          <m:endChr m:val=""/>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m>
                                  <m:mPr>
                                    <m:mcs>
                                      <m:mc>
                                        <m:mcPr>
                                          <m:count m:val="3"/>
                                          <m:mcJc m:val="center"/>
                                        </m:mcPr>
                                      </m:mc>
                                    </m:mcs>
                                    <m:ctrlPr>
                                      <a:rPr lang="en-US" sz="2800" i="1" smtClean="0">
                                        <a:latin typeface="Cambria Math" panose="02040503050406030204" pitchFamily="18" charset="0"/>
                                      </a:rPr>
                                    </m:ctrlPr>
                                  </m:mPr>
                                  <m:mr>
                                    <m:e>
                                      <m:r>
                                        <m:rPr>
                                          <m:brk m:alnAt="7"/>
                                        </m:rPr>
                                        <a:rPr lang="sr-Latn-RS" sz="2800" b="0" i="1" smtClean="0">
                                          <a:latin typeface="Cambria Math" panose="02040503050406030204" pitchFamily="18" charset="0"/>
                                        </a:rPr>
                                        <m:t>0</m:t>
                                      </m:r>
                                    </m:e>
                                    <m:e>
                                      <m:r>
                                        <m:rPr>
                                          <m:sty m:val="p"/>
                                        </m:rPr>
                                        <a:rPr lang="en-US" sz="2800" b="0" i="0" smtClean="0">
                                          <a:latin typeface="Cambria Math" panose="02040503050406030204" pitchFamily="18" charset="0"/>
                                        </a:rPr>
                                        <m:t>when</m:t>
                                      </m:r>
                                      <m:r>
                                        <a:rPr lang="en-US" sz="2800">
                                          <a:latin typeface="Cambria Math" panose="02040503050406030204" pitchFamily="18" charset="0"/>
                                        </a:rPr>
                                        <m:t> </m:t>
                                      </m:r>
                                      <m:r>
                                        <a:rPr lang="en-US" sz="2800" i="1">
                                          <a:latin typeface="Cambria Math" panose="02040503050406030204" pitchFamily="18" charset="0"/>
                                        </a:rPr>
                                        <m:t>𝑠</m:t>
                                      </m:r>
                                      <m:r>
                                        <a:rPr lang="en-US" sz="2800">
                                          <a:latin typeface="Cambria Math" panose="02040503050406030204" pitchFamily="18" charset="0"/>
                                        </a:rPr>
                                        <m:t>∙</m:t>
                                      </m:r>
                                      <m:r>
                                        <a:rPr lang="en-US" sz="2800" i="1">
                                          <a:latin typeface="Cambria Math" panose="02040503050406030204" pitchFamily="18" charset="0"/>
                                        </a:rPr>
                                        <m:t>𝑦</m:t>
                                      </m:r>
                                      <m:r>
                                        <a:rPr lang="en-US" sz="2800">
                                          <a:latin typeface="Cambria Math" panose="02040503050406030204" pitchFamily="18" charset="0"/>
                                        </a:rPr>
                                        <m:t>=1</m:t>
                                      </m:r>
                                    </m:e>
                                    <m:e/>
                                  </m:mr>
                                  <m:mr>
                                    <m:e>
                                      <m:r>
                                        <a:rPr lang="sr-Latn-RS" sz="2800" b="0" i="1" smtClean="0">
                                          <a:latin typeface="Cambria Math" panose="02040503050406030204" pitchFamily="18" charset="0"/>
                                        </a:rPr>
                                        <m:t>2</m:t>
                                      </m:r>
                                    </m:e>
                                    <m:e>
                                      <m:r>
                                        <m:rPr>
                                          <m:sty m:val="p"/>
                                        </m:rPr>
                                        <a:rPr lang="en-US" sz="2800" b="0" i="0" smtClean="0">
                                          <a:latin typeface="Cambria Math" panose="02040503050406030204" pitchFamily="18" charset="0"/>
                                        </a:rPr>
                                        <m:t>when</m:t>
                                      </m:r>
                                      <m:r>
                                        <a:rPr lang="en-US" sz="2800">
                                          <a:latin typeface="Cambria Math" panose="02040503050406030204" pitchFamily="18" charset="0"/>
                                        </a:rPr>
                                        <m:t> </m:t>
                                      </m:r>
                                      <m:r>
                                        <a:rPr lang="en-US" sz="2800" i="1">
                                          <a:latin typeface="Cambria Math" panose="02040503050406030204" pitchFamily="18" charset="0"/>
                                        </a:rPr>
                                        <m:t>𝑠</m:t>
                                      </m:r>
                                      <m:r>
                                        <a:rPr lang="en-US" sz="2800">
                                          <a:latin typeface="Cambria Math" panose="02040503050406030204" pitchFamily="18" charset="0"/>
                                        </a:rPr>
                                        <m:t>∙</m:t>
                                      </m:r>
                                      <m:r>
                                        <a:rPr lang="en-US" sz="2800" i="1">
                                          <a:latin typeface="Cambria Math" panose="02040503050406030204" pitchFamily="18" charset="0"/>
                                        </a:rPr>
                                        <m:t>𝑦</m:t>
                                      </m:r>
                                      <m:r>
                                        <a:rPr lang="en-US" sz="2800">
                                          <a:latin typeface="Cambria Math" panose="02040503050406030204" pitchFamily="18" charset="0"/>
                                        </a:rPr>
                                        <m:t>=0</m:t>
                                      </m:r>
                                    </m:e>
                                    <m:e>
                                      <m:r>
                                        <a:rPr lang="en-US" sz="2800" i="1" smtClean="0">
                                          <a:latin typeface="Cambria Math" panose="02040503050406030204" pitchFamily="18" charset="0"/>
                                          <a:ea typeface="Cambria Math" panose="02040503050406030204" pitchFamily="18" charset="0"/>
                                        </a:rPr>
                                        <m:t>⇒</m:t>
                                      </m:r>
                                      <m:f>
                                        <m:fPr>
                                          <m:ctrlPr>
                                            <a:rPr lang="en-ZA" sz="2800" i="1">
                                              <a:latin typeface="Cambria Math" panose="02040503050406030204" pitchFamily="18" charset="0"/>
                                            </a:rPr>
                                          </m:ctrlPr>
                                        </m:fPr>
                                        <m:num>
                                          <m:r>
                                            <a:rPr lang="sr-Latn-RS" sz="2800" i="1">
                                              <a:latin typeface="Cambria Math" panose="02040503050406030204" pitchFamily="18" charset="0"/>
                                            </a:rPr>
                                            <m:t>1</m:t>
                                          </m:r>
                                        </m:num>
                                        <m:den>
                                          <m:rad>
                                            <m:radPr>
                                              <m:degHide m:val="on"/>
                                              <m:ctrlPr>
                                                <a:rPr lang="en-ZA" sz="2800" i="1">
                                                  <a:latin typeface="Cambria Math" panose="02040503050406030204" pitchFamily="18" charset="0"/>
                                                </a:rPr>
                                              </m:ctrlPr>
                                            </m:radPr>
                                            <m:deg/>
                                            <m:e>
                                              <m:sSup>
                                                <m:sSupPr>
                                                  <m:ctrlPr>
                                                    <a:rPr lang="en-ZA" sz="2800" i="1">
                                                      <a:latin typeface="Cambria Math" panose="02040503050406030204" pitchFamily="18" charset="0"/>
                                                    </a:rPr>
                                                  </m:ctrlPr>
                                                </m:sSupPr>
                                                <m:e>
                                                  <m:r>
                                                    <a:rPr lang="sr-Latn-RS" sz="2800" i="1">
                                                      <a:latin typeface="Cambria Math" panose="02040503050406030204" pitchFamily="18" charset="0"/>
                                                    </a:rPr>
                                                    <m:t>2</m:t>
                                                  </m:r>
                                                </m:e>
                                                <m:sup>
                                                  <m:r>
                                                    <a:rPr lang="sr-Latn-RS" sz="2800" i="1">
                                                      <a:latin typeface="Cambria Math" panose="02040503050406030204" pitchFamily="18" charset="0"/>
                                                    </a:rPr>
                                                    <m:t>𝑛</m:t>
                                                  </m:r>
                                                  <m:r>
                                                    <a:rPr lang="sr-Latn-RS" sz="2800" i="1">
                                                      <a:latin typeface="Cambria Math" panose="02040503050406030204" pitchFamily="18" charset="0"/>
                                                    </a:rPr>
                                                    <m:t>−1</m:t>
                                                  </m:r>
                                                </m:sup>
                                              </m:sSup>
                                            </m:e>
                                          </m:rad>
                                        </m:den>
                                      </m:f>
                                      <m:nary>
                                        <m:naryPr>
                                          <m:chr m:val="∑"/>
                                          <m:limLoc m:val="undOvr"/>
                                          <m:supHide m:val="on"/>
                                          <m:ctrlPr>
                                            <a:rPr lang="en-ZA" sz="2800" i="1">
                                              <a:latin typeface="Cambria Math" panose="02040503050406030204" pitchFamily="18" charset="0"/>
                                            </a:rPr>
                                          </m:ctrlPr>
                                        </m:naryPr>
                                        <m:sub>
                                          <m:r>
                                            <a:rPr lang="sr-Latn-RS" sz="2800" i="1">
                                              <a:latin typeface="Cambria Math" panose="02040503050406030204" pitchFamily="18" charset="0"/>
                                            </a:rPr>
                                            <m:t>𝑠</m:t>
                                          </m:r>
                                          <m:r>
                                            <a:rPr lang="sr-Latn-RS" sz="2800" i="1">
                                              <a:latin typeface="Cambria Math" panose="02040503050406030204" pitchFamily="18" charset="0"/>
                                            </a:rPr>
                                            <m:t>∙</m:t>
                                          </m:r>
                                          <m:r>
                                            <a:rPr lang="sr-Latn-RS" sz="2800" i="1">
                                              <a:latin typeface="Cambria Math" panose="02040503050406030204" pitchFamily="18" charset="0"/>
                                            </a:rPr>
                                            <m:t>𝑦</m:t>
                                          </m:r>
                                          <m:r>
                                            <a:rPr lang="sr-Latn-RS" sz="2800" i="1">
                                              <a:latin typeface="Cambria Math" panose="02040503050406030204" pitchFamily="18" charset="0"/>
                                            </a:rPr>
                                            <m:t>=0</m:t>
                                          </m:r>
                                        </m:sub>
                                        <m:sup/>
                                        <m:e>
                                          <m:sSup>
                                            <m:sSupPr>
                                              <m:ctrlPr>
                                                <a:rPr lang="en-ZA" sz="2800" i="1">
                                                  <a:latin typeface="Cambria Math" panose="02040503050406030204" pitchFamily="18" charset="0"/>
                                                </a:rPr>
                                              </m:ctrlPr>
                                            </m:sSupPr>
                                            <m:e>
                                              <m:d>
                                                <m:dPr>
                                                  <m:ctrlPr>
                                                    <a:rPr lang="en-ZA" sz="2800" i="1">
                                                      <a:latin typeface="Cambria Math" panose="02040503050406030204" pitchFamily="18" charset="0"/>
                                                    </a:rPr>
                                                  </m:ctrlPr>
                                                </m:dPr>
                                                <m:e>
                                                  <m:r>
                                                    <a:rPr lang="sr-Latn-RS" sz="2800" i="1">
                                                      <a:latin typeface="Cambria Math" panose="02040503050406030204" pitchFamily="18" charset="0"/>
                                                    </a:rPr>
                                                    <m:t>−1</m:t>
                                                  </m:r>
                                                </m:e>
                                              </m:d>
                                            </m:e>
                                            <m:sup>
                                              <m:sSub>
                                                <m:sSubPr>
                                                  <m:ctrlPr>
                                                    <a:rPr lang="en-ZA" sz="2800" i="1">
                                                      <a:latin typeface="Cambria Math" panose="02040503050406030204" pitchFamily="18" charset="0"/>
                                                    </a:rPr>
                                                  </m:ctrlPr>
                                                </m:sSubPr>
                                                <m:e>
                                                  <m:r>
                                                    <a:rPr lang="sr-Latn-RS" sz="2800" i="1">
                                                      <a:latin typeface="Cambria Math" panose="02040503050406030204" pitchFamily="18" charset="0"/>
                                                    </a:rPr>
                                                    <m:t>𝑥</m:t>
                                                  </m:r>
                                                </m:e>
                                                <m:sub>
                                                  <m:r>
                                                    <a:rPr lang="sr-Latn-RS" sz="2800" i="1">
                                                      <a:latin typeface="Cambria Math" panose="02040503050406030204" pitchFamily="18" charset="0"/>
                                                    </a:rPr>
                                                    <m:t>0</m:t>
                                                  </m:r>
                                                </m:sub>
                                              </m:sSub>
                                              <m:r>
                                                <a:rPr lang="sr-Latn-RS" sz="2800" i="1">
                                                  <a:latin typeface="Cambria Math" panose="02040503050406030204" pitchFamily="18" charset="0"/>
                                                </a:rPr>
                                                <m:t>∙</m:t>
                                              </m:r>
                                              <m:r>
                                                <a:rPr lang="sr-Latn-RS" sz="2800" i="1">
                                                  <a:latin typeface="Cambria Math" panose="02040503050406030204" pitchFamily="18" charset="0"/>
                                                </a:rPr>
                                                <m:t>𝑦</m:t>
                                              </m:r>
                                            </m:sup>
                                          </m:sSup>
                                        </m:e>
                                      </m:nary>
                                      <m:d>
                                        <m:dPr>
                                          <m:begChr m:val=""/>
                                          <m:endChr m:val="⟩"/>
                                          <m:ctrlPr>
                                            <a:rPr lang="en-ZA" sz="2800" i="1">
                                              <a:latin typeface="Cambria Math" panose="02040503050406030204" pitchFamily="18" charset="0"/>
                                            </a:rPr>
                                          </m:ctrlPr>
                                        </m:dPr>
                                        <m:e>
                                          <m:r>
                                            <a:rPr lang="sr-Latn-RS" sz="2800" i="1">
                                              <a:latin typeface="Cambria Math" panose="02040503050406030204" pitchFamily="18" charset="0"/>
                                            </a:rPr>
                                            <m:t>|</m:t>
                                          </m:r>
                                          <m:r>
                                            <a:rPr lang="sr-Latn-RS" sz="2800" i="1">
                                              <a:latin typeface="Cambria Math" panose="02040503050406030204" pitchFamily="18" charset="0"/>
                                            </a:rPr>
                                            <m:t>𝑦</m:t>
                                          </m:r>
                                        </m:e>
                                      </m:d>
                                    </m:e>
                                  </m:mr>
                                </m:m>
                              </m:e>
                              <m:e/>
                            </m:mr>
                            <m:mr>
                              <m:e/>
                              <m:e/>
                            </m:mr>
                          </m:m>
                        </m:e>
                      </m:d>
                    </m:oMath>
                  </m:oMathPara>
                </a14:m>
                <a:endParaRPr lang="en-US" sz="2800" dirty="0"/>
              </a:p>
            </p:txBody>
          </p:sp>
        </mc:Choice>
        <mc:Fallback xmlns="">
          <p:sp>
            <p:nvSpPr>
              <p:cNvPr id="31" name="Rectangle 30">
                <a:extLst>
                  <a:ext uri="{FF2B5EF4-FFF2-40B4-BE49-F238E27FC236}">
                    <a16:creationId xmlns:a16="http://schemas.microsoft.com/office/drawing/2014/main" id="{D0F23379-EDA5-8C4A-8E95-53E82C05C141}"/>
                  </a:ext>
                </a:extLst>
              </p:cNvPr>
              <p:cNvSpPr>
                <a:spLocks noRot="1" noChangeAspect="1" noMove="1" noResize="1" noEditPoints="1" noAdjustHandles="1" noChangeArrowheads="1" noChangeShapeType="1" noTextEdit="1"/>
              </p:cNvSpPr>
              <p:nvPr/>
            </p:nvSpPr>
            <p:spPr>
              <a:xfrm>
                <a:off x="1430909" y="4627423"/>
                <a:ext cx="10356425" cy="2034788"/>
              </a:xfrm>
              <a:prstGeom prst="rect">
                <a:avLst/>
              </a:prstGeom>
              <a:blipFill>
                <a:blip r:embed="rId8"/>
                <a:stretch>
                  <a:fillRect t="-43210" b="-86420"/>
                </a:stretch>
              </a:blipFill>
            </p:spPr>
            <p:txBody>
              <a:bodyPr/>
              <a:lstStyle/>
              <a:p>
                <a:r>
                  <a:rPr lang="en-US">
                    <a:noFill/>
                  </a:rPr>
                  <a:t> </a:t>
                </a:r>
              </a:p>
            </p:txBody>
          </p:sp>
        </mc:Fallback>
      </mc:AlternateContent>
    </p:spTree>
    <p:extLst>
      <p:ext uri="{BB962C8B-B14F-4D97-AF65-F5344CB8AC3E}">
        <p14:creationId xmlns:p14="http://schemas.microsoft.com/office/powerpoint/2010/main" val="3054126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dissolv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dissolv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3670C-7D5B-F549-BEBE-1554BD4723EB}"/>
              </a:ext>
            </a:extLst>
          </p:cNvPr>
          <p:cNvSpPr>
            <a:spLocks noGrp="1"/>
          </p:cNvSpPr>
          <p:nvPr>
            <p:ph type="title"/>
          </p:nvPr>
        </p:nvSpPr>
        <p:spPr/>
        <p:txBody>
          <a:bodyPr/>
          <a:lstStyle/>
          <a:p>
            <a:r>
              <a:rPr lang="en-ZA" dirty="0"/>
              <a:t>Simon’s Algorithm: Classical Part</a:t>
            </a:r>
            <a:endParaRPr lang="en-US" dirty="0"/>
          </a:p>
        </p:txBody>
      </p:sp>
      <p:sp>
        <p:nvSpPr>
          <p:cNvPr id="3" name="Slide Number Placeholder 2">
            <a:extLst>
              <a:ext uri="{FF2B5EF4-FFF2-40B4-BE49-F238E27FC236}">
                <a16:creationId xmlns:a16="http://schemas.microsoft.com/office/drawing/2014/main" id="{F32252EC-A902-2C4E-9EA1-053B46756389}"/>
              </a:ext>
            </a:extLst>
          </p:cNvPr>
          <p:cNvSpPr>
            <a:spLocks noGrp="1"/>
          </p:cNvSpPr>
          <p:nvPr>
            <p:ph type="sldNum" sz="quarter" idx="12"/>
          </p:nvPr>
        </p:nvSpPr>
        <p:spPr/>
        <p:txBody>
          <a:bodyPr/>
          <a:lstStyle/>
          <a:p>
            <a:fld id="{591A223C-FA10-BC46-A853-03BA373D023C}" type="slidenum">
              <a:rPr lang="en-US" smtClean="0"/>
              <a:t>37</a:t>
            </a:fld>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EF88BBE-92D4-C44D-8EDB-EDC89F843EE7}"/>
                  </a:ext>
                </a:extLst>
              </p:cNvPr>
              <p:cNvSpPr/>
              <p:nvPr/>
            </p:nvSpPr>
            <p:spPr>
              <a:xfrm>
                <a:off x="340639" y="1246422"/>
                <a:ext cx="3326488" cy="10297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ZA" sz="2400" i="1">
                              <a:latin typeface="Cambria Math" panose="02040503050406030204" pitchFamily="18" charset="0"/>
                            </a:rPr>
                          </m:ctrlPr>
                        </m:fPr>
                        <m:num>
                          <m:r>
                            <a:rPr lang="sr-Latn-RS" sz="2400" i="1">
                              <a:latin typeface="Cambria Math" panose="02040503050406030204" pitchFamily="18" charset="0"/>
                            </a:rPr>
                            <m:t>1</m:t>
                          </m:r>
                        </m:num>
                        <m:den>
                          <m:rad>
                            <m:radPr>
                              <m:degHide m:val="on"/>
                              <m:ctrlPr>
                                <a:rPr lang="en-ZA" sz="2400" i="1">
                                  <a:latin typeface="Cambria Math" panose="02040503050406030204" pitchFamily="18" charset="0"/>
                                </a:rPr>
                              </m:ctrlPr>
                            </m:radPr>
                            <m:deg/>
                            <m:e>
                              <m:sSup>
                                <m:sSupPr>
                                  <m:ctrlPr>
                                    <a:rPr lang="en-ZA" sz="2400" i="1">
                                      <a:latin typeface="Cambria Math" panose="02040503050406030204" pitchFamily="18" charset="0"/>
                                    </a:rPr>
                                  </m:ctrlPr>
                                </m:sSupPr>
                                <m:e>
                                  <m:r>
                                    <a:rPr lang="sr-Latn-RS" sz="2400" i="1">
                                      <a:latin typeface="Cambria Math" panose="02040503050406030204" pitchFamily="18" charset="0"/>
                                    </a:rPr>
                                    <m:t>2</m:t>
                                  </m:r>
                                </m:e>
                                <m:sup>
                                  <m:r>
                                    <a:rPr lang="sr-Latn-RS" sz="2400" i="1">
                                      <a:latin typeface="Cambria Math" panose="02040503050406030204" pitchFamily="18" charset="0"/>
                                    </a:rPr>
                                    <m:t>𝑛</m:t>
                                  </m:r>
                                  <m:r>
                                    <a:rPr lang="sr-Latn-RS" sz="2400" i="1">
                                      <a:latin typeface="Cambria Math" panose="02040503050406030204" pitchFamily="18" charset="0"/>
                                    </a:rPr>
                                    <m:t>−1</m:t>
                                  </m:r>
                                </m:sup>
                              </m:sSup>
                            </m:e>
                          </m:rad>
                        </m:den>
                      </m:f>
                      <m:nary>
                        <m:naryPr>
                          <m:chr m:val="∑"/>
                          <m:limLoc m:val="undOvr"/>
                          <m:supHide m:val="on"/>
                          <m:ctrlPr>
                            <a:rPr lang="en-ZA" sz="2400" i="1">
                              <a:latin typeface="Cambria Math" panose="02040503050406030204" pitchFamily="18" charset="0"/>
                            </a:rPr>
                          </m:ctrlPr>
                        </m:naryPr>
                        <m:sub>
                          <m:r>
                            <a:rPr lang="sr-Latn-RS" sz="2400" i="1">
                              <a:latin typeface="Cambria Math" panose="02040503050406030204" pitchFamily="18" charset="0"/>
                            </a:rPr>
                            <m:t>𝑠</m:t>
                          </m:r>
                          <m:r>
                            <a:rPr lang="sr-Latn-RS" sz="2400" i="1">
                              <a:latin typeface="Cambria Math" panose="02040503050406030204" pitchFamily="18" charset="0"/>
                            </a:rPr>
                            <m:t>∙</m:t>
                          </m:r>
                          <m:r>
                            <a:rPr lang="sr-Latn-RS" sz="2400" i="1">
                              <a:latin typeface="Cambria Math" panose="02040503050406030204" pitchFamily="18" charset="0"/>
                            </a:rPr>
                            <m:t>𝑦</m:t>
                          </m:r>
                          <m:r>
                            <a:rPr lang="sr-Latn-RS" sz="2400" i="1">
                              <a:latin typeface="Cambria Math" panose="02040503050406030204" pitchFamily="18" charset="0"/>
                            </a:rPr>
                            <m:t>=0</m:t>
                          </m:r>
                        </m:sub>
                        <m:sup/>
                        <m:e>
                          <m:sSup>
                            <m:sSupPr>
                              <m:ctrlPr>
                                <a:rPr lang="en-ZA" sz="2400" i="1">
                                  <a:latin typeface="Cambria Math" panose="02040503050406030204" pitchFamily="18" charset="0"/>
                                </a:rPr>
                              </m:ctrlPr>
                            </m:sSupPr>
                            <m:e>
                              <m:d>
                                <m:dPr>
                                  <m:ctrlPr>
                                    <a:rPr lang="en-ZA" sz="2400" i="1">
                                      <a:latin typeface="Cambria Math" panose="02040503050406030204" pitchFamily="18" charset="0"/>
                                    </a:rPr>
                                  </m:ctrlPr>
                                </m:dPr>
                                <m:e>
                                  <m:r>
                                    <a:rPr lang="sr-Latn-RS" sz="2400" i="1">
                                      <a:latin typeface="Cambria Math" panose="02040503050406030204" pitchFamily="18" charset="0"/>
                                    </a:rPr>
                                    <m:t>−1</m:t>
                                  </m:r>
                                </m:e>
                              </m:d>
                            </m:e>
                            <m:sup>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0</m:t>
                                  </m:r>
                                </m:sub>
                              </m:sSub>
                              <m:r>
                                <a:rPr lang="sr-Latn-RS" sz="2400" i="1">
                                  <a:latin typeface="Cambria Math" panose="02040503050406030204" pitchFamily="18" charset="0"/>
                                </a:rPr>
                                <m:t>∙</m:t>
                              </m:r>
                              <m:r>
                                <a:rPr lang="sr-Latn-RS" sz="2400" i="1">
                                  <a:latin typeface="Cambria Math" panose="02040503050406030204" pitchFamily="18" charset="0"/>
                                </a:rPr>
                                <m:t>𝑦</m:t>
                              </m:r>
                            </m:sup>
                          </m:sSup>
                        </m:e>
                      </m:nary>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m:t>
                          </m:r>
                          <m:r>
                            <a:rPr lang="sr-Latn-RS" sz="2400" i="1">
                              <a:latin typeface="Cambria Math" panose="02040503050406030204" pitchFamily="18" charset="0"/>
                            </a:rPr>
                            <m:t>𝑦</m:t>
                          </m:r>
                        </m:e>
                      </m:d>
                    </m:oMath>
                  </m:oMathPara>
                </a14:m>
                <a:endParaRPr lang="en-US" sz="2400" dirty="0"/>
              </a:p>
            </p:txBody>
          </p:sp>
        </mc:Choice>
        <mc:Fallback xmlns="">
          <p:sp>
            <p:nvSpPr>
              <p:cNvPr id="5" name="Rectangle 4">
                <a:extLst>
                  <a:ext uri="{FF2B5EF4-FFF2-40B4-BE49-F238E27FC236}">
                    <a16:creationId xmlns:a16="http://schemas.microsoft.com/office/drawing/2014/main" id="{DEF88BBE-92D4-C44D-8EDB-EDC89F843EE7}"/>
                  </a:ext>
                </a:extLst>
              </p:cNvPr>
              <p:cNvSpPr>
                <a:spLocks noRot="1" noChangeAspect="1" noMove="1" noResize="1" noEditPoints="1" noAdjustHandles="1" noChangeArrowheads="1" noChangeShapeType="1" noTextEdit="1"/>
              </p:cNvSpPr>
              <p:nvPr/>
            </p:nvSpPr>
            <p:spPr>
              <a:xfrm>
                <a:off x="340639" y="1246422"/>
                <a:ext cx="3326488" cy="1029769"/>
              </a:xfrm>
              <a:prstGeom prst="rect">
                <a:avLst/>
              </a:prstGeom>
              <a:blipFill>
                <a:blip r:embed="rId3"/>
                <a:stretch>
                  <a:fillRect l="-1521" t="-123171" r="-9125" b="-168293"/>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D10FE0C6-22A9-9841-A05D-4E0C3ED1C1C9}"/>
              </a:ext>
            </a:extLst>
          </p:cNvPr>
          <p:cNvCxnSpPr>
            <a:cxnSpLocks/>
            <a:endCxn id="13" idx="1"/>
          </p:cNvCxnSpPr>
          <p:nvPr/>
        </p:nvCxnSpPr>
        <p:spPr>
          <a:xfrm flipV="1">
            <a:off x="213489" y="2264190"/>
            <a:ext cx="453235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328175EB-8DCB-434D-9C4C-85AD27D43B6A}"/>
              </a:ext>
            </a:extLst>
          </p:cNvPr>
          <p:cNvGrpSpPr/>
          <p:nvPr/>
        </p:nvGrpSpPr>
        <p:grpSpPr>
          <a:xfrm>
            <a:off x="3748407" y="1908756"/>
            <a:ext cx="720000" cy="827876"/>
            <a:chOff x="3031963" y="4776710"/>
            <a:chExt cx="720000" cy="827876"/>
          </a:xfrm>
        </p:grpSpPr>
        <p:sp>
          <p:nvSpPr>
            <p:cNvPr id="9" name="Rectangle 8">
              <a:extLst>
                <a:ext uri="{FF2B5EF4-FFF2-40B4-BE49-F238E27FC236}">
                  <a16:creationId xmlns:a16="http://schemas.microsoft.com/office/drawing/2014/main" id="{CBB5C55B-21C0-7345-89BB-E5FA5F30F07C}"/>
                </a:ext>
              </a:extLst>
            </p:cNvPr>
            <p:cNvSpPr/>
            <p:nvPr/>
          </p:nvSpPr>
          <p:spPr>
            <a:xfrm>
              <a:off x="3031963" y="4776710"/>
              <a:ext cx="720000" cy="720000"/>
            </a:xfrm>
            <a:prstGeom prst="rect">
              <a:avLst/>
            </a:prstGeom>
            <a:solidFill>
              <a:schemeClr val="bg1">
                <a:lumMod val="8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latin typeface="Times" pitchFamily="2" charset="0"/>
              </a:endParaRPr>
            </a:p>
          </p:txBody>
        </p:sp>
        <p:sp>
          <p:nvSpPr>
            <p:cNvPr id="10" name="Arc 9">
              <a:extLst>
                <a:ext uri="{FF2B5EF4-FFF2-40B4-BE49-F238E27FC236}">
                  <a16:creationId xmlns:a16="http://schemas.microsoft.com/office/drawing/2014/main" id="{FB15727E-D054-D642-B02B-7D61D71572E7}"/>
                </a:ext>
              </a:extLst>
            </p:cNvPr>
            <p:cNvSpPr/>
            <p:nvPr/>
          </p:nvSpPr>
          <p:spPr>
            <a:xfrm>
              <a:off x="3106209" y="5022654"/>
              <a:ext cx="554881" cy="581932"/>
            </a:xfrm>
            <a:prstGeom prst="arc">
              <a:avLst>
                <a:gd name="adj1" fmla="val 10614695"/>
                <a:gd name="adj2" fmla="val 0"/>
              </a:avLst>
            </a:prstGeom>
            <a:ln w="2540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3F8B15D9-D831-E145-8383-DB8507443D15}"/>
                </a:ext>
              </a:extLst>
            </p:cNvPr>
            <p:cNvCxnSpPr>
              <a:cxnSpLocks/>
            </p:cNvCxnSpPr>
            <p:nvPr/>
          </p:nvCxnSpPr>
          <p:spPr>
            <a:xfrm flipV="1">
              <a:off x="3383650" y="4901311"/>
              <a:ext cx="140906" cy="410242"/>
            </a:xfrm>
            <a:prstGeom prst="straightConnector1">
              <a:avLst/>
            </a:prstGeom>
            <a:ln w="25400" cap="rnd">
              <a:solidFill>
                <a:schemeClr val="tx1">
                  <a:lumMod val="65000"/>
                  <a:lumOff val="35000"/>
                </a:schemeClr>
              </a:solidFill>
              <a:headEnd type="oval" w="sm" len="sm"/>
              <a:tailEnd type="non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E253666E-95F1-EC4A-8F50-ECEDBAF33E6A}"/>
              </a:ext>
            </a:extLst>
          </p:cNvPr>
          <p:cNvGrpSpPr/>
          <p:nvPr/>
        </p:nvGrpSpPr>
        <p:grpSpPr>
          <a:xfrm>
            <a:off x="4745848" y="1512540"/>
            <a:ext cx="6918985" cy="1569137"/>
            <a:chOff x="4745848" y="1512540"/>
            <a:chExt cx="6918985" cy="1569137"/>
          </a:xfrm>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694E12EF-87BC-4546-8E6B-EB03ED7FBA95}"/>
                    </a:ext>
                  </a:extLst>
                </p:cNvPr>
                <p:cNvSpPr/>
                <p:nvPr/>
              </p:nvSpPr>
              <p:spPr>
                <a:xfrm>
                  <a:off x="4745848" y="2033357"/>
                  <a:ext cx="1867884" cy="461665"/>
                </a:xfrm>
                <a:prstGeom prst="rect">
                  <a:avLst/>
                </a:prstGeom>
              </p:spPr>
              <p:txBody>
                <a:bodyPr wrap="none">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𝑦</m:t>
                          </m:r>
                        </m:e>
                        <m:sub>
                          <m:r>
                            <a:rPr lang="en-US" sz="2400" i="0">
                              <a:latin typeface="Cambria Math" panose="02040503050406030204" pitchFamily="18" charset="0"/>
                            </a:rPr>
                            <m:t>1</m:t>
                          </m:r>
                        </m:sub>
                      </m:sSub>
                      <m:r>
                        <a:rPr lang="sr-Latn-RS" sz="2400" b="0" i="1" smtClean="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sr-Latn-RS" sz="2400" b="0" i="0" smtClean="0">
                              <a:latin typeface="Cambria Math" panose="02040503050406030204" pitchFamily="18" charset="0"/>
                            </a:rPr>
                            <m:t>2</m:t>
                          </m:r>
                        </m:sub>
                      </m:sSub>
                    </m:oMath>
                  </a14:m>
                  <a:r>
                    <a:rPr lang="en-US" sz="2400" dirty="0"/>
                    <a:t>, . . .,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sr-Latn-RS" sz="2400" b="0" i="1" smtClean="0">
                              <a:latin typeface="Cambria Math" panose="02040503050406030204" pitchFamily="18" charset="0"/>
                            </a:rPr>
                            <m:t>𝑘</m:t>
                          </m:r>
                        </m:sub>
                      </m:sSub>
                    </m:oMath>
                  </a14:m>
                  <a:endParaRPr lang="en-US" sz="2400" dirty="0"/>
                </a:p>
              </p:txBody>
            </p:sp>
          </mc:Choice>
          <mc:Fallback xmlns="">
            <p:sp>
              <p:nvSpPr>
                <p:cNvPr id="13" name="Rectangle 12">
                  <a:extLst>
                    <a:ext uri="{FF2B5EF4-FFF2-40B4-BE49-F238E27FC236}">
                      <a16:creationId xmlns:a16="http://schemas.microsoft.com/office/drawing/2014/main" id="{694E12EF-87BC-4546-8E6B-EB03ED7FBA95}"/>
                    </a:ext>
                  </a:extLst>
                </p:cNvPr>
                <p:cNvSpPr>
                  <a:spLocks noRot="1" noChangeAspect="1" noMove="1" noResize="1" noEditPoints="1" noAdjustHandles="1" noChangeArrowheads="1" noChangeShapeType="1" noTextEdit="1"/>
                </p:cNvSpPr>
                <p:nvPr/>
              </p:nvSpPr>
              <p:spPr>
                <a:xfrm>
                  <a:off x="4745848" y="2033357"/>
                  <a:ext cx="1867884" cy="461665"/>
                </a:xfrm>
                <a:prstGeom prst="rect">
                  <a:avLst/>
                </a:prstGeom>
                <a:blipFill>
                  <a:blip r:embed="rId4"/>
                  <a:stretch>
                    <a:fillRect l="-676" t="-5405"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65BF8C0F-9087-F845-8375-79973C6CE657}"/>
                    </a:ext>
                  </a:extLst>
                </p:cNvPr>
                <p:cNvSpPr/>
                <p:nvPr/>
              </p:nvSpPr>
              <p:spPr>
                <a:xfrm>
                  <a:off x="7667698" y="2033357"/>
                  <a:ext cx="137281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𝑦</m:t>
                        </m:r>
                        <m:r>
                          <a:rPr lang="sr-Latn-RS" sz="2400" i="1">
                            <a:latin typeface="Cambria Math" panose="02040503050406030204" pitchFamily="18" charset="0"/>
                          </a:rPr>
                          <m:t>∙</m:t>
                        </m:r>
                        <m:r>
                          <a:rPr lang="sr-Latn-RS" sz="2400" b="0" i="1" smtClean="0">
                            <a:latin typeface="Cambria Math" panose="02040503050406030204" pitchFamily="18" charset="0"/>
                          </a:rPr>
                          <m:t>𝑠</m:t>
                        </m:r>
                        <m:r>
                          <a:rPr lang="sr-Latn-RS" sz="2400" i="1">
                            <a:latin typeface="Cambria Math" panose="02040503050406030204" pitchFamily="18" charset="0"/>
                          </a:rPr>
                          <m:t>=0</m:t>
                        </m:r>
                      </m:oMath>
                    </m:oMathPara>
                  </a14:m>
                  <a:endParaRPr lang="en-US" sz="2400" dirty="0"/>
                </a:p>
              </p:txBody>
            </p:sp>
          </mc:Choice>
          <mc:Fallback xmlns="">
            <p:sp>
              <p:nvSpPr>
                <p:cNvPr id="14" name="Rectangle 13">
                  <a:extLst>
                    <a:ext uri="{FF2B5EF4-FFF2-40B4-BE49-F238E27FC236}">
                      <a16:creationId xmlns:a16="http://schemas.microsoft.com/office/drawing/2014/main" id="{65BF8C0F-9087-F845-8375-79973C6CE657}"/>
                    </a:ext>
                  </a:extLst>
                </p:cNvPr>
                <p:cNvSpPr>
                  <a:spLocks noRot="1" noChangeAspect="1" noMove="1" noResize="1" noEditPoints="1" noAdjustHandles="1" noChangeArrowheads="1" noChangeShapeType="1" noTextEdit="1"/>
                </p:cNvSpPr>
                <p:nvPr/>
              </p:nvSpPr>
              <p:spPr>
                <a:xfrm>
                  <a:off x="7667698" y="2033357"/>
                  <a:ext cx="1372812" cy="461665"/>
                </a:xfrm>
                <a:prstGeom prst="rect">
                  <a:avLst/>
                </a:prstGeom>
                <a:blipFill>
                  <a:blip r:embed="rId5"/>
                  <a:stretch>
                    <a:fillRect b="-10811"/>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DEAD1B75-C194-BD40-AD24-3A45E98C0A5F}"/>
                </a:ext>
              </a:extLst>
            </p:cNvPr>
            <p:cNvSpPr txBox="1"/>
            <p:nvPr/>
          </p:nvSpPr>
          <p:spPr>
            <a:xfrm>
              <a:off x="6826351" y="2047868"/>
              <a:ext cx="542071" cy="461665"/>
            </a:xfrm>
            <a:prstGeom prst="rect">
              <a:avLst/>
            </a:prstGeom>
            <a:noFill/>
          </p:spPr>
          <p:txBody>
            <a:bodyPr wrap="none" rtlCol="0">
              <a:spAutoFit/>
            </a:bodyPr>
            <a:lstStyle/>
            <a:p>
              <a:r>
                <a:rPr lang="en-US" sz="2400" dirty="0"/>
                <a:t>for</a:t>
              </a:r>
            </a:p>
          </p:txBody>
        </p:sp>
        <p:sp>
          <p:nvSpPr>
            <p:cNvPr id="16" name="TextBox 15">
              <a:extLst>
                <a:ext uri="{FF2B5EF4-FFF2-40B4-BE49-F238E27FC236}">
                  <a16:creationId xmlns:a16="http://schemas.microsoft.com/office/drawing/2014/main" id="{9F425FDA-A3C7-F04B-9C70-2B209C6CBA72}"/>
                </a:ext>
              </a:extLst>
            </p:cNvPr>
            <p:cNvSpPr txBox="1"/>
            <p:nvPr/>
          </p:nvSpPr>
          <p:spPr>
            <a:xfrm>
              <a:off x="8979523" y="2033357"/>
              <a:ext cx="810030" cy="461665"/>
            </a:xfrm>
            <a:prstGeom prst="rect">
              <a:avLst/>
            </a:prstGeom>
            <a:noFill/>
          </p:spPr>
          <p:txBody>
            <a:bodyPr wrap="none" rtlCol="0">
              <a:spAutoFit/>
            </a:bodyPr>
            <a:lstStyle/>
            <a:p>
              <a:r>
                <a:rPr lang="en-US" sz="2400" dirty="0"/>
                <a:t>gives</a:t>
              </a:r>
            </a:p>
          </p:txBody>
        </p: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635B44D-C1EB-E349-A14C-08D01A08FBD8}"/>
                    </a:ext>
                  </a:extLst>
                </p:cNvPr>
                <p:cNvSpPr/>
                <p:nvPr/>
              </p:nvSpPr>
              <p:spPr>
                <a:xfrm>
                  <a:off x="10150957" y="1512540"/>
                  <a:ext cx="1513876" cy="15032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0">
                                      <a:latin typeface="Cambria Math" panose="02040503050406030204" pitchFamily="18" charset="0"/>
                                    </a:rPr>
                                    <m:t>1</m:t>
                                  </m:r>
                                </m:sub>
                              </m:sSub>
                              <m:r>
                                <a:rPr lang="en-US" sz="2400" i="0">
                                  <a:latin typeface="Cambria Math" panose="02040503050406030204" pitchFamily="18" charset="0"/>
                                </a:rPr>
                                <m:t>∙</m:t>
                              </m:r>
                              <m:r>
                                <a:rPr lang="en-US" sz="2400" i="1">
                                  <a:latin typeface="Cambria Math" panose="02040503050406030204" pitchFamily="18" charset="0"/>
                                </a:rPr>
                                <m:t>𝑠</m:t>
                              </m:r>
                              <m:r>
                                <a:rPr lang="en-US" sz="2400" i="0">
                                  <a:latin typeface="Cambria Math" panose="02040503050406030204" pitchFamily="18" charset="0"/>
                                </a:rPr>
                                <m:t>=0</m:t>
                              </m:r>
                            </m:e>
                          </m:mr>
                          <m:mr>
                            <m:e>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0">
                                      <a:latin typeface="Cambria Math" panose="02040503050406030204" pitchFamily="18" charset="0"/>
                                    </a:rPr>
                                    <m:t>2</m:t>
                                  </m:r>
                                </m:sub>
                              </m:sSub>
                              <m:r>
                                <a:rPr lang="en-US" sz="2400" i="0">
                                  <a:latin typeface="Cambria Math" panose="02040503050406030204" pitchFamily="18" charset="0"/>
                                </a:rPr>
                                <m:t>∙</m:t>
                              </m:r>
                              <m:r>
                                <a:rPr lang="en-US" sz="2400" i="1">
                                  <a:latin typeface="Cambria Math" panose="02040503050406030204" pitchFamily="18" charset="0"/>
                                </a:rPr>
                                <m:t>𝑠</m:t>
                              </m:r>
                              <m:r>
                                <a:rPr lang="en-US" sz="2400" i="0">
                                  <a:latin typeface="Cambria Math" panose="02040503050406030204" pitchFamily="18" charset="0"/>
                                </a:rPr>
                                <m:t>=0</m:t>
                              </m:r>
                            </m:e>
                          </m:mr>
                          <m:mr>
                            <m:e>
                              <m:r>
                                <a:rPr lang="en-US" sz="2400" i="0">
                                  <a:latin typeface="Cambria Math" panose="02040503050406030204" pitchFamily="18" charset="0"/>
                                </a:rPr>
                                <m:t>⋮</m:t>
                              </m:r>
                            </m:e>
                          </m:mr>
                          <m:mr>
                            <m:e>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𝑘</m:t>
                                  </m:r>
                                </m:sub>
                              </m:sSub>
                              <m:r>
                                <a:rPr lang="en-US" sz="2400" i="0">
                                  <a:latin typeface="Cambria Math" panose="02040503050406030204" pitchFamily="18" charset="0"/>
                                </a:rPr>
                                <m:t>∙</m:t>
                              </m:r>
                              <m:r>
                                <a:rPr lang="en-US" sz="2400" i="1">
                                  <a:latin typeface="Cambria Math" panose="02040503050406030204" pitchFamily="18" charset="0"/>
                                </a:rPr>
                                <m:t>𝑠</m:t>
                              </m:r>
                              <m:r>
                                <a:rPr lang="en-US" sz="2400" i="0">
                                  <a:latin typeface="Cambria Math" panose="02040503050406030204" pitchFamily="18" charset="0"/>
                                </a:rPr>
                                <m:t>=0</m:t>
                              </m:r>
                            </m:e>
                          </m:mr>
                        </m:m>
                      </m:oMath>
                    </m:oMathPara>
                  </a14:m>
                  <a:endParaRPr lang="en-US" sz="2400" dirty="0"/>
                </a:p>
              </p:txBody>
            </p:sp>
          </mc:Choice>
          <mc:Fallback xmlns="">
            <p:sp>
              <p:nvSpPr>
                <p:cNvPr id="17" name="Rectangle 16">
                  <a:extLst>
                    <a:ext uri="{FF2B5EF4-FFF2-40B4-BE49-F238E27FC236}">
                      <a16:creationId xmlns:a16="http://schemas.microsoft.com/office/drawing/2014/main" id="{0635B44D-C1EB-E349-A14C-08D01A08FBD8}"/>
                    </a:ext>
                  </a:extLst>
                </p:cNvPr>
                <p:cNvSpPr>
                  <a:spLocks noRot="1" noChangeAspect="1" noMove="1" noResize="1" noEditPoints="1" noAdjustHandles="1" noChangeArrowheads="1" noChangeShapeType="1" noTextEdit="1"/>
                </p:cNvSpPr>
                <p:nvPr/>
              </p:nvSpPr>
              <p:spPr>
                <a:xfrm>
                  <a:off x="10150957" y="1512540"/>
                  <a:ext cx="1513876" cy="1503297"/>
                </a:xfrm>
                <a:prstGeom prst="rect">
                  <a:avLst/>
                </a:prstGeom>
                <a:blipFill>
                  <a:blip r:embed="rId6"/>
                  <a:stretch>
                    <a:fillRect b="-33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9E1E4667-32F2-C04B-8954-AA0CA7892D82}"/>
                    </a:ext>
                  </a:extLst>
                </p:cNvPr>
                <p:cNvSpPr/>
                <p:nvPr/>
              </p:nvSpPr>
              <p:spPr>
                <a:xfrm>
                  <a:off x="5881461" y="2681567"/>
                  <a:ext cx="4027290" cy="400110"/>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sr-Latn-RS" sz="2000" i="1">
                            <a:latin typeface="Cambria Math" panose="02040503050406030204" pitchFamily="18" charset="0"/>
                          </a:rPr>
                          <m:t>𝑦</m:t>
                        </m:r>
                        <m:r>
                          <a:rPr lang="sr-Latn-RS" sz="2000" i="1">
                            <a:latin typeface="Cambria Math" panose="02040503050406030204" pitchFamily="18" charset="0"/>
                          </a:rPr>
                          <m:t>∙</m:t>
                        </m:r>
                        <m:r>
                          <a:rPr lang="sr-Latn-RS" sz="2000" i="1">
                            <a:latin typeface="Cambria Math" panose="02040503050406030204" pitchFamily="18" charset="0"/>
                          </a:rPr>
                          <m:t>𝑠</m:t>
                        </m:r>
                        <m:r>
                          <a:rPr lang="sr-Latn-RS" sz="2000" i="1">
                            <a:latin typeface="Cambria Math" panose="02040503050406030204" pitchFamily="18" charset="0"/>
                          </a:rPr>
                          <m:t> =</m:t>
                        </m:r>
                        <m:d>
                          <m:dPr>
                            <m:ctrlPr>
                              <a:rPr lang="en-ZA" sz="2000" i="1">
                                <a:latin typeface="Cambria Math" panose="02040503050406030204" pitchFamily="18" charset="0"/>
                              </a:rPr>
                            </m:ctrlPr>
                          </m:dPr>
                          <m:e>
                            <m:sSub>
                              <m:sSubPr>
                                <m:ctrlPr>
                                  <a:rPr lang="en-ZA" sz="2000" i="1">
                                    <a:latin typeface="Cambria Math" panose="02040503050406030204" pitchFamily="18" charset="0"/>
                                  </a:rPr>
                                </m:ctrlPr>
                              </m:sSubPr>
                              <m:e>
                                <m:r>
                                  <a:rPr lang="sr-Latn-RS" sz="2000" i="1">
                                    <a:latin typeface="Cambria Math" panose="02040503050406030204" pitchFamily="18" charset="0"/>
                                  </a:rPr>
                                  <m:t> </m:t>
                                </m:r>
                                <m:r>
                                  <a:rPr lang="sr-Latn-RS" sz="2000" i="1">
                                    <a:latin typeface="Cambria Math" panose="02040503050406030204" pitchFamily="18" charset="0"/>
                                  </a:rPr>
                                  <m:t>𝑦</m:t>
                                </m:r>
                              </m:e>
                              <m:sub>
                                <m:r>
                                  <a:rPr lang="sr-Latn-RS" sz="2000" i="1">
                                    <a:latin typeface="Cambria Math" panose="02040503050406030204" pitchFamily="18" charset="0"/>
                                  </a:rPr>
                                  <m:t>0</m:t>
                                </m:r>
                              </m:sub>
                            </m:sSub>
                            <m:r>
                              <a:rPr lang="sr-Latn-RS" sz="2000" i="1">
                                <a:latin typeface="Cambria Math" panose="02040503050406030204" pitchFamily="18" charset="0"/>
                              </a:rPr>
                              <m:t>∙</m:t>
                            </m:r>
                            <m:sSub>
                              <m:sSubPr>
                                <m:ctrlPr>
                                  <a:rPr lang="en-ZA" sz="2000" i="1">
                                    <a:latin typeface="Cambria Math" panose="02040503050406030204" pitchFamily="18" charset="0"/>
                                  </a:rPr>
                                </m:ctrlPr>
                              </m:sSubPr>
                              <m:e>
                                <m:r>
                                  <a:rPr lang="sr-Latn-RS" sz="2000" i="1">
                                    <a:latin typeface="Cambria Math" panose="02040503050406030204" pitchFamily="18" charset="0"/>
                                  </a:rPr>
                                  <m:t>𝑠</m:t>
                                </m:r>
                              </m:e>
                              <m:sub>
                                <m:r>
                                  <a:rPr lang="sr-Latn-RS" sz="2000" i="1">
                                    <a:latin typeface="Cambria Math" panose="02040503050406030204" pitchFamily="18" charset="0"/>
                                  </a:rPr>
                                  <m:t>0</m:t>
                                </m:r>
                              </m:sub>
                            </m:sSub>
                          </m:e>
                        </m:d>
                        <m:r>
                          <a:rPr lang="sr-Latn-RS" sz="2000" i="1">
                            <a:latin typeface="Cambria Math" panose="02040503050406030204" pitchFamily="18" charset="0"/>
                          </a:rPr>
                          <m:t> ⨁ </m:t>
                        </m:r>
                        <m:d>
                          <m:dPr>
                            <m:ctrlPr>
                              <a:rPr lang="en-ZA" sz="2000" i="1">
                                <a:latin typeface="Cambria Math" panose="02040503050406030204" pitchFamily="18" charset="0"/>
                              </a:rPr>
                            </m:ctrlPr>
                          </m:dPr>
                          <m:e>
                            <m:sSub>
                              <m:sSubPr>
                                <m:ctrlPr>
                                  <a:rPr lang="en-ZA" sz="2000" i="1">
                                    <a:latin typeface="Cambria Math" panose="02040503050406030204" pitchFamily="18" charset="0"/>
                                  </a:rPr>
                                </m:ctrlPr>
                              </m:sSubPr>
                              <m:e>
                                <m:r>
                                  <a:rPr lang="sr-Latn-RS" sz="2000" i="1">
                                    <a:latin typeface="Cambria Math" panose="02040503050406030204" pitchFamily="18" charset="0"/>
                                  </a:rPr>
                                  <m:t> </m:t>
                                </m:r>
                                <m:r>
                                  <a:rPr lang="sr-Latn-RS" sz="2000" i="1">
                                    <a:latin typeface="Cambria Math" panose="02040503050406030204" pitchFamily="18" charset="0"/>
                                  </a:rPr>
                                  <m:t>𝑦</m:t>
                                </m:r>
                              </m:e>
                              <m:sub>
                                <m:r>
                                  <a:rPr lang="sr-Latn-RS" sz="2000" i="1">
                                    <a:latin typeface="Cambria Math" panose="02040503050406030204" pitchFamily="18" charset="0"/>
                                  </a:rPr>
                                  <m:t>1</m:t>
                                </m:r>
                              </m:sub>
                            </m:sSub>
                            <m:r>
                              <a:rPr lang="sr-Latn-RS" sz="2000" i="1">
                                <a:latin typeface="Cambria Math" panose="02040503050406030204" pitchFamily="18" charset="0"/>
                              </a:rPr>
                              <m:t>∙</m:t>
                            </m:r>
                            <m:sSub>
                              <m:sSubPr>
                                <m:ctrlPr>
                                  <a:rPr lang="en-ZA" sz="2000" i="1">
                                    <a:latin typeface="Cambria Math" panose="02040503050406030204" pitchFamily="18" charset="0"/>
                                  </a:rPr>
                                </m:ctrlPr>
                              </m:sSubPr>
                              <m:e>
                                <m:r>
                                  <a:rPr lang="sr-Latn-RS" sz="2000" i="1">
                                    <a:latin typeface="Cambria Math" panose="02040503050406030204" pitchFamily="18" charset="0"/>
                                  </a:rPr>
                                  <m:t>𝑠</m:t>
                                </m:r>
                              </m:e>
                              <m:sub>
                                <m:r>
                                  <a:rPr lang="sr-Latn-RS" sz="2000" i="1">
                                    <a:latin typeface="Cambria Math" panose="02040503050406030204" pitchFamily="18" charset="0"/>
                                  </a:rPr>
                                  <m:t>1</m:t>
                                </m:r>
                              </m:sub>
                            </m:sSub>
                          </m:e>
                        </m:d>
                        <m:r>
                          <a:rPr lang="sr-Latn-RS" sz="2000" i="1">
                            <a:latin typeface="Cambria Math" panose="02040503050406030204" pitchFamily="18" charset="0"/>
                          </a:rPr>
                          <m:t> ⋯=0</m:t>
                        </m:r>
                      </m:oMath>
                    </m:oMathPara>
                  </a14:m>
                  <a:endParaRPr lang="en-US" sz="2000" dirty="0"/>
                </a:p>
              </p:txBody>
            </p:sp>
          </mc:Choice>
          <mc:Fallback xmlns="">
            <p:sp>
              <p:nvSpPr>
                <p:cNvPr id="18" name="Rectangle 17">
                  <a:extLst>
                    <a:ext uri="{FF2B5EF4-FFF2-40B4-BE49-F238E27FC236}">
                      <a16:creationId xmlns:a16="http://schemas.microsoft.com/office/drawing/2014/main" id="{9E1E4667-32F2-C04B-8954-AA0CA7892D82}"/>
                    </a:ext>
                  </a:extLst>
                </p:cNvPr>
                <p:cNvSpPr>
                  <a:spLocks noRot="1" noChangeAspect="1" noMove="1" noResize="1" noEditPoints="1" noAdjustHandles="1" noChangeArrowheads="1" noChangeShapeType="1" noTextEdit="1"/>
                </p:cNvSpPr>
                <p:nvPr/>
              </p:nvSpPr>
              <p:spPr>
                <a:xfrm>
                  <a:off x="5881461" y="2681567"/>
                  <a:ext cx="4027290" cy="400110"/>
                </a:xfrm>
                <a:prstGeom prst="rect">
                  <a:avLst/>
                </a:prstGeom>
                <a:blipFill>
                  <a:blip r:embed="rId7"/>
                  <a:stretch>
                    <a:fillRect b="-15152"/>
                  </a:stretch>
                </a:blipFill>
              </p:spPr>
              <p:txBody>
                <a:bodyPr/>
                <a:lstStyle/>
                <a:p>
                  <a:r>
                    <a:rPr lang="en-US">
                      <a:noFill/>
                    </a:rPr>
                    <a:t> </a:t>
                  </a:r>
                </a:p>
              </p:txBody>
            </p:sp>
          </mc:Fallback>
        </mc:AlternateContent>
        <p:sp>
          <p:nvSpPr>
            <p:cNvPr id="20" name="Left Brace 19">
              <a:extLst>
                <a:ext uri="{FF2B5EF4-FFF2-40B4-BE49-F238E27FC236}">
                  <a16:creationId xmlns:a16="http://schemas.microsoft.com/office/drawing/2014/main" id="{BE5B1E58-2C9B-8749-A287-40718B755A5D}"/>
                </a:ext>
              </a:extLst>
            </p:cNvPr>
            <p:cNvSpPr/>
            <p:nvPr/>
          </p:nvSpPr>
          <p:spPr>
            <a:xfrm>
              <a:off x="9817878" y="1518897"/>
              <a:ext cx="276598" cy="1510145"/>
            </a:xfrm>
            <a:prstGeom prst="leftBrace">
              <a:avLst>
                <a:gd name="adj1" fmla="val 3507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C2F057B3-2FDB-7C46-A9EF-E845A3B6A81C}"/>
                </a:ext>
              </a:extLst>
            </p:cNvPr>
            <p:cNvCxnSpPr>
              <a:cxnSpLocks/>
              <a:stCxn id="18" idx="0"/>
            </p:cNvCxnSpPr>
            <p:nvPr/>
          </p:nvCxnSpPr>
          <p:spPr>
            <a:xfrm flipV="1">
              <a:off x="7895106" y="2472879"/>
              <a:ext cx="55615" cy="208688"/>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45" name="Group 44">
            <a:extLst>
              <a:ext uri="{FF2B5EF4-FFF2-40B4-BE49-F238E27FC236}">
                <a16:creationId xmlns:a16="http://schemas.microsoft.com/office/drawing/2014/main" id="{12312930-A9A1-5D46-853F-5B1B22AF53FE}"/>
              </a:ext>
            </a:extLst>
          </p:cNvPr>
          <p:cNvGrpSpPr/>
          <p:nvPr/>
        </p:nvGrpSpPr>
        <p:grpSpPr>
          <a:xfrm>
            <a:off x="213489" y="3249116"/>
            <a:ext cx="11451344" cy="1474170"/>
            <a:chOff x="213489" y="3249116"/>
            <a:chExt cx="11451344" cy="1474170"/>
          </a:xfrm>
        </p:grpSpPr>
        <p:sp>
          <p:nvSpPr>
            <p:cNvPr id="22" name="TextBox 21">
              <a:extLst>
                <a:ext uri="{FF2B5EF4-FFF2-40B4-BE49-F238E27FC236}">
                  <a16:creationId xmlns:a16="http://schemas.microsoft.com/office/drawing/2014/main" id="{A21AA9DE-B2E2-AE46-ADF9-C45F1B086A12}"/>
                </a:ext>
              </a:extLst>
            </p:cNvPr>
            <p:cNvSpPr txBox="1"/>
            <p:nvPr/>
          </p:nvSpPr>
          <p:spPr>
            <a:xfrm>
              <a:off x="213489" y="3249116"/>
              <a:ext cx="1241878" cy="461665"/>
            </a:xfrm>
            <a:prstGeom prst="rect">
              <a:avLst/>
            </a:prstGeom>
            <a:solidFill>
              <a:schemeClr val="accent4">
                <a:lumMod val="20000"/>
                <a:lumOff val="80000"/>
              </a:schemeClr>
            </a:solidFill>
          </p:spPr>
          <p:txBody>
            <a:bodyPr wrap="none" rtlCol="0">
              <a:spAutoFit/>
            </a:bodyPr>
            <a:lstStyle/>
            <a:p>
              <a:r>
                <a:rPr lang="en-US" sz="2400" dirty="0"/>
                <a:t>Example</a:t>
              </a:r>
            </a:p>
          </p:txBody>
        </p:sp>
        <p:cxnSp>
          <p:nvCxnSpPr>
            <p:cNvPr id="31" name="Straight Connector 30">
              <a:extLst>
                <a:ext uri="{FF2B5EF4-FFF2-40B4-BE49-F238E27FC236}">
                  <a16:creationId xmlns:a16="http://schemas.microsoft.com/office/drawing/2014/main" id="{996A2C8D-BBAF-5F4E-94A4-461DA93FB90D}"/>
                </a:ext>
              </a:extLst>
            </p:cNvPr>
            <p:cNvCxnSpPr>
              <a:cxnSpLocks/>
            </p:cNvCxnSpPr>
            <p:nvPr/>
          </p:nvCxnSpPr>
          <p:spPr>
            <a:xfrm>
              <a:off x="213489" y="3709358"/>
              <a:ext cx="11451344" cy="1"/>
            </a:xfrm>
            <a:prstGeom prst="line">
              <a:avLst/>
            </a:prstGeom>
            <a:ln>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5208F64-960D-C141-B682-2F13FA5DD038}"/>
                    </a:ext>
                  </a:extLst>
                </p:cNvPr>
                <p:cNvSpPr txBox="1"/>
                <p:nvPr/>
              </p:nvSpPr>
              <p:spPr>
                <a:xfrm>
                  <a:off x="702965" y="3846575"/>
                  <a:ext cx="1136786" cy="830997"/>
                </a:xfrm>
                <a:prstGeom prst="rect">
                  <a:avLst/>
                </a:prstGeom>
                <a:noFill/>
              </p:spPr>
              <p:txBody>
                <a:bodyPr wrap="none" rtlCol="0">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b="0" i="1">
                              <a:latin typeface="Cambria Math" panose="02040503050406030204" pitchFamily="18" charset="0"/>
                            </a:rPr>
                            <m:t>𝑦</m:t>
                          </m:r>
                        </m:e>
                        <m:sub>
                          <m:r>
                            <a:rPr lang="en-US" sz="2400" b="0" i="1">
                              <a:latin typeface="Cambria Math" panose="02040503050406030204" pitchFamily="18" charset="0"/>
                            </a:rPr>
                            <m:t>1</m:t>
                          </m:r>
                        </m:sub>
                      </m:sSub>
                    </m:oMath>
                  </a14:m>
                  <a:r>
                    <a:rPr lang="en-US" sz="2400" dirty="0"/>
                    <a:t>=001</a:t>
                  </a:r>
                </a:p>
                <a:p>
                  <a14:m>
                    <m:oMath xmlns:m="http://schemas.openxmlformats.org/officeDocument/2006/math">
                      <m:sSub>
                        <m:sSubPr>
                          <m:ctrlPr>
                            <a:rPr lang="en-US" sz="2400" i="1">
                              <a:latin typeface="Cambria Math" panose="02040503050406030204" pitchFamily="18" charset="0"/>
                            </a:rPr>
                          </m:ctrlPr>
                        </m:sSubPr>
                        <m:e>
                          <m:r>
                            <a:rPr lang="en-US" sz="2400" b="0" i="1">
                              <a:latin typeface="Cambria Math" panose="02040503050406030204" pitchFamily="18" charset="0"/>
                            </a:rPr>
                            <m:t>𝑦</m:t>
                          </m:r>
                        </m:e>
                        <m:sub>
                          <m:r>
                            <a:rPr lang="sr-Latn-RS" sz="2400" b="0" i="0" smtClean="0">
                              <a:latin typeface="Cambria Math" panose="02040503050406030204" pitchFamily="18" charset="0"/>
                            </a:rPr>
                            <m:t>2</m:t>
                          </m:r>
                        </m:sub>
                      </m:sSub>
                    </m:oMath>
                  </a14:m>
                  <a:r>
                    <a:rPr lang="en-US" sz="2400" dirty="0"/>
                    <a:t>=111</a:t>
                  </a:r>
                </a:p>
              </p:txBody>
            </p:sp>
          </mc:Choice>
          <mc:Fallback xmlns="">
            <p:sp>
              <p:nvSpPr>
                <p:cNvPr id="36" name="TextBox 35">
                  <a:extLst>
                    <a:ext uri="{FF2B5EF4-FFF2-40B4-BE49-F238E27FC236}">
                      <a16:creationId xmlns:a16="http://schemas.microsoft.com/office/drawing/2014/main" id="{E5208F64-960D-C141-B682-2F13FA5DD038}"/>
                    </a:ext>
                  </a:extLst>
                </p:cNvPr>
                <p:cNvSpPr txBox="1">
                  <a:spLocks noRot="1" noChangeAspect="1" noMove="1" noResize="1" noEditPoints="1" noAdjustHandles="1" noChangeArrowheads="1" noChangeShapeType="1" noTextEdit="1"/>
                </p:cNvSpPr>
                <p:nvPr/>
              </p:nvSpPr>
              <p:spPr>
                <a:xfrm>
                  <a:off x="702965" y="3846575"/>
                  <a:ext cx="1136786" cy="830997"/>
                </a:xfrm>
                <a:prstGeom prst="rect">
                  <a:avLst/>
                </a:prstGeom>
                <a:blipFill>
                  <a:blip r:embed="rId8"/>
                  <a:stretch>
                    <a:fillRect t="-3030" r="-4396"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598F31CD-C66C-5445-B108-739DF44E5BE5}"/>
                    </a:ext>
                  </a:extLst>
                </p:cNvPr>
                <p:cNvSpPr/>
                <p:nvPr/>
              </p:nvSpPr>
              <p:spPr>
                <a:xfrm>
                  <a:off x="2409270" y="3846575"/>
                  <a:ext cx="2783134" cy="8309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a:latin typeface="Cambria Math" panose="02040503050406030204" pitchFamily="18" charset="0"/>
                              </a:rPr>
                              <m:t>𝑦</m:t>
                            </m:r>
                          </m:e>
                          <m:sub>
                            <m:r>
                              <a:rPr lang="en-US" sz="2400" b="0" i="1">
                                <a:latin typeface="Cambria Math" panose="02040503050406030204" pitchFamily="18" charset="0"/>
                              </a:rPr>
                              <m:t>1</m:t>
                            </m:r>
                          </m:sub>
                        </m:sSub>
                        <m:r>
                          <a:rPr lang="en-US" sz="2400" b="0">
                            <a:latin typeface="Cambria Math" panose="02040503050406030204" pitchFamily="18" charset="0"/>
                          </a:rPr>
                          <m:t>∙</m:t>
                        </m:r>
                        <m:r>
                          <a:rPr lang="en-US" sz="2400" b="0" i="1">
                            <a:latin typeface="Cambria Math" panose="02040503050406030204" pitchFamily="18" charset="0"/>
                          </a:rPr>
                          <m:t>𝑠</m:t>
                        </m:r>
                        <m:r>
                          <a:rPr lang="en-US" sz="2400" b="0">
                            <a:latin typeface="Cambria Math" panose="02040503050406030204" pitchFamily="18" charset="0"/>
                          </a:rPr>
                          <m:t>=</m:t>
                        </m:r>
                        <m:r>
                          <m:rPr>
                            <m:nor/>
                          </m:rPr>
                          <a:rPr lang="en-US" sz="2400" dirty="0"/>
                          <m:t>001</m:t>
                        </m:r>
                        <m:r>
                          <a:rPr lang="en-US" sz="2400" b="0">
                            <a:latin typeface="Cambria Math" panose="02040503050406030204" pitchFamily="18" charset="0"/>
                          </a:rPr>
                          <m:t>∙</m:t>
                        </m:r>
                        <m:r>
                          <a:rPr lang="sr-Latn-RS" sz="2400" b="0" i="1">
                            <a:latin typeface="Cambria Math" panose="02040503050406030204" pitchFamily="18" charset="0"/>
                          </a:rPr>
                          <m:t>𝑠</m:t>
                        </m:r>
                        <m:r>
                          <a:rPr lang="sr-Latn-RS" sz="2400" b="0" i="1" smtClean="0">
                            <a:latin typeface="Cambria Math" panose="02040503050406030204" pitchFamily="18" charset="0"/>
                          </a:rPr>
                          <m:t>=0</m:t>
                        </m:r>
                      </m:oMath>
                    </m:oMathPara>
                  </a14:m>
                  <a:endParaRPr lang="sr-Latn-RS" sz="2400" dirty="0"/>
                </a:p>
                <a:p>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b="0" i="1">
                                <a:latin typeface="Cambria Math" panose="02040503050406030204" pitchFamily="18" charset="0"/>
                              </a:rPr>
                              <m:t>𝑦</m:t>
                            </m:r>
                          </m:e>
                          <m:sub>
                            <m:r>
                              <a:rPr lang="sr-Latn-RS" sz="2400" b="0" i="1">
                                <a:latin typeface="Cambria Math" panose="02040503050406030204" pitchFamily="18" charset="0"/>
                              </a:rPr>
                              <m:t>2</m:t>
                            </m:r>
                          </m:sub>
                        </m:sSub>
                        <m:r>
                          <a:rPr lang="en-US" sz="2400" b="0">
                            <a:latin typeface="Cambria Math" panose="02040503050406030204" pitchFamily="18" charset="0"/>
                          </a:rPr>
                          <m:t>∙</m:t>
                        </m:r>
                        <m:r>
                          <a:rPr lang="en-US" sz="2400" b="0" i="1">
                            <a:latin typeface="Cambria Math" panose="02040503050406030204" pitchFamily="18" charset="0"/>
                          </a:rPr>
                          <m:t>𝑠</m:t>
                        </m:r>
                        <m:r>
                          <a:rPr lang="en-US" sz="2400" b="0">
                            <a:latin typeface="Cambria Math" panose="02040503050406030204" pitchFamily="18" charset="0"/>
                          </a:rPr>
                          <m:t>=</m:t>
                        </m:r>
                        <m:r>
                          <a:rPr lang="sr-Latn-RS" sz="2400" b="0" i="1">
                            <a:latin typeface="Cambria Math" panose="02040503050406030204" pitchFamily="18" charset="0"/>
                          </a:rPr>
                          <m:t>111</m:t>
                        </m:r>
                        <m:r>
                          <a:rPr lang="en-US" sz="2400" b="0">
                            <a:latin typeface="Cambria Math" panose="02040503050406030204" pitchFamily="18" charset="0"/>
                          </a:rPr>
                          <m:t>∙</m:t>
                        </m:r>
                        <m:r>
                          <a:rPr lang="sr-Latn-RS" sz="2400" b="0" i="1">
                            <a:latin typeface="Cambria Math" panose="02040503050406030204" pitchFamily="18" charset="0"/>
                          </a:rPr>
                          <m:t>𝑠</m:t>
                        </m:r>
                        <m:r>
                          <a:rPr lang="sr-Latn-RS" sz="2400" b="0" i="1" smtClean="0">
                            <a:latin typeface="Cambria Math" panose="02040503050406030204" pitchFamily="18" charset="0"/>
                          </a:rPr>
                          <m:t>=0</m:t>
                        </m:r>
                      </m:oMath>
                    </m:oMathPara>
                  </a14:m>
                  <a:endParaRPr lang="en-US" sz="2400" dirty="0"/>
                </a:p>
              </p:txBody>
            </p:sp>
          </mc:Choice>
          <mc:Fallback xmlns="">
            <p:sp>
              <p:nvSpPr>
                <p:cNvPr id="39" name="Rectangle 38">
                  <a:extLst>
                    <a:ext uri="{FF2B5EF4-FFF2-40B4-BE49-F238E27FC236}">
                      <a16:creationId xmlns:a16="http://schemas.microsoft.com/office/drawing/2014/main" id="{598F31CD-C66C-5445-B108-739DF44E5BE5}"/>
                    </a:ext>
                  </a:extLst>
                </p:cNvPr>
                <p:cNvSpPr>
                  <a:spLocks noRot="1" noChangeAspect="1" noMove="1" noResize="1" noEditPoints="1" noAdjustHandles="1" noChangeArrowheads="1" noChangeShapeType="1" noTextEdit="1"/>
                </p:cNvSpPr>
                <p:nvPr/>
              </p:nvSpPr>
              <p:spPr>
                <a:xfrm>
                  <a:off x="2409270" y="3846575"/>
                  <a:ext cx="2783134" cy="830997"/>
                </a:xfrm>
                <a:prstGeom prst="rect">
                  <a:avLst/>
                </a:prstGeom>
                <a:blipFill>
                  <a:blip r:embed="rId9"/>
                  <a:stretch>
                    <a:fillRect b="-3030"/>
                  </a:stretch>
                </a:blipFill>
              </p:spPr>
              <p:txBody>
                <a:bodyPr/>
                <a:lstStyle/>
                <a:p>
                  <a:r>
                    <a:rPr lang="en-US">
                      <a:noFill/>
                    </a:rPr>
                    <a:t> </a:t>
                  </a:r>
                </a:p>
              </p:txBody>
            </p:sp>
          </mc:Fallback>
        </mc:AlternateContent>
        <p:sp>
          <p:nvSpPr>
            <p:cNvPr id="40" name="Left Brace 39">
              <a:extLst>
                <a:ext uri="{FF2B5EF4-FFF2-40B4-BE49-F238E27FC236}">
                  <a16:creationId xmlns:a16="http://schemas.microsoft.com/office/drawing/2014/main" id="{91EC7738-B2C5-3C49-9C14-27C24C2F4732}"/>
                </a:ext>
              </a:extLst>
            </p:cNvPr>
            <p:cNvSpPr/>
            <p:nvPr/>
          </p:nvSpPr>
          <p:spPr>
            <a:xfrm>
              <a:off x="2213327" y="3963900"/>
              <a:ext cx="237681" cy="759386"/>
            </a:xfrm>
            <a:prstGeom prst="leftBrace">
              <a:avLst>
                <a:gd name="adj1" fmla="val 35351"/>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06454ACD-8D5C-C341-81F6-345CF2EAF19D}"/>
              </a:ext>
            </a:extLst>
          </p:cNvPr>
          <p:cNvGrpSpPr/>
          <p:nvPr/>
        </p:nvGrpSpPr>
        <p:grpSpPr>
          <a:xfrm>
            <a:off x="369122" y="4863162"/>
            <a:ext cx="11822878" cy="922691"/>
            <a:chOff x="369122" y="4863162"/>
            <a:chExt cx="11822878" cy="922691"/>
          </a:xfrm>
        </p:grpSpPr>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7FDA6C1B-17B2-6A4C-B729-8920F96A8CA0}"/>
                    </a:ext>
                  </a:extLst>
                </p:cNvPr>
                <p:cNvSpPr/>
                <p:nvPr/>
              </p:nvSpPr>
              <p:spPr>
                <a:xfrm>
                  <a:off x="606803" y="4863162"/>
                  <a:ext cx="10407914"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rPr>
                            </m:ctrlPr>
                          </m:sSubPr>
                          <m:e>
                            <m:r>
                              <a:rPr lang="en-US" sz="2200" b="0" i="1">
                                <a:latin typeface="Cambria Math" panose="02040503050406030204" pitchFamily="18" charset="0"/>
                              </a:rPr>
                              <m:t>𝑦</m:t>
                            </m:r>
                          </m:e>
                          <m:sub>
                            <m:r>
                              <a:rPr lang="en-US" sz="2200" b="0" i="1">
                                <a:latin typeface="Cambria Math" panose="02040503050406030204" pitchFamily="18" charset="0"/>
                              </a:rPr>
                              <m:t>1</m:t>
                            </m:r>
                          </m:sub>
                        </m:sSub>
                        <m:r>
                          <a:rPr lang="en-US" sz="2200" b="0">
                            <a:latin typeface="Cambria Math" panose="02040503050406030204" pitchFamily="18" charset="0"/>
                          </a:rPr>
                          <m:t>∙</m:t>
                        </m:r>
                        <m:r>
                          <a:rPr lang="en-US" sz="2200" b="0" i="1">
                            <a:latin typeface="Cambria Math" panose="02040503050406030204" pitchFamily="18" charset="0"/>
                          </a:rPr>
                          <m:t>𝑠</m:t>
                        </m:r>
                        <m:r>
                          <a:rPr lang="en-US" sz="2200" b="0">
                            <a:latin typeface="Cambria Math" panose="02040503050406030204" pitchFamily="18" charset="0"/>
                          </a:rPr>
                          <m:t>=</m:t>
                        </m:r>
                        <m:r>
                          <m:rPr>
                            <m:nor/>
                          </m:rPr>
                          <a:rPr lang="en-US" sz="2200" dirty="0"/>
                          <m:t>001</m:t>
                        </m:r>
                        <m:r>
                          <a:rPr lang="en-US" sz="2200" b="0">
                            <a:latin typeface="Cambria Math" panose="02040503050406030204" pitchFamily="18" charset="0"/>
                          </a:rPr>
                          <m:t>∙</m:t>
                        </m:r>
                        <m:r>
                          <a:rPr lang="sr-Latn-RS" sz="2200" b="0" i="1" smtClean="0">
                            <a:latin typeface="Cambria Math" panose="02040503050406030204" pitchFamily="18" charset="0"/>
                          </a:rPr>
                          <m:t>𝑠</m:t>
                        </m:r>
                        <m:r>
                          <a:rPr lang="sr-Latn-RS" sz="2200" b="0" i="1" smtClean="0">
                            <a:latin typeface="Cambria Math" panose="02040503050406030204" pitchFamily="18" charset="0"/>
                          </a:rPr>
                          <m:t>=</m:t>
                        </m:r>
                        <m:d>
                          <m:dPr>
                            <m:ctrlPr>
                              <a:rPr lang="en-ZA" sz="2200" i="1">
                                <a:latin typeface="Cambria Math" panose="02040503050406030204" pitchFamily="18" charset="0"/>
                              </a:rPr>
                            </m:ctrlPr>
                          </m:dPr>
                          <m:e>
                            <m:r>
                              <a:rPr lang="sr-Latn-RS" sz="2200" b="0" i="1">
                                <a:latin typeface="Cambria Math" panose="02040503050406030204" pitchFamily="18" charset="0"/>
                              </a:rPr>
                              <m:t>0∙</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2</m:t>
                                </m:r>
                              </m:sub>
                            </m:sSub>
                          </m:e>
                        </m:d>
                        <m:r>
                          <a:rPr lang="sr-Latn-RS" sz="2200" b="0" i="1">
                            <a:latin typeface="Cambria Math" panose="02040503050406030204" pitchFamily="18" charset="0"/>
                          </a:rPr>
                          <m:t> ⨁ </m:t>
                        </m:r>
                        <m:d>
                          <m:dPr>
                            <m:ctrlPr>
                              <a:rPr lang="en-ZA" sz="2200" i="1">
                                <a:latin typeface="Cambria Math" panose="02040503050406030204" pitchFamily="18" charset="0"/>
                              </a:rPr>
                            </m:ctrlPr>
                          </m:dPr>
                          <m:e>
                            <m:r>
                              <a:rPr lang="sr-Latn-RS" sz="2200" b="0" i="1">
                                <a:latin typeface="Cambria Math" panose="02040503050406030204" pitchFamily="18" charset="0"/>
                              </a:rPr>
                              <m:t>0∙</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1</m:t>
                                </m:r>
                              </m:sub>
                            </m:sSub>
                          </m:e>
                        </m:d>
                        <m:r>
                          <a:rPr lang="sr-Latn-RS" sz="2200" b="0" i="1">
                            <a:latin typeface="Cambria Math" panose="02040503050406030204" pitchFamily="18" charset="0"/>
                          </a:rPr>
                          <m:t> ⨁ </m:t>
                        </m:r>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0</m:t>
                                </m:r>
                              </m:sub>
                            </m:sSub>
                          </m:e>
                        </m:d>
                        <m:r>
                          <a:rPr lang="sr-Latn-RS" sz="2200" b="0" i="1">
                            <a:latin typeface="Cambria Math" panose="02040503050406030204" pitchFamily="18" charset="0"/>
                          </a:rPr>
                          <m:t>=0 ⨁ 0 ⨁ </m:t>
                        </m:r>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0</m:t>
                                </m:r>
                              </m:sub>
                            </m:sSub>
                          </m:e>
                        </m:d>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0</m:t>
                                </m:r>
                              </m:sub>
                            </m:sSub>
                          </m:e>
                        </m:d>
                        <m:r>
                          <a:rPr lang="sr-Latn-RS" sz="2200" b="0" i="1">
                            <a:latin typeface="Cambria Math" panose="02040503050406030204" pitchFamily="18" charset="0"/>
                          </a:rPr>
                          <m:t>=</m:t>
                        </m:r>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0</m:t>
                                </m:r>
                              </m:sub>
                            </m:sSub>
                          </m:e>
                        </m:d>
                        <m:r>
                          <a:rPr lang="sr-Latn-RS" sz="2200" b="0" i="1">
                            <a:latin typeface="Cambria Math" panose="02040503050406030204" pitchFamily="18" charset="0"/>
                          </a:rPr>
                          <m:t>=0</m:t>
                        </m:r>
                      </m:oMath>
                    </m:oMathPara>
                  </a14:m>
                  <a:endParaRPr lang="en-US" sz="2200" dirty="0"/>
                </a:p>
              </p:txBody>
            </p:sp>
          </mc:Choice>
          <mc:Fallback xmlns="">
            <p:sp>
              <p:nvSpPr>
                <p:cNvPr id="37" name="Rectangle 36">
                  <a:extLst>
                    <a:ext uri="{FF2B5EF4-FFF2-40B4-BE49-F238E27FC236}">
                      <a16:creationId xmlns:a16="http://schemas.microsoft.com/office/drawing/2014/main" id="{7FDA6C1B-17B2-6A4C-B729-8920F96A8CA0}"/>
                    </a:ext>
                  </a:extLst>
                </p:cNvPr>
                <p:cNvSpPr>
                  <a:spLocks noRot="1" noChangeAspect="1" noMove="1" noResize="1" noEditPoints="1" noAdjustHandles="1" noChangeArrowheads="1" noChangeShapeType="1" noTextEdit="1"/>
                </p:cNvSpPr>
                <p:nvPr/>
              </p:nvSpPr>
              <p:spPr>
                <a:xfrm>
                  <a:off x="606803" y="4863162"/>
                  <a:ext cx="10407914" cy="430887"/>
                </a:xfrm>
                <a:prstGeom prst="rect">
                  <a:avLst/>
                </a:prstGeom>
                <a:blipFill>
                  <a:blip r:embed="rId10"/>
                  <a:stretch>
                    <a:fillRect b="-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E660E2ED-B19A-2747-87DA-8594C4AF8029}"/>
                    </a:ext>
                  </a:extLst>
                </p:cNvPr>
                <p:cNvSpPr/>
                <p:nvPr/>
              </p:nvSpPr>
              <p:spPr>
                <a:xfrm>
                  <a:off x="705971" y="5354966"/>
                  <a:ext cx="11486029" cy="430887"/>
                </a:xfrm>
                <a:prstGeom prst="rect">
                  <a:avLst/>
                </a:prstGeom>
              </p:spPr>
              <p:txBody>
                <a:bodyPr wrap="none">
                  <a:spAutoFit/>
                </a:bodyPr>
                <a:lstStyle/>
                <a:p>
                  <a14:m>
                    <m:oMath xmlns:m="http://schemas.openxmlformats.org/officeDocument/2006/math">
                      <m:sSub>
                        <m:sSubPr>
                          <m:ctrlPr>
                            <a:rPr lang="en-US" sz="2200" i="1" smtClean="0">
                              <a:latin typeface="Cambria Math" panose="02040503050406030204" pitchFamily="18" charset="0"/>
                            </a:rPr>
                          </m:ctrlPr>
                        </m:sSubPr>
                        <m:e>
                          <m:r>
                            <a:rPr lang="en-US" sz="2200" b="0" i="1">
                              <a:latin typeface="Cambria Math" panose="02040503050406030204" pitchFamily="18" charset="0"/>
                            </a:rPr>
                            <m:t>𝑦</m:t>
                          </m:r>
                        </m:e>
                        <m:sub>
                          <m:r>
                            <a:rPr lang="sr-Latn-RS" sz="2200" b="0" i="0" smtClean="0">
                              <a:latin typeface="Cambria Math" panose="02040503050406030204" pitchFamily="18" charset="0"/>
                            </a:rPr>
                            <m:t>2</m:t>
                          </m:r>
                        </m:sub>
                      </m:sSub>
                      <m:r>
                        <a:rPr lang="en-US" sz="2200" b="0">
                          <a:latin typeface="Cambria Math" panose="02040503050406030204" pitchFamily="18" charset="0"/>
                        </a:rPr>
                        <m:t>∙</m:t>
                      </m:r>
                      <m:r>
                        <a:rPr lang="en-US" sz="2200" b="0" i="1">
                          <a:latin typeface="Cambria Math" panose="02040503050406030204" pitchFamily="18" charset="0"/>
                        </a:rPr>
                        <m:t>𝑠</m:t>
                      </m:r>
                      <m:r>
                        <a:rPr lang="en-US" sz="2200" b="0">
                          <a:latin typeface="Cambria Math" panose="02040503050406030204" pitchFamily="18" charset="0"/>
                        </a:rPr>
                        <m:t>=</m:t>
                      </m:r>
                      <m:r>
                        <a:rPr lang="sr-Latn-RS" sz="2200" b="0" i="1" smtClean="0">
                          <a:latin typeface="Cambria Math" panose="02040503050406030204" pitchFamily="18" charset="0"/>
                        </a:rPr>
                        <m:t>111</m:t>
                      </m:r>
                      <m:r>
                        <a:rPr lang="en-US" sz="2200" b="0">
                          <a:latin typeface="Cambria Math" panose="02040503050406030204" pitchFamily="18" charset="0"/>
                        </a:rPr>
                        <m:t>∙</m:t>
                      </m:r>
                      <m:r>
                        <a:rPr lang="sr-Latn-RS" sz="2200" b="0" i="1">
                          <a:latin typeface="Cambria Math" panose="02040503050406030204" pitchFamily="18" charset="0"/>
                        </a:rPr>
                        <m:t>𝑠</m:t>
                      </m:r>
                      <m:r>
                        <a:rPr lang="sr-Latn-RS" sz="2200" b="0" i="1">
                          <a:latin typeface="Cambria Math" panose="02040503050406030204" pitchFamily="18" charset="0"/>
                        </a:rPr>
                        <m:t>=</m:t>
                      </m:r>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2</m:t>
                              </m:r>
                            </m:sub>
                          </m:sSub>
                        </m:e>
                      </m:d>
                      <m:r>
                        <a:rPr lang="sr-Latn-RS" sz="2200" b="0" i="1">
                          <a:latin typeface="Cambria Math" panose="02040503050406030204" pitchFamily="18" charset="0"/>
                        </a:rPr>
                        <m:t> ⨁ </m:t>
                      </m:r>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1</m:t>
                              </m:r>
                            </m:sub>
                          </m:sSub>
                        </m:e>
                      </m:d>
                      <m:r>
                        <a:rPr lang="sr-Latn-RS" sz="2200" b="0" i="1">
                          <a:latin typeface="Cambria Math" panose="02040503050406030204" pitchFamily="18" charset="0"/>
                        </a:rPr>
                        <m:t> ⨁ </m:t>
                      </m:r>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0</m:t>
                              </m:r>
                            </m:sub>
                          </m:sSub>
                        </m:e>
                      </m:d>
                      <m:r>
                        <a:rPr lang="sr-Latn-RS" sz="2200" b="0" i="1">
                          <a:latin typeface="Cambria Math" panose="02040503050406030204" pitchFamily="18" charset="0"/>
                        </a:rPr>
                        <m:t>=</m:t>
                      </m:r>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2</m:t>
                              </m:r>
                            </m:sub>
                          </m:sSub>
                        </m:e>
                      </m:d>
                      <m:r>
                        <a:rPr lang="sr-Latn-RS" sz="2200" b="0" i="1">
                          <a:latin typeface="Cambria Math" panose="02040503050406030204" pitchFamily="18" charset="0"/>
                        </a:rPr>
                        <m:t> ⨁ </m:t>
                      </m:r>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1</m:t>
                              </m:r>
                            </m:sub>
                          </m:sSub>
                        </m:e>
                      </m:d>
                      <m:r>
                        <a:rPr lang="sr-Latn-RS" sz="2200" b="0" i="1">
                          <a:latin typeface="Cambria Math" panose="02040503050406030204" pitchFamily="18" charset="0"/>
                        </a:rPr>
                        <m:t> ⨁ 0=</m:t>
                      </m:r>
                    </m:oMath>
                  </a14:m>
                  <a:r>
                    <a:rPr lang="en-ZA" sz="2200" dirty="0"/>
                    <a:t> </a:t>
                  </a:r>
                  <a14:m>
                    <m:oMath xmlns:m="http://schemas.openxmlformats.org/officeDocument/2006/math">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2</m:t>
                              </m:r>
                            </m:sub>
                          </m:sSub>
                        </m:e>
                      </m:d>
                      <m:r>
                        <a:rPr lang="sr-Latn-RS" sz="2200" b="0" i="1">
                          <a:latin typeface="Cambria Math" panose="02040503050406030204" pitchFamily="18" charset="0"/>
                        </a:rPr>
                        <m:t> ⨁ </m:t>
                      </m:r>
                      <m:d>
                        <m:dPr>
                          <m:ctrlPr>
                            <a:rPr lang="en-ZA" sz="2200" i="1">
                              <a:latin typeface="Cambria Math" panose="02040503050406030204" pitchFamily="18" charset="0"/>
                            </a:rPr>
                          </m:ctrlPr>
                        </m:dPr>
                        <m:e>
                          <m:r>
                            <a:rPr lang="sr-Latn-RS" sz="2200" b="0" i="1">
                              <a:latin typeface="Cambria Math" panose="02040503050406030204" pitchFamily="18" charset="0"/>
                            </a:rPr>
                            <m:t>1∙</m:t>
                          </m:r>
                          <m:sSub>
                            <m:sSubPr>
                              <m:ctrlPr>
                                <a:rPr lang="en-ZA" sz="2200" i="1">
                                  <a:latin typeface="Cambria Math" panose="02040503050406030204" pitchFamily="18" charset="0"/>
                                </a:rPr>
                              </m:ctrlPr>
                            </m:sSubPr>
                            <m:e>
                              <m:r>
                                <a:rPr lang="sr-Latn-RS" sz="2200" b="0" i="1">
                                  <a:latin typeface="Cambria Math" panose="02040503050406030204" pitchFamily="18" charset="0"/>
                                </a:rPr>
                                <m:t>𝑠</m:t>
                              </m:r>
                            </m:e>
                            <m:sub>
                              <m:r>
                                <a:rPr lang="sr-Latn-RS" sz="2200" b="0" i="1">
                                  <a:latin typeface="Cambria Math" panose="02040503050406030204" pitchFamily="18" charset="0"/>
                                </a:rPr>
                                <m:t>1</m:t>
                              </m:r>
                            </m:sub>
                          </m:sSub>
                        </m:e>
                      </m:d>
                      <m:r>
                        <a:rPr lang="sr-Latn-RS" sz="2200" b="0" i="1">
                          <a:latin typeface="Cambria Math" panose="02040503050406030204" pitchFamily="18" charset="0"/>
                        </a:rPr>
                        <m:t>=0</m:t>
                      </m:r>
                    </m:oMath>
                  </a14:m>
                  <a:r>
                    <a:rPr lang="en-ZA" sz="2200" dirty="0">
                      <a:effectLst/>
                    </a:rPr>
                    <a:t> </a:t>
                  </a:r>
                  <a:endParaRPr lang="en-US" sz="2200" dirty="0"/>
                </a:p>
              </p:txBody>
            </p:sp>
          </mc:Choice>
          <mc:Fallback xmlns="">
            <p:sp>
              <p:nvSpPr>
                <p:cNvPr id="38" name="Rectangle 37">
                  <a:extLst>
                    <a:ext uri="{FF2B5EF4-FFF2-40B4-BE49-F238E27FC236}">
                      <a16:creationId xmlns:a16="http://schemas.microsoft.com/office/drawing/2014/main" id="{E660E2ED-B19A-2747-87DA-8594C4AF8029}"/>
                    </a:ext>
                  </a:extLst>
                </p:cNvPr>
                <p:cNvSpPr>
                  <a:spLocks noRot="1" noChangeAspect="1" noMove="1" noResize="1" noEditPoints="1" noAdjustHandles="1" noChangeArrowheads="1" noChangeShapeType="1" noTextEdit="1"/>
                </p:cNvSpPr>
                <p:nvPr/>
              </p:nvSpPr>
              <p:spPr>
                <a:xfrm>
                  <a:off x="705971" y="5354966"/>
                  <a:ext cx="11486029" cy="430887"/>
                </a:xfrm>
                <a:prstGeom prst="rect">
                  <a:avLst/>
                </a:prstGeom>
                <a:blipFill>
                  <a:blip r:embed="rId11"/>
                  <a:stretch>
                    <a:fillRect b="-17143"/>
                  </a:stretch>
                </a:blipFill>
              </p:spPr>
              <p:txBody>
                <a:bodyPr/>
                <a:lstStyle/>
                <a:p>
                  <a:r>
                    <a:rPr lang="en-US">
                      <a:noFill/>
                    </a:rPr>
                    <a:t> </a:t>
                  </a:r>
                </a:p>
              </p:txBody>
            </p:sp>
          </mc:Fallback>
        </mc:AlternateContent>
        <p:sp>
          <p:nvSpPr>
            <p:cNvPr id="41" name="Left Brace 40">
              <a:extLst>
                <a:ext uri="{FF2B5EF4-FFF2-40B4-BE49-F238E27FC236}">
                  <a16:creationId xmlns:a16="http://schemas.microsoft.com/office/drawing/2014/main" id="{7FDF2CC2-37A5-2B41-B696-76549EBD455A}"/>
                </a:ext>
              </a:extLst>
            </p:cNvPr>
            <p:cNvSpPr/>
            <p:nvPr/>
          </p:nvSpPr>
          <p:spPr>
            <a:xfrm>
              <a:off x="369122" y="5026467"/>
              <a:ext cx="237681" cy="759386"/>
            </a:xfrm>
            <a:prstGeom prst="leftBrace">
              <a:avLst>
                <a:gd name="adj1" fmla="val 35351"/>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354FF33A-B628-284A-B29C-006448890A3B}"/>
              </a:ext>
            </a:extLst>
          </p:cNvPr>
          <p:cNvGrpSpPr/>
          <p:nvPr/>
        </p:nvGrpSpPr>
        <p:grpSpPr>
          <a:xfrm>
            <a:off x="369121" y="5916051"/>
            <a:ext cx="7773823" cy="824833"/>
            <a:chOff x="369121" y="5916051"/>
            <a:chExt cx="7773823" cy="824833"/>
          </a:xfrm>
        </p:grpSpPr>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BEEEC417-AFA7-6F4D-85F4-59B928FA5A40}"/>
                    </a:ext>
                  </a:extLst>
                </p:cNvPr>
                <p:cNvSpPr/>
                <p:nvPr/>
              </p:nvSpPr>
              <p:spPr>
                <a:xfrm>
                  <a:off x="702965" y="6151971"/>
                  <a:ext cx="1082026"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rPr>
                            </m:ctrlPr>
                          </m:sSubPr>
                          <m:e>
                            <m:r>
                              <a:rPr lang="en-US" sz="2200" i="1">
                                <a:latin typeface="Cambria Math" panose="02040503050406030204" pitchFamily="18" charset="0"/>
                              </a:rPr>
                              <m:t>𝑠</m:t>
                            </m:r>
                          </m:e>
                          <m:sub>
                            <m:r>
                              <a:rPr lang="en-US" sz="2200" i="0">
                                <a:latin typeface="Cambria Math" panose="02040503050406030204" pitchFamily="18" charset="0"/>
                              </a:rPr>
                              <m:t>0</m:t>
                            </m:r>
                          </m:sub>
                        </m:sSub>
                        <m:r>
                          <a:rPr lang="en-US" sz="2200" i="0">
                            <a:latin typeface="Cambria Math" panose="02040503050406030204" pitchFamily="18" charset="0"/>
                          </a:rPr>
                          <m:t>=0</m:t>
                        </m:r>
                        <m:r>
                          <a:rPr lang="sr-Latn-RS" sz="2200" b="0" i="0" smtClean="0">
                            <a:latin typeface="Cambria Math" panose="02040503050406030204" pitchFamily="18" charset="0"/>
                          </a:rPr>
                          <m:t>,</m:t>
                        </m:r>
                      </m:oMath>
                    </m:oMathPara>
                  </a14:m>
                  <a:endParaRPr lang="en-US" sz="2200" dirty="0"/>
                </a:p>
              </p:txBody>
            </p:sp>
          </mc:Choice>
          <mc:Fallback xmlns="">
            <p:sp>
              <p:nvSpPr>
                <p:cNvPr id="42" name="Rectangle 41">
                  <a:extLst>
                    <a:ext uri="{FF2B5EF4-FFF2-40B4-BE49-F238E27FC236}">
                      <a16:creationId xmlns:a16="http://schemas.microsoft.com/office/drawing/2014/main" id="{BEEEC417-AFA7-6F4D-85F4-59B928FA5A40}"/>
                    </a:ext>
                  </a:extLst>
                </p:cNvPr>
                <p:cNvSpPr>
                  <a:spLocks noRot="1" noChangeAspect="1" noMove="1" noResize="1" noEditPoints="1" noAdjustHandles="1" noChangeArrowheads="1" noChangeShapeType="1" noTextEdit="1"/>
                </p:cNvSpPr>
                <p:nvPr/>
              </p:nvSpPr>
              <p:spPr>
                <a:xfrm>
                  <a:off x="702965" y="6151971"/>
                  <a:ext cx="1082026" cy="430887"/>
                </a:xfrm>
                <a:prstGeom prst="rect">
                  <a:avLst/>
                </a:prstGeom>
                <a:blipFill>
                  <a:blip r:embed="rId12"/>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E504A84D-FABE-9C49-B4C6-2708A8BCCB43}"/>
                    </a:ext>
                  </a:extLst>
                </p:cNvPr>
                <p:cNvSpPr/>
                <p:nvPr/>
              </p:nvSpPr>
              <p:spPr>
                <a:xfrm>
                  <a:off x="2046944" y="5971443"/>
                  <a:ext cx="6096000" cy="769441"/>
                </a:xfrm>
                <a:prstGeom prst="rect">
                  <a:avLst/>
                </a:prstGeom>
              </p:spPr>
              <p:txBody>
                <a:bodyPr>
                  <a:spAutoFit/>
                </a:bodyPr>
                <a:lstStyle/>
                <a:p>
                  <a:pPr marL="342900" lvl="0" indent="-342900" algn="just">
                    <a:spcAft>
                      <a:spcPts val="0"/>
                    </a:spcAft>
                    <a:buFont typeface="Symbol" pitchFamily="2" charset="2"/>
                    <a:buChar char=""/>
                  </a:pPr>
                  <a:r>
                    <a:rPr lang="sr-Latn-RS" sz="2200" dirty="0" err="1">
                      <a:latin typeface="Cambria" panose="02040503050406030204" pitchFamily="18" charset="0"/>
                      <a:ea typeface="Times New Roman" panose="02020603050405020304" pitchFamily="18" charset="0"/>
                      <a:cs typeface="Times New Roman" panose="02020603050405020304" pitchFamily="18" charset="0"/>
                    </a:rPr>
                    <a:t>If</a:t>
                  </a:r>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2</m:t>
                          </m:r>
                        </m:sub>
                      </m:sSub>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2200" i="1">
                          <a:latin typeface="Cambria Math" panose="02040503050406030204" pitchFamily="18" charset="0"/>
                          <a:ea typeface="Times New Roman" panose="02020603050405020304" pitchFamily="18" charset="0"/>
                          <a:cs typeface="Times New Roman" panose="02020603050405020304" pitchFamily="18" charset="0"/>
                        </a:rPr>
                        <m:t>=0</m:t>
                      </m:r>
                    </m:oMath>
                  </a14:m>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r>
                    <a:rPr lang="sr-Latn-RS" sz="2200" dirty="0" err="1">
                      <a:latin typeface="Cambria" panose="02040503050406030204" pitchFamily="18" charset="0"/>
                      <a:ea typeface="Times New Roman" panose="02020603050405020304" pitchFamily="18" charset="0"/>
                      <a:cs typeface="Times New Roman" panose="02020603050405020304" pitchFamily="18" charset="0"/>
                    </a:rPr>
                    <a:t>then</a:t>
                  </a:r>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200" i="1">
                          <a:latin typeface="Cambria Math" panose="02040503050406030204" pitchFamily="18" charset="0"/>
                          <a:ea typeface="Times New Roman" panose="02020603050405020304" pitchFamily="18" charset="0"/>
                          <a:cs typeface="Times New Roman" panose="02020603050405020304" pitchFamily="18" charset="0"/>
                        </a:rPr>
                        <m:t>𝑠</m:t>
                      </m:r>
                      <m:r>
                        <a:rPr lang="sr-Latn-RS" sz="2200" i="1">
                          <a:latin typeface="Cambria Math" panose="02040503050406030204" pitchFamily="18" charset="0"/>
                          <a:ea typeface="Times New Roman" panose="02020603050405020304" pitchFamily="18" charset="0"/>
                          <a:cs typeface="Times New Roman" panose="02020603050405020304" pitchFamily="18" charset="0"/>
                        </a:rPr>
                        <m:t>=000</m:t>
                      </m:r>
                    </m:oMath>
                  </a14:m>
                  <a:endParaRPr lang="en-ZA" sz="2200"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Symbol" pitchFamily="2" charset="2"/>
                    <a:buChar char=""/>
                  </a:pPr>
                  <a:r>
                    <a:rPr lang="sr-Latn-RS" sz="2200" dirty="0" err="1">
                      <a:latin typeface="Cambria" panose="02040503050406030204" pitchFamily="18" charset="0"/>
                      <a:ea typeface="Times New Roman" panose="02020603050405020304" pitchFamily="18" charset="0"/>
                      <a:cs typeface="Times New Roman" panose="02020603050405020304" pitchFamily="18" charset="0"/>
                    </a:rPr>
                    <a:t>If</a:t>
                  </a:r>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2</m:t>
                          </m:r>
                        </m:sub>
                      </m:sSub>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𝑠</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oMath>
                  </a14:m>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r>
                    <a:rPr lang="sr-Latn-RS" sz="2200" dirty="0" err="1">
                      <a:latin typeface="Cambria" panose="02040503050406030204" pitchFamily="18" charset="0"/>
                      <a:ea typeface="Times New Roman" panose="02020603050405020304" pitchFamily="18" charset="0"/>
                      <a:cs typeface="Times New Roman" panose="02020603050405020304" pitchFamily="18" charset="0"/>
                    </a:rPr>
                    <a:t>then</a:t>
                  </a:r>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200" i="1">
                          <a:latin typeface="Cambria Math" panose="02040503050406030204" pitchFamily="18" charset="0"/>
                          <a:ea typeface="Times New Roman" panose="02020603050405020304" pitchFamily="18" charset="0"/>
                          <a:cs typeface="Times New Roman" panose="02020603050405020304" pitchFamily="18" charset="0"/>
                        </a:rPr>
                        <m:t>𝑠</m:t>
                      </m:r>
                      <m:r>
                        <a:rPr lang="sr-Latn-RS" sz="2200" i="1">
                          <a:latin typeface="Cambria Math" panose="02040503050406030204" pitchFamily="18" charset="0"/>
                          <a:ea typeface="Times New Roman" panose="02020603050405020304" pitchFamily="18" charset="0"/>
                          <a:cs typeface="Times New Roman" panose="02020603050405020304" pitchFamily="18" charset="0"/>
                        </a:rPr>
                        <m:t>=110</m:t>
                      </m:r>
                    </m:oMath>
                  </a14:m>
                  <a:endParaRPr lang="en-ZA" sz="22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43" name="Rectangle 42">
                  <a:extLst>
                    <a:ext uri="{FF2B5EF4-FFF2-40B4-BE49-F238E27FC236}">
                      <a16:creationId xmlns:a16="http://schemas.microsoft.com/office/drawing/2014/main" id="{E504A84D-FABE-9C49-B4C6-2708A8BCCB43}"/>
                    </a:ext>
                  </a:extLst>
                </p:cNvPr>
                <p:cNvSpPr>
                  <a:spLocks noRot="1" noChangeAspect="1" noMove="1" noResize="1" noEditPoints="1" noAdjustHandles="1" noChangeArrowheads="1" noChangeShapeType="1" noTextEdit="1"/>
                </p:cNvSpPr>
                <p:nvPr/>
              </p:nvSpPr>
              <p:spPr>
                <a:xfrm>
                  <a:off x="2046944" y="5971443"/>
                  <a:ext cx="6096000" cy="769441"/>
                </a:xfrm>
                <a:prstGeom prst="rect">
                  <a:avLst/>
                </a:prstGeom>
                <a:blipFill>
                  <a:blip r:embed="rId13"/>
                  <a:stretch>
                    <a:fillRect l="-1247" t="-6452" b="-14516"/>
                  </a:stretch>
                </a:blipFill>
              </p:spPr>
              <p:txBody>
                <a:bodyPr/>
                <a:lstStyle/>
                <a:p>
                  <a:r>
                    <a:rPr lang="en-US">
                      <a:noFill/>
                    </a:rPr>
                    <a:t> </a:t>
                  </a:r>
                </a:p>
              </p:txBody>
            </p:sp>
          </mc:Fallback>
        </mc:AlternateContent>
        <p:sp>
          <p:nvSpPr>
            <p:cNvPr id="44" name="Left Brace 43">
              <a:extLst>
                <a:ext uri="{FF2B5EF4-FFF2-40B4-BE49-F238E27FC236}">
                  <a16:creationId xmlns:a16="http://schemas.microsoft.com/office/drawing/2014/main" id="{6EAE95E5-07D2-5C44-AC1C-D93B2DBBE61B}"/>
                </a:ext>
              </a:extLst>
            </p:cNvPr>
            <p:cNvSpPr/>
            <p:nvPr/>
          </p:nvSpPr>
          <p:spPr>
            <a:xfrm>
              <a:off x="369121" y="5916051"/>
              <a:ext cx="237681" cy="759386"/>
            </a:xfrm>
            <a:prstGeom prst="leftBrace">
              <a:avLst>
                <a:gd name="adj1" fmla="val 35351"/>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586064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dissolve">
                                      <p:cBhvr>
                                        <p:cTn id="1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38</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8" name="Picture 7">
            <a:extLst>
              <a:ext uri="{FF2B5EF4-FFF2-40B4-BE49-F238E27FC236}">
                <a16:creationId xmlns:a16="http://schemas.microsoft.com/office/drawing/2014/main" id="{68BB7708-FD2B-C44A-95EC-675AEE661F60}"/>
              </a:ext>
            </a:extLst>
          </p:cNvPr>
          <p:cNvPicPr>
            <a:picLocks noChangeAspect="1"/>
          </p:cNvPicPr>
          <p:nvPr/>
        </p:nvPicPr>
        <p:blipFill>
          <a:blip r:embed="rId4"/>
          <a:stretch>
            <a:fillRect/>
          </a:stretch>
        </p:blipFill>
        <p:spPr>
          <a:xfrm>
            <a:off x="3640187" y="3654697"/>
            <a:ext cx="2889913" cy="2889913"/>
          </a:xfrm>
          <a:prstGeom prst="rect">
            <a:avLst/>
          </a:prstGeom>
        </p:spPr>
      </p:pic>
      <p:pic>
        <p:nvPicPr>
          <p:cNvPr id="4" name="Picture 3">
            <a:extLst>
              <a:ext uri="{FF2B5EF4-FFF2-40B4-BE49-F238E27FC236}">
                <a16:creationId xmlns:a16="http://schemas.microsoft.com/office/drawing/2014/main" id="{9EA7A2B2-C115-AC43-8CB6-8B25213DCC32}"/>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4270821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226630</TotalTime>
  <Words>7444</Words>
  <Application>Microsoft Macintosh PowerPoint</Application>
  <PresentationFormat>Widescreen</PresentationFormat>
  <Paragraphs>831</Paragraphs>
  <Slides>38</Slides>
  <Notes>38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Arial</vt:lpstr>
      <vt:lpstr>Calibri</vt:lpstr>
      <vt:lpstr>Calibri Light</vt:lpstr>
      <vt:lpstr>Cambria</vt:lpstr>
      <vt:lpstr>Cambria Math</vt:lpstr>
      <vt:lpstr>Comic Sans MS</vt:lpstr>
      <vt:lpstr>Symbol</vt:lpstr>
      <vt:lpstr>Times</vt:lpstr>
      <vt:lpstr>Times New Roman</vt:lpstr>
      <vt:lpstr>Office Theme</vt:lpstr>
      <vt:lpstr>PowerPoint Presentation</vt:lpstr>
      <vt:lpstr>Content</vt:lpstr>
      <vt:lpstr>MathBox: Modulo-2 Addition / XOR operation</vt:lpstr>
      <vt:lpstr>Recap: Quantum Oracle</vt:lpstr>
      <vt:lpstr>Recap: Superposition</vt:lpstr>
      <vt:lpstr>PowerPoint Presentation</vt:lpstr>
      <vt:lpstr>Informal Problem Description</vt:lpstr>
      <vt:lpstr>Constant and Balanced Functions</vt:lpstr>
      <vt:lpstr>Formulation of Deutsch’s Problem</vt:lpstr>
      <vt:lpstr>Classical vs Quantum Solution</vt:lpstr>
      <vt:lpstr>Deutsch’s Algorithm Implementation</vt:lpstr>
      <vt:lpstr>Constant Function Case</vt:lpstr>
      <vt:lpstr>Balanced Function Case</vt:lpstr>
      <vt:lpstr>Replacing the Binary Oracle with a Phase Oracle</vt:lpstr>
      <vt:lpstr>Analyzing the Phase Oracle Output</vt:lpstr>
      <vt:lpstr>Experimental realizations of Deutsch’s oracle</vt:lpstr>
      <vt:lpstr>PowerPoint Presentation</vt:lpstr>
      <vt:lpstr>The Deutsch–Jozsa Problem</vt:lpstr>
      <vt:lpstr>Deutsch–Jozsa Quantum Circuit</vt:lpstr>
      <vt:lpstr>Deutsch–Jozsa Algorithm: Constant Function</vt:lpstr>
      <vt:lpstr>Deutsch–Jozsa Algorithm: Balanced Function</vt:lpstr>
      <vt:lpstr>Experimental circuit for verifying the Deutsch–Jozsa algorithm (n = 3)</vt:lpstr>
      <vt:lpstr>PowerPoint Presentation</vt:lpstr>
      <vt:lpstr>Bernstein–Vazirani: The Hidden String Problem</vt:lpstr>
      <vt:lpstr>The Bernstein–Vazirani Problem</vt:lpstr>
      <vt:lpstr>Bernstein–Vazirani Quantum Circuit</vt:lpstr>
      <vt:lpstr>Bernstein–Vazirani: the quantum approach</vt:lpstr>
      <vt:lpstr>Bernstein–Vazirani Algorithm: General Circuit</vt:lpstr>
      <vt:lpstr>Practical implementation of the Bernstein–Vazirani algorithm</vt:lpstr>
      <vt:lpstr>PowerPoint Presentation</vt:lpstr>
      <vt:lpstr>Simon’s Algorithm: Informal Problem Description</vt:lpstr>
      <vt:lpstr>Simon’s Algorithm: Formal Problem Definition</vt:lpstr>
      <vt:lpstr>Simon’s Algorithm: Classical Solution</vt:lpstr>
      <vt:lpstr>Complexity analysis of the classical approach</vt:lpstr>
      <vt:lpstr>Simon’s Algorithm: Quantum Part (1)</vt:lpstr>
      <vt:lpstr>Simon’s Algorithm: Quantum Part (2)</vt:lpstr>
      <vt:lpstr>Simon’s Algorithm: Classical Part</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Aleksandar Radovanovic</cp:lastModifiedBy>
  <cp:revision>4430</cp:revision>
  <cp:lastPrinted>2026-08-18T21:21:59Z</cp:lastPrinted>
  <dcterms:created xsi:type="dcterms:W3CDTF">2021-12-18T08:25:37Z</dcterms:created>
  <dcterms:modified xsi:type="dcterms:W3CDTF">2026-09-02T18:38:17Z</dcterms:modified>
</cp:coreProperties>
</file>